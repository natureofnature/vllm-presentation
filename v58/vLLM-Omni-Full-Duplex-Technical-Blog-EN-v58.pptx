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3.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14.xml" ContentType="application/vnd.openxmlformats-officedocument.presentationml.notesSlide+xml"/>
  <Override PartName="/ppt/notesSlides/notesSlide11.xml" ContentType="application/vnd.openxmlformats-officedocument.presentationml.notesSlide+xml"/>
  <Override PartName="/ppt/notesSlides/notesSlide17.xml" ContentType="application/vnd.openxmlformats-officedocument.presentationml.notesSlide+xml"/>
  <Override PartName="/ppt/notesSlides/notesSlide5.xml" ContentType="application/vnd.openxmlformats-officedocument.presentationml.notesSlide+xml"/>
  <Override PartName="/ppt/notesSlides/notesSlide1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2.xml" ContentType="application/vnd.openxmlformats-officedocument.presentationml.slide+xml"/>
  <Override PartName="/ppt/slides/slide13.xml" ContentType="application/vnd.openxmlformats-officedocument.presentationml.slide+xml"/>
  <Override PartName="/ppt/slides/slide18.xml" ContentType="application/vnd.openxmlformats-officedocument.presentationml.slide+xml"/>
  <Override PartName="/ppt/slides/slide14.xml" ContentType="application/vnd.openxmlformats-officedocument.presentationml.slide+xml"/>
  <Override PartName="/ppt/slides/slide11.xml" ContentType="application/vnd.openxmlformats-officedocument.presentationml.slide+xml"/>
  <Override PartName="/ppt/slides/slide17.xml" ContentType="application/vnd.openxmlformats-officedocument.presentationml.slide+xml"/>
  <Override PartName="/ppt/slides/slide3.xml" ContentType="application/vnd.openxmlformats-officedocument.presentationml.slide+xml"/>
  <Override PartName="/ppt/slides/slide1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0.xml" ContentType="application/vnd.openxmlformats-officedocument.presentationml.slide+xml"/>
  <Override PartName="/ppt/notesSlides/notesSlide10.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xml" ContentType="application/vnd.openxmlformats-officedocument.presentationml.slide+xml"/>
  <Override PartName="/ppt/notesSlides/notesSlide1.xml" ContentType="application/vnd.openxmlformats-officedocument.presentationml.notesSlide+xml"/>
  <Override PartName="/ppt/charts/chart1.xml" ContentType="application/vnd.openxmlformats-officedocument.drawingml.chart+xml"/>
  <Default Extension="xlsx" ContentType="application/vnd.openxmlformats-officedocument.spreadsheetml.sheet"/>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83" r:id="rIdDuplexCover"/>
    <p:sldId id="266" r:id="rId18"/>
    <p:sldId id="256" r:id="rId7"/>
    <p:sldId id="261" r:id="rId12"/>
    <p:sldId id="257" r:id="rId8"/>
    <p:sldId id="258" r:id="rId9"/>
    <p:sldId id="259" r:id="rId10"/>
    <p:sldId id="260" r:id="rId11"/>
    <p:sldId id="262" r:id="rId13"/>
    <p:sldId id="280" r:id="rId30"/>
    <p:sldId id="271" r:id="rId21"/>
    <p:sldId id="282" r:id="rId32"/>
    <p:sldId id="268" r:id="rId20"/>
    <p:sldId id="269" r:id="rId15"/>
    <p:sldId id="281" r:id="rId31"/>
    <p:sldId id="277" r:id="rId27"/>
    <p:sldId id="275" r:id="rId25"/>
    <p:sldId id="265" r:id="rId16"/>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3.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4.xml"/><Relationship Id="rId13" Type="http://schemas.openxmlformats.org/officeDocument/2006/relationships/slide" Target="slides/slide9.xml"/><Relationship Id="rId15" Type="http://schemas.openxmlformats.org/officeDocument/2006/relationships/slide" Target="slides/slide14.xml"/><Relationship Id="rId16" Type="http://schemas.openxmlformats.org/officeDocument/2006/relationships/slide" Target="slides/slide18.xml"/><Relationship Id="rId17" Type="http://schemas.openxmlformats.org/officeDocument/2006/relationships/notesMaster" Target="notesMasters/notesMaster1.xml"/><Relationship Id="rId18" Type="http://schemas.openxmlformats.org/officeDocument/2006/relationships/slide" Target="slides/slide2.xml"/><Relationship Id="rId20" Type="http://schemas.openxmlformats.org/officeDocument/2006/relationships/slide" Target="slides/slide13.xml"/><Relationship Id="rId21" Type="http://schemas.openxmlformats.org/officeDocument/2006/relationships/slide" Target="slides/slide11.xml"/><Relationship Id="rId25" Type="http://schemas.openxmlformats.org/officeDocument/2006/relationships/slide" Target="slides/slide17.xml"/><Relationship Id="rId27" Type="http://schemas.openxmlformats.org/officeDocument/2006/relationships/slide" Target="slides/slide16.xml"/><Relationship Id="rId30" Type="http://schemas.openxmlformats.org/officeDocument/2006/relationships/slide" Target="slides/slide10.xml"/><Relationship Id="rId31" Type="http://schemas.openxmlformats.org/officeDocument/2006/relationships/slide" Target="slides/slide15.xml"/><Relationship Id="rId32" Type="http://schemas.openxmlformats.org/officeDocument/2006/relationships/slide" Target="slides/slide12.xml"/><Relationship Id="rIdDuplexCover" Type="http://schemas.openxmlformats.org/officeDocument/2006/relationships/slide" Target="slides/slid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niCPM_RTF.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title>
      <c:tx>
        <c:rich>
          <a:bodyPr/>
          <a:lstStyle/>
          <a:p>
            <a:pPr>
              <a:defRPr sz="1600" b="1" baseline="0">
                <a:solidFill>
                  <a:srgbClr val="16304E"/>
                </a:solidFill>
                <a:latin typeface="Arial"/>
              </a:defRPr>
            </a:pPr>
            <a:r>
              <a:rPr lang="en-US" sz="1600" b="1" baseline="0">
                <a:solidFill>
                  <a:srgbClr val="16304E"/>
                </a:solidFill>
                <a:latin typeface="Arial"/>
              </a:rPr>
              <a:t>MiniCPM-o 4.5</a:t>
            </a:r>
          </a:p>
        </c:rich>
      </c:tx>
      <c:layout/>
    </c:title>
    <c:plotArea>
      <c:layout>
        <c:manualLayout>
          <c:layoutTarget val="inner"/>
          <c:xMode val="edge"/>
          <c:yMode val="edge"/>
          <c:x val="0.19"/>
          <c:y val="0.22"/>
          <c:w val="0.72999999999999998"/>
          <c:h val="0.60999999999999999"/>
        </c:manualLayout>
      </c:layout>
      <c:lineChart>
        <c:grouping val="standard"/>
        <c:ser>
          <c:idx val="0"/>
          <c:order val="0"/>
          <c:tx>
            <c:v>Mean Audio RTF</c:v>
          </c:tx>
          <c:spPr>
            <a:ln w="38100">
              <a:solidFill>
                <a:srgbClr val="008E96"/>
              </a:solidFill>
            </a:ln>
          </c:spPr>
          <c:marker>
            <c:symbol val="circle"/>
            <c:size val="8"/>
            <c:spPr>
              <a:solidFill>
                <a:srgbClr val="FFFFFF"/>
              </a:solidFill>
              <a:ln>
                <a:solidFill>
                  <a:srgbClr val="008E96"/>
                </a:solidFill>
              </a:ln>
            </c:spPr>
          </c:marker>
          <c:dLbls>
            <c:numFmt formatCode="0.00" sourceLinked="0"/>
            <c:txPr>
              <a:bodyPr/>
              <a:lstStyle/>
              <a:p>
                <a:pPr>
                  <a:defRPr sz="1600" b="1" baseline="0">
                    <a:solidFill>
                      <a:srgbClr val="16304E"/>
                    </a:solidFill>
                    <a:latin typeface="Arial"/>
                  </a:defRPr>
                </a:pPr>
                <a:endParaRPr lang="en-US"/>
              </a:p>
            </c:txPr>
            <c:dLblPos val="t"/>
            <c:showLegendKey val="0"/>
            <c:showVal val="1"/>
            <c:showCatName val="0"/>
            <c:showSerName val="0"/>
            <c:showPercent val="0"/>
            <c:showBubbleSize val="0"/>
          </c:dLbls>
          <c:cat>
            <c:strRef>
              <c:f>Data!$A$2:$A$5</c:f>
              <c:strCache>
                <c:ptCount val="4"/>
                <c:pt idx="0">
                  <c:v>Oct 5</c:v>
                </c:pt>
                <c:pt idx="1">
                  <c:v>Oct 6</c:v>
                </c:pt>
                <c:pt idx="2">
                  <c:v>Oct 7</c:v>
                </c:pt>
                <c:pt idx="3">
                  <c:v>Oct 8</c:v>
                </c:pt>
              </c:strCache>
            </c:strRef>
          </c:cat>
          <c:val>
            <c:numRef>
              <c:f>Data!$B$2:$B$5</c:f>
              <c:numCache>
                <c:formatCode>General</c:formatCode>
                <c:ptCount val="4"/>
                <c:pt idx="0">
                  <c:v>0.9844461966498954</c:v>
                </c:pt>
                <c:pt idx="1">
                  <c:v>0.7430039011861929</c:v>
                </c:pt>
                <c:pt idx="2">
                  <c:v>0.5597075615335489</c:v>
                </c:pt>
                <c:pt idx="3">
                  <c:v>0.4902875810555307</c:v>
                </c:pt>
              </c:numCache>
            </c:numRef>
          </c:val>
        </c:ser>
        <c:marker val="1"/>
        <c:axId val="50010001"/>
        <c:axId val="50010002"/>
      </c:lineChart>
      <c:catAx>
        <c:axId val="50010001"/>
        <c:scaling>
          <c:orientation val="minMax"/>
        </c:scaling>
        <c:axPos val="b"/>
        <c:majorTickMark val="none"/>
        <c:minorTickMark val="none"/>
        <c:tickLblPos val="low"/>
        <c:spPr>
          <a:ln>
            <a:solidFill>
              <a:srgbClr val="BAC9D7"/>
            </a:solidFill>
          </a:ln>
        </c:spPr>
        <c:txPr>
          <a:bodyPr/>
          <a:lstStyle/>
          <a:p>
            <a:pPr>
              <a:defRPr sz="1100" baseline="0">
                <a:solidFill>
                  <a:srgbClr val="526985"/>
                </a:solidFill>
                <a:latin typeface="Arial"/>
              </a:defRPr>
            </a:pPr>
            <a:endParaRPr lang="en-US"/>
          </a:p>
        </c:txPr>
        <c:crossAx val="50010002"/>
        <c:crosses val="autoZero"/>
        <c:auto val="1"/>
        <c:lblAlgn val="ctr"/>
        <c:lblOffset val="100"/>
      </c:catAx>
      <c:valAx>
        <c:axId val="50010002"/>
        <c:scaling>
          <c:orientation val="minMax"/>
          <c:max val="1.2"/>
          <c:min val="0"/>
        </c:scaling>
        <c:axPos val="l"/>
        <c:majorGridlines>
          <c:spPr>
            <a:ln w="9525">
              <a:solidFill>
                <a:srgbClr val="DFE7EF"/>
              </a:solidFill>
            </a:ln>
          </c:spPr>
        </c:majorGridlines>
        <c:title>
          <c:tx>
            <c:rich>
              <a:bodyPr rot="-5400000" vert="horz"/>
              <a:lstStyle/>
              <a:p>
                <a:pPr>
                  <a:defRPr sz="1100" baseline="0">
                    <a:solidFill>
                      <a:srgbClr val="526985"/>
                    </a:solidFill>
                    <a:latin typeface="Arial"/>
                  </a:defRPr>
                </a:pPr>
                <a:r>
                  <a:rPr lang="en-US" sz="1100" baseline="0">
                    <a:solidFill>
                      <a:srgbClr val="526985"/>
                    </a:solidFill>
                    <a:latin typeface="Arial"/>
                  </a:rPr>
                  <a:t>Mean Audio RTF</a:t>
                </a:r>
              </a:p>
            </c:rich>
          </c:tx>
          <c:layout/>
        </c:title>
        <c:numFmt formatCode="0.0" sourceLinked="0"/>
        <c:majorTickMark val="none"/>
        <c:tickLblPos val="nextTo"/>
        <c:spPr>
          <a:ln>
            <a:noFill/>
          </a:ln>
        </c:spPr>
        <c:txPr>
          <a:bodyPr/>
          <a:lstStyle/>
          <a:p>
            <a:pPr>
              <a:defRPr sz="1100" baseline="0">
                <a:solidFill>
                  <a:srgbClr val="526985"/>
                </a:solidFill>
                <a:latin typeface="Arial"/>
              </a:defRPr>
            </a:pPr>
            <a:endParaRPr lang="en-US"/>
          </a:p>
        </c:txPr>
        <c:crossAx val="50010001"/>
        <c:crosses val="autoZero"/>
        <c:crossBetween val="midCat"/>
        <c:majorUnit val="0.4"/>
      </c:valAx>
      <c:spPr>
        <a:solidFill>
          <a:srgbClr val="FFFFFF"/>
        </a:solidFill>
        <a:ln>
          <a:noFill/>
        </a:ln>
      </c:spPr>
    </c:plotArea>
    <c:plotVisOnly val="1"/>
  </c:chart>
  <c:spPr>
    <a:solidFill>
      <a:srgbClr val="FFFFFF"/>
    </a:solidFill>
    <a:ln>
      <a:noFill/>
    </a:ln>
  </c:spPr>
  <c:externalData r:id="rId1">
    <c:autoUpdate val="0"/>
  </c:externalData>
  <c:printSettings>
    <c:headerFooter/>
    <c:pageMargins b="0.75" l="0.7" r="0.7" t="0.75" header="0.3" footer="0.3"/>
    <c:pageSetup/>
  </c:printSettings>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Next Inflection Point in AI Interaction</a:t>
            </a:r>
          </a:p>
          <a:p>
            <a:r>
              <a:t>How vLLM-Omni Enables Models to Listen and Speak Simultaneously</a:t>
            </a:r>
          </a:p>
          <a:p>
            <a:r>
              <a:t/>
            </a:r>
          </a:p>
          <a:p>
            <a:r>
              <a:t>Full duplex lets models keep listening while speaking. This talk introduces the interaction modes, unified runtime architecture and measured performance of vLLM-Omni. Capabilities vary by model and execution mode.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duplex is built with the vLLM-Omni community. This edition recognizes 62 GitHub-linked human contributors across 166 related pull requests merged to main through 7 October 2026. The slide uses rounded lower bounds of 60+ contributors and 160+ PRs.</a:t>
            </a:r>
          </a:p>
          <a:p>
            <a:r>
              <a:t/>
            </a:r>
          </a:p>
          <a:p>
            <a:r>
              <a:t>The portraits credit PR authors and GitHub-linked coauthors on merged commits, in alphabetical order with equal visual weight. Scope includes duplex runtimes, associated model integration and execution, Realtime control, and direct benchmark / validation tooling. Review-only contributions are not included in this count; unlinked signatures are recorded separately without assigning an identity or portrait. Original public GitHub profile avatars link to their respective profiles.</a:t>
            </a:r>
          </a:p>
          <a:p>
            <a:r>
              <a:t/>
            </a:r>
          </a:p>
          <a:p>
            <a:r>
              <a:t>Selected milestones connect native duplex, the unified framework, Realtime interoperability, model integrations and bounded output delivery. The complete attribution is in the companion Community Credits document.</a:t>
            </a:r>
          </a:p>
          <a:p>
            <a:r>
              <a:t/>
            </a:r>
          </a:p>
          <a:p>
            <a:r>
              <a:t>Sources:</a:t>
            </a:r>
          </a:p>
          <a:p>
            <a:r>
              <a:t>- https://github.com/vllm-project/vllm-omni/pull/3907</a:t>
            </a:r>
          </a:p>
          <a:p>
            <a:r>
              <a:t>- https://github.com/vllm-project/vllm-omni/pull/7413</a:t>
            </a:r>
          </a:p>
          <a:p>
            <a:r>
              <a:t>- https://github.com/vllm-project/vllm-omni/pull/7285</a:t>
            </a:r>
          </a:p>
          <a:p>
            <a:r>
              <a:t>- https://github.com/vllm-project/vllm-omni/pull/7585</a:t>
            </a:r>
          </a:p>
          <a:p>
            <a:r>
              <a:t>- https://github.com/vllm-project/vllm-omni/pull/7695</a:t>
            </a:r>
          </a:p>
          <a:p>
            <a:r>
              <a:t>- https://github.com/vllm-project/vllm-omni/pull/6089</a:t>
            </a:r>
          </a:p>
          <a:p>
            <a:r>
              <a:t>- https://github.com/vllm-project/vllm-omni/pull/7633</a:t>
            </a:r>
          </a:p>
          <a:p>
            <a:r>
              <a:t>- https://github.com/vllm-project/vllm-omni/pull/7644</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Full duplex keeps input and output active within the same session. Responses stream incrementally, while new input can affect what happens next. How that input affects generation depends on the model. MiniCPM's native policy can choose LISTEN or SPEAK; a turn-based model instead starts a new model request from committed input. The timeline is illustrative, not a latency benchmark.</a:t>
            </a:r>
          </a:p>
          <a:p>
            <a:r>
              <a:t/>
            </a:r>
          </a:p>
          <a:p>
            <a:r>
              <a:t>Hard interruption is explicit application/server control, including configured VAD policy. Soft interruption here means model-driven yielding; semantic endpointing alone does not create native LISTEN/SPEAK capability. The client must stop and clear local playback when the protocol signals an interruption.</a:t>
            </a:r>
          </a:p>
          <a:p>
            <a:r>
              <a:t/>
            </a:r>
          </a:p>
          <a:p>
            <a:r>
              <a:t>Sources:</a:t>
            </a:r>
          </a:p>
          <a:p>
            <a:r>
              <a:t>- capabilities.py: https://github.com/vllm-project/vllm-omni/blob/712b90de9c7bc14c595b363401588a713a87c02d/vllm_omni/model_executor/models/minicpmo_4_5/duplex/capabilities.py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examples describe the MiniCPM, Qwen3-Omni and AURA Web demo profiles. Model-controlled yielding, local playback stop and server cancellation have different effects.</a:t>
            </a:r>
          </a:p>
          <a:p>
            <a:r>
              <a:t/>
            </a:r>
          </a:p>
          <a:p>
            <a:r>
              <a:t>MiniCPM accepts continuous audio/video input and uses model-native LISTEN / SPEAK without requiring Server VAD by default. LISTEN is separate from explicit cancellation.</a:t>
            </a:r>
          </a:p>
          <a:p>
            <a:r>
              <a:t/>
            </a:r>
          </a:p>
          <a:p>
            <a:r>
              <a:t>Qwen3-Omni's Server VAD profile keeps microphone input active, stops queued playback on speech_started and enables server interruption through interrupt_response. The separate manual Realtime profile uses duplex=0, pauses upload while answering and submits input_audio_buffer.commit followed by response.create; it is not the VAD profile illustrated in the table.</a:t>
            </a:r>
          </a:p>
          <a:p>
            <a:r>
              <a:t/>
            </a:r>
          </a:p>
          <a:p>
            <a:r>
              <a:t>AURA's hold-to-talk action stops local playback while server generation may continue. Releasing the button commits new input. The named demo profiles do not send response.cancel; applications can integrate that command through the shared protocol. Cancellation of generation and cleanup of audio already delivered to the client are separate responsibilities.</a:t>
            </a:r>
          </a:p>
          <a:p>
            <a:r>
              <a:t/>
            </a:r>
          </a:p>
          <a:p>
            <a:r>
              <a:t>Sources:</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duplex message protocol builds on the OpenAI Realtime event vocabulary and payload structure, with vLLM-Omni extensions for video input, playback feedback and session resume. /v1/duplex is an alias of /v1/realtime?duplex=1; both use the same handler and wire protocol. This describes protocol lineage and extensions, not universal feature support or complete semantic equivalence across all models.</a:t>
            </a:r>
          </a:p>
          <a:p>
            <a:r>
              <a:t/>
            </a:r>
          </a:p>
          <a:p>
            <a:r>
              <a:t>Reference: https://github.com/vllm-project/vllm-omni/blob/d5a3380103df2fc827f095c60dbfb6e1c5655fd3/docs/serving/realtime_duplex_api.md#compatibility-with-the-openai-realtime-protocol</a:t>
            </a:r>
          </a:p>
          <a:p>
            <a:r>
              <a:t/>
            </a:r>
          </a:p>
          <a:p>
            <a:r>
              <a:t>Distinguish three layers: the interface, the conversation interaction, and the model execution inside a session. Chat Completions carries request–response interactions, optionally streamed. Qwen3-Omni and MiniCPM-o 4.5 in turn mode are representative examples; the list is not exhaustive.</a:t>
            </a:r>
          </a:p>
          <a:p>
            <a:r>
              <a:t/>
            </a:r>
          </a:p>
          <a:p>
            <a:r>
              <a:t>Realtime Duplex opens an engine-owned Duplex session. Use /v1/duplex, or select the Duplex backend explicitly with /v1/realtime?duplex=1. Native duplex execution consumes ongoing input while producing output: MiniCPM-o 4.5, PersonaPlex and Nemotron VoiceChat follow this model-specific path. Turn-based execution buffers a turn and submits a new generation request when it is committed: Qwen3-Omni with Server VAD and AURA are examples. Qwen also supports explicit commit. AURA controls its turns through its model/session policy. The interface remains a streaming session for both execution modes.</a:t>
            </a:r>
          </a:p>
          <a:p>
            <a:r>
              <a:t/>
            </a:r>
          </a:p>
          <a:p>
            <a:r>
              <a:t>Execution mode does not imply identical capabilities. Video input, cancellation, yielding, resume and concurrency vary by model. In particular, MiniCPM LISTEN/SPEAK decisions must not be generalized to every native duplex model. The same model can appear on multiple serving paths when configured accordingly.</a:t>
            </a:r>
          </a:p>
          <a:p>
            <a:r>
              <a:t/>
            </a:r>
          </a:p>
          <a:p>
            <a:r>
              <a:t>/v1/realtime?duplex=0 uses a separate generic turn-based Realtime connection with connection-owned history and a new generation request per committed turn. It does not allocate a Unified Duplex engine session. The unqualified /v1/realtime route selects the backend according to server configuration. The explicit interface labels on this slide avoid equating every WebSocket Realtime connection with Unified Duplex.</a:t>
            </a:r>
          </a:p>
          <a:p>
            <a:r>
              <a:t/>
            </a:r>
          </a:p>
          <a:p>
            <a:r>
              <a:t>Sources:</a:t>
            </a:r>
          </a:p>
          <a:p>
            <a:r>
              <a:t>- https://github.com/vllm-project/vllm-omni/blob/712b90de9c7bc14c595b363401588a713a87c02d/vllm_omni/entrypoints/openai/api_server.py</a:t>
            </a:r>
          </a:p>
          <a:p>
            <a:r>
              <a:t>- https://github.com/vllm-project/vllm-omni/blob/712b90de9c7bc14c595b363401588a713a87c02d/vllm_omni/entrypoints/duplex/openai.py</a:t>
            </a:r>
          </a:p>
          <a:p>
            <a:r>
              <a:t>- https://github.com/vllm-project/vllm-omni/blob/712b90de9c7bc14c595b363401588a713a87c02d/vllm_omni/entrypoints/openai/realtime/connection.py</a:t>
            </a:r>
          </a:p>
          <a:p>
            <a:r>
              <a:t>- https://github.com/vllm-project/vllm-omni/blob/712b90de9c7bc14c595b363401588a713a87c02d/vllm_omni/model_executor/models/minicpmo_4_5/duplex/capabilities.py</a:t>
            </a:r>
          </a:p>
          <a:p>
            <a:r>
              <a:t>- https://github.com/vllm-project/vllm-omni/blob/712b90de9c7bc14c595b363401588a713a87c02d/vllm_omni/model_executor/models/qwen3_omni/duplex/plugin.py</a:t>
            </a:r>
          </a:p>
          <a:p>
            <a:r>
              <a:t>- https://github.com/vllm-project/vllm-omni/blob/712b90de9c7bc14c595b363401588a713a87c02d/vllm_omni/model_executor/models/aura_omni/duplex/plugin.py</a:t>
            </a:r>
          </a:p>
          <a:p>
            <a:r>
              <a:t>- https://github.com/vllm-project/vllm-omni/blob/712b90de9c7bc14c595b363401588a713a87c02d/vllm_omni/model_executor/models/personaplex/duplex/plugin.py</a:t>
            </a:r>
          </a:p>
          <a:p>
            <a:r>
              <a:t>- https://github.com/vllm-project/vllm-omni/blob/712b90de9c7bc14c595b363401588a713a87c02d/vllm_omni/model_executor/models/nemotron_voicechat/duplex/plugin.py</a:t>
            </a:r>
          </a:p>
          <a:p>
            <a:r>
              <a:t>- https://github.com/vllm-project/vllm-omni/blob/712b90de9c7bc14c595b363401588a713a87c02d/examples/online_serving/realtime_web/app/static/profiles/qwen3_turn.js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covers the engine-owned Unified Duplex path. API and Orchestrator run in the same process, on separate event loops/threads; Stage engines and workers run in separate processes. The generic turn-based Realtime handler has a different connection-owned control path.</a:t>
            </a:r>
          </a:p>
          <a:p>
            <a:r>
              <a:t/>
            </a:r>
          </a:p>
          <a:p>
            <a:r>
              <a:t>API Server handles wire events, attachments, replay and event acknowledgements. EngineClient owns typed session handles and event iteration, passes each handle's bounded output buffer to the engine, and routes lifecycle results and exceptional notifications. Manager admits sessions, owns runner/request mappings, checks input and output limits, routes commands and reaps expired sessions. Each Runner consumes its ordered mailbox and coordinates input, response, playback and model work. Plugin supplies capabilities, model state, input construction, output interpretation and stage policies.</a:t>
            </a:r>
          </a:p>
          <a:p>
            <a:r>
              <a:t/>
            </a:r>
          </a:p>
          <a:p>
            <a:r>
              <a:t>Open/close/resume/touch controls and ordinary commands share request_queue, but controls wait for a correlated result while commands return after enqueue. Ordinary text/audio events go directly to the registered per-session DuplexOutputBuffer shared with handle._outbox. Lifecycle results, close notifications and errors without a live output buffer use the global output queue. GPU KV and streaming compute caches belong to Stage workers.</a:t>
            </a:r>
          </a:p>
          <a:p>
            <a:r>
              <a:t/>
            </a:r>
          </a:p>
          <a:p>
            <a:r>
              <a:t>Sources:</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open, EngineClient creates a handle and its output buffer; Manager admits the session and registers the same buffer object. API input is translated into commands, enqueued through DuplexOmniEngine and dispatched to the Runner mailbox. The Runner and Plugin prepare Stage requests while new input can continue to arrive.</a:t>
            </a:r>
          </a:p>
          <a:p>
            <a:r>
              <a:t/>
            </a:r>
          </a:p>
          <a:p>
            <a:r>
              <a:t>Normal output follows Stage result → Runner/Plugin → Manager.emit → per-session buffer → handle.events() → API event pump → WebSocket. It does not pass through the global output queue first. Buffer limits are 2 MiB and 512 pending ordinary events per session by default. Output overflow fails and closes the affected session; it does not merely pause generation.</a:t>
            </a:r>
          </a:p>
          <a:p>
            <a:r>
              <a:t/>
            </a:r>
          </a:p>
          <a:p>
            <a:r>
              <a:t>Session event ACKs update API-side replay state without entering the Runner. Playback ACKs are commands and update engine playback state according to model rules. Enqueue success is not execution completion: an engine-dead or queue-full error can be returned immediately by the API, while later command rejection is a session event.</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manager.py: https://github.com/vllm-project/vllm-omni/blob/712b90de9c7bc14c595b363401588a713a87c02d/vllm_omni/engine/duplex/session/manager.py</a:t>
            </a:r>
          </a:p>
          <a:p>
            <a:r>
              <a:t>- delivery.py: https://github.com/vllm-project/vllm-omni/blob/712b90de9c7bc14c595b363401588a713a87c02d/vllm_omni/engine/duplex/delivery.py</a:t>
            </a:r>
          </a:p>
          <a:p>
            <a:r>
              <a:t>- stage_config.py: https://github.com/vllm-project/vllm-omni/blob/712b90de9c7bc14c595b363401588a713a87c02d/vllm_omni/config/stage_config.py</a:t>
            </a:r>
          </a:p>
          <a:p>
            <a:r>
              <a:t/>
            </a:r>
          </a:p>
          <a:p>
            <a:r>
              <a:t>Interaction control in the workflow: engine cancellation advances the response epoch, invalidates queued and held audio, and aborts the affected Stage requests. The API rechecks audio validity when committing delivery. Audio already delivered to the client still requires local playback cleanup. A model LISTEN transition is separate from this forced-cancellation path.</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MiniCPM appends input to a live resumable Stage-0 request on its bound replica. It retains model KV and streaming audio state. With basic sliding-window mode enabled, its block-aligned path bounds retained context and adjusts positions using in-place Re-RoPE, rather than copying the retained KV window. The retained window is not an unlimited memory of the whole conversation. Talker/Code2Wav state follows the speech request and decoder execution.</a:t>
            </a:r>
          </a:p>
          <a:p>
            <a:r>
              <a:t/>
            </a:r>
          </a:p>
          <a:p>
            <a:r>
              <a:t>AURA commits each turn and rebuilds its Thinker prompt from retained ASR text, video clips and assistant text. Its ASR → Thinker → Talker → Code2Wav path can continue sentence TTS within a turn; a next Thinker turn can overlap draining speech from the prior turn. Qwen similarly submits a new request for committed input, using retained audio, images and text. It has no separate ASR Stage. A commit and cancelling the current response are distinct operations.</a:t>
            </a:r>
          </a:p>
          <a:p>
            <a:r>
              <a:t/>
            </a:r>
          </a:p>
          <a:p>
            <a:r>
              <a:t>A Stage is a compute step. A replica is an execution instance of that Stage, not a duplicate conversation history. The Session Manager and StagePool preserve request affinity needed by resident model state.</a:t>
            </a:r>
          </a:p>
          <a:p>
            <a:r>
              <a:t/>
            </a:r>
          </a:p>
          <a:p>
            <a:r>
              <a:t>Sources:</a:t>
            </a:r>
          </a:p>
          <a:p>
            <a:r>
              <a:t>- stage0.py: https://github.com/vllm-project/vllm-omni/blob/712b90de9c7bc14c595b363401588a713a87c02d/vllm_omni/model_executor/models/minicpmo_4_5/duplex/stage0.py</a:t>
            </a:r>
          </a:p>
          <a:p>
            <a:r>
              <a:t>- window_kv.py: https://github.com/vllm-project/vllm-omni/blob/712b90de9c7bc14c595b363401588a713a87c02d/vllm_omni/model_executor/models/minicpmo_4_5/duplex/window_kv.py</a:t>
            </a:r>
          </a:p>
          <a:p>
            <a:r>
              <a:t>- window_plan.py: https://github.com/vllm-project/vllm-omni/blob/712b90de9c7bc14c595b363401588a713a87c02d/vllm_omni/model_executor/models/minicpmo_4_5/duplex/window_plan.py</a:t>
            </a:r>
          </a:p>
          <a:p>
            <a:r>
              <a:t>- plugin.py: https://github.com/vllm-project/vllm-omni/blob/712b90de9c7bc14c595b363401588a713a87c02d/vllm_omni/model_executor/models/aura_omni/duplex/plugin.py</a:t>
            </a:r>
          </a:p>
          <a:p>
            <a:r>
              <a:t>- plugin.py: https://github.com/vllm-project/vllm-omni/blob/712b90de9c7bc14c595b363401588a713a87c02d/vllm_omni/model_executor/models/qwen3_omni/duplex/plugin.py</a:t>
            </a:r>
          </a:p>
          <a:p>
            <a:r>
              <a:t/>
            </a:r>
          </a:p>
          <a:p>
            <a:r>
              <a:t>Playback and history boundaries: playback ACKs update MiniCPM playback records without rolling back model KV. For Qwen3-Omni, complete audio and full playback ACK are required to confirm unaligned output text was fully played. AURA commits text history on Thinker completion; playback ACK does not truncate that history.</a:t>
            </a:r>
          </a:p>
          <a:p>
            <a:r>
              <a:t/>
            </a:r>
          </a:p>
          <a:p>
            <a:r>
              <a:t>- qwen3_turn.js: https://github.com/vllm-project/vllm-omni/blob/712b90de9c7bc14c595b363401588a713a87c02d/examples/online_serving/realtime_web/app/static/profiles/qwen3_turn.js</a:t>
            </a:r>
          </a:p>
          <a:p>
            <a:r>
              <a:t>- aura_ptt.js: https://github.com/vllm-project/vllm-omni/blob/712b90de9c7bc14c595b363401588a713a87c02d/examples/online_serving/realtime_web/app/static/profiles/aura_ptt.js</a:t>
            </a:r>
          </a:p>
          <a:p>
            <a:r>
              <a:t>- runner.py: https://github.com/vllm-project/vllm-omni/blob/712b90de9c7bc14c595b363401588a713a87c02d/vllm_omni/engine/duplex/session/runner.py</a:t>
            </a:r>
          </a:p>
          <a:p>
            <a:r>
              <a:t>- delivery.py: https://github.com/vllm-project/vllm-omni/blob/712b90de9c7bc14c595b363401588a713a87c02d/vllm_omni/engine/duplex/delivery.py</a:t>
            </a:r>
          </a:p>
          <a:p>
            <a:r>
              <a:t>- session_attachment.py: https://github.com/vllm-project/vllm-omni/blob/712b90de9c7bc14c595b363401588a713a87c02d/vllm_omni/entrypoints/duplex/session_attachment.py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Live-session resume is available for MiniCPM-o 4.5, AURA, Qwen3-Omni and Nemotron in their Unified Duplex paths. The client reconnects to the same live owner, sends session.resume as its first message, and supplies session ID, resume token and last received server event sequence. The server validates the lease and replay window, binds the new attachment, rotates credentials and replays retained events.</a:t>
            </a:r>
          </a:p>
          <a:p>
            <a:r>
              <a:t/>
            </a:r>
          </a:p>
          <a:p>
            <a:r>
              <a:t>PersonaPlex currently advertises supports_session_resume=false; disconnect closes that session. Reconnect therefore opens a new one. Generic turn-based Realtime connection history is also a different path and does not use the engine-owned resume protocol.</a:t>
            </a:r>
          </a:p>
          <a:p>
            <a:r>
              <a:t/>
            </a:r>
          </a:p>
          <a:p>
            <a:r>
              <a:t>Resume depends on the API and engine remaining alive, a valid lease and retained replay events. It is not cross-process failover. A slow or absent consumer can exhaust bounded output/replay capacity, so reconnect does not guarantee that a session will remain available indefinitely. The Python duplex client retains credentials and tracks event position for its reconnect policy.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capabilities.py: https://github.com/vllm-project/vllm-omni/blob/712b90de9c7bc14c595b363401588a713a87c02d/vllm_omni/model_executor/models/personaplex/duplex/capabilities.py</a:t>
            </a:r>
          </a:p>
          <a:p>
            <a:r>
              <a:t>- capabilities.py: https://github.com/vllm-project/vllm-omni/blob/712b90de9c7bc14c595b363401588a713a87c02d/vllm_omni/model_executor/models/nemotron_voicechat/duplex/capabilities.py</a:t>
            </a:r>
          </a:p>
          <a:p>
            <a:r>
              <a:t>- duplex.py: https://github.com/vllm-project/vllm-omni/blob/712b90de9c7bc14c595b363401588a713a87c02d/vllm_omni/clients/duplex.py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examples summarize representative optimizations in current mainline in terms of reduced setup, fewer small operations, and processing several live sessions together. They are model-specific capabilities, not a claim that every model enables every path.</a:t>
            </a:r>
          </a:p>
          <a:p>
            <a:r>
              <a:t/>
            </a:r>
          </a:p>
          <a:p>
            <a:r>
              <a:t>1. MiniCPM-o 4.5 captures eligible streaming audio encoder units and vision encoder work for CUDA graph replay. Qwen3-Omni's graph path here is image-only; its video and audio paths retain their existing embedding execution. Captures depend on the supported shapes, attention configuration and deployment profile, with eager fallbacks. CUDA graphs primarily reduce repeated host scheduling and launch overhead; they do not eliminate the model's arithmetic.</a:t>
            </a:r>
          </a:p>
          <a:p>
            <a:r>
              <a:t/>
            </a:r>
          </a:p>
          <a:p>
            <a:r>
              <a:t>2. MiniCPM-o 4.5's shared Code2Wav backend defaults to its fused CFM/DiT body on supported CUDA execution when TF32 is enabled. Smaller operations are fused to reduce launch and intermediate-memory overhead. Unsupported layouts and attention-cache types fall back, and TF32 opt-out changes the default choice. Resident slot pooling remains opt-in. Fusion may change floating-point rounding and does not guarantee identical waveforms. The recent shared output path also moves eligible GPU-to-CPU waits to output consumption, but that separate implementation detail is omitted from the visible slide.</a:t>
            </a:r>
          </a:p>
          <a:p>
            <a:r>
              <a:t/>
            </a:r>
          </a:p>
          <a:p>
            <a:r>
              <a:t>3. PersonaPlex groups eligible live one-frame appends across sessions into a batched preparation path. Initial/persona-prefill appends and ineligible inputs use their existing path. Its asynchronous Code2Wav input contains only new codec frames; the synchronous full-payload path consumes each request once. This avoids repeatedly decoding an old prefix and should not be read as a measured throughput gain for all session mixes.</a:t>
            </a:r>
          </a:p>
          <a:p>
            <a:r>
              <a:t/>
            </a:r>
          </a:p>
          <a:p>
            <a:r>
              <a:t>Benchmark trend: the four latest consecutive H100 daily runs in the supplied performance dataset, October 5–8, 2026, use MiniCPM-o 4.5, Seed-TTS, openai-chat-omni, configured max_concurrency=8, num_prompts=128, and the same exported config_key. Their mean_audio_rtf values are 0.9844461966498954, 0.7430039011861929, 0.559707561533549, and 0.4902875810555307. All 128 requests completed in each run. The table rounds these to two decimals. The displayed improvement is an aggregate daily trend, not an isolated A/B attribution to any optimization above. The export does not establish identical deployment flags or exact runtime commits across runs, and only labels the hardware as H100; no GPU count is inferred.</a:t>
            </a:r>
          </a:p>
          <a:p>
            <a:r>
              <a:t/>
            </a:r>
          </a:p>
          <a:p>
            <a:r>
              <a:t>This is Chat Completions speech generation, not eight simultaneous native-duplex audio/video conversations. For the chat benchmark, audio generation time is elapsed time from request start to the final audio response chunk, and audio duration is decoded from the returned audio. Audio RTF is the per-request ratio, averaged across requests. The values do not establish first-play latency, interruption quality or uninterrupted playback under every load. No new GPU benchmark was run for this revision. Source URLs are intentionally kept in notes.</a:t>
            </a:r>
          </a:p>
          <a:p>
            <a:r>
              <a:t/>
            </a:r>
          </a:p>
          <a:p>
            <a:r>
              <a:t>Sources:</a:t>
            </a:r>
          </a:p>
          <a:p>
            <a:r>
              <a:t>- https://github.com/vllm-project/vllm-omni/blob/06afa310c942c0506f0ed9bdd189fa331c46bb97/vllm_omni/model_executor/models/minicpmo_4_5/streaming_audio_encoder_graph.py</a:t>
            </a:r>
          </a:p>
          <a:p>
            <a:r>
              <a:t>- https://github.com/vllm-project/vllm-omni/blob/06afa310c942c0506f0ed9bdd189fa331c46bb97/vllm_omni/model_executor/models/minicpmo_4_5/encoder_cuda_graph.py</a:t>
            </a:r>
          </a:p>
          <a:p>
            <a:r>
              <a:t>- https://github.com/vllm-project/vllm-omni/blob/06afa310c942c0506f0ed9bdd189fa331c46bb97/vllm_omni/model_executor/models/minicpmo_4_5/minicpmo_4_5_code2wav.py</a:t>
            </a:r>
          </a:p>
          <a:p>
            <a:r>
              <a:t>- https://github.com/vllm-project/vllm-omni/blob/06afa310c942c0506f0ed9bdd189fa331c46bb97/vllm_omni/model_executor/models/minicpmo_4_5/dit_fused.py</a:t>
            </a:r>
          </a:p>
          <a:p>
            <a:r>
              <a:t>- https://github.com/vllm-project/vllm-omni/blob/06afa310c942c0506f0ed9bdd189fa331c46bb97/vllm_omni/model_executor/models/qwen3_omni/vision_encoder_cudagraph.py</a:t>
            </a:r>
          </a:p>
          <a:p>
            <a:r>
              <a:t>- https://github.com/vllm-project/vllm-omni/blob/06afa310c942c0506f0ed9bdd189fa331c46bb97/vllm_omni/model_executor/models/personaplex/duplex/stage0.py</a:t>
            </a:r>
          </a:p>
          <a:p>
            <a:r>
              <a:t>- https://github.com/vllm-project/vllm-omni/blob/06afa310c942c0506f0ed9bdd189fa331c46bb97/vllm_omni/model_executor/models/personaplex/personaplex_code2wav.py</a:t>
            </a:r>
          </a:p>
          <a:p>
            <a:r>
              <a:t>- https://github.com/vllm-project/vllm-omni/blob/06afa310c942c0506f0ed9bdd189fa331c46bb97/vllm_omni/worker/gpu_generation_model_runner.py</a:t>
            </a:r>
          </a:p>
          <a:p>
            <a:r>
              <a:t>- https://github.com/vllm-project/vllm-omni/blob/06afa310c942c0506f0ed9bdd189fa331c46bb97/vllm_omni/benchmarks/patch/patch.py</a:t>
            </a:r>
          </a:p>
          <a:p>
            <a:r>
              <a:t>- https://github.com/vllm-project/vllm-omni/blob/06afa310c942c0506f0ed9bdd189fa331c46bb97/docs/design/minicpm_o45_mrv2_performance.md</a:t>
            </a:r>
          </a:p>
          <a:p>
            <a:r>
              <a:t>- https://github.com/vllm-project/vllm-omni/pull/8430</a:t>
            </a:r>
          </a:p>
          <a:p>
            <a:r>
              <a:t>- https://github.com/vllm-project/vllm-omni/pull/8215</a:t>
            </a:r>
          </a:p>
          <a:p>
            <a:r>
              <a:t>- https://github.com/vllm-project/vllm-omni/pull/8557</a:t>
            </a:r>
          </a:p>
          <a:p>
            <a:r>
              <a:t>- https://github.com/vllm-project/vllm-omni/pull/8356</a:t>
            </a:r>
          </a:p>
          <a:p>
            <a:r>
              <a:t>- https://github.com/vllm-project/vllm-omni/pull/7480</a:t>
            </a:r>
          </a:p>
          <a:p>
            <a:r>
              <a:t>- https://github.com/vllm-project/vllm-omni/pull/8540</a:t>
            </a:r>
          </a:p>
          <a:p>
            <a:r>
              <a:t>- https://hsliuustc0106.github.io/vllm-omni-kanban/pages/assets/charts/minicpmo_4_5_history.json</a:t>
            </a:r>
          </a:p>
          <a:p>
            <a:r>
              <a:t/>
            </a:r>
          </a:p>
          <a:p>
            <a:r>
              <a:t/>
            </a:r>
          </a:p>
          <a:p>
            <a:r>
              <a:t>The four visible categories are optimization methods, with model examples listed beneath each method. CUDA Graphs reduce host launch overhead, kernel fusion reduces launches and intermediate traffic, session batching processes eligible live frames together, and incremental decoding skips already decoded audio. These categories apply to distinct paths and should not be read as four universally enabled features for every model.</a:t>
            </a:r>
          </a:p>
          <a:p>
            <a:r>
              <a:t/>
            </a:r>
          </a:p>
          <a:p>
            <a:r>
              <a:t>PersonaPlex also has optional Mimi encode/decode CUDA graph capture: see duplex/stage0.py and personaplex_code2wav.py in the pinned mainline above. Supported capture shapes and codec graph configuration apply. Its batching example refers to eligible live frame encoding/embedding, rather than arbitrary complete conversations. Its incremental decoding example refers to async new-frame Code2Wav input.</a:t>
            </a:r>
          </a:p>
          <a:p>
            <a:r>
              <a:t/>
            </a:r>
          </a:p>
          <a:p>
            <a:r>
              <a:t>The MiniCPM-o chart is the same four measured daily records as v57, now shown as an editable line chart with the original unrounded values embedded. It illustrates a benchmark trend; it does not attribute the observed decrease to these four methods collectively or to any single PR. PersonaPlex-only changes are not an explanation of MiniCPM-o benchmark improvements.</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TTFP measures the first received audio packet from a declared timing origin. It differs from audible playback, which includes client buffering and device scheduling. RTF is generation time divided by generated audio duration, so lower is better; audio duration per second is the inverse rate and should be labeled separately. Measure latency distributions, inter-chunk gaps, memory, session duration and speech quality together.</a:t>
            </a:r>
          </a:p>
          <a:p>
            <a:r>
              <a:t/>
            </a:r>
          </a:p>
          <a:p>
            <a:r>
              <a:t>OmniInteract supplies audio/video session execution and timing/evaluation artifacts. Omni-DuplexEval supplies task-oriented native-duplex generation, timing metrics and judging, with a MiniCPM-focused runner and CI guard. Availability of benchmark code does not imply every integrated model supports every task or interaction. Keep hardware, concurrency, input timing and scoring settings fixed when comparing results.</a:t>
            </a:r>
          </a:p>
          <a:p>
            <a:r>
              <a:t/>
            </a:r>
          </a:p>
          <a:p>
            <a:r>
              <a:t>Sources:</a:t>
            </a:r>
          </a:p>
          <a:p>
            <a:r>
              <a:t>- omniinteract.py: https://github.com/vllm-project/vllm-omni/blob/712b90de9c7bc14c595b363401588a713a87c02d/vllm_omni/benchmarks/omniinteract.py</a:t>
            </a:r>
          </a:p>
          <a:p>
            <a:r>
              <a:t>- omniinteract_eval.py: https://github.com/vllm-project/vllm-omni/blob/712b90de9c7bc14c595b363401588a713a87c02d/vllm_omni/benchmarks/omniinteract_eval.py</a:t>
            </a:r>
          </a:p>
          <a:p>
            <a:r>
              <a:t>- omni_duplex_eval_runner.py: https://github.com/vllm-project/vllm-omni/blob/712b90de9c7bc14c595b363401588a713a87c02d/vllm_omni/benchmarks/duplex/omni_duplex_eval_runner.py</a:t>
            </a:r>
          </a:p>
          <a:p>
            <a:r>
              <a:t>- omni_duplex_eval_metrics.py: https://github.com/vllm-project/vllm-omni/blob/712b90de9c7bc14c595b363401588a713a87c02d/vllm_omni/benchmarks/duplex/omni_duplex_eval_metrics.py</a:t>
            </a:r>
          </a:p>
          <a:p>
            <a:r>
              <a:t>- README.md: https://github.com/vllm-project/vllm-omni/blob/712b90de9c7bc14c595b363401588a713a87c02d/tests/e2e/accuracy/omni_duplex_eval/README.md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Tool calling already exists in selected vLLM-Omni Realtime serving paths. This slide separates those integrations from the work to provide consistent tool behavior and broader model coverage in the unified duplex framework.</a:t>
            </a:r>
          </a:p>
          <a:p>
            <a:r>
              <a:t/>
            </a:r>
          </a:p>
          <a:p>
            <a:r>
              <a:t>CURRENT SUPPORT</a:t>
            </a:r>
          </a:p>
          <a:p>
            <a:r>
              <a:t>Qwen3-Omni can use the turn-based Realtime handler's tool-parser integration. The handler requires --enable-auto-tool-choice and --tool-call-parser when function tools are active, emits function-call names and argument events, includes function-call results in conversation history, and can generate a subsequent response from that history. This is a separate path from the Qwen3-Omni unified-duplex plugin, which currently raises “Qwen duplex tool calls are not implemented” when realtime_tools is configured. Do not infer that a successful Qwen Realtime tool integration demonstrates support in its unified-duplex deployment.</a:t>
            </a:r>
          </a:p>
          <a:p>
            <a:r>
              <a:t/>
            </a:r>
          </a:p>
          <a:p>
            <a:r>
              <a:t>Nemotron VoiceChat already implements a native-duplex tool-result round trip through the unified framework. It emits function calls, accepts conversation.item.create containing function_call_output with a matching call_id, and queues the tokenized result into its function channel so that the model can continue in the live session. External tools run in the application. The current plugin accepts up to five tools and fixes tools/instructions once the system prompt is resident in model state.</a:t>
            </a:r>
          </a:p>
          <a:p>
            <a:r>
              <a:t/>
            </a:r>
          </a:p>
          <a:p>
            <a:r>
              <a:t>UNIFIED DUPLEX ROADMAP</a:t>
            </a:r>
          </a:p>
          <a:p>
            <a:r>
              <a:t>The common loop covers function names and arguments, application execution, correlated result return, and model continuation. Existing common function-call projection and a plugin hook provide a base. Extending this path requires complete model adapters and consistent behavior across supported models; the framework does not start from zero.</a:t>
            </a:r>
          </a:p>
          <a:p>
            <a:r>
              <a:t/>
            </a:r>
          </a:p>
          <a:p>
            <a:r>
              <a:t>During execution: define independently whether the session continues receiving user input and whether it produces speech while an external tool runs. These are model/policy choices and must not be advertised as a universal behavior. For example, the turn-based Realtime handler suppresses further audio after it observes a tool call; this does not establish a common duplex policy for every model.</a:t>
            </a:r>
          </a:p>
          <a:p>
            <a:r>
              <a:t/>
            </a:r>
          </a:p>
          <a:p>
            <a:r>
              <a:t>Turn safety: associate an outstanding call with its originating session/turn/response generation, define invalidation when a user interrupts or the turn is superseded, handle timeouts, suppress duplicate completion, and prevent late results from entering a newer turn. Common realtime projection already checks a matching completed call_id and rejects duplicate outputs. Those checks should be extended and applied consistently with interruption and timeout rules; this roadmap is not a claim that duplicate protection is entirely missing today. A historical matching call_id alone is not a complete specification of whether a result is still valid for the active turn.</a:t>
            </a:r>
          </a:p>
          <a:p>
            <a:r>
              <a:t/>
            </a:r>
          </a:p>
          <a:p>
            <a:r>
              <a:t>Ownership: the framework should own shared call tracking, result validation, timeout/interruption processing, and stale-result handling. Model plugins should handle model-specific output formats, result encoding and continuation/listen/speak behavior. AURA, JoyAI and the Qwen3-Omni unified-duplex path are adaptation targets, not an assertion that their tool loops are already complete. Application code owns execution of the external function and reports its outcome.</a:t>
            </a:r>
          </a:p>
          <a:p>
            <a:r>
              <a:t/>
            </a:r>
          </a:p>
          <a:p>
            <a:r>
              <a:t>Implementation references (snapshot d5a3380103df2fc827f095c60dbfb6e1c5655fd3):</a:t>
            </a:r>
          </a:p>
          <a:p>
            <a:r>
              <a:t>- https://github.com/vllm-project/vllm-omni/blob/d5a3380103df2fc827f095c60dbfb6e1c5655fd3/vllm_omni/entrypoints/openai/realtime/connection.py#L386-L425</a:t>
            </a:r>
          </a:p>
          <a:p>
            <a:r>
              <a:t>- https://github.com/vllm-project/vllm-omni/blob/d5a3380103df2fc827f095c60dbfb6e1c5655fd3/vllm_omni/entrypoints/openai/realtime/connection.py#L870-L940</a:t>
            </a:r>
          </a:p>
          <a:p>
            <a:r>
              <a:t>- https://github.com/vllm-project/vllm-omni/blob/d5a3380103df2fc827f095c60dbfb6e1c5655fd3/vllm_omni/entrypoints/openai/realtime/connection.py#L1655-L1678</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https://github.com/vllm-project/vllm-omni/blob/d5a3380103df2fc827f095c60dbfb6e1c5655fd3/vllm_omni/model_executor/models/nemotron_voicechat/duplex/plugin.py#L108-L147</a:t>
            </a:r>
          </a:p>
          <a:p>
            <a:r>
              <a:t>- https://github.com/vllm-project/vllm-omni/blob/d5a3380103df2fc827f095c60dbfb6e1c5655fd3/vllm_omni/model_executor/models/nemotron_voicechat/duplex/plugin.py#L430-L501</a:t>
            </a:r>
          </a:p>
          <a:p>
            <a:r>
              <a:t>- https://github.com/vllm-project/vllm-omni/blob/d5a3380103df2fc827f095c60dbfb6e1c5655fd3/vllm_omni/engine/duplex/realtime_events.py#L1080-L1126</a:t>
            </a:r>
          </a:p>
          <a:p>
            <a:r>
              <a:t>- https://github.com/vllm-project/vllm-omni/blob/d5a3380103df2fc827f095c60dbfb6e1c5655fd3/vllm_omni/engine/duplex/realtime_events.py#L1430-L1487</a:t>
            </a:r>
          </a:p>
          <a:p>
            <a:r>
              <a:t>- https://github.com/vllm-project/vllm-omni/blob/d5a3380103df2fc827f095c60dbfb6e1c5655fd3/vllm_omni/engine/duplex/plugin.py#L513-L523</a:t>
            </a:r>
          </a:p>
          <a:p>
            <a:r>
              <a:t>- https://github.com/vllm-project/vllm-omni/blob/d5a3380103df2fc827f095c60dbfb6e1c5655fd3/vllm_omni/engine/duplex/session/control.py#L290-L327</a:t>
            </a:r>
          </a:p>
          <a:p>
            <a:r>
              <a:t>- https://github.com/vllm-project/vllm-omni/blob/d5a3380103df2fc827f095c60dbfb6e1c5655fd3/tests/e2e/online_serving/nemotron_voicechat_realtime_duplex.py#L245-L273</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Near-term priorities center on model integration, richer interaction and broader evaluation. Longer-term priorities center on sustained conversation duration and serving scale. These priorities build on existing model integrations, evaluation runners and Stage replica infrastructure.</a:t>
            </a:r>
          </a:p>
          <a:p>
            <a:r>
              <a:t/>
            </a:r>
          </a:p>
          <a:p>
            <a:r>
              <a:t>NEAR TERM</a:t>
            </a:r>
          </a:p>
          <a:p>
            <a:r>
              <a:t>JoyAI integration: bring JoyAI into the unified duplex framework through model-specific input/output adapters and shared session orchestration. JoyAI already has model and pipeline code, along with an experimental full-duplex serving path; this priority is integration with the shared runtime rather than first-time model support. Integration does not imply that every model supports native LISTEN/SPEAK or every optional framework capability.</a:t>
            </a:r>
          </a:p>
          <a:p>
            <a:r>
              <a:t/>
            </a:r>
          </a:p>
          <a:p>
            <a:r>
              <a:t>Unified tool calling: standardize function-name/argument output, application-executed functions, correlated result return and model continuation through the shared duplex runtime. Complete model adapters and consistent input/speech behavior, interruption, timeout, duplicate and stale-result handling. The framework already projects function calls and checks matching call IDs and duplicate results; Nemotron VoiceChat supplies a native-duplex function-result hook. The turn-based Realtime handler has tool-parser integration used by Qwen3-Omni, while the Qwen3-Omni unified-duplex plugin explicitly rejects realtime_tools. The priority is shared behavior and broader model coverage, including AURA and JoyAI adapters. The preceding tool-calling slide provides the detailed scope.</a:t>
            </a:r>
          </a:p>
          <a:p>
            <a:r>
              <a:t/>
            </a:r>
          </a:p>
          <a:p>
            <a:r>
              <a:t>Semantic VAD: add meaning-aware turn-completion decisions to the session's commit and response policy. The current validator accepts server_vad only, the acoustic backend uses Silero, and a regression test explicitly rejects semantic_vad. Semantic endpointing is distinct from interruption-intent recognition and from native models' LISTEN/SPEAK decisions. Its inference should stay off the control loop and return ordered, session-scoped decisions, as described in the VAD appendix.</a:t>
            </a:r>
          </a:p>
          <a:p>
            <a:r>
              <a:t/>
            </a:r>
          </a:p>
          <a:p>
            <a:r>
              <a:t>Broader realtime evaluation: extend model, interaction-task, duration, concurrency and regression coverage in OmniInteract and Omni-DuplexEval. Both evaluation paths are already present. Omni-DuplexEval includes generation, scoring and a MiniCPM-focused nightly CI guard. This priority expands and standardizes coverage; it does not introduce evaluation for the first time. Near-term coverage can also establish baselines for the longer-term duration and scaling work.</a:t>
            </a:r>
          </a:p>
          <a:p>
            <a:r>
              <a:t/>
            </a:r>
          </a:p>
          <a:p>
            <a:r>
              <a:t>LONGER TERM</a:t>
            </a:r>
          </a:p>
          <a:p>
            <a:r>
              <a:t>Longer sustained conversations: extend the duration and model coverage of real-time audio/video sessions while managing context, history, memory and latency. MiniCPM-o 4.5 already has model-specific paged-KV/sliding-window infrastructure. The roadmap concerns sustained behavior across growing conversations and more model paths, not an assertion of unlimited context or universal long-session guarantees.</a:t>
            </a:r>
          </a:p>
          <a:p>
            <a:r>
              <a:t/>
            </a:r>
          </a:p>
          <a:p>
            <a:r>
              <a:t>Scaled multi-replica serving: raise concurrent-session capacity across Stage replicas and nodes, then extend session routing and ownership across API frontends. StagePool already chooses available replicas, binds requests and honors affinity; DuplexOrchestrator submits initial and update requests through it. Current duplex endpoints reject multiple API workers because session credentials and replay state remain local to the owning frontend. The concrete remaining direction is scalable session-aware routing, ownership and reliable cleanup while preserving model state affinity. Replica selection alone does not imply that a live model session can migrate its KV state to a different worker.</a:t>
            </a:r>
          </a:p>
          <a:p>
            <a:r>
              <a:t/>
            </a:r>
          </a:p>
          <a:p>
            <a:r>
              <a:t>Implementation references (latest fetched mainline d5a3380103df2fc827f095c60dbfb6e1c5655fd3):</a:t>
            </a:r>
          </a:p>
          <a:p>
            <a:r>
              <a:t>- https://github.com/vllm-project/vllm-omni/blob/d5a3380103df2fc827f095c60dbfb6e1c5655fd3/vllm_omni/model_executor/models/qwen3_omni/duplex/plugin.py#L160-L169</a:t>
            </a:r>
          </a:p>
          <a:p>
            <a:r>
              <a:t>- https://github.com/vllm-project/vllm-omni/blob/d5a3380103df2fc827f095c60dbfb6e1c5655fd3/vllm_omni/model_executor/models/nemotron_voicechat/duplex/plugin.py#L444-L501</a:t>
            </a:r>
          </a:p>
          <a:p>
            <a:r>
              <a:t>- https://github.com/vllm-project/vllm-omni/blob/d5a3380103df2fc827f095c60dbfb6e1c5655fd3/vllm_omni/entrypoints/openai/realtime/connection.py#L386-L425</a:t>
            </a:r>
          </a:p>
          <a:p>
            <a:r>
              <a:t>- https://github.com/vllm-project/vllm-omni/blob/d5a3380103df2fc827f095c60dbfb6e1c5655fd3/vllm_omni/engine/duplex/realtime_events.py#L1430-L1487</a:t>
            </a:r>
          </a:p>
          <a:p>
            <a:r>
              <a:t>- https://github.com/vllm-project/vllm-omni/blob/d5a3380103df2fc827f095c60dbfb6e1c5655fd3/vllm_omni/engine/duplex/turn_detection.py#L82-L99</a:t>
            </a:r>
          </a:p>
          <a:p>
            <a:r>
              <a:t>- https://github.com/vllm-project/vllm-omni/blob/d5a3380103df2fc827f095c60dbfb6e1c5655fd3/vllm_omni/engine/duplex/vad.py#L100-L108</a:t>
            </a:r>
          </a:p>
          <a:p>
            <a:r>
              <a:t>- https://github.com/vllm-project/vllm-omni/blob/d5a3380103df2fc827f095c60dbfb6e1c5655fd3/tests/engine/duplex/test_engine_session.py#L598-L608</a:t>
            </a:r>
          </a:p>
          <a:p>
            <a:r>
              <a:t>- https://github.com/vllm-project/vllm-omni/blob/d5a3380103df2fc827f095c60dbfb6e1c5655fd3/vllm_omni/benchmarks/omniinteract.py</a:t>
            </a:r>
          </a:p>
          <a:p>
            <a:r>
              <a:t>- https://github.com/vllm-project/vllm-omni/blob/d5a3380103df2fc827f095c60dbfb6e1c5655fd3/vllm_omni/benchmarks/omniinteract_eval.py</a:t>
            </a:r>
          </a:p>
          <a:p>
            <a:r>
              <a:t>- https://github.com/vllm-project/vllm-omni/blob/d5a3380103df2fc827f095c60dbfb6e1c5655fd3/vllm_omni/benchmarks/duplex/omni_duplex_eval_runner.py</a:t>
            </a:r>
          </a:p>
          <a:p>
            <a:r>
              <a:t>- https://github.com/vllm-project/vllm-omni/blob/d5a3380103df2fc827f095c60dbfb6e1c5655fd3/tests/e2e/accuracy/omni_duplex_eval/README.md</a:t>
            </a:r>
          </a:p>
          <a:p>
            <a:r>
              <a:t>- https://github.com/vllm-project/vllm-omni/blob/d5a3380103df2fc827f095c60dbfb6e1c5655fd3/vllm_omni/model_executor/models/minicpmo_4_5/duplex/window_kv.py</a:t>
            </a:r>
          </a:p>
          <a:p>
            <a:r>
              <a:t>- https://github.com/vllm-project/vllm-omni/blob/d5a3380103df2fc827f095c60dbfb6e1c5655fd3/vllm_omni/engine/stage_pool.py#L574-L609</a:t>
            </a:r>
          </a:p>
          <a:p>
            <a:r>
              <a:t>- https://github.com/vllm-project/vllm-omni/blob/d5a3380103df2fc827f095c60dbfb6e1c5655fd3/vllm_omni/engine/duplex_orchestrator.py#L393-L424</a:t>
            </a:r>
          </a:p>
          <a:p>
            <a:r>
              <a:t>- https://github.com/vllm-project/vllm-omni/blob/d5a3380103df2fc827f095c60dbfb6e1c5655fd3/vllm_omni/entrypoints/openai/api_server.py#L1880-L1895</a:t>
            </a:r>
          </a:p>
          <a:p>
            <a:r>
              <a:t>- https://github.com/vllm-project/vllm-omni/blob/d5a3380103df2fc827f095c60dbfb6e1c5655fd3/vllm_omni/model_executor/models/joyai_vl_interaction/pipeline.py</a:t>
            </a:r>
          </a:p>
          <a:p>
            <a:r>
              <a:t>- https://github.com/vllm-project/vllm-omni/blob/d5a3380103df2fc827f095c60dbfb6e1c5655fd3/vllm_omni/experimental/fullduplex/joyvl/serving/server.py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clockwise: API translates a wire event, EngineClient submits it through DuplexOmniEngine, and request_queue delivers commands or lifecycle controls to the Orchestrator. Manager selects the Runner. Plugin and ModelChannel prepare input; StagePool chooses the bound replica and submits to its EngineCore. Scheduler and workers execute the model and return Stage output.</a:t>
            </a:r>
          </a:p>
          <a:p>
            <a:r>
              <a:t/>
            </a:r>
          </a:p>
          <a:p>
            <a:r>
              <a:t>For normal text/audio output, Manager writes directly into the registered per-session buffer. The same object is handle._outbox. handle.events() consumes it and the API pumps events to the WebSocket. The global output queue is a separate path for lifecycle results, close/expiry notifications and errors with no live registered buffer; ordinary audio does not accumulate there.</a:t>
            </a:r>
          </a:p>
          <a:p>
            <a:r>
              <a:t/>
            </a:r>
          </a:p>
          <a:p>
            <a:r>
              <a:t>Session event ACKs are handled at the API attachment layer. Playback ACKs enter the command path. Queue-full and engine-dead errors can return immediately; later rejection arrives as an event. The MiniCPM pipeline at the bottom separates model stages from the process/replica diagram above. Network connectors are required when stages are placed on different nodes.</a:t>
            </a:r>
          </a:p>
          <a:p>
            <a:r>
              <a:t/>
            </a:r>
          </a:p>
          <a:p>
            <a:r>
              <a:t>Session state ownership: SessionManager manages session-to-runner and request-to-session mappings, admission, leases, output bounds and cleanup. Each SessionRunner serializes operations through its mailbox and drives model submission. DuplexEngineSession holds the engine-side turn, response, epoch/fence, request-resource, history and playback state and implements the corresponding update rules. The model plugin creates model-specific session state and supplies buffering, input construction, output interpretation and downstream Stage policy. Worker processes own model KV and streaming caches.</a:t>
            </a:r>
          </a:p>
          <a:p>
            <a:r>
              <a:t/>
            </a:r>
          </a:p>
          <a:p>
            <a:r>
              <a:t>Sources:</a:t>
            </a:r>
          </a:p>
          <a:p>
            <a:r>
              <a:t>- manager.py: https://github.com/vllm-project/vllm-omni/blob/712b90de9c7bc14c595b363401588a713a87c02d/vllm_omni/engine/duplex/session/manager.py</a:t>
            </a:r>
          </a:p>
          <a:p>
            <a:r>
              <a:t>- duplex_omni.py: https://github.com/vllm-project/vllm-omni/blob/712b90de9c7bc14c595b363401588a713a87c02d/vllm_omni/entrypoints/duplex_omni.py</a:t>
            </a:r>
          </a:p>
          <a:p>
            <a:r>
              <a:t>- serving.py: https://github.com/vllm-project/vllm-omni/blob/712b90de9c7bc14c595b363401588a713a87c02d/vllm_omni/entrypoints/duplex/serving.py</a:t>
            </a:r>
          </a:p>
          <a:p>
            <a:r>
              <a:t>- duplex_omni_engine.py: https://github.com/vllm-project/vllm-omni/blob/712b90de9c7bc14c595b363401588a713a87c02d/vllm_omni/engine/duplex_omni_engine.py</a:t>
            </a:r>
          </a:p>
          <a:p>
            <a:r>
              <a:t/>
            </a:r>
          </a:p>
          <a:p>
            <a:r>
              <a:t>Session-state implementation references:</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engine_session.py: https://github.com/vllm-project/vllm-omni/blob/712b90de9c7bc14c595b363401588a713a87c02d/vllm_omni/engine/duplex/session/engine_session.py</a:t>
            </a:r>
          </a:p>
          <a:p>
            <a:r>
              <a:t>- plugin.py: https://github.com/vllm-project/vllm-omni/blob/712b90de9c7bc14c595b363401588a713a87c02d/vllm_omni/engine/duplex/plugin.py</a:t>
            </a:r>
          </a:p>
          <a:p>
            <a:r>
              <a:t>- delivery.py: https://github.com/vllm-project/vllm-omni/blob/712b90de9c7bc14c595b363401588a713a87c02d/vllm_omni/engine/duplex/delivery.py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Acoustic VAD classifies speech activity. A separate endpointing policy uses the detected silence duration to decide when to end a turn. The detector alone does not commit input or start model generation.</a:t>
            </a:r>
          </a:p>
          <a:p>
            <a:r>
              <a:t/>
            </a:r>
          </a:p>
          <a:p>
            <a:r>
              <a:t>Semantic VAD is used here as an umbrella term for semantic end-of-turn detection. Such models estimate whether the user's utterance is complete, using linguistic context and, for audio-native models, cues such as intonation and rhythm. Text-based and audio-based approaches both exist.</a:t>
            </a:r>
          </a:p>
          <a:p>
            <a:r>
              <a:t/>
            </a:r>
          </a:p>
          <a:p>
            <a:r>
              <a:t>Pipecat Smart Turn v3.2 is an open-source audio-native turn detector that predicts complete or incomplete. Its documented deployment pairs it with a lightweight VAD such as Silero. VAD identifies a pause, then Smart Turn analyzes the accumulated audio of the current turn. It does not require a separate transcript. The flight-booking sentence on the slide illustrates why an unfinished request may need more time; it is not a measured prediction from this model. This is a reference model combination, not a claim of vLLM-Omni integration.</a:t>
            </a:r>
          </a:p>
          <a:p>
            <a:r>
              <a:t/>
            </a:r>
          </a:p>
          <a:p>
            <a:r>
              <a:t>LiveKit also documents turn detection layered on VAD. Its current audio turn detector requires VAD and adds semantic and prosodic information. These implementations support combining acoustic activity detection with a semantic completion model, rather than treating them as mutually exclusive components.</a:t>
            </a:r>
          </a:p>
          <a:p>
            <a:r>
              <a:t/>
            </a:r>
          </a:p>
          <a:p>
            <a:r>
              <a:t>An API can nevertheless expose alternative turn-detection modes. OpenAI Realtime accepts server_vad or semantic_vad as the selected type. That configuration choice does not establish whether acoustic and semantic signals are mutually exclusive inside a provider's implementation.</a:t>
            </a:r>
          </a:p>
          <a:p>
            <a:r>
              <a:t/>
            </a:r>
          </a:p>
          <a:p>
            <a:r>
              <a:t>Once the endpointing policy ends a turn, the session can commit input and, if configured, start a response. An incomplete prediction usually allows more listening time, subject to the system's timeout policy. Recognizing a new speech start or an intention to interrupt the assistant is a separate decision. Semantic turn completion is also distinct from a native duplex model's LISTEN / SPEAK behavior.</a:t>
            </a:r>
          </a:p>
          <a:p>
            <a:r>
              <a:t/>
            </a:r>
          </a:p>
          <a:p>
            <a:r>
              <a:t>Semantic VAD remains a proposed extension in this vLLM-Omni deck. The inspected unified-runtime configuration accepts server_vad and rejects other turn-detection types.</a:t>
            </a:r>
          </a:p>
          <a:p>
            <a:r>
              <a:t/>
            </a:r>
          </a:p>
          <a:p>
            <a:r>
              <a:t>References:</a:t>
            </a:r>
          </a:p>
          <a:p>
            <a:r>
              <a:t>- https://github.com/pipecat-ai/smart-turn</a:t>
            </a:r>
          </a:p>
          <a:p>
            <a:r>
              <a:t>- https://huggingface.co/pipecat-ai/smart-turn-v3.2</a:t>
            </a:r>
          </a:p>
          <a:p>
            <a:r>
              <a:t>- https://docs.livekit.io/agents/logic/turns/turn-detector/</a:t>
            </a:r>
          </a:p>
          <a:p>
            <a:r>
              <a:t>- https://developers.openai.com/api/docs/guides/realtime-vad</a:t>
            </a:r>
          </a:p>
          <a:p>
            <a:r>
              <a:t/>
            </a:r>
          </a:p>
          <a:p>
            <a:r>
              <a:t>vLLM-Omni implementation:</a:t>
            </a:r>
          </a:p>
          <a:p>
            <a:r>
              <a:t>- https://github.com/vllm-project/vllm-omni/blob/712b90de9c7bc14c595b363401588a713a87c02d/vllm_omni/engine/duplex/turn_detection.py</a:t>
            </a:r>
          </a:p>
          <a:p>
            <a:r>
              <a:t>- https://github.com/vllm-project/vllm-omni/blob/712b90de9c7bc14c595b363401588a713a87c02d/vllm_omni/engine/duplex/vad.py</a:t>
            </a:r>
          </a:p>
          <a:p>
            <a:r>
              <a:t>- https://github.com/vllm-project/vllm-omni/blob/712b90de9c7bc14c595b363401588a713a87c02d/vllm_omni/engine/duplex/session/runner.py</a:t>
            </a:r>
          </a:p>
          <a:p>
            <a:r>
              <a:t/>
            </a:r>
          </a:p>
          <a:p>
            <a:r>
              <a:t>Compute and placement: lightweight acoustic VAD has low inference cost per audio frame. Silero's published reference reports less than 1 ms of CPU processing for a 30+ ms audio chunk. This is inference time, not end-of-turn latency: buffering, scheduling and the configured silence duration also affect when the session commits. It is not a vLLM-Omni measurement.</a:t>
            </a:r>
          </a:p>
          <a:p>
            <a:r>
              <a:t/>
            </a:r>
          </a:p>
          <a:p>
            <a:r>
              <a:t>Semantic end-of-turn models usually analyze more context per decision, but their compute requirements depend on the model, hardware and invocation frequency. Smart Turn has a CPU implementation; its project reports inference from roughly 10 ms on some CPUs to below 100 ms on most cloud instances. Those figures use different inputs and environments from Silero's, so they do not establish a same-workload speed ratio. Gating semantic inference on detected pauses reduces invocation frequency.</a:t>
            </a:r>
          </a:p>
          <a:p>
            <a:r>
              <a:t/>
            </a:r>
          </a:p>
          <a:p>
            <a:r>
              <a:t>For vLLM-Omni, the planned direction is to execute heavier semantic models through an Omni Stage, while retaining an offloaded CPU option for lightweight models. Stage placement is a proposed architecture, not an implemented Semantic VAD path or a guarantee of lower latency. Scheduling, transfers, queueing and batching must fit the interaction latency budget. The Session Runner still owns the decision to wait, commit or create a response.</a:t>
            </a:r>
          </a:p>
          <a:p>
            <a:r>
              <a:t/>
            </a:r>
          </a:p>
          <a:p>
            <a:r>
              <a:t>Noise handling: VAD estimates speech activity and can suppress false speech events from non-speech noise. It does not produce a cleaned waveform, remove noise mixed with speech, or reliably exclude another person speaking in the background. Audio denoising, echo cancellation and target-speaker filtering are separate processing capabilities. The example does not imply dropping every non-speech audio chunk from a native duplex model's input.</a:t>
            </a:r>
          </a:p>
          <a:p>
            <a:r>
              <a:t/>
            </a:r>
          </a:p>
          <a:p>
            <a:r>
              <a:t>Additional references:</a:t>
            </a:r>
          </a:p>
          <a:p>
            <a:r>
              <a:t>- https://github.com/snakers4/silero-vad</a:t>
            </a:r>
          </a:p>
          <a:p>
            <a:r>
              <a:t>- https://github.com/pipecat-ai/smart-turn</a:t>
            </a:r>
          </a:p>
          <a:p>
            <a:r>
              <a:t/>
            </a:r>
          </a:p>
          <a:p>
            <a:r>
              <a:t/>
            </a:r>
          </a:p>
          <a:p>
            <a:r>
              <a:t>Runtime placement and session policy:</a:t>
            </a:r>
          </a:p>
          <a:p>
            <a:r>
              <a:t>For the Unified Duplex path, Server VAD belongs to the Orchestrator session runtime. SessionManager supplies the process-shared Silero ONNX backend; each session keeps independent detector state. Runner offloads CPU detection to a thread pool and applies the resulting speech-onset, endpointing, commit and interruption policy on its control loop. These CPU threads remain in the API/Orchestrator process. MiniCPM native duplex does not require Server VAD by default. The generic turn-based Realtime connection is a separate control path.</a:t>
            </a:r>
          </a:p>
          <a:p>
            <a:r>
              <a:t/>
            </a:r>
          </a:p>
          <a:p>
            <a:r>
              <a:t>Semantic VAD is a proposed extension here, not an integrated feature. A lightweight model can run in a bounded CPU pool, preferably reusing streaming ASR. A larger model can use a separate accelerator service with bounded batching latency. Decisions should carry session/input sequence/epoch so the Runner can apply them in order and discard stale work. Turn completion and model-native yielding are different decisions.</a:t>
            </a:r>
          </a:p>
          <a:p>
            <a:r>
              <a:t/>
            </a:r>
          </a:p>
          <a:p>
            <a:r>
              <a:t>Sources:</a:t>
            </a:r>
          </a:p>
          <a:p>
            <a:r>
              <a:t>- vad.py: https://github.com/vllm-project/vllm-omni/blob/712b90de9c7bc14c595b363401588a713a87c02d/vllm_omni/engine/duplex/vad.py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a:p>
            <a:r>
              <a:t>- connection.py: https://github.com/vllm-project/vllm-omni/blob/712b90de9c7bc14c595b363401588a713a87c02d/vllm_omni/entrypoints/openai/realtime/connection.py</a:t>
            </a:r>
          </a:p>
          <a:p>
            <a:r>
              <a:t/>
            </a:r>
          </a:p>
          <a:p>
            <a:r>
              <a:t>Planned semantic inference placement: keep lightweight models in an offloaded CPU pool. Audio-native models such as Smart Turn do not require ASR; text-based endpointing models may reuse a streaming transcript. Execute heavier semantic models through an Omni Stage, with bounded queues and latency-aware microbatching. This is a proposed extension. The Stage returns a completion estimate; the Session Runner owns wait/commit/response policy and validates session, input sequence and epoch before applying a result. Account for queueing and transfer overhead rather than assuming accelerator placement always lowers latency.</a:t>
            </a:r>
          </a:p>
          <a:p>
            <a:r>
              <a:t/>
            </a:r>
          </a:p>
          <a:p>
            <a:r>
              <a:t>Additional references:</a:t>
            </a:r>
          </a:p>
          <a:p>
            <a:r>
              <a:t>- https://github.com/snakers4/silero-vad</a:t>
            </a:r>
          </a:p>
          <a:p>
            <a:r>
              <a:t>- https://github.com/pipecat-ai/smart-turn</a:t>
            </a:r>
          </a:p>
          <a:p>
            <a:r>
              <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Disconnect, response cancellation and session termination affect different state. For a resumable model, a dropped connection can leave the engine session and in-flight generation alive during the disconnect grace. response.cancel cancels the response, invalidates old queued audio and preserves the session. session.close or lease expiry terminates the session and releases its associated work.</a:t>
            </a:r>
          </a:p>
          <a:p>
            <a:r>
              <a:t/>
            </a:r>
          </a:p>
          <a:p>
            <a:r>
              <a:t>Resume depends on session lifetime, valid credentials and replay coverage. The same live owner must still hold the session; the disconnect grace and lease must permit reattachment. The server validates the resume token and lease generation. The client's last received event position must be covered by retained events. Resume reattaches to existing state; cancelled work remains cancelled and a closed or expired session cannot be resurrected. Main slide 08 presents the client-facing reconnection flow.</a:t>
            </a:r>
          </a:p>
          <a:p>
            <a:r>
              <a:t/>
            </a:r>
          </a:p>
          <a:p>
            <a:r>
              <a:t>MiniCPM-o 4.5, AURA, Qwen3-Omni and Nemotron support live-session resume. PersonaPlex closes its session on disconnect. Current defaults are a 30-second disconnect grace, 300-second idle TTL, and a replay window bounded by 60 seconds and 8 MiB. These are configuration defaults, not guarantees of process failover or persistent recovery.</a:t>
            </a:r>
          </a:p>
          <a:p>
            <a:r>
              <a:t/>
            </a:r>
          </a:p>
          <a:p>
            <a:r>
              <a:t>Sources:</a:t>
            </a:r>
          </a:p>
          <a:p>
            <a:r>
              <a:t>- serving.py: https://github.com/vllm-project/vllm-omni/blob/712b90de9c7bc14c595b363401588a713a87c02d/vllm_omni/entrypoints/duplex/serving.py</a:t>
            </a:r>
          </a:p>
          <a:p>
            <a:r>
              <a:t>- session_attachment.py: https://github.com/vllm-project/vllm-omni/blob/712b90de9c7bc14c595b363401588a713a87c02d/vllm_omni/entrypoints/duplex/session_attachment.py</a:t>
            </a:r>
          </a:p>
          <a:p>
            <a:r>
              <a:t>- stage_config.py: https://github.com/vllm-project/vllm-omni/blob/712b90de9c7bc14c595b363401588a713a87c02d/vllm_omni/config/stage_config.py</a:t>
            </a:r>
          </a:p>
          <a:p>
            <a:r>
              <a:t>- manager.py: https://github.com/vllm-project/vllm-omni/blob/712b90de9c7bc14c595b363401588a713a87c02d/vllm_omni/engine/duplex/session/manager.py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 process owns the API/EngineClient and its Duplex Orchestrator. It starts the selected local stage and discovers other stage/replica processes through OmniMaster registration. Each headless process starts its assigned Stage engines/workers; it does not create a separate Duplex Orchestrator for that stage.</a:t>
            </a:r>
          </a:p>
          <a:p>
            <a:r>
              <a:t/>
            </a:r>
          </a:p>
          <a:p>
            <a:r>
              <a:t>Use a consistent deploy topology, reachable master address/port and network-capable connectors for cross-node Stage data. SharedMemory connectors are local-host transports. The Head Orchestrator dispatches to StagePool clients and preserves request affinity.</a:t>
            </a:r>
          </a:p>
          <a:p>
            <a:r>
              <a:t/>
            </a:r>
          </a:p>
          <a:p>
            <a:r>
              <a:t>Current duplex endpoints reject configurations with multiple API workers, since attachment credentials and replay state are owner-local. Scaling stage replicas is different from scaling API workers, and a distributed Stage layout does not supply transparent frontend failover. The diagram illustrates deployment ownership; model/device/connector support must match the chosen configuration.</a:t>
            </a:r>
          </a:p>
          <a:p>
            <a:r>
              <a:t/>
            </a:r>
          </a:p>
          <a:p>
            <a:r>
              <a:t>Sources:</a:t>
            </a:r>
          </a:p>
          <a:p>
            <a:r>
              <a:t>- api_server.py: https://github.com/vllm-project/vllm-omni/blob/712b90de9c7bc14c595b363401588a713a87c02d/vllm_omni/entrypoints/openai/api_server.py</a:t>
            </a:r>
          </a:p>
          <a:p>
            <a:r>
              <a:t>- stage_runtime.py: https://github.com/vllm-project/vllm-omni/blob/712b90de9c7bc14c595b363401588a713a87c02d/vllm_omni/engine/stage_runtime.py</a:t>
            </a:r>
          </a:p>
          <a:p>
            <a:r>
              <a:t>- stage_init_utils.py: https://github.com/vllm-project/vllm-omni/blob/712b90de9c7bc14c595b363401588a713a87c02d/vllm_omni/engine/stage_init_utils.py</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references link to one source snapshot. The engine queue carries commands and lifecycle control messages. Ordinary output uses the handle's shared DuplexOutputBuffer; the global output queue remains for control results and exceptional session notifications. Follow Manager/Runner for session ownership, StagePool for replica selection, and Scheduler/Worker for model compute and retained caches.</a:t>
            </a:r>
          </a:p>
          <a:p>
            <a:r>
              <a:t/>
            </a:r>
          </a:p>
          <a:p>
            <a:r>
              <a:t>Sources:</a:t>
            </a:r>
          </a:p>
          <a:p>
            <a:r>
              <a:t>- serving.py: https://github.com/vllm-project/vllm-omni/blob/712b90de9c7bc14c595b363401588a713a87c02d/vllm_omni/entrypoints/duplex/serving.py</a:t>
            </a:r>
          </a:p>
          <a:p>
            <a:r>
              <a:t>- duplex_omni.py: https://github.com/vllm-project/vllm-omni/blob/712b90de9c7bc14c595b363401588a713a87c02d/vllm_omni/entrypoints/duplex_omni.py</a:t>
            </a:r>
          </a:p>
          <a:p>
            <a:r>
              <a:t>- duplex_omni_engine.py: https://github.com/vllm-project/vllm-omni/blob/712b90de9c7bc14c595b363401588a713a87c02d/vllm_omni/engine/duplex_omni_engine.py</a:t>
            </a:r>
          </a:p>
          <a:p>
            <a:r>
              <a:t>- delivery.py: https://github.com/vllm-project/vllm-omni/blob/712b90de9c7bc14c595b363401588a713a87c02d/vllm_omni/engine/duplex/delivery.py</a:t>
            </a:r>
          </a:p>
          <a:p>
            <a:r>
              <a:t>- manager.py: https://github.com/vllm-project/vllm-omni/blob/712b90de9c7bc14c595b363401588a713a87c02d/vllm_omni/engine/duplex/session/manager.py</a:t>
            </a:r>
          </a:p>
          <a:p>
            <a:r>
              <a:t>- runner.py: https://github.com/vllm-project/vllm-omni/blob/712b90de9c7bc14c595b363401588a713a87c02d/vllm_omni/engine/duplex/session/runner.py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12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image" Target="../media/image2.png"/><Relationship Id="rId5" Type="http://schemas.openxmlformats.org/officeDocument/2006/relationships/hyperlink" Target="https://github.com/0xtoward" TargetMode="External"/><Relationship Id="rId6" Type="http://schemas.openxmlformats.org/officeDocument/2006/relationships/image" Target="../media/image3.jpg"/><Relationship Id="rId7" Type="http://schemas.openxmlformats.org/officeDocument/2006/relationships/hyperlink" Target="https://github.com/0z5a" TargetMode="External"/><Relationship Id="rId8" Type="http://schemas.openxmlformats.org/officeDocument/2006/relationships/image" Target="../media/image4.png"/><Relationship Id="rId9" Type="http://schemas.openxmlformats.org/officeDocument/2006/relationships/hyperlink" Target="https://github.com/AbelSara" TargetMode="External"/><Relationship Id="rId10" Type="http://schemas.openxmlformats.org/officeDocument/2006/relationships/image" Target="../media/image5.png"/><Relationship Id="rId11" Type="http://schemas.openxmlformats.org/officeDocument/2006/relationships/hyperlink" Target="https://github.com/akshatvishu" TargetMode="External"/><Relationship Id="rId12" Type="http://schemas.openxmlformats.org/officeDocument/2006/relationships/image" Target="../media/image6.jpg"/><Relationship Id="rId13" Type="http://schemas.openxmlformats.org/officeDocument/2006/relationships/hyperlink" Target="https://github.com/amy-why-3459" TargetMode="External"/><Relationship Id="rId14" Type="http://schemas.openxmlformats.org/officeDocument/2006/relationships/image" Target="../media/image7.png"/><Relationship Id="rId15" Type="http://schemas.openxmlformats.org/officeDocument/2006/relationships/hyperlink" Target="https://github.com/andyluo7" TargetMode="External"/><Relationship Id="rId16" Type="http://schemas.openxmlformats.org/officeDocument/2006/relationships/image" Target="../media/image8.png"/><Relationship Id="rId17" Type="http://schemas.openxmlformats.org/officeDocument/2006/relationships/hyperlink" Target="https://github.com/anurag12-webster" TargetMode="External"/><Relationship Id="rId18" Type="http://schemas.openxmlformats.org/officeDocument/2006/relationships/image" Target="../media/image9.png"/><Relationship Id="rId19" Type="http://schemas.openxmlformats.org/officeDocument/2006/relationships/hyperlink" Target="https://github.com/BeatSeat" TargetMode="External"/><Relationship Id="rId20" Type="http://schemas.openxmlformats.org/officeDocument/2006/relationships/image" Target="../media/image10.jpg"/><Relationship Id="rId21" Type="http://schemas.openxmlformats.org/officeDocument/2006/relationships/hyperlink" Target="https://github.com/BruceLoveDecimal" TargetMode="External"/><Relationship Id="rId22" Type="http://schemas.openxmlformats.org/officeDocument/2006/relationships/image" Target="../media/image11.jpg"/><Relationship Id="rId23" Type="http://schemas.openxmlformats.org/officeDocument/2006/relationships/hyperlink" Target="https://github.com/CarrotSwordsman" TargetMode="External"/><Relationship Id="rId24" Type="http://schemas.openxmlformats.org/officeDocument/2006/relationships/image" Target="../media/image12.png"/><Relationship Id="rId25" Type="http://schemas.openxmlformats.org/officeDocument/2006/relationships/hyperlink" Target="https://github.com/chickeyton" TargetMode="External"/><Relationship Id="rId26" Type="http://schemas.openxmlformats.org/officeDocument/2006/relationships/image" Target="../media/image13.jpg"/><Relationship Id="rId27" Type="http://schemas.openxmlformats.org/officeDocument/2006/relationships/hyperlink" Target="https://github.com/congw729" TargetMode="External"/><Relationship Id="rId28" Type="http://schemas.openxmlformats.org/officeDocument/2006/relationships/image" Target="../media/image14.png"/><Relationship Id="rId29" Type="http://schemas.openxmlformats.org/officeDocument/2006/relationships/hyperlink" Target="https://github.com/dshah1333" TargetMode="External"/><Relationship Id="rId30" Type="http://schemas.openxmlformats.org/officeDocument/2006/relationships/image" Target="../media/image15.png"/><Relationship Id="rId31" Type="http://schemas.openxmlformats.org/officeDocument/2006/relationships/hyperlink" Target="https://github.com/eval-dev" TargetMode="External"/><Relationship Id="rId32" Type="http://schemas.openxmlformats.org/officeDocument/2006/relationships/image" Target="../media/image16.jpg"/><Relationship Id="rId33" Type="http://schemas.openxmlformats.org/officeDocument/2006/relationships/hyperlink" Target="https://github.com/FayeSpica" TargetMode="External"/><Relationship Id="rId34" Type="http://schemas.openxmlformats.org/officeDocument/2006/relationships/image" Target="../media/image17.jpg"/><Relationship Id="rId35" Type="http://schemas.openxmlformats.org/officeDocument/2006/relationships/hyperlink" Target="https://github.com/frank-2077" TargetMode="External"/><Relationship Id="rId36" Type="http://schemas.openxmlformats.org/officeDocument/2006/relationships/image" Target="../media/image18.jpg"/><Relationship Id="rId37" Type="http://schemas.openxmlformats.org/officeDocument/2006/relationships/hyperlink" Target="https://github.com/Fyrgo8" TargetMode="External"/><Relationship Id="rId38" Type="http://schemas.openxmlformats.org/officeDocument/2006/relationships/image" Target="../media/image19.jpg"/><Relationship Id="rId39" Type="http://schemas.openxmlformats.org/officeDocument/2006/relationships/hyperlink" Target="https://github.com/Gaohan123" TargetMode="External"/><Relationship Id="rId40" Type="http://schemas.openxmlformats.org/officeDocument/2006/relationships/image" Target="../media/image20.png"/><Relationship Id="rId41" Type="http://schemas.openxmlformats.org/officeDocument/2006/relationships/hyperlink" Target="https://github.com/GKangaroo" TargetMode="External"/><Relationship Id="rId42" Type="http://schemas.openxmlformats.org/officeDocument/2006/relationships/image" Target="../media/image21.jpg"/><Relationship Id="rId43" Type="http://schemas.openxmlformats.org/officeDocument/2006/relationships/hyperlink" Target="https://github.com/guanzheh" TargetMode="External"/><Relationship Id="rId44" Type="http://schemas.openxmlformats.org/officeDocument/2006/relationships/image" Target="../media/image22.png"/><Relationship Id="rId45" Type="http://schemas.openxmlformats.org/officeDocument/2006/relationships/hyperlink" Target="https://github.com/herotai214" TargetMode="External"/><Relationship Id="rId46" Type="http://schemas.openxmlformats.org/officeDocument/2006/relationships/image" Target="../media/image23.jpg"/><Relationship Id="rId47" Type="http://schemas.openxmlformats.org/officeDocument/2006/relationships/hyperlink" Target="https://github.com/Hiro208" TargetMode="External"/><Relationship Id="rId48" Type="http://schemas.openxmlformats.org/officeDocument/2006/relationships/image" Target="../media/image24.png"/><Relationship Id="rId49" Type="http://schemas.openxmlformats.org/officeDocument/2006/relationships/hyperlink" Target="https://github.com/hsliuustc0106" TargetMode="External"/><Relationship Id="rId50" Type="http://schemas.openxmlformats.org/officeDocument/2006/relationships/image" Target="../media/image25.jpg"/><Relationship Id="rId51" Type="http://schemas.openxmlformats.org/officeDocument/2006/relationships/hyperlink" Target="https://github.com/IneshReddy249" TargetMode="External"/><Relationship Id="rId52" Type="http://schemas.openxmlformats.org/officeDocument/2006/relationships/image" Target="../media/image26.jpg"/><Relationship Id="rId53" Type="http://schemas.openxmlformats.org/officeDocument/2006/relationships/hyperlink" Target="https://github.com/LHXuuu" TargetMode="External"/><Relationship Id="rId54" Type="http://schemas.openxmlformats.org/officeDocument/2006/relationships/image" Target="../media/image27.png"/><Relationship Id="rId55" Type="http://schemas.openxmlformats.org/officeDocument/2006/relationships/hyperlink" Target="https://github.com/linyueqian" TargetMode="External"/><Relationship Id="rId56" Type="http://schemas.openxmlformats.org/officeDocument/2006/relationships/image" Target="../media/image28.jpg"/><Relationship Id="rId57" Type="http://schemas.openxmlformats.org/officeDocument/2006/relationships/hyperlink" Target="https://github.com/lishunyang12" TargetMode="External"/><Relationship Id="rId58" Type="http://schemas.openxmlformats.org/officeDocument/2006/relationships/image" Target="../media/image29.jpg"/><Relationship Id="rId59" Type="http://schemas.openxmlformats.org/officeDocument/2006/relationships/hyperlink" Target="https://github.com/LOGO127" TargetMode="External"/><Relationship Id="rId60" Type="http://schemas.openxmlformats.org/officeDocument/2006/relationships/image" Target="../media/image30.jpg"/><Relationship Id="rId61" Type="http://schemas.openxmlformats.org/officeDocument/2006/relationships/hyperlink" Target="https://github.com/m0g3r" TargetMode="External"/><Relationship Id="rId62" Type="http://schemas.openxmlformats.org/officeDocument/2006/relationships/image" Target="../media/image31.jpg"/><Relationship Id="rId63" Type="http://schemas.openxmlformats.org/officeDocument/2006/relationships/hyperlink" Target="https://github.com/MrDongsls" TargetMode="External"/><Relationship Id="rId64" Type="http://schemas.openxmlformats.org/officeDocument/2006/relationships/image" Target="../media/image32.jpg"/><Relationship Id="rId65" Type="http://schemas.openxmlformats.org/officeDocument/2006/relationships/hyperlink" Target="https://github.com/natureofnature" TargetMode="External"/><Relationship Id="rId66" Type="http://schemas.openxmlformats.org/officeDocument/2006/relationships/image" Target="../media/image33.jpg"/><Relationship Id="rId67" Type="http://schemas.openxmlformats.org/officeDocument/2006/relationships/hyperlink" Target="https://github.com/NickCao" TargetMode="External"/><Relationship Id="rId68" Type="http://schemas.openxmlformats.org/officeDocument/2006/relationships/image" Target="../media/image34.png"/><Relationship Id="rId69" Type="http://schemas.openxmlformats.org/officeDocument/2006/relationships/hyperlink" Target="https://github.com/NolenLiang" TargetMode="External"/><Relationship Id="rId70" Type="http://schemas.openxmlformats.org/officeDocument/2006/relationships/image" Target="../media/image35.png"/><Relationship Id="rId71" Type="http://schemas.openxmlformats.org/officeDocument/2006/relationships/hyperlink" Target="https://github.com/NumberWan" TargetMode="External"/><Relationship Id="rId72" Type="http://schemas.openxmlformats.org/officeDocument/2006/relationships/image" Target="../media/image36.jpg"/><Relationship Id="rId73" Type="http://schemas.openxmlformats.org/officeDocument/2006/relationships/hyperlink" Target="https://github.com/psv666" TargetMode="External"/><Relationship Id="rId74" Type="http://schemas.openxmlformats.org/officeDocument/2006/relationships/image" Target="../media/image37.jpg"/><Relationship Id="rId75" Type="http://schemas.openxmlformats.org/officeDocument/2006/relationships/hyperlink" Target="https://github.com/pujitha24" TargetMode="External"/><Relationship Id="rId76" Type="http://schemas.openxmlformats.org/officeDocument/2006/relationships/image" Target="../media/image38.jpg"/><Relationship Id="rId77" Type="http://schemas.openxmlformats.org/officeDocument/2006/relationships/hyperlink" Target="https://github.com/R2-Y" TargetMode="External"/><Relationship Id="rId78" Type="http://schemas.openxmlformats.org/officeDocument/2006/relationships/image" Target="../media/image39.jpg"/><Relationship Id="rId79" Type="http://schemas.openxmlformats.org/officeDocument/2006/relationships/hyperlink" Target="https://github.com/RyanYun09" TargetMode="External"/><Relationship Id="rId80" Type="http://schemas.openxmlformats.org/officeDocument/2006/relationships/image" Target="../media/image40.jpg"/><Relationship Id="rId81" Type="http://schemas.openxmlformats.org/officeDocument/2006/relationships/hyperlink" Target="https://github.com/sphinxkkkbc" TargetMode="External"/><Relationship Id="rId82" Type="http://schemas.openxmlformats.org/officeDocument/2006/relationships/image" Target="../media/image41.png"/><Relationship Id="rId83" Type="http://schemas.openxmlformats.org/officeDocument/2006/relationships/hyperlink" Target="https://github.com/StormMelody" TargetMode="External"/><Relationship Id="rId84" Type="http://schemas.openxmlformats.org/officeDocument/2006/relationships/image" Target="../media/image42.jpg"/><Relationship Id="rId85" Type="http://schemas.openxmlformats.org/officeDocument/2006/relationships/hyperlink" Target="https://github.com/stringl1l1l1l" TargetMode="External"/><Relationship Id="rId86" Type="http://schemas.openxmlformats.org/officeDocument/2006/relationships/image" Target="../media/image43.png"/><Relationship Id="rId87" Type="http://schemas.openxmlformats.org/officeDocument/2006/relationships/hyperlink" Target="https://github.com/Sy0307" TargetMode="External"/><Relationship Id="rId88" Type="http://schemas.openxmlformats.org/officeDocument/2006/relationships/image" Target="../media/image44.jpg"/><Relationship Id="rId89" Type="http://schemas.openxmlformats.org/officeDocument/2006/relationships/hyperlink" Target="https://github.com/tc-mb" TargetMode="External"/><Relationship Id="rId90" Type="http://schemas.openxmlformats.org/officeDocument/2006/relationships/image" Target="../media/image45.png"/><Relationship Id="rId91" Type="http://schemas.openxmlformats.org/officeDocument/2006/relationships/hyperlink" Target="https://github.com/TheCodeWrangler" TargetMode="External"/><Relationship Id="rId92" Type="http://schemas.openxmlformats.org/officeDocument/2006/relationships/image" Target="../media/image46.png"/><Relationship Id="rId93" Type="http://schemas.openxmlformats.org/officeDocument/2006/relationships/hyperlink" Target="https://github.com/THUqliu" TargetMode="External"/><Relationship Id="rId94" Type="http://schemas.openxmlformats.org/officeDocument/2006/relationships/image" Target="../media/image47.jpg"/><Relationship Id="rId95" Type="http://schemas.openxmlformats.org/officeDocument/2006/relationships/hyperlink" Target="https://github.com/Tiagosf00" TargetMode="External"/><Relationship Id="rId96" Type="http://schemas.openxmlformats.org/officeDocument/2006/relationships/image" Target="../media/image48.png"/><Relationship Id="rId97" Type="http://schemas.openxmlformats.org/officeDocument/2006/relationships/hyperlink" Target="https://github.com/tlysanhuo" TargetMode="External"/><Relationship Id="rId98" Type="http://schemas.openxmlformats.org/officeDocument/2006/relationships/image" Target="../media/image49.jpg"/><Relationship Id="rId99" Type="http://schemas.openxmlformats.org/officeDocument/2006/relationships/hyperlink" Target="https://github.com/twu3202" TargetMode="External"/><Relationship Id="rId100" Type="http://schemas.openxmlformats.org/officeDocument/2006/relationships/image" Target="../media/image50.png"/><Relationship Id="rId101" Type="http://schemas.openxmlformats.org/officeDocument/2006/relationships/hyperlink" Target="https://github.com/vuuihc" TargetMode="External"/><Relationship Id="rId102" Type="http://schemas.openxmlformats.org/officeDocument/2006/relationships/image" Target="../media/image51.png"/><Relationship Id="rId103" Type="http://schemas.openxmlformats.org/officeDocument/2006/relationships/hyperlink" Target="https://github.com/wuli666" TargetMode="External"/><Relationship Id="rId104" Type="http://schemas.openxmlformats.org/officeDocument/2006/relationships/image" Target="../media/image52.jpg"/><Relationship Id="rId105" Type="http://schemas.openxmlformats.org/officeDocument/2006/relationships/hyperlink" Target="https://github.com/xsmccc" TargetMode="External"/><Relationship Id="rId106" Type="http://schemas.openxmlformats.org/officeDocument/2006/relationships/image" Target="../media/image53.png"/><Relationship Id="rId107" Type="http://schemas.openxmlformats.org/officeDocument/2006/relationships/hyperlink" Target="https://github.com/y-null" TargetMode="External"/><Relationship Id="rId108" Type="http://schemas.openxmlformats.org/officeDocument/2006/relationships/image" Target="../media/image54.jpg"/><Relationship Id="rId109" Type="http://schemas.openxmlformats.org/officeDocument/2006/relationships/hyperlink" Target="https://github.com/yenuo26" TargetMode="External"/><Relationship Id="rId110" Type="http://schemas.openxmlformats.org/officeDocument/2006/relationships/image" Target="../media/image55.jpg"/><Relationship Id="rId111" Type="http://schemas.openxmlformats.org/officeDocument/2006/relationships/hyperlink" Target="https://github.com/yuekaizhang" TargetMode="External"/><Relationship Id="rId112" Type="http://schemas.openxmlformats.org/officeDocument/2006/relationships/image" Target="../media/image56.png"/><Relationship Id="rId113" Type="http://schemas.openxmlformats.org/officeDocument/2006/relationships/hyperlink" Target="https://github.com/ZacheryAU" TargetMode="External"/><Relationship Id="rId114" Type="http://schemas.openxmlformats.org/officeDocument/2006/relationships/image" Target="../media/image57.png"/><Relationship Id="rId115" Type="http://schemas.openxmlformats.org/officeDocument/2006/relationships/hyperlink" Target="https://github.com/Zhou248" TargetMode="External"/><Relationship Id="rId116" Type="http://schemas.openxmlformats.org/officeDocument/2006/relationships/image" Target="../media/image58.jpg"/><Relationship Id="rId117" Type="http://schemas.openxmlformats.org/officeDocument/2006/relationships/hyperlink" Target="https://github.com/zyforsure" TargetMode="External"/><Relationship Id="rId118" Type="http://schemas.openxmlformats.org/officeDocument/2006/relationships/hyperlink" Target="https://github.com/vllm-project/vllm-omni/pull/3907" TargetMode="External"/><Relationship Id="rId119" Type="http://schemas.openxmlformats.org/officeDocument/2006/relationships/hyperlink" Target="https://github.com/vllm-project/vllm-omni/pull/7413" TargetMode="External"/><Relationship Id="rId120" Type="http://schemas.openxmlformats.org/officeDocument/2006/relationships/hyperlink" Target="https://github.com/vllm-project/vllm-omni/pull/6021" TargetMode="External"/><Relationship Id="rId122" Type="http://schemas.openxmlformats.org/officeDocument/2006/relationships/hyperlink" Target="https://github.com/vllm-project/vllm-omni/pull/4771" TargetMode="External"/><Relationship Id="rId123" Type="http://schemas.openxmlformats.org/officeDocument/2006/relationships/hyperlink" Target="https://github.com/vllm-project/vllm-omni/pull/6089" TargetMode="External"/><Relationship Id="rId124" Type="http://schemas.openxmlformats.org/officeDocument/2006/relationships/hyperlink" Target="https://github.com/vllm-project/vllm-omni/pull/7633" TargetMode="External"/><Relationship Id="rId125" Type="http://schemas.openxmlformats.org/officeDocument/2006/relationships/hyperlink" Target="https://github.com/vllm-project/vllm-omni/pull/7242" TargetMode="External"/><Relationship Id="rId126" Type="http://schemas.openxmlformats.org/officeDocument/2006/relationships/notesSlide" Target="../notesSlides/notesSlide2.xml"/><Relationship Id="rId127" Type="http://schemas.openxmlformats.org/officeDocument/2006/relationships/hyperlink" Target="https://github.com/vllm-project/vllm-omni/pull/7585" TargetMode="External"/><Relationship Id="rId128" Type="http://schemas.openxmlformats.org/officeDocument/2006/relationships/image" Target="../media/v42-avatar-HyperbolicCr.png"/><Relationship Id="rId129" Type="http://schemas.openxmlformats.org/officeDocument/2006/relationships/hyperlink" Target="https://github.com/HyperbolicCr" TargetMode="External"/><Relationship Id="rId130" Type="http://schemas.openxmlformats.org/officeDocument/2006/relationships/image" Target="../media/v42-avatar-LinzeShi.jpg"/><Relationship Id="rId131" Type="http://schemas.openxmlformats.org/officeDocument/2006/relationships/hyperlink" Target="https://github.com/LinzeShi" TargetMode="External"/><Relationship Id="rId132" Type="http://schemas.openxmlformats.org/officeDocument/2006/relationships/image" Target="../media/v42-avatar-vraiti.png"/><Relationship Id="rId133" Type="http://schemas.openxmlformats.org/officeDocument/2006/relationships/hyperlink" Target="https://github.com/vraiti" TargetMode="External"/><Relationship Id="rId134" Type="http://schemas.openxmlformats.org/officeDocument/2006/relationships/image" Target="../media/v42-avatar-xuhuan51.jpg"/><Relationship Id="rId135" Type="http://schemas.openxmlformats.org/officeDocument/2006/relationships/hyperlink" Target="https://github.com/xuhuan51" TargetMode="External"/><Relationship Id="rId136" Type="http://schemas.openxmlformats.org/officeDocument/2006/relationships/image" Target="../media/v42-avatar-ZhengWG.jpg"/><Relationship Id="rId137" Type="http://schemas.openxmlformats.org/officeDocument/2006/relationships/hyperlink" Target="https://github.com/ZhengWG" TargetMode="External"/><Relationship Id="rId138" Type="http://schemas.openxmlformats.org/officeDocument/2006/relationships/hyperlink" Target="https://github.com/vllm-project/vllm-omni/pull/3907" TargetMode="External"/><Relationship Id="rId139" Type="http://schemas.openxmlformats.org/officeDocument/2006/relationships/hyperlink" Target="https://github.com/vllm-project/vllm-omni/pull/7413" TargetMode="External"/><Relationship Id="rId140" Type="http://schemas.openxmlformats.org/officeDocument/2006/relationships/hyperlink" Target="https://github.com/vllm-project/vllm-omni/pull/7285" TargetMode="External"/><Relationship Id="rId141" Type="http://schemas.openxmlformats.org/officeDocument/2006/relationships/hyperlink" Target="https://github.com/vllm-project/vllm-omni/pull/7585" TargetMode="External"/><Relationship Id="rId142" Type="http://schemas.openxmlformats.org/officeDocument/2006/relationships/hyperlink" Target="https://github.com/vllm-project/vllm-omni/pull/7695" TargetMode="External"/><Relationship Id="rId143" Type="http://schemas.openxmlformats.org/officeDocument/2006/relationships/hyperlink" Target="https://github.com/vllm-project/vllm-omni/pull/6089" TargetMode="External"/><Relationship Id="rId144" Type="http://schemas.openxmlformats.org/officeDocument/2006/relationships/hyperlink" Target="https://github.com/vllm-project/vllm-omni/pull/7633" TargetMode="External"/><Relationship Id="rId145" Type="http://schemas.openxmlformats.org/officeDocument/2006/relationships/hyperlink" Target="https://github.com/vllm-project/vllm-omni/pull/7644"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3.xml"/><Relationship Id="rId5" Type="http://schemas.openxmlformats.org/officeDocument/2006/relationships/image" Target="../media/image5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0.xml"/><Relationship Id="rIdRtfTrend" Type="http://schemas.openxmlformats.org/officeDocument/2006/relationships/chart" Target="../charts/char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hyperlink" Target="https://github.com/vllm-project/vllm-omni" TargetMode="External"/><Relationship Id="rId4" Type="http://schemas.openxmlformats.org/officeDocument/2006/relationships/hyperlink" Target="https://github.com/vllm-project/vllm-omni/blob/712b90de9c7bc14c595b363401588a713a87c02d/vllm_omni/entrypoints/duplex/serving.py" TargetMode="External"/><Relationship Id="rId5" Type="http://schemas.openxmlformats.org/officeDocument/2006/relationships/hyperlink" Target="https://github.com/vllm-project/vllm-omni/blob/712b90de9c7bc14c595b363401588a713a87c02d/vllm_omni/entrypoints/duplex_omni.py" TargetMode="External"/><Relationship Id="rId6" Type="http://schemas.openxmlformats.org/officeDocument/2006/relationships/hyperlink" Target="https://github.com/vllm-project/vllm-omni/blob/712b90de9c7bc14c595b363401588a713a87c02d/vllm_omni/engine/duplex_omni_engine.py" TargetMode="External"/><Relationship Id="rId7" Type="http://schemas.openxmlformats.org/officeDocument/2006/relationships/hyperlink" Target="https://github.com/vllm-project/vllm-omni/blob/712b90de9c7bc14c595b363401588a713a87c02d/vllm_omni/engine/duplex/session/runner.py" TargetMode="External"/><Relationship Id="rId8" Type="http://schemas.openxmlformats.org/officeDocument/2006/relationships/hyperlink" Target="https://github.com/vllm-project/vllm-omni/blob/712b90de9c7bc14c595b363401588a713a87c02d/vllm_omni/engine/duplex_orchestrator.py" TargetMode="External"/><Relationship Id="rId9" Type="http://schemas.openxmlformats.org/officeDocument/2006/relationships/hyperlink" Target="https://github.com/vllm-project/vllm-omni/blob/712b90de9c7bc14c595b363401588a713a87c02d/vllm_omni/core/sched/omni_ar_scheduler.py" TargetMode="External"/><Relationship Id="rId10" Type="http://schemas.openxmlformats.org/officeDocument/2006/relationships/notesSlide" Target="../notesSlides/notesSlide18.xml"/><Relationship Id="rId11" Type="http://schemas.openxmlformats.org/officeDocument/2006/relationships/hyperlink" Target="https://github.com/vllm-project/vllm-omni/blob/712b90de9c7bc14c595b363401588a713a87c02d/vllm_omni/engine/duplex/delivery.py" TargetMode="Externa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no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6" name="TextBox 5"/>
          <p:cNvSpPr txBox="1"/>
          <p:nvPr/>
        </p:nvSpPr>
        <p:spPr>
          <a:xfrm>
            <a:off x="548640" y="1874520"/>
            <a:ext cx="11064240" cy="1600200"/>
          </a:xfrm>
          <a:prstGeom prst="rect">
            <a:avLst/>
          </a:prstGeom>
          <a:noFill/>
        </p:spPr>
        <p:txBody>
          <a:bodyPr wrap="square" lIns="0" rIns="0" tIns="0" bIns="0" anchor="t">
            <a:noAutofit/>
          </a:bodyPr>
          <a:lstStyle/>
          <a:p>
            <a:pPr algn="l">
              <a:lnSpc>
                <a:spcPct val="110000"/>
              </a:lnSpc>
              <a:spcAft>
                <a:spcPts val="0"/>
              </a:spcAft>
            </a:pPr>
            <a:r>
              <a:rPr sz="4400" b="1">
                <a:solidFill>
                  <a:srgbClr val="142B45"/>
                </a:solidFill>
                <a:latin typeface="Arial"/>
                <a:ea typeface="Arial"/>
                <a:cs typeface="Arial"/>
              </a:rPr>
              <a:t>The Next Inflection Point</a:t>
            </a:r>
          </a:p>
          <a:p>
            <a:pPr algn="l">
              <a:lnSpc>
                <a:spcPct val="110000"/>
              </a:lnSpc>
              <a:spcAft>
                <a:spcPts val="0"/>
              </a:spcAft>
            </a:pPr>
            <a:r>
              <a:rPr sz="4400" b="1">
                <a:solidFill>
                  <a:srgbClr val="008E96"/>
                </a:solidFill>
                <a:latin typeface="Arial"/>
                <a:ea typeface="Arial"/>
                <a:cs typeface="Arial"/>
              </a:rPr>
              <a:t>in AI Interaction</a:t>
            </a:r>
          </a:p>
        </p:txBody>
      </p:sp>
      <p:sp>
        <p:nvSpPr>
          <p:cNvPr id="7" name="TextBox 6"/>
          <p:cNvSpPr txBox="1"/>
          <p:nvPr/>
        </p:nvSpPr>
        <p:spPr>
          <a:xfrm>
            <a:off x="576072" y="3794760"/>
            <a:ext cx="10789920" cy="1005840"/>
          </a:xfrm>
          <a:prstGeom prst="rect">
            <a:avLst/>
          </a:prstGeom>
          <a:noFill/>
        </p:spPr>
        <p:txBody>
          <a:bodyPr wrap="square" lIns="0" rIns="0" tIns="0" bIns="0" anchor="t">
            <a:noAutofit/>
          </a:bodyPr>
          <a:lstStyle/>
          <a:p>
            <a:pPr algn="l">
              <a:lnSpc>
                <a:spcPct val="110000"/>
              </a:lnSpc>
              <a:spcAft>
                <a:spcPts val="0"/>
              </a:spcAft>
            </a:pPr>
            <a:r>
              <a:rPr sz="2400" b="1">
                <a:solidFill>
                  <a:srgbClr val="586B7E"/>
                </a:solidFill>
                <a:latin typeface="Arial"/>
                <a:ea typeface="Arial"/>
                <a:cs typeface="Arial"/>
              </a:rPr>
              <a:t>How vLLM-Omni Enables Models to</a:t>
            </a:r>
          </a:p>
          <a:p>
            <a:pPr algn="l">
              <a:lnSpc>
                <a:spcPct val="110000"/>
              </a:lnSpc>
              <a:spcAft>
                <a:spcPts val="0"/>
              </a:spcAft>
            </a:pPr>
            <a:r>
              <a:rPr sz="2400" b="1">
                <a:solidFill>
                  <a:srgbClr val="586B7E"/>
                </a:solidFill>
                <a:latin typeface="Arial"/>
                <a:ea typeface="Arial"/>
                <a:cs typeface="Arial"/>
              </a:rPr>
              <a:t>Listen and Speak Simultaneously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no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noAutofit/>
          </a:bodyPr>
          <a:lstStyle/>
          <a:p>
            <a:pPr algn="l">
              <a:lnSpc>
                <a:spcPct val="110000"/>
              </a:lnSpc>
              <a:spcAft>
                <a:spcPts val="0"/>
              </a:spcAft>
            </a:pPr>
            <a:r>
              <a:rPr sz="900" b="0">
                <a:solidFill>
                  <a:srgbClr val="586B7E"/>
                </a:solidFill>
                <a:latin typeface="Arial"/>
                <a:ea typeface="Arial"/>
                <a:cs typeface="Arial"/>
              </a:rPr>
              <a:t>OCTOBER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COMMUNITY</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 duplex, built with the community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800" b="0">
                <a:solidFill>
                  <a:srgbClr val="586B7E"/>
                </a:solidFill>
                <a:latin typeface="Arial"/>
                <a:ea typeface="Arial"/>
                <a:cs typeface="Arial"/>
              </a:rPr>
              <a:t>Thanks to 60+ contributors · 160+ related PRs merged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01 / 12</a:t>
            </a:r>
          </a:p>
        </p:txBody>
      </p:sp>
      <p:sp>
        <p:nvSpPr>
          <p:cNvPr id="126" name="TextBox 125"/>
          <p:cNvSpPr txBox="1"/>
          <p:nvPr/>
        </p:nvSpPr>
        <p:spPr>
          <a:xfrm>
            <a:off x="603504" y="5431536"/>
            <a:ext cx="4572000" cy="201168"/>
          </a:xfrm>
          <a:prstGeom prst="rect">
            <a:avLst/>
          </a:prstGeom>
          <a:noFill/>
        </p:spPr>
        <p:txBody>
          <a:bodyPr wrap="square" lIns="0" rIns="0" tIns="0" bIns="0" anchor="t">
            <a:spAutoFit/>
          </a:bodyPr>
          <a:lstStyle/>
          <a:p>
            <a:pPr algn="l">
              <a:lnSpc>
                <a:spcPct val="110000"/>
              </a:lnSpc>
              <a:spcAft>
                <a:spcPts val="0"/>
              </a:spcAft>
            </a:pPr>
            <a:r>
              <a:rPr sz="1100" b="1">
                <a:solidFill>
                  <a:srgbClr val="586B7E"/>
                </a:solidFill>
                <a:latin typeface="Arial"/>
                <a:ea typeface="Arial"/>
                <a:cs typeface="Arial"/>
              </a:rPr>
              <a:t>SELECTED MERGED PRs</a:t>
            </a:r>
          </a:p>
        </p:txBody>
      </p:sp>
      <p:sp>
        <p:nvSpPr>
          <p:cNvPr id="127" name="TextBox 126"/>
          <p:cNvSpPr txBox="1"/>
          <p:nvPr/>
        </p:nvSpPr>
        <p:spPr>
          <a:xfrm>
            <a:off x="8924544" y="5431536"/>
            <a:ext cx="2651760" cy="201168"/>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AS OF 07 OCT 2026</a:t>
            </a:r>
          </a:p>
        </p:txBody>
      </p:sp>
      <p:sp>
        <p:nvSpPr>
          <p:cNvPr id="128" name="Rounded Rectangle 127">
            <a:hlinkClick r:id="rId118"/>
          </p:cNvPr>
          <p:cNvSpPr/>
          <p:nvPr/>
        </p:nvSpPr>
        <p:spPr>
          <a:xfrm>
            <a:off x="54864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9" name="TextBox 128">
            <a:hlinkClick r:id="rId138"/>
          </p:cNvPr>
          <p:cNvSpPr txBox="1"/>
          <p:nvPr/>
        </p:nvSpPr>
        <p:spPr>
          <a:xfrm>
            <a:off x="62179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Native duplex runtime · #3907</a:t>
            </a:r>
          </a:p>
        </p:txBody>
      </p:sp>
      <p:sp>
        <p:nvSpPr>
          <p:cNvPr id="130" name="Rounded Rectangle 129">
            <a:hlinkClick r:id="rId119"/>
          </p:cNvPr>
          <p:cNvSpPr/>
          <p:nvPr/>
        </p:nvSpPr>
        <p:spPr>
          <a:xfrm>
            <a:off x="338328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a:hlinkClick r:id="rId139"/>
          </p:cNvPr>
          <p:cNvSpPr txBox="1"/>
          <p:nvPr/>
        </p:nvSpPr>
        <p:spPr>
          <a:xfrm>
            <a:off x="345643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Unified duplex framework · #7413</a:t>
            </a:r>
          </a:p>
        </p:txBody>
      </p:sp>
      <p:sp>
        <p:nvSpPr>
          <p:cNvPr id="132" name="Rounded Rectangle 131">
            <a:hlinkClick r:id="rId120"/>
          </p:cNvPr>
          <p:cNvSpPr/>
          <p:nvPr/>
        </p:nvSpPr>
        <p:spPr>
          <a:xfrm>
            <a:off x="621792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3" name="TextBox 132">
            <a:hlinkClick r:id="rId140"/>
          </p:cNvPr>
          <p:cNvSpPr txBox="1"/>
          <p:nvPr/>
        </p:nvSpPr>
        <p:spPr>
          <a:xfrm>
            <a:off x="629107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OpenAI Realtime API · #7285</a:t>
            </a:r>
          </a:p>
        </p:txBody>
      </p:sp>
      <p:sp>
        <p:nvSpPr>
          <p:cNvPr id="134" name="Rounded Rectangle 133">
            <a:hlinkClick r:id="rId127"/>
          </p:cNvPr>
          <p:cNvSpPr/>
          <p:nvPr/>
        </p:nvSpPr>
        <p:spPr>
          <a:xfrm>
            <a:off x="9052560" y="5673852"/>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TextBox 134">
            <a:hlinkClick r:id="rId141"/>
          </p:cNvPr>
          <p:cNvSpPr txBox="1"/>
          <p:nvPr/>
        </p:nvSpPr>
        <p:spPr>
          <a:xfrm>
            <a:off x="9125712" y="5715000"/>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327CEC"/>
                </a:solidFill>
                <a:latin typeface="Arial"/>
                <a:ea typeface="Arial"/>
                <a:cs typeface="Arial"/>
              </a:rPr>
              <a:t>Qwen3-Omni integration · #7585</a:t>
            </a:r>
          </a:p>
        </p:txBody>
      </p:sp>
      <p:sp>
        <p:nvSpPr>
          <p:cNvPr id="136" name="Rounded Rectangle 135">
            <a:hlinkClick r:id="rId122"/>
          </p:cNvPr>
          <p:cNvSpPr/>
          <p:nvPr/>
        </p:nvSpPr>
        <p:spPr>
          <a:xfrm>
            <a:off x="54864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7" name="TextBox 136">
            <a:hlinkClick r:id="rId142"/>
          </p:cNvPr>
          <p:cNvSpPr txBox="1"/>
          <p:nvPr/>
        </p:nvSpPr>
        <p:spPr>
          <a:xfrm>
            <a:off x="62179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PersonaPlex unified duplex · #7695</a:t>
            </a:r>
          </a:p>
        </p:txBody>
      </p:sp>
      <p:sp>
        <p:nvSpPr>
          <p:cNvPr id="138" name="Rounded Rectangle 137">
            <a:hlinkClick r:id="rId123"/>
          </p:cNvPr>
          <p:cNvSpPr/>
          <p:nvPr/>
        </p:nvSpPr>
        <p:spPr>
          <a:xfrm>
            <a:off x="338328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9" name="TextBox 138">
            <a:hlinkClick r:id="rId143"/>
          </p:cNvPr>
          <p:cNvSpPr txBox="1"/>
          <p:nvPr/>
        </p:nvSpPr>
        <p:spPr>
          <a:xfrm>
            <a:off x="345643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Nemotron VoiceChat · #6089</a:t>
            </a:r>
          </a:p>
        </p:txBody>
      </p:sp>
      <p:sp>
        <p:nvSpPr>
          <p:cNvPr id="140" name="Rounded Rectangle 139">
            <a:hlinkClick r:id="rId124"/>
          </p:cNvPr>
          <p:cNvSpPr/>
          <p:nvPr/>
        </p:nvSpPr>
        <p:spPr>
          <a:xfrm>
            <a:off x="621792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1" name="TextBox 140">
            <a:hlinkClick r:id="rId144"/>
          </p:cNvPr>
          <p:cNvSpPr txBox="1"/>
          <p:nvPr/>
        </p:nvSpPr>
        <p:spPr>
          <a:xfrm>
            <a:off x="629107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AURA integration · #7633</a:t>
            </a:r>
          </a:p>
        </p:txBody>
      </p:sp>
      <p:sp>
        <p:nvSpPr>
          <p:cNvPr id="142" name="Rounded Rectangle 141">
            <a:hlinkClick r:id="rId125"/>
          </p:cNvPr>
          <p:cNvSpPr/>
          <p:nvPr/>
        </p:nvSpPr>
        <p:spPr>
          <a:xfrm>
            <a:off x="9052560" y="6030468"/>
            <a:ext cx="2587752" cy="29260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3" name="TextBox 142">
            <a:hlinkClick r:id="rId145"/>
          </p:cNvPr>
          <p:cNvSpPr txBox="1"/>
          <p:nvPr/>
        </p:nvSpPr>
        <p:spPr>
          <a:xfrm>
            <a:off x="9125712" y="6071616"/>
            <a:ext cx="2441448" cy="210312"/>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Bounded output delivery · #7644</a:t>
            </a:r>
          </a:p>
        </p:txBody>
      </p:sp>
      <p:pic>
        <p:nvPicPr>
          <p:cNvPr id="500" name="Contributor @0xtoward" descr="0xtoward; merged PR author/coauthor">
            <a:hlinkClick r:id="rId5"/>
          </p:cNvPr>
          <p:cNvPicPr>
            <a:picLocks noChangeAspect="1"/>
          </p:cNvPicPr>
          <p:nvPr/>
        </p:nvPicPr>
        <p:blipFill>
          <a:blip r:embed="rId4"/>
          <a:stretch>
            <a:fillRect/>
          </a:stretch>
        </p:blipFill>
        <p:spPr>
          <a:xfrm>
            <a:off x="869511" y="2057400"/>
            <a:ext cx="365760" cy="365760"/>
          </a:xfrm>
          <a:prstGeom prst="ellipse">
            <a:avLst/>
          </a:prstGeom>
        </p:spPr>
      </p:pic>
      <p:sp>
        <p:nvSpPr>
          <p:cNvPr id="501" name="Contributor label @0xtoward">
            <a:hlinkClick r:id="rId5"/>
          </p:cNvPr>
          <p:cNvSpPr txBox="1"/>
          <p:nvPr/>
        </p:nvSpPr>
        <p:spPr>
          <a:xfrm>
            <a:off x="54864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0xtoward</a:t>
            </a:r>
          </a:p>
        </p:txBody>
      </p:sp>
      <p:pic>
        <p:nvPicPr>
          <p:cNvPr id="502" name="Contributor @0z5a" descr="0z5a; merged PR author/coauthor">
            <a:hlinkClick r:id="rId7"/>
          </p:cNvPr>
          <p:cNvPicPr>
            <a:picLocks noChangeAspect="1"/>
          </p:cNvPicPr>
          <p:nvPr/>
        </p:nvPicPr>
        <p:blipFill>
          <a:blip r:embed="rId6"/>
          <a:stretch>
            <a:fillRect/>
          </a:stretch>
        </p:blipFill>
        <p:spPr>
          <a:xfrm>
            <a:off x="1877014" y="2057400"/>
            <a:ext cx="365760" cy="365760"/>
          </a:xfrm>
          <a:prstGeom prst="ellipse">
            <a:avLst/>
          </a:prstGeom>
        </p:spPr>
      </p:pic>
      <p:sp>
        <p:nvSpPr>
          <p:cNvPr id="503" name="Contributor label @0z5a">
            <a:hlinkClick r:id="rId7"/>
          </p:cNvPr>
          <p:cNvSpPr txBox="1"/>
          <p:nvPr/>
        </p:nvSpPr>
        <p:spPr>
          <a:xfrm>
            <a:off x="155614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0z5a</a:t>
            </a:r>
          </a:p>
        </p:txBody>
      </p:sp>
      <p:pic>
        <p:nvPicPr>
          <p:cNvPr id="504" name="Contributor @AbelSara" descr="AbelSara; merged PR author/coauthor">
            <a:hlinkClick r:id="rId9"/>
          </p:cNvPr>
          <p:cNvPicPr>
            <a:picLocks noChangeAspect="1"/>
          </p:cNvPicPr>
          <p:nvPr/>
        </p:nvPicPr>
        <p:blipFill>
          <a:blip r:embed="rId8"/>
          <a:stretch>
            <a:fillRect/>
          </a:stretch>
        </p:blipFill>
        <p:spPr>
          <a:xfrm>
            <a:off x="2884516" y="2057400"/>
            <a:ext cx="365760" cy="365760"/>
          </a:xfrm>
          <a:prstGeom prst="ellipse">
            <a:avLst/>
          </a:prstGeom>
        </p:spPr>
      </p:pic>
      <p:sp>
        <p:nvSpPr>
          <p:cNvPr id="505" name="Contributor label @AbelSara">
            <a:hlinkClick r:id="rId9"/>
          </p:cNvPr>
          <p:cNvSpPr txBox="1"/>
          <p:nvPr/>
        </p:nvSpPr>
        <p:spPr>
          <a:xfrm>
            <a:off x="256364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AbelSara</a:t>
            </a:r>
          </a:p>
        </p:txBody>
      </p:sp>
      <p:pic>
        <p:nvPicPr>
          <p:cNvPr id="506" name="Contributor @akshatvishu" descr="akshatvishu; merged PR author/coauthor">
            <a:hlinkClick r:id="rId11"/>
          </p:cNvPr>
          <p:cNvPicPr>
            <a:picLocks noChangeAspect="1"/>
          </p:cNvPicPr>
          <p:nvPr/>
        </p:nvPicPr>
        <p:blipFill>
          <a:blip r:embed="rId10"/>
          <a:stretch>
            <a:fillRect/>
          </a:stretch>
        </p:blipFill>
        <p:spPr>
          <a:xfrm>
            <a:off x="3892019" y="2057400"/>
            <a:ext cx="365760" cy="365760"/>
          </a:xfrm>
          <a:prstGeom prst="ellipse">
            <a:avLst/>
          </a:prstGeom>
        </p:spPr>
      </p:pic>
      <p:sp>
        <p:nvSpPr>
          <p:cNvPr id="507" name="Contributor label @akshatvishu">
            <a:hlinkClick r:id="rId11"/>
          </p:cNvPr>
          <p:cNvSpPr txBox="1"/>
          <p:nvPr/>
        </p:nvSpPr>
        <p:spPr>
          <a:xfrm>
            <a:off x="357114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akshatvishu</a:t>
            </a:r>
          </a:p>
        </p:txBody>
      </p:sp>
      <p:pic>
        <p:nvPicPr>
          <p:cNvPr id="508" name="Contributor @amy-why-3459" descr="amy-why-3459; merged PR author/coauthor">
            <a:hlinkClick r:id="rId13"/>
          </p:cNvPr>
          <p:cNvPicPr>
            <a:picLocks noChangeAspect="1"/>
          </p:cNvPicPr>
          <p:nvPr/>
        </p:nvPicPr>
        <p:blipFill>
          <a:blip r:embed="rId12"/>
          <a:stretch>
            <a:fillRect/>
          </a:stretch>
        </p:blipFill>
        <p:spPr>
          <a:xfrm>
            <a:off x="4899521" y="2057400"/>
            <a:ext cx="365760" cy="365760"/>
          </a:xfrm>
          <a:prstGeom prst="ellipse">
            <a:avLst/>
          </a:prstGeom>
        </p:spPr>
      </p:pic>
      <p:sp>
        <p:nvSpPr>
          <p:cNvPr id="509" name="Contributor label @amy-why-3459">
            <a:hlinkClick r:id="rId13"/>
          </p:cNvPr>
          <p:cNvSpPr txBox="1"/>
          <p:nvPr/>
        </p:nvSpPr>
        <p:spPr>
          <a:xfrm>
            <a:off x="457865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amy-why-3459</a:t>
            </a:r>
          </a:p>
        </p:txBody>
      </p:sp>
      <p:pic>
        <p:nvPicPr>
          <p:cNvPr id="510" name="Contributor @andyluo7" descr="andyluo7; merged PR author/coauthor">
            <a:hlinkClick r:id="rId15"/>
          </p:cNvPr>
          <p:cNvPicPr>
            <a:picLocks noChangeAspect="1"/>
          </p:cNvPicPr>
          <p:nvPr/>
        </p:nvPicPr>
        <p:blipFill>
          <a:blip r:embed="rId14"/>
          <a:stretch>
            <a:fillRect/>
          </a:stretch>
        </p:blipFill>
        <p:spPr>
          <a:xfrm>
            <a:off x="5907024" y="2057400"/>
            <a:ext cx="365760" cy="365760"/>
          </a:xfrm>
          <a:prstGeom prst="ellipse">
            <a:avLst/>
          </a:prstGeom>
        </p:spPr>
      </p:pic>
      <p:sp>
        <p:nvSpPr>
          <p:cNvPr id="511" name="Contributor label @andyluo7">
            <a:hlinkClick r:id="rId15"/>
          </p:cNvPr>
          <p:cNvSpPr txBox="1"/>
          <p:nvPr/>
        </p:nvSpPr>
        <p:spPr>
          <a:xfrm>
            <a:off x="558615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andyluo7</a:t>
            </a:r>
          </a:p>
        </p:txBody>
      </p:sp>
      <p:pic>
        <p:nvPicPr>
          <p:cNvPr id="512" name="Contributor @anurag12-webster" descr="anurag12-webster; merged PR author/coauthor">
            <a:hlinkClick r:id="rId17"/>
          </p:cNvPr>
          <p:cNvPicPr>
            <a:picLocks noChangeAspect="1"/>
          </p:cNvPicPr>
          <p:nvPr/>
        </p:nvPicPr>
        <p:blipFill>
          <a:blip r:embed="rId16"/>
          <a:stretch>
            <a:fillRect/>
          </a:stretch>
        </p:blipFill>
        <p:spPr>
          <a:xfrm>
            <a:off x="6914527" y="2057400"/>
            <a:ext cx="365760" cy="365760"/>
          </a:xfrm>
          <a:prstGeom prst="ellipse">
            <a:avLst/>
          </a:prstGeom>
        </p:spPr>
      </p:pic>
      <p:sp>
        <p:nvSpPr>
          <p:cNvPr id="513" name="Contributor label @anurag12-webster">
            <a:hlinkClick r:id="rId17"/>
          </p:cNvPr>
          <p:cNvSpPr txBox="1"/>
          <p:nvPr/>
        </p:nvSpPr>
        <p:spPr>
          <a:xfrm>
            <a:off x="659365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anurag12-webster</a:t>
            </a:r>
          </a:p>
        </p:txBody>
      </p:sp>
      <p:pic>
        <p:nvPicPr>
          <p:cNvPr id="514" name="Contributor @BeatSeat" descr="BeatSeat; merged PR author/coauthor">
            <a:hlinkClick r:id="rId19"/>
          </p:cNvPr>
          <p:cNvPicPr>
            <a:picLocks noChangeAspect="1"/>
          </p:cNvPicPr>
          <p:nvPr/>
        </p:nvPicPr>
        <p:blipFill>
          <a:blip r:embed="rId18"/>
          <a:stretch>
            <a:fillRect/>
          </a:stretch>
        </p:blipFill>
        <p:spPr>
          <a:xfrm>
            <a:off x="7922029" y="2057400"/>
            <a:ext cx="365760" cy="365760"/>
          </a:xfrm>
          <a:prstGeom prst="ellipse">
            <a:avLst/>
          </a:prstGeom>
        </p:spPr>
      </p:pic>
      <p:sp>
        <p:nvSpPr>
          <p:cNvPr id="515" name="Contributor label @BeatSeat">
            <a:hlinkClick r:id="rId19"/>
          </p:cNvPr>
          <p:cNvSpPr txBox="1"/>
          <p:nvPr/>
        </p:nvSpPr>
        <p:spPr>
          <a:xfrm>
            <a:off x="7601158"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BeatSeat</a:t>
            </a:r>
          </a:p>
        </p:txBody>
      </p:sp>
      <p:pic>
        <p:nvPicPr>
          <p:cNvPr id="516" name="Contributor @BruceLoveDecimal" descr="BruceLoveDecimal; merged PR author/coauthor">
            <a:hlinkClick r:id="rId21"/>
          </p:cNvPr>
          <p:cNvPicPr>
            <a:picLocks noChangeAspect="1"/>
          </p:cNvPicPr>
          <p:nvPr/>
        </p:nvPicPr>
        <p:blipFill>
          <a:blip r:embed="rId20"/>
          <a:stretch>
            <a:fillRect/>
          </a:stretch>
        </p:blipFill>
        <p:spPr>
          <a:xfrm>
            <a:off x="8929532" y="2057400"/>
            <a:ext cx="365760" cy="365760"/>
          </a:xfrm>
          <a:prstGeom prst="ellipse">
            <a:avLst/>
          </a:prstGeom>
        </p:spPr>
      </p:pic>
      <p:sp>
        <p:nvSpPr>
          <p:cNvPr id="517" name="Contributor label @BruceLoveDecimal">
            <a:hlinkClick r:id="rId21"/>
          </p:cNvPr>
          <p:cNvSpPr txBox="1"/>
          <p:nvPr/>
        </p:nvSpPr>
        <p:spPr>
          <a:xfrm>
            <a:off x="8608660"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BruceLoveDecimal</a:t>
            </a:r>
          </a:p>
        </p:txBody>
      </p:sp>
      <p:pic>
        <p:nvPicPr>
          <p:cNvPr id="518" name="Contributor @CarrotSwordsman" descr="CarrotSwordsman; merged PR author/coauthor">
            <a:hlinkClick r:id="rId23"/>
          </p:cNvPr>
          <p:cNvPicPr>
            <a:picLocks noChangeAspect="1"/>
          </p:cNvPicPr>
          <p:nvPr/>
        </p:nvPicPr>
        <p:blipFill>
          <a:blip r:embed="rId22"/>
          <a:stretch>
            <a:fillRect/>
          </a:stretch>
        </p:blipFill>
        <p:spPr>
          <a:xfrm>
            <a:off x="9937034" y="2057400"/>
            <a:ext cx="365760" cy="365760"/>
          </a:xfrm>
          <a:prstGeom prst="ellipse">
            <a:avLst/>
          </a:prstGeom>
        </p:spPr>
      </p:pic>
      <p:sp>
        <p:nvSpPr>
          <p:cNvPr id="519" name="Contributor label @CarrotSwordsman">
            <a:hlinkClick r:id="rId23"/>
          </p:cNvPr>
          <p:cNvSpPr txBox="1"/>
          <p:nvPr/>
        </p:nvSpPr>
        <p:spPr>
          <a:xfrm>
            <a:off x="9616163"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CarrotSwordsman</a:t>
            </a:r>
          </a:p>
        </p:txBody>
      </p:sp>
      <p:pic>
        <p:nvPicPr>
          <p:cNvPr id="520" name="Contributor @chickeyton" descr="chickeyton; merged PR author/coauthor">
            <a:hlinkClick r:id="rId25"/>
          </p:cNvPr>
          <p:cNvPicPr>
            <a:picLocks noChangeAspect="1"/>
          </p:cNvPicPr>
          <p:nvPr/>
        </p:nvPicPr>
        <p:blipFill>
          <a:blip r:embed="rId24"/>
          <a:stretch>
            <a:fillRect/>
          </a:stretch>
        </p:blipFill>
        <p:spPr>
          <a:xfrm>
            <a:off x="10944537" y="2057400"/>
            <a:ext cx="365760" cy="365760"/>
          </a:xfrm>
          <a:prstGeom prst="ellipse">
            <a:avLst/>
          </a:prstGeom>
        </p:spPr>
      </p:pic>
      <p:sp>
        <p:nvSpPr>
          <p:cNvPr id="521" name="Contributor label @chickeyton">
            <a:hlinkClick r:id="rId25"/>
          </p:cNvPr>
          <p:cNvSpPr txBox="1"/>
          <p:nvPr/>
        </p:nvSpPr>
        <p:spPr>
          <a:xfrm>
            <a:off x="10623665" y="24643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chickeyton</a:t>
            </a:r>
          </a:p>
        </p:txBody>
      </p:sp>
      <p:pic>
        <p:nvPicPr>
          <p:cNvPr id="522" name="Contributor @congw729" descr="congw729; merged PR author/coauthor">
            <a:hlinkClick r:id="rId27"/>
          </p:cNvPr>
          <p:cNvPicPr>
            <a:picLocks noChangeAspect="1"/>
          </p:cNvPicPr>
          <p:nvPr/>
        </p:nvPicPr>
        <p:blipFill>
          <a:blip r:embed="rId26"/>
          <a:stretch>
            <a:fillRect/>
          </a:stretch>
        </p:blipFill>
        <p:spPr>
          <a:xfrm>
            <a:off x="869511" y="2606040"/>
            <a:ext cx="365760" cy="365760"/>
          </a:xfrm>
          <a:prstGeom prst="ellipse">
            <a:avLst/>
          </a:prstGeom>
        </p:spPr>
      </p:pic>
      <p:sp>
        <p:nvSpPr>
          <p:cNvPr id="523" name="Contributor label @congw729">
            <a:hlinkClick r:id="rId27"/>
          </p:cNvPr>
          <p:cNvSpPr txBox="1"/>
          <p:nvPr/>
        </p:nvSpPr>
        <p:spPr>
          <a:xfrm>
            <a:off x="54864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congw729</a:t>
            </a:r>
          </a:p>
        </p:txBody>
      </p:sp>
      <p:pic>
        <p:nvPicPr>
          <p:cNvPr id="524" name="Contributor @dshah1333" descr="dshah1333; merged PR author/coauthor">
            <a:hlinkClick r:id="rId29"/>
          </p:cNvPr>
          <p:cNvPicPr>
            <a:picLocks noChangeAspect="1"/>
          </p:cNvPicPr>
          <p:nvPr/>
        </p:nvPicPr>
        <p:blipFill>
          <a:blip r:embed="rId28"/>
          <a:stretch>
            <a:fillRect/>
          </a:stretch>
        </p:blipFill>
        <p:spPr>
          <a:xfrm>
            <a:off x="1877014" y="2606040"/>
            <a:ext cx="365760" cy="365760"/>
          </a:xfrm>
          <a:prstGeom prst="ellipse">
            <a:avLst/>
          </a:prstGeom>
        </p:spPr>
      </p:pic>
      <p:sp>
        <p:nvSpPr>
          <p:cNvPr id="525" name="Contributor label @dshah1333">
            <a:hlinkClick r:id="rId29"/>
          </p:cNvPr>
          <p:cNvSpPr txBox="1"/>
          <p:nvPr/>
        </p:nvSpPr>
        <p:spPr>
          <a:xfrm>
            <a:off x="155614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dshah1333</a:t>
            </a:r>
          </a:p>
        </p:txBody>
      </p:sp>
      <p:pic>
        <p:nvPicPr>
          <p:cNvPr id="526" name="Contributor @eval-dev" descr="eval-dev; merged PR author/coauthor">
            <a:hlinkClick r:id="rId31"/>
          </p:cNvPr>
          <p:cNvPicPr>
            <a:picLocks noChangeAspect="1"/>
          </p:cNvPicPr>
          <p:nvPr/>
        </p:nvPicPr>
        <p:blipFill>
          <a:blip r:embed="rId30"/>
          <a:stretch>
            <a:fillRect/>
          </a:stretch>
        </p:blipFill>
        <p:spPr>
          <a:xfrm>
            <a:off x="2884516" y="2606040"/>
            <a:ext cx="365760" cy="365760"/>
          </a:xfrm>
          <a:prstGeom prst="ellipse">
            <a:avLst/>
          </a:prstGeom>
        </p:spPr>
      </p:pic>
      <p:sp>
        <p:nvSpPr>
          <p:cNvPr id="527" name="Contributor label @eval-dev">
            <a:hlinkClick r:id="rId31"/>
          </p:cNvPr>
          <p:cNvSpPr txBox="1"/>
          <p:nvPr/>
        </p:nvSpPr>
        <p:spPr>
          <a:xfrm>
            <a:off x="256364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eval-dev</a:t>
            </a:r>
          </a:p>
        </p:txBody>
      </p:sp>
      <p:pic>
        <p:nvPicPr>
          <p:cNvPr id="528" name="Contributor @FayeSpica" descr="FayeSpica; merged PR author/coauthor">
            <a:hlinkClick r:id="rId33"/>
          </p:cNvPr>
          <p:cNvPicPr>
            <a:picLocks noChangeAspect="1"/>
          </p:cNvPicPr>
          <p:nvPr/>
        </p:nvPicPr>
        <p:blipFill>
          <a:blip r:embed="rId32"/>
          <a:stretch>
            <a:fillRect/>
          </a:stretch>
        </p:blipFill>
        <p:spPr>
          <a:xfrm>
            <a:off x="3892019" y="2606040"/>
            <a:ext cx="365760" cy="365760"/>
          </a:xfrm>
          <a:prstGeom prst="ellipse">
            <a:avLst/>
          </a:prstGeom>
        </p:spPr>
      </p:pic>
      <p:sp>
        <p:nvSpPr>
          <p:cNvPr id="529" name="Contributor label @FayeSpica">
            <a:hlinkClick r:id="rId33"/>
          </p:cNvPr>
          <p:cNvSpPr txBox="1"/>
          <p:nvPr/>
        </p:nvSpPr>
        <p:spPr>
          <a:xfrm>
            <a:off x="357114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FayeSpica</a:t>
            </a:r>
          </a:p>
        </p:txBody>
      </p:sp>
      <p:pic>
        <p:nvPicPr>
          <p:cNvPr id="530" name="Contributor @frank-2077" descr="frank-2077; merged PR author/coauthor">
            <a:hlinkClick r:id="rId35"/>
          </p:cNvPr>
          <p:cNvPicPr>
            <a:picLocks noChangeAspect="1"/>
          </p:cNvPicPr>
          <p:nvPr/>
        </p:nvPicPr>
        <p:blipFill>
          <a:blip r:embed="rId34"/>
          <a:stretch>
            <a:fillRect/>
          </a:stretch>
        </p:blipFill>
        <p:spPr>
          <a:xfrm>
            <a:off x="4899521" y="2606040"/>
            <a:ext cx="365760" cy="365760"/>
          </a:xfrm>
          <a:prstGeom prst="ellipse">
            <a:avLst/>
          </a:prstGeom>
        </p:spPr>
      </p:pic>
      <p:sp>
        <p:nvSpPr>
          <p:cNvPr id="531" name="Contributor label @frank-2077">
            <a:hlinkClick r:id="rId35"/>
          </p:cNvPr>
          <p:cNvSpPr txBox="1"/>
          <p:nvPr/>
        </p:nvSpPr>
        <p:spPr>
          <a:xfrm>
            <a:off x="457865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frank-2077</a:t>
            </a:r>
          </a:p>
        </p:txBody>
      </p:sp>
      <p:pic>
        <p:nvPicPr>
          <p:cNvPr id="532" name="Contributor @Fyrgo8" descr="Fyrgo8; merged PR author/coauthor">
            <a:hlinkClick r:id="rId37"/>
          </p:cNvPr>
          <p:cNvPicPr>
            <a:picLocks noChangeAspect="1"/>
          </p:cNvPicPr>
          <p:nvPr/>
        </p:nvPicPr>
        <p:blipFill>
          <a:blip r:embed="rId36"/>
          <a:stretch>
            <a:fillRect/>
          </a:stretch>
        </p:blipFill>
        <p:spPr>
          <a:xfrm>
            <a:off x="5907024" y="2606040"/>
            <a:ext cx="365760" cy="365760"/>
          </a:xfrm>
          <a:prstGeom prst="ellipse">
            <a:avLst/>
          </a:prstGeom>
        </p:spPr>
      </p:pic>
      <p:sp>
        <p:nvSpPr>
          <p:cNvPr id="533" name="Contributor label @Fyrgo8">
            <a:hlinkClick r:id="rId37"/>
          </p:cNvPr>
          <p:cNvSpPr txBox="1"/>
          <p:nvPr/>
        </p:nvSpPr>
        <p:spPr>
          <a:xfrm>
            <a:off x="558615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Fyrgo8</a:t>
            </a:r>
          </a:p>
        </p:txBody>
      </p:sp>
      <p:pic>
        <p:nvPicPr>
          <p:cNvPr id="534" name="Contributor @Gaohan123" descr="Gaohan123; merged PR author/coauthor">
            <a:hlinkClick r:id="rId39"/>
          </p:cNvPr>
          <p:cNvPicPr>
            <a:picLocks noChangeAspect="1"/>
          </p:cNvPicPr>
          <p:nvPr/>
        </p:nvPicPr>
        <p:blipFill>
          <a:blip r:embed="rId38"/>
          <a:stretch>
            <a:fillRect/>
          </a:stretch>
        </p:blipFill>
        <p:spPr>
          <a:xfrm>
            <a:off x="6914527" y="2606040"/>
            <a:ext cx="365760" cy="365760"/>
          </a:xfrm>
          <a:prstGeom prst="ellipse">
            <a:avLst/>
          </a:prstGeom>
        </p:spPr>
      </p:pic>
      <p:sp>
        <p:nvSpPr>
          <p:cNvPr id="535" name="Contributor label @Gaohan123">
            <a:hlinkClick r:id="rId39"/>
          </p:cNvPr>
          <p:cNvSpPr txBox="1"/>
          <p:nvPr/>
        </p:nvSpPr>
        <p:spPr>
          <a:xfrm>
            <a:off x="659365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Gaohan123</a:t>
            </a:r>
          </a:p>
        </p:txBody>
      </p:sp>
      <p:pic>
        <p:nvPicPr>
          <p:cNvPr id="536" name="Contributor @GKangaroo" descr="GKangaroo; merged PR author/coauthor">
            <a:hlinkClick r:id="rId41"/>
          </p:cNvPr>
          <p:cNvPicPr>
            <a:picLocks noChangeAspect="1"/>
          </p:cNvPicPr>
          <p:nvPr/>
        </p:nvPicPr>
        <p:blipFill>
          <a:blip r:embed="rId40"/>
          <a:stretch>
            <a:fillRect/>
          </a:stretch>
        </p:blipFill>
        <p:spPr>
          <a:xfrm>
            <a:off x="7922029" y="2606040"/>
            <a:ext cx="365760" cy="365760"/>
          </a:xfrm>
          <a:prstGeom prst="ellipse">
            <a:avLst/>
          </a:prstGeom>
        </p:spPr>
      </p:pic>
      <p:sp>
        <p:nvSpPr>
          <p:cNvPr id="537" name="Contributor label @GKangaroo">
            <a:hlinkClick r:id="rId41"/>
          </p:cNvPr>
          <p:cNvSpPr txBox="1"/>
          <p:nvPr/>
        </p:nvSpPr>
        <p:spPr>
          <a:xfrm>
            <a:off x="7601158"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GKangaroo</a:t>
            </a:r>
          </a:p>
        </p:txBody>
      </p:sp>
      <p:pic>
        <p:nvPicPr>
          <p:cNvPr id="538" name="Contributor @guanzheh" descr="guanzheh; merged PR author/coauthor">
            <a:hlinkClick r:id="rId43"/>
          </p:cNvPr>
          <p:cNvPicPr>
            <a:picLocks noChangeAspect="1"/>
          </p:cNvPicPr>
          <p:nvPr/>
        </p:nvPicPr>
        <p:blipFill>
          <a:blip r:embed="rId42"/>
          <a:stretch>
            <a:fillRect/>
          </a:stretch>
        </p:blipFill>
        <p:spPr>
          <a:xfrm>
            <a:off x="8929532" y="2606040"/>
            <a:ext cx="365760" cy="365760"/>
          </a:xfrm>
          <a:prstGeom prst="ellipse">
            <a:avLst/>
          </a:prstGeom>
        </p:spPr>
      </p:pic>
      <p:sp>
        <p:nvSpPr>
          <p:cNvPr id="539" name="Contributor label @guanzheh">
            <a:hlinkClick r:id="rId43"/>
          </p:cNvPr>
          <p:cNvSpPr txBox="1"/>
          <p:nvPr/>
        </p:nvSpPr>
        <p:spPr>
          <a:xfrm>
            <a:off x="8608660"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guanzheh</a:t>
            </a:r>
          </a:p>
        </p:txBody>
      </p:sp>
      <p:pic>
        <p:nvPicPr>
          <p:cNvPr id="540" name="Contributor @herotai214" descr="herotai214; merged PR author/coauthor">
            <a:hlinkClick r:id="rId45"/>
          </p:cNvPr>
          <p:cNvPicPr>
            <a:picLocks noChangeAspect="1"/>
          </p:cNvPicPr>
          <p:nvPr/>
        </p:nvPicPr>
        <p:blipFill>
          <a:blip r:embed="rId44"/>
          <a:stretch>
            <a:fillRect/>
          </a:stretch>
        </p:blipFill>
        <p:spPr>
          <a:xfrm>
            <a:off x="9937034" y="2606040"/>
            <a:ext cx="365760" cy="365760"/>
          </a:xfrm>
          <a:prstGeom prst="ellipse">
            <a:avLst/>
          </a:prstGeom>
        </p:spPr>
      </p:pic>
      <p:sp>
        <p:nvSpPr>
          <p:cNvPr id="541" name="Contributor label @herotai214">
            <a:hlinkClick r:id="rId45"/>
          </p:cNvPr>
          <p:cNvSpPr txBox="1"/>
          <p:nvPr/>
        </p:nvSpPr>
        <p:spPr>
          <a:xfrm>
            <a:off x="9616163"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herotai214</a:t>
            </a:r>
          </a:p>
        </p:txBody>
      </p:sp>
      <p:pic>
        <p:nvPicPr>
          <p:cNvPr id="542" name="Contributor @Hiro208" descr="Hiro208; merged PR author/coauthor">
            <a:hlinkClick r:id="rId47"/>
          </p:cNvPr>
          <p:cNvPicPr>
            <a:picLocks noChangeAspect="1"/>
          </p:cNvPicPr>
          <p:nvPr/>
        </p:nvPicPr>
        <p:blipFill>
          <a:blip r:embed="rId46"/>
          <a:stretch>
            <a:fillRect/>
          </a:stretch>
        </p:blipFill>
        <p:spPr>
          <a:xfrm>
            <a:off x="10944537" y="2606040"/>
            <a:ext cx="365760" cy="365760"/>
          </a:xfrm>
          <a:prstGeom prst="ellipse">
            <a:avLst/>
          </a:prstGeom>
        </p:spPr>
      </p:pic>
      <p:sp>
        <p:nvSpPr>
          <p:cNvPr id="543" name="Contributor label @Hiro208">
            <a:hlinkClick r:id="rId47"/>
          </p:cNvPr>
          <p:cNvSpPr txBox="1"/>
          <p:nvPr/>
        </p:nvSpPr>
        <p:spPr>
          <a:xfrm>
            <a:off x="10623665" y="301294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Hiro208</a:t>
            </a:r>
          </a:p>
        </p:txBody>
      </p:sp>
      <p:pic>
        <p:nvPicPr>
          <p:cNvPr id="544" name="Contributor @hsliuustc0106" descr="hsliuustc0106; merged PR author/coauthor">
            <a:hlinkClick r:id="rId49"/>
          </p:cNvPr>
          <p:cNvPicPr>
            <a:picLocks noChangeAspect="1"/>
          </p:cNvPicPr>
          <p:nvPr/>
        </p:nvPicPr>
        <p:blipFill>
          <a:blip r:embed="rId48"/>
          <a:stretch>
            <a:fillRect/>
          </a:stretch>
        </p:blipFill>
        <p:spPr>
          <a:xfrm>
            <a:off x="869511" y="3154680"/>
            <a:ext cx="365760" cy="365760"/>
          </a:xfrm>
          <a:prstGeom prst="ellipse">
            <a:avLst/>
          </a:prstGeom>
        </p:spPr>
      </p:pic>
      <p:sp>
        <p:nvSpPr>
          <p:cNvPr id="545" name="Contributor label @hsliuustc0106">
            <a:hlinkClick r:id="rId49"/>
          </p:cNvPr>
          <p:cNvSpPr txBox="1"/>
          <p:nvPr/>
        </p:nvSpPr>
        <p:spPr>
          <a:xfrm>
            <a:off x="54864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hsliuustc0106</a:t>
            </a:r>
          </a:p>
        </p:txBody>
      </p:sp>
      <p:pic>
        <p:nvPicPr>
          <p:cNvPr id="546" name="Contributor @HyperbolicCr" descr="HyperbolicCr; merged PR author/coauthor">
            <a:hlinkClick r:id="rId129"/>
          </p:cNvPr>
          <p:cNvPicPr>
            <a:picLocks noChangeAspect="1"/>
          </p:cNvPicPr>
          <p:nvPr/>
        </p:nvPicPr>
        <p:blipFill>
          <a:blip r:embed="rId128"/>
          <a:stretch>
            <a:fillRect/>
          </a:stretch>
        </p:blipFill>
        <p:spPr>
          <a:xfrm>
            <a:off x="1877014" y="3154680"/>
            <a:ext cx="365760" cy="365760"/>
          </a:xfrm>
          <a:prstGeom prst="ellipse">
            <a:avLst/>
          </a:prstGeom>
        </p:spPr>
      </p:pic>
      <p:sp>
        <p:nvSpPr>
          <p:cNvPr id="547" name="Contributor label @HyperbolicCr">
            <a:hlinkClick r:id="rId129"/>
          </p:cNvPr>
          <p:cNvSpPr txBox="1"/>
          <p:nvPr/>
        </p:nvSpPr>
        <p:spPr>
          <a:xfrm>
            <a:off x="155614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HyperbolicCr</a:t>
            </a:r>
          </a:p>
        </p:txBody>
      </p:sp>
      <p:pic>
        <p:nvPicPr>
          <p:cNvPr id="548" name="Contributor @IneshReddy249" descr="IneshReddy249; merged PR author/coauthor">
            <a:hlinkClick r:id="rId51"/>
          </p:cNvPr>
          <p:cNvPicPr>
            <a:picLocks noChangeAspect="1"/>
          </p:cNvPicPr>
          <p:nvPr/>
        </p:nvPicPr>
        <p:blipFill>
          <a:blip r:embed="rId50"/>
          <a:stretch>
            <a:fillRect/>
          </a:stretch>
        </p:blipFill>
        <p:spPr>
          <a:xfrm>
            <a:off x="2884516" y="3154680"/>
            <a:ext cx="365760" cy="365760"/>
          </a:xfrm>
          <a:prstGeom prst="ellipse">
            <a:avLst/>
          </a:prstGeom>
        </p:spPr>
      </p:pic>
      <p:sp>
        <p:nvSpPr>
          <p:cNvPr id="549" name="Contributor label @IneshReddy249">
            <a:hlinkClick r:id="rId51"/>
          </p:cNvPr>
          <p:cNvSpPr txBox="1"/>
          <p:nvPr/>
        </p:nvSpPr>
        <p:spPr>
          <a:xfrm>
            <a:off x="256364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IneshReddy249</a:t>
            </a:r>
          </a:p>
        </p:txBody>
      </p:sp>
      <p:pic>
        <p:nvPicPr>
          <p:cNvPr id="550" name="Contributor @LHXuuu" descr="LHXuuu; merged PR author/coauthor">
            <a:hlinkClick r:id="rId53"/>
          </p:cNvPr>
          <p:cNvPicPr>
            <a:picLocks noChangeAspect="1"/>
          </p:cNvPicPr>
          <p:nvPr/>
        </p:nvPicPr>
        <p:blipFill>
          <a:blip r:embed="rId52"/>
          <a:stretch>
            <a:fillRect/>
          </a:stretch>
        </p:blipFill>
        <p:spPr>
          <a:xfrm>
            <a:off x="3892019" y="3154680"/>
            <a:ext cx="365760" cy="365760"/>
          </a:xfrm>
          <a:prstGeom prst="ellipse">
            <a:avLst/>
          </a:prstGeom>
        </p:spPr>
      </p:pic>
      <p:sp>
        <p:nvSpPr>
          <p:cNvPr id="551" name="Contributor label @LHXuuu">
            <a:hlinkClick r:id="rId53"/>
          </p:cNvPr>
          <p:cNvSpPr txBox="1"/>
          <p:nvPr/>
        </p:nvSpPr>
        <p:spPr>
          <a:xfrm>
            <a:off x="357114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LHXuuu</a:t>
            </a:r>
          </a:p>
        </p:txBody>
      </p:sp>
      <p:pic>
        <p:nvPicPr>
          <p:cNvPr id="552" name="Contributor @linyueqian" descr="linyueqian; merged PR author/coauthor">
            <a:hlinkClick r:id="rId55"/>
          </p:cNvPr>
          <p:cNvPicPr>
            <a:picLocks noChangeAspect="1"/>
          </p:cNvPicPr>
          <p:nvPr/>
        </p:nvPicPr>
        <p:blipFill>
          <a:blip r:embed="rId54"/>
          <a:stretch>
            <a:fillRect/>
          </a:stretch>
        </p:blipFill>
        <p:spPr>
          <a:xfrm>
            <a:off x="4899521" y="3154680"/>
            <a:ext cx="365760" cy="365760"/>
          </a:xfrm>
          <a:prstGeom prst="ellipse">
            <a:avLst/>
          </a:prstGeom>
        </p:spPr>
      </p:pic>
      <p:sp>
        <p:nvSpPr>
          <p:cNvPr id="553" name="Contributor label @linyueqian">
            <a:hlinkClick r:id="rId55"/>
          </p:cNvPr>
          <p:cNvSpPr txBox="1"/>
          <p:nvPr/>
        </p:nvSpPr>
        <p:spPr>
          <a:xfrm>
            <a:off x="457865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linyueqian</a:t>
            </a:r>
          </a:p>
        </p:txBody>
      </p:sp>
      <p:pic>
        <p:nvPicPr>
          <p:cNvPr id="554" name="Contributor @LinzeShi" descr="LinzeShi; merged PR author/coauthor">
            <a:hlinkClick r:id="rId131"/>
          </p:cNvPr>
          <p:cNvPicPr>
            <a:picLocks noChangeAspect="1"/>
          </p:cNvPicPr>
          <p:nvPr/>
        </p:nvPicPr>
        <p:blipFill>
          <a:blip r:embed="rId130"/>
          <a:stretch>
            <a:fillRect/>
          </a:stretch>
        </p:blipFill>
        <p:spPr>
          <a:xfrm>
            <a:off x="5907024" y="3154680"/>
            <a:ext cx="365760" cy="365760"/>
          </a:xfrm>
          <a:prstGeom prst="ellipse">
            <a:avLst/>
          </a:prstGeom>
        </p:spPr>
      </p:pic>
      <p:sp>
        <p:nvSpPr>
          <p:cNvPr id="555" name="Contributor label @LinzeShi">
            <a:hlinkClick r:id="rId131"/>
          </p:cNvPr>
          <p:cNvSpPr txBox="1"/>
          <p:nvPr/>
        </p:nvSpPr>
        <p:spPr>
          <a:xfrm>
            <a:off x="558615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LinzeShi</a:t>
            </a:r>
          </a:p>
        </p:txBody>
      </p:sp>
      <p:pic>
        <p:nvPicPr>
          <p:cNvPr id="556" name="Contributor @lishunyang12" descr="lishunyang12; merged PR author/coauthor">
            <a:hlinkClick r:id="rId57"/>
          </p:cNvPr>
          <p:cNvPicPr>
            <a:picLocks noChangeAspect="1"/>
          </p:cNvPicPr>
          <p:nvPr/>
        </p:nvPicPr>
        <p:blipFill>
          <a:blip r:embed="rId56"/>
          <a:stretch>
            <a:fillRect/>
          </a:stretch>
        </p:blipFill>
        <p:spPr>
          <a:xfrm>
            <a:off x="6914527" y="3154680"/>
            <a:ext cx="365760" cy="365760"/>
          </a:xfrm>
          <a:prstGeom prst="ellipse">
            <a:avLst/>
          </a:prstGeom>
        </p:spPr>
      </p:pic>
      <p:sp>
        <p:nvSpPr>
          <p:cNvPr id="557" name="Contributor label @lishunyang12">
            <a:hlinkClick r:id="rId57"/>
          </p:cNvPr>
          <p:cNvSpPr txBox="1"/>
          <p:nvPr/>
        </p:nvSpPr>
        <p:spPr>
          <a:xfrm>
            <a:off x="659365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lishunyang12</a:t>
            </a:r>
          </a:p>
        </p:txBody>
      </p:sp>
      <p:pic>
        <p:nvPicPr>
          <p:cNvPr id="558" name="Contributor @LOGO127" descr="LOGO127; merged PR author/coauthor">
            <a:hlinkClick r:id="rId59"/>
          </p:cNvPr>
          <p:cNvPicPr>
            <a:picLocks noChangeAspect="1"/>
          </p:cNvPicPr>
          <p:nvPr/>
        </p:nvPicPr>
        <p:blipFill>
          <a:blip r:embed="rId58"/>
          <a:stretch>
            <a:fillRect/>
          </a:stretch>
        </p:blipFill>
        <p:spPr>
          <a:xfrm>
            <a:off x="7922029" y="3154680"/>
            <a:ext cx="365760" cy="365760"/>
          </a:xfrm>
          <a:prstGeom prst="ellipse">
            <a:avLst/>
          </a:prstGeom>
        </p:spPr>
      </p:pic>
      <p:sp>
        <p:nvSpPr>
          <p:cNvPr id="559" name="Contributor label @LOGO127">
            <a:hlinkClick r:id="rId59"/>
          </p:cNvPr>
          <p:cNvSpPr txBox="1"/>
          <p:nvPr/>
        </p:nvSpPr>
        <p:spPr>
          <a:xfrm>
            <a:off x="7601158"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LOGO127</a:t>
            </a:r>
          </a:p>
        </p:txBody>
      </p:sp>
      <p:pic>
        <p:nvPicPr>
          <p:cNvPr id="560" name="Contributor @m0g3r" descr="m0g3r; merged PR author/coauthor">
            <a:hlinkClick r:id="rId61"/>
          </p:cNvPr>
          <p:cNvPicPr>
            <a:picLocks noChangeAspect="1"/>
          </p:cNvPicPr>
          <p:nvPr/>
        </p:nvPicPr>
        <p:blipFill>
          <a:blip r:embed="rId60"/>
          <a:stretch>
            <a:fillRect/>
          </a:stretch>
        </p:blipFill>
        <p:spPr>
          <a:xfrm>
            <a:off x="8929532" y="3154680"/>
            <a:ext cx="365760" cy="365760"/>
          </a:xfrm>
          <a:prstGeom prst="ellipse">
            <a:avLst/>
          </a:prstGeom>
        </p:spPr>
      </p:pic>
      <p:sp>
        <p:nvSpPr>
          <p:cNvPr id="561" name="Contributor label @m0g3r">
            <a:hlinkClick r:id="rId61"/>
          </p:cNvPr>
          <p:cNvSpPr txBox="1"/>
          <p:nvPr/>
        </p:nvSpPr>
        <p:spPr>
          <a:xfrm>
            <a:off x="8608660"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m0g3r</a:t>
            </a:r>
          </a:p>
        </p:txBody>
      </p:sp>
      <p:pic>
        <p:nvPicPr>
          <p:cNvPr id="562" name="Contributor @MrDongsls" descr="MrDongsls; merged PR author/coauthor">
            <a:hlinkClick r:id="rId63"/>
          </p:cNvPr>
          <p:cNvPicPr>
            <a:picLocks noChangeAspect="1"/>
          </p:cNvPicPr>
          <p:nvPr/>
        </p:nvPicPr>
        <p:blipFill>
          <a:blip r:embed="rId62"/>
          <a:stretch>
            <a:fillRect/>
          </a:stretch>
        </p:blipFill>
        <p:spPr>
          <a:xfrm>
            <a:off x="9937034" y="3154680"/>
            <a:ext cx="365760" cy="365760"/>
          </a:xfrm>
          <a:prstGeom prst="ellipse">
            <a:avLst/>
          </a:prstGeom>
        </p:spPr>
      </p:pic>
      <p:sp>
        <p:nvSpPr>
          <p:cNvPr id="563" name="Contributor label @MrDongsls">
            <a:hlinkClick r:id="rId63"/>
          </p:cNvPr>
          <p:cNvSpPr txBox="1"/>
          <p:nvPr/>
        </p:nvSpPr>
        <p:spPr>
          <a:xfrm>
            <a:off x="9616163"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MrDongsls</a:t>
            </a:r>
          </a:p>
        </p:txBody>
      </p:sp>
      <p:pic>
        <p:nvPicPr>
          <p:cNvPr id="564" name="Contributor @natureofnature" descr="natureofnature; merged PR author/coauthor">
            <a:hlinkClick r:id="rId65"/>
          </p:cNvPr>
          <p:cNvPicPr>
            <a:picLocks noChangeAspect="1"/>
          </p:cNvPicPr>
          <p:nvPr/>
        </p:nvPicPr>
        <p:blipFill>
          <a:blip r:embed="rId64"/>
          <a:stretch>
            <a:fillRect/>
          </a:stretch>
        </p:blipFill>
        <p:spPr>
          <a:xfrm>
            <a:off x="10944537" y="3154680"/>
            <a:ext cx="365760" cy="365760"/>
          </a:xfrm>
          <a:prstGeom prst="ellipse">
            <a:avLst/>
          </a:prstGeom>
        </p:spPr>
      </p:pic>
      <p:sp>
        <p:nvSpPr>
          <p:cNvPr id="565" name="Contributor label @natureofnature">
            <a:hlinkClick r:id="rId65"/>
          </p:cNvPr>
          <p:cNvSpPr txBox="1"/>
          <p:nvPr/>
        </p:nvSpPr>
        <p:spPr>
          <a:xfrm>
            <a:off x="10623665" y="356158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natureofnature</a:t>
            </a:r>
          </a:p>
        </p:txBody>
      </p:sp>
      <p:pic>
        <p:nvPicPr>
          <p:cNvPr id="566" name="Contributor @NickCao" descr="NickCao; merged PR author/coauthor">
            <a:hlinkClick r:id="rId67"/>
          </p:cNvPr>
          <p:cNvPicPr>
            <a:picLocks noChangeAspect="1"/>
          </p:cNvPicPr>
          <p:nvPr/>
        </p:nvPicPr>
        <p:blipFill>
          <a:blip r:embed="rId66"/>
          <a:stretch>
            <a:fillRect/>
          </a:stretch>
        </p:blipFill>
        <p:spPr>
          <a:xfrm>
            <a:off x="869511" y="3703320"/>
            <a:ext cx="365760" cy="365760"/>
          </a:xfrm>
          <a:prstGeom prst="ellipse">
            <a:avLst/>
          </a:prstGeom>
        </p:spPr>
      </p:pic>
      <p:sp>
        <p:nvSpPr>
          <p:cNvPr id="567" name="Contributor label @NickCao">
            <a:hlinkClick r:id="rId67"/>
          </p:cNvPr>
          <p:cNvSpPr txBox="1"/>
          <p:nvPr/>
        </p:nvSpPr>
        <p:spPr>
          <a:xfrm>
            <a:off x="54864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NickCao</a:t>
            </a:r>
          </a:p>
        </p:txBody>
      </p:sp>
      <p:pic>
        <p:nvPicPr>
          <p:cNvPr id="568" name="Contributor @NolenLiang" descr="NolenLiang; merged PR author/coauthor">
            <a:hlinkClick r:id="rId69"/>
          </p:cNvPr>
          <p:cNvPicPr>
            <a:picLocks noChangeAspect="1"/>
          </p:cNvPicPr>
          <p:nvPr/>
        </p:nvPicPr>
        <p:blipFill>
          <a:blip r:embed="rId68"/>
          <a:stretch>
            <a:fillRect/>
          </a:stretch>
        </p:blipFill>
        <p:spPr>
          <a:xfrm>
            <a:off x="1877014" y="3703320"/>
            <a:ext cx="365760" cy="365760"/>
          </a:xfrm>
          <a:prstGeom prst="ellipse">
            <a:avLst/>
          </a:prstGeom>
        </p:spPr>
      </p:pic>
      <p:sp>
        <p:nvSpPr>
          <p:cNvPr id="569" name="Contributor label @NolenLiang">
            <a:hlinkClick r:id="rId69"/>
          </p:cNvPr>
          <p:cNvSpPr txBox="1"/>
          <p:nvPr/>
        </p:nvSpPr>
        <p:spPr>
          <a:xfrm>
            <a:off x="155614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NolenLiang</a:t>
            </a:r>
          </a:p>
        </p:txBody>
      </p:sp>
      <p:pic>
        <p:nvPicPr>
          <p:cNvPr id="570" name="Contributor @NumberWan" descr="NumberWan; merged PR author/coauthor">
            <a:hlinkClick r:id="rId71"/>
          </p:cNvPr>
          <p:cNvPicPr>
            <a:picLocks noChangeAspect="1"/>
          </p:cNvPicPr>
          <p:nvPr/>
        </p:nvPicPr>
        <p:blipFill>
          <a:blip r:embed="rId70"/>
          <a:stretch>
            <a:fillRect/>
          </a:stretch>
        </p:blipFill>
        <p:spPr>
          <a:xfrm>
            <a:off x="2884516" y="3703320"/>
            <a:ext cx="365760" cy="365760"/>
          </a:xfrm>
          <a:prstGeom prst="ellipse">
            <a:avLst/>
          </a:prstGeom>
        </p:spPr>
      </p:pic>
      <p:sp>
        <p:nvSpPr>
          <p:cNvPr id="571" name="Contributor label @NumberWan">
            <a:hlinkClick r:id="rId71"/>
          </p:cNvPr>
          <p:cNvSpPr txBox="1"/>
          <p:nvPr/>
        </p:nvSpPr>
        <p:spPr>
          <a:xfrm>
            <a:off x="256364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NumberWan</a:t>
            </a:r>
          </a:p>
        </p:txBody>
      </p:sp>
      <p:pic>
        <p:nvPicPr>
          <p:cNvPr id="572" name="Contributor @psv666" descr="psv666; merged PR author/coauthor">
            <a:hlinkClick r:id="rId73"/>
          </p:cNvPr>
          <p:cNvPicPr>
            <a:picLocks noChangeAspect="1"/>
          </p:cNvPicPr>
          <p:nvPr/>
        </p:nvPicPr>
        <p:blipFill>
          <a:blip r:embed="rId72"/>
          <a:stretch>
            <a:fillRect/>
          </a:stretch>
        </p:blipFill>
        <p:spPr>
          <a:xfrm>
            <a:off x="3892019" y="3703320"/>
            <a:ext cx="365760" cy="365760"/>
          </a:xfrm>
          <a:prstGeom prst="ellipse">
            <a:avLst/>
          </a:prstGeom>
        </p:spPr>
      </p:pic>
      <p:sp>
        <p:nvSpPr>
          <p:cNvPr id="573" name="Contributor label @psv666">
            <a:hlinkClick r:id="rId73"/>
          </p:cNvPr>
          <p:cNvSpPr txBox="1"/>
          <p:nvPr/>
        </p:nvSpPr>
        <p:spPr>
          <a:xfrm>
            <a:off x="357114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psv666</a:t>
            </a:r>
          </a:p>
        </p:txBody>
      </p:sp>
      <p:pic>
        <p:nvPicPr>
          <p:cNvPr id="574" name="Contributor @pujitha24" descr="pujitha24; merged PR author/coauthor">
            <a:hlinkClick r:id="rId75"/>
          </p:cNvPr>
          <p:cNvPicPr>
            <a:picLocks noChangeAspect="1"/>
          </p:cNvPicPr>
          <p:nvPr/>
        </p:nvPicPr>
        <p:blipFill>
          <a:blip r:embed="rId74"/>
          <a:stretch>
            <a:fillRect/>
          </a:stretch>
        </p:blipFill>
        <p:spPr>
          <a:xfrm>
            <a:off x="4899521" y="3703320"/>
            <a:ext cx="365760" cy="365760"/>
          </a:xfrm>
          <a:prstGeom prst="ellipse">
            <a:avLst/>
          </a:prstGeom>
        </p:spPr>
      </p:pic>
      <p:sp>
        <p:nvSpPr>
          <p:cNvPr id="575" name="Contributor label @pujitha24">
            <a:hlinkClick r:id="rId75"/>
          </p:cNvPr>
          <p:cNvSpPr txBox="1"/>
          <p:nvPr/>
        </p:nvSpPr>
        <p:spPr>
          <a:xfrm>
            <a:off x="457865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pujitha24</a:t>
            </a:r>
          </a:p>
        </p:txBody>
      </p:sp>
      <p:pic>
        <p:nvPicPr>
          <p:cNvPr id="576" name="Contributor @R2-Y" descr="R2-Y; merged PR author/coauthor">
            <a:hlinkClick r:id="rId77"/>
          </p:cNvPr>
          <p:cNvPicPr>
            <a:picLocks noChangeAspect="1"/>
          </p:cNvPicPr>
          <p:nvPr/>
        </p:nvPicPr>
        <p:blipFill>
          <a:blip r:embed="rId76"/>
          <a:stretch>
            <a:fillRect/>
          </a:stretch>
        </p:blipFill>
        <p:spPr>
          <a:xfrm>
            <a:off x="5907024" y="3703320"/>
            <a:ext cx="365760" cy="365760"/>
          </a:xfrm>
          <a:prstGeom prst="ellipse">
            <a:avLst/>
          </a:prstGeom>
        </p:spPr>
      </p:pic>
      <p:sp>
        <p:nvSpPr>
          <p:cNvPr id="577" name="Contributor label @R2-Y">
            <a:hlinkClick r:id="rId77"/>
          </p:cNvPr>
          <p:cNvSpPr txBox="1"/>
          <p:nvPr/>
        </p:nvSpPr>
        <p:spPr>
          <a:xfrm>
            <a:off x="558615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R2-Y</a:t>
            </a:r>
          </a:p>
        </p:txBody>
      </p:sp>
      <p:pic>
        <p:nvPicPr>
          <p:cNvPr id="578" name="Contributor @RyanYun09" descr="RyanYun09; merged PR author/coauthor">
            <a:hlinkClick r:id="rId79"/>
          </p:cNvPr>
          <p:cNvPicPr>
            <a:picLocks noChangeAspect="1"/>
          </p:cNvPicPr>
          <p:nvPr/>
        </p:nvPicPr>
        <p:blipFill>
          <a:blip r:embed="rId78"/>
          <a:stretch>
            <a:fillRect/>
          </a:stretch>
        </p:blipFill>
        <p:spPr>
          <a:xfrm>
            <a:off x="6914527" y="3703320"/>
            <a:ext cx="365760" cy="365760"/>
          </a:xfrm>
          <a:prstGeom prst="ellipse">
            <a:avLst/>
          </a:prstGeom>
        </p:spPr>
      </p:pic>
      <p:sp>
        <p:nvSpPr>
          <p:cNvPr id="579" name="Contributor label @RyanYun09">
            <a:hlinkClick r:id="rId79"/>
          </p:cNvPr>
          <p:cNvSpPr txBox="1"/>
          <p:nvPr/>
        </p:nvSpPr>
        <p:spPr>
          <a:xfrm>
            <a:off x="659365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RyanYun09</a:t>
            </a:r>
          </a:p>
        </p:txBody>
      </p:sp>
      <p:pic>
        <p:nvPicPr>
          <p:cNvPr id="580" name="Contributor @sphinxkkkbc" descr="sphinxkkkbc; merged PR author/coauthor">
            <a:hlinkClick r:id="rId81"/>
          </p:cNvPr>
          <p:cNvPicPr>
            <a:picLocks noChangeAspect="1"/>
          </p:cNvPicPr>
          <p:nvPr/>
        </p:nvPicPr>
        <p:blipFill>
          <a:blip r:embed="rId80"/>
          <a:stretch>
            <a:fillRect/>
          </a:stretch>
        </p:blipFill>
        <p:spPr>
          <a:xfrm>
            <a:off x="7922029" y="3703320"/>
            <a:ext cx="365760" cy="365760"/>
          </a:xfrm>
          <a:prstGeom prst="ellipse">
            <a:avLst/>
          </a:prstGeom>
        </p:spPr>
      </p:pic>
      <p:sp>
        <p:nvSpPr>
          <p:cNvPr id="581" name="Contributor label @sphinxkkkbc">
            <a:hlinkClick r:id="rId81"/>
          </p:cNvPr>
          <p:cNvSpPr txBox="1"/>
          <p:nvPr/>
        </p:nvSpPr>
        <p:spPr>
          <a:xfrm>
            <a:off x="7601158"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sphinxkkkbc</a:t>
            </a:r>
          </a:p>
        </p:txBody>
      </p:sp>
      <p:pic>
        <p:nvPicPr>
          <p:cNvPr id="582" name="Contributor @StormMelody" descr="StormMelody; merged PR author/coauthor">
            <a:hlinkClick r:id="rId83"/>
          </p:cNvPr>
          <p:cNvPicPr>
            <a:picLocks noChangeAspect="1"/>
          </p:cNvPicPr>
          <p:nvPr/>
        </p:nvPicPr>
        <p:blipFill>
          <a:blip r:embed="rId82"/>
          <a:stretch>
            <a:fillRect/>
          </a:stretch>
        </p:blipFill>
        <p:spPr>
          <a:xfrm>
            <a:off x="8929532" y="3703320"/>
            <a:ext cx="365760" cy="365760"/>
          </a:xfrm>
          <a:prstGeom prst="ellipse">
            <a:avLst/>
          </a:prstGeom>
        </p:spPr>
      </p:pic>
      <p:sp>
        <p:nvSpPr>
          <p:cNvPr id="583" name="Contributor label @StormMelody">
            <a:hlinkClick r:id="rId83"/>
          </p:cNvPr>
          <p:cNvSpPr txBox="1"/>
          <p:nvPr/>
        </p:nvSpPr>
        <p:spPr>
          <a:xfrm>
            <a:off x="8608660"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StormMelody</a:t>
            </a:r>
          </a:p>
        </p:txBody>
      </p:sp>
      <p:pic>
        <p:nvPicPr>
          <p:cNvPr id="584" name="Contributor @stringl1l1l1l" descr="stringl1l1l1l; merged PR author/coauthor">
            <a:hlinkClick r:id="rId85"/>
          </p:cNvPr>
          <p:cNvPicPr>
            <a:picLocks noChangeAspect="1"/>
          </p:cNvPicPr>
          <p:nvPr/>
        </p:nvPicPr>
        <p:blipFill>
          <a:blip r:embed="rId84"/>
          <a:stretch>
            <a:fillRect/>
          </a:stretch>
        </p:blipFill>
        <p:spPr>
          <a:xfrm>
            <a:off x="9937034" y="3703320"/>
            <a:ext cx="365760" cy="365760"/>
          </a:xfrm>
          <a:prstGeom prst="ellipse">
            <a:avLst/>
          </a:prstGeom>
        </p:spPr>
      </p:pic>
      <p:sp>
        <p:nvSpPr>
          <p:cNvPr id="585" name="Contributor label @stringl1l1l1l">
            <a:hlinkClick r:id="rId85"/>
          </p:cNvPr>
          <p:cNvSpPr txBox="1"/>
          <p:nvPr/>
        </p:nvSpPr>
        <p:spPr>
          <a:xfrm>
            <a:off x="9616163"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stringl1l1l1l</a:t>
            </a:r>
          </a:p>
        </p:txBody>
      </p:sp>
      <p:pic>
        <p:nvPicPr>
          <p:cNvPr id="586" name="Contributor @Sy0307" descr="Sy0307; merged PR author/coauthor">
            <a:hlinkClick r:id="rId87"/>
          </p:cNvPr>
          <p:cNvPicPr>
            <a:picLocks noChangeAspect="1"/>
          </p:cNvPicPr>
          <p:nvPr/>
        </p:nvPicPr>
        <p:blipFill>
          <a:blip r:embed="rId86"/>
          <a:stretch>
            <a:fillRect/>
          </a:stretch>
        </p:blipFill>
        <p:spPr>
          <a:xfrm>
            <a:off x="10944537" y="3703320"/>
            <a:ext cx="365760" cy="365760"/>
          </a:xfrm>
          <a:prstGeom prst="ellipse">
            <a:avLst/>
          </a:prstGeom>
        </p:spPr>
      </p:pic>
      <p:sp>
        <p:nvSpPr>
          <p:cNvPr id="587" name="Contributor label @Sy0307">
            <a:hlinkClick r:id="rId87"/>
          </p:cNvPr>
          <p:cNvSpPr txBox="1"/>
          <p:nvPr/>
        </p:nvSpPr>
        <p:spPr>
          <a:xfrm>
            <a:off x="10623665" y="411022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Sy0307</a:t>
            </a:r>
          </a:p>
        </p:txBody>
      </p:sp>
      <p:pic>
        <p:nvPicPr>
          <p:cNvPr id="588" name="Contributor @tc-mb" descr="tc-mb; merged PR author/coauthor">
            <a:hlinkClick r:id="rId89"/>
          </p:cNvPr>
          <p:cNvPicPr>
            <a:picLocks noChangeAspect="1"/>
          </p:cNvPicPr>
          <p:nvPr/>
        </p:nvPicPr>
        <p:blipFill>
          <a:blip r:embed="rId88"/>
          <a:stretch>
            <a:fillRect/>
          </a:stretch>
        </p:blipFill>
        <p:spPr>
          <a:xfrm>
            <a:off x="869511" y="4251960"/>
            <a:ext cx="365760" cy="365760"/>
          </a:xfrm>
          <a:prstGeom prst="ellipse">
            <a:avLst/>
          </a:prstGeom>
        </p:spPr>
      </p:pic>
      <p:sp>
        <p:nvSpPr>
          <p:cNvPr id="589" name="Contributor label @tc-mb">
            <a:hlinkClick r:id="rId89"/>
          </p:cNvPr>
          <p:cNvSpPr txBox="1"/>
          <p:nvPr/>
        </p:nvSpPr>
        <p:spPr>
          <a:xfrm>
            <a:off x="54864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tc-mb</a:t>
            </a:r>
          </a:p>
        </p:txBody>
      </p:sp>
      <p:pic>
        <p:nvPicPr>
          <p:cNvPr id="590" name="Contributor @TheCodeWrangler" descr="TheCodeWrangler; merged PR author/coauthor">
            <a:hlinkClick r:id="rId91"/>
          </p:cNvPr>
          <p:cNvPicPr>
            <a:picLocks noChangeAspect="1"/>
          </p:cNvPicPr>
          <p:nvPr/>
        </p:nvPicPr>
        <p:blipFill>
          <a:blip r:embed="rId90"/>
          <a:stretch>
            <a:fillRect/>
          </a:stretch>
        </p:blipFill>
        <p:spPr>
          <a:xfrm>
            <a:off x="1877014" y="4251960"/>
            <a:ext cx="365760" cy="365760"/>
          </a:xfrm>
          <a:prstGeom prst="ellipse">
            <a:avLst/>
          </a:prstGeom>
        </p:spPr>
      </p:pic>
      <p:sp>
        <p:nvSpPr>
          <p:cNvPr id="591" name="Contributor label @TheCodeWrangler">
            <a:hlinkClick r:id="rId91"/>
          </p:cNvPr>
          <p:cNvSpPr txBox="1"/>
          <p:nvPr/>
        </p:nvSpPr>
        <p:spPr>
          <a:xfrm>
            <a:off x="155614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TheCodeWrangler</a:t>
            </a:r>
          </a:p>
        </p:txBody>
      </p:sp>
      <p:pic>
        <p:nvPicPr>
          <p:cNvPr id="592" name="Contributor @THUqliu" descr="THUqliu; merged PR author/coauthor">
            <a:hlinkClick r:id="rId93"/>
          </p:cNvPr>
          <p:cNvPicPr>
            <a:picLocks noChangeAspect="1"/>
          </p:cNvPicPr>
          <p:nvPr/>
        </p:nvPicPr>
        <p:blipFill>
          <a:blip r:embed="rId92"/>
          <a:stretch>
            <a:fillRect/>
          </a:stretch>
        </p:blipFill>
        <p:spPr>
          <a:xfrm>
            <a:off x="2884516" y="4251960"/>
            <a:ext cx="365760" cy="365760"/>
          </a:xfrm>
          <a:prstGeom prst="ellipse">
            <a:avLst/>
          </a:prstGeom>
        </p:spPr>
      </p:pic>
      <p:sp>
        <p:nvSpPr>
          <p:cNvPr id="593" name="Contributor label @THUqliu">
            <a:hlinkClick r:id="rId93"/>
          </p:cNvPr>
          <p:cNvSpPr txBox="1"/>
          <p:nvPr/>
        </p:nvSpPr>
        <p:spPr>
          <a:xfrm>
            <a:off x="256364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THUqliu</a:t>
            </a:r>
          </a:p>
        </p:txBody>
      </p:sp>
      <p:pic>
        <p:nvPicPr>
          <p:cNvPr id="594" name="Contributor @Tiagosf00" descr="Tiagosf00; merged PR author/coauthor">
            <a:hlinkClick r:id="rId95"/>
          </p:cNvPr>
          <p:cNvPicPr>
            <a:picLocks noChangeAspect="1"/>
          </p:cNvPicPr>
          <p:nvPr/>
        </p:nvPicPr>
        <p:blipFill>
          <a:blip r:embed="rId94"/>
          <a:stretch>
            <a:fillRect/>
          </a:stretch>
        </p:blipFill>
        <p:spPr>
          <a:xfrm>
            <a:off x="3892019" y="4251960"/>
            <a:ext cx="365760" cy="365760"/>
          </a:xfrm>
          <a:prstGeom prst="ellipse">
            <a:avLst/>
          </a:prstGeom>
        </p:spPr>
      </p:pic>
      <p:sp>
        <p:nvSpPr>
          <p:cNvPr id="595" name="Contributor label @Tiagosf00">
            <a:hlinkClick r:id="rId95"/>
          </p:cNvPr>
          <p:cNvSpPr txBox="1"/>
          <p:nvPr/>
        </p:nvSpPr>
        <p:spPr>
          <a:xfrm>
            <a:off x="357114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Tiagosf00</a:t>
            </a:r>
          </a:p>
        </p:txBody>
      </p:sp>
      <p:pic>
        <p:nvPicPr>
          <p:cNvPr id="596" name="Contributor @tlysanhuo" descr="tlysanhuo; merged PR author/coauthor">
            <a:hlinkClick r:id="rId97"/>
          </p:cNvPr>
          <p:cNvPicPr>
            <a:picLocks noChangeAspect="1"/>
          </p:cNvPicPr>
          <p:nvPr/>
        </p:nvPicPr>
        <p:blipFill>
          <a:blip r:embed="rId96"/>
          <a:stretch>
            <a:fillRect/>
          </a:stretch>
        </p:blipFill>
        <p:spPr>
          <a:xfrm>
            <a:off x="4899521" y="4251960"/>
            <a:ext cx="365760" cy="365760"/>
          </a:xfrm>
          <a:prstGeom prst="ellipse">
            <a:avLst/>
          </a:prstGeom>
        </p:spPr>
      </p:pic>
      <p:sp>
        <p:nvSpPr>
          <p:cNvPr id="597" name="Contributor label @tlysanhuo">
            <a:hlinkClick r:id="rId97"/>
          </p:cNvPr>
          <p:cNvSpPr txBox="1"/>
          <p:nvPr/>
        </p:nvSpPr>
        <p:spPr>
          <a:xfrm>
            <a:off x="457865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tlysanhuo</a:t>
            </a:r>
          </a:p>
        </p:txBody>
      </p:sp>
      <p:pic>
        <p:nvPicPr>
          <p:cNvPr id="598" name="Contributor @twu3202" descr="twu3202; merged PR author/coauthor">
            <a:hlinkClick r:id="rId99"/>
          </p:cNvPr>
          <p:cNvPicPr>
            <a:picLocks noChangeAspect="1"/>
          </p:cNvPicPr>
          <p:nvPr/>
        </p:nvPicPr>
        <p:blipFill>
          <a:blip r:embed="rId98"/>
          <a:stretch>
            <a:fillRect/>
          </a:stretch>
        </p:blipFill>
        <p:spPr>
          <a:xfrm>
            <a:off x="5907024" y="4251960"/>
            <a:ext cx="365760" cy="365760"/>
          </a:xfrm>
          <a:prstGeom prst="ellipse">
            <a:avLst/>
          </a:prstGeom>
        </p:spPr>
      </p:pic>
      <p:sp>
        <p:nvSpPr>
          <p:cNvPr id="599" name="Contributor label @twu3202">
            <a:hlinkClick r:id="rId99"/>
          </p:cNvPr>
          <p:cNvSpPr txBox="1"/>
          <p:nvPr/>
        </p:nvSpPr>
        <p:spPr>
          <a:xfrm>
            <a:off x="558615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twu3202</a:t>
            </a:r>
          </a:p>
        </p:txBody>
      </p:sp>
      <p:pic>
        <p:nvPicPr>
          <p:cNvPr id="600" name="Contributor @vraiti" descr="vraiti; merged PR author/coauthor">
            <a:hlinkClick r:id="rId133"/>
          </p:cNvPr>
          <p:cNvPicPr>
            <a:picLocks noChangeAspect="1"/>
          </p:cNvPicPr>
          <p:nvPr/>
        </p:nvPicPr>
        <p:blipFill>
          <a:blip r:embed="rId132"/>
          <a:stretch>
            <a:fillRect/>
          </a:stretch>
        </p:blipFill>
        <p:spPr>
          <a:xfrm>
            <a:off x="6914527" y="4251960"/>
            <a:ext cx="365760" cy="365760"/>
          </a:xfrm>
          <a:prstGeom prst="ellipse">
            <a:avLst/>
          </a:prstGeom>
        </p:spPr>
      </p:pic>
      <p:sp>
        <p:nvSpPr>
          <p:cNvPr id="601" name="Contributor label @vraiti">
            <a:hlinkClick r:id="rId133"/>
          </p:cNvPr>
          <p:cNvSpPr txBox="1"/>
          <p:nvPr/>
        </p:nvSpPr>
        <p:spPr>
          <a:xfrm>
            <a:off x="659365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vraiti</a:t>
            </a:r>
          </a:p>
        </p:txBody>
      </p:sp>
      <p:pic>
        <p:nvPicPr>
          <p:cNvPr id="602" name="Contributor @vuuihc" descr="vuuihc; merged PR author/coauthor">
            <a:hlinkClick r:id="rId101"/>
          </p:cNvPr>
          <p:cNvPicPr>
            <a:picLocks noChangeAspect="1"/>
          </p:cNvPicPr>
          <p:nvPr/>
        </p:nvPicPr>
        <p:blipFill>
          <a:blip r:embed="rId100"/>
          <a:stretch>
            <a:fillRect/>
          </a:stretch>
        </p:blipFill>
        <p:spPr>
          <a:xfrm>
            <a:off x="7922029" y="4251960"/>
            <a:ext cx="365760" cy="365760"/>
          </a:xfrm>
          <a:prstGeom prst="ellipse">
            <a:avLst/>
          </a:prstGeom>
        </p:spPr>
      </p:pic>
      <p:sp>
        <p:nvSpPr>
          <p:cNvPr id="603" name="Contributor label @vuuihc">
            <a:hlinkClick r:id="rId101"/>
          </p:cNvPr>
          <p:cNvSpPr txBox="1"/>
          <p:nvPr/>
        </p:nvSpPr>
        <p:spPr>
          <a:xfrm>
            <a:off x="7601158"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vuuihc</a:t>
            </a:r>
          </a:p>
        </p:txBody>
      </p:sp>
      <p:pic>
        <p:nvPicPr>
          <p:cNvPr id="604" name="Contributor @wuli666" descr="wuli666; merged PR author/coauthor">
            <a:hlinkClick r:id="rId103"/>
          </p:cNvPr>
          <p:cNvPicPr>
            <a:picLocks noChangeAspect="1"/>
          </p:cNvPicPr>
          <p:nvPr/>
        </p:nvPicPr>
        <p:blipFill>
          <a:blip r:embed="rId102"/>
          <a:stretch>
            <a:fillRect/>
          </a:stretch>
        </p:blipFill>
        <p:spPr>
          <a:xfrm>
            <a:off x="8929532" y="4251960"/>
            <a:ext cx="365760" cy="365760"/>
          </a:xfrm>
          <a:prstGeom prst="ellipse">
            <a:avLst/>
          </a:prstGeom>
        </p:spPr>
      </p:pic>
      <p:sp>
        <p:nvSpPr>
          <p:cNvPr id="605" name="Contributor label @wuli666">
            <a:hlinkClick r:id="rId103"/>
          </p:cNvPr>
          <p:cNvSpPr txBox="1"/>
          <p:nvPr/>
        </p:nvSpPr>
        <p:spPr>
          <a:xfrm>
            <a:off x="8608660"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wuli666</a:t>
            </a:r>
          </a:p>
        </p:txBody>
      </p:sp>
      <p:pic>
        <p:nvPicPr>
          <p:cNvPr id="606" name="Contributor @xsmccc" descr="xsmccc; merged PR author/coauthor">
            <a:hlinkClick r:id="rId105"/>
          </p:cNvPr>
          <p:cNvPicPr>
            <a:picLocks noChangeAspect="1"/>
          </p:cNvPicPr>
          <p:nvPr/>
        </p:nvPicPr>
        <p:blipFill>
          <a:blip r:embed="rId104"/>
          <a:stretch>
            <a:fillRect/>
          </a:stretch>
        </p:blipFill>
        <p:spPr>
          <a:xfrm>
            <a:off x="9937034" y="4251960"/>
            <a:ext cx="365760" cy="365760"/>
          </a:xfrm>
          <a:prstGeom prst="ellipse">
            <a:avLst/>
          </a:prstGeom>
        </p:spPr>
      </p:pic>
      <p:sp>
        <p:nvSpPr>
          <p:cNvPr id="607" name="Contributor label @xsmccc">
            <a:hlinkClick r:id="rId105"/>
          </p:cNvPr>
          <p:cNvSpPr txBox="1"/>
          <p:nvPr/>
        </p:nvSpPr>
        <p:spPr>
          <a:xfrm>
            <a:off x="9616163"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xsmccc</a:t>
            </a:r>
          </a:p>
        </p:txBody>
      </p:sp>
      <p:pic>
        <p:nvPicPr>
          <p:cNvPr id="608" name="Contributor @xuhuan51" descr="xuhuan51; merged PR author/coauthor">
            <a:hlinkClick r:id="rId135"/>
          </p:cNvPr>
          <p:cNvPicPr>
            <a:picLocks noChangeAspect="1"/>
          </p:cNvPicPr>
          <p:nvPr/>
        </p:nvPicPr>
        <p:blipFill>
          <a:blip r:embed="rId134"/>
          <a:stretch>
            <a:fillRect/>
          </a:stretch>
        </p:blipFill>
        <p:spPr>
          <a:xfrm>
            <a:off x="10944537" y="4251960"/>
            <a:ext cx="365760" cy="365760"/>
          </a:xfrm>
          <a:prstGeom prst="ellipse">
            <a:avLst/>
          </a:prstGeom>
        </p:spPr>
      </p:pic>
      <p:sp>
        <p:nvSpPr>
          <p:cNvPr id="609" name="Contributor label @xuhuan51">
            <a:hlinkClick r:id="rId135"/>
          </p:cNvPr>
          <p:cNvSpPr txBox="1"/>
          <p:nvPr/>
        </p:nvSpPr>
        <p:spPr>
          <a:xfrm>
            <a:off x="10623665" y="465886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xuhuan51</a:t>
            </a:r>
          </a:p>
        </p:txBody>
      </p:sp>
      <p:pic>
        <p:nvPicPr>
          <p:cNvPr id="610" name="Contributor @y-null" descr="y-null; merged PR author/coauthor">
            <a:hlinkClick r:id="rId107"/>
          </p:cNvPr>
          <p:cNvPicPr>
            <a:picLocks noChangeAspect="1"/>
          </p:cNvPicPr>
          <p:nvPr/>
        </p:nvPicPr>
        <p:blipFill>
          <a:blip r:embed="rId106"/>
          <a:stretch>
            <a:fillRect/>
          </a:stretch>
        </p:blipFill>
        <p:spPr>
          <a:xfrm>
            <a:off x="2884516" y="4800600"/>
            <a:ext cx="365760" cy="365760"/>
          </a:xfrm>
          <a:prstGeom prst="ellipse">
            <a:avLst/>
          </a:prstGeom>
        </p:spPr>
      </p:pic>
      <p:sp>
        <p:nvSpPr>
          <p:cNvPr id="611" name="Contributor label @y-null">
            <a:hlinkClick r:id="rId107"/>
          </p:cNvPr>
          <p:cNvSpPr txBox="1"/>
          <p:nvPr/>
        </p:nvSpPr>
        <p:spPr>
          <a:xfrm>
            <a:off x="256364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y-null</a:t>
            </a:r>
          </a:p>
        </p:txBody>
      </p:sp>
      <p:pic>
        <p:nvPicPr>
          <p:cNvPr id="612" name="Contributor @yenuo26" descr="yenuo26; merged PR author/coauthor">
            <a:hlinkClick r:id="rId109"/>
          </p:cNvPr>
          <p:cNvPicPr>
            <a:picLocks noChangeAspect="1"/>
          </p:cNvPicPr>
          <p:nvPr/>
        </p:nvPicPr>
        <p:blipFill>
          <a:blip r:embed="rId108"/>
          <a:stretch>
            <a:fillRect/>
          </a:stretch>
        </p:blipFill>
        <p:spPr>
          <a:xfrm>
            <a:off x="3892019" y="4800600"/>
            <a:ext cx="365760" cy="365760"/>
          </a:xfrm>
          <a:prstGeom prst="ellipse">
            <a:avLst/>
          </a:prstGeom>
        </p:spPr>
      </p:pic>
      <p:sp>
        <p:nvSpPr>
          <p:cNvPr id="613" name="Contributor label @yenuo26">
            <a:hlinkClick r:id="rId109"/>
          </p:cNvPr>
          <p:cNvSpPr txBox="1"/>
          <p:nvPr/>
        </p:nvSpPr>
        <p:spPr>
          <a:xfrm>
            <a:off x="357114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yenuo26</a:t>
            </a:r>
          </a:p>
        </p:txBody>
      </p:sp>
      <p:pic>
        <p:nvPicPr>
          <p:cNvPr id="614" name="Contributor @yuekaizhang" descr="yuekaizhang; merged PR author/coauthor">
            <a:hlinkClick r:id="rId111"/>
          </p:cNvPr>
          <p:cNvPicPr>
            <a:picLocks noChangeAspect="1"/>
          </p:cNvPicPr>
          <p:nvPr/>
        </p:nvPicPr>
        <p:blipFill>
          <a:blip r:embed="rId110"/>
          <a:stretch>
            <a:fillRect/>
          </a:stretch>
        </p:blipFill>
        <p:spPr>
          <a:xfrm>
            <a:off x="4899521" y="4800600"/>
            <a:ext cx="365760" cy="365760"/>
          </a:xfrm>
          <a:prstGeom prst="ellipse">
            <a:avLst/>
          </a:prstGeom>
        </p:spPr>
      </p:pic>
      <p:sp>
        <p:nvSpPr>
          <p:cNvPr id="615" name="Contributor label @yuekaizhang">
            <a:hlinkClick r:id="rId111"/>
          </p:cNvPr>
          <p:cNvSpPr txBox="1"/>
          <p:nvPr/>
        </p:nvSpPr>
        <p:spPr>
          <a:xfrm>
            <a:off x="457865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yuekaizhang</a:t>
            </a:r>
          </a:p>
        </p:txBody>
      </p:sp>
      <p:pic>
        <p:nvPicPr>
          <p:cNvPr id="616" name="Contributor @ZacheryAU" descr="ZacheryAU; merged PR author/coauthor">
            <a:hlinkClick r:id="rId113"/>
          </p:cNvPr>
          <p:cNvPicPr>
            <a:picLocks noChangeAspect="1"/>
          </p:cNvPicPr>
          <p:nvPr/>
        </p:nvPicPr>
        <p:blipFill>
          <a:blip r:embed="rId112"/>
          <a:stretch>
            <a:fillRect/>
          </a:stretch>
        </p:blipFill>
        <p:spPr>
          <a:xfrm>
            <a:off x="5907024" y="4800600"/>
            <a:ext cx="365760" cy="365760"/>
          </a:xfrm>
          <a:prstGeom prst="ellipse">
            <a:avLst/>
          </a:prstGeom>
        </p:spPr>
      </p:pic>
      <p:sp>
        <p:nvSpPr>
          <p:cNvPr id="617" name="Contributor label @ZacheryAU">
            <a:hlinkClick r:id="rId113"/>
          </p:cNvPr>
          <p:cNvSpPr txBox="1"/>
          <p:nvPr/>
        </p:nvSpPr>
        <p:spPr>
          <a:xfrm>
            <a:off x="5586153"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ZacheryAU</a:t>
            </a:r>
          </a:p>
        </p:txBody>
      </p:sp>
      <p:pic>
        <p:nvPicPr>
          <p:cNvPr id="618" name="Contributor @ZhengWG" descr="ZhengWG; merged PR author/coauthor">
            <a:hlinkClick r:id="rId137"/>
          </p:cNvPr>
          <p:cNvPicPr>
            <a:picLocks noChangeAspect="1"/>
          </p:cNvPicPr>
          <p:nvPr/>
        </p:nvPicPr>
        <p:blipFill>
          <a:blip r:embed="rId136"/>
          <a:stretch>
            <a:fillRect/>
          </a:stretch>
        </p:blipFill>
        <p:spPr>
          <a:xfrm>
            <a:off x="6914527" y="4800600"/>
            <a:ext cx="365760" cy="365760"/>
          </a:xfrm>
          <a:prstGeom prst="ellipse">
            <a:avLst/>
          </a:prstGeom>
        </p:spPr>
      </p:pic>
      <p:sp>
        <p:nvSpPr>
          <p:cNvPr id="619" name="Contributor label @ZhengWG">
            <a:hlinkClick r:id="rId137"/>
          </p:cNvPr>
          <p:cNvSpPr txBox="1"/>
          <p:nvPr/>
        </p:nvSpPr>
        <p:spPr>
          <a:xfrm>
            <a:off x="6593655"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ZhengWG</a:t>
            </a:r>
          </a:p>
        </p:txBody>
      </p:sp>
      <p:pic>
        <p:nvPicPr>
          <p:cNvPr id="620" name="Contributor @Zhou248" descr="Zhou248; merged PR author/coauthor">
            <a:hlinkClick r:id="rId115"/>
          </p:cNvPr>
          <p:cNvPicPr>
            <a:picLocks noChangeAspect="1"/>
          </p:cNvPicPr>
          <p:nvPr/>
        </p:nvPicPr>
        <p:blipFill>
          <a:blip r:embed="rId114"/>
          <a:stretch>
            <a:fillRect/>
          </a:stretch>
        </p:blipFill>
        <p:spPr>
          <a:xfrm>
            <a:off x="7922029" y="4800600"/>
            <a:ext cx="365760" cy="365760"/>
          </a:xfrm>
          <a:prstGeom prst="ellipse">
            <a:avLst/>
          </a:prstGeom>
        </p:spPr>
      </p:pic>
      <p:sp>
        <p:nvSpPr>
          <p:cNvPr id="621" name="Contributor label @Zhou248">
            <a:hlinkClick r:id="rId115"/>
          </p:cNvPr>
          <p:cNvSpPr txBox="1"/>
          <p:nvPr/>
        </p:nvSpPr>
        <p:spPr>
          <a:xfrm>
            <a:off x="7601158"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Zhou248</a:t>
            </a:r>
          </a:p>
        </p:txBody>
      </p:sp>
      <p:pic>
        <p:nvPicPr>
          <p:cNvPr id="622" name="Contributor @zyforsure" descr="zyforsure; merged PR author/coauthor">
            <a:hlinkClick r:id="rId117"/>
          </p:cNvPr>
          <p:cNvPicPr>
            <a:picLocks noChangeAspect="1"/>
          </p:cNvPicPr>
          <p:nvPr/>
        </p:nvPicPr>
        <p:blipFill>
          <a:blip r:embed="rId116"/>
          <a:stretch>
            <a:fillRect/>
          </a:stretch>
        </p:blipFill>
        <p:spPr>
          <a:xfrm>
            <a:off x="8929532" y="4800600"/>
            <a:ext cx="365760" cy="365760"/>
          </a:xfrm>
          <a:prstGeom prst="ellipse">
            <a:avLst/>
          </a:prstGeom>
        </p:spPr>
      </p:pic>
      <p:sp>
        <p:nvSpPr>
          <p:cNvPr id="623" name="Contributor label @zyforsure">
            <a:hlinkClick r:id="rId117"/>
          </p:cNvPr>
          <p:cNvSpPr txBox="1"/>
          <p:nvPr/>
        </p:nvSpPr>
        <p:spPr>
          <a:xfrm>
            <a:off x="8608660" y="5207508"/>
            <a:ext cx="1007503" cy="146304"/>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zyforsure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cxnSp>
        <p:nvCxnSpPr>
          <p:cNvPr id="6" name="Connector 5"/>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8" name="TextBox 7"/>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9" name="TextBox 8"/>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02 / 12</a:t>
            </a:r>
          </a:p>
        </p:txBody>
      </p:sp>
      <p:sp>
        <p:nvSpPr>
          <p:cNvPr id="10" name="TextBox 9"/>
          <p:cNvSpPr txBox="1"/>
          <p:nvPr/>
        </p:nvSpPr>
        <p:spPr>
          <a:xfrm>
            <a:off x="548640" y="1234440"/>
            <a:ext cx="5486400" cy="1417320"/>
          </a:xfrm>
          <a:prstGeom prst="rect">
            <a:avLst/>
          </a:prstGeom>
          <a:noFill/>
        </p:spPr>
        <p:txBody>
          <a:bodyPr wrap="square" lIns="0" rIns="0" tIns="0" bIns="0" anchor="t">
            <a:spAutoFit/>
          </a:bodyPr>
          <a:lstStyle/>
          <a:p>
            <a:pPr algn="l">
              <a:lnSpc>
                <a:spcPct val="110000"/>
              </a:lnSpc>
              <a:spcAft>
                <a:spcPts val="0"/>
              </a:spcAft>
            </a:pPr>
            <a:r>
              <a:rPr sz="3800" b="1">
                <a:solidFill>
                  <a:srgbClr val="142B45"/>
                </a:solidFill>
                <a:latin typeface="Arial"/>
                <a:ea typeface="Arial"/>
                <a:cs typeface="Arial"/>
              </a:rPr>
              <a:t>Keep the</a:t>
            </a:r>
          </a:p>
          <a:p>
            <a:pPr algn="l">
              <a:lnSpc>
                <a:spcPct val="110000"/>
              </a:lnSpc>
              <a:spcAft>
                <a:spcPts val="0"/>
              </a:spcAft>
            </a:pPr>
            <a:r>
              <a:rPr sz="3800" b="1">
                <a:solidFill>
                  <a:srgbClr val="142B45"/>
                </a:solidFill>
                <a:latin typeface="Arial"/>
                <a:ea typeface="Arial"/>
                <a:cs typeface="Arial"/>
              </a:rPr>
              <a:t>conversation flowing.</a:t>
            </a:r>
          </a:p>
        </p:txBody>
      </p:sp>
      <p:sp>
        <p:nvSpPr>
          <p:cNvPr id="15" name="Rounded Rectangle 14"/>
          <p:cNvSpPr/>
          <p:nvPr/>
        </p:nvSpPr>
        <p:spPr>
          <a:xfrm>
            <a:off x="6236208" y="1170432"/>
            <a:ext cx="5394960" cy="3342132"/>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519672" y="1395831"/>
            <a:ext cx="4754880" cy="347472"/>
          </a:xfrm>
          <a:prstGeom prst="rect">
            <a:avLst/>
          </a:prstGeom>
          <a:noFill/>
        </p:spPr>
        <p:txBody>
          <a:bodyPr wrap="square" lIns="0" rIns="0" tIns="0" bIns="0" anchor="t">
            <a:spAutoFit/>
          </a:bodyPr>
          <a:lstStyle/>
          <a:p>
            <a:pPr algn="l">
              <a:lnSpc>
                <a:spcPct val="110000"/>
              </a:lnSpc>
              <a:spcAft>
                <a:spcPts val="0"/>
              </a:spcAft>
            </a:pPr>
            <a:r>
              <a:rPr sz="2200" b="1">
                <a:solidFill>
                  <a:srgbClr val="FFFFFF"/>
                </a:solidFill>
                <a:latin typeface="Arial"/>
                <a:ea typeface="Arial"/>
                <a:cs typeface="Arial"/>
              </a:rPr>
              <a:t>One live conversation</a:t>
            </a:r>
          </a:p>
        </p:txBody>
      </p:sp>
      <p:sp>
        <p:nvSpPr>
          <p:cNvPr id="17" name="TextBox 16"/>
          <p:cNvSpPr txBox="1"/>
          <p:nvPr/>
        </p:nvSpPr>
        <p:spPr>
          <a:xfrm>
            <a:off x="6537960" y="1846630"/>
            <a:ext cx="1143000" cy="274320"/>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Camera</a:t>
            </a:r>
          </a:p>
        </p:txBody>
      </p:sp>
      <p:sp>
        <p:nvSpPr>
          <p:cNvPr id="25" name="TextBox 24"/>
          <p:cNvSpPr txBox="1"/>
          <p:nvPr/>
        </p:nvSpPr>
        <p:spPr>
          <a:xfrm>
            <a:off x="6537960" y="2297430"/>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FCAE7"/>
                </a:solidFill>
                <a:latin typeface="Arial"/>
                <a:ea typeface="Arial"/>
                <a:cs typeface="Arial"/>
              </a:rPr>
              <a:t>User speech</a:t>
            </a:r>
          </a:p>
        </p:txBody>
      </p:sp>
      <p:cxnSp>
        <p:nvCxnSpPr>
          <p:cNvPr id="26" name="Connector 25"/>
          <p:cNvCxnSpPr/>
          <p:nvPr/>
        </p:nvCxnSpPr>
        <p:spPr>
          <a:xfrm>
            <a:off x="6547104" y="2732684"/>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6601968" y="2641813"/>
            <a:ext cx="26517" cy="18174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6670548" y="2588915"/>
            <a:ext cx="26517" cy="28753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ounded Rectangle 28"/>
          <p:cNvSpPr/>
          <p:nvPr/>
        </p:nvSpPr>
        <p:spPr>
          <a:xfrm>
            <a:off x="6739128" y="2598602"/>
            <a:ext cx="26517" cy="26816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6807707" y="2659474"/>
            <a:ext cx="26517" cy="14641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6876288" y="2666476"/>
            <a:ext cx="26517" cy="13241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944868" y="2629125"/>
            <a:ext cx="26517" cy="207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013448" y="2613880"/>
            <a:ext cx="26517" cy="23760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Rounded Rectangle 33"/>
          <p:cNvSpPr/>
          <p:nvPr/>
        </p:nvSpPr>
        <p:spPr>
          <a:xfrm>
            <a:off x="7082028" y="2647493"/>
            <a:ext cx="26517" cy="17038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7150607" y="2674479"/>
            <a:ext cx="26517" cy="11640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Rounded Rectangle 35"/>
          <p:cNvSpPr/>
          <p:nvPr/>
        </p:nvSpPr>
        <p:spPr>
          <a:xfrm>
            <a:off x="7219188" y="2603803"/>
            <a:ext cx="26517" cy="25776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Rounded Rectangle 36"/>
          <p:cNvSpPr/>
          <p:nvPr/>
        </p:nvSpPr>
        <p:spPr>
          <a:xfrm>
            <a:off x="7287768" y="2582397"/>
            <a:ext cx="26517" cy="30057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Rounded Rectangle 37"/>
          <p:cNvSpPr/>
          <p:nvPr/>
        </p:nvSpPr>
        <p:spPr>
          <a:xfrm>
            <a:off x="7356348" y="2625786"/>
            <a:ext cx="26517" cy="21379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7424927" y="2689445"/>
            <a:ext cx="26517" cy="864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ounded Rectangle 39"/>
          <p:cNvSpPr/>
          <p:nvPr/>
        </p:nvSpPr>
        <p:spPr>
          <a:xfrm>
            <a:off x="7493508" y="2623125"/>
            <a:ext cx="26517" cy="21911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Rounded Rectangle 40"/>
          <p:cNvSpPr/>
          <p:nvPr/>
        </p:nvSpPr>
        <p:spPr>
          <a:xfrm>
            <a:off x="7562088" y="2607081"/>
            <a:ext cx="26517" cy="25120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Rounded Rectangle 41"/>
          <p:cNvSpPr/>
          <p:nvPr/>
        </p:nvSpPr>
        <p:spPr>
          <a:xfrm>
            <a:off x="7630667" y="2640635"/>
            <a:ext cx="26517" cy="1840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7699248" y="2692018"/>
            <a:ext cx="26517" cy="813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ounded Rectangle 43"/>
          <p:cNvSpPr/>
          <p:nvPr/>
        </p:nvSpPr>
        <p:spPr>
          <a:xfrm>
            <a:off x="7767827" y="2636206"/>
            <a:ext cx="26517" cy="1929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Rounded Rectangle 44"/>
          <p:cNvSpPr/>
          <p:nvPr/>
        </p:nvSpPr>
        <p:spPr>
          <a:xfrm>
            <a:off x="7836408" y="2591806"/>
            <a:ext cx="26517" cy="28175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904988" y="2604885"/>
            <a:ext cx="26517" cy="2555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Rounded Rectangle 46"/>
          <p:cNvSpPr/>
          <p:nvPr/>
        </p:nvSpPr>
        <p:spPr>
          <a:xfrm>
            <a:off x="9171432" y="2589045"/>
            <a:ext cx="26517" cy="28727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ounded Rectangle 47"/>
          <p:cNvSpPr/>
          <p:nvPr/>
        </p:nvSpPr>
        <p:spPr>
          <a:xfrm>
            <a:off x="9241535" y="2591211"/>
            <a:ext cx="26517" cy="28294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Rounded Rectangle 48"/>
          <p:cNvSpPr/>
          <p:nvPr/>
        </p:nvSpPr>
        <p:spPr>
          <a:xfrm>
            <a:off x="9311640" y="2651127"/>
            <a:ext cx="26517" cy="163112"/>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Rounded Rectangle 49"/>
          <p:cNvSpPr/>
          <p:nvPr/>
        </p:nvSpPr>
        <p:spPr>
          <a:xfrm>
            <a:off x="9381744" y="2667300"/>
            <a:ext cx="26517" cy="130765"/>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Rounded Rectangle 50"/>
          <p:cNvSpPr/>
          <p:nvPr/>
        </p:nvSpPr>
        <p:spPr>
          <a:xfrm>
            <a:off x="9451848" y="2620107"/>
            <a:ext cx="26517" cy="2251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ounded Rectangle 51"/>
          <p:cNvSpPr/>
          <p:nvPr/>
        </p:nvSpPr>
        <p:spPr>
          <a:xfrm>
            <a:off x="9521951" y="2623231"/>
            <a:ext cx="26517" cy="218903"/>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Rounded Rectangle 52"/>
          <p:cNvSpPr/>
          <p:nvPr/>
        </p:nvSpPr>
        <p:spPr>
          <a:xfrm>
            <a:off x="9592055" y="2649568"/>
            <a:ext cx="26517" cy="16623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Rounded Rectangle 53"/>
          <p:cNvSpPr/>
          <p:nvPr/>
        </p:nvSpPr>
        <p:spPr>
          <a:xfrm>
            <a:off x="9662160" y="2681304"/>
            <a:ext cx="26517" cy="10275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Rounded Rectangle 54"/>
          <p:cNvSpPr/>
          <p:nvPr/>
        </p:nvSpPr>
        <p:spPr>
          <a:xfrm>
            <a:off x="9732264" y="2612010"/>
            <a:ext cx="26517" cy="24134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Rounded Rectangle 55"/>
          <p:cNvSpPr/>
          <p:nvPr/>
        </p:nvSpPr>
        <p:spPr>
          <a:xfrm>
            <a:off x="9802367" y="2584144"/>
            <a:ext cx="26517" cy="29707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Rounded Rectangle 56"/>
          <p:cNvSpPr/>
          <p:nvPr/>
        </p:nvSpPr>
        <p:spPr>
          <a:xfrm>
            <a:off x="9872472" y="2620438"/>
            <a:ext cx="26517" cy="224490"/>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9942576" y="2694805"/>
            <a:ext cx="26517" cy="75757"/>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Rounded Rectangle 58"/>
          <p:cNvSpPr/>
          <p:nvPr/>
        </p:nvSpPr>
        <p:spPr>
          <a:xfrm>
            <a:off x="10012680" y="2620758"/>
            <a:ext cx="26517" cy="223851"/>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Rounded Rectangle 59"/>
          <p:cNvSpPr/>
          <p:nvPr/>
        </p:nvSpPr>
        <p:spPr>
          <a:xfrm>
            <a:off x="10082783" y="2596299"/>
            <a:ext cx="26517" cy="27276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Rounded Rectangle 60"/>
          <p:cNvSpPr/>
          <p:nvPr/>
        </p:nvSpPr>
        <p:spPr>
          <a:xfrm>
            <a:off x="10152887" y="2628651"/>
            <a:ext cx="26517" cy="208064"/>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Rounded Rectangle 61"/>
          <p:cNvSpPr/>
          <p:nvPr/>
        </p:nvSpPr>
        <p:spPr>
          <a:xfrm>
            <a:off x="10222992" y="2688613"/>
            <a:ext cx="26517" cy="8813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Rounded Rectangle 62"/>
          <p:cNvSpPr/>
          <p:nvPr/>
        </p:nvSpPr>
        <p:spPr>
          <a:xfrm>
            <a:off x="10293096" y="2646919"/>
            <a:ext cx="26517" cy="171529"/>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Rounded Rectangle 63"/>
          <p:cNvSpPr/>
          <p:nvPr/>
        </p:nvSpPr>
        <p:spPr>
          <a:xfrm>
            <a:off x="10363199" y="2602035"/>
            <a:ext cx="26517" cy="261296"/>
          </a:xfrm>
          <a:prstGeom prst="roundRect">
            <a:avLst>
              <a:gd name="adj" fmla="val 10000"/>
            </a:avLst>
          </a:prstGeom>
          <a:solidFill>
            <a:srgbClr val="62A9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6537960" y="3082442"/>
            <a:ext cx="2743200" cy="219456"/>
          </a:xfrm>
          <a:prstGeom prst="rect">
            <a:avLst/>
          </a:prstGeom>
          <a:noFill/>
        </p:spPr>
        <p:txBody>
          <a:bodyPr wrap="square" lIns="0" rIns="0" tIns="0" bIns="0" anchor="t">
            <a:spAutoFit/>
          </a:bodyPr>
          <a:lstStyle/>
          <a:p>
            <a:pPr algn="l">
              <a:lnSpc>
                <a:spcPct val="110000"/>
              </a:lnSpc>
              <a:spcAft>
                <a:spcPts val="0"/>
              </a:spcAft>
            </a:pPr>
            <a:r>
              <a:rPr sz="1300" b="0">
                <a:solidFill>
                  <a:srgbClr val="A1DFD8"/>
                </a:solidFill>
                <a:latin typeface="Arial"/>
                <a:ea typeface="Arial"/>
                <a:cs typeface="Arial"/>
              </a:rPr>
              <a:t>Assistant speech</a:t>
            </a:r>
          </a:p>
        </p:txBody>
      </p:sp>
      <p:cxnSp>
        <p:nvCxnSpPr>
          <p:cNvPr id="66" name="Connector 65"/>
          <p:cNvCxnSpPr/>
          <p:nvPr/>
        </p:nvCxnSpPr>
        <p:spPr>
          <a:xfrm>
            <a:off x="6547104" y="3517696"/>
            <a:ext cx="4718304" cy="0"/>
          </a:xfrm>
          <a:prstGeom prst="line">
            <a:avLst/>
          </a:prstGeom>
          <a:ln w="15240">
            <a:solidFill>
              <a:srgbClr val="314E68"/>
            </a:solidFill>
          </a:ln>
          <a:effectLst/>
        </p:spPr>
        <p:style>
          <a:lnRef idx="2">
            <a:schemeClr val="accent1"/>
          </a:lnRef>
          <a:fillRef idx="0">
            <a:schemeClr val="accent1"/>
          </a:fillRef>
          <a:effectRef idx="0">
            <a:schemeClr val="accent1"/>
          </a:effectRef>
          <a:fontRef idx="minor">
            <a:schemeClr val="tx1"/>
          </a:fontRef>
        </p:style>
      </p:cxnSp>
      <p:sp>
        <p:nvSpPr>
          <p:cNvPr id="67" name="Rounded Rectangle 66"/>
          <p:cNvSpPr/>
          <p:nvPr/>
        </p:nvSpPr>
        <p:spPr>
          <a:xfrm>
            <a:off x="8156448" y="3399086"/>
            <a:ext cx="26517" cy="2372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Rounded Rectangle 67"/>
          <p:cNvSpPr/>
          <p:nvPr/>
        </p:nvSpPr>
        <p:spPr>
          <a:xfrm>
            <a:off x="8216145" y="3368104"/>
            <a:ext cx="26517" cy="29918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Rounded Rectangle 68"/>
          <p:cNvSpPr/>
          <p:nvPr/>
        </p:nvSpPr>
        <p:spPr>
          <a:xfrm>
            <a:off x="8275842" y="3401444"/>
            <a:ext cx="26517" cy="23250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ounded Rectangle 69"/>
          <p:cNvSpPr/>
          <p:nvPr/>
        </p:nvSpPr>
        <p:spPr>
          <a:xfrm>
            <a:off x="8335539" y="3473558"/>
            <a:ext cx="26517" cy="8827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ounded Rectangle 70"/>
          <p:cNvSpPr/>
          <p:nvPr/>
        </p:nvSpPr>
        <p:spPr>
          <a:xfrm>
            <a:off x="8395237" y="3428244"/>
            <a:ext cx="26517" cy="1789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ounded Rectangle 71"/>
          <p:cNvSpPr/>
          <p:nvPr/>
        </p:nvSpPr>
        <p:spPr>
          <a:xfrm>
            <a:off x="8454934" y="3407099"/>
            <a:ext cx="26517" cy="2211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Rounded Rectangle 72"/>
          <p:cNvSpPr/>
          <p:nvPr/>
        </p:nvSpPr>
        <p:spPr>
          <a:xfrm>
            <a:off x="8514631" y="3409965"/>
            <a:ext cx="26517" cy="21546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Rounded Rectangle 73"/>
          <p:cNvSpPr/>
          <p:nvPr/>
        </p:nvSpPr>
        <p:spPr>
          <a:xfrm>
            <a:off x="8574329" y="3459891"/>
            <a:ext cx="26517" cy="11560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ounded Rectangle 74"/>
          <p:cNvSpPr/>
          <p:nvPr/>
        </p:nvSpPr>
        <p:spPr>
          <a:xfrm>
            <a:off x="8634026" y="3429368"/>
            <a:ext cx="26517" cy="17665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ounded Rectangle 75"/>
          <p:cNvSpPr/>
          <p:nvPr/>
        </p:nvSpPr>
        <p:spPr>
          <a:xfrm>
            <a:off x="8693723" y="3373861"/>
            <a:ext cx="26517" cy="28766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7" name="Rounded Rectangle 76"/>
          <p:cNvSpPr/>
          <p:nvPr/>
        </p:nvSpPr>
        <p:spPr>
          <a:xfrm>
            <a:off x="8753420" y="3377571"/>
            <a:ext cx="26517" cy="28024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8" name="Rounded Rectangle 77"/>
          <p:cNvSpPr/>
          <p:nvPr/>
        </p:nvSpPr>
        <p:spPr>
          <a:xfrm>
            <a:off x="8813118" y="3440577"/>
            <a:ext cx="26517" cy="15423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ounded Rectangle 78"/>
          <p:cNvSpPr/>
          <p:nvPr/>
        </p:nvSpPr>
        <p:spPr>
          <a:xfrm>
            <a:off x="8872815" y="3442426"/>
            <a:ext cx="26517" cy="1505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Rounded Rectangle 79"/>
          <p:cNvSpPr/>
          <p:nvPr/>
        </p:nvSpPr>
        <p:spPr>
          <a:xfrm>
            <a:off x="8932512" y="3391117"/>
            <a:ext cx="26517" cy="25315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1" name="Rounded Rectangle 80"/>
          <p:cNvSpPr/>
          <p:nvPr/>
        </p:nvSpPr>
        <p:spPr>
          <a:xfrm>
            <a:off x="8992210" y="3396259"/>
            <a:ext cx="26517" cy="242872"/>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ounded Rectangle 81"/>
          <p:cNvSpPr/>
          <p:nvPr/>
        </p:nvSpPr>
        <p:spPr>
          <a:xfrm>
            <a:off x="9051907" y="3444049"/>
            <a:ext cx="26517" cy="14729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3" name="Rounded Rectangle 82"/>
          <p:cNvSpPr/>
          <p:nvPr/>
        </p:nvSpPr>
        <p:spPr>
          <a:xfrm>
            <a:off x="9111604" y="3462861"/>
            <a:ext cx="26517" cy="10966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ounded Rectangle 83"/>
          <p:cNvSpPr/>
          <p:nvPr/>
        </p:nvSpPr>
        <p:spPr>
          <a:xfrm>
            <a:off x="9171301" y="3401655"/>
            <a:ext cx="26517" cy="23208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ounded Rectangle 84"/>
          <p:cNvSpPr/>
          <p:nvPr/>
        </p:nvSpPr>
        <p:spPr>
          <a:xfrm>
            <a:off x="9230999" y="3377228"/>
            <a:ext cx="26517" cy="2809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Rounded Rectangle 85"/>
          <p:cNvSpPr/>
          <p:nvPr/>
        </p:nvSpPr>
        <p:spPr>
          <a:xfrm>
            <a:off x="9290696" y="3413331"/>
            <a:ext cx="26517" cy="20872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Rounded Rectangle 86"/>
          <p:cNvSpPr/>
          <p:nvPr/>
        </p:nvSpPr>
        <p:spPr>
          <a:xfrm>
            <a:off x="9350393" y="3472018"/>
            <a:ext cx="26517" cy="9135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ounded Rectangle 87"/>
          <p:cNvSpPr/>
          <p:nvPr/>
        </p:nvSpPr>
        <p:spPr>
          <a:xfrm>
            <a:off x="9410091" y="3396526"/>
            <a:ext cx="26517" cy="24233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ounded Rectangle 88"/>
          <p:cNvSpPr/>
          <p:nvPr/>
        </p:nvSpPr>
        <p:spPr>
          <a:xfrm>
            <a:off x="10616184" y="3367830"/>
            <a:ext cx="26517" cy="2997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0" name="Rounded Rectangle 89"/>
          <p:cNvSpPr/>
          <p:nvPr/>
        </p:nvSpPr>
        <p:spPr>
          <a:xfrm>
            <a:off x="10684878" y="3386778"/>
            <a:ext cx="26517" cy="261836"/>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1" name="Rounded Rectangle 90"/>
          <p:cNvSpPr/>
          <p:nvPr/>
        </p:nvSpPr>
        <p:spPr>
          <a:xfrm>
            <a:off x="10753572" y="3456644"/>
            <a:ext cx="26517" cy="122103"/>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ounded Rectangle 91"/>
          <p:cNvSpPr/>
          <p:nvPr/>
        </p:nvSpPr>
        <p:spPr>
          <a:xfrm>
            <a:off x="10822267" y="3433956"/>
            <a:ext cx="26517" cy="167479"/>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ounded Rectangle 92"/>
          <p:cNvSpPr/>
          <p:nvPr/>
        </p:nvSpPr>
        <p:spPr>
          <a:xfrm>
            <a:off x="10890961" y="3397995"/>
            <a:ext cx="26517" cy="239401"/>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4" name="Rounded Rectangle 93"/>
          <p:cNvSpPr/>
          <p:nvPr/>
        </p:nvSpPr>
        <p:spPr>
          <a:xfrm>
            <a:off x="10959655" y="3413312"/>
            <a:ext cx="26517" cy="208767"/>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5" name="Rounded Rectangle 94"/>
          <p:cNvSpPr/>
          <p:nvPr/>
        </p:nvSpPr>
        <p:spPr>
          <a:xfrm>
            <a:off x="11028350" y="3450036"/>
            <a:ext cx="26517" cy="135318"/>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6" name="Rounded Rectangle 95"/>
          <p:cNvSpPr/>
          <p:nvPr/>
        </p:nvSpPr>
        <p:spPr>
          <a:xfrm>
            <a:off x="11097044" y="3447288"/>
            <a:ext cx="26517" cy="140815"/>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7" name="Rounded Rectangle 96"/>
          <p:cNvSpPr/>
          <p:nvPr/>
        </p:nvSpPr>
        <p:spPr>
          <a:xfrm>
            <a:off x="11165739" y="3385680"/>
            <a:ext cx="26517" cy="264030"/>
          </a:xfrm>
          <a:prstGeom prst="roundRect">
            <a:avLst>
              <a:gd name="adj" fmla="val 10000"/>
            </a:avLst>
          </a:prstGeom>
          <a:solidFill>
            <a:srgbClr val="58D4C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8" name="Connector 97"/>
          <p:cNvCxnSpPr/>
          <p:nvPr/>
        </p:nvCxnSpPr>
        <p:spPr>
          <a:xfrm>
            <a:off x="9171432" y="2437333"/>
            <a:ext cx="0" cy="1313535"/>
          </a:xfrm>
          <a:prstGeom prst="line">
            <a:avLst/>
          </a:prstGeom>
          <a:ln w="21590">
            <a:solidFill>
              <a:srgbClr val="FFCB78"/>
            </a:solidFill>
            <a:prstDash val="dash"/>
          </a:ln>
          <a:effectLst/>
        </p:spPr>
        <p:style>
          <a:lnRef idx="2">
            <a:schemeClr val="accent1"/>
          </a:lnRef>
          <a:fillRef idx="0">
            <a:schemeClr val="accent1"/>
          </a:fillRef>
          <a:effectRef idx="0">
            <a:schemeClr val="accent1"/>
          </a:effectRef>
          <a:fontRef idx="minor">
            <a:schemeClr val="tx1"/>
          </a:fontRef>
        </p:style>
      </p:cxnSp>
      <p:sp>
        <p:nvSpPr>
          <p:cNvPr id="99" name="TextBox 98"/>
          <p:cNvSpPr txBox="1"/>
          <p:nvPr/>
        </p:nvSpPr>
        <p:spPr>
          <a:xfrm>
            <a:off x="8211312" y="3991813"/>
            <a:ext cx="1920240" cy="265176"/>
          </a:xfrm>
          <a:prstGeom prst="rect">
            <a:avLst/>
          </a:prstGeom>
          <a:noFill/>
        </p:spPr>
        <p:txBody>
          <a:bodyPr wrap="square" lIns="0" rIns="0" tIns="0" bIns="0" anchor="t">
            <a:spAutoFit/>
          </a:bodyPr>
          <a:lstStyle/>
          <a:p>
            <a:pPr algn="ctr">
              <a:lnSpc>
                <a:spcPct val="110000"/>
              </a:lnSpc>
              <a:spcAft>
                <a:spcPts val="0"/>
              </a:spcAft>
            </a:pPr>
            <a:r>
              <a:rPr sz="1400" b="1">
                <a:solidFill>
                  <a:srgbClr val="FFCF82"/>
                </a:solidFill>
                <a:latin typeface="Arial"/>
                <a:ea typeface="Arial"/>
                <a:cs typeface="Arial"/>
              </a:rPr>
              <a:t>barge-in</a:t>
            </a:r>
          </a:p>
        </p:txBody>
      </p:sp>
      <p:sp>
        <p:nvSpPr>
          <p:cNvPr id="100" name="TextBox 99"/>
          <p:cNvSpPr txBox="1"/>
          <p:nvPr/>
        </p:nvSpPr>
        <p:spPr>
          <a:xfrm>
            <a:off x="594360" y="2884932"/>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01</a:t>
            </a:r>
          </a:p>
        </p:txBody>
      </p:sp>
      <p:sp>
        <p:nvSpPr>
          <p:cNvPr id="101" name="TextBox 100"/>
          <p:cNvSpPr txBox="1"/>
          <p:nvPr/>
        </p:nvSpPr>
        <p:spPr>
          <a:xfrm>
            <a:off x="1033271" y="2852928"/>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Concurrent input &amp; output</a:t>
            </a:r>
          </a:p>
        </p:txBody>
      </p:sp>
      <p:sp>
        <p:nvSpPr>
          <p:cNvPr id="102" name="TextBox 101"/>
          <p:cNvSpPr txBox="1"/>
          <p:nvPr/>
        </p:nvSpPr>
        <p:spPr>
          <a:xfrm>
            <a:off x="1033271" y="3246120"/>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Keep receiving speech and video</a:t>
            </a:r>
          </a:p>
          <a:p>
            <a:pPr algn="l">
              <a:lnSpc>
                <a:spcPct val="110000"/>
              </a:lnSpc>
              <a:spcAft>
                <a:spcPts val="0"/>
              </a:spcAft>
            </a:pPr>
            <a:r>
              <a:rPr sz="1700" b="0">
                <a:solidFill>
                  <a:srgbClr val="586B7E"/>
                </a:solidFill>
                <a:latin typeface="Arial"/>
                <a:ea typeface="Arial"/>
                <a:cs typeface="Arial"/>
              </a:rPr>
              <a:t>while the assistant responds.</a:t>
            </a:r>
          </a:p>
        </p:txBody>
      </p:sp>
      <p:sp>
        <p:nvSpPr>
          <p:cNvPr id="103" name="TextBox 102"/>
          <p:cNvSpPr txBox="1"/>
          <p:nvPr/>
        </p:nvSpPr>
        <p:spPr>
          <a:xfrm>
            <a:off x="594360" y="3835908"/>
            <a:ext cx="365760" cy="265176"/>
          </a:xfrm>
          <a:prstGeom prst="rect">
            <a:avLst/>
          </a:prstGeom>
          <a:noFill/>
        </p:spPr>
        <p:txBody>
          <a:bodyPr wrap="square" lIns="0" rIns="0" tIns="0" bIns="0" anchor="t">
            <a:spAutoFit/>
          </a:bodyPr>
          <a:lstStyle/>
          <a:p>
            <a:pPr algn="l">
              <a:lnSpc>
                <a:spcPct val="110000"/>
              </a:lnSpc>
              <a:spcAft>
                <a:spcPts val="0"/>
              </a:spcAft>
            </a:pPr>
            <a:r>
              <a:rPr sz="1500" b="1">
                <a:solidFill>
                  <a:srgbClr val="008E96"/>
                </a:solidFill>
                <a:latin typeface="Arial"/>
                <a:ea typeface="Arial"/>
                <a:cs typeface="Arial"/>
              </a:rPr>
              <a:t>02</a:t>
            </a:r>
          </a:p>
        </p:txBody>
      </p:sp>
      <p:sp>
        <p:nvSpPr>
          <p:cNvPr id="104" name="TextBox 103"/>
          <p:cNvSpPr txBox="1"/>
          <p:nvPr/>
        </p:nvSpPr>
        <p:spPr>
          <a:xfrm>
            <a:off x="1033271" y="3803904"/>
            <a:ext cx="5010912" cy="365760"/>
          </a:xfrm>
          <a:prstGeom prst="rect">
            <a:avLst/>
          </a:prstGeom>
          <a:noFill/>
        </p:spPr>
        <p:txBody>
          <a:bodyPr wrap="square" lIns="0" rIns="0" tIns="0" bIns="0" anchor="t">
            <a:spAutoFit/>
          </a:bodyPr>
          <a:lstStyle/>
          <a:p>
            <a:pPr algn="l">
              <a:lnSpc>
                <a:spcPct val="110000"/>
              </a:lnSpc>
              <a:spcAft>
                <a:spcPts val="0"/>
              </a:spcAft>
            </a:pPr>
            <a:r>
              <a:rPr sz="2100" b="1">
                <a:solidFill>
                  <a:srgbClr val="142B45"/>
                </a:solidFill>
                <a:latin typeface="Arial"/>
                <a:ea typeface="Arial"/>
                <a:cs typeface="Arial"/>
              </a:rPr>
              <a:t>Streamed responses</a:t>
            </a:r>
          </a:p>
        </p:txBody>
      </p:sp>
      <p:sp>
        <p:nvSpPr>
          <p:cNvPr id="105" name="TextBox 104"/>
          <p:cNvSpPr txBox="1"/>
          <p:nvPr/>
        </p:nvSpPr>
        <p:spPr>
          <a:xfrm>
            <a:off x="1033271" y="4197096"/>
            <a:ext cx="4937760" cy="557784"/>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Deliver text and audio incrementally,</a:t>
            </a:r>
          </a:p>
          <a:p>
            <a:pPr algn="l">
              <a:lnSpc>
                <a:spcPct val="110000"/>
              </a:lnSpc>
              <a:spcAft>
                <a:spcPts val="0"/>
              </a:spcAft>
            </a:pPr>
            <a:r>
              <a:rPr sz="1700" b="0">
                <a:solidFill>
                  <a:srgbClr val="586B7E"/>
                </a:solidFill>
                <a:latin typeface="Arial"/>
                <a:ea typeface="Arial"/>
                <a:cs typeface="Arial"/>
              </a:rPr>
              <a:t>without waiting for a complete reply.</a:t>
            </a:r>
          </a:p>
        </p:txBody>
      </p:sp>
      <p:sp>
        <p:nvSpPr>
          <p:cNvPr id="106" name="Rounded Rectangle 105"/>
          <p:cNvSpPr/>
          <p:nvPr/>
        </p:nvSpPr>
        <p:spPr>
          <a:xfrm>
            <a:off x="548640" y="5020056"/>
            <a:ext cx="11082528" cy="1298448"/>
          </a:xfrm>
          <a:prstGeom prst="roundRect">
            <a:avLst>
              <a:gd name="adj" fmla="val 10000"/>
            </a:avLst>
          </a:prstGeom>
          <a:solidFill>
            <a:srgbClr val="FBF4E8"/>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Rectangle 106"/>
          <p:cNvSpPr/>
          <p:nvPr/>
        </p:nvSpPr>
        <p:spPr>
          <a:xfrm>
            <a:off x="548640" y="5020056"/>
            <a:ext cx="41148" cy="12984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TextBox 107"/>
          <p:cNvSpPr txBox="1"/>
          <p:nvPr/>
        </p:nvSpPr>
        <p:spPr>
          <a:xfrm>
            <a:off x="731520" y="5166360"/>
            <a:ext cx="365760" cy="256032"/>
          </a:xfrm>
          <a:prstGeom prst="rect">
            <a:avLst/>
          </a:prstGeom>
          <a:noFill/>
        </p:spPr>
        <p:txBody>
          <a:bodyPr wrap="square" lIns="0" rIns="0" tIns="0" bIns="0" anchor="t">
            <a:spAutoFit/>
          </a:bodyPr>
          <a:lstStyle/>
          <a:p>
            <a:pPr algn="l">
              <a:lnSpc>
                <a:spcPct val="110000"/>
              </a:lnSpc>
              <a:spcAft>
                <a:spcPts val="0"/>
              </a:spcAft>
            </a:pPr>
            <a:r>
              <a:rPr sz="1500" b="1">
                <a:solidFill>
                  <a:srgbClr val="AD761E"/>
                </a:solidFill>
                <a:latin typeface="Arial"/>
                <a:ea typeface="Arial"/>
                <a:cs typeface="Arial"/>
              </a:rPr>
              <a:t>03</a:t>
            </a:r>
          </a:p>
        </p:txBody>
      </p:sp>
      <p:sp>
        <p:nvSpPr>
          <p:cNvPr id="109" name="TextBox 108"/>
          <p:cNvSpPr txBox="1"/>
          <p:nvPr/>
        </p:nvSpPr>
        <p:spPr>
          <a:xfrm>
            <a:off x="1170432" y="5129784"/>
            <a:ext cx="2816352" cy="320040"/>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Adaptive interaction</a:t>
            </a:r>
          </a:p>
        </p:txBody>
      </p:sp>
      <p:sp>
        <p:nvSpPr>
          <p:cNvPr id="110" name="TextBox 109"/>
          <p:cNvSpPr txBox="1"/>
          <p:nvPr/>
        </p:nvSpPr>
        <p:spPr>
          <a:xfrm>
            <a:off x="3968496" y="5170932"/>
            <a:ext cx="7424927" cy="274320"/>
          </a:xfrm>
          <a:prstGeom prst="rect">
            <a:avLst/>
          </a:prstGeom>
          <a:noFill/>
        </p:spPr>
        <p:txBody>
          <a:bodyPr wrap="square" lIns="0" rIns="0" tIns="0" bIns="0" anchor="t">
            <a:spAutoFit/>
          </a:bodyPr>
          <a:lstStyle/>
          <a:p>
            <a:pPr algn="l">
              <a:lnSpc>
                <a:spcPct val="110000"/>
              </a:lnSpc>
              <a:spcAft>
                <a:spcPts val="0"/>
              </a:spcAft>
            </a:pPr>
            <a:r>
              <a:rPr sz="1350" b="0">
                <a:solidFill>
                  <a:srgbClr val="586B7E"/>
                </a:solidFill>
                <a:latin typeface="Arial"/>
                <a:ea typeface="Arial"/>
                <a:cs typeface="Arial"/>
              </a:rPr>
              <a:t>Use new input to continue, adapt what comes next, or yield the floor.</a:t>
            </a:r>
          </a:p>
        </p:txBody>
      </p:sp>
      <p:cxnSp>
        <p:nvCxnSpPr>
          <p:cNvPr id="111" name="Connector 110"/>
          <p:cNvCxnSpPr/>
          <p:nvPr/>
        </p:nvCxnSpPr>
        <p:spPr>
          <a:xfrm>
            <a:off x="777240" y="5495544"/>
            <a:ext cx="10625328" cy="0"/>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cxnSp>
        <p:nvCxnSpPr>
          <p:cNvPr id="112" name="Connector 111"/>
          <p:cNvCxnSpPr/>
          <p:nvPr/>
        </p:nvCxnSpPr>
        <p:spPr>
          <a:xfrm>
            <a:off x="6071616" y="5605272"/>
            <a:ext cx="0" cy="530352"/>
          </a:xfrm>
          <a:prstGeom prst="line">
            <a:avLst/>
          </a:prstGeom>
          <a:ln w="1016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113" name="TextBox 112"/>
          <p:cNvSpPr txBox="1"/>
          <p:nvPr/>
        </p:nvSpPr>
        <p:spPr>
          <a:xfrm>
            <a:off x="786384" y="5568696"/>
            <a:ext cx="5038344" cy="283464"/>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Hard interruption: forced stop</a:t>
            </a:r>
          </a:p>
        </p:txBody>
      </p:sp>
      <p:sp>
        <p:nvSpPr>
          <p:cNvPr id="114" name="TextBox 113"/>
          <p:cNvSpPr txBox="1"/>
          <p:nvPr/>
        </p:nvSpPr>
        <p:spPr>
          <a:xfrm>
            <a:off x="786384" y="5843016"/>
            <a:ext cx="5038344"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Client / server control</a:t>
            </a:r>
          </a:p>
          <a:p>
            <a:pPr algn="l">
              <a:lnSpc>
                <a:spcPct val="110000"/>
              </a:lnSpc>
              <a:spcAft>
                <a:spcPts val="0"/>
              </a:spcAft>
            </a:pPr>
            <a:r>
              <a:rPr sz="1250" b="0">
                <a:solidFill>
                  <a:srgbClr val="142B45"/>
                </a:solidFill>
                <a:latin typeface="Arial"/>
                <a:ea typeface="Arial"/>
                <a:cs typeface="Arial"/>
              </a:rPr>
              <a:t>Explicit cancel or configured VAD policy</a:t>
            </a:r>
          </a:p>
        </p:txBody>
      </p:sp>
      <p:sp>
        <p:nvSpPr>
          <p:cNvPr id="115" name="TextBox 114"/>
          <p:cNvSpPr txBox="1"/>
          <p:nvPr/>
        </p:nvSpPr>
        <p:spPr>
          <a:xfrm>
            <a:off x="6318504" y="5568696"/>
            <a:ext cx="5065776" cy="283464"/>
          </a:xfrm>
          <a:prstGeom prst="rect">
            <a:avLst/>
          </a:prstGeom>
          <a:noFill/>
        </p:spPr>
        <p:txBody>
          <a:bodyPr wrap="square" lIns="0" rIns="0" tIns="0" bIns="0" anchor="t">
            <a:spAutoFit/>
          </a:bodyPr>
          <a:lstStyle/>
          <a:p>
            <a:pPr algn="l">
              <a:lnSpc>
                <a:spcPct val="110000"/>
              </a:lnSpc>
              <a:spcAft>
                <a:spcPts val="0"/>
              </a:spcAft>
            </a:pPr>
            <a:r>
              <a:rPr sz="1450" b="1">
                <a:solidFill>
                  <a:srgbClr val="008E96"/>
                </a:solidFill>
                <a:latin typeface="Arial"/>
                <a:ea typeface="Arial"/>
                <a:cs typeface="Arial"/>
              </a:rPr>
              <a:t>Soft interruption: model-driven yielding*</a:t>
            </a:r>
          </a:p>
        </p:txBody>
      </p:sp>
      <p:sp>
        <p:nvSpPr>
          <p:cNvPr id="116" name="TextBox 115"/>
          <p:cNvSpPr txBox="1"/>
          <p:nvPr/>
        </p:nvSpPr>
        <p:spPr>
          <a:xfrm>
            <a:off x="6318504" y="5843016"/>
            <a:ext cx="5065776" cy="393192"/>
          </a:xfrm>
          <a:prstGeom prst="rect">
            <a:avLst/>
          </a:prstGeom>
          <a:noFill/>
        </p:spPr>
        <p:txBody>
          <a:bodyPr wrap="square" lIns="0" rIns="0" tIns="0" bIns="0" anchor="t">
            <a:spAutoFit/>
          </a:bodyPr>
          <a:lstStyle/>
          <a:p>
            <a:pPr algn="l">
              <a:lnSpc>
                <a:spcPct val="110000"/>
              </a:lnSpc>
              <a:spcAft>
                <a:spcPts val="0"/>
              </a:spcAft>
            </a:pPr>
            <a:r>
              <a:rPr sz="1250" b="0">
                <a:solidFill>
                  <a:srgbClr val="142B45"/>
                </a:solidFill>
                <a:latin typeface="Arial"/>
                <a:ea typeface="Arial"/>
                <a:cs typeface="Arial"/>
              </a:rPr>
              <a:t>The model uses ongoing input + context to decide when to stop.</a:t>
            </a:r>
          </a:p>
          <a:p>
            <a:pPr algn="l">
              <a:lnSpc>
                <a:spcPct val="110000"/>
              </a:lnSpc>
              <a:spcAft>
                <a:spcPts val="0"/>
              </a:spcAft>
            </a:pPr>
            <a:r>
              <a:rPr sz="1250" b="0">
                <a:solidFill>
                  <a:srgbClr val="142B45"/>
                </a:solidFill>
                <a:latin typeface="Arial"/>
                <a:ea typeface="Arial"/>
                <a:cs typeface="Arial"/>
              </a:rPr>
              <a:t>*Depends on model capability.</a:t>
            </a:r>
          </a:p>
        </p:txBody>
      </p:sp>
      <p:pic>
        <p:nvPicPr>
          <p:cNvPr id="117" name="Picture 116" descr="Illustrative camera frame from a generated continuous conversation sequence; not a product screenshot."/>
          <p:cNvPicPr>
            <a:picLocks noChangeAspect="1"/>
          </p:cNvPicPr>
          <p:nvPr/>
        </p:nvPicPr>
        <p:blipFill>
          <a:blip r:embed="rId5"/>
          <a:srcRect l="400" r="86114" t="18000" b="39000"/>
          <a:stretch>
            <a:fillRect/>
          </a:stretch>
        </p:blipFill>
        <p:spPr>
          <a:xfrm>
            <a:off x="7744968" y="1773936"/>
            <a:ext cx="438912" cy="384048"/>
          </a:xfrm>
          <a:prstGeom prst="rect">
            <a:avLst/>
          </a:prstGeom>
        </p:spPr>
      </p:pic>
      <p:pic>
        <p:nvPicPr>
          <p:cNvPr id="118" name="Picture 117" descr="Illustrative camera frame from a generated continuous conversation sequence; not a product screenshot."/>
          <p:cNvPicPr>
            <a:picLocks noChangeAspect="1"/>
          </p:cNvPicPr>
          <p:nvPr/>
        </p:nvPicPr>
        <p:blipFill>
          <a:blip r:embed="rId5"/>
          <a:srcRect l="14686" r="71829" t="18000" b="39000"/>
          <a:stretch>
            <a:fillRect/>
          </a:stretch>
        </p:blipFill>
        <p:spPr>
          <a:xfrm>
            <a:off x="8247888" y="1773936"/>
            <a:ext cx="438912" cy="384048"/>
          </a:xfrm>
          <a:prstGeom prst="rect">
            <a:avLst/>
          </a:prstGeom>
        </p:spPr>
      </p:pic>
      <p:pic>
        <p:nvPicPr>
          <p:cNvPr id="119" name="Picture 118" descr="Illustrative camera frame from a generated continuous conversation sequence; not a product screenshot."/>
          <p:cNvPicPr>
            <a:picLocks noChangeAspect="1"/>
          </p:cNvPicPr>
          <p:nvPr/>
        </p:nvPicPr>
        <p:blipFill>
          <a:blip r:embed="rId5"/>
          <a:srcRect l="28971" r="57543" t="18000" b="39000"/>
          <a:stretch>
            <a:fillRect/>
          </a:stretch>
        </p:blipFill>
        <p:spPr>
          <a:xfrm>
            <a:off x="8750808" y="1773936"/>
            <a:ext cx="438912" cy="384048"/>
          </a:xfrm>
          <a:prstGeom prst="rect">
            <a:avLst/>
          </a:prstGeom>
        </p:spPr>
      </p:pic>
      <p:pic>
        <p:nvPicPr>
          <p:cNvPr id="120" name="Picture 119" descr="Illustrative camera frame from a generated continuous conversation sequence; not a product screenshot."/>
          <p:cNvPicPr>
            <a:picLocks noChangeAspect="1"/>
          </p:cNvPicPr>
          <p:nvPr/>
        </p:nvPicPr>
        <p:blipFill>
          <a:blip r:embed="rId5"/>
          <a:srcRect l="43257" r="43257" t="18000" b="39000"/>
          <a:stretch>
            <a:fillRect/>
          </a:stretch>
        </p:blipFill>
        <p:spPr>
          <a:xfrm>
            <a:off x="9253728" y="1773936"/>
            <a:ext cx="438912" cy="384048"/>
          </a:xfrm>
          <a:prstGeom prst="rect">
            <a:avLst/>
          </a:prstGeom>
        </p:spPr>
      </p:pic>
      <p:pic>
        <p:nvPicPr>
          <p:cNvPr id="121" name="Picture 120" descr="Illustrative camera frame from a generated continuous conversation sequence; not a product screenshot."/>
          <p:cNvPicPr>
            <a:picLocks noChangeAspect="1"/>
          </p:cNvPicPr>
          <p:nvPr/>
        </p:nvPicPr>
        <p:blipFill>
          <a:blip r:embed="rId5"/>
          <a:srcRect l="57543" r="28971" t="18000" b="39000"/>
          <a:stretch>
            <a:fillRect/>
          </a:stretch>
        </p:blipFill>
        <p:spPr>
          <a:xfrm>
            <a:off x="9756648" y="1773936"/>
            <a:ext cx="438912" cy="384048"/>
          </a:xfrm>
          <a:prstGeom prst="rect">
            <a:avLst/>
          </a:prstGeom>
        </p:spPr>
      </p:pic>
      <p:pic>
        <p:nvPicPr>
          <p:cNvPr id="122" name="Picture 121" descr="Illustrative camera frame from a generated continuous conversation sequence; not a product screenshot."/>
          <p:cNvPicPr>
            <a:picLocks noChangeAspect="1"/>
          </p:cNvPicPr>
          <p:nvPr/>
        </p:nvPicPr>
        <p:blipFill>
          <a:blip r:embed="rId5"/>
          <a:srcRect l="71829" r="14686" t="18000" b="39000"/>
          <a:stretch>
            <a:fillRect/>
          </a:stretch>
        </p:blipFill>
        <p:spPr>
          <a:xfrm>
            <a:off x="10259568" y="1773936"/>
            <a:ext cx="438912" cy="384048"/>
          </a:xfrm>
          <a:prstGeom prst="rect">
            <a:avLst/>
          </a:prstGeom>
        </p:spPr>
      </p:pic>
      <p:pic>
        <p:nvPicPr>
          <p:cNvPr id="123" name="Picture 122" descr="Illustrative camera frame from a generated continuous conversation sequence; not a product screenshot."/>
          <p:cNvPicPr>
            <a:picLocks noChangeAspect="1"/>
          </p:cNvPicPr>
          <p:nvPr/>
        </p:nvPicPr>
        <p:blipFill>
          <a:blip r:embed="rId5"/>
          <a:srcRect l="86114" r="400" t="18000" b="39000"/>
          <a:stretch>
            <a:fillRect/>
          </a:stretch>
        </p:blipFill>
        <p:spPr>
          <a:xfrm>
            <a:off x="10762488" y="1773936"/>
            <a:ext cx="438912" cy="384048"/>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How models handle live interaction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Web demo examples: model decisions, Server VAD and client controls shape the interaction.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03 / 12</a:t>
            </a:r>
          </a:p>
        </p:txBody>
      </p:sp>
      <p:sp>
        <p:nvSpPr>
          <p:cNvPr id="12" name="TextBox 11"/>
          <p:cNvSpPr txBox="1"/>
          <p:nvPr/>
        </p:nvSpPr>
        <p:spPr>
          <a:xfrm>
            <a:off x="722376" y="2103120"/>
            <a:ext cx="1874519"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807208" y="2103120"/>
            <a:ext cx="437083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INTERACTION</a:t>
            </a:r>
          </a:p>
        </p:txBody>
      </p:sp>
      <p:sp>
        <p:nvSpPr>
          <p:cNvPr id="14" name="TextBox 13"/>
          <p:cNvSpPr txBox="1"/>
          <p:nvPr/>
        </p:nvSpPr>
        <p:spPr>
          <a:xfrm>
            <a:off x="7406640" y="2103120"/>
            <a:ext cx="3904487"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WHAT HAPPENS</a:t>
            </a:r>
          </a:p>
        </p:txBody>
      </p:sp>
      <p:sp>
        <p:nvSpPr>
          <p:cNvPr id="15" name="Rounded Rectangle 14"/>
          <p:cNvSpPr/>
          <p:nvPr/>
        </p:nvSpPr>
        <p:spPr>
          <a:xfrm>
            <a:off x="548640" y="2404872"/>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22376" y="2496312"/>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MiniCPM-o 4.5</a:t>
            </a:r>
          </a:p>
        </p:txBody>
      </p:sp>
      <p:sp>
        <p:nvSpPr>
          <p:cNvPr id="17" name="TextBox 16"/>
          <p:cNvSpPr txBox="1"/>
          <p:nvPr/>
        </p:nvSpPr>
        <p:spPr>
          <a:xfrm>
            <a:off x="2807208" y="2496312"/>
            <a:ext cx="4370832"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Continuous speech and video input</a:t>
            </a:r>
          </a:p>
          <a:p>
            <a:pPr algn="l">
              <a:lnSpc>
                <a:spcPct val="110000"/>
              </a:lnSpc>
              <a:spcAft>
                <a:spcPts val="0"/>
              </a:spcAft>
            </a:pPr>
            <a:r>
              <a:rPr sz="1200" b="0">
                <a:solidFill>
                  <a:srgbClr val="142B45"/>
                </a:solidFill>
                <a:latin typeface="Arial"/>
                <a:ea typeface="Arial"/>
                <a:cs typeface="Arial"/>
              </a:rPr>
              <a:t>Model decides LISTEN / SPEAK</a:t>
            </a:r>
          </a:p>
        </p:txBody>
      </p:sp>
      <p:sp>
        <p:nvSpPr>
          <p:cNvPr id="18" name="TextBox 17"/>
          <p:cNvSpPr txBox="1"/>
          <p:nvPr/>
        </p:nvSpPr>
        <p:spPr>
          <a:xfrm>
            <a:off x="7406640" y="2496312"/>
            <a:ext cx="3904487"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Listen or respond within the live session</a:t>
            </a:r>
          </a:p>
          <a:p>
            <a:pPr algn="l">
              <a:lnSpc>
                <a:spcPct val="110000"/>
              </a:lnSpc>
              <a:spcAft>
                <a:spcPts val="0"/>
              </a:spcAft>
            </a:pPr>
            <a:r>
              <a:rPr sz="1200" b="0">
                <a:solidFill>
                  <a:srgbClr val="142B45"/>
                </a:solidFill>
                <a:latin typeface="Arial"/>
                <a:ea typeface="Arial"/>
                <a:cs typeface="Arial"/>
              </a:rPr>
              <a:t>No Server VAD required by default</a:t>
            </a:r>
          </a:p>
        </p:txBody>
      </p:sp>
      <p:sp>
        <p:nvSpPr>
          <p:cNvPr id="19" name="Rounded Rectangle 18"/>
          <p:cNvSpPr/>
          <p:nvPr/>
        </p:nvSpPr>
        <p:spPr>
          <a:xfrm>
            <a:off x="548640" y="3154679"/>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22376" y="3246120"/>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Qwen3-Omni</a:t>
            </a:r>
          </a:p>
        </p:txBody>
      </p:sp>
      <p:sp>
        <p:nvSpPr>
          <p:cNvPr id="21" name="TextBox 20"/>
          <p:cNvSpPr txBox="1"/>
          <p:nvPr/>
        </p:nvSpPr>
        <p:spPr>
          <a:xfrm>
            <a:off x="2807208" y="3246120"/>
            <a:ext cx="4370832"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Server VAD detects user speech</a:t>
            </a:r>
          </a:p>
          <a:p>
            <a:pPr algn="l">
              <a:lnSpc>
                <a:spcPct val="110000"/>
              </a:lnSpc>
              <a:spcAft>
                <a:spcPts val="0"/>
              </a:spcAft>
            </a:pPr>
            <a:r>
              <a:rPr sz="1200" b="0">
                <a:solidFill>
                  <a:srgbClr val="142B45"/>
                </a:solidFill>
                <a:latin typeface="Arial"/>
                <a:ea typeface="Arial"/>
                <a:cs typeface="Arial"/>
              </a:rPr>
              <a:t>Microphone input stays active</a:t>
            </a:r>
          </a:p>
        </p:txBody>
      </p:sp>
      <p:sp>
        <p:nvSpPr>
          <p:cNvPr id="22" name="TextBox 21"/>
          <p:cNvSpPr txBox="1"/>
          <p:nvPr/>
        </p:nvSpPr>
        <p:spPr>
          <a:xfrm>
            <a:off x="7406640" y="3246120"/>
            <a:ext cx="3904487"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Stop queued playback</a:t>
            </a:r>
          </a:p>
          <a:p>
            <a:pPr algn="l">
              <a:lnSpc>
                <a:spcPct val="110000"/>
              </a:lnSpc>
              <a:spcAft>
                <a:spcPts val="0"/>
              </a:spcAft>
            </a:pPr>
            <a:r>
              <a:rPr sz="1200" b="0">
                <a:solidFill>
                  <a:srgbClr val="142B45"/>
                </a:solidFill>
                <a:latin typeface="Arial"/>
                <a:ea typeface="Arial"/>
                <a:cs typeface="Arial"/>
              </a:rPr>
              <a:t>Interrupt the current response*</a:t>
            </a:r>
          </a:p>
        </p:txBody>
      </p:sp>
      <p:sp>
        <p:nvSpPr>
          <p:cNvPr id="23" name="Rounded Rectangle 22"/>
          <p:cNvSpPr/>
          <p:nvPr/>
        </p:nvSpPr>
        <p:spPr>
          <a:xfrm>
            <a:off x="548640" y="3904488"/>
            <a:ext cx="11082528" cy="64008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22376" y="3995928"/>
            <a:ext cx="1874519" cy="502920"/>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AURA</a:t>
            </a:r>
          </a:p>
        </p:txBody>
      </p:sp>
      <p:sp>
        <p:nvSpPr>
          <p:cNvPr id="25" name="TextBox 24"/>
          <p:cNvSpPr txBox="1"/>
          <p:nvPr/>
        </p:nvSpPr>
        <p:spPr>
          <a:xfrm>
            <a:off x="2807208" y="3995928"/>
            <a:ext cx="4370832"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Hold to talk; release to submit</a:t>
            </a:r>
          </a:p>
          <a:p>
            <a:pPr algn="l">
              <a:lnSpc>
                <a:spcPct val="110000"/>
              </a:lnSpc>
              <a:spcAft>
                <a:spcPts val="0"/>
              </a:spcAft>
            </a:pPr>
            <a:r>
              <a:rPr sz="1200" b="0">
                <a:solidFill>
                  <a:srgbClr val="142B45"/>
                </a:solidFill>
                <a:latin typeface="Arial"/>
                <a:ea typeface="Arial"/>
                <a:cs typeface="Arial"/>
              </a:rPr>
              <a:t>new audio / video input</a:t>
            </a:r>
          </a:p>
        </p:txBody>
      </p:sp>
      <p:sp>
        <p:nvSpPr>
          <p:cNvPr id="26" name="TextBox 25"/>
          <p:cNvSpPr txBox="1"/>
          <p:nvPr/>
        </p:nvSpPr>
        <p:spPr>
          <a:xfrm>
            <a:off x="7406640" y="3995928"/>
            <a:ext cx="3904487" cy="50292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Holding stops local playback</a:t>
            </a:r>
          </a:p>
          <a:p>
            <a:pPr algn="l">
              <a:lnSpc>
                <a:spcPct val="110000"/>
              </a:lnSpc>
              <a:spcAft>
                <a:spcPts val="0"/>
              </a:spcAft>
            </a:pPr>
            <a:r>
              <a:rPr sz="1200" b="0">
                <a:solidFill>
                  <a:srgbClr val="142B45"/>
                </a:solidFill>
                <a:latin typeface="Arial"/>
                <a:ea typeface="Arial"/>
                <a:cs typeface="Arial"/>
              </a:rPr>
              <a:t>Server generation can continue</a:t>
            </a:r>
          </a:p>
        </p:txBody>
      </p:sp>
      <p:sp>
        <p:nvSpPr>
          <p:cNvPr id="27" name="TextBox 26"/>
          <p:cNvSpPr txBox="1"/>
          <p:nvPr/>
        </p:nvSpPr>
        <p:spPr>
          <a:xfrm>
            <a:off x="722376" y="4800600"/>
            <a:ext cx="107442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Applications can add explicit response.cancel for server-side cancellation.</a:t>
            </a:r>
          </a:p>
        </p:txBody>
      </p:sp>
      <p:sp>
        <p:nvSpPr>
          <p:cNvPr id="28" name="Rounded Rectangle 27"/>
          <p:cNvSpPr/>
          <p:nvPr/>
        </p:nvSpPr>
        <p:spPr>
          <a:xfrm>
            <a:off x="54864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5800" y="527608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MODEL YIELDING</a:t>
            </a:r>
          </a:p>
        </p:txBody>
      </p:sp>
      <p:sp>
        <p:nvSpPr>
          <p:cNvPr id="30" name="TextBox 29"/>
          <p:cNvSpPr txBox="1"/>
          <p:nvPr/>
        </p:nvSpPr>
        <p:spPr>
          <a:xfrm>
            <a:off x="685800" y="555040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The model switches to listening</a:t>
            </a:r>
          </a:p>
          <a:p>
            <a:pPr algn="l">
              <a:lnSpc>
                <a:spcPct val="110000"/>
              </a:lnSpc>
              <a:spcAft>
                <a:spcPts val="0"/>
              </a:spcAft>
            </a:pPr>
            <a:r>
              <a:rPr sz="1050" b="0">
                <a:solidFill>
                  <a:srgbClr val="142B45"/>
                </a:solidFill>
                <a:latin typeface="Arial"/>
                <a:ea typeface="Arial"/>
                <a:cs typeface="Arial"/>
              </a:rPr>
              <a:t>LISTEN is not response.cancel</a:t>
            </a:r>
          </a:p>
        </p:txBody>
      </p:sp>
      <p:sp>
        <p:nvSpPr>
          <p:cNvPr id="32" name="Rounded Rectangle 31"/>
          <p:cNvSpPr/>
          <p:nvPr/>
        </p:nvSpPr>
        <p:spPr>
          <a:xfrm>
            <a:off x="438912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4526280" y="527608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LOCAL PLAYBACK STOP</a:t>
            </a:r>
          </a:p>
        </p:txBody>
      </p:sp>
      <p:sp>
        <p:nvSpPr>
          <p:cNvPr id="34" name="TextBox 33"/>
          <p:cNvSpPr txBox="1"/>
          <p:nvPr/>
        </p:nvSpPr>
        <p:spPr>
          <a:xfrm>
            <a:off x="4526280" y="555040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Stop what the user hears</a:t>
            </a:r>
          </a:p>
          <a:p>
            <a:pPr algn="l">
              <a:lnSpc>
                <a:spcPct val="110000"/>
              </a:lnSpc>
              <a:spcAft>
                <a:spcPts val="0"/>
              </a:spcAft>
            </a:pPr>
            <a:r>
              <a:rPr sz="1050" b="0">
                <a:solidFill>
                  <a:srgbClr val="142B45"/>
                </a:solidFill>
                <a:latin typeface="Arial"/>
                <a:ea typeface="Arial"/>
                <a:cs typeface="Arial"/>
              </a:rPr>
              <a:t>Generation may continue</a:t>
            </a:r>
          </a:p>
        </p:txBody>
      </p:sp>
      <p:sp>
        <p:nvSpPr>
          <p:cNvPr id="36" name="Rounded Rectangle 35"/>
          <p:cNvSpPr/>
          <p:nvPr/>
        </p:nvSpPr>
        <p:spPr>
          <a:xfrm>
            <a:off x="8229600" y="5184648"/>
            <a:ext cx="3401568" cy="713232"/>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366760" y="5276088"/>
            <a:ext cx="3127248" cy="219456"/>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SERVER CANCELLATION</a:t>
            </a:r>
          </a:p>
        </p:txBody>
      </p:sp>
      <p:sp>
        <p:nvSpPr>
          <p:cNvPr id="38" name="TextBox 37"/>
          <p:cNvSpPr txBox="1"/>
          <p:nvPr/>
        </p:nvSpPr>
        <p:spPr>
          <a:xfrm>
            <a:off x="8366760" y="5550408"/>
            <a:ext cx="3127248" cy="31089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Cancel the current response</a:t>
            </a:r>
          </a:p>
          <a:p>
            <a:pPr algn="l">
              <a:lnSpc>
                <a:spcPct val="110000"/>
              </a:lnSpc>
              <a:spcAft>
                <a:spcPts val="0"/>
              </a:spcAft>
            </a:pPr>
            <a:r>
              <a:rPr sz="1050" b="0">
                <a:solidFill>
                  <a:srgbClr val="142B45"/>
                </a:solidFill>
                <a:latin typeface="Arial"/>
                <a:ea typeface="Arial"/>
                <a:cs typeface="Arial"/>
              </a:rPr>
              <a:t>Client clears queued audio</a:t>
            </a:r>
          </a:p>
        </p:txBody>
      </p:sp>
      <p:sp>
        <p:nvSpPr>
          <p:cNvPr id="39" name="TextBox 38"/>
          <p:cNvSpPr txBox="1"/>
          <p:nvPr/>
        </p:nvSpPr>
        <p:spPr>
          <a:xfrm>
            <a:off x="722376" y="6153912"/>
            <a:ext cx="10744200" cy="210312"/>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 Server VAD interruption requires interrupt_response. Behavior depends on the model and selected demo profile.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EXPERIENCE &amp; INTERACTION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000" b="1">
                <a:solidFill>
                  <a:srgbClr val="142B45"/>
                </a:solidFill>
                <a:latin typeface="Arial"/>
                <a:ea typeface="Arial"/>
                <a:cs typeface="Arial"/>
              </a:rPr>
              <a:t>Interfaces, interaction modes and model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04 / 12</a:t>
            </a:r>
          </a:p>
        </p:txBody>
      </p:sp>
      <p:sp>
        <p:nvSpPr>
          <p:cNvPr id="200" name="The interface carries the conversation; the execution mode determines how the model processes input."/>
          <p:cNvSpPr txBox="1"/>
          <p:nvPr/>
        </p:nvSpPr>
        <p:spPr>
          <a:xfrm>
            <a:off x="576072" y="1645920"/>
            <a:ext cx="10972800" cy="411480"/>
          </a:xfrm>
          <a:prstGeom prst="rect">
            <a:avLst/>
          </a:prstGeom>
          <a:noFill/>
          <a:ln w="12700">
            <a:noFill/>
          </a:ln>
        </p:spPr>
        <p:txBody>
          <a:bodyPr wrap="square" lIns="0" rIns="0" tIns="0" bIns="0" anchor="t">
            <a:noAutofit/>
          </a:bodyPr>
          <a:lstStyle/>
          <a:p>
            <a:pPr algn="l">
              <a:lnSpc>
                <a:spcPct val="106000"/>
              </a:lnSpc>
              <a:spcAft>
                <a:spcPts val="0"/>
              </a:spcAft>
            </a:pPr>
            <a:r>
              <a:rPr sz="1720" b="0">
                <a:solidFill>
                  <a:srgbClr val="586B7E"/>
                </a:solidFill>
                <a:latin typeface="Arial"/>
                <a:ea typeface="Arial"/>
                <a:cs typeface="Arial"/>
              </a:rPr>
              <a:t>The interface carries the conversation; the execution mode determines how the model processes input.</a:t>
            </a:r>
          </a:p>
        </p:txBody>
      </p:sp>
      <p:sp>
        <p:nvSpPr>
          <p:cNvPr id="201" name="Interface"/>
          <p:cNvSpPr txBox="1"/>
          <p:nvPr/>
        </p:nvSpPr>
        <p:spPr>
          <a:xfrm>
            <a:off x="585216" y="235000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Interface</a:t>
            </a:r>
          </a:p>
        </p:txBody>
      </p:sp>
      <p:sp>
        <p:nvSpPr>
          <p:cNvPr id="202" name="Interaction"/>
          <p:cNvSpPr txBox="1"/>
          <p:nvPr/>
        </p:nvSpPr>
        <p:spPr>
          <a:xfrm>
            <a:off x="585216" y="3255264"/>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Interaction</a:t>
            </a:r>
          </a:p>
        </p:txBody>
      </p:sp>
      <p:sp>
        <p:nvSpPr>
          <p:cNvPr id="203" name="Execution"/>
          <p:cNvSpPr txBox="1"/>
          <p:nvPr/>
        </p:nvSpPr>
        <p:spPr>
          <a:xfrm>
            <a:off x="585216" y="4270248"/>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Execution</a:t>
            </a:r>
          </a:p>
        </p:txBody>
      </p:sp>
      <p:sp>
        <p:nvSpPr>
          <p:cNvPr id="204" name="Models"/>
          <p:cNvSpPr txBox="1"/>
          <p:nvPr/>
        </p:nvSpPr>
        <p:spPr>
          <a:xfrm>
            <a:off x="585216" y="5248656"/>
            <a:ext cx="1280160" cy="256032"/>
          </a:xfrm>
          <a:prstGeom prst="rect">
            <a:avLst/>
          </a:prstGeom>
          <a:noFill/>
          <a:ln w="12700">
            <a:noFill/>
          </a:ln>
        </p:spPr>
        <p:txBody>
          <a:bodyPr wrap="square" lIns="0" rIns="0" tIns="0" bIns="0" anchor="t">
            <a:noAutofit/>
          </a:bodyPr>
          <a:lstStyle/>
          <a:p>
            <a:pPr algn="l">
              <a:lnSpc>
                <a:spcPct val="106000"/>
              </a:lnSpc>
              <a:spcAft>
                <a:spcPts val="0"/>
              </a:spcAft>
            </a:pPr>
            <a:r>
              <a:rPr sz="1300" b="1">
                <a:solidFill>
                  <a:srgbClr val="586B7E"/>
                </a:solidFill>
                <a:latin typeface="Arial"/>
                <a:ea typeface="Arial"/>
                <a:cs typeface="Arial"/>
              </a:rPr>
              <a:t>Models</a:t>
            </a:r>
          </a:p>
        </p:txBody>
      </p:sp>
      <p:cxnSp>
        <p:nvCxnSpPr>
          <p:cNvPr id="205" name="Hierarchy connector"/>
          <p:cNvCxnSpPr/>
          <p:nvPr/>
        </p:nvCxnSpPr>
        <p:spPr>
          <a:xfrm>
            <a:off x="3328416" y="3063240"/>
            <a:ext cx="0" cy="91440"/>
          </a:xfrm>
          <a:prstGeom prst="line">
            <a:avLst/>
          </a:prstGeom>
          <a:ln w="16510">
            <a:solidFill>
              <a:srgbClr val="879DB5"/>
            </a:solidFill>
            <a:tailEnd type="triangle" w="sm" len="sm"/>
          </a:ln>
        </p:spPr>
      </p:cxnSp>
      <p:cxnSp>
        <p:nvCxnSpPr>
          <p:cNvPr id="206" name="Hierarchy connector"/>
          <p:cNvCxnSpPr/>
          <p:nvPr/>
        </p:nvCxnSpPr>
        <p:spPr>
          <a:xfrm>
            <a:off x="8385048" y="3063240"/>
            <a:ext cx="0" cy="91440"/>
          </a:xfrm>
          <a:prstGeom prst="line">
            <a:avLst/>
          </a:prstGeom>
          <a:ln w="16510">
            <a:solidFill>
              <a:srgbClr val="879DB5"/>
            </a:solidFill>
            <a:tailEnd type="triangle" w="sm" len="sm"/>
          </a:ln>
        </p:spPr>
      </p:cxnSp>
      <p:cxnSp>
        <p:nvCxnSpPr>
          <p:cNvPr id="207" name="Hierarchy connector"/>
          <p:cNvCxnSpPr/>
          <p:nvPr/>
        </p:nvCxnSpPr>
        <p:spPr>
          <a:xfrm>
            <a:off x="8385048" y="3685032"/>
            <a:ext cx="0" cy="192024"/>
          </a:xfrm>
          <a:prstGeom prst="line">
            <a:avLst/>
          </a:prstGeom>
          <a:ln w="16510">
            <a:solidFill>
              <a:srgbClr val="879DB5"/>
            </a:solidFill>
          </a:ln>
        </p:spPr>
      </p:cxnSp>
      <p:cxnSp>
        <p:nvCxnSpPr>
          <p:cNvPr id="208" name="Hierarchy connector"/>
          <p:cNvCxnSpPr/>
          <p:nvPr/>
        </p:nvCxnSpPr>
        <p:spPr>
          <a:xfrm>
            <a:off x="6574536" y="3877056"/>
            <a:ext cx="3557016" cy="0"/>
          </a:xfrm>
          <a:prstGeom prst="line">
            <a:avLst/>
          </a:prstGeom>
          <a:ln w="16510">
            <a:solidFill>
              <a:srgbClr val="879DB5"/>
            </a:solidFill>
          </a:ln>
        </p:spPr>
      </p:cxnSp>
      <p:cxnSp>
        <p:nvCxnSpPr>
          <p:cNvPr id="209" name="Hierarchy connector"/>
          <p:cNvCxnSpPr/>
          <p:nvPr/>
        </p:nvCxnSpPr>
        <p:spPr>
          <a:xfrm>
            <a:off x="6574536" y="3877056"/>
            <a:ext cx="0" cy="182880"/>
          </a:xfrm>
          <a:prstGeom prst="line">
            <a:avLst/>
          </a:prstGeom>
          <a:ln w="16510">
            <a:solidFill>
              <a:srgbClr val="347BDE"/>
            </a:solidFill>
            <a:tailEnd type="triangle" w="sm" len="sm"/>
          </a:ln>
        </p:spPr>
      </p:cxnSp>
      <p:cxnSp>
        <p:nvCxnSpPr>
          <p:cNvPr id="210" name="Hierarchy connector"/>
          <p:cNvCxnSpPr/>
          <p:nvPr/>
        </p:nvCxnSpPr>
        <p:spPr>
          <a:xfrm>
            <a:off x="10131552" y="3877056"/>
            <a:ext cx="0" cy="182880"/>
          </a:xfrm>
          <a:prstGeom prst="line">
            <a:avLst/>
          </a:prstGeom>
          <a:ln w="16510">
            <a:solidFill>
              <a:srgbClr val="008E96"/>
            </a:solidFill>
            <a:tailEnd type="triangle" w="sm" len="sm"/>
          </a:ln>
        </p:spPr>
      </p:cxnSp>
      <p:cxnSp>
        <p:nvCxnSpPr>
          <p:cNvPr id="211" name="Hierarchy connector"/>
          <p:cNvCxnSpPr/>
          <p:nvPr/>
        </p:nvCxnSpPr>
        <p:spPr>
          <a:xfrm>
            <a:off x="6574536" y="4937760"/>
            <a:ext cx="0" cy="210312"/>
          </a:xfrm>
          <a:prstGeom prst="line">
            <a:avLst/>
          </a:prstGeom>
          <a:ln w="16510">
            <a:solidFill>
              <a:srgbClr val="347BDE"/>
            </a:solidFill>
            <a:tailEnd type="triangle" w="sm" len="sm"/>
          </a:ln>
        </p:spPr>
      </p:cxnSp>
      <p:cxnSp>
        <p:nvCxnSpPr>
          <p:cNvPr id="212" name="Hierarchy connector"/>
          <p:cNvCxnSpPr/>
          <p:nvPr/>
        </p:nvCxnSpPr>
        <p:spPr>
          <a:xfrm>
            <a:off x="10131552" y="4937760"/>
            <a:ext cx="0" cy="210312"/>
          </a:xfrm>
          <a:prstGeom prst="line">
            <a:avLst/>
          </a:prstGeom>
          <a:ln w="16510">
            <a:solidFill>
              <a:srgbClr val="008E96"/>
            </a:solidFill>
            <a:tailEnd type="triangle" w="sm" len="sm"/>
          </a:ln>
        </p:spPr>
      </p:cxnSp>
      <p:cxnSp>
        <p:nvCxnSpPr>
          <p:cNvPr id="213" name="Hierarchy connector"/>
          <p:cNvCxnSpPr/>
          <p:nvPr/>
        </p:nvCxnSpPr>
        <p:spPr>
          <a:xfrm>
            <a:off x="3328416" y="3685032"/>
            <a:ext cx="0" cy="338328"/>
          </a:xfrm>
          <a:prstGeom prst="line">
            <a:avLst/>
          </a:prstGeom>
          <a:ln w="16510">
            <a:solidFill>
              <a:srgbClr val="879DB5"/>
            </a:solidFill>
            <a:tailEnd type="triangle" w="sm" len="sm"/>
          </a:ln>
        </p:spPr>
      </p:cxnSp>
      <p:cxnSp>
        <p:nvCxnSpPr>
          <p:cNvPr id="214" name="Hierarchy connector"/>
          <p:cNvCxnSpPr/>
          <p:nvPr/>
        </p:nvCxnSpPr>
        <p:spPr>
          <a:xfrm>
            <a:off x="3328416" y="4681728"/>
            <a:ext cx="0" cy="466344"/>
          </a:xfrm>
          <a:prstGeom prst="line">
            <a:avLst/>
          </a:prstGeom>
          <a:ln w="16510">
            <a:solidFill>
              <a:srgbClr val="879DB5"/>
            </a:solidFill>
            <a:tailEnd type="triangle" w="sm" len="sm"/>
          </a:ln>
        </p:spPr>
      </p:cxnSp>
      <p:sp>
        <p:nvSpPr>
          <p:cNvPr id="215" name="Chat Completions interface"/>
          <p:cNvSpPr txBox="0"/>
          <p:nvPr/>
        </p:nvSpPr>
        <p:spPr>
          <a:xfrm>
            <a:off x="1938528" y="2057400"/>
            <a:ext cx="2788920" cy="1005840"/>
          </a:xfrm>
          <a:prstGeom prst="roundRect">
            <a:avLst>
              <a:gd name="adj" fmla="val 8000"/>
            </a:avLst>
          </a:prstGeom>
          <a:solidFill>
            <a:srgbClr val="F3F6FA"/>
          </a:solidFill>
          <a:ln w="12700">
            <a:solidFill>
              <a:srgbClr val="9EAFBF"/>
            </a:solidFill>
          </a:ln>
        </p:spPr>
      </p:sp>
      <p:sp>
        <p:nvSpPr>
          <p:cNvPr id="216" name="Chat Completions"/>
          <p:cNvSpPr txBox="1"/>
          <p:nvPr/>
        </p:nvSpPr>
        <p:spPr>
          <a:xfrm>
            <a:off x="2075688" y="2276856"/>
            <a:ext cx="2514600" cy="274320"/>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Chat Completions</a:t>
            </a:r>
          </a:p>
        </p:txBody>
      </p:sp>
      <p:sp>
        <p:nvSpPr>
          <p:cNvPr id="217" name="/v1/chat/completions"/>
          <p:cNvSpPr txBox="1"/>
          <p:nvPr/>
        </p:nvSpPr>
        <p:spPr>
          <a:xfrm>
            <a:off x="2066544" y="2633472"/>
            <a:ext cx="2532888"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/v1/chat/completions</a:t>
            </a:r>
          </a:p>
        </p:txBody>
      </p:sp>
      <p:sp>
        <p:nvSpPr>
          <p:cNvPr id="218" name="Realtime Duplex interface"/>
          <p:cNvSpPr txBox="0"/>
          <p:nvPr/>
        </p:nvSpPr>
        <p:spPr>
          <a:xfrm>
            <a:off x="5138928" y="2057400"/>
            <a:ext cx="6492240" cy="1005840"/>
          </a:xfrm>
          <a:prstGeom prst="roundRect">
            <a:avLst>
              <a:gd name="adj" fmla="val 8000"/>
            </a:avLst>
          </a:prstGeom>
          <a:solidFill>
            <a:srgbClr val="EDF4FF"/>
          </a:solidFill>
          <a:ln w="12700">
            <a:solidFill>
              <a:srgbClr val="98B5DD"/>
            </a:solidFill>
          </a:ln>
        </p:spPr>
      </p:sp>
      <p:sp>
        <p:nvSpPr>
          <p:cNvPr id="219" name="Realtime Duplex"/>
          <p:cNvSpPr txBox="1"/>
          <p:nvPr/>
        </p:nvSpPr>
        <p:spPr>
          <a:xfrm>
            <a:off x="5330952" y="2103120"/>
            <a:ext cx="6108192" cy="256032"/>
          </a:xfrm>
          <a:prstGeom prst="rect">
            <a:avLst/>
          </a:prstGeom>
          <a:noFill/>
          <a:ln w="12700">
            <a:noFill/>
          </a:ln>
        </p:spPr>
        <p:txBody>
          <a:bodyPr wrap="square" lIns="0" rIns="0" tIns="0" bIns="0" anchor="t">
            <a:noAutofit/>
          </a:bodyPr>
          <a:lstStyle/>
          <a:p>
            <a:pPr algn="ctr">
              <a:lnSpc>
                <a:spcPct val="106000"/>
              </a:lnSpc>
              <a:spcAft>
                <a:spcPts val="0"/>
              </a:spcAft>
            </a:pPr>
            <a:r>
              <a:rPr sz="1800" b="1">
                <a:solidFill>
                  <a:srgbClr val="16304E"/>
                </a:solidFill>
                <a:latin typeface="Arial"/>
                <a:ea typeface="Arial"/>
                <a:cs typeface="Arial"/>
              </a:rPr>
              <a:t>Realtime Duplex</a:t>
            </a:r>
          </a:p>
        </p:txBody>
      </p:sp>
      <p:sp>
        <p:nvSpPr>
          <p:cNvPr id="220" name="/v1/duplex  or  /v1/realtime?duplex=1"/>
          <p:cNvSpPr txBox="1"/>
          <p:nvPr/>
        </p:nvSpPr>
        <p:spPr>
          <a:xfrm>
            <a:off x="5330952" y="2395728"/>
            <a:ext cx="6108192" cy="192024"/>
          </a:xfrm>
          <a:prstGeom prst="rect">
            <a:avLst/>
          </a:prstGeom>
          <a:noFill/>
          <a:ln w="12700">
            <a:noFill/>
          </a:ln>
        </p:spPr>
        <p:txBody>
          <a:bodyPr wrap="square" lIns="0" rIns="0" tIns="0" bIns="0" anchor="t">
            <a:noAutofit/>
          </a:bodyPr>
          <a:lstStyle/>
          <a:p>
            <a:pPr algn="ctr">
              <a:lnSpc>
                <a:spcPct val="106000"/>
              </a:lnSpc>
              <a:spcAft>
                <a:spcPts val="0"/>
              </a:spcAft>
            </a:pPr>
            <a:r>
              <a:rPr sz="1220" b="0">
                <a:solidFill>
                  <a:srgbClr val="586B7E"/>
                </a:solidFill>
                <a:latin typeface="Arial"/>
                <a:ea typeface="Arial"/>
                <a:cs typeface="Arial"/>
              </a:rPr>
              <a:t>/v1/duplex  or  /v1/realtime?duplex=1</a:t>
            </a:r>
          </a:p>
        </p:txBody>
      </p:sp>
      <p:sp>
        <p:nvSpPr>
          <p:cNvPr id="221" name="Request-response interaction"/>
          <p:cNvSpPr txBox="0"/>
          <p:nvPr/>
        </p:nvSpPr>
        <p:spPr>
          <a:xfrm>
            <a:off x="1938528" y="3182112"/>
            <a:ext cx="2788920" cy="502920"/>
          </a:xfrm>
          <a:prstGeom prst="roundRect">
            <a:avLst>
              <a:gd name="adj" fmla="val 8000"/>
            </a:avLst>
          </a:prstGeom>
          <a:solidFill>
            <a:srgbClr val="F3F6FA"/>
          </a:solidFill>
          <a:ln w="12700">
            <a:solidFill>
              <a:srgbClr val="9EAFBF"/>
            </a:solidFill>
          </a:ln>
        </p:spPr>
      </p:sp>
      <p:sp>
        <p:nvSpPr>
          <p:cNvPr id="222" name="Request–response"/>
          <p:cNvSpPr txBox="1"/>
          <p:nvPr/>
        </p:nvSpPr>
        <p:spPr>
          <a:xfrm>
            <a:off x="2075688" y="3291840"/>
            <a:ext cx="2514600"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Request–response</a:t>
            </a:r>
          </a:p>
        </p:txBody>
      </p:sp>
      <p:sp>
        <p:nvSpPr>
          <p:cNvPr id="223" name="Duplex session interaction"/>
          <p:cNvSpPr txBox="0"/>
          <p:nvPr/>
        </p:nvSpPr>
        <p:spPr>
          <a:xfrm>
            <a:off x="5138928" y="3182112"/>
            <a:ext cx="6492240" cy="502920"/>
          </a:xfrm>
          <a:prstGeom prst="roundRect">
            <a:avLst>
              <a:gd name="adj" fmla="val 8000"/>
            </a:avLst>
          </a:prstGeom>
          <a:solidFill>
            <a:srgbClr val="EDF4FF"/>
          </a:solidFill>
          <a:ln w="12700">
            <a:solidFill>
              <a:srgbClr val="98B5DD"/>
            </a:solidFill>
          </a:ln>
        </p:spPr>
      </p:sp>
      <p:sp>
        <p:nvSpPr>
          <p:cNvPr id="224" name="Duplex session"/>
          <p:cNvSpPr txBox="1"/>
          <p:nvPr/>
        </p:nvSpPr>
        <p:spPr>
          <a:xfrm>
            <a:off x="5330952" y="3291840"/>
            <a:ext cx="6108192" cy="265176"/>
          </a:xfrm>
          <a:prstGeom prst="rect">
            <a:avLst/>
          </a:prstGeom>
          <a:noFill/>
          <a:ln w="12700">
            <a:noFill/>
          </a:ln>
        </p:spPr>
        <p:txBody>
          <a:bodyPr wrap="square" lIns="0" rIns="0" tIns="0" bIns="0" anchor="t">
            <a:noAutofit/>
          </a:bodyPr>
          <a:lstStyle/>
          <a:p>
            <a:pPr algn="ctr">
              <a:lnSpc>
                <a:spcPct val="106000"/>
              </a:lnSpc>
              <a:spcAft>
                <a:spcPts val="0"/>
              </a:spcAft>
            </a:pPr>
            <a:r>
              <a:rPr sz="1700" b="1">
                <a:solidFill>
                  <a:srgbClr val="16304E"/>
                </a:solidFill>
                <a:latin typeface="Arial"/>
                <a:ea typeface="Arial"/>
                <a:cs typeface="Arial"/>
              </a:rPr>
              <a:t>Duplex session</a:t>
            </a:r>
          </a:p>
        </p:txBody>
      </p:sp>
      <p:sp>
        <p:nvSpPr>
          <p:cNvPr id="225" name="A request returns a response;&#10;streaming is optional."/>
          <p:cNvSpPr txBox="1"/>
          <p:nvPr/>
        </p:nvSpPr>
        <p:spPr>
          <a:xfrm>
            <a:off x="2039112" y="4133088"/>
            <a:ext cx="2587752" cy="530352"/>
          </a:xfrm>
          <a:prstGeom prst="rect">
            <a:avLst/>
          </a:prstGeom>
          <a:noFill/>
          <a:ln w="12700">
            <a:noFill/>
          </a:ln>
        </p:spPr>
        <p:txBody>
          <a:bodyPr wrap="square" lIns="0" rIns="0" tIns="0" bIns="0" anchor="t">
            <a:noAutofit/>
          </a:bodyPr>
          <a:lstStyle/>
          <a:p>
            <a:pPr algn="ctr">
              <a:lnSpc>
                <a:spcPct val="106000"/>
              </a:lnSpc>
              <a:spcAft>
                <a:spcPts val="0"/>
              </a:spcAft>
            </a:pPr>
            <a:r>
              <a:rPr sz="1400" b="0">
                <a:solidFill>
                  <a:srgbClr val="586B7E"/>
                </a:solidFill>
                <a:latin typeface="Arial"/>
                <a:ea typeface="Arial"/>
                <a:cs typeface="Arial"/>
              </a:rPr>
              <a:t>A request returns a response;</a:t>
            </a:r>
          </a:p>
          <a:p>
            <a:pPr algn="ctr">
              <a:lnSpc>
                <a:spcPct val="106000"/>
              </a:lnSpc>
              <a:spcAft>
                <a:spcPts val="0"/>
              </a:spcAft>
            </a:pPr>
            <a:r>
              <a:rPr sz="1400" b="0">
                <a:solidFill>
                  <a:srgbClr val="586B7E"/>
                </a:solidFill>
                <a:latin typeface="Arial"/>
                <a:ea typeface="Arial"/>
                <a:cs typeface="Arial"/>
              </a:rPr>
              <a:t>streaming is optional.</a:t>
            </a:r>
          </a:p>
        </p:txBody>
      </p:sp>
      <p:sp>
        <p:nvSpPr>
          <p:cNvPr id="226" name="Native duplex execution"/>
          <p:cNvSpPr txBox="0"/>
          <p:nvPr/>
        </p:nvSpPr>
        <p:spPr>
          <a:xfrm>
            <a:off x="5138928" y="4087368"/>
            <a:ext cx="2871216" cy="850392"/>
          </a:xfrm>
          <a:prstGeom prst="roundRect">
            <a:avLst>
              <a:gd name="adj" fmla="val 8000"/>
            </a:avLst>
          </a:prstGeom>
          <a:solidFill>
            <a:srgbClr val="EDF4FF"/>
          </a:solidFill>
          <a:ln w="12700">
            <a:solidFill>
              <a:srgbClr val="98B5DD"/>
            </a:solidFill>
          </a:ln>
        </p:spPr>
      </p:sp>
      <p:sp>
        <p:nvSpPr>
          <p:cNvPr id="227" name="Native duplex execution"/>
          <p:cNvSpPr txBox="1"/>
          <p:nvPr/>
        </p:nvSpPr>
        <p:spPr>
          <a:xfrm>
            <a:off x="5266944" y="4187952"/>
            <a:ext cx="2615184"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307BDB"/>
                </a:solidFill>
                <a:latin typeface="Arial"/>
                <a:ea typeface="Arial"/>
                <a:cs typeface="Arial"/>
              </a:rPr>
              <a:t>Native duplex execution</a:t>
            </a:r>
          </a:p>
        </p:txBody>
      </p:sp>
      <p:sp>
        <p:nvSpPr>
          <p:cNvPr id="228" name="Continuous input and output&#10;within ongoing inference"/>
          <p:cNvSpPr txBox="1"/>
          <p:nvPr/>
        </p:nvSpPr>
        <p:spPr>
          <a:xfrm>
            <a:off x="5285232" y="4544568"/>
            <a:ext cx="2578608"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Continuous input and output</a:t>
            </a:r>
          </a:p>
          <a:p>
            <a:pPr algn="ctr">
              <a:lnSpc>
                <a:spcPct val="106000"/>
              </a:lnSpc>
              <a:spcAft>
                <a:spcPts val="0"/>
              </a:spcAft>
            </a:pPr>
            <a:r>
              <a:rPr sz="1200" b="0">
                <a:solidFill>
                  <a:srgbClr val="586B7E"/>
                </a:solidFill>
                <a:latin typeface="Arial"/>
                <a:ea typeface="Arial"/>
                <a:cs typeface="Arial"/>
              </a:rPr>
              <a:t>within ongoing inference</a:t>
            </a:r>
          </a:p>
        </p:txBody>
      </p:sp>
      <p:sp>
        <p:nvSpPr>
          <p:cNvPr id="229" name="Turn-based execution"/>
          <p:cNvSpPr txBox="0"/>
          <p:nvPr/>
        </p:nvSpPr>
        <p:spPr>
          <a:xfrm>
            <a:off x="8540496" y="4087368"/>
            <a:ext cx="3090672" cy="850392"/>
          </a:xfrm>
          <a:prstGeom prst="roundRect">
            <a:avLst>
              <a:gd name="adj" fmla="val 8000"/>
            </a:avLst>
          </a:prstGeom>
          <a:solidFill>
            <a:srgbClr val="EAF7F6"/>
          </a:solidFill>
          <a:ln w="12700">
            <a:solidFill>
              <a:srgbClr val="8FBAB9"/>
            </a:solidFill>
          </a:ln>
        </p:spPr>
      </p:sp>
      <p:sp>
        <p:nvSpPr>
          <p:cNvPr id="230" name="Turn-based execution"/>
          <p:cNvSpPr txBox="1"/>
          <p:nvPr/>
        </p:nvSpPr>
        <p:spPr>
          <a:xfrm>
            <a:off x="8677656" y="4187952"/>
            <a:ext cx="2816352" cy="274320"/>
          </a:xfrm>
          <a:prstGeom prst="rect">
            <a:avLst/>
          </a:prstGeom>
          <a:noFill/>
          <a:ln w="12700">
            <a:noFill/>
          </a:ln>
        </p:spPr>
        <p:txBody>
          <a:bodyPr wrap="square" lIns="0" rIns="0" tIns="0" bIns="0" anchor="t">
            <a:noAutofit/>
          </a:bodyPr>
          <a:lstStyle/>
          <a:p>
            <a:pPr algn="ctr">
              <a:lnSpc>
                <a:spcPct val="106000"/>
              </a:lnSpc>
              <a:spcAft>
                <a:spcPts val="0"/>
              </a:spcAft>
            </a:pPr>
            <a:r>
              <a:rPr sz="1620" b="1">
                <a:solidFill>
                  <a:srgbClr val="008E96"/>
                </a:solidFill>
                <a:latin typeface="Arial"/>
                <a:ea typeface="Arial"/>
                <a:cs typeface="Arial"/>
              </a:rPr>
              <a:t>Turn-based execution</a:t>
            </a:r>
          </a:p>
        </p:txBody>
      </p:sp>
      <p:sp>
        <p:nvSpPr>
          <p:cNvPr id="231" name="A new generation request&#10;for each committed turn"/>
          <p:cNvSpPr txBox="1"/>
          <p:nvPr/>
        </p:nvSpPr>
        <p:spPr>
          <a:xfrm>
            <a:off x="8695944" y="4544568"/>
            <a:ext cx="2779776" cy="356616"/>
          </a:xfrm>
          <a:prstGeom prst="rect">
            <a:avLst/>
          </a:prstGeom>
          <a:noFill/>
          <a:ln w="12700">
            <a:noFill/>
          </a:ln>
        </p:spPr>
        <p:txBody>
          <a:bodyPr wrap="square" lIns="0" rIns="0" tIns="0" bIns="0" anchor="t">
            <a:noAutofit/>
          </a:bodyPr>
          <a:lstStyle/>
          <a:p>
            <a:pPr algn="ctr">
              <a:lnSpc>
                <a:spcPct val="106000"/>
              </a:lnSpc>
              <a:spcAft>
                <a:spcPts val="0"/>
              </a:spcAft>
            </a:pPr>
            <a:r>
              <a:rPr sz="1200" b="0">
                <a:solidFill>
                  <a:srgbClr val="586B7E"/>
                </a:solidFill>
                <a:latin typeface="Arial"/>
                <a:ea typeface="Arial"/>
                <a:cs typeface="Arial"/>
              </a:rPr>
              <a:t>A new generation request</a:t>
            </a:r>
          </a:p>
          <a:p>
            <a:pPr algn="ctr">
              <a:lnSpc>
                <a:spcPct val="106000"/>
              </a:lnSpc>
              <a:spcAft>
                <a:spcPts val="0"/>
              </a:spcAft>
            </a:pPr>
            <a:r>
              <a:rPr sz="1200" b="0">
                <a:solidFill>
                  <a:srgbClr val="586B7E"/>
                </a:solidFill>
                <a:latin typeface="Arial"/>
                <a:ea typeface="Arial"/>
                <a:cs typeface="Arial"/>
              </a:rPr>
              <a:t>for each committed turn</a:t>
            </a:r>
          </a:p>
        </p:txBody>
      </p:sp>
      <p:sp>
        <p:nvSpPr>
          <p:cNvPr id="232" name="Qwen3-Omni&#10;MiniCPM-o 4.5 (turn mode)"/>
          <p:cNvSpPr txBox="1"/>
          <p:nvPr/>
        </p:nvSpPr>
        <p:spPr>
          <a:xfrm>
            <a:off x="2002536" y="5230368"/>
            <a:ext cx="2660904" cy="621792"/>
          </a:xfrm>
          <a:prstGeom prst="rect">
            <a:avLst/>
          </a:prstGeom>
          <a:noFill/>
          <a:ln w="12700">
            <a:noFill/>
          </a:ln>
        </p:spPr>
        <p:txBody>
          <a:bodyPr wrap="square" lIns="0" rIns="0" tIns="0" bIns="0" anchor="t">
            <a:noAutofit/>
          </a:bodyPr>
          <a:lstStyle/>
          <a:p>
            <a:pPr algn="ctr">
              <a:lnSpc>
                <a:spcPct val="106000"/>
              </a:lnSpc>
              <a:spcAft>
                <a:spcPts val="0"/>
              </a:spcAft>
            </a:pPr>
            <a:r>
              <a:rPr sz="1520" b="1">
                <a:solidFill>
                  <a:srgbClr val="16304E"/>
                </a:solidFill>
                <a:latin typeface="Arial"/>
                <a:ea typeface="Arial"/>
                <a:cs typeface="Arial"/>
              </a:rPr>
              <a:t>Qwen3-Omni</a:t>
            </a:r>
          </a:p>
          <a:p>
            <a:pPr algn="ctr">
              <a:lnSpc>
                <a:spcPct val="106000"/>
              </a:lnSpc>
              <a:spcAft>
                <a:spcPts val="0"/>
              </a:spcAft>
            </a:pPr>
            <a:r>
              <a:rPr sz="1520" b="1">
                <a:solidFill>
                  <a:srgbClr val="16304E"/>
                </a:solidFill>
                <a:latin typeface="Arial"/>
                <a:ea typeface="Arial"/>
                <a:cs typeface="Arial"/>
              </a:rPr>
              <a:t>MiniCPM-o 4.5 (turn mode)</a:t>
            </a:r>
          </a:p>
        </p:txBody>
      </p:sp>
      <p:sp>
        <p:nvSpPr>
          <p:cNvPr id="233" name="MiniCPM-o 4.5&#10;PersonaPlex&#10;Nemotron VoiceChat"/>
          <p:cNvSpPr txBox="1"/>
          <p:nvPr/>
        </p:nvSpPr>
        <p:spPr>
          <a:xfrm>
            <a:off x="5138928" y="5230368"/>
            <a:ext cx="2871216" cy="71323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MiniCPM-o 4.5</a:t>
            </a:r>
          </a:p>
          <a:p>
            <a:pPr algn="ctr">
              <a:lnSpc>
                <a:spcPct val="106000"/>
              </a:lnSpc>
              <a:spcAft>
                <a:spcPts val="0"/>
              </a:spcAft>
            </a:pPr>
            <a:r>
              <a:rPr sz="1510" b="1">
                <a:solidFill>
                  <a:srgbClr val="16304E"/>
                </a:solidFill>
                <a:latin typeface="Arial"/>
                <a:ea typeface="Arial"/>
                <a:cs typeface="Arial"/>
              </a:rPr>
              <a:t>PersonaPlex</a:t>
            </a:r>
          </a:p>
          <a:p>
            <a:pPr algn="ctr">
              <a:lnSpc>
                <a:spcPct val="106000"/>
              </a:lnSpc>
              <a:spcAft>
                <a:spcPts val="0"/>
              </a:spcAft>
            </a:pPr>
            <a:r>
              <a:rPr sz="1510" b="1">
                <a:solidFill>
                  <a:srgbClr val="16304E"/>
                </a:solidFill>
                <a:latin typeface="Arial"/>
                <a:ea typeface="Arial"/>
                <a:cs typeface="Arial"/>
              </a:rPr>
              <a:t>Nemotron VoiceChat</a:t>
            </a:r>
          </a:p>
        </p:txBody>
      </p:sp>
      <p:sp>
        <p:nvSpPr>
          <p:cNvPr id="234" name="Qwen3-Omni + Server VAD&#10;AURA"/>
          <p:cNvSpPr txBox="1"/>
          <p:nvPr/>
        </p:nvSpPr>
        <p:spPr>
          <a:xfrm>
            <a:off x="8540496" y="5230368"/>
            <a:ext cx="3090672" cy="621792"/>
          </a:xfrm>
          <a:prstGeom prst="rect">
            <a:avLst/>
          </a:prstGeom>
          <a:noFill/>
          <a:ln w="12700">
            <a:noFill/>
          </a:ln>
        </p:spPr>
        <p:txBody>
          <a:bodyPr wrap="square" lIns="0" rIns="0" tIns="0" bIns="0" anchor="t">
            <a:noAutofit/>
          </a:bodyPr>
          <a:lstStyle/>
          <a:p>
            <a:pPr algn="ctr">
              <a:lnSpc>
                <a:spcPct val="106000"/>
              </a:lnSpc>
              <a:spcAft>
                <a:spcPts val="0"/>
              </a:spcAft>
            </a:pPr>
            <a:r>
              <a:rPr sz="1510" b="1">
                <a:solidFill>
                  <a:srgbClr val="16304E"/>
                </a:solidFill>
                <a:latin typeface="Arial"/>
                <a:ea typeface="Arial"/>
                <a:cs typeface="Arial"/>
              </a:rPr>
              <a:t>Qwen3-Omni + Server VAD</a:t>
            </a:r>
          </a:p>
          <a:p>
            <a:pPr algn="ctr">
              <a:lnSpc>
                <a:spcPct val="106000"/>
              </a:lnSpc>
              <a:spcAft>
                <a:spcPts val="0"/>
              </a:spcAft>
            </a:pPr>
            <a:r>
              <a:rPr sz="1510" b="1">
                <a:solidFill>
                  <a:srgbClr val="16304E"/>
                </a:solidFill>
                <a:latin typeface="Arial"/>
                <a:ea typeface="Arial"/>
                <a:cs typeface="Arial"/>
              </a:rPr>
              <a:t>AURA</a:t>
            </a:r>
          </a:p>
        </p:txBody>
      </p:sp>
      <p:sp>
        <p:nvSpPr>
          <p:cNvPr id="235" name="Realtime also supports a separate turn-based path: /v1/realtime?duplex=0 (see A13)."/>
          <p:cNvSpPr txBox="1"/>
          <p:nvPr/>
        </p:nvSpPr>
        <p:spPr>
          <a:xfrm>
            <a:off x="722376" y="6126480"/>
            <a:ext cx="10744200" cy="228600"/>
          </a:xfrm>
          <a:prstGeom prst="rect">
            <a:avLst/>
          </a:prstGeom>
          <a:noFill/>
          <a:ln w="12700">
            <a:noFill/>
          </a:ln>
        </p:spPr>
        <p:txBody>
          <a:bodyPr wrap="square" lIns="0" rIns="0" tIns="0" bIns="0" anchor="t">
            <a:noAutofit/>
          </a:bodyPr>
          <a:lstStyle/>
          <a:p>
            <a:pPr algn="l">
              <a:lnSpc>
                <a:spcPct val="106000"/>
              </a:lnSpc>
              <a:spcAft>
                <a:spcPts val="0"/>
              </a:spcAft>
            </a:pPr>
            <a:r>
              <a:rPr sz="1250" b="0">
                <a:solidFill>
                  <a:srgbClr val="586B7E"/>
                </a:solidFill>
                <a:latin typeface="Arial"/>
                <a:ea typeface="Arial"/>
                <a:cs typeface="Arial"/>
              </a:rPr>
              <a:t>Realtime also supports a separate turn-based path: /v1/realtime?duplex=0.</a:t>
            </a:r>
          </a:p>
        </p:txBody>
      </p:sp>
      <p:sp>
        <p:nvSpPr>
          <p:cNvPr id="236" name="OpenAI Realtime–based message protocol with vLLM-Omni extensions"/>
          <p:cNvSpPr txBox="1"/>
          <p:nvPr/>
        </p:nvSpPr>
        <p:spPr>
          <a:xfrm>
            <a:off x="5330952" y="2615184"/>
            <a:ext cx="6108192" cy="219456"/>
          </a:xfrm>
          <a:prstGeom prst="rect">
            <a:avLst/>
          </a:prstGeom>
          <a:noFill/>
          <a:ln w="12700">
            <a:noFill/>
          </a:ln>
        </p:spPr>
        <p:txBody>
          <a:bodyPr wrap="square" lIns="0" rIns="0" tIns="0" bIns="0" anchor="t">
            <a:noAutofit/>
          </a:bodyPr>
          <a:lstStyle/>
          <a:p>
            <a:pPr algn="ctr">
              <a:lnSpc>
                <a:spcPct val="106000"/>
              </a:lnSpc>
              <a:spcAft>
                <a:spcPts val="0"/>
              </a:spcAft>
            </a:pPr>
            <a:r>
              <a:rPr sz="1200" b="0" lang="en-US">
                <a:solidFill>
                  <a:srgbClr val="16304E"/>
                </a:solidFill>
                <a:latin typeface="Arial"/>
                <a:ea typeface="Arial"/>
                <a:cs typeface="Arial"/>
              </a:rPr>
              <a:t>OpenAI Realtime–based message protocol with vLLM-Omni extensions</a:t>
            </a:r>
          </a:p>
        </p:txBody>
      </p:sp>
      <p:sp>
        <p:nvSpPr>
          <p:cNvPr id="237" name="Video input · Playback feedback · Session resume"/>
          <p:cNvSpPr txBox="1"/>
          <p:nvPr/>
        </p:nvSpPr>
        <p:spPr>
          <a:xfrm>
            <a:off x="5330952" y="2843784"/>
            <a:ext cx="6108192" cy="201168"/>
          </a:xfrm>
          <a:prstGeom prst="rect">
            <a:avLst/>
          </a:prstGeom>
          <a:noFill/>
          <a:ln w="12700">
            <a:noFill/>
          </a:ln>
        </p:spPr>
        <p:txBody>
          <a:bodyPr wrap="square" lIns="0" rIns="0" tIns="0" bIns="0" anchor="t">
            <a:noAutofit/>
          </a:bodyPr>
          <a:lstStyle/>
          <a:p>
            <a:pPr algn="ctr">
              <a:lnSpc>
                <a:spcPct val="106000"/>
              </a:lnSpc>
              <a:spcAft>
                <a:spcPts val="0"/>
              </a:spcAft>
            </a:pPr>
            <a:r>
              <a:rPr sz="1150" b="0" lang="en-US">
                <a:solidFill>
                  <a:srgbClr val="008E96"/>
                </a:solidFill>
                <a:latin typeface="Arial"/>
                <a:ea typeface="Arial"/>
                <a:cs typeface="Arial"/>
              </a:rPr>
              <a:t>Video input · Playback feedback · Session resume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700" b="0">
                <a:solidFill>
                  <a:srgbClr val="586B7E"/>
                </a:solidFill>
                <a:latin typeface="Arial"/>
                <a:ea typeface="Arial"/>
                <a:cs typeface="Arial"/>
              </a:rPr>
              <a:t>Duplex WebSocket and Python sessions share engine-side control, model plugins and bounded output delivery.</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05 / 12</a:t>
            </a:r>
          </a:p>
        </p:txBody>
      </p:sp>
      <p:sp>
        <p:nvSpPr>
          <p:cNvPr id="50" name="TextBox 49"/>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Unified duplex architecture, with clear roles at each layer</a:t>
            </a:r>
          </a:p>
        </p:txBody>
      </p:sp>
      <p:sp>
        <p:nvSpPr>
          <p:cNvPr id="51" name="Rounded Rectangle 50"/>
          <p:cNvSpPr/>
          <p:nvPr/>
        </p:nvSpPr>
        <p:spPr>
          <a:xfrm>
            <a:off x="548640" y="2194560"/>
            <a:ext cx="11082528" cy="3154680"/>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758952" y="2313432"/>
            <a:ext cx="7315200" cy="219456"/>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APPLICATION / API PROCESS</a:t>
            </a:r>
          </a:p>
        </p:txBody>
      </p:sp>
      <p:sp>
        <p:nvSpPr>
          <p:cNvPr id="53" name="Rounded Rectangle 52"/>
          <p:cNvSpPr/>
          <p:nvPr/>
        </p:nvSpPr>
        <p:spPr>
          <a:xfrm>
            <a:off x="758952" y="2670048"/>
            <a:ext cx="3977639"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TextBox 53"/>
          <p:cNvSpPr txBox="1"/>
          <p:nvPr/>
        </p:nvSpPr>
        <p:spPr>
          <a:xfrm>
            <a:off x="932688" y="2816352"/>
            <a:ext cx="3657600" cy="274320"/>
          </a:xfrm>
          <a:prstGeom prst="rect">
            <a:avLst/>
          </a:prstGeom>
          <a:noFill/>
        </p:spPr>
        <p:txBody>
          <a:bodyPr wrap="square" lIns="0" rIns="0" tIns="0" bIns="0" anchor="t">
            <a:spAutoFit/>
          </a:bodyPr>
          <a:lstStyle/>
          <a:p>
            <a:pPr algn="l">
              <a:lnSpc>
                <a:spcPct val="110000"/>
              </a:lnSpc>
              <a:spcAft>
                <a:spcPts val="0"/>
              </a:spcAft>
            </a:pPr>
            <a:r>
              <a:rPr sz="1700" b="1">
                <a:solidFill>
                  <a:srgbClr val="142B45"/>
                </a:solidFill>
                <a:latin typeface="Arial"/>
                <a:ea typeface="Arial"/>
                <a:cs typeface="Arial"/>
              </a:rPr>
              <a:t>API / Python event loop</a:t>
            </a:r>
          </a:p>
        </p:txBody>
      </p:sp>
      <p:sp>
        <p:nvSpPr>
          <p:cNvPr id="55" name="Rounded Rectangle 54"/>
          <p:cNvSpPr/>
          <p:nvPr/>
        </p:nvSpPr>
        <p:spPr>
          <a:xfrm>
            <a:off x="941832" y="3337560"/>
            <a:ext cx="231343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1088136" y="3456432"/>
            <a:ext cx="1993392" cy="301752"/>
          </a:xfrm>
          <a:prstGeom prst="rect">
            <a:avLst/>
          </a:prstGeom>
          <a:noFill/>
        </p:spPr>
        <p:txBody>
          <a:bodyPr wrap="square" lIns="0" rIns="0" tIns="0" bIns="0" anchor="t">
            <a:spAutoFit/>
          </a:bodyPr>
          <a:lstStyle/>
          <a:p>
            <a:pPr algn="l">
              <a:lnSpc>
                <a:spcPct val="110000"/>
              </a:lnSpc>
              <a:spcAft>
                <a:spcPts val="0"/>
              </a:spcAft>
            </a:pPr>
            <a:r>
              <a:rPr sz="2000" b="1">
                <a:solidFill>
                  <a:srgbClr val="327CEC"/>
                </a:solidFill>
                <a:latin typeface="Arial"/>
                <a:ea typeface="Arial"/>
                <a:cs typeface="Arial"/>
              </a:rPr>
              <a:t>API Server</a:t>
            </a:r>
          </a:p>
        </p:txBody>
      </p:sp>
      <p:sp>
        <p:nvSpPr>
          <p:cNvPr id="57" name="TextBox 56"/>
          <p:cNvSpPr txBox="1"/>
          <p:nvPr/>
        </p:nvSpPr>
        <p:spPr>
          <a:xfrm>
            <a:off x="1088136" y="3767328"/>
            <a:ext cx="1993392" cy="338328"/>
          </a:xfrm>
          <a:prstGeom prst="rect">
            <a:avLst/>
          </a:prstGeom>
          <a:noFill/>
        </p:spPr>
        <p:txBody>
          <a:bodyPr wrap="square" lIns="0" rIns="0" tIns="0" bIns="0" anchor="t">
            <a:spAutoFit/>
          </a:bodyPr>
          <a:lstStyle/>
          <a:p>
            <a:pPr algn="l">
              <a:lnSpc>
                <a:spcPct val="110000"/>
              </a:lnSpc>
              <a:spcAft>
                <a:spcPts val="0"/>
              </a:spcAft>
            </a:pPr>
            <a:r>
              <a:rPr sz="1100" b="0">
                <a:solidFill>
                  <a:srgbClr val="586B7E"/>
                </a:solidFill>
                <a:latin typeface="Arial"/>
                <a:ea typeface="Arial"/>
                <a:cs typeface="Arial"/>
              </a:rPr>
              <a:t>Wire I/O · attach</a:t>
            </a:r>
          </a:p>
          <a:p>
            <a:pPr algn="l">
              <a:lnSpc>
                <a:spcPct val="110000"/>
              </a:lnSpc>
              <a:spcAft>
                <a:spcPts val="0"/>
              </a:spcAft>
            </a:pPr>
            <a:r>
              <a:rPr sz="1100" b="0">
                <a:solidFill>
                  <a:srgbClr val="586B7E"/>
                </a:solidFill>
                <a:latin typeface="Arial"/>
                <a:ea typeface="Arial"/>
                <a:cs typeface="Arial"/>
              </a:rPr>
              <a:t>event replay</a:t>
            </a:r>
          </a:p>
        </p:txBody>
      </p:sp>
      <p:sp>
        <p:nvSpPr>
          <p:cNvPr id="58" name="Rounded Rectangle 57"/>
          <p:cNvSpPr/>
          <p:nvPr/>
        </p:nvSpPr>
        <p:spPr>
          <a:xfrm>
            <a:off x="3456432" y="3337560"/>
            <a:ext cx="1078992" cy="78638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3502152" y="3621024"/>
            <a:ext cx="987552" cy="27432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Python</a:t>
            </a:r>
          </a:p>
        </p:txBody>
      </p:sp>
      <p:cxnSp>
        <p:nvCxnSpPr>
          <p:cNvPr id="60" name="Connector 59"/>
          <p:cNvCxnSpPr/>
          <p:nvPr/>
        </p:nvCxnSpPr>
        <p:spPr>
          <a:xfrm>
            <a:off x="2084831"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a:off x="3995928" y="4133087"/>
            <a:ext cx="0" cy="310897"/>
          </a:xfrm>
          <a:prstGeom prst="line">
            <a:avLst/>
          </a:prstGeom>
          <a:ln w="1397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2" name="Rounded Rectangle 61"/>
          <p:cNvSpPr/>
          <p:nvPr/>
        </p:nvSpPr>
        <p:spPr>
          <a:xfrm>
            <a:off x="941832" y="4489704"/>
            <a:ext cx="3593592" cy="420624"/>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extBox 62"/>
          <p:cNvSpPr txBox="1"/>
          <p:nvPr/>
        </p:nvSpPr>
        <p:spPr>
          <a:xfrm>
            <a:off x="1078992" y="4590288"/>
            <a:ext cx="1755648" cy="265176"/>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EngineClient</a:t>
            </a:r>
          </a:p>
        </p:txBody>
      </p:sp>
      <p:sp>
        <p:nvSpPr>
          <p:cNvPr id="64" name="TextBox 63"/>
          <p:cNvSpPr txBox="1"/>
          <p:nvPr/>
        </p:nvSpPr>
        <p:spPr>
          <a:xfrm>
            <a:off x="2852928" y="4535424"/>
            <a:ext cx="1600200" cy="329184"/>
          </a:xfrm>
          <a:prstGeom prst="rect">
            <a:avLst/>
          </a:prstGeom>
          <a:noFill/>
        </p:spPr>
        <p:txBody>
          <a:bodyPr wrap="square" lIns="0" rIns="0" tIns="0" bIns="0" anchor="t">
            <a:spAutoFit/>
          </a:bodyPr>
          <a:lstStyle/>
          <a:p>
            <a:pPr algn="l">
              <a:lnSpc>
                <a:spcPct val="110000"/>
              </a:lnSpc>
              <a:spcAft>
                <a:spcPts val="0"/>
              </a:spcAft>
            </a:pPr>
            <a:r>
              <a:rPr sz="969" b="0">
                <a:solidFill>
                  <a:srgbClr val="586B7E"/>
                </a:solidFill>
                <a:latin typeface="Arial"/>
                <a:ea typeface="Arial"/>
                <a:cs typeface="Arial"/>
              </a:rPr>
              <a:t>handle · session API</a:t>
            </a:r>
          </a:p>
          <a:p>
            <a:pPr algn="l">
              <a:lnSpc>
                <a:spcPct val="110000"/>
              </a:lnSpc>
              <a:spcAft>
                <a:spcPts val="0"/>
              </a:spcAft>
            </a:pPr>
            <a:r>
              <a:rPr sz="969" b="0">
                <a:solidFill>
                  <a:srgbClr val="586B7E"/>
                </a:solidFill>
                <a:latin typeface="Arial"/>
                <a:ea typeface="Arial"/>
                <a:cs typeface="Arial"/>
              </a:rPr>
              <a:t>event stream</a:t>
            </a:r>
          </a:p>
        </p:txBody>
      </p:sp>
      <p:sp>
        <p:nvSpPr>
          <p:cNvPr id="65" name="Rounded Rectangle 64"/>
          <p:cNvSpPr/>
          <p:nvPr/>
        </p:nvSpPr>
        <p:spPr>
          <a:xfrm>
            <a:off x="6281928" y="2670048"/>
            <a:ext cx="5138928" cy="248716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extBox 65"/>
          <p:cNvSpPr txBox="1"/>
          <p:nvPr/>
        </p:nvSpPr>
        <p:spPr>
          <a:xfrm>
            <a:off x="6455664" y="2816352"/>
            <a:ext cx="4663440" cy="292608"/>
          </a:xfrm>
          <a:prstGeom prst="rect">
            <a:avLst/>
          </a:prstGeom>
          <a:noFill/>
        </p:spPr>
        <p:txBody>
          <a:bodyPr wrap="square" lIns="0" rIns="0" tIns="0" bIns="0" anchor="t">
            <a:spAutoFit/>
          </a:bodyPr>
          <a:lstStyle/>
          <a:p>
            <a:pPr algn="l">
              <a:lnSpc>
                <a:spcPct val="110000"/>
              </a:lnSpc>
              <a:spcAft>
                <a:spcPts val="0"/>
              </a:spcAft>
            </a:pPr>
            <a:r>
              <a:rPr sz="1800" b="1">
                <a:solidFill>
                  <a:srgbClr val="142B45"/>
                </a:solidFill>
                <a:latin typeface="Arial"/>
                <a:ea typeface="Arial"/>
                <a:cs typeface="Arial"/>
              </a:rPr>
              <a:t>Duplex Orchestrator</a:t>
            </a:r>
          </a:p>
        </p:txBody>
      </p:sp>
      <p:sp>
        <p:nvSpPr>
          <p:cNvPr id="67" name="Rounded Rectangle 66"/>
          <p:cNvSpPr/>
          <p:nvPr/>
        </p:nvSpPr>
        <p:spPr>
          <a:xfrm>
            <a:off x="6455664" y="3172968"/>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TextBox 67"/>
          <p:cNvSpPr txBox="1"/>
          <p:nvPr/>
        </p:nvSpPr>
        <p:spPr>
          <a:xfrm>
            <a:off x="6565392" y="3227832"/>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Manager</a:t>
            </a:r>
          </a:p>
        </p:txBody>
      </p:sp>
      <p:sp>
        <p:nvSpPr>
          <p:cNvPr id="69" name="TextBox 68"/>
          <p:cNvSpPr txBox="1"/>
          <p:nvPr/>
        </p:nvSpPr>
        <p:spPr>
          <a:xfrm>
            <a:off x="8028431" y="3227832"/>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Create / close / resume; manage leases</a:t>
            </a:r>
          </a:p>
          <a:p>
            <a:pPr algn="l">
              <a:lnSpc>
                <a:spcPct val="110000"/>
              </a:lnSpc>
              <a:spcAft>
                <a:spcPts val="0"/>
              </a:spcAft>
            </a:pPr>
            <a:r>
              <a:rPr sz="1050" b="0">
                <a:solidFill>
                  <a:srgbClr val="142B45"/>
                </a:solidFill>
                <a:latin typeface="Arial"/>
                <a:ea typeface="Arial"/>
                <a:cs typeface="Arial"/>
              </a:rPr>
              <a:t>2. Check capacity / backlog; route commands</a:t>
            </a:r>
          </a:p>
          <a:p>
            <a:pPr algn="l">
              <a:lnSpc>
                <a:spcPct val="110000"/>
              </a:lnSpc>
              <a:spcAft>
                <a:spcPts val="0"/>
              </a:spcAft>
            </a:pPr>
            <a:r>
              <a:rPr sz="1050" b="0">
                <a:solidFill>
                  <a:srgbClr val="142B45"/>
                </a:solidFill>
                <a:latin typeface="Arial"/>
                <a:ea typeface="Arial"/>
                <a:cs typeface="Arial"/>
              </a:rPr>
              <a:t>3. Bound session output; reap expired sessions</a:t>
            </a:r>
          </a:p>
        </p:txBody>
      </p:sp>
      <p:sp>
        <p:nvSpPr>
          <p:cNvPr id="70" name="Rounded Rectangle 69"/>
          <p:cNvSpPr/>
          <p:nvPr/>
        </p:nvSpPr>
        <p:spPr>
          <a:xfrm>
            <a:off x="6455664" y="3849624"/>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TextBox 70"/>
          <p:cNvSpPr txBox="1"/>
          <p:nvPr/>
        </p:nvSpPr>
        <p:spPr>
          <a:xfrm>
            <a:off x="6565392" y="3904487"/>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Session</a:t>
            </a:r>
          </a:p>
          <a:p>
            <a:pPr algn="l">
              <a:lnSpc>
                <a:spcPct val="110000"/>
              </a:lnSpc>
              <a:spcAft>
                <a:spcPts val="0"/>
              </a:spcAft>
            </a:pPr>
            <a:r>
              <a:rPr sz="1350" b="1">
                <a:solidFill>
                  <a:srgbClr val="008E96"/>
                </a:solidFill>
                <a:latin typeface="Arial"/>
                <a:ea typeface="Arial"/>
                <a:cs typeface="Arial"/>
              </a:rPr>
              <a:t>Runner</a:t>
            </a:r>
          </a:p>
        </p:txBody>
      </p:sp>
      <p:sp>
        <p:nvSpPr>
          <p:cNvPr id="72" name="TextBox 71"/>
          <p:cNvSpPr txBox="1"/>
          <p:nvPr/>
        </p:nvSpPr>
        <p:spPr>
          <a:xfrm>
            <a:off x="8028431" y="3904487"/>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One runner per session; ordered mailbox</a:t>
            </a:r>
          </a:p>
          <a:p>
            <a:pPr algn="l">
              <a:lnSpc>
                <a:spcPct val="110000"/>
              </a:lnSpc>
              <a:spcAft>
                <a:spcPts val="0"/>
              </a:spcAft>
            </a:pPr>
            <a:r>
              <a:rPr sz="1050" b="0">
                <a:solidFill>
                  <a:srgbClr val="142B45"/>
                </a:solidFill>
                <a:latin typeface="Arial"/>
                <a:ea typeface="Arial"/>
                <a:cs typeface="Arial"/>
              </a:rPr>
              <a:t>2. Handle input, commit, cancel, Stage output</a:t>
            </a:r>
          </a:p>
          <a:p>
            <a:pPr algn="l">
              <a:lnSpc>
                <a:spcPct val="110000"/>
              </a:lnSpc>
              <a:spcAft>
                <a:spcPts val="0"/>
              </a:spcAft>
            </a:pPr>
            <a:r>
              <a:rPr sz="1050" b="0">
                <a:solidFill>
                  <a:srgbClr val="142B45"/>
                </a:solidFill>
                <a:latin typeface="Arial"/>
                <a:ea typeface="Arial"/>
                <a:cs typeface="Arial"/>
              </a:rPr>
              <a:t>3. Advance response, history and playback</a:t>
            </a:r>
          </a:p>
        </p:txBody>
      </p:sp>
      <p:sp>
        <p:nvSpPr>
          <p:cNvPr id="73" name="Rounded Rectangle 72"/>
          <p:cNvSpPr/>
          <p:nvPr/>
        </p:nvSpPr>
        <p:spPr>
          <a:xfrm>
            <a:off x="6455664" y="4526280"/>
            <a:ext cx="4791456" cy="57607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6565392" y="4581144"/>
            <a:ext cx="1344168" cy="484632"/>
          </a:xfrm>
          <a:prstGeom prst="rect">
            <a:avLst/>
          </a:prstGeom>
          <a:noFill/>
        </p:spPr>
        <p:txBody>
          <a:bodyPr wrap="square" lIns="0" rIns="0" tIns="0" bIns="0" anchor="t">
            <a:spAutoFit/>
          </a:bodyPr>
          <a:lstStyle/>
          <a:p>
            <a:pPr algn="l">
              <a:lnSpc>
                <a:spcPct val="110000"/>
              </a:lnSpc>
              <a:spcAft>
                <a:spcPts val="0"/>
              </a:spcAft>
            </a:pPr>
            <a:r>
              <a:rPr sz="1350" b="1">
                <a:solidFill>
                  <a:srgbClr val="008E96"/>
                </a:solidFill>
                <a:latin typeface="Arial"/>
                <a:ea typeface="Arial"/>
                <a:cs typeface="Arial"/>
              </a:rPr>
              <a:t>Model</a:t>
            </a:r>
          </a:p>
          <a:p>
            <a:pPr algn="l">
              <a:lnSpc>
                <a:spcPct val="110000"/>
              </a:lnSpc>
              <a:spcAft>
                <a:spcPts val="0"/>
              </a:spcAft>
            </a:pPr>
            <a:r>
              <a:rPr sz="1350" b="1">
                <a:solidFill>
                  <a:srgbClr val="008E96"/>
                </a:solidFill>
                <a:latin typeface="Arial"/>
                <a:ea typeface="Arial"/>
                <a:cs typeface="Arial"/>
              </a:rPr>
              <a:t>Plugin</a:t>
            </a:r>
          </a:p>
        </p:txBody>
      </p:sp>
      <p:sp>
        <p:nvSpPr>
          <p:cNvPr id="75" name="TextBox 74"/>
          <p:cNvSpPr txBox="1"/>
          <p:nvPr/>
        </p:nvSpPr>
        <p:spPr>
          <a:xfrm>
            <a:off x="8028431" y="4581144"/>
            <a:ext cx="3127248" cy="49377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1. Capabilities; runtime / sampling settings</a:t>
            </a:r>
          </a:p>
          <a:p>
            <a:pPr algn="l">
              <a:lnSpc>
                <a:spcPct val="110000"/>
              </a:lnSpc>
              <a:spcAft>
                <a:spcPts val="0"/>
              </a:spcAft>
            </a:pPr>
            <a:r>
              <a:rPr sz="1050" b="0">
                <a:solidFill>
                  <a:srgbClr val="142B45"/>
                </a:solidFill>
                <a:latin typeface="Arial"/>
                <a:ea typeface="Arial"/>
                <a:cs typeface="Arial"/>
              </a:rPr>
              <a:t>2. Session buffers; chunk / turn input</a:t>
            </a:r>
          </a:p>
          <a:p>
            <a:pPr algn="l">
              <a:lnSpc>
                <a:spcPct val="110000"/>
              </a:lnSpc>
              <a:spcAft>
                <a:spcPts val="0"/>
              </a:spcAft>
            </a:pPr>
            <a:r>
              <a:rPr sz="1050" b="0">
                <a:solidFill>
                  <a:srgbClr val="142B45"/>
                </a:solidFill>
                <a:latin typeface="Arial"/>
                <a:ea typeface="Arial"/>
                <a:cs typeface="Arial"/>
              </a:rPr>
              <a:t>3. Interpret output; set downstream Stage policy</a:t>
            </a:r>
          </a:p>
        </p:txBody>
      </p:sp>
      <p:cxnSp>
        <p:nvCxnSpPr>
          <p:cNvPr id="76" name="Connector 75"/>
          <p:cNvCxnSpPr/>
          <p:nvPr/>
        </p:nvCxnSpPr>
        <p:spPr>
          <a:xfrm>
            <a:off x="4764024" y="3493008"/>
            <a:ext cx="14813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7" name="TextBox 76"/>
          <p:cNvSpPr txBox="1"/>
          <p:nvPr/>
        </p:nvSpPr>
        <p:spPr>
          <a:xfrm>
            <a:off x="4773168" y="3246120"/>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command</a:t>
            </a:r>
          </a:p>
        </p:txBody>
      </p:sp>
      <p:cxnSp>
        <p:nvCxnSpPr>
          <p:cNvPr id="78" name="Connector 77"/>
          <p:cNvCxnSpPr/>
          <p:nvPr/>
        </p:nvCxnSpPr>
        <p:spPr>
          <a:xfrm flipH="1">
            <a:off x="4764024" y="4142232"/>
            <a:ext cx="148132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4773168" y="3895344"/>
            <a:ext cx="1463040" cy="210312"/>
          </a:xfrm>
          <a:prstGeom prst="rect">
            <a:avLst/>
          </a:prstGeom>
          <a:noFill/>
        </p:spPr>
        <p:txBody>
          <a:bodyPr wrap="square" lIns="0" rIns="0" tIns="0" bIns="0" anchor="t">
            <a:spAutoFit/>
          </a:bodyPr>
          <a:lstStyle/>
          <a:p>
            <a:pPr algn="ctr">
              <a:lnSpc>
                <a:spcPct val="110000"/>
              </a:lnSpc>
              <a:spcAft>
                <a:spcPts val="0"/>
              </a:spcAft>
            </a:pPr>
            <a:r>
              <a:rPr sz="1150" b="1">
                <a:solidFill>
                  <a:srgbClr val="008E96"/>
                </a:solidFill>
                <a:latin typeface="Arial"/>
                <a:ea typeface="Arial"/>
                <a:cs typeface="Arial"/>
              </a:rPr>
              <a:t>operation result</a:t>
            </a:r>
          </a:p>
        </p:txBody>
      </p:sp>
      <p:cxnSp>
        <p:nvCxnSpPr>
          <p:cNvPr id="80" name="Connector 79"/>
          <p:cNvCxnSpPr/>
          <p:nvPr/>
        </p:nvCxnSpPr>
        <p:spPr>
          <a:xfrm flipH="1">
            <a:off x="4764024" y="4800600"/>
            <a:ext cx="1481328" cy="0"/>
          </a:xfrm>
          <a:prstGeom prst="line">
            <a:avLst/>
          </a:prstGeom>
          <a:ln w="17780">
            <a:solidFill>
              <a:srgbClr val="7855AD"/>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4773168" y="4553712"/>
            <a:ext cx="1463040" cy="210312"/>
          </a:xfrm>
          <a:prstGeom prst="rect">
            <a:avLst/>
          </a:prstGeom>
          <a:noFill/>
        </p:spPr>
        <p:txBody>
          <a:bodyPr wrap="square" lIns="0" rIns="0" tIns="0" bIns="0" anchor="t">
            <a:spAutoFit/>
          </a:bodyPr>
          <a:lstStyle/>
          <a:p>
            <a:pPr algn="ctr">
              <a:lnSpc>
                <a:spcPct val="110000"/>
              </a:lnSpc>
              <a:spcAft>
                <a:spcPts val="0"/>
              </a:spcAft>
            </a:pPr>
            <a:r>
              <a:rPr sz="1200" b="1">
                <a:solidFill>
                  <a:srgbClr val="7855AD"/>
                </a:solidFill>
                <a:latin typeface="Arial"/>
                <a:ea typeface="Arial"/>
                <a:cs typeface="Arial"/>
              </a:rPr>
              <a:t>session buffer</a:t>
            </a:r>
          </a:p>
        </p:txBody>
      </p:sp>
      <p:sp>
        <p:nvSpPr>
          <p:cNvPr id="82" name="TextBox 81"/>
          <p:cNvSpPr txBox="1"/>
          <p:nvPr/>
        </p:nvSpPr>
        <p:spPr>
          <a:xfrm>
            <a:off x="4764024" y="5157216"/>
            <a:ext cx="1490472" cy="128016"/>
          </a:xfrm>
          <a:prstGeom prst="rect">
            <a:avLst/>
          </a:prstGeom>
          <a:noFill/>
        </p:spPr>
        <p:txBody>
          <a:bodyPr wrap="square" lIns="0" rIns="0" tIns="0" bIns="0" anchor="t">
            <a:spAutoFit/>
          </a:bodyPr>
          <a:lstStyle/>
          <a:p>
            <a:pPr algn="ctr">
              <a:lnSpc>
                <a:spcPct val="110000"/>
              </a:lnSpc>
              <a:spcAft>
                <a:spcPts val="0"/>
              </a:spcAft>
            </a:pPr>
            <a:r>
              <a:rPr sz="800" b="0">
                <a:solidFill>
                  <a:srgbClr val="586B7E"/>
                </a:solidFill>
                <a:latin typeface="Arial"/>
                <a:ea typeface="Arial"/>
                <a:cs typeface="Arial"/>
              </a:rPr>
              <a:t>same process · separate loops</a:t>
            </a:r>
          </a:p>
        </p:txBody>
      </p:sp>
      <p:sp>
        <p:nvSpPr>
          <p:cNvPr id="83" name="TextBox 82"/>
          <p:cNvSpPr txBox="1"/>
          <p:nvPr/>
        </p:nvSpPr>
        <p:spPr>
          <a:xfrm>
            <a:off x="758952" y="5559552"/>
            <a:ext cx="5513832" cy="704088"/>
          </a:xfrm>
          <a:prstGeom prst="rect">
            <a:avLst/>
          </a:prstGeom>
          <a:noFill/>
        </p:spPr>
        <p:txBody>
          <a:bodyPr wrap="square" lIns="0" rIns="0" tIns="0" bIns="0" anchor="t">
            <a:spAutoFit/>
          </a:bodyPr>
          <a:lstStyle/>
          <a:p>
            <a:pPr algn="l">
              <a:lnSpc>
                <a:spcPct val="110000"/>
              </a:lnSpc>
              <a:spcAft>
                <a:spcPts val="0"/>
              </a:spcAft>
            </a:pPr>
            <a:r>
              <a:rPr sz="1200" b="1">
                <a:solidFill>
                  <a:srgbClr val="142B45"/>
                </a:solidFill>
                <a:latin typeface="Arial"/>
                <a:ea typeface="Arial"/>
                <a:cs typeface="Arial"/>
              </a:rPr>
              <a:t>API Server: protocol, attachment and event replay</a:t>
            </a:r>
          </a:p>
          <a:p>
            <a:pPr algn="l">
              <a:lnSpc>
                <a:spcPct val="110000"/>
              </a:lnSpc>
              <a:spcAft>
                <a:spcPts val="0"/>
              </a:spcAft>
            </a:pPr>
            <a:r>
              <a:rPr sz="1200" b="1">
                <a:solidFill>
                  <a:srgbClr val="142B45"/>
                </a:solidFill>
                <a:latin typeface="Arial"/>
                <a:ea typeface="Arial"/>
                <a:cs typeface="Arial"/>
              </a:rPr>
              <a:t>EngineClient: handles, event streams and control results</a:t>
            </a:r>
          </a:p>
          <a:p>
            <a:pPr algn="l">
              <a:lnSpc>
                <a:spcPct val="110000"/>
              </a:lnSpc>
              <a:spcAft>
                <a:spcPts val="0"/>
              </a:spcAft>
            </a:pPr>
            <a:r>
              <a:rPr sz="1200" b="1">
                <a:solidFill>
                  <a:srgbClr val="142B45"/>
                </a:solidFill>
                <a:latin typeface="Arial"/>
                <a:ea typeface="Arial"/>
                <a:cs typeface="Arial"/>
              </a:rPr>
              <a:t>Duplex Orchestrator: session execution and Stage dispatch</a:t>
            </a:r>
          </a:p>
        </p:txBody>
      </p:sp>
      <p:cxnSp>
        <p:nvCxnSpPr>
          <p:cNvPr id="84" name="Connector 83"/>
          <p:cNvCxnSpPr/>
          <p:nvPr/>
        </p:nvCxnSpPr>
        <p:spPr>
          <a:xfrm>
            <a:off x="7863840"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flipV="1">
            <a:off x="10067544" y="5367528"/>
            <a:ext cx="0" cy="292608"/>
          </a:xfrm>
          <a:prstGeom prst="line">
            <a:avLst/>
          </a:prstGeom>
          <a:ln w="1397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TextBox 85"/>
          <p:cNvSpPr txBox="1"/>
          <p:nvPr/>
        </p:nvSpPr>
        <p:spPr>
          <a:xfrm>
            <a:off x="6501384" y="5431536"/>
            <a:ext cx="122529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requests</a:t>
            </a:r>
          </a:p>
        </p:txBody>
      </p:sp>
      <p:sp>
        <p:nvSpPr>
          <p:cNvPr id="87" name="TextBox 86"/>
          <p:cNvSpPr txBox="1"/>
          <p:nvPr/>
        </p:nvSpPr>
        <p:spPr>
          <a:xfrm>
            <a:off x="10204704" y="5431536"/>
            <a:ext cx="1179576" cy="182880"/>
          </a:xfrm>
          <a:prstGeom prst="rect">
            <a:avLst/>
          </a:prstGeom>
          <a:noFill/>
        </p:spPr>
        <p:txBody>
          <a:bodyPr wrap="square" lIns="0" rIns="0" tIns="0" bIns="0" anchor="t">
            <a:spAutoFit/>
          </a:bodyPr>
          <a:lstStyle/>
          <a:p>
            <a:pPr algn="l">
              <a:lnSpc>
                <a:spcPct val="110000"/>
              </a:lnSpc>
              <a:spcAft>
                <a:spcPts val="0"/>
              </a:spcAft>
            </a:pPr>
            <a:r>
              <a:rPr sz="1000" b="1">
                <a:solidFill>
                  <a:srgbClr val="008E96"/>
                </a:solidFill>
                <a:latin typeface="Arial"/>
                <a:ea typeface="Arial"/>
                <a:cs typeface="Arial"/>
              </a:rPr>
              <a:t>Stage output</a:t>
            </a:r>
          </a:p>
        </p:txBody>
      </p:sp>
      <p:sp>
        <p:nvSpPr>
          <p:cNvPr id="88" name="Rounded Rectangle 87"/>
          <p:cNvSpPr/>
          <p:nvPr/>
        </p:nvSpPr>
        <p:spPr>
          <a:xfrm>
            <a:off x="6437376" y="5678424"/>
            <a:ext cx="4983480" cy="603504"/>
          </a:xfrm>
          <a:prstGeom prst="roundRect">
            <a:avLst>
              <a:gd name="adj" fmla="val 10000"/>
            </a:avLst>
          </a:prstGeom>
          <a:solidFill>
            <a:srgbClr val="142B45"/>
          </a:solidFill>
          <a:ln w="12065">
            <a:solidFill>
              <a:srgbClr val="7692B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TextBox 88"/>
          <p:cNvSpPr txBox="1"/>
          <p:nvPr/>
        </p:nvSpPr>
        <p:spPr>
          <a:xfrm>
            <a:off x="6601968" y="5760720"/>
            <a:ext cx="4617720" cy="256032"/>
          </a:xfrm>
          <a:prstGeom prst="rect">
            <a:avLst/>
          </a:prstGeom>
          <a:noFill/>
        </p:spPr>
        <p:txBody>
          <a:bodyPr wrap="square" lIns="0" rIns="0" tIns="0" bIns="0" anchor="t">
            <a:spAutoFit/>
          </a:bodyPr>
          <a:lstStyle/>
          <a:p>
            <a:pPr algn="l">
              <a:lnSpc>
                <a:spcPct val="110000"/>
              </a:lnSpc>
              <a:spcAft>
                <a:spcPts val="0"/>
              </a:spcAft>
            </a:pPr>
            <a:r>
              <a:rPr sz="1600" b="1">
                <a:solidFill>
                  <a:srgbClr val="FFFFFF"/>
                </a:solidFill>
                <a:latin typeface="Arial"/>
                <a:ea typeface="Arial"/>
                <a:cs typeface="Arial"/>
              </a:rPr>
              <a:t>Stage execution processes</a:t>
            </a:r>
          </a:p>
        </p:txBody>
      </p:sp>
      <p:sp>
        <p:nvSpPr>
          <p:cNvPr id="90" name="TextBox 89"/>
          <p:cNvSpPr txBox="1"/>
          <p:nvPr/>
        </p:nvSpPr>
        <p:spPr>
          <a:xfrm>
            <a:off x="6601968" y="6071616"/>
            <a:ext cx="4617720" cy="164592"/>
          </a:xfrm>
          <a:prstGeom prst="rect">
            <a:avLst/>
          </a:prstGeom>
          <a:noFill/>
        </p:spPr>
        <p:txBody>
          <a:bodyPr wrap="square" lIns="0" rIns="0" tIns="0" bIns="0" anchor="t">
            <a:spAutoFit/>
          </a:bodyPr>
          <a:lstStyle/>
          <a:p>
            <a:pPr algn="l">
              <a:lnSpc>
                <a:spcPct val="110000"/>
              </a:lnSpc>
              <a:spcAft>
                <a:spcPts val="0"/>
              </a:spcAft>
            </a:pPr>
            <a:r>
              <a:rPr sz="1000" b="0">
                <a:solidFill>
                  <a:srgbClr val="B7C8D9"/>
                </a:solidFill>
                <a:latin typeface="Arial"/>
                <a:ea typeface="Arial"/>
                <a:cs typeface="Arial"/>
              </a:rPr>
              <a:t>Scheduler + workers · compute, KV and stream caches</a:t>
            </a:r>
          </a:p>
        </p:txBody>
      </p:sp>
      <p:sp>
        <p:nvSpPr>
          <p:cNvPr id="91" name="TextBox 90"/>
          <p:cNvSpPr txBox="1"/>
          <p:nvPr/>
        </p:nvSpPr>
        <p:spPr>
          <a:xfrm>
            <a:off x="4773168" y="4178808"/>
            <a:ext cx="1463040" cy="329184"/>
          </a:xfrm>
          <a:prstGeom prst="rect">
            <a:avLst/>
          </a:prstGeom>
          <a:noFill/>
        </p:spPr>
        <p:txBody>
          <a:bodyPr wrap="square" lIns="0" rIns="0" tIns="0" bIns="0" anchor="t">
            <a:spAutoFit/>
          </a:bodyPr>
          <a:lstStyle/>
          <a:p>
            <a:pPr algn="ctr">
              <a:lnSpc>
                <a:spcPct val="110000"/>
              </a:lnSpc>
              <a:spcAft>
                <a:spcPts val="0"/>
              </a:spcAft>
            </a:pPr>
            <a:r>
              <a:rPr sz="860" b="0">
                <a:solidFill>
                  <a:srgbClr val="586B7E"/>
                </a:solidFill>
                <a:latin typeface="Arial"/>
                <a:ea typeface="Arial"/>
                <a:cs typeface="Arial"/>
              </a:rPr>
              <a:t>open / close / resume</a:t>
            </a:r>
          </a:p>
          <a:p>
            <a:pPr algn="ctr">
              <a:lnSpc>
                <a:spcPct val="110000"/>
              </a:lnSpc>
              <a:spcAft>
                <a:spcPts val="0"/>
              </a:spcAft>
            </a:pPr>
            <a:r>
              <a:rPr sz="860" b="0">
                <a:solidFill>
                  <a:srgbClr val="586B7E"/>
                </a:solidFill>
                <a:latin typeface="Arial"/>
                <a:ea typeface="Arial"/>
                <a:cs typeface="Arial"/>
              </a:rPr>
              <a:t>success or error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200" b="1">
                <a:solidFill>
                  <a:srgbClr val="142B45"/>
                </a:solidFill>
                <a:latin typeface="Arial"/>
                <a:ea typeface="Arial"/>
                <a:cs typeface="Arial"/>
              </a:rPr>
              <a:t>Full-duplex workflow</a:t>
            </a:r>
          </a:p>
        </p:txBody>
      </p:sp>
      <p:sp>
        <p:nvSpPr>
          <p:cNvPr id="7" name="TextBox 6"/>
          <p:cNvSpPr txBox="1"/>
          <p:nvPr/>
        </p:nvSpPr>
        <p:spPr>
          <a:xfrm>
            <a:off x="576072" y="1645920"/>
            <a:ext cx="10972800" cy="36576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API Server handles the wire protocol; EngineClient exposes session handles; Runner / Plugin drives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06 / 12</a:t>
            </a:r>
          </a:p>
        </p:txBody>
      </p:sp>
      <p:cxnSp>
        <p:nvCxnSpPr>
          <p:cNvPr id="12" name="Connector 11"/>
          <p:cNvCxnSpPr/>
          <p:nvPr/>
        </p:nvCxnSpPr>
        <p:spPr>
          <a:xfrm>
            <a:off x="2395728" y="2185416"/>
            <a:ext cx="4151376" cy="0"/>
          </a:xfrm>
          <a:prstGeom prst="line">
            <a:avLst/>
          </a:prstGeom>
          <a:ln w="1016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2395728" y="2011680"/>
            <a:ext cx="4151376"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API / Python event loop</a:t>
            </a:r>
          </a:p>
        </p:txBody>
      </p:sp>
      <p:sp>
        <p:nvSpPr>
          <p:cNvPr id="14" name="TextBox 13"/>
          <p:cNvSpPr txBox="1"/>
          <p:nvPr/>
        </p:nvSpPr>
        <p:spPr>
          <a:xfrm>
            <a:off x="6684264" y="2011680"/>
            <a:ext cx="2432304"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Dedicated orchestrator thread</a:t>
            </a:r>
          </a:p>
        </p:txBody>
      </p:sp>
      <p:sp>
        <p:nvSpPr>
          <p:cNvPr id="15" name="TextBox 14"/>
          <p:cNvSpPr txBox="1"/>
          <p:nvPr/>
        </p:nvSpPr>
        <p:spPr>
          <a:xfrm>
            <a:off x="9582912" y="2011680"/>
            <a:ext cx="2011680" cy="182880"/>
          </a:xfrm>
          <a:prstGeom prst="rect">
            <a:avLst/>
          </a:prstGeom>
          <a:noFill/>
        </p:spPr>
        <p:txBody>
          <a:bodyPr wrap="square" lIns="0" rIns="0" tIns="0" bIns="0" anchor="t">
            <a:spAutoFit/>
          </a:bodyPr>
          <a:lstStyle/>
          <a:p>
            <a:pPr algn="ctr">
              <a:lnSpc>
                <a:spcPct val="110000"/>
              </a:lnSpc>
              <a:spcAft>
                <a:spcPts val="0"/>
              </a:spcAft>
            </a:pPr>
            <a:r>
              <a:rPr sz="1000" b="0">
                <a:solidFill>
                  <a:srgbClr val="586B7E"/>
                </a:solidFill>
                <a:latin typeface="Arial"/>
                <a:ea typeface="Arial"/>
                <a:cs typeface="Arial"/>
              </a:rPr>
              <a:t>Worker processes</a:t>
            </a:r>
          </a:p>
        </p:txBody>
      </p:sp>
      <p:sp>
        <p:nvSpPr>
          <p:cNvPr id="16" name="Rounded Rectangle 15"/>
          <p:cNvSpPr/>
          <p:nvPr/>
        </p:nvSpPr>
        <p:spPr>
          <a:xfrm>
            <a:off x="548640" y="2286000"/>
            <a:ext cx="1426464" cy="658368"/>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94360" y="2404872"/>
            <a:ext cx="1335024" cy="228600"/>
          </a:xfrm>
          <a:prstGeom prst="rect">
            <a:avLst/>
          </a:prstGeom>
          <a:noFill/>
        </p:spPr>
        <p:txBody>
          <a:bodyPr wrap="square" lIns="0" rIns="0" tIns="0" bIns="0" anchor="t">
            <a:spAutoFit/>
          </a:bodyPr>
          <a:lstStyle/>
          <a:p>
            <a:pPr algn="ctr">
              <a:lnSpc>
                <a:spcPct val="110000"/>
              </a:lnSpc>
              <a:spcAft>
                <a:spcPts val="0"/>
              </a:spcAft>
            </a:pPr>
            <a:r>
              <a:rPr sz="1600" b="1">
                <a:solidFill>
                  <a:srgbClr val="142B45"/>
                </a:solidFill>
                <a:latin typeface="Arial"/>
                <a:ea typeface="Arial"/>
                <a:cs typeface="Arial"/>
              </a:rPr>
              <a:t>User Client</a:t>
            </a:r>
          </a:p>
        </p:txBody>
      </p:sp>
      <p:sp>
        <p:nvSpPr>
          <p:cNvPr id="18" name="TextBox 17"/>
          <p:cNvSpPr txBox="1"/>
          <p:nvPr/>
        </p:nvSpPr>
        <p:spPr>
          <a:xfrm>
            <a:off x="585216" y="2706624"/>
            <a:ext cx="135331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Capture · playback</a:t>
            </a:r>
          </a:p>
        </p:txBody>
      </p:sp>
      <p:cxnSp>
        <p:nvCxnSpPr>
          <p:cNvPr id="19" name="Connector 18"/>
          <p:cNvCxnSpPr/>
          <p:nvPr/>
        </p:nvCxnSpPr>
        <p:spPr>
          <a:xfrm>
            <a:off x="126187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0" name="Rounded Rectangle 19"/>
          <p:cNvSpPr/>
          <p:nvPr/>
        </p:nvSpPr>
        <p:spPr>
          <a:xfrm>
            <a:off x="2395728"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2441448"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API Server</a:t>
            </a:r>
          </a:p>
        </p:txBody>
      </p:sp>
      <p:sp>
        <p:nvSpPr>
          <p:cNvPr id="22" name="TextBox 21"/>
          <p:cNvSpPr txBox="1"/>
          <p:nvPr/>
        </p:nvSpPr>
        <p:spPr>
          <a:xfrm>
            <a:off x="2432304"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WebSocket ↔ command / event</a:t>
            </a:r>
          </a:p>
        </p:txBody>
      </p:sp>
      <p:cxnSp>
        <p:nvCxnSpPr>
          <p:cNvPr id="23" name="Connector 22"/>
          <p:cNvCxnSpPr/>
          <p:nvPr/>
        </p:nvCxnSpPr>
        <p:spPr>
          <a:xfrm>
            <a:off x="3401568"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4" name="Rounded Rectangle 23"/>
          <p:cNvSpPr/>
          <p:nvPr/>
        </p:nvSpPr>
        <p:spPr>
          <a:xfrm>
            <a:off x="4535424" y="2286000"/>
            <a:ext cx="2011680" cy="65836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581144"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327CEC"/>
                </a:solidFill>
                <a:latin typeface="Arial"/>
                <a:ea typeface="Arial"/>
                <a:cs typeface="Arial"/>
              </a:rPr>
              <a:t>EngineClient</a:t>
            </a:r>
          </a:p>
        </p:txBody>
      </p:sp>
      <p:sp>
        <p:nvSpPr>
          <p:cNvPr id="26" name="TextBox 25"/>
          <p:cNvSpPr txBox="1"/>
          <p:nvPr/>
        </p:nvSpPr>
        <p:spPr>
          <a:xfrm>
            <a:off x="4572000"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handle · output buffer</a:t>
            </a:r>
          </a:p>
        </p:txBody>
      </p:sp>
      <p:cxnSp>
        <p:nvCxnSpPr>
          <p:cNvPr id="27" name="Connector 26"/>
          <p:cNvCxnSpPr/>
          <p:nvPr/>
        </p:nvCxnSpPr>
        <p:spPr>
          <a:xfrm>
            <a:off x="5541264"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28" name="Rounded Rectangle 27"/>
          <p:cNvSpPr/>
          <p:nvPr/>
        </p:nvSpPr>
        <p:spPr>
          <a:xfrm>
            <a:off x="6684264" y="2286000"/>
            <a:ext cx="2432304" cy="65836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729983" y="2404872"/>
            <a:ext cx="2340864" cy="228600"/>
          </a:xfrm>
          <a:prstGeom prst="rect">
            <a:avLst/>
          </a:prstGeom>
          <a:noFill/>
        </p:spPr>
        <p:txBody>
          <a:bodyPr wrap="square" lIns="0" rIns="0" tIns="0" bIns="0" anchor="t">
            <a:spAutoFit/>
          </a:bodyPr>
          <a:lstStyle/>
          <a:p>
            <a:pPr algn="ctr">
              <a:lnSpc>
                <a:spcPct val="110000"/>
              </a:lnSpc>
              <a:spcAft>
                <a:spcPts val="0"/>
              </a:spcAft>
            </a:pPr>
            <a:r>
              <a:rPr sz="1500" b="1">
                <a:solidFill>
                  <a:srgbClr val="008E96"/>
                </a:solidFill>
                <a:latin typeface="Arial"/>
                <a:ea typeface="Arial"/>
                <a:cs typeface="Arial"/>
              </a:rPr>
              <a:t>Duplex Orchestrator</a:t>
            </a:r>
          </a:p>
        </p:txBody>
      </p:sp>
      <p:sp>
        <p:nvSpPr>
          <p:cNvPr id="30" name="TextBox 29"/>
          <p:cNvSpPr txBox="1"/>
          <p:nvPr/>
        </p:nvSpPr>
        <p:spPr>
          <a:xfrm>
            <a:off x="6720840" y="2706624"/>
            <a:ext cx="2359152"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Session Manager · Runner · Plugin</a:t>
            </a:r>
          </a:p>
        </p:txBody>
      </p:sp>
      <p:cxnSp>
        <p:nvCxnSpPr>
          <p:cNvPr id="31" name="Connector 30"/>
          <p:cNvCxnSpPr/>
          <p:nvPr/>
        </p:nvCxnSpPr>
        <p:spPr>
          <a:xfrm>
            <a:off x="7900416"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2" name="Rounded Rectangle 31"/>
          <p:cNvSpPr/>
          <p:nvPr/>
        </p:nvSpPr>
        <p:spPr>
          <a:xfrm>
            <a:off x="9582912" y="2286000"/>
            <a:ext cx="2011680" cy="658368"/>
          </a:xfrm>
          <a:prstGeom prst="roundRect">
            <a:avLst>
              <a:gd name="adj" fmla="val 10000"/>
            </a:avLst>
          </a:prstGeom>
          <a:solidFill>
            <a:srgbClr val="FBF4E8"/>
          </a:solidFill>
          <a:ln w="12065">
            <a:solidFill>
              <a:srgbClr val="C7B08A"/>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9628632" y="2404872"/>
            <a:ext cx="1920240" cy="228600"/>
          </a:xfrm>
          <a:prstGeom prst="rect">
            <a:avLst/>
          </a:prstGeom>
          <a:noFill/>
        </p:spPr>
        <p:txBody>
          <a:bodyPr wrap="square" lIns="0" rIns="0" tIns="0" bIns="0" anchor="t">
            <a:spAutoFit/>
          </a:bodyPr>
          <a:lstStyle/>
          <a:p>
            <a:pPr algn="ctr">
              <a:lnSpc>
                <a:spcPct val="110000"/>
              </a:lnSpc>
              <a:spcAft>
                <a:spcPts val="0"/>
              </a:spcAft>
            </a:pPr>
            <a:r>
              <a:rPr sz="1600" b="1">
                <a:solidFill>
                  <a:srgbClr val="AD761E"/>
                </a:solidFill>
                <a:latin typeface="Arial"/>
                <a:ea typeface="Arial"/>
                <a:cs typeface="Arial"/>
              </a:rPr>
              <a:t>Stage workers</a:t>
            </a:r>
          </a:p>
        </p:txBody>
      </p:sp>
      <p:sp>
        <p:nvSpPr>
          <p:cNvPr id="34" name="TextBox 33"/>
          <p:cNvSpPr txBox="1"/>
          <p:nvPr/>
        </p:nvSpPr>
        <p:spPr>
          <a:xfrm>
            <a:off x="9619488" y="2706624"/>
            <a:ext cx="1938528" cy="164592"/>
          </a:xfrm>
          <a:prstGeom prst="rect">
            <a:avLst/>
          </a:prstGeom>
          <a:noFill/>
        </p:spPr>
        <p:txBody>
          <a:bodyPr wrap="square" lIns="0" rIns="0" tIns="0" bIns="0" anchor="t">
            <a:spAutoFit/>
          </a:bodyPr>
          <a:lstStyle/>
          <a:p>
            <a:pPr algn="ctr">
              <a:lnSpc>
                <a:spcPct val="110000"/>
              </a:lnSpc>
              <a:spcAft>
                <a:spcPts val="0"/>
              </a:spcAft>
            </a:pPr>
            <a:r>
              <a:rPr sz="930" b="0">
                <a:solidFill>
                  <a:srgbClr val="586B7E"/>
                </a:solidFill>
                <a:latin typeface="Arial"/>
                <a:ea typeface="Arial"/>
                <a:cs typeface="Arial"/>
              </a:rPr>
              <a:t>Compute · KV / cache</a:t>
            </a:r>
          </a:p>
        </p:txBody>
      </p:sp>
      <p:cxnSp>
        <p:nvCxnSpPr>
          <p:cNvPr id="35" name="Connector 34"/>
          <p:cNvCxnSpPr/>
          <p:nvPr/>
        </p:nvCxnSpPr>
        <p:spPr>
          <a:xfrm>
            <a:off x="10588752" y="3328416"/>
            <a:ext cx="0" cy="2267712"/>
          </a:xfrm>
          <a:prstGeom prst="line">
            <a:avLst/>
          </a:prstGeom>
          <a:ln w="1524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36" name="Rounded Rectangle 35"/>
          <p:cNvSpPr/>
          <p:nvPr/>
        </p:nvSpPr>
        <p:spPr>
          <a:xfrm>
            <a:off x="548640" y="3026664"/>
            <a:ext cx="11045952" cy="274320"/>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3076956"/>
            <a:ext cx="10698480" cy="201168"/>
          </a:xfrm>
          <a:prstGeom prst="rect">
            <a:avLst/>
          </a:prstGeom>
          <a:noFill/>
        </p:spPr>
        <p:txBody>
          <a:bodyPr wrap="square" lIns="0" rIns="0" tIns="0" bIns="0" anchor="t">
            <a:spAutoFit/>
          </a:bodyPr>
          <a:lstStyle/>
          <a:p>
            <a:pPr algn="ctr">
              <a:lnSpc>
                <a:spcPct val="110000"/>
              </a:lnSpc>
              <a:spcAft>
                <a:spcPts val="0"/>
              </a:spcAft>
            </a:pPr>
            <a:r>
              <a:rPr sz="1150" b="0">
                <a:solidFill>
                  <a:srgbClr val="586B7E"/>
                </a:solidFill>
                <a:latin typeface="Arial"/>
                <a:ea typeface="Arial"/>
                <a:cs typeface="Arial"/>
              </a:rPr>
              <a:t>Session setup: EngineClient creates handle + buffer → Manager admits the session and shares that buffer → result returns</a:t>
            </a:r>
          </a:p>
        </p:txBody>
      </p:sp>
      <p:cxnSp>
        <p:nvCxnSpPr>
          <p:cNvPr id="38" name="Connector 37"/>
          <p:cNvCxnSpPr/>
          <p:nvPr/>
        </p:nvCxnSpPr>
        <p:spPr>
          <a:xfrm>
            <a:off x="1261872"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1316736" y="3337560"/>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audio / video</a:t>
            </a:r>
          </a:p>
        </p:txBody>
      </p:sp>
      <p:cxnSp>
        <p:nvCxnSpPr>
          <p:cNvPr id="40" name="Connector 39"/>
          <p:cNvCxnSpPr/>
          <p:nvPr/>
        </p:nvCxnSpPr>
        <p:spPr>
          <a:xfrm>
            <a:off x="3401568" y="3602736"/>
            <a:ext cx="2139696"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3456432" y="3337560"/>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command</a:t>
            </a:r>
          </a:p>
        </p:txBody>
      </p:sp>
      <p:cxnSp>
        <p:nvCxnSpPr>
          <p:cNvPr id="42" name="Connector 41"/>
          <p:cNvCxnSpPr/>
          <p:nvPr/>
        </p:nvCxnSpPr>
        <p:spPr>
          <a:xfrm>
            <a:off x="5541264" y="3602736"/>
            <a:ext cx="2359152" cy="0"/>
          </a:xfrm>
          <a:prstGeom prst="line">
            <a:avLst/>
          </a:prstGeom>
          <a:ln w="2032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5596127" y="3337560"/>
            <a:ext cx="2249424" cy="210312"/>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Enqueue to Runner mailbox</a:t>
            </a:r>
          </a:p>
        </p:txBody>
      </p:sp>
      <p:sp>
        <p:nvSpPr>
          <p:cNvPr id="44" name="Rounded Rectangle 43"/>
          <p:cNvSpPr/>
          <p:nvPr/>
        </p:nvSpPr>
        <p:spPr>
          <a:xfrm>
            <a:off x="7818120" y="3602736"/>
            <a:ext cx="164592" cy="365760"/>
          </a:xfrm>
          <a:prstGeom prst="roundRect">
            <a:avLst>
              <a:gd name="adj" fmla="val 10000"/>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5" name="Connector 44"/>
          <p:cNvCxnSpPr/>
          <p:nvPr/>
        </p:nvCxnSpPr>
        <p:spPr>
          <a:xfrm>
            <a:off x="7900416" y="3995928"/>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6" name="TextBox 45"/>
          <p:cNvSpPr txBox="1"/>
          <p:nvPr/>
        </p:nvSpPr>
        <p:spPr>
          <a:xfrm>
            <a:off x="7955280" y="3730752"/>
            <a:ext cx="257860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Plugin plan → Stage request</a:t>
            </a:r>
          </a:p>
        </p:txBody>
      </p:sp>
      <p:sp>
        <p:nvSpPr>
          <p:cNvPr id="47" name="Rounded Rectangle 46"/>
          <p:cNvSpPr/>
          <p:nvPr/>
        </p:nvSpPr>
        <p:spPr>
          <a:xfrm>
            <a:off x="10506456" y="3995928"/>
            <a:ext cx="164592" cy="896112"/>
          </a:xfrm>
          <a:prstGeom prst="roundRect">
            <a:avLst>
              <a:gd name="adj" fmla="val 10000"/>
            </a:avLst>
          </a:prstGeom>
          <a:solidFill>
            <a:srgbClr val="FBF4E8"/>
          </a:solidFill>
          <a:ln w="11430">
            <a:solidFill>
              <a:srgbClr val="AD761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8" name="Connector 47"/>
          <p:cNvCxnSpPr/>
          <p:nvPr/>
        </p:nvCxnSpPr>
        <p:spPr>
          <a:xfrm>
            <a:off x="1261872" y="4334256"/>
            <a:ext cx="6638544" cy="0"/>
          </a:xfrm>
          <a:prstGeom prst="line">
            <a:avLst/>
          </a:prstGeom>
          <a:ln w="2032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49" name="TextBox 48"/>
          <p:cNvSpPr txBox="1"/>
          <p:nvPr/>
        </p:nvSpPr>
        <p:spPr>
          <a:xfrm>
            <a:off x="1316736" y="4059936"/>
            <a:ext cx="6528816" cy="210312"/>
          </a:xfrm>
          <a:prstGeom prst="rect">
            <a:avLst/>
          </a:prstGeom>
          <a:noFill/>
        </p:spPr>
        <p:txBody>
          <a:bodyPr wrap="square" lIns="0" rIns="0" tIns="0" bIns="0" anchor="t">
            <a:spAutoFit/>
          </a:bodyPr>
          <a:lstStyle/>
          <a:p>
            <a:pPr algn="ctr">
              <a:lnSpc>
                <a:spcPct val="110000"/>
              </a:lnSpc>
              <a:spcAft>
                <a:spcPts val="0"/>
              </a:spcAft>
            </a:pPr>
            <a:r>
              <a:rPr sz="1150" b="0">
                <a:solidFill>
                  <a:srgbClr val="327CEC"/>
                </a:solidFill>
                <a:latin typeface="Arial"/>
                <a:ea typeface="Arial"/>
                <a:cs typeface="Arial"/>
              </a:rPr>
              <a:t>Next input chunk arrives while Stage computation / output continues</a:t>
            </a:r>
          </a:p>
        </p:txBody>
      </p:sp>
      <p:cxnSp>
        <p:nvCxnSpPr>
          <p:cNvPr id="50" name="Connector 49"/>
          <p:cNvCxnSpPr/>
          <p:nvPr/>
        </p:nvCxnSpPr>
        <p:spPr>
          <a:xfrm flipH="1">
            <a:off x="7900416" y="4892040"/>
            <a:ext cx="268833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955280" y="4626864"/>
            <a:ext cx="2578607"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Stage output</a:t>
            </a:r>
          </a:p>
        </p:txBody>
      </p:sp>
      <p:cxnSp>
        <p:nvCxnSpPr>
          <p:cNvPr id="52" name="Connector 51"/>
          <p:cNvCxnSpPr/>
          <p:nvPr/>
        </p:nvCxnSpPr>
        <p:spPr>
          <a:xfrm flipH="1">
            <a:off x="5541264" y="4892040"/>
            <a:ext cx="2359152"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5596127" y="4626864"/>
            <a:ext cx="2249424"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Per-session output buffer</a:t>
            </a:r>
          </a:p>
        </p:txBody>
      </p:sp>
      <p:cxnSp>
        <p:nvCxnSpPr>
          <p:cNvPr id="54" name="Connector 53"/>
          <p:cNvCxnSpPr/>
          <p:nvPr/>
        </p:nvCxnSpPr>
        <p:spPr>
          <a:xfrm flipH="1">
            <a:off x="3401568"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456432" y="4626864"/>
            <a:ext cx="2029967" cy="210312"/>
          </a:xfrm>
          <a:prstGeom prst="rect">
            <a:avLst/>
          </a:prstGeom>
          <a:noFill/>
        </p:spPr>
        <p:txBody>
          <a:bodyPr wrap="square" lIns="0" rIns="0" tIns="0" bIns="0" anchor="t">
            <a:spAutoFit/>
          </a:bodyPr>
          <a:lstStyle/>
          <a:p>
            <a:pPr algn="ctr">
              <a:lnSpc>
                <a:spcPct val="110000"/>
              </a:lnSpc>
              <a:spcAft>
                <a:spcPts val="0"/>
              </a:spcAft>
            </a:pPr>
            <a:r>
              <a:rPr sz="1100" b="0">
                <a:solidFill>
                  <a:srgbClr val="008E96"/>
                </a:solidFill>
                <a:latin typeface="Arial"/>
                <a:ea typeface="Arial"/>
                <a:cs typeface="Arial"/>
              </a:rPr>
              <a:t>handle.events() → API pump</a:t>
            </a:r>
          </a:p>
        </p:txBody>
      </p:sp>
      <p:cxnSp>
        <p:nvCxnSpPr>
          <p:cNvPr id="56" name="Connector 55"/>
          <p:cNvCxnSpPr/>
          <p:nvPr/>
        </p:nvCxnSpPr>
        <p:spPr>
          <a:xfrm flipH="1">
            <a:off x="1261872" y="4892040"/>
            <a:ext cx="2139696" cy="0"/>
          </a:xfrm>
          <a:prstGeom prst="line">
            <a:avLst/>
          </a:prstGeom>
          <a:ln w="2032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7" name="TextBox 56"/>
          <p:cNvSpPr txBox="1"/>
          <p:nvPr/>
        </p:nvSpPr>
        <p:spPr>
          <a:xfrm>
            <a:off x="1316736" y="4626864"/>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008E96"/>
                </a:solidFill>
                <a:latin typeface="Arial"/>
                <a:ea typeface="Arial"/>
                <a:cs typeface="Arial"/>
              </a:rPr>
              <a:t>text / audio</a:t>
            </a:r>
          </a:p>
        </p:txBody>
      </p:sp>
      <p:sp>
        <p:nvSpPr>
          <p:cNvPr id="58" name="Rounded Rectangle 57"/>
          <p:cNvSpPr/>
          <p:nvPr/>
        </p:nvSpPr>
        <p:spPr>
          <a:xfrm>
            <a:off x="1179576" y="4892040"/>
            <a:ext cx="164592" cy="448056"/>
          </a:xfrm>
          <a:prstGeom prst="roundRect">
            <a:avLst>
              <a:gd name="adj" fmla="val 10000"/>
            </a:avLst>
          </a:prstGeom>
          <a:solidFill>
            <a:srgbClr val="EAF7F6"/>
          </a:solidFill>
          <a:ln w="11430">
            <a:solidFill>
              <a:srgbClr val="008E96"/>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1435608" y="5038344"/>
            <a:ext cx="914400" cy="210312"/>
          </a:xfrm>
          <a:prstGeom prst="rect">
            <a:avLst/>
          </a:prstGeom>
          <a:noFill/>
        </p:spPr>
        <p:txBody>
          <a:bodyPr wrap="square" lIns="0" rIns="0" tIns="0" bIns="0" anchor="t">
            <a:spAutoFit/>
          </a:bodyPr>
          <a:lstStyle/>
          <a:p>
            <a:pPr algn="l">
              <a:lnSpc>
                <a:spcPct val="110000"/>
              </a:lnSpc>
              <a:spcAft>
                <a:spcPts val="0"/>
              </a:spcAft>
            </a:pPr>
            <a:r>
              <a:rPr sz="1100" b="0">
                <a:solidFill>
                  <a:srgbClr val="008E96"/>
                </a:solidFill>
                <a:latin typeface="Arial"/>
                <a:ea typeface="Arial"/>
                <a:cs typeface="Arial"/>
              </a:rPr>
              <a:t>playback</a:t>
            </a:r>
          </a:p>
        </p:txBody>
      </p:sp>
      <p:cxnSp>
        <p:nvCxnSpPr>
          <p:cNvPr id="60" name="Connector 59"/>
          <p:cNvCxnSpPr/>
          <p:nvPr/>
        </p:nvCxnSpPr>
        <p:spPr>
          <a:xfrm>
            <a:off x="1261872"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1" name="TextBox 60"/>
          <p:cNvSpPr txBox="1"/>
          <p:nvPr/>
        </p:nvSpPr>
        <p:spPr>
          <a:xfrm>
            <a:off x="1316736" y="5285232"/>
            <a:ext cx="2029968"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playback ACK</a:t>
            </a:r>
          </a:p>
        </p:txBody>
      </p:sp>
      <p:cxnSp>
        <p:nvCxnSpPr>
          <p:cNvPr id="62" name="Connector 61"/>
          <p:cNvCxnSpPr/>
          <p:nvPr/>
        </p:nvCxnSpPr>
        <p:spPr>
          <a:xfrm>
            <a:off x="3401568" y="5550408"/>
            <a:ext cx="2139696"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3" name="TextBox 62"/>
          <p:cNvSpPr txBox="1"/>
          <p:nvPr/>
        </p:nvSpPr>
        <p:spPr>
          <a:xfrm>
            <a:off x="3456432" y="5285232"/>
            <a:ext cx="2029967" cy="210312"/>
          </a:xfrm>
          <a:prstGeom prst="rect">
            <a:avLst/>
          </a:prstGeom>
          <a:noFill/>
        </p:spPr>
        <p:txBody>
          <a:bodyPr wrap="square" lIns="0" rIns="0" tIns="0" bIns="0" anchor="t">
            <a:spAutoFit/>
          </a:bodyPr>
          <a:lstStyle/>
          <a:p>
            <a:pPr algn="ctr">
              <a:lnSpc>
                <a:spcPct val="110000"/>
              </a:lnSpc>
              <a:spcAft>
                <a:spcPts val="0"/>
              </a:spcAft>
            </a:pPr>
            <a:r>
              <a:rPr sz="1150" b="0">
                <a:solidFill>
                  <a:srgbClr val="AD761E"/>
                </a:solidFill>
                <a:latin typeface="Arial"/>
                <a:ea typeface="Arial"/>
                <a:cs typeface="Arial"/>
              </a:rPr>
              <a:t>command</a:t>
            </a:r>
          </a:p>
        </p:txBody>
      </p:sp>
      <p:cxnSp>
        <p:nvCxnSpPr>
          <p:cNvPr id="64" name="Connector 63"/>
          <p:cNvCxnSpPr/>
          <p:nvPr/>
        </p:nvCxnSpPr>
        <p:spPr>
          <a:xfrm>
            <a:off x="5541264" y="5550408"/>
            <a:ext cx="2359152" cy="0"/>
          </a:xfrm>
          <a:prstGeom prst="line">
            <a:avLst/>
          </a:prstGeom>
          <a:ln w="20320">
            <a:solidFill>
              <a:srgbClr val="AD761E"/>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5596127" y="5285232"/>
            <a:ext cx="2249424" cy="210312"/>
          </a:xfrm>
          <a:prstGeom prst="rect">
            <a:avLst/>
          </a:prstGeom>
          <a:noFill/>
        </p:spPr>
        <p:txBody>
          <a:bodyPr wrap="square" lIns="0" rIns="0" tIns="0" bIns="0" anchor="t">
            <a:spAutoFit/>
          </a:bodyPr>
          <a:lstStyle/>
          <a:p>
            <a:pPr algn="ctr">
              <a:lnSpc>
                <a:spcPct val="110000"/>
              </a:lnSpc>
              <a:spcAft>
                <a:spcPts val="0"/>
              </a:spcAft>
            </a:pPr>
            <a:r>
              <a:rPr sz="1050" b="0">
                <a:solidFill>
                  <a:srgbClr val="AD761E"/>
                </a:solidFill>
                <a:latin typeface="Arial"/>
                <a:ea typeface="Arial"/>
                <a:cs typeface="Arial"/>
              </a:rPr>
              <a:t>ACK → update playback progress</a:t>
            </a:r>
          </a:p>
        </p:txBody>
      </p:sp>
      <p:sp>
        <p:nvSpPr>
          <p:cNvPr id="66" name="Rounded Rectangle 65"/>
          <p:cNvSpPr/>
          <p:nvPr/>
        </p:nvSpPr>
        <p:spPr>
          <a:xfrm>
            <a:off x="548640" y="5916168"/>
            <a:ext cx="11045952" cy="365760"/>
          </a:xfrm>
          <a:prstGeom prst="roundRect">
            <a:avLst>
              <a:gd name="adj" fmla="val 10000"/>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TextBox 66"/>
          <p:cNvSpPr txBox="1"/>
          <p:nvPr/>
        </p:nvSpPr>
        <p:spPr>
          <a:xfrm>
            <a:off x="749808" y="6007608"/>
            <a:ext cx="10643616" cy="210312"/>
          </a:xfrm>
          <a:prstGeom prst="rect">
            <a:avLst/>
          </a:prstGeom>
          <a:noFill/>
        </p:spPr>
        <p:txBody>
          <a:bodyPr wrap="square" lIns="0" rIns="0" tIns="0" bIns="0" anchor="t">
            <a:spAutoFit/>
          </a:bodyPr>
          <a:lstStyle/>
          <a:p>
            <a:pPr algn="ctr">
              <a:lnSpc>
                <a:spcPct val="110000"/>
              </a:lnSpc>
              <a:spcAft>
                <a:spcPts val="0"/>
              </a:spcAft>
            </a:pPr>
            <a:r>
              <a:rPr sz="1300" b="0">
                <a:solidFill>
                  <a:srgbClr val="142B45"/>
                </a:solidFill>
                <a:latin typeface="Arial"/>
                <a:ea typeface="Arial"/>
                <a:cs typeface="Arial"/>
              </a:rPr>
              <a:t>Continuous input · Bounded output per session · Playback progress reported separately</a:t>
            </a:r>
          </a:p>
        </p:txBody>
      </p:sp>
      <p:sp>
        <p:nvSpPr>
          <p:cNvPr id="68" name="TextBox 67"/>
          <p:cNvSpPr txBox="1"/>
          <p:nvPr/>
        </p:nvSpPr>
        <p:spPr>
          <a:xfrm>
            <a:off x="594360" y="6309360"/>
            <a:ext cx="10972800" cy="128016"/>
          </a:xfrm>
          <a:prstGeom prst="rect">
            <a:avLst/>
          </a:prstGeom>
          <a:noFill/>
        </p:spPr>
        <p:txBody>
          <a:bodyPr wrap="square" lIns="0" rIns="0" tIns="0" bIns="0" anchor="t">
            <a:spAutoFit/>
          </a:bodyPr>
          <a:lstStyle/>
          <a:p>
            <a:pPr algn="ctr">
              <a:lnSpc>
                <a:spcPct val="110000"/>
              </a:lnSpc>
              <a:spcAft>
                <a:spcPts val="0"/>
              </a:spcAft>
            </a:pPr>
            <a:r>
              <a:rPr sz="850" b="0">
                <a:solidFill>
                  <a:srgbClr val="586B7E"/>
                </a:solidFill>
                <a:latin typeface="Arial"/>
                <a:ea typeface="Arial"/>
                <a:cs typeface="Arial"/>
              </a:rPr>
              <a:t>Session event ACKs stay at the API. Playback ACKs reach the Runner; history updates depend on model support.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State handling: live computation and conversation history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MiniCPM updates a live request; AURA and Qwen3-Omni submit a new request for each committed turn.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07 / 12</a:t>
            </a:r>
          </a:p>
        </p:txBody>
      </p:sp>
      <p:sp>
        <p:nvSpPr>
          <p:cNvPr id="12" name="TextBox 11"/>
          <p:cNvSpPr txBox="1"/>
          <p:nvPr/>
        </p:nvSpPr>
        <p:spPr>
          <a:xfrm>
            <a:off x="713232" y="2093976"/>
            <a:ext cx="193852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MODEL</a:t>
            </a:r>
          </a:p>
        </p:txBody>
      </p:sp>
      <p:sp>
        <p:nvSpPr>
          <p:cNvPr id="13" name="TextBox 12"/>
          <p:cNvSpPr txBox="1"/>
          <p:nvPr/>
        </p:nvSpPr>
        <p:spPr>
          <a:xfrm>
            <a:off x="2770632" y="2093976"/>
            <a:ext cx="2578608"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INPUT HANDLING</a:t>
            </a:r>
          </a:p>
        </p:txBody>
      </p:sp>
      <p:sp>
        <p:nvSpPr>
          <p:cNvPr id="14" name="TextBox 13"/>
          <p:cNvSpPr txBox="1"/>
          <p:nvPr/>
        </p:nvSpPr>
        <p:spPr>
          <a:xfrm>
            <a:off x="5532120" y="2093976"/>
            <a:ext cx="571500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STATE RETAINED ACROSS INPUTS</a:t>
            </a:r>
          </a:p>
        </p:txBody>
      </p:sp>
      <p:sp>
        <p:nvSpPr>
          <p:cNvPr id="15" name="Rounded Rectangle 14"/>
          <p:cNvSpPr/>
          <p:nvPr/>
        </p:nvSpPr>
        <p:spPr>
          <a:xfrm>
            <a:off x="548640" y="2386584"/>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713232" y="2441448"/>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MiniCPM-o 4.5</a:t>
            </a:r>
          </a:p>
        </p:txBody>
      </p:sp>
      <p:sp>
        <p:nvSpPr>
          <p:cNvPr id="17" name="TextBox 16"/>
          <p:cNvSpPr txBox="1"/>
          <p:nvPr/>
        </p:nvSpPr>
        <p:spPr>
          <a:xfrm>
            <a:off x="2770632" y="2441448"/>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Chunk → continue live request</a:t>
            </a:r>
          </a:p>
        </p:txBody>
      </p:sp>
      <p:sp>
        <p:nvSpPr>
          <p:cNvPr id="18" name="TextBox 17"/>
          <p:cNvSpPr txBox="1"/>
          <p:nvPr/>
        </p:nvSpPr>
        <p:spPr>
          <a:xfrm>
            <a:off x="5532120" y="2441448"/>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LLM KV / audio state; configurable sliding window</a:t>
            </a:r>
          </a:p>
        </p:txBody>
      </p:sp>
      <p:sp>
        <p:nvSpPr>
          <p:cNvPr id="19" name="Rounded Rectangle 18"/>
          <p:cNvSpPr/>
          <p:nvPr/>
        </p:nvSpPr>
        <p:spPr>
          <a:xfrm>
            <a:off x="548640" y="2779776"/>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13232" y="2834640"/>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AURA</a:t>
            </a:r>
          </a:p>
        </p:txBody>
      </p:sp>
      <p:sp>
        <p:nvSpPr>
          <p:cNvPr id="21" name="TextBox 20"/>
          <p:cNvSpPr txBox="1"/>
          <p:nvPr/>
        </p:nvSpPr>
        <p:spPr>
          <a:xfrm>
            <a:off x="2770632" y="2834640"/>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2" name="TextBox 21"/>
          <p:cNvSpPr txBox="1"/>
          <p:nvPr/>
        </p:nvSpPr>
        <p:spPr>
          <a:xfrm>
            <a:off x="5532120" y="2834640"/>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ASR text, video clips and assistant text; rebuild prompt each turn</a:t>
            </a:r>
          </a:p>
        </p:txBody>
      </p:sp>
      <p:sp>
        <p:nvSpPr>
          <p:cNvPr id="23" name="Rounded Rectangle 22"/>
          <p:cNvSpPr/>
          <p:nvPr/>
        </p:nvSpPr>
        <p:spPr>
          <a:xfrm>
            <a:off x="548640" y="3172968"/>
            <a:ext cx="11082528" cy="34747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13232" y="3227832"/>
            <a:ext cx="1938528" cy="246888"/>
          </a:xfrm>
          <a:prstGeom prst="rect">
            <a:avLst/>
          </a:prstGeom>
          <a:noFill/>
        </p:spPr>
        <p:txBody>
          <a:bodyPr wrap="square" lIns="0" rIns="0" tIns="0" bIns="0" anchor="t">
            <a:spAutoFit/>
          </a:bodyPr>
          <a:lstStyle/>
          <a:p>
            <a:pPr algn="l">
              <a:lnSpc>
                <a:spcPct val="110000"/>
              </a:lnSpc>
              <a:spcAft>
                <a:spcPts val="0"/>
              </a:spcAft>
            </a:pPr>
            <a:r>
              <a:rPr sz="1140" b="1">
                <a:solidFill>
                  <a:srgbClr val="142B45"/>
                </a:solidFill>
                <a:latin typeface="Arial"/>
                <a:ea typeface="Arial"/>
                <a:cs typeface="Arial"/>
              </a:rPr>
              <a:t>Qwen3-Omni</a:t>
            </a:r>
          </a:p>
        </p:txBody>
      </p:sp>
      <p:sp>
        <p:nvSpPr>
          <p:cNvPr id="25" name="TextBox 24"/>
          <p:cNvSpPr txBox="1"/>
          <p:nvPr/>
        </p:nvSpPr>
        <p:spPr>
          <a:xfrm>
            <a:off x="2770632" y="3227832"/>
            <a:ext cx="2578608"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Commit turn → new request</a:t>
            </a:r>
          </a:p>
        </p:txBody>
      </p:sp>
      <p:sp>
        <p:nvSpPr>
          <p:cNvPr id="26" name="TextBox 25"/>
          <p:cNvSpPr txBox="1"/>
          <p:nvPr/>
        </p:nvSpPr>
        <p:spPr>
          <a:xfrm>
            <a:off x="5532120" y="3227832"/>
            <a:ext cx="5715000" cy="246888"/>
          </a:xfrm>
          <a:prstGeom prst="rect">
            <a:avLst/>
          </a:prstGeom>
          <a:noFill/>
        </p:spPr>
        <p:txBody>
          <a:bodyPr wrap="square" lIns="0" rIns="0" tIns="0" bIns="0" anchor="t">
            <a:spAutoFit/>
          </a:bodyPr>
          <a:lstStyle/>
          <a:p>
            <a:pPr algn="l">
              <a:lnSpc>
                <a:spcPct val="110000"/>
              </a:lnSpc>
              <a:spcAft>
                <a:spcPts val="0"/>
              </a:spcAft>
            </a:pPr>
            <a:r>
              <a:rPr sz="1140" b="0">
                <a:solidFill>
                  <a:srgbClr val="142B45"/>
                </a:solidFill>
                <a:latin typeface="Arial"/>
                <a:ea typeface="Arial"/>
                <a:cs typeface="Arial"/>
              </a:rPr>
              <a:t>User audio, image frames and text; rebuild prompt each turn</a:t>
            </a:r>
          </a:p>
        </p:txBody>
      </p:sp>
      <p:sp>
        <p:nvSpPr>
          <p:cNvPr id="27" name="Rounded Rectangle 26"/>
          <p:cNvSpPr/>
          <p:nvPr/>
        </p:nvSpPr>
        <p:spPr>
          <a:xfrm>
            <a:off x="548640" y="3749039"/>
            <a:ext cx="11082528" cy="106984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722376" y="3913632"/>
            <a:ext cx="2029968" cy="265176"/>
          </a:xfrm>
          <a:prstGeom prst="rect">
            <a:avLst/>
          </a:prstGeom>
          <a:noFill/>
        </p:spPr>
        <p:txBody>
          <a:bodyPr wrap="square" lIns="0" rIns="0" tIns="0" bIns="0" anchor="t">
            <a:spAutoFit/>
          </a:bodyPr>
          <a:lstStyle/>
          <a:p>
            <a:pPr algn="l">
              <a:lnSpc>
                <a:spcPct val="110000"/>
              </a:lnSpc>
              <a:spcAft>
                <a:spcPts val="0"/>
              </a:spcAft>
            </a:pPr>
            <a:r>
              <a:rPr sz="1600" b="1">
                <a:solidFill>
                  <a:srgbClr val="327CEC"/>
                </a:solidFill>
                <a:latin typeface="Arial"/>
                <a:ea typeface="Arial"/>
                <a:cs typeface="Arial"/>
              </a:rPr>
              <a:t>MiniCPM-o 4.5</a:t>
            </a:r>
          </a:p>
        </p:txBody>
      </p:sp>
      <p:sp>
        <p:nvSpPr>
          <p:cNvPr id="29" name="TextBox 28"/>
          <p:cNvSpPr txBox="1"/>
          <p:nvPr/>
        </p:nvSpPr>
        <p:spPr>
          <a:xfrm>
            <a:off x="722376" y="4261104"/>
            <a:ext cx="1975104" cy="210312"/>
          </a:xfrm>
          <a:prstGeom prst="rect">
            <a:avLst/>
          </a:prstGeom>
          <a:noFill/>
        </p:spPr>
        <p:txBody>
          <a:bodyPr wrap="square" lIns="0" rIns="0" tIns="0" bIns="0" anchor="t">
            <a:spAutoFit/>
          </a:bodyPr>
          <a:lstStyle/>
          <a:p>
            <a:pPr algn="l">
              <a:lnSpc>
                <a:spcPct val="110000"/>
              </a:lnSpc>
              <a:spcAft>
                <a:spcPts val="0"/>
              </a:spcAft>
            </a:pPr>
            <a:r>
              <a:rPr sz="1200" b="0">
                <a:solidFill>
                  <a:srgbClr val="327CEC"/>
                </a:solidFill>
                <a:latin typeface="Arial"/>
                <a:ea typeface="Arial"/>
                <a:cs typeface="Arial"/>
              </a:rPr>
              <a:t>native duplex</a:t>
            </a:r>
          </a:p>
        </p:txBody>
      </p:sp>
      <p:sp>
        <p:nvSpPr>
          <p:cNvPr id="30" name="TextBox 29"/>
          <p:cNvSpPr txBox="1"/>
          <p:nvPr/>
        </p:nvSpPr>
        <p:spPr>
          <a:xfrm>
            <a:off x="722376" y="4553712"/>
            <a:ext cx="1984248" cy="1645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Continuous audio + video</a:t>
            </a:r>
          </a:p>
        </p:txBody>
      </p:sp>
      <p:sp>
        <p:nvSpPr>
          <p:cNvPr id="31" name="Rounded Rectangle 30"/>
          <p:cNvSpPr/>
          <p:nvPr/>
        </p:nvSpPr>
        <p:spPr>
          <a:xfrm>
            <a:off x="2898648"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2971800"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Multimodal LLM</a:t>
            </a:r>
          </a:p>
        </p:txBody>
      </p:sp>
      <p:sp>
        <p:nvSpPr>
          <p:cNvPr id="33" name="TextBox 32"/>
          <p:cNvSpPr txBox="1"/>
          <p:nvPr/>
        </p:nvSpPr>
        <p:spPr>
          <a:xfrm>
            <a:off x="2953512"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LLM KV + streaming audio state</a:t>
            </a:r>
          </a:p>
        </p:txBody>
      </p:sp>
      <p:sp>
        <p:nvSpPr>
          <p:cNvPr id="34" name="Rounded Rectangle 33"/>
          <p:cNvSpPr/>
          <p:nvPr/>
        </p:nvSpPr>
        <p:spPr>
          <a:xfrm>
            <a:off x="5897880"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971032"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Talker</a:t>
            </a:r>
          </a:p>
        </p:txBody>
      </p:sp>
      <p:sp>
        <p:nvSpPr>
          <p:cNvPr id="36" name="TextBox 35"/>
          <p:cNvSpPr txBox="1"/>
          <p:nvPr/>
        </p:nvSpPr>
        <p:spPr>
          <a:xfrm>
            <a:off x="5952744"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Per-request TTS state</a:t>
            </a:r>
          </a:p>
        </p:txBody>
      </p:sp>
      <p:sp>
        <p:nvSpPr>
          <p:cNvPr id="37" name="Rounded Rectangle 36"/>
          <p:cNvSpPr/>
          <p:nvPr/>
        </p:nvSpPr>
        <p:spPr>
          <a:xfrm>
            <a:off x="8897112" y="3877056"/>
            <a:ext cx="2221992" cy="557784"/>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8970264" y="3968496"/>
            <a:ext cx="2075688" cy="237744"/>
          </a:xfrm>
          <a:prstGeom prst="rect">
            <a:avLst/>
          </a:prstGeom>
          <a:noFill/>
        </p:spPr>
        <p:txBody>
          <a:bodyPr wrap="square" lIns="0" rIns="0" tIns="0" bIns="0" anchor="t">
            <a:spAutoFit/>
          </a:bodyPr>
          <a:lstStyle/>
          <a:p>
            <a:pPr algn="ctr">
              <a:lnSpc>
                <a:spcPct val="110000"/>
              </a:lnSpc>
              <a:spcAft>
                <a:spcPts val="0"/>
              </a:spcAft>
            </a:pPr>
            <a:r>
              <a:rPr sz="1500" b="1">
                <a:solidFill>
                  <a:srgbClr val="327CEC"/>
                </a:solidFill>
                <a:latin typeface="Arial"/>
                <a:ea typeface="Arial"/>
                <a:cs typeface="Arial"/>
              </a:rPr>
              <a:t>Code2Wav</a:t>
            </a:r>
          </a:p>
        </p:txBody>
      </p:sp>
      <p:sp>
        <p:nvSpPr>
          <p:cNvPr id="39" name="TextBox 38"/>
          <p:cNvSpPr txBox="1"/>
          <p:nvPr/>
        </p:nvSpPr>
        <p:spPr>
          <a:xfrm>
            <a:off x="8951976" y="4261104"/>
            <a:ext cx="2112264" cy="164592"/>
          </a:xfrm>
          <a:prstGeom prst="rect">
            <a:avLst/>
          </a:prstGeom>
          <a:noFill/>
        </p:spPr>
        <p:txBody>
          <a:bodyPr wrap="square" lIns="0" rIns="0" tIns="0" bIns="0" anchor="t">
            <a:spAutoFit/>
          </a:bodyPr>
          <a:lstStyle/>
          <a:p>
            <a:pPr algn="ctr">
              <a:lnSpc>
                <a:spcPct val="110000"/>
              </a:lnSpc>
              <a:spcAft>
                <a:spcPts val="0"/>
              </a:spcAft>
            </a:pPr>
            <a:r>
              <a:rPr sz="1010" b="0">
                <a:solidFill>
                  <a:srgbClr val="586B7E"/>
                </a:solidFill>
                <a:latin typeface="Arial"/>
                <a:ea typeface="Arial"/>
                <a:cs typeface="Arial"/>
              </a:rPr>
              <a:t>Decoder cache</a:t>
            </a:r>
          </a:p>
        </p:txBody>
      </p:sp>
      <p:cxnSp>
        <p:nvCxnSpPr>
          <p:cNvPr id="40" name="Connector 39"/>
          <p:cNvCxnSpPr/>
          <p:nvPr/>
        </p:nvCxnSpPr>
        <p:spPr>
          <a:xfrm>
            <a:off x="5157216"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5175504" y="3931920"/>
            <a:ext cx="612648" cy="155448"/>
          </a:xfrm>
          <a:prstGeom prst="rect">
            <a:avLst/>
          </a:prstGeom>
          <a:noFill/>
        </p:spPr>
        <p:txBody>
          <a:bodyPr wrap="square" lIns="0" rIns="0" tIns="0" bIns="0" anchor="t">
            <a:spAutoFit/>
          </a:bodyPr>
          <a:lstStyle/>
          <a:p>
            <a:pPr algn="ctr">
              <a:lnSpc>
                <a:spcPct val="110000"/>
              </a:lnSpc>
              <a:spcAft>
                <a:spcPts val="0"/>
              </a:spcAft>
            </a:pPr>
            <a:r>
              <a:rPr sz="900" b="0">
                <a:solidFill>
                  <a:srgbClr val="327CEC"/>
                </a:solidFill>
                <a:latin typeface="Arial"/>
                <a:ea typeface="Arial"/>
                <a:cs typeface="Arial"/>
              </a:rPr>
              <a:t>SPEAK</a:t>
            </a:r>
          </a:p>
        </p:txBody>
      </p:sp>
      <p:cxnSp>
        <p:nvCxnSpPr>
          <p:cNvPr id="42" name="Connector 41"/>
          <p:cNvCxnSpPr/>
          <p:nvPr/>
        </p:nvCxnSpPr>
        <p:spPr>
          <a:xfrm>
            <a:off x="8156448" y="4142232"/>
            <a:ext cx="667512"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2898648" y="4572000"/>
            <a:ext cx="8238744" cy="17373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LISTEN keeps the live request; later input reuses its bound Replica and retained KV.</a:t>
            </a:r>
          </a:p>
        </p:txBody>
      </p:sp>
      <p:sp>
        <p:nvSpPr>
          <p:cNvPr id="44" name="Rounded Rectangle 43"/>
          <p:cNvSpPr/>
          <p:nvPr/>
        </p:nvSpPr>
        <p:spPr>
          <a:xfrm>
            <a:off x="548640" y="4965192"/>
            <a:ext cx="11082528" cy="941832"/>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722376" y="5093208"/>
            <a:ext cx="1920240" cy="265176"/>
          </a:xfrm>
          <a:prstGeom prst="rect">
            <a:avLst/>
          </a:prstGeom>
          <a:noFill/>
        </p:spPr>
        <p:txBody>
          <a:bodyPr wrap="square" lIns="0" rIns="0" tIns="0" bIns="0" anchor="t">
            <a:spAutoFit/>
          </a:bodyPr>
          <a:lstStyle/>
          <a:p>
            <a:pPr algn="l">
              <a:lnSpc>
                <a:spcPct val="110000"/>
              </a:lnSpc>
              <a:spcAft>
                <a:spcPts val="0"/>
              </a:spcAft>
            </a:pPr>
            <a:r>
              <a:rPr sz="1600" b="1">
                <a:solidFill>
                  <a:srgbClr val="008E96"/>
                </a:solidFill>
                <a:latin typeface="Arial"/>
                <a:ea typeface="Arial"/>
                <a:cs typeface="Arial"/>
              </a:rPr>
              <a:t>AURA</a:t>
            </a:r>
          </a:p>
        </p:txBody>
      </p:sp>
      <p:sp>
        <p:nvSpPr>
          <p:cNvPr id="46" name="TextBox 45"/>
          <p:cNvSpPr txBox="1"/>
          <p:nvPr/>
        </p:nvSpPr>
        <p:spPr>
          <a:xfrm>
            <a:off x="722376" y="5468112"/>
            <a:ext cx="2011680" cy="283464"/>
          </a:xfrm>
          <a:prstGeom prst="rect">
            <a:avLst/>
          </a:prstGeom>
          <a:noFill/>
        </p:spPr>
        <p:txBody>
          <a:bodyPr wrap="square" lIns="0" rIns="0" tIns="0" bIns="0" anchor="t">
            <a:spAutoFit/>
          </a:bodyPr>
          <a:lstStyle/>
          <a:p>
            <a:pPr algn="l">
              <a:lnSpc>
                <a:spcPct val="110000"/>
              </a:lnSpc>
              <a:spcAft>
                <a:spcPts val="0"/>
              </a:spcAft>
            </a:pPr>
            <a:r>
              <a:rPr sz="1070" b="0">
                <a:solidFill>
                  <a:srgbClr val="008E96"/>
                </a:solidFill>
                <a:latin typeface="Arial"/>
                <a:ea typeface="Arial"/>
                <a:cs typeface="Arial"/>
              </a:rPr>
              <a:t>Turn-based · audio/video commit</a:t>
            </a:r>
          </a:p>
        </p:txBody>
      </p:sp>
      <p:sp>
        <p:nvSpPr>
          <p:cNvPr id="47" name="Rounded Rectangle 46"/>
          <p:cNvSpPr/>
          <p:nvPr/>
        </p:nvSpPr>
        <p:spPr>
          <a:xfrm>
            <a:off x="289864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294436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ASR</a:t>
            </a:r>
          </a:p>
        </p:txBody>
      </p:sp>
      <p:sp>
        <p:nvSpPr>
          <p:cNvPr id="49" name="TextBox 48"/>
          <p:cNvSpPr txBox="1"/>
          <p:nvPr/>
        </p:nvSpPr>
        <p:spPr>
          <a:xfrm>
            <a:off x="2926079"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Audio → text</a:t>
            </a:r>
          </a:p>
        </p:txBody>
      </p:sp>
      <p:cxnSp>
        <p:nvCxnSpPr>
          <p:cNvPr id="50" name="Connector 49"/>
          <p:cNvCxnSpPr/>
          <p:nvPr/>
        </p:nvCxnSpPr>
        <p:spPr>
          <a:xfrm>
            <a:off x="460857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1" name="Rounded Rectangle 50"/>
          <p:cNvSpPr/>
          <p:nvPr/>
        </p:nvSpPr>
        <p:spPr>
          <a:xfrm>
            <a:off x="509320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13892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Thinker</a:t>
            </a:r>
          </a:p>
        </p:txBody>
      </p:sp>
      <p:sp>
        <p:nvSpPr>
          <p:cNvPr id="53" name="TextBox 52"/>
          <p:cNvSpPr txBox="1"/>
          <p:nvPr/>
        </p:nvSpPr>
        <p:spPr>
          <a:xfrm>
            <a:off x="5120640"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Text + video + history</a:t>
            </a:r>
          </a:p>
        </p:txBody>
      </p:sp>
      <p:cxnSp>
        <p:nvCxnSpPr>
          <p:cNvPr id="54" name="Connector 53"/>
          <p:cNvCxnSpPr/>
          <p:nvPr/>
        </p:nvCxnSpPr>
        <p:spPr>
          <a:xfrm>
            <a:off x="680313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Rounded Rectangle 54"/>
          <p:cNvSpPr/>
          <p:nvPr/>
        </p:nvSpPr>
        <p:spPr>
          <a:xfrm>
            <a:off x="728776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TextBox 55"/>
          <p:cNvSpPr txBox="1"/>
          <p:nvPr/>
        </p:nvSpPr>
        <p:spPr>
          <a:xfrm>
            <a:off x="733348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Talker</a:t>
            </a:r>
          </a:p>
        </p:txBody>
      </p:sp>
      <p:sp>
        <p:nvSpPr>
          <p:cNvPr id="57" name="TextBox 56"/>
          <p:cNvSpPr txBox="1"/>
          <p:nvPr/>
        </p:nvSpPr>
        <p:spPr>
          <a:xfrm>
            <a:off x="7315200"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Sentence speech tokens</a:t>
            </a:r>
          </a:p>
        </p:txBody>
      </p:sp>
      <p:cxnSp>
        <p:nvCxnSpPr>
          <p:cNvPr id="58" name="Connector 57"/>
          <p:cNvCxnSpPr/>
          <p:nvPr/>
        </p:nvCxnSpPr>
        <p:spPr>
          <a:xfrm>
            <a:off x="8997696" y="5321808"/>
            <a:ext cx="411480" cy="0"/>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9" name="Rounded Rectangle 58"/>
          <p:cNvSpPr/>
          <p:nvPr/>
        </p:nvSpPr>
        <p:spPr>
          <a:xfrm>
            <a:off x="9482328" y="5065776"/>
            <a:ext cx="1655064" cy="530352"/>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9528048" y="5129784"/>
            <a:ext cx="1563624" cy="228600"/>
          </a:xfrm>
          <a:prstGeom prst="rect">
            <a:avLst/>
          </a:prstGeom>
          <a:noFill/>
        </p:spPr>
        <p:txBody>
          <a:bodyPr wrap="square" lIns="0" rIns="0" tIns="0" bIns="0" anchor="t">
            <a:spAutoFit/>
          </a:bodyPr>
          <a:lstStyle/>
          <a:p>
            <a:pPr algn="ctr">
              <a:lnSpc>
                <a:spcPct val="110000"/>
              </a:lnSpc>
              <a:spcAft>
                <a:spcPts val="0"/>
              </a:spcAft>
            </a:pPr>
            <a:r>
              <a:rPr sz="1400" b="1">
                <a:solidFill>
                  <a:srgbClr val="008E96"/>
                </a:solidFill>
                <a:latin typeface="Arial"/>
                <a:ea typeface="Arial"/>
                <a:cs typeface="Arial"/>
              </a:rPr>
              <a:t>Code2Wav</a:t>
            </a:r>
          </a:p>
        </p:txBody>
      </p:sp>
      <p:sp>
        <p:nvSpPr>
          <p:cNvPr id="61" name="TextBox 60"/>
          <p:cNvSpPr txBox="1"/>
          <p:nvPr/>
        </p:nvSpPr>
        <p:spPr>
          <a:xfrm>
            <a:off x="9509759" y="5404104"/>
            <a:ext cx="1600200" cy="164592"/>
          </a:xfrm>
          <a:prstGeom prst="rect">
            <a:avLst/>
          </a:prstGeom>
          <a:noFill/>
        </p:spPr>
        <p:txBody>
          <a:bodyPr wrap="square" lIns="0" rIns="0" tIns="0" bIns="0" anchor="t">
            <a:spAutoFit/>
          </a:bodyPr>
          <a:lstStyle/>
          <a:p>
            <a:pPr algn="ctr">
              <a:lnSpc>
                <a:spcPct val="110000"/>
              </a:lnSpc>
              <a:spcAft>
                <a:spcPts val="0"/>
              </a:spcAft>
            </a:pPr>
            <a:r>
              <a:rPr sz="910" b="0">
                <a:solidFill>
                  <a:srgbClr val="586B7E"/>
                </a:solidFill>
                <a:latin typeface="Arial"/>
                <a:ea typeface="Arial"/>
                <a:cs typeface="Arial"/>
              </a:rPr>
              <a:t>Audio chunks</a:t>
            </a:r>
          </a:p>
        </p:txBody>
      </p:sp>
      <p:sp>
        <p:nvSpPr>
          <p:cNvPr id="62" name="TextBox 61"/>
          <p:cNvSpPr txBox="1"/>
          <p:nvPr/>
        </p:nvSpPr>
        <p:spPr>
          <a:xfrm>
            <a:off x="2898648" y="5687568"/>
            <a:ext cx="8275320" cy="173736"/>
          </a:xfrm>
          <a:prstGeom prst="rect">
            <a:avLst/>
          </a:prstGeom>
          <a:noFill/>
        </p:spPr>
        <p:txBody>
          <a:bodyPr wrap="square" lIns="0" rIns="0" tIns="0" bIns="0" anchor="t">
            <a:spAutoFit/>
          </a:bodyPr>
          <a:lstStyle/>
          <a:p>
            <a:pPr algn="l">
              <a:lnSpc>
                <a:spcPct val="110000"/>
              </a:lnSpc>
              <a:spcAft>
                <a:spcPts val="0"/>
              </a:spcAft>
            </a:pPr>
            <a:r>
              <a:rPr sz="1050" b="0">
                <a:solidFill>
                  <a:srgbClr val="142B45"/>
                </a:solidFill>
                <a:latin typeface="Arial"/>
                <a:ea typeface="Arial"/>
                <a:cs typeface="Arial"/>
              </a:rPr>
              <a:t>Qwen3-Omni is also turn-based: Thinker → Talker → Code2Wav, with no separate ASR Stage.</a:t>
            </a:r>
          </a:p>
        </p:txBody>
      </p:sp>
      <p:sp>
        <p:nvSpPr>
          <p:cNvPr id="63" name="TextBox 62"/>
          <p:cNvSpPr txBox="1"/>
          <p:nvPr/>
        </p:nvSpPr>
        <p:spPr>
          <a:xfrm>
            <a:off x="722376" y="6080760"/>
            <a:ext cx="10753344" cy="32918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Stage = one model-compute step; Replica = an execution instance of that Stage.</a:t>
            </a:r>
          </a:p>
          <a:p>
            <a:pPr algn="l">
              <a:lnSpc>
                <a:spcPct val="110000"/>
              </a:lnSpc>
              <a:spcAft>
                <a:spcPts val="0"/>
              </a:spcAft>
            </a:pPr>
            <a:r>
              <a:rPr sz="1050" b="0">
                <a:solidFill>
                  <a:srgbClr val="586B7E"/>
                </a:solidFill>
                <a:latin typeface="Arial"/>
                <a:ea typeface="Arial"/>
                <a:cs typeface="Arial"/>
              </a:rPr>
              <a:t>MiniCPM state reuse requires a live request; AURA can continue sentence TTS within the same turn.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Reconnect and continue the same session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08 / 12</a:t>
            </a:r>
          </a:p>
        </p:txBody>
      </p:sp>
      <p:sp>
        <p:nvSpPr>
          <p:cNvPr id="12" name="TextBox 11"/>
          <p:cNvSpPr txBox="1"/>
          <p:nvPr/>
        </p:nvSpPr>
        <p:spPr>
          <a:xfrm>
            <a:off x="576072" y="1645920"/>
            <a:ext cx="10972800" cy="329184"/>
          </a:xfrm>
          <a:prstGeom prst="rect">
            <a:avLst/>
          </a:prstGeom>
          <a:noFill/>
        </p:spPr>
        <p:txBody>
          <a:bodyPr wrap="square" lIns="0" rIns="0" tIns="0" bIns="0" anchor="t">
            <a:spAutoFit/>
          </a:bodyPr>
          <a:lstStyle/>
          <a:p>
            <a:pPr algn="l">
              <a:lnSpc>
                <a:spcPct val="110000"/>
              </a:lnSpc>
              <a:spcAft>
                <a:spcPts val="0"/>
              </a:spcAft>
            </a:pPr>
            <a:r>
              <a:rPr sz="1500" b="0">
                <a:solidFill>
                  <a:srgbClr val="586B7E"/>
                </a:solidFill>
                <a:latin typeface="Arial"/>
                <a:ea typeface="Arial"/>
                <a:cs typeface="Arial"/>
              </a:rPr>
              <a:t>Reattach to a live engine session with its credentials and replay retained events from the last received position.</a:t>
            </a:r>
          </a:p>
        </p:txBody>
      </p:sp>
      <p:sp>
        <p:nvSpPr>
          <p:cNvPr id="13" name="Rounded Rectangle 12"/>
          <p:cNvSpPr/>
          <p:nvPr/>
        </p:nvSpPr>
        <p:spPr>
          <a:xfrm>
            <a:off x="548640" y="2194560"/>
            <a:ext cx="3200400"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704088" y="2313432"/>
            <a:ext cx="2889504"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User Client</a:t>
            </a:r>
          </a:p>
        </p:txBody>
      </p:sp>
      <p:sp>
        <p:nvSpPr>
          <p:cNvPr id="15" name="TextBox 14"/>
          <p:cNvSpPr txBox="1"/>
          <p:nvPr/>
        </p:nvSpPr>
        <p:spPr>
          <a:xfrm>
            <a:off x="704088" y="2670048"/>
            <a:ext cx="2889504"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Present session credentials</a:t>
            </a:r>
          </a:p>
          <a:p>
            <a:pPr algn="l">
              <a:lnSpc>
                <a:spcPct val="110000"/>
              </a:lnSpc>
              <a:spcAft>
                <a:spcPts val="0"/>
              </a:spcAft>
            </a:pPr>
            <a:r>
              <a:rPr sz="1080" b="0">
                <a:solidFill>
                  <a:srgbClr val="142B45"/>
                </a:solidFill>
                <a:latin typeface="Arial"/>
                <a:ea typeface="Arial"/>
                <a:cs typeface="Arial"/>
              </a:rPr>
              <a:t>Resume from the last received event position</a:t>
            </a:r>
          </a:p>
        </p:txBody>
      </p:sp>
      <p:cxnSp>
        <p:nvCxnSpPr>
          <p:cNvPr id="16" name="Connector 15"/>
          <p:cNvCxnSpPr/>
          <p:nvPr/>
        </p:nvCxnSpPr>
        <p:spPr>
          <a:xfrm>
            <a:off x="3803903" y="2660904"/>
            <a:ext cx="466345"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7" name="Rounded Rectangle 16"/>
          <p:cNvSpPr/>
          <p:nvPr/>
        </p:nvSpPr>
        <p:spPr>
          <a:xfrm>
            <a:off x="4343400" y="2194560"/>
            <a:ext cx="3227832" cy="932688"/>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4498848" y="2313432"/>
            <a:ext cx="2916936" cy="246888"/>
          </a:xfrm>
          <a:prstGeom prst="rect">
            <a:avLst/>
          </a:prstGeom>
          <a:noFill/>
        </p:spPr>
        <p:txBody>
          <a:bodyPr wrap="square" lIns="0" rIns="0" tIns="0" bIns="0" anchor="t">
            <a:spAutoFit/>
          </a:bodyPr>
          <a:lstStyle/>
          <a:p>
            <a:pPr algn="l">
              <a:lnSpc>
                <a:spcPct val="110000"/>
              </a:lnSpc>
              <a:spcAft>
                <a:spcPts val="0"/>
              </a:spcAft>
            </a:pPr>
            <a:r>
              <a:rPr sz="1700" b="1">
                <a:solidFill>
                  <a:srgbClr val="327CEC"/>
                </a:solidFill>
                <a:latin typeface="Arial"/>
                <a:ea typeface="Arial"/>
                <a:cs typeface="Arial"/>
              </a:rPr>
              <a:t>API Server</a:t>
            </a:r>
          </a:p>
        </p:txBody>
      </p:sp>
      <p:sp>
        <p:nvSpPr>
          <p:cNvPr id="19" name="TextBox 18"/>
          <p:cNvSpPr txBox="1"/>
          <p:nvPr/>
        </p:nvSpPr>
        <p:spPr>
          <a:xfrm>
            <a:off x="4498848" y="2670048"/>
            <a:ext cx="2916936"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Validate credentials; bind the new connection</a:t>
            </a:r>
          </a:p>
          <a:p>
            <a:pPr algn="l">
              <a:lnSpc>
                <a:spcPct val="110000"/>
              </a:lnSpc>
              <a:spcAft>
                <a:spcPts val="0"/>
              </a:spcAft>
            </a:pPr>
            <a:r>
              <a:rPr sz="1080" b="0">
                <a:solidFill>
                  <a:srgbClr val="142B45"/>
                </a:solidFill>
                <a:latin typeface="Arial"/>
                <a:ea typeface="Arial"/>
                <a:cs typeface="Arial"/>
              </a:rPr>
              <a:t>Replay retained events</a:t>
            </a:r>
          </a:p>
        </p:txBody>
      </p:sp>
      <p:cxnSp>
        <p:nvCxnSpPr>
          <p:cNvPr id="20" name="Connector 19"/>
          <p:cNvCxnSpPr/>
          <p:nvPr/>
        </p:nvCxnSpPr>
        <p:spPr>
          <a:xfrm>
            <a:off x="7626096" y="2660904"/>
            <a:ext cx="466344" cy="0"/>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1" name="Rounded Rectangle 20"/>
          <p:cNvSpPr/>
          <p:nvPr/>
        </p:nvSpPr>
        <p:spPr>
          <a:xfrm>
            <a:off x="8165592" y="2194560"/>
            <a:ext cx="3465576" cy="932688"/>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21040" y="2313432"/>
            <a:ext cx="3154680" cy="246888"/>
          </a:xfrm>
          <a:prstGeom prst="rect">
            <a:avLst/>
          </a:prstGeom>
          <a:noFill/>
        </p:spPr>
        <p:txBody>
          <a:bodyPr wrap="square" lIns="0" rIns="0" tIns="0" bIns="0" anchor="t">
            <a:spAutoFit/>
          </a:bodyPr>
          <a:lstStyle/>
          <a:p>
            <a:pPr algn="l">
              <a:lnSpc>
                <a:spcPct val="110000"/>
              </a:lnSpc>
              <a:spcAft>
                <a:spcPts val="0"/>
              </a:spcAft>
            </a:pPr>
            <a:r>
              <a:rPr sz="1700" b="1">
                <a:solidFill>
                  <a:srgbClr val="008E96"/>
                </a:solidFill>
                <a:latin typeface="Arial"/>
                <a:ea typeface="Arial"/>
                <a:cs typeface="Arial"/>
              </a:rPr>
              <a:t>Engine session</a:t>
            </a:r>
          </a:p>
        </p:txBody>
      </p:sp>
      <p:sp>
        <p:nvSpPr>
          <p:cNvPr id="23" name="TextBox 22"/>
          <p:cNvSpPr txBox="1"/>
          <p:nvPr/>
        </p:nvSpPr>
        <p:spPr>
          <a:xfrm>
            <a:off x="8321040" y="2670048"/>
            <a:ext cx="3154680" cy="347472"/>
          </a:xfrm>
          <a:prstGeom prst="rect">
            <a:avLst/>
          </a:prstGeom>
          <a:noFill/>
        </p:spPr>
        <p:txBody>
          <a:bodyPr wrap="square" lIns="0" rIns="0" tIns="0" bIns="0" anchor="t">
            <a:spAutoFit/>
          </a:bodyPr>
          <a:lstStyle/>
          <a:p>
            <a:pPr algn="l">
              <a:lnSpc>
                <a:spcPct val="110000"/>
              </a:lnSpc>
              <a:spcAft>
                <a:spcPts val="0"/>
              </a:spcAft>
            </a:pPr>
            <a:r>
              <a:rPr sz="1080" b="0">
                <a:solidFill>
                  <a:srgbClr val="142B45"/>
                </a:solidFill>
                <a:latin typeface="Arial"/>
                <a:ea typeface="Arial"/>
                <a:cs typeface="Arial"/>
              </a:rPr>
              <a:t>Continue with existing session state</a:t>
            </a:r>
          </a:p>
          <a:p>
            <a:pPr algn="l">
              <a:lnSpc>
                <a:spcPct val="110000"/>
              </a:lnSpc>
              <a:spcAft>
                <a:spcPts val="0"/>
              </a:spcAft>
            </a:pPr>
            <a:r>
              <a:rPr sz="1080" b="0">
                <a:solidFill>
                  <a:srgbClr val="142B45"/>
                </a:solidFill>
                <a:latin typeface="Arial"/>
                <a:ea typeface="Arial"/>
                <a:cs typeface="Arial"/>
              </a:rPr>
              <a:t>Reattach input and output to the same session</a:t>
            </a:r>
          </a:p>
        </p:txBody>
      </p:sp>
      <p:sp>
        <p:nvSpPr>
          <p:cNvPr id="24" name="TextBox 23"/>
          <p:cNvSpPr txBox="1"/>
          <p:nvPr/>
        </p:nvSpPr>
        <p:spPr>
          <a:xfrm>
            <a:off x="722376" y="3310128"/>
            <a:ext cx="10744200" cy="219456"/>
          </a:xfrm>
          <a:prstGeom prst="rect">
            <a:avLst/>
          </a:prstGeom>
          <a:noFill/>
        </p:spPr>
        <p:txBody>
          <a:bodyPr wrap="square" lIns="0" rIns="0" tIns="0" bIns="0" anchor="t">
            <a:spAutoFit/>
          </a:bodyPr>
          <a:lstStyle/>
          <a:p>
            <a:pPr algn="l">
              <a:lnSpc>
                <a:spcPct val="110000"/>
              </a:lnSpc>
              <a:spcAft>
                <a:spcPts val="0"/>
              </a:spcAft>
            </a:pPr>
            <a:r>
              <a:rPr sz="1200" b="0">
                <a:solidFill>
                  <a:srgbClr val="586B7E"/>
                </a:solidFill>
                <a:latin typeface="Arial"/>
                <a:ea typeface="Arial"/>
                <a:cs typeface="Arial"/>
              </a:rPr>
              <a:t>Requires the same live owner, a valid lease and retained events. Session resume does not provide process failover.</a:t>
            </a:r>
          </a:p>
        </p:txBody>
      </p:sp>
      <p:sp>
        <p:nvSpPr>
          <p:cNvPr id="25" name="TextBox 24"/>
          <p:cNvSpPr txBox="1"/>
          <p:nvPr/>
        </p:nvSpPr>
        <p:spPr>
          <a:xfrm>
            <a:off x="722376" y="3785615"/>
            <a:ext cx="2048256"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RESUME STEP</a:t>
            </a:r>
          </a:p>
        </p:txBody>
      </p:sp>
      <p:sp>
        <p:nvSpPr>
          <p:cNvPr id="26" name="TextBox 25"/>
          <p:cNvSpPr txBox="1"/>
          <p:nvPr/>
        </p:nvSpPr>
        <p:spPr>
          <a:xfrm>
            <a:off x="2953512" y="3785615"/>
            <a:ext cx="2386584"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FRAMEWORK ACTION</a:t>
            </a:r>
          </a:p>
        </p:txBody>
      </p:sp>
      <p:sp>
        <p:nvSpPr>
          <p:cNvPr id="27" name="TextBox 26"/>
          <p:cNvSpPr txBox="1"/>
          <p:nvPr/>
        </p:nvSpPr>
        <p:spPr>
          <a:xfrm>
            <a:off x="5541264" y="3785615"/>
            <a:ext cx="5696712" cy="210312"/>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USER CLIENT INTEGRATION</a:t>
            </a:r>
          </a:p>
        </p:txBody>
      </p:sp>
      <p:sp>
        <p:nvSpPr>
          <p:cNvPr id="28" name="Rounded Rectangle 27"/>
          <p:cNvSpPr/>
          <p:nvPr/>
        </p:nvSpPr>
        <p:spPr>
          <a:xfrm>
            <a:off x="548640" y="4096511"/>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22376" y="4169663"/>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Session identity</a:t>
            </a:r>
          </a:p>
        </p:txBody>
      </p:sp>
      <p:sp>
        <p:nvSpPr>
          <p:cNvPr id="30" name="TextBox 29"/>
          <p:cNvSpPr txBox="1"/>
          <p:nvPr/>
        </p:nvSpPr>
        <p:spPr>
          <a:xfrm>
            <a:off x="2953512" y="4169663"/>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Keep the same session</a:t>
            </a:r>
          </a:p>
        </p:txBody>
      </p:sp>
      <p:sp>
        <p:nvSpPr>
          <p:cNvPr id="31" name="TextBox 30"/>
          <p:cNvSpPr txBox="1"/>
          <p:nvPr/>
        </p:nvSpPr>
        <p:spPr>
          <a:xfrm>
            <a:off x="5541264" y="4105656"/>
            <a:ext cx="5696712" cy="420624"/>
          </a:xfrm>
          <a:prstGeom prst="rect">
            <a:avLst/>
          </a:prstGeom>
          <a:noFill/>
        </p:spPr>
        <p:txBody>
          <a:bodyPr wrap="square" lIns="0" rIns="0" tIns="0" bIns="0" anchor="t">
            <a:spAutoFit/>
          </a:bodyPr>
          <a:lstStyle/>
          <a:p>
            <a:pPr algn="l">
              <a:lnSpc>
                <a:spcPct val="110000"/>
              </a:lnSpc>
              <a:spcAft>
                <a:spcPts val="0"/>
              </a:spcAft>
            </a:pPr>
            <a:r>
              <a:rPr sz="1180" b="0">
                <a:solidFill>
                  <a:srgbClr val="142B45"/>
                </a:solidFill>
                <a:latin typeface="Arial"/>
                <a:ea typeface="Arial"/>
                <a:cs typeface="Arial"/>
              </a:rPr>
              <a:t>Python SDK retains credentials automatically;</a:t>
            </a:r>
          </a:p>
          <a:p>
            <a:pPr algn="l">
              <a:lnSpc>
                <a:spcPct val="110000"/>
              </a:lnSpc>
              <a:spcAft>
                <a:spcPts val="0"/>
              </a:spcAft>
            </a:pPr>
            <a:r>
              <a:rPr sz="1180" b="0">
                <a:solidFill>
                  <a:srgbClr val="142B45"/>
                </a:solidFill>
                <a:latin typeface="Arial"/>
                <a:ea typeface="Arial"/>
                <a:cs typeface="Arial"/>
              </a:rPr>
              <a:t>custom clients store session ID / resume token</a:t>
            </a:r>
          </a:p>
        </p:txBody>
      </p:sp>
      <p:sp>
        <p:nvSpPr>
          <p:cNvPr id="32" name="Rounded Rectangle 31"/>
          <p:cNvSpPr/>
          <p:nvPr/>
        </p:nvSpPr>
        <p:spPr>
          <a:xfrm>
            <a:off x="548640" y="4599432"/>
            <a:ext cx="11082528" cy="393192"/>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22376" y="4672584"/>
            <a:ext cx="2048256"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Connection binding</a:t>
            </a:r>
          </a:p>
        </p:txBody>
      </p:sp>
      <p:sp>
        <p:nvSpPr>
          <p:cNvPr id="34" name="TextBox 33"/>
          <p:cNvSpPr txBox="1"/>
          <p:nvPr/>
        </p:nvSpPr>
        <p:spPr>
          <a:xfrm>
            <a:off x="2953512" y="4672584"/>
            <a:ext cx="2386584"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Rebind the existing session</a:t>
            </a:r>
          </a:p>
        </p:txBody>
      </p:sp>
      <p:sp>
        <p:nvSpPr>
          <p:cNvPr id="35" name="TextBox 34"/>
          <p:cNvSpPr txBox="1"/>
          <p:nvPr/>
        </p:nvSpPr>
        <p:spPr>
          <a:xfrm>
            <a:off x="5541264" y="4672584"/>
            <a:ext cx="5696712" cy="356616"/>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Reconnect the WebSocket and send session.resume</a:t>
            </a:r>
          </a:p>
        </p:txBody>
      </p:sp>
      <p:sp>
        <p:nvSpPr>
          <p:cNvPr id="36" name="Rounded Rectangle 35"/>
          <p:cNvSpPr/>
          <p:nvPr/>
        </p:nvSpPr>
        <p:spPr>
          <a:xfrm>
            <a:off x="548640" y="5102352"/>
            <a:ext cx="11082528" cy="6126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22376" y="5175504"/>
            <a:ext cx="2048256" cy="576072"/>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Event replay</a:t>
            </a:r>
          </a:p>
        </p:txBody>
      </p:sp>
      <p:sp>
        <p:nvSpPr>
          <p:cNvPr id="38" name="TextBox 37"/>
          <p:cNvSpPr txBox="1"/>
          <p:nvPr/>
        </p:nvSpPr>
        <p:spPr>
          <a:xfrm>
            <a:off x="2953512" y="5175504"/>
            <a:ext cx="2386584"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Replay retained events</a:t>
            </a:r>
          </a:p>
        </p:txBody>
      </p:sp>
      <p:sp>
        <p:nvSpPr>
          <p:cNvPr id="39" name="TextBox 38"/>
          <p:cNvSpPr txBox="1"/>
          <p:nvPr/>
        </p:nvSpPr>
        <p:spPr>
          <a:xfrm>
            <a:off x="5541264" y="5175504"/>
            <a:ext cx="5696712" cy="576072"/>
          </a:xfrm>
          <a:prstGeom prst="rect">
            <a:avLst/>
          </a:prstGeom>
          <a:noFill/>
        </p:spPr>
        <p:txBody>
          <a:bodyPr wrap="square" lIns="0" rIns="0" tIns="0" bIns="0" anchor="t">
            <a:spAutoFit/>
          </a:bodyPr>
          <a:lstStyle/>
          <a:p>
            <a:pPr algn="l">
              <a:lnSpc>
                <a:spcPct val="110000"/>
              </a:lnSpc>
              <a:spcAft>
                <a:spcPts val="0"/>
              </a:spcAft>
            </a:pPr>
            <a:r>
              <a:rPr sz="1150" b="0">
                <a:solidFill>
                  <a:srgbClr val="142B45"/>
                </a:solidFill>
                <a:latin typeface="Arial"/>
                <a:ea typeface="Arial"/>
                <a:cs typeface="Arial"/>
              </a:rPr>
              <a:t>Provide the last received event position</a:t>
            </a:r>
          </a:p>
          <a:p>
            <a:pPr algn="l">
              <a:lnSpc>
                <a:spcPct val="110000"/>
              </a:lnSpc>
              <a:spcAft>
                <a:spcPts val="0"/>
              </a:spcAft>
            </a:pPr>
            <a:r>
              <a:rPr sz="1150" b="0">
                <a:solidFill>
                  <a:srgbClr val="142B45"/>
                </a:solidFill>
                <a:latin typeface="Arial"/>
                <a:ea typeface="Arial"/>
                <a:cs typeface="Arial"/>
              </a:rPr>
              <a:t>Receive retained events from the replay window</a:t>
            </a:r>
          </a:p>
        </p:txBody>
      </p:sp>
      <p:sp>
        <p:nvSpPr>
          <p:cNvPr id="40" name="Rounded Rectangle 39"/>
          <p:cNvSpPr/>
          <p:nvPr/>
        </p:nvSpPr>
        <p:spPr>
          <a:xfrm>
            <a:off x="548640" y="5961888"/>
            <a:ext cx="11082528" cy="338328"/>
          </a:xfrm>
          <a:prstGeom prst="roundRect">
            <a:avLst>
              <a:gd name="adj" fmla="val 10000"/>
            </a:avLst>
          </a:prstGeom>
          <a:solidFill>
            <a:srgbClr val="EAF7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31520" y="6035040"/>
            <a:ext cx="10716768" cy="210312"/>
          </a:xfrm>
          <a:prstGeom prst="rect">
            <a:avLst/>
          </a:prstGeom>
          <a:noFill/>
        </p:spPr>
        <p:txBody>
          <a:bodyPr wrap="square" lIns="0" rIns="0" tIns="0" bIns="0" anchor="t">
            <a:spAutoFit/>
          </a:bodyPr>
          <a:lstStyle/>
          <a:p>
            <a:pPr algn="ctr">
              <a:lnSpc>
                <a:spcPct val="110000"/>
              </a:lnSpc>
              <a:spcAft>
                <a:spcPts val="0"/>
              </a:spcAft>
            </a:pPr>
            <a:r>
              <a:rPr sz="1150" b="0">
                <a:solidFill>
                  <a:srgbClr val="142B45"/>
                </a:solidFill>
                <a:latin typeface="Arial"/>
                <a:ea typeface="Arial"/>
                <a:cs typeface="Arial"/>
              </a:rPr>
              <a:t>Live-session resume: MiniCPM · AURA · Qwen3-Omni · Nemotron. PersonaPlex requires a new session after disconnect.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ARCHITECTURE &amp; EXECUTION</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Performance optimizations and steady progress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Four methods reduce repeated work and make better use of the GPU.</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09 / 12</a:t>
            </a:r>
          </a:p>
        </p:txBody>
      </p:sp>
      <p:sp>
        <p:nvSpPr>
          <p:cNvPr id="210" name="Optimization method"/>
          <p:cNvSpPr txBox="1"/>
          <p:nvPr/>
        </p:nvSpPr>
        <p:spPr>
          <a:xfrm>
            <a:off x="594360" y="2084832"/>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CUDA Graphs: reuse prepared execution</a:t>
            </a:r>
          </a:p>
        </p:txBody>
      </p:sp>
      <p:sp>
        <p:nvSpPr>
          <p:cNvPr id="211" name="How it reduces work"/>
          <p:cNvSpPr txBox="1"/>
          <p:nvPr/>
        </p:nvSpPr>
        <p:spPr>
          <a:xfrm>
            <a:off x="594360" y="2395728"/>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Replay GPU work with less CPU launch overhead.</a:t>
            </a:r>
          </a:p>
        </p:txBody>
      </p:sp>
      <p:sp>
        <p:nvSpPr>
          <p:cNvPr id="212" name="Model examples"/>
          <p:cNvSpPr txBox="1"/>
          <p:nvPr/>
        </p:nvSpPr>
        <p:spPr>
          <a:xfrm>
            <a:off x="594360" y="2670048"/>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 · Qwen3-Omni (images) · PersonaPlex</a:t>
            </a:r>
          </a:p>
        </p:txBody>
      </p:sp>
      <p:sp>
        <p:nvSpPr>
          <p:cNvPr id="213" name="Optimization method"/>
          <p:cNvSpPr txBox="1"/>
          <p:nvPr/>
        </p:nvSpPr>
        <p:spPr>
          <a:xfrm>
            <a:off x="594360" y="3017520"/>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Kernel fusion: combine small operations</a:t>
            </a:r>
          </a:p>
        </p:txBody>
      </p:sp>
      <p:sp>
        <p:nvSpPr>
          <p:cNvPr id="214" name="How it reduces work"/>
          <p:cNvSpPr txBox="1"/>
          <p:nvPr/>
        </p:nvSpPr>
        <p:spPr>
          <a:xfrm>
            <a:off x="594360" y="3328416"/>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Reduce GPU launches and intermediate data movement.</a:t>
            </a:r>
          </a:p>
        </p:txBody>
      </p:sp>
      <p:sp>
        <p:nvSpPr>
          <p:cNvPr id="215" name="Model examples"/>
          <p:cNvSpPr txBox="1"/>
          <p:nvPr/>
        </p:nvSpPr>
        <p:spPr>
          <a:xfrm>
            <a:off x="594360" y="3602736"/>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MiniCPM-o 4.5</a:t>
            </a:r>
          </a:p>
        </p:txBody>
      </p:sp>
      <p:sp>
        <p:nvSpPr>
          <p:cNvPr id="216" name="Optimization method"/>
          <p:cNvSpPr txBox="1"/>
          <p:nvPr/>
        </p:nvSpPr>
        <p:spPr>
          <a:xfrm>
            <a:off x="594360" y="3950208"/>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Session batching: process streams together</a:t>
            </a:r>
          </a:p>
        </p:txBody>
      </p:sp>
      <p:sp>
        <p:nvSpPr>
          <p:cNvPr id="217" name="How it reduces work"/>
          <p:cNvSpPr txBox="1"/>
          <p:nvPr/>
        </p:nvSpPr>
        <p:spPr>
          <a:xfrm>
            <a:off x="594360" y="4261104"/>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Run new frames from several sessions in one batch.</a:t>
            </a:r>
          </a:p>
        </p:txBody>
      </p:sp>
      <p:sp>
        <p:nvSpPr>
          <p:cNvPr id="218" name="Model examples"/>
          <p:cNvSpPr txBox="1"/>
          <p:nvPr/>
        </p:nvSpPr>
        <p:spPr>
          <a:xfrm>
            <a:off x="594360" y="4535424"/>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19" name="Optimization method"/>
          <p:cNvSpPr txBox="1"/>
          <p:nvPr/>
        </p:nvSpPr>
        <p:spPr>
          <a:xfrm>
            <a:off x="594360" y="4882896"/>
            <a:ext cx="5852160" cy="274320"/>
          </a:xfrm>
          <a:prstGeom prst="rect">
            <a:avLst/>
          </a:prstGeom>
          <a:noFill/>
        </p:spPr>
        <p:txBody>
          <a:bodyPr wrap="square" lIns="0" rIns="0" tIns="0" bIns="0" anchor="t">
            <a:spAutoFit/>
          </a:bodyPr>
          <a:lstStyle/>
          <a:p>
            <a:pPr algn="l">
              <a:lnSpc>
                <a:spcPct val="110000"/>
              </a:lnSpc>
              <a:spcAft>
                <a:spcPts val="0"/>
              </a:spcAft>
            </a:pPr>
            <a:r>
              <a:rPr sz="1550" b="1">
                <a:solidFill>
                  <a:srgbClr val="16304E"/>
                </a:solidFill>
                <a:latin typeface="Arial"/>
                <a:ea typeface="Arial"/>
                <a:cs typeface="Arial"/>
              </a:rPr>
              <a:t>Incremental decoding: handle new audio only</a:t>
            </a:r>
          </a:p>
        </p:txBody>
      </p:sp>
      <p:sp>
        <p:nvSpPr>
          <p:cNvPr id="220" name="How it reduces work"/>
          <p:cNvSpPr txBox="1"/>
          <p:nvPr/>
        </p:nvSpPr>
        <p:spPr>
          <a:xfrm>
            <a:off x="594360" y="5193792"/>
            <a:ext cx="5833872" cy="246888"/>
          </a:xfrm>
          <a:prstGeom prst="rect">
            <a:avLst/>
          </a:prstGeom>
          <a:noFill/>
        </p:spPr>
        <p:txBody>
          <a:bodyPr wrap="square" lIns="0" rIns="0" tIns="0" bIns="0" anchor="t">
            <a:spAutoFit/>
          </a:bodyPr>
          <a:lstStyle/>
          <a:p>
            <a:pPr algn="l">
              <a:lnSpc>
                <a:spcPct val="110000"/>
              </a:lnSpc>
              <a:spcAft>
                <a:spcPts val="0"/>
              </a:spcAft>
            </a:pPr>
            <a:r>
              <a:rPr sz="1250" b="0">
                <a:solidFill>
                  <a:srgbClr val="526985"/>
                </a:solidFill>
                <a:latin typeface="Arial"/>
                <a:ea typeface="Arial"/>
                <a:cs typeface="Arial"/>
              </a:rPr>
              <a:t>Skip audio that was decoded in previous chunks.</a:t>
            </a:r>
          </a:p>
        </p:txBody>
      </p:sp>
      <p:sp>
        <p:nvSpPr>
          <p:cNvPr id="221" name="Model examples"/>
          <p:cNvSpPr txBox="1"/>
          <p:nvPr/>
        </p:nvSpPr>
        <p:spPr>
          <a:xfrm>
            <a:off x="594360" y="5468112"/>
            <a:ext cx="5833872"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PersonaPlex</a:t>
            </a:r>
          </a:p>
        </p:txBody>
      </p:sp>
      <p:sp>
        <p:nvSpPr>
          <p:cNvPr id="230" name="Chart test configuration"/>
          <p:cNvSpPr txBox="1"/>
          <p:nvPr/>
        </p:nvSpPr>
        <p:spPr>
          <a:xfrm>
            <a:off x="6766560" y="2020824"/>
            <a:ext cx="4690872" cy="237744"/>
          </a:xfrm>
          <a:prstGeom prst="rect">
            <a:avLst/>
          </a:prstGeom>
          <a:noFill/>
        </p:spPr>
        <p:txBody>
          <a:bodyPr wrap="square" lIns="0" rIns="0" tIns="0" bIns="0" anchor="t">
            <a:spAutoFit/>
          </a:bodyPr>
          <a:lstStyle/>
          <a:p>
            <a:pPr algn="l">
              <a:lnSpc>
                <a:spcPct val="110000"/>
              </a:lnSpc>
              <a:spcAft>
                <a:spcPts val="0"/>
              </a:spcAft>
            </a:pPr>
            <a:r>
              <a:rPr sz="1200" b="0">
                <a:solidFill>
                  <a:srgbClr val="526985"/>
                </a:solidFill>
                <a:latin typeface="Arial"/>
                <a:ea typeface="Arial"/>
                <a:cs typeface="Arial"/>
              </a:rPr>
              <a:t>H100 · 8 concurrent requests · Seed-TTS</a:t>
            </a:r>
          </a:p>
        </p:txBody>
      </p:sp>
      <p:graphicFrame>
        <p:nvGraphicFramePr>
          <p:cNvPr id="231" name="MiniCPM Audio RTF trend"/>
          <p:cNvGraphicFramePr/>
          <p:nvPr/>
        </p:nvGraphicFramePr>
        <p:xfrm>
          <a:off x="6601968" y="2304288"/>
          <a:ext cx="5047488" cy="3447288"/>
        </p:xfrm>
        <a:graphic>
          <a:graphicData uri="http://schemas.openxmlformats.org/drawingml/2006/chart">
            <ns0:chart xmlns:ns0="http://schemas.openxmlformats.org/drawingml/2006/chart" r:id="rIdRtfTrend"/>
          </a:graphicData>
        </a:graphic>
      </p:graphicFrame>
      <p:sp>
        <p:nvSpPr>
          <p:cNvPr id="232" name="Metric direction"/>
          <p:cNvSpPr txBox="1"/>
          <p:nvPr/>
        </p:nvSpPr>
        <p:spPr>
          <a:xfrm>
            <a:off x="7772400" y="5705856"/>
            <a:ext cx="3703320" cy="219456"/>
          </a:xfrm>
          <a:prstGeom prst="rect">
            <a:avLst/>
          </a:prstGeom>
          <a:noFill/>
        </p:spPr>
        <p:txBody>
          <a:bodyPr wrap="square" lIns="0" rIns="0" tIns="0" bIns="0" anchor="t">
            <a:spAutoFit/>
          </a:bodyPr>
          <a:lstStyle/>
          <a:p>
            <a:pPr algn="l">
              <a:lnSpc>
                <a:spcPct val="110000"/>
              </a:lnSpc>
              <a:spcAft>
                <a:spcPts val="0"/>
              </a:spcAft>
            </a:pPr>
            <a:r>
              <a:rPr sz="1150" b="0">
                <a:solidFill>
                  <a:srgbClr val="008E96"/>
                </a:solidFill>
                <a:latin typeface="Arial"/>
                <a:ea typeface="Arial"/>
                <a:cs typeface="Arial"/>
              </a:rPr>
              <a:t>Lower Audio RTF is better</a:t>
            </a:r>
          </a:p>
        </p:txBody>
      </p:sp>
      <p:sp>
        <p:nvSpPr>
          <p:cNvPr id="233" name="Benchmark scope and metric"/>
          <p:cNvSpPr txBox="1"/>
          <p:nvPr/>
        </p:nvSpPr>
        <p:spPr>
          <a:xfrm>
            <a:off x="594360" y="6071616"/>
            <a:ext cx="10972800" cy="320040"/>
          </a:xfrm>
          <a:prstGeom prst="rect">
            <a:avLst/>
          </a:prstGeom>
          <a:noFill/>
          <a:ln>
            <a:noFill/>
          </a:ln>
        </p:spPr>
        <p:txBody>
          <a:bodyPr wrap="square" lIns="0" rIns="0" tIns="0" bIns="0" anchor="t">
            <a:noAutofit/>
          </a:bodyPr>
          <a:lstStyle/>
          <a:p>
            <a:pPr algn="l">
              <a:lnSpc>
                <a:spcPct val="106000"/>
              </a:lnSpc>
              <a:spcAft>
                <a:spcPts val="0"/>
              </a:spcAft>
            </a:pPr>
            <a:r>
              <a:rPr sz="1050" b="0">
                <a:solidFill>
                  <a:srgbClr val="526985"/>
                </a:solidFill>
                <a:latin typeface="Arial"/>
                <a:ea typeface="Arial"/>
                <a:cs typeface="Arial"/>
              </a:rPr>
              <a:t>Seed-TTS speech generation via Chat Completions · Daily runs, October 5–8, 2026.</a:t>
            </a:r>
          </a:p>
          <a:p>
            <a:pPr algn="l">
              <a:lnSpc>
                <a:spcPct val="106000"/>
              </a:lnSpc>
              <a:spcAft>
                <a:spcPts val="0"/>
              </a:spcAft>
            </a:pPr>
            <a:r>
              <a:rPr sz="1050" b="0">
                <a:solidFill>
                  <a:srgbClr val="526985"/>
                </a:solidFill>
                <a:latin typeface="Arial"/>
                <a:ea typeface="Arial"/>
                <a:cs typeface="Arial"/>
              </a:rPr>
              <a:t>Audio RTF = audio generation time / output audio duration; averaged per request.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EVALUATION &amp; PERFORMANCE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900" b="1">
                <a:solidFill>
                  <a:srgbClr val="142B45"/>
                </a:solidFill>
                <a:latin typeface="Arial"/>
                <a:ea typeface="Arial"/>
                <a:cs typeface="Arial"/>
              </a:rPr>
              <a:t>From first audio to sustained conversation quality</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OmniInteract and Omni-DuplexEval connect live session execution with timing and quality evaluation.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10 / 12</a:t>
            </a:r>
          </a:p>
        </p:txBody>
      </p:sp>
      <p:sp>
        <p:nvSpPr>
          <p:cNvPr id="12" name="TextBox 11"/>
          <p:cNvSpPr txBox="1"/>
          <p:nvPr/>
        </p:nvSpPr>
        <p:spPr>
          <a:xfrm>
            <a:off x="9966960" y="2157984"/>
            <a:ext cx="1645920" cy="192024"/>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Timing schematic</a:t>
            </a:r>
          </a:p>
        </p:txBody>
      </p:sp>
      <p:sp>
        <p:nvSpPr>
          <p:cNvPr id="13" name="TextBox 12"/>
          <p:cNvSpPr txBox="1"/>
          <p:nvPr/>
        </p:nvSpPr>
        <p:spPr>
          <a:xfrm>
            <a:off x="1764792" y="2221992"/>
            <a:ext cx="1508760" cy="201168"/>
          </a:xfrm>
          <a:prstGeom prst="rect">
            <a:avLst/>
          </a:prstGeom>
          <a:noFill/>
        </p:spPr>
        <p:txBody>
          <a:bodyPr wrap="square" lIns="0" rIns="0" tIns="0" bIns="0" anchor="t">
            <a:spAutoFit/>
          </a:bodyPr>
          <a:lstStyle/>
          <a:p>
            <a:pPr algn="l">
              <a:lnSpc>
                <a:spcPct val="110000"/>
              </a:lnSpc>
              <a:spcAft>
                <a:spcPts val="0"/>
              </a:spcAft>
            </a:pPr>
            <a:r>
              <a:rPr sz="1100" b="1">
                <a:solidFill>
                  <a:srgbClr val="142B45"/>
                </a:solidFill>
                <a:latin typeface="Arial"/>
                <a:ea typeface="Arial"/>
                <a:cs typeface="Arial"/>
              </a:rPr>
              <a:t>Timing origin</a:t>
            </a:r>
          </a:p>
        </p:txBody>
      </p:sp>
      <p:sp>
        <p:nvSpPr>
          <p:cNvPr id="14" name="TextBox 13"/>
          <p:cNvSpPr txBox="1"/>
          <p:nvPr/>
        </p:nvSpPr>
        <p:spPr>
          <a:xfrm>
            <a:off x="5166360" y="2221992"/>
            <a:ext cx="3291840" cy="201168"/>
          </a:xfrm>
          <a:prstGeom prst="rect">
            <a:avLst/>
          </a:prstGeom>
          <a:noFill/>
        </p:spPr>
        <p:txBody>
          <a:bodyPr wrap="square" lIns="0" rIns="0" tIns="0" bIns="0" anchor="t">
            <a:spAutoFit/>
          </a:bodyPr>
          <a:lstStyle/>
          <a:p>
            <a:pPr algn="l">
              <a:lnSpc>
                <a:spcPct val="110000"/>
              </a:lnSpc>
              <a:spcAft>
                <a:spcPts val="0"/>
              </a:spcAft>
            </a:pPr>
            <a:r>
              <a:rPr sz="1100" b="1">
                <a:solidFill>
                  <a:srgbClr val="327CEC"/>
                </a:solidFill>
                <a:latin typeface="Arial"/>
                <a:ea typeface="Arial"/>
                <a:cs typeface="Arial"/>
              </a:rPr>
              <a:t>First audio packet received</a:t>
            </a:r>
          </a:p>
        </p:txBody>
      </p:sp>
      <p:cxnSp>
        <p:nvCxnSpPr>
          <p:cNvPr id="15" name="Connector 14"/>
          <p:cNvCxnSpPr/>
          <p:nvPr/>
        </p:nvCxnSpPr>
        <p:spPr>
          <a:xfrm>
            <a:off x="1773936" y="2670048"/>
            <a:ext cx="3758184" cy="0"/>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a:off x="1773936"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a:off x="5532120" y="2596896"/>
            <a:ext cx="0" cy="164592"/>
          </a:xfrm>
          <a:prstGeom prst="line">
            <a:avLst/>
          </a:prstGeom>
          <a:ln w="16510">
            <a:solidFill>
              <a:srgbClr val="327CEC"/>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3200400" y="2423160"/>
            <a:ext cx="1005840" cy="201168"/>
          </a:xfrm>
          <a:prstGeom prst="rect">
            <a:avLst/>
          </a:prstGeom>
          <a:noFill/>
        </p:spPr>
        <p:txBody>
          <a:bodyPr wrap="square" lIns="0" rIns="0" tIns="0" bIns="0" anchor="t">
            <a:spAutoFit/>
          </a:bodyPr>
          <a:lstStyle/>
          <a:p>
            <a:pPr algn="ctr">
              <a:lnSpc>
                <a:spcPct val="110000"/>
              </a:lnSpc>
              <a:spcAft>
                <a:spcPts val="0"/>
              </a:spcAft>
            </a:pPr>
            <a:r>
              <a:rPr sz="1200" b="1">
                <a:solidFill>
                  <a:srgbClr val="327CEC"/>
                </a:solidFill>
                <a:latin typeface="Arial"/>
                <a:ea typeface="Arial"/>
                <a:cs typeface="Arial"/>
              </a:rPr>
              <a:t>TTFP</a:t>
            </a:r>
          </a:p>
        </p:txBody>
      </p:sp>
      <p:sp>
        <p:nvSpPr>
          <p:cNvPr id="19" name="TextBox 18"/>
          <p:cNvSpPr txBox="1"/>
          <p:nvPr/>
        </p:nvSpPr>
        <p:spPr>
          <a:xfrm>
            <a:off x="594360" y="2953512"/>
            <a:ext cx="1097280" cy="356616"/>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Request / output</a:t>
            </a:r>
          </a:p>
        </p:txBody>
      </p:sp>
      <p:sp>
        <p:nvSpPr>
          <p:cNvPr id="20" name="Rectangle 19"/>
          <p:cNvSpPr/>
          <p:nvPr/>
        </p:nvSpPr>
        <p:spPr>
          <a:xfrm>
            <a:off x="1773936" y="2898648"/>
            <a:ext cx="978408"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1819656" y="3008376"/>
            <a:ext cx="886968"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Queue</a:t>
            </a:r>
          </a:p>
        </p:txBody>
      </p:sp>
      <p:sp>
        <p:nvSpPr>
          <p:cNvPr id="22" name="Rectangle 21"/>
          <p:cNvSpPr/>
          <p:nvPr/>
        </p:nvSpPr>
        <p:spPr>
          <a:xfrm>
            <a:off x="2807208" y="2898648"/>
            <a:ext cx="1591056"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2852927" y="3008376"/>
            <a:ext cx="1499616"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Stage compute</a:t>
            </a:r>
          </a:p>
        </p:txBody>
      </p:sp>
      <p:sp>
        <p:nvSpPr>
          <p:cNvPr id="24" name="Rectangle 23"/>
          <p:cNvSpPr/>
          <p:nvPr/>
        </p:nvSpPr>
        <p:spPr>
          <a:xfrm>
            <a:off x="4453128" y="2898648"/>
            <a:ext cx="1014984" cy="402336"/>
          </a:xfrm>
          <a:prstGeom prst="rect">
            <a:avLst/>
          </a:prstGeom>
          <a:solidFill>
            <a:srgbClr val="EDF4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4498848" y="3008376"/>
            <a:ext cx="923544" cy="192024"/>
          </a:xfrm>
          <a:prstGeom prst="rect">
            <a:avLst/>
          </a:prstGeom>
          <a:noFill/>
        </p:spPr>
        <p:txBody>
          <a:bodyPr wrap="square" lIns="0" rIns="0" tIns="0" bIns="0" anchor="t">
            <a:spAutoFit/>
          </a:bodyPr>
          <a:lstStyle/>
          <a:p>
            <a:pPr algn="ctr">
              <a:lnSpc>
                <a:spcPct val="110000"/>
              </a:lnSpc>
              <a:spcAft>
                <a:spcPts val="0"/>
              </a:spcAft>
            </a:pPr>
            <a:r>
              <a:rPr sz="1050" b="1">
                <a:solidFill>
                  <a:srgbClr val="327CEC"/>
                </a:solidFill>
                <a:latin typeface="Arial"/>
                <a:ea typeface="Arial"/>
                <a:cs typeface="Arial"/>
              </a:rPr>
              <a:t>Transfer</a:t>
            </a:r>
          </a:p>
        </p:txBody>
      </p:sp>
      <p:sp>
        <p:nvSpPr>
          <p:cNvPr id="26" name="Rectangle 25"/>
          <p:cNvSpPr/>
          <p:nvPr/>
        </p:nvSpPr>
        <p:spPr>
          <a:xfrm>
            <a:off x="5532120" y="2898648"/>
            <a:ext cx="47548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Rectangle 26"/>
          <p:cNvSpPr/>
          <p:nvPr/>
        </p:nvSpPr>
        <p:spPr>
          <a:xfrm>
            <a:off x="6153912" y="2898648"/>
            <a:ext cx="68580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ectangle 27"/>
          <p:cNvSpPr/>
          <p:nvPr/>
        </p:nvSpPr>
        <p:spPr>
          <a:xfrm>
            <a:off x="6995160" y="2898648"/>
            <a:ext cx="749808"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Rectangle 28"/>
          <p:cNvSpPr/>
          <p:nvPr/>
        </p:nvSpPr>
        <p:spPr>
          <a:xfrm>
            <a:off x="7918704" y="2898648"/>
            <a:ext cx="868680"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ectangle 29"/>
          <p:cNvSpPr/>
          <p:nvPr/>
        </p:nvSpPr>
        <p:spPr>
          <a:xfrm>
            <a:off x="8961120" y="2898648"/>
            <a:ext cx="98755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ectangle 30"/>
          <p:cNvSpPr/>
          <p:nvPr/>
        </p:nvSpPr>
        <p:spPr>
          <a:xfrm>
            <a:off x="10104120" y="2898648"/>
            <a:ext cx="1078992" cy="402336"/>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6510528" y="3374136"/>
            <a:ext cx="4535424" cy="201168"/>
          </a:xfrm>
          <a:prstGeom prst="rect">
            <a:avLst/>
          </a:prstGeom>
          <a:noFill/>
        </p:spPr>
        <p:txBody>
          <a:bodyPr wrap="square" lIns="0" rIns="0" tIns="0" bIns="0" anchor="t">
            <a:spAutoFit/>
          </a:bodyPr>
          <a:lstStyle/>
          <a:p>
            <a:pPr algn="ctr">
              <a:lnSpc>
                <a:spcPct val="110000"/>
              </a:lnSpc>
              <a:spcAft>
                <a:spcPts val="0"/>
              </a:spcAft>
            </a:pPr>
            <a:r>
              <a:rPr sz="1100" b="0">
                <a:solidFill>
                  <a:srgbClr val="327CEC"/>
                </a:solidFill>
                <a:latin typeface="Arial"/>
                <a:ea typeface="Arial"/>
                <a:cs typeface="Arial"/>
              </a:rPr>
              <a:t>Incremental audio generation and delivery</a:t>
            </a:r>
          </a:p>
        </p:txBody>
      </p:sp>
      <p:sp>
        <p:nvSpPr>
          <p:cNvPr id="33" name="TextBox 32"/>
          <p:cNvSpPr txBox="1"/>
          <p:nvPr/>
        </p:nvSpPr>
        <p:spPr>
          <a:xfrm>
            <a:off x="594360" y="3785615"/>
            <a:ext cx="1115568" cy="32004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Client playback</a:t>
            </a:r>
          </a:p>
        </p:txBody>
      </p:sp>
      <p:cxnSp>
        <p:nvCxnSpPr>
          <p:cNvPr id="34" name="Connector 33"/>
          <p:cNvCxnSpPr/>
          <p:nvPr/>
        </p:nvCxnSpPr>
        <p:spPr>
          <a:xfrm>
            <a:off x="5532120" y="3319272"/>
            <a:ext cx="0" cy="566928"/>
          </a:xfrm>
          <a:prstGeom prst="line">
            <a:avLst/>
          </a:prstGeom>
          <a:ln w="15240">
            <a:solidFill>
              <a:srgbClr val="008E96"/>
            </a:solidFill>
            <a:prstDash val="dash"/>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a:off x="5532120" y="3886200"/>
            <a:ext cx="621792" cy="0"/>
          </a:xfrm>
          <a:prstGeom prst="line">
            <a:avLst/>
          </a:prstGeom>
          <a:ln w="15240">
            <a:solidFill>
              <a:srgbClr val="008E96"/>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36" name="TextBox 35"/>
          <p:cNvSpPr txBox="1"/>
          <p:nvPr/>
        </p:nvSpPr>
        <p:spPr>
          <a:xfrm>
            <a:off x="6053328" y="3648456"/>
            <a:ext cx="2240280" cy="192024"/>
          </a:xfrm>
          <a:prstGeom prst="rect">
            <a:avLst/>
          </a:prstGeom>
          <a:noFill/>
        </p:spPr>
        <p:txBody>
          <a:bodyPr wrap="square" lIns="0" rIns="0" tIns="0" bIns="0" anchor="t">
            <a:spAutoFit/>
          </a:bodyPr>
          <a:lstStyle/>
          <a:p>
            <a:pPr algn="l">
              <a:lnSpc>
                <a:spcPct val="110000"/>
              </a:lnSpc>
              <a:spcAft>
                <a:spcPts val="0"/>
              </a:spcAft>
            </a:pPr>
            <a:r>
              <a:rPr sz="1050" b="1">
                <a:solidFill>
                  <a:srgbClr val="008E96"/>
                </a:solidFill>
                <a:latin typeface="Arial"/>
                <a:ea typeface="Arial"/>
                <a:cs typeface="Arial"/>
              </a:rPr>
              <a:t>Playback starts</a:t>
            </a:r>
          </a:p>
        </p:txBody>
      </p:sp>
      <p:sp>
        <p:nvSpPr>
          <p:cNvPr id="37" name="Rectangle 36"/>
          <p:cNvSpPr/>
          <p:nvPr/>
        </p:nvSpPr>
        <p:spPr>
          <a:xfrm>
            <a:off x="6181344" y="3922776"/>
            <a:ext cx="5001768" cy="29260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565392" y="3968496"/>
            <a:ext cx="4224528" cy="182880"/>
          </a:xfrm>
          <a:prstGeom prst="rect">
            <a:avLst/>
          </a:prstGeom>
          <a:noFill/>
        </p:spPr>
        <p:txBody>
          <a:bodyPr wrap="square" lIns="0" rIns="0" tIns="0" bIns="0" anchor="t">
            <a:spAutoFit/>
          </a:bodyPr>
          <a:lstStyle/>
          <a:p>
            <a:pPr algn="ctr">
              <a:lnSpc>
                <a:spcPct val="110000"/>
              </a:lnSpc>
              <a:spcAft>
                <a:spcPts val="0"/>
              </a:spcAft>
            </a:pPr>
            <a:r>
              <a:rPr sz="1050" b="1">
                <a:solidFill>
                  <a:srgbClr val="FFFFFF"/>
                </a:solidFill>
                <a:latin typeface="Arial"/>
                <a:ea typeface="Arial"/>
                <a:cs typeface="Arial"/>
              </a:rPr>
              <a:t>Playback overlaps subsequent generation</a:t>
            </a:r>
          </a:p>
        </p:txBody>
      </p:sp>
      <p:sp>
        <p:nvSpPr>
          <p:cNvPr id="39" name="Rounded Rectangle 38"/>
          <p:cNvSpPr/>
          <p:nvPr/>
        </p:nvSpPr>
        <p:spPr>
          <a:xfrm>
            <a:off x="594360"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Rectangle 39"/>
          <p:cNvSpPr/>
          <p:nvPr/>
        </p:nvSpPr>
        <p:spPr>
          <a:xfrm>
            <a:off x="594360" y="4553712"/>
            <a:ext cx="2615184" cy="41148"/>
          </a:xfrm>
          <a:prstGeom prst="rect">
            <a:avLst/>
          </a:prstGeom>
          <a:solidFill>
            <a:srgbClr val="327C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0664"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327CEC"/>
                </a:solidFill>
                <a:latin typeface="Arial"/>
                <a:ea typeface="Arial"/>
                <a:cs typeface="Arial"/>
              </a:rPr>
              <a:t>Response speed</a:t>
            </a:r>
          </a:p>
        </p:txBody>
      </p:sp>
      <p:sp>
        <p:nvSpPr>
          <p:cNvPr id="42" name="TextBox 41"/>
          <p:cNvSpPr txBox="1"/>
          <p:nvPr/>
        </p:nvSpPr>
        <p:spPr>
          <a:xfrm>
            <a:off x="740664"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TTFP · p50 / p95</a:t>
            </a:r>
          </a:p>
          <a:p>
            <a:pPr algn="l">
              <a:lnSpc>
                <a:spcPct val="110000"/>
              </a:lnSpc>
              <a:spcAft>
                <a:spcPts val="0"/>
              </a:spcAft>
            </a:pPr>
            <a:r>
              <a:rPr sz="1090" b="0">
                <a:solidFill>
                  <a:srgbClr val="21364E"/>
                </a:solidFill>
                <a:latin typeface="Arial"/>
                <a:ea typeface="Arial"/>
                <a:cs typeface="Arial"/>
              </a:rPr>
              <a:t>Queue, compute and transfer</a:t>
            </a:r>
          </a:p>
        </p:txBody>
      </p:sp>
      <p:sp>
        <p:nvSpPr>
          <p:cNvPr id="43" name="Rounded Rectangle 42"/>
          <p:cNvSpPr/>
          <p:nvPr/>
        </p:nvSpPr>
        <p:spPr>
          <a:xfrm>
            <a:off x="3438144"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Rectangle 43"/>
          <p:cNvSpPr/>
          <p:nvPr/>
        </p:nvSpPr>
        <p:spPr>
          <a:xfrm>
            <a:off x="3438144" y="4553712"/>
            <a:ext cx="2615184" cy="41148"/>
          </a:xfrm>
          <a:prstGeom prst="rect">
            <a:avLst/>
          </a:prstGeom>
          <a:solidFill>
            <a:srgbClr val="008E9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3584448"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008E96"/>
                </a:solidFill>
                <a:latin typeface="Arial"/>
                <a:ea typeface="Arial"/>
                <a:cs typeface="Arial"/>
              </a:rPr>
              <a:t>Output cadence</a:t>
            </a:r>
          </a:p>
        </p:txBody>
      </p:sp>
      <p:sp>
        <p:nvSpPr>
          <p:cNvPr id="46" name="TextBox 45"/>
          <p:cNvSpPr txBox="1"/>
          <p:nvPr/>
        </p:nvSpPr>
        <p:spPr>
          <a:xfrm>
            <a:off x="3584448"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RTF · chunk intervals</a:t>
            </a:r>
          </a:p>
          <a:p>
            <a:pPr algn="l">
              <a:lnSpc>
                <a:spcPct val="110000"/>
              </a:lnSpc>
              <a:spcAft>
                <a:spcPts val="0"/>
              </a:spcAft>
            </a:pPr>
            <a:r>
              <a:rPr sz="1090" b="0">
                <a:solidFill>
                  <a:srgbClr val="21364E"/>
                </a:solidFill>
                <a:latin typeface="Arial"/>
                <a:ea typeface="Arial"/>
                <a:cs typeface="Arial"/>
              </a:rPr>
              <a:t>Pauses and playback buffers</a:t>
            </a:r>
          </a:p>
        </p:txBody>
      </p:sp>
      <p:sp>
        <p:nvSpPr>
          <p:cNvPr id="47" name="Rounded Rectangle 46"/>
          <p:cNvSpPr/>
          <p:nvPr/>
        </p:nvSpPr>
        <p:spPr>
          <a:xfrm>
            <a:off x="6281928"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Rectangle 47"/>
          <p:cNvSpPr/>
          <p:nvPr/>
        </p:nvSpPr>
        <p:spPr>
          <a:xfrm>
            <a:off x="6281928" y="4553712"/>
            <a:ext cx="2615184" cy="41148"/>
          </a:xfrm>
          <a:prstGeom prst="rect">
            <a:avLst/>
          </a:prstGeom>
          <a:solidFill>
            <a:srgbClr val="7855AD"/>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6428232"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7855AD"/>
                </a:solidFill>
                <a:latin typeface="Arial"/>
                <a:ea typeface="Arial"/>
                <a:cs typeface="Arial"/>
              </a:rPr>
              <a:t>Duration and concurrency</a:t>
            </a:r>
          </a:p>
        </p:txBody>
      </p:sp>
      <p:sp>
        <p:nvSpPr>
          <p:cNvPr id="50" name="TextBox 49"/>
          <p:cNvSpPr txBox="1"/>
          <p:nvPr/>
        </p:nvSpPr>
        <p:spPr>
          <a:xfrm>
            <a:off x="6428232"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Duration · session count</a:t>
            </a:r>
          </a:p>
          <a:p>
            <a:pPr algn="l">
              <a:lnSpc>
                <a:spcPct val="110000"/>
              </a:lnSpc>
              <a:spcAft>
                <a:spcPts val="0"/>
              </a:spcAft>
            </a:pPr>
            <a:r>
              <a:rPr sz="1090" b="0">
                <a:solidFill>
                  <a:srgbClr val="21364E"/>
                </a:solidFill>
                <a:latin typeface="Arial"/>
                <a:ea typeface="Arial"/>
                <a:cs typeface="Arial"/>
              </a:rPr>
              <a:t>Peak memory · reclamation</a:t>
            </a:r>
          </a:p>
        </p:txBody>
      </p:sp>
      <p:sp>
        <p:nvSpPr>
          <p:cNvPr id="51" name="Rounded Rectangle 50"/>
          <p:cNvSpPr/>
          <p:nvPr/>
        </p:nvSpPr>
        <p:spPr>
          <a:xfrm>
            <a:off x="9125712" y="4553712"/>
            <a:ext cx="2615184" cy="129844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9125712" y="4553712"/>
            <a:ext cx="2615184" cy="41148"/>
          </a:xfrm>
          <a:prstGeom prst="rect">
            <a:avLst/>
          </a:prstGeom>
          <a:solidFill>
            <a:srgbClr val="AD761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TextBox 52"/>
          <p:cNvSpPr txBox="1"/>
          <p:nvPr/>
        </p:nvSpPr>
        <p:spPr>
          <a:xfrm>
            <a:off x="9272016" y="4745736"/>
            <a:ext cx="2322576" cy="274320"/>
          </a:xfrm>
          <a:prstGeom prst="rect">
            <a:avLst/>
          </a:prstGeom>
          <a:noFill/>
        </p:spPr>
        <p:txBody>
          <a:bodyPr wrap="square" lIns="0" rIns="0" tIns="0" bIns="0" anchor="t">
            <a:spAutoFit/>
          </a:bodyPr>
          <a:lstStyle/>
          <a:p>
            <a:pPr algn="l">
              <a:lnSpc>
                <a:spcPct val="110000"/>
              </a:lnSpc>
              <a:spcAft>
                <a:spcPts val="0"/>
              </a:spcAft>
            </a:pPr>
            <a:r>
              <a:rPr sz="1340" b="1">
                <a:solidFill>
                  <a:srgbClr val="AD761E"/>
                </a:solidFill>
                <a:latin typeface="Arial"/>
                <a:ea typeface="Arial"/>
                <a:cs typeface="Arial"/>
              </a:rPr>
              <a:t>Speech quality</a:t>
            </a:r>
          </a:p>
        </p:txBody>
      </p:sp>
      <p:sp>
        <p:nvSpPr>
          <p:cNvPr id="54" name="TextBox 53"/>
          <p:cNvSpPr txBox="1"/>
          <p:nvPr/>
        </p:nvSpPr>
        <p:spPr>
          <a:xfrm>
            <a:off x="9272016" y="5257800"/>
            <a:ext cx="2322576" cy="457200"/>
          </a:xfrm>
          <a:prstGeom prst="rect">
            <a:avLst/>
          </a:prstGeom>
          <a:noFill/>
        </p:spPr>
        <p:txBody>
          <a:bodyPr wrap="square" lIns="0" rIns="0" tIns="0" bIns="0" anchor="t">
            <a:spAutoFit/>
          </a:bodyPr>
          <a:lstStyle/>
          <a:p>
            <a:pPr algn="l">
              <a:lnSpc>
                <a:spcPct val="110000"/>
              </a:lnSpc>
              <a:spcAft>
                <a:spcPts val="0"/>
              </a:spcAft>
            </a:pPr>
            <a:r>
              <a:rPr sz="1090" b="0">
                <a:solidFill>
                  <a:srgbClr val="21364E"/>
                </a:solidFill>
                <a:latin typeface="Arial"/>
                <a:ea typeface="Arial"/>
                <a:cs typeface="Arial"/>
              </a:rPr>
              <a:t>Valid, complete audio</a:t>
            </a:r>
          </a:p>
          <a:p>
            <a:pPr algn="l">
              <a:lnSpc>
                <a:spcPct val="110000"/>
              </a:lnSpc>
              <a:spcAft>
                <a:spcPts val="0"/>
              </a:spcAft>
            </a:pPr>
            <a:r>
              <a:rPr sz="1090" b="0">
                <a:solidFill>
                  <a:srgbClr val="21364E"/>
                </a:solidFill>
                <a:latin typeface="Arial"/>
                <a:ea typeface="Arial"/>
                <a:cs typeface="Arial"/>
              </a:rPr>
              <a:t>WER / CER · listening quality</a:t>
            </a:r>
          </a:p>
        </p:txBody>
      </p:sp>
      <p:sp>
        <p:nvSpPr>
          <p:cNvPr id="55" name="TextBox 54"/>
          <p:cNvSpPr txBox="1"/>
          <p:nvPr/>
        </p:nvSpPr>
        <p:spPr>
          <a:xfrm>
            <a:off x="658368" y="6108192"/>
            <a:ext cx="10936224"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Fix model, hardware, concurrency and timing origin. Benchmark support and evaluation tasks are model-specific.</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TOOL CALLING</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Tool calling across duplex models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Broader model coverage and consistent behavior during tool execution.</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11 / 12</a:t>
            </a:r>
          </a:p>
        </p:txBody>
      </p:sp>
      <p:sp>
        <p:nvSpPr>
          <p:cNvPr id="200" name="AVAILABLE TODAY"/>
          <p:cNvSpPr txBox="1"/>
          <p:nvPr/>
        </p:nvSpPr>
        <p:spPr>
          <a:xfrm>
            <a:off x="594360" y="2084832"/>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307BDB"/>
                </a:solidFill>
                <a:latin typeface="Arial"/>
                <a:ea typeface="Arial"/>
                <a:cs typeface="Arial"/>
              </a:rPr>
              <a:t>AVAILABLE TODAY</a:t>
            </a:r>
          </a:p>
        </p:txBody>
      </p:sp>
      <p:sp>
        <p:nvSpPr>
          <p:cNvPr id="201" name="Qwen3-Omni Realtime"/>
          <p:cNvSpPr txBox="1"/>
          <p:nvPr/>
        </p:nvSpPr>
        <p:spPr>
          <a:xfrm>
            <a:off x="731520" y="2432304"/>
            <a:ext cx="521208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Qwen3-Omni Realtime</a:t>
            </a:r>
          </a:p>
        </p:txBody>
      </p:sp>
      <p:sp>
        <p:nvSpPr>
          <p:cNvPr id="202" name="Tool parser in the turn-based Realtime path"/>
          <p:cNvSpPr txBox="1"/>
          <p:nvPr/>
        </p:nvSpPr>
        <p:spPr>
          <a:xfrm>
            <a:off x="731520" y="2770632"/>
            <a:ext cx="521208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 parser in the turn-based Realtime path</a:t>
            </a:r>
          </a:p>
        </p:txBody>
      </p:sp>
      <p:sp>
        <p:nvSpPr>
          <p:cNvPr id="203" name="Nemotron VoiceChat"/>
          <p:cNvSpPr txBox="1"/>
          <p:nvPr/>
        </p:nvSpPr>
        <p:spPr>
          <a:xfrm>
            <a:off x="6400800" y="2432304"/>
            <a:ext cx="5120640" cy="292608"/>
          </a:xfrm>
          <a:prstGeom prst="rect">
            <a:avLst/>
          </a:prstGeom>
          <a:noFill/>
          <a:ln>
            <a:noFill/>
          </a:ln>
        </p:spPr>
        <p:txBody>
          <a:bodyPr wrap="square" lIns="0" rIns="0" tIns="0" bIns="0" anchor="t">
            <a:noAutofit/>
          </a:bodyPr>
          <a:lstStyle/>
          <a:p>
            <a:pPr algn="l">
              <a:lnSpc>
                <a:spcPct val="106000"/>
              </a:lnSpc>
              <a:spcAft>
                <a:spcPts val="0"/>
              </a:spcAft>
            </a:pPr>
            <a:r>
              <a:rPr sz="1750" b="1">
                <a:solidFill>
                  <a:srgbClr val="16304E"/>
                </a:solidFill>
                <a:latin typeface="Arial"/>
                <a:ea typeface="Arial"/>
                <a:cs typeface="Arial"/>
              </a:rPr>
              <a:t>Nemotron VoiceChat</a:t>
            </a:r>
          </a:p>
        </p:txBody>
      </p:sp>
      <p:sp>
        <p:nvSpPr>
          <p:cNvPr id="204" name="Tool-result round trip in native duplex"/>
          <p:cNvSpPr txBox="1"/>
          <p:nvPr/>
        </p:nvSpPr>
        <p:spPr>
          <a:xfrm>
            <a:off x="6400800" y="2770632"/>
            <a:ext cx="5120640" cy="292608"/>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Tool-result round trip in native duplex</a:t>
            </a:r>
          </a:p>
        </p:txBody>
      </p:sp>
      <p:cxnSp>
        <p:nvCxnSpPr>
          <p:cNvPr id="205" name="Current support / roadmap boundary"/>
          <p:cNvCxnSpPr/>
          <p:nvPr/>
        </p:nvCxnSpPr>
        <p:spPr>
          <a:xfrm>
            <a:off x="594360" y="3200400"/>
            <a:ext cx="11018520" cy="0"/>
          </a:xfrm>
          <a:prstGeom prst="line">
            <a:avLst/>
          </a:prstGeom>
          <a:ln w="12700">
            <a:solidFill>
              <a:srgbClr val="D1DDE9"/>
            </a:solidFill>
          </a:ln>
        </p:spPr>
      </p:cxnSp>
      <p:sp>
        <p:nvSpPr>
          <p:cNvPr id="206" name="UNIFIED DUPLEX ROADMAP"/>
          <p:cNvSpPr txBox="1"/>
          <p:nvPr/>
        </p:nvSpPr>
        <p:spPr>
          <a:xfrm>
            <a:off x="594360" y="3355848"/>
            <a:ext cx="10881360" cy="237744"/>
          </a:xfrm>
          <a:prstGeom prst="rect">
            <a:avLst/>
          </a:prstGeom>
          <a:noFill/>
          <a:ln>
            <a:noFill/>
          </a:ln>
        </p:spPr>
        <p:txBody>
          <a:bodyPr wrap="square" lIns="0" rIns="0" tIns="0" bIns="0" anchor="t">
            <a:noAutofit/>
          </a:bodyPr>
          <a:lstStyle/>
          <a:p>
            <a:pPr algn="l">
              <a:lnSpc>
                <a:spcPct val="106000"/>
              </a:lnSpc>
              <a:spcAft>
                <a:spcPts val="0"/>
              </a:spcAft>
            </a:pPr>
            <a:r>
              <a:rPr sz="1200" b="1">
                <a:solidFill>
                  <a:srgbClr val="95620B"/>
                </a:solidFill>
                <a:latin typeface="Arial"/>
                <a:ea typeface="Arial"/>
                <a:cs typeface="Arial"/>
              </a:rPr>
              <a:t>UNIFIED DUPLEX ROADMAP</a:t>
            </a:r>
          </a:p>
        </p:txBody>
      </p:sp>
      <p:sp>
        <p:nvSpPr>
          <p:cNvPr id="207" name="Model emits"/>
          <p:cNvSpPr txBox="1"/>
          <p:nvPr/>
        </p:nvSpPr>
        <p:spPr>
          <a:xfrm>
            <a:off x="731520" y="3730752"/>
            <a:ext cx="23774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emits</a:t>
            </a:r>
          </a:p>
        </p:txBody>
      </p:sp>
      <p:sp>
        <p:nvSpPr>
          <p:cNvPr id="208" name="Tool name + arguments"/>
          <p:cNvSpPr txBox="1"/>
          <p:nvPr/>
        </p:nvSpPr>
        <p:spPr>
          <a:xfrm>
            <a:off x="731520" y="4041648"/>
            <a:ext cx="23774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Tool name + arguments</a:t>
            </a:r>
          </a:p>
        </p:txBody>
      </p:sp>
      <p:sp>
        <p:nvSpPr>
          <p:cNvPr id="209" name="Application executes"/>
          <p:cNvSpPr txBox="1"/>
          <p:nvPr/>
        </p:nvSpPr>
        <p:spPr>
          <a:xfrm>
            <a:off x="3675888" y="3730752"/>
            <a:ext cx="228600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Application executes</a:t>
            </a:r>
          </a:p>
        </p:txBody>
      </p:sp>
      <p:sp>
        <p:nvSpPr>
          <p:cNvPr id="210" name="External function"/>
          <p:cNvSpPr txBox="1"/>
          <p:nvPr/>
        </p:nvSpPr>
        <p:spPr>
          <a:xfrm>
            <a:off x="3675888" y="4041648"/>
            <a:ext cx="228600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External function</a:t>
            </a:r>
          </a:p>
        </p:txBody>
      </p:sp>
      <p:sp>
        <p:nvSpPr>
          <p:cNvPr id="211" name="Result returns"/>
          <p:cNvSpPr txBox="1"/>
          <p:nvPr/>
        </p:nvSpPr>
        <p:spPr>
          <a:xfrm>
            <a:off x="6492240" y="3730752"/>
            <a:ext cx="2148840"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Result returns</a:t>
            </a:r>
          </a:p>
        </p:txBody>
      </p:sp>
      <p:sp>
        <p:nvSpPr>
          <p:cNvPr id="212" name="Match the call_id"/>
          <p:cNvSpPr txBox="1"/>
          <p:nvPr/>
        </p:nvSpPr>
        <p:spPr>
          <a:xfrm>
            <a:off x="6492240" y="4041648"/>
            <a:ext cx="2148840"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Match the call_id</a:t>
            </a:r>
          </a:p>
        </p:txBody>
      </p:sp>
      <p:sp>
        <p:nvSpPr>
          <p:cNvPr id="213" name="Model continues"/>
          <p:cNvSpPr txBox="1"/>
          <p:nvPr/>
        </p:nvSpPr>
        <p:spPr>
          <a:xfrm>
            <a:off x="9189720" y="3730752"/>
            <a:ext cx="2404872" cy="274320"/>
          </a:xfrm>
          <a:prstGeom prst="rect">
            <a:avLst/>
          </a:prstGeom>
          <a:noFill/>
          <a:ln>
            <a:noFill/>
          </a:ln>
        </p:spPr>
        <p:txBody>
          <a:bodyPr wrap="square" lIns="0" rIns="0" tIns="0" bIns="0" anchor="t">
            <a:noAutofit/>
          </a:bodyPr>
          <a:lstStyle/>
          <a:p>
            <a:pPr algn="l">
              <a:lnSpc>
                <a:spcPct val="106000"/>
              </a:lnSpc>
              <a:spcAft>
                <a:spcPts val="0"/>
              </a:spcAft>
            </a:pPr>
            <a:r>
              <a:rPr sz="1500" b="1">
                <a:solidFill>
                  <a:srgbClr val="16304E"/>
                </a:solidFill>
                <a:latin typeface="Arial"/>
                <a:ea typeface="Arial"/>
                <a:cs typeface="Arial"/>
              </a:rPr>
              <a:t>Model continues</a:t>
            </a:r>
          </a:p>
        </p:txBody>
      </p:sp>
      <p:sp>
        <p:nvSpPr>
          <p:cNvPr id="214" name="Generate the reply"/>
          <p:cNvSpPr txBox="1"/>
          <p:nvPr/>
        </p:nvSpPr>
        <p:spPr>
          <a:xfrm>
            <a:off x="9189720" y="4041648"/>
            <a:ext cx="2404872" cy="246888"/>
          </a:xfrm>
          <a:prstGeom prst="rect">
            <a:avLst/>
          </a:prstGeom>
          <a:noFill/>
          <a:ln>
            <a:noFill/>
          </a:ln>
        </p:spPr>
        <p:txBody>
          <a:bodyPr wrap="square" lIns="0" rIns="0" tIns="0" bIns="0" anchor="t">
            <a:noAutofit/>
          </a:bodyPr>
          <a:lstStyle/>
          <a:p>
            <a:pPr algn="l">
              <a:lnSpc>
                <a:spcPct val="106000"/>
              </a:lnSpc>
              <a:spcAft>
                <a:spcPts val="0"/>
              </a:spcAft>
            </a:pPr>
            <a:r>
              <a:rPr sz="1240" b="0">
                <a:solidFill>
                  <a:srgbClr val="586B7E"/>
                </a:solidFill>
                <a:latin typeface="Arial"/>
                <a:ea typeface="Arial"/>
                <a:cs typeface="Arial"/>
              </a:rPr>
              <a:t>Generate the reply</a:t>
            </a:r>
          </a:p>
        </p:txBody>
      </p:sp>
      <p:cxnSp>
        <p:nvCxnSpPr>
          <p:cNvPr id="215" name="Shared call loop"/>
          <p:cNvCxnSpPr/>
          <p:nvPr/>
        </p:nvCxnSpPr>
        <p:spPr>
          <a:xfrm>
            <a:off x="3218688" y="3877056"/>
            <a:ext cx="356616" cy="0"/>
          </a:xfrm>
          <a:prstGeom prst="line">
            <a:avLst/>
          </a:prstGeom>
          <a:ln w="22860">
            <a:solidFill>
              <a:srgbClr val="008E96"/>
            </a:solidFill>
            <a:tailEnd type="triangle" w="med" len="med"/>
          </a:ln>
        </p:spPr>
      </p:cxnSp>
      <p:cxnSp>
        <p:nvCxnSpPr>
          <p:cNvPr id="216" name="Shared call loop"/>
          <p:cNvCxnSpPr/>
          <p:nvPr/>
        </p:nvCxnSpPr>
        <p:spPr>
          <a:xfrm>
            <a:off x="6044184" y="3877056"/>
            <a:ext cx="356616" cy="0"/>
          </a:xfrm>
          <a:prstGeom prst="line">
            <a:avLst/>
          </a:prstGeom>
          <a:ln w="22860">
            <a:solidFill>
              <a:srgbClr val="008E96"/>
            </a:solidFill>
            <a:tailEnd type="triangle" w="med" len="med"/>
          </a:ln>
        </p:spPr>
      </p:cxnSp>
      <p:cxnSp>
        <p:nvCxnSpPr>
          <p:cNvPr id="217" name="Shared call loop"/>
          <p:cNvCxnSpPr/>
          <p:nvPr/>
        </p:nvCxnSpPr>
        <p:spPr>
          <a:xfrm>
            <a:off x="8686800" y="3877056"/>
            <a:ext cx="402336" cy="0"/>
          </a:xfrm>
          <a:prstGeom prst="line">
            <a:avLst/>
          </a:prstGeom>
          <a:ln w="22860">
            <a:solidFill>
              <a:srgbClr val="008E96"/>
            </a:solidFill>
            <a:tailEnd type="triangle" w="med" len="med"/>
          </a:ln>
        </p:spPr>
      </p:cxnSp>
      <p:graphicFrame>
        <p:nvGraphicFramePr>
          <p:cNvPr id="218" name="Unified duplex tool calling roadmap"/>
          <p:cNvGraphicFramePr/>
          <p:nvPr/>
        </p:nvGraphicFramePr>
        <p:xfrm>
          <a:off x="594360" y="4443984"/>
          <a:ext cx="11018520" cy="1865376"/>
        </p:xfrm>
        <a:graphic>
          <a:graphicData uri="http://schemas.openxmlformats.org/drawingml/2006/table">
            <a:tbl>
              <a:tblPr firstRow="0" bandRow="0"/>
              <a:tblGrid>
                <a:gridCol w="1993392"/>
                <a:gridCol w="9025128"/>
              </a:tblGrid>
              <a:tr h="493776">
                <a:tc>
                  <a:txBody>
                    <a:bodyPr wrap="square">
                      <a:noAutofit/>
                    </a:bodyPr>
                    <a:lstStyle/>
                    <a:p>
                      <a:pPr>
                        <a:lnSpc>
                          <a:spcPct val="108000"/>
                        </a:lnSpc>
                        <a:spcAft>
                          <a:spcPts val="0"/>
                        </a:spcAft>
                      </a:pPr>
                      <a:r>
                        <a:rPr sz="1400" b="1">
                          <a:solidFill>
                            <a:srgbClr val="16304E"/>
                          </a:solidFill>
                          <a:latin typeface="Arial"/>
                          <a:ea typeface="Arial"/>
                          <a:cs typeface="Arial"/>
                        </a:rPr>
                        <a:t>During execution</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Define whether user input and speech output continue while the tool runs.</a:t>
                      </a:r>
                    </a:p>
                  </a:txBody>
                  <a:tcPr marL="137160" marR="100584" marT="54864" marB="50292" anchor="ctr">
                    <a:lnL w="0">
                      <a:noFill/>
                    </a:lnL>
                    <a:lnR w="0">
                      <a:noFill/>
                    </a:lnR>
                    <a:lnT w="0">
                      <a:noFill/>
                    </a:lnT>
                    <a:lnB w="25400">
                      <a:solidFill>
                        <a:srgbClr val="FFFFFF"/>
                      </a:solidFill>
                    </a:lnB>
                    <a:solidFill>
                      <a:srgbClr val="F2F5F9"/>
                    </a:solidFill>
                  </a:tcPr>
                </a:tc>
              </a:tr>
              <a:tr h="658368">
                <a:tc>
                  <a:txBody>
                    <a:bodyPr wrap="square">
                      <a:noAutofit/>
                    </a:bodyPr>
                    <a:lstStyle/>
                    <a:p>
                      <a:pPr>
                        <a:lnSpc>
                          <a:spcPct val="108000"/>
                        </a:lnSpc>
                        <a:spcAft>
                          <a:spcPts val="0"/>
                        </a:spcAft>
                      </a:pPr>
                      <a:r>
                        <a:rPr sz="1400" b="1">
                          <a:solidFill>
                            <a:srgbClr val="16304E"/>
                          </a:solidFill>
                          <a:latin typeface="Arial"/>
                          <a:ea typeface="Arial"/>
                          <a:cs typeface="Arial"/>
                        </a:rPr>
                        <a:t>Turn safety</a:t>
                      </a:r>
                    </a:p>
                  </a:txBody>
                  <a:tcPr marL="137160" marR="100584" marT="54864" marB="50292" anchor="ctr">
                    <a:lnL w="0">
                      <a:noFill/>
                    </a:lnL>
                    <a:lnR w="0">
                      <a:noFill/>
                    </a:lnR>
                    <a:lnT w="0">
                      <a:noFill/>
                    </a:lnT>
                    <a:lnB w="25400">
                      <a:solidFill>
                        <a:srgbClr val="FFFFFF"/>
                      </a:solidFill>
                    </a:lnB>
                    <a:solidFill>
                      <a:srgbClr val="FFFFFF"/>
                    </a:solidFill>
                  </a:tcPr>
                </a:tc>
                <a:tc>
                  <a:txBody>
                    <a:bodyPr wrap="square">
                      <a:noAutofit/>
                    </a:bodyPr>
                    <a:lstStyle/>
                    <a:p>
                      <a:pPr>
                        <a:lnSpc>
                          <a:spcPct val="108000"/>
                        </a:lnSpc>
                        <a:spcAft>
                          <a:spcPts val="0"/>
                        </a:spcAft>
                      </a:pPr>
                      <a:r>
                        <a:rPr sz="1400" b="0">
                          <a:solidFill>
                            <a:srgbClr val="16304E"/>
                          </a:solidFill>
                          <a:latin typeface="Arial"/>
                          <a:ea typeface="Arial"/>
                          <a:cs typeface="Arial"/>
                        </a:rPr>
                        <a:t>Handle interruption, timeouts, duplicate and late results;</a:t>
                      </a:r>
                    </a:p>
                    <a:p>
                      <a:pPr>
                        <a:lnSpc>
                          <a:spcPct val="108000"/>
                        </a:lnSpc>
                        <a:spcAft>
                          <a:spcPts val="0"/>
                        </a:spcAft>
                      </a:pPr>
                      <a:r>
                        <a:rPr sz="1400" b="0">
                          <a:solidFill>
                            <a:srgbClr val="16304E"/>
                          </a:solidFill>
                          <a:latin typeface="Arial"/>
                          <a:ea typeface="Arial"/>
                          <a:cs typeface="Arial"/>
                        </a:rPr>
                        <a:t>keep old calls from affecting a new turn.</a:t>
                      </a:r>
                    </a:p>
                  </a:txBody>
                  <a:tcPr marL="137160" marR="100584" marT="54864" marB="50292" anchor="ctr">
                    <a:lnL w="0">
                      <a:noFill/>
                    </a:lnL>
                    <a:lnR w="0">
                      <a:noFill/>
                    </a:lnR>
                    <a:lnT w="0">
                      <a:noFill/>
                    </a:lnT>
                    <a:lnB w="25400">
                      <a:solidFill>
                        <a:srgbClr val="FFFFFF"/>
                      </a:solidFill>
                    </a:lnB>
                    <a:solidFill>
                      <a:srgbClr val="FFFFFF"/>
                    </a:solidFill>
                  </a:tcPr>
                </a:tc>
              </a:tr>
              <a:tr h="713232">
                <a:tc>
                  <a:txBody>
                    <a:bodyPr wrap="square">
                      <a:noAutofit/>
                    </a:bodyPr>
                    <a:lstStyle/>
                    <a:p>
                      <a:pPr>
                        <a:lnSpc>
                          <a:spcPct val="108000"/>
                        </a:lnSpc>
                        <a:spcAft>
                          <a:spcPts val="0"/>
                        </a:spcAft>
                      </a:pPr>
                      <a:r>
                        <a:rPr sz="1400" b="1">
                          <a:solidFill>
                            <a:srgbClr val="16304E"/>
                          </a:solidFill>
                          <a:latin typeface="Arial"/>
                          <a:ea typeface="Arial"/>
                          <a:cs typeface="Arial"/>
                        </a:rPr>
                        <a:t>Framework + plugins</a:t>
                      </a:r>
                    </a:p>
                  </a:txBody>
                  <a:tcPr marL="137160" marR="100584" marT="54864" marB="50292" anchor="ctr">
                    <a:lnL w="0">
                      <a:noFill/>
                    </a:lnL>
                    <a:lnR w="0">
                      <a:noFill/>
                    </a:lnR>
                    <a:lnT w="0">
                      <a:noFill/>
                    </a:lnT>
                    <a:lnB w="25400">
                      <a:solidFill>
                        <a:srgbClr val="FFFFFF"/>
                      </a:solidFill>
                    </a:lnB>
                    <a:solidFill>
                      <a:srgbClr val="F2F5F9"/>
                    </a:solidFill>
                  </a:tcPr>
                </a:tc>
                <a:tc>
                  <a:txBody>
                    <a:bodyPr wrap="square">
                      <a:noAutofit/>
                    </a:bodyPr>
                    <a:lstStyle/>
                    <a:p>
                      <a:pPr>
                        <a:lnSpc>
                          <a:spcPct val="108000"/>
                        </a:lnSpc>
                        <a:spcAft>
                          <a:spcPts val="0"/>
                        </a:spcAft>
                      </a:pPr>
                      <a:r>
                        <a:rPr sz="1400" b="0">
                          <a:solidFill>
                            <a:srgbClr val="16304E"/>
                          </a:solidFill>
                          <a:latin typeface="Arial"/>
                          <a:ea typeface="Arial"/>
                          <a:cs typeface="Arial"/>
                        </a:rPr>
                        <a:t>Framework owns shared call handling; plugins adapt model formats and behavior.</a:t>
                      </a:r>
                    </a:p>
                    <a:p>
                      <a:pPr>
                        <a:lnSpc>
                          <a:spcPct val="108000"/>
                        </a:lnSpc>
                        <a:spcAft>
                          <a:spcPts val="0"/>
                        </a:spcAft>
                      </a:pPr>
                      <a:r>
                        <a:rPr sz="1400" b="0">
                          <a:solidFill>
                            <a:srgbClr val="16304E"/>
                          </a:solidFill>
                          <a:latin typeface="Arial"/>
                          <a:ea typeface="Arial"/>
                          <a:cs typeface="Arial"/>
                        </a:rPr>
                        <a:t>Extend coverage to Qwen3-Omni unified duplex, AURA and JoyAI.</a:t>
                      </a:r>
                    </a:p>
                  </a:txBody>
                  <a:tcPr marL="137160" marR="100584" marT="54864" marB="50292" anchor="ctr">
                    <a:lnL w="0">
                      <a:noFill/>
                    </a:lnL>
                    <a:lnR w="0">
                      <a:noFill/>
                    </a:lnR>
                    <a:lnT w="0">
                      <a:noFill/>
                    </a:lnT>
                    <a:lnB w="25400">
                      <a:solidFill>
                        <a:srgbClr val="FFFFFF"/>
                      </a:solidFill>
                    </a:lnB>
                    <a:solidFill>
                      <a:srgbClr val="F2F5F9"/>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ROADMAP</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700" b="1">
                <a:solidFill>
                  <a:srgbClr val="142B45"/>
                </a:solidFill>
                <a:latin typeface="Arial"/>
                <a:ea typeface="Arial"/>
                <a:cs typeface="Arial"/>
              </a:rPr>
              <a:t>Full-duplex roadmap</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50" b="0">
                <a:solidFill>
                  <a:srgbClr val="586B7E"/>
                </a:solidFill>
                <a:latin typeface="Arial"/>
                <a:ea typeface="Arial"/>
                <a:cs typeface="Arial"/>
              </a:rPr>
              <a:t>Near-term model integration, interaction and evaluation; longer-term session duration and serving scale.</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12 / 12</a:t>
            </a:r>
          </a:p>
        </p:txBody>
      </p:sp>
      <p:sp>
        <p:nvSpPr>
          <p:cNvPr id="200" name="NEAR TERM"/>
          <p:cNvSpPr txBox="1"/>
          <p:nvPr/>
        </p:nvSpPr>
        <p:spPr>
          <a:xfrm>
            <a:off x="731520" y="2185416"/>
            <a:ext cx="502920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307BDB"/>
                </a:solidFill>
                <a:latin typeface="Arial"/>
                <a:ea typeface="Arial"/>
                <a:cs typeface="Arial"/>
              </a:rPr>
              <a:t>NEAR TERM</a:t>
            </a:r>
          </a:p>
        </p:txBody>
      </p:sp>
      <p:sp>
        <p:nvSpPr>
          <p:cNvPr id="201" name="LONGER TERM"/>
          <p:cNvSpPr txBox="1"/>
          <p:nvPr/>
        </p:nvSpPr>
        <p:spPr>
          <a:xfrm>
            <a:off x="6419088" y="2185416"/>
            <a:ext cx="5074920" cy="320040"/>
          </a:xfrm>
          <a:prstGeom prst="rect">
            <a:avLst/>
          </a:prstGeom>
          <a:noFill/>
          <a:ln>
            <a:noFill/>
          </a:ln>
        </p:spPr>
        <p:txBody>
          <a:bodyPr wrap="square" lIns="0" rIns="0" tIns="0" bIns="0" anchor="t">
            <a:noAutofit/>
          </a:bodyPr>
          <a:lstStyle/>
          <a:p>
            <a:pPr algn="l">
              <a:lnSpc>
                <a:spcPct val="106000"/>
              </a:lnSpc>
              <a:spcAft>
                <a:spcPts val="0"/>
              </a:spcAft>
            </a:pPr>
            <a:r>
              <a:rPr sz="1650" b="1">
                <a:solidFill>
                  <a:srgbClr val="008E96"/>
                </a:solidFill>
                <a:latin typeface="Arial"/>
                <a:ea typeface="Arial"/>
                <a:cs typeface="Arial"/>
              </a:rPr>
              <a:t>LONGER TERM</a:t>
            </a:r>
          </a:p>
        </p:txBody>
      </p:sp>
      <p:cxnSp>
        <p:nvCxnSpPr>
          <p:cNvPr id="202" name="Near-term section"/>
          <p:cNvCxnSpPr/>
          <p:nvPr/>
        </p:nvCxnSpPr>
        <p:spPr>
          <a:xfrm>
            <a:off x="731520" y="2596896"/>
            <a:ext cx="4983480" cy="0"/>
          </a:xfrm>
          <a:prstGeom prst="line">
            <a:avLst/>
          </a:prstGeom>
          <a:ln w="19050">
            <a:solidFill>
              <a:srgbClr val="96B4D9"/>
            </a:solidFill>
          </a:ln>
        </p:spPr>
      </p:cxnSp>
      <p:cxnSp>
        <p:nvCxnSpPr>
          <p:cNvPr id="203" name="Longer-term section"/>
          <p:cNvCxnSpPr/>
          <p:nvPr/>
        </p:nvCxnSpPr>
        <p:spPr>
          <a:xfrm>
            <a:off x="6419088" y="2596896"/>
            <a:ext cx="5056632" cy="0"/>
          </a:xfrm>
          <a:prstGeom prst="line">
            <a:avLst/>
          </a:prstGeom>
          <a:ln w="19050">
            <a:solidFill>
              <a:srgbClr val="8DB8B7"/>
            </a:solidFill>
          </a:ln>
        </p:spPr>
      </p:cxnSp>
      <p:cxnSp>
        <p:nvCxnSpPr>
          <p:cNvPr id="204" name="Phase boundary"/>
          <p:cNvCxnSpPr/>
          <p:nvPr/>
        </p:nvCxnSpPr>
        <p:spPr>
          <a:xfrm>
            <a:off x="6089904" y="2185416"/>
            <a:ext cx="0" cy="3895344"/>
          </a:xfrm>
          <a:prstGeom prst="line">
            <a:avLst/>
          </a:prstGeom>
          <a:ln w="12700">
            <a:solidFill>
              <a:srgbClr val="D1DDE9"/>
            </a:solidFill>
          </a:ln>
        </p:spPr>
      </p:cxnSp>
      <p:sp>
        <p:nvSpPr>
          <p:cNvPr id="205" name="JoyAI integration"/>
          <p:cNvSpPr txBox="1"/>
          <p:nvPr/>
        </p:nvSpPr>
        <p:spPr>
          <a:xfrm>
            <a:off x="731520" y="277063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JoyAI integration</a:t>
            </a:r>
          </a:p>
        </p:txBody>
      </p:sp>
      <p:sp>
        <p:nvSpPr>
          <p:cNvPr id="206" name="Bring JoyAI into the unified duplex framework&#10;with model-specific input/output adapters"/>
          <p:cNvSpPr txBox="1"/>
          <p:nvPr/>
        </p:nvSpPr>
        <p:spPr>
          <a:xfrm>
            <a:off x="731520" y="312724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Bring JoyAI into the unified duplex framework</a:t>
            </a:r>
          </a:p>
          <a:p>
            <a:pPr algn="l">
              <a:lnSpc>
                <a:spcPct val="106000"/>
              </a:lnSpc>
              <a:spcAft>
                <a:spcPts val="0"/>
              </a:spcAft>
            </a:pPr>
            <a:r>
              <a:rPr sz="1400" b="0">
                <a:solidFill>
                  <a:srgbClr val="586B7E"/>
                </a:solidFill>
                <a:latin typeface="Arial"/>
                <a:ea typeface="Arial"/>
                <a:cs typeface="Arial"/>
              </a:rPr>
              <a:t>with model-specific input/output adapters</a:t>
            </a:r>
          </a:p>
        </p:txBody>
      </p:sp>
      <p:sp>
        <p:nvSpPr>
          <p:cNvPr id="207" name="Unified tool calling"/>
          <p:cNvSpPr txBox="1"/>
          <p:nvPr/>
        </p:nvSpPr>
        <p:spPr>
          <a:xfrm>
            <a:off x="731520" y="363931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Unified tool calling</a:t>
            </a:r>
          </a:p>
        </p:txBody>
      </p:sp>
      <p:sp>
        <p:nvSpPr>
          <p:cNvPr id="208" name="Shared call/result handling and model adapters&#10;Interruption, timeout and stale-result handling"/>
          <p:cNvSpPr txBox="1"/>
          <p:nvPr/>
        </p:nvSpPr>
        <p:spPr>
          <a:xfrm>
            <a:off x="731520" y="399592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Shared call/result handling and model adapters</a:t>
            </a:r>
          </a:p>
          <a:p>
            <a:pPr algn="l">
              <a:lnSpc>
                <a:spcPct val="106000"/>
              </a:lnSpc>
              <a:spcAft>
                <a:spcPts val="0"/>
              </a:spcAft>
            </a:pPr>
            <a:r>
              <a:rPr sz="1400" b="0">
                <a:solidFill>
                  <a:srgbClr val="586B7E"/>
                </a:solidFill>
                <a:latin typeface="Arial"/>
                <a:ea typeface="Arial"/>
                <a:cs typeface="Arial"/>
              </a:rPr>
              <a:t>Interruption, timeout and stale-result handling</a:t>
            </a:r>
          </a:p>
        </p:txBody>
      </p:sp>
      <p:sp>
        <p:nvSpPr>
          <p:cNvPr id="209" name="Semantic VAD"/>
          <p:cNvSpPr txBox="1"/>
          <p:nvPr/>
        </p:nvSpPr>
        <p:spPr>
          <a:xfrm>
            <a:off x="731520" y="450799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Semantic VAD</a:t>
            </a:r>
          </a:p>
        </p:txBody>
      </p:sp>
      <p:sp>
        <p:nvSpPr>
          <p:cNvPr id="210" name="Turn completion based on meaning and context&#10;Integration with commit and response policies"/>
          <p:cNvSpPr txBox="1"/>
          <p:nvPr/>
        </p:nvSpPr>
        <p:spPr>
          <a:xfrm>
            <a:off x="731520" y="486460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Turn completion based on meaning and context</a:t>
            </a:r>
          </a:p>
          <a:p>
            <a:pPr algn="l">
              <a:lnSpc>
                <a:spcPct val="106000"/>
              </a:lnSpc>
              <a:spcAft>
                <a:spcPts val="0"/>
              </a:spcAft>
            </a:pPr>
            <a:r>
              <a:rPr sz="1400" b="0">
                <a:solidFill>
                  <a:srgbClr val="586B7E"/>
                </a:solidFill>
                <a:latin typeface="Arial"/>
                <a:ea typeface="Arial"/>
                <a:cs typeface="Arial"/>
              </a:rPr>
              <a:t>Integration with commit and response policies</a:t>
            </a:r>
          </a:p>
        </p:txBody>
      </p:sp>
      <p:sp>
        <p:nvSpPr>
          <p:cNvPr id="211" name="Broader realtime evaluation"/>
          <p:cNvSpPr txBox="1"/>
          <p:nvPr/>
        </p:nvSpPr>
        <p:spPr>
          <a:xfrm>
            <a:off x="731520" y="5376672"/>
            <a:ext cx="4983480" cy="310896"/>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Broader realtime evaluation</a:t>
            </a:r>
          </a:p>
        </p:txBody>
      </p:sp>
      <p:sp>
        <p:nvSpPr>
          <p:cNvPr id="212" name="Broader OmniInteract and Omni-DuplexEval coverage&#10;More models, interaction tasks and regression checks"/>
          <p:cNvSpPr txBox="1"/>
          <p:nvPr/>
        </p:nvSpPr>
        <p:spPr>
          <a:xfrm>
            <a:off x="731520" y="5733288"/>
            <a:ext cx="4983480" cy="512064"/>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Broader OmniInteract and Omni-DuplexEval coverage</a:t>
            </a:r>
          </a:p>
          <a:p>
            <a:pPr algn="l">
              <a:lnSpc>
                <a:spcPct val="106000"/>
              </a:lnSpc>
              <a:spcAft>
                <a:spcPts val="0"/>
              </a:spcAft>
            </a:pPr>
            <a:r>
              <a:rPr sz="1400" b="0">
                <a:solidFill>
                  <a:srgbClr val="586B7E"/>
                </a:solidFill>
                <a:latin typeface="Arial"/>
                <a:ea typeface="Arial"/>
                <a:cs typeface="Arial"/>
              </a:rPr>
              <a:t>More models, interaction tasks and regression checks</a:t>
            </a:r>
          </a:p>
        </p:txBody>
      </p:sp>
      <p:sp>
        <p:nvSpPr>
          <p:cNvPr id="213" name="Longer sustained conversations"/>
          <p:cNvSpPr txBox="1"/>
          <p:nvPr/>
        </p:nvSpPr>
        <p:spPr>
          <a:xfrm>
            <a:off x="6419088" y="2816352"/>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Longer sustained conversations</a:t>
            </a:r>
          </a:p>
        </p:txBody>
      </p:sp>
      <p:sp>
        <p:nvSpPr>
          <p:cNvPr id="214" name="Bound context and history for extended audio/video&#10;Maintain stable latency and memory as sessions grow"/>
          <p:cNvSpPr txBox="1"/>
          <p:nvPr/>
        </p:nvSpPr>
        <p:spPr>
          <a:xfrm>
            <a:off x="6419088" y="3200400"/>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Bound context and history for extended audio/video</a:t>
            </a:r>
          </a:p>
          <a:p>
            <a:pPr algn="l">
              <a:lnSpc>
                <a:spcPct val="106000"/>
              </a:lnSpc>
              <a:spcAft>
                <a:spcPts val="0"/>
              </a:spcAft>
            </a:pPr>
            <a:r>
              <a:rPr sz="1400" b="0">
                <a:solidFill>
                  <a:srgbClr val="586B7E"/>
                </a:solidFill>
                <a:latin typeface="Arial"/>
                <a:ea typeface="Arial"/>
                <a:cs typeface="Arial"/>
              </a:rPr>
              <a:t>Maintain stable latency and memory as sessions grow</a:t>
            </a:r>
          </a:p>
        </p:txBody>
      </p:sp>
      <p:sp>
        <p:nvSpPr>
          <p:cNvPr id="215" name="Scaled multi-replica serving"/>
          <p:cNvSpPr txBox="1"/>
          <p:nvPr/>
        </p:nvSpPr>
        <p:spPr>
          <a:xfrm>
            <a:off x="6419088" y="4544568"/>
            <a:ext cx="5074920" cy="338328"/>
          </a:xfrm>
          <a:prstGeom prst="rect">
            <a:avLst/>
          </a:prstGeom>
          <a:noFill/>
          <a:ln>
            <a:noFill/>
          </a:ln>
        </p:spPr>
        <p:txBody>
          <a:bodyPr wrap="square" lIns="0" rIns="0" tIns="0" bIns="0" anchor="t">
            <a:noAutofit/>
          </a:bodyPr>
          <a:lstStyle/>
          <a:p>
            <a:pPr algn="l">
              <a:lnSpc>
                <a:spcPct val="106000"/>
              </a:lnSpc>
              <a:spcAft>
                <a:spcPts val="0"/>
              </a:spcAft>
            </a:pPr>
            <a:r>
              <a:rPr sz="1850" b="1">
                <a:solidFill>
                  <a:srgbClr val="16304E"/>
                </a:solidFill>
                <a:latin typeface="Arial"/>
                <a:ea typeface="Arial"/>
                <a:cs typeface="Arial"/>
              </a:rPr>
              <a:t>Scaled multi-replica serving</a:t>
            </a:r>
          </a:p>
        </p:txBody>
      </p:sp>
      <p:sp>
        <p:nvSpPr>
          <p:cNvPr id="216" name="Higher session concurrency across Stage replicas&#10;Session routing and ownership across API frontends"/>
          <p:cNvSpPr txBox="1"/>
          <p:nvPr/>
        </p:nvSpPr>
        <p:spPr>
          <a:xfrm>
            <a:off x="6419088" y="4928616"/>
            <a:ext cx="5074920" cy="640080"/>
          </a:xfrm>
          <a:prstGeom prst="rect">
            <a:avLst/>
          </a:prstGeom>
          <a:noFill/>
          <a:ln>
            <a:noFill/>
          </a:ln>
        </p:spPr>
        <p:txBody>
          <a:bodyPr wrap="square" lIns="0" rIns="0" tIns="0" bIns="0" anchor="t">
            <a:noAutofit/>
          </a:bodyPr>
          <a:lstStyle/>
          <a:p>
            <a:pPr algn="l">
              <a:lnSpc>
                <a:spcPct val="106000"/>
              </a:lnSpc>
              <a:spcAft>
                <a:spcPts val="0"/>
              </a:spcAft>
            </a:pPr>
            <a:r>
              <a:rPr sz="1400" b="0">
                <a:solidFill>
                  <a:srgbClr val="586B7E"/>
                </a:solidFill>
                <a:latin typeface="Arial"/>
                <a:ea typeface="Arial"/>
                <a:cs typeface="Arial"/>
              </a:rPr>
              <a:t>Higher session concurrency across Stage replicas</a:t>
            </a:r>
          </a:p>
          <a:p>
            <a:pPr algn="l">
              <a:lnSpc>
                <a:spcPct val="106000"/>
              </a:lnSpc>
              <a:spcAft>
                <a:spcPts val="0"/>
              </a:spcAft>
            </a:pPr>
            <a:r>
              <a:rPr sz="1400" b="0">
                <a:solidFill>
                  <a:srgbClr val="586B7E"/>
                </a:solidFill>
                <a:latin typeface="Arial"/>
                <a:ea typeface="Arial"/>
                <a:cs typeface="Arial"/>
              </a:rPr>
              <a:t>Session routing and ownership across API frontends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ARCHITECTURE</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800" b="1">
                <a:solidFill>
                  <a:srgbClr val="142B45"/>
                </a:solidFill>
                <a:latin typeface="Arial"/>
                <a:ea typeface="Arial"/>
                <a:cs typeface="Arial"/>
              </a:rPr>
              <a:t>Duplex execution: input, model computation and output</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Normal output uses a bounded per-session buffer shared by the API and Orchestrator threads.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A1</a:t>
            </a:r>
          </a:p>
        </p:txBody>
      </p:sp>
      <p:sp>
        <p:nvSpPr>
          <p:cNvPr id="12" name="Rounded Rectangle 11"/>
          <p:cNvSpPr/>
          <p:nvPr/>
        </p:nvSpPr>
        <p:spPr>
          <a:xfrm>
            <a:off x="548640" y="2670048"/>
            <a:ext cx="7680960" cy="3090672"/>
          </a:xfrm>
          <a:prstGeom prst="roundRect">
            <a:avLst>
              <a:gd name="adj" fmla="val 10000"/>
            </a:avLst>
          </a:prstGeom>
          <a:solidFill>
            <a:srgbClr val="F3F6FA"/>
          </a:solidFill>
          <a:ln w="1460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46320" y="2157984"/>
            <a:ext cx="3154680" cy="182880"/>
          </a:xfrm>
          <a:prstGeom prst="rect">
            <a:avLst/>
          </a:prstGeom>
          <a:noFill/>
        </p:spPr>
        <p:txBody>
          <a:bodyPr wrap="square" lIns="0" rIns="0" tIns="0" bIns="0" anchor="t">
            <a:spAutoFit/>
          </a:bodyPr>
          <a:lstStyle/>
          <a:p>
            <a:pPr algn="l">
              <a:lnSpc>
                <a:spcPct val="110000"/>
              </a:lnSpc>
              <a:spcAft>
                <a:spcPts val="0"/>
              </a:spcAft>
            </a:pPr>
            <a:r>
              <a:rPr sz="1050" b="1">
                <a:solidFill>
                  <a:srgbClr val="586B7E"/>
                </a:solidFill>
                <a:latin typeface="Arial"/>
                <a:ea typeface="Arial"/>
                <a:cs typeface="Arial"/>
              </a:rPr>
              <a:t>SAME API PROCESS</a:t>
            </a:r>
          </a:p>
        </p:txBody>
      </p:sp>
      <p:cxnSp>
        <p:nvCxnSpPr>
          <p:cNvPr id="15" name="Connector 14"/>
          <p:cNvCxnSpPr/>
          <p:nvPr/>
        </p:nvCxnSpPr>
        <p:spPr>
          <a:xfrm>
            <a:off x="4480560" y="3017520"/>
            <a:ext cx="0" cy="2560320"/>
          </a:xfrm>
          <a:prstGeom prst="line">
            <a:avLst/>
          </a:prstGeom>
          <a:ln w="12700">
            <a:solidFill>
              <a:srgbClr val="DEE6EF"/>
            </a:solidFill>
            <a:prstDash val="dash"/>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6384" y="2816352"/>
            <a:ext cx="239572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API event loop</a:t>
            </a:r>
          </a:p>
        </p:txBody>
      </p:sp>
      <p:sp>
        <p:nvSpPr>
          <p:cNvPr id="17" name="TextBox 16"/>
          <p:cNvSpPr txBox="1"/>
          <p:nvPr/>
        </p:nvSpPr>
        <p:spPr>
          <a:xfrm>
            <a:off x="4828032" y="2816352"/>
            <a:ext cx="3172968" cy="219456"/>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Duplex Orchestrator thread</a:t>
            </a:r>
          </a:p>
        </p:txBody>
      </p:sp>
      <p:sp>
        <p:nvSpPr>
          <p:cNvPr id="19" name="Rounded Rectangle 18"/>
          <p:cNvSpPr/>
          <p:nvPr/>
        </p:nvSpPr>
        <p:spPr>
          <a:xfrm>
            <a:off x="768096" y="2185416"/>
            <a:ext cx="2761488" cy="39319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877824" y="2267712"/>
            <a:ext cx="2542032" cy="201168"/>
          </a:xfrm>
          <a:prstGeom prst="rect">
            <a:avLst/>
          </a:prstGeom>
          <a:noFill/>
        </p:spPr>
        <p:txBody>
          <a:bodyPr wrap="square" lIns="0" rIns="0" tIns="0" bIns="0" anchor="t">
            <a:spAutoFit/>
          </a:bodyPr>
          <a:lstStyle/>
          <a:p>
            <a:pPr algn="l">
              <a:lnSpc>
                <a:spcPct val="110000"/>
              </a:lnSpc>
              <a:spcAft>
                <a:spcPts val="0"/>
              </a:spcAft>
            </a:pPr>
            <a:r>
              <a:rPr sz="1220" b="1">
                <a:solidFill>
                  <a:srgbClr val="327CEC"/>
                </a:solidFill>
                <a:latin typeface="Arial"/>
                <a:ea typeface="Arial"/>
                <a:cs typeface="Arial"/>
              </a:rPr>
              <a:t>User Client · WebSocket</a:t>
            </a:r>
          </a:p>
        </p:txBody>
      </p:sp>
      <p:cxnSp>
        <p:nvCxnSpPr>
          <p:cNvPr id="21" name="Connector 20"/>
          <p:cNvCxnSpPr/>
          <p:nvPr/>
        </p:nvCxnSpPr>
        <p:spPr>
          <a:xfrm>
            <a:off x="3374136" y="2587752"/>
            <a:ext cx="0" cy="539496"/>
          </a:xfrm>
          <a:prstGeom prst="line">
            <a:avLst/>
          </a:prstGeom>
          <a:ln w="17145">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H="1">
            <a:off x="438912" y="5212080"/>
            <a:ext cx="329184" cy="0"/>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V="1">
            <a:off x="438912" y="2386584"/>
            <a:ext cx="0" cy="2825496"/>
          </a:xfrm>
          <a:prstGeom prst="line">
            <a:avLst/>
          </a:prstGeom>
          <a:ln w="1651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a:off x="438912" y="2386584"/>
            <a:ext cx="320040" cy="0"/>
          </a:xfrm>
          <a:prstGeom prst="line">
            <a:avLst/>
          </a:prstGeom>
          <a:ln w="1651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a:off x="8668512" y="2231136"/>
            <a:ext cx="29260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9052560" y="213055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327CEC"/>
                </a:solidFill>
                <a:latin typeface="Arial"/>
                <a:ea typeface="Arial"/>
                <a:cs typeface="Arial"/>
              </a:rPr>
              <a:t>Input / requests</a:t>
            </a:r>
          </a:p>
        </p:txBody>
      </p:sp>
      <p:cxnSp>
        <p:nvCxnSpPr>
          <p:cNvPr id="27" name="Connector 26"/>
          <p:cNvCxnSpPr/>
          <p:nvPr/>
        </p:nvCxnSpPr>
        <p:spPr>
          <a:xfrm>
            <a:off x="8668512" y="2505456"/>
            <a:ext cx="292608"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9052560" y="2404872"/>
            <a:ext cx="2368296" cy="210312"/>
          </a:xfrm>
          <a:prstGeom prst="rect">
            <a:avLst/>
          </a:prstGeom>
          <a:noFill/>
        </p:spPr>
        <p:txBody>
          <a:bodyPr wrap="square" lIns="0" rIns="0" tIns="0" bIns="0" anchor="t">
            <a:spAutoFit/>
          </a:bodyPr>
          <a:lstStyle/>
          <a:p>
            <a:pPr algn="l">
              <a:lnSpc>
                <a:spcPct val="110000"/>
              </a:lnSpc>
              <a:spcAft>
                <a:spcPts val="0"/>
              </a:spcAft>
            </a:pPr>
            <a:r>
              <a:rPr sz="1050" b="0">
                <a:solidFill>
                  <a:srgbClr val="008E96"/>
                </a:solidFill>
                <a:latin typeface="Arial"/>
                <a:ea typeface="Arial"/>
                <a:cs typeface="Arial"/>
              </a:rPr>
              <a:t>Output / events</a:t>
            </a:r>
          </a:p>
        </p:txBody>
      </p:sp>
      <p:sp>
        <p:nvSpPr>
          <p:cNvPr id="29" name="Rounded Rectangle 28"/>
          <p:cNvSpPr/>
          <p:nvPr/>
        </p:nvSpPr>
        <p:spPr>
          <a:xfrm>
            <a:off x="768096" y="3136392"/>
            <a:ext cx="2761488"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768096" y="4882896"/>
            <a:ext cx="2761488"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809744" y="3136392"/>
            <a:ext cx="3182112" cy="1527048"/>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4809744" y="4882896"/>
            <a:ext cx="3182112"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914400" y="3273552"/>
            <a:ext cx="2468880" cy="246888"/>
          </a:xfrm>
          <a:prstGeom prst="rect">
            <a:avLst/>
          </a:prstGeom>
          <a:noFill/>
        </p:spPr>
        <p:txBody>
          <a:bodyPr wrap="square" lIns="0" rIns="0" tIns="0" bIns="0" anchor="t">
            <a:spAutoFit/>
          </a:bodyPr>
          <a:lstStyle/>
          <a:p>
            <a:pPr algn="l">
              <a:lnSpc>
                <a:spcPct val="110000"/>
              </a:lnSpc>
              <a:spcAft>
                <a:spcPts val="0"/>
              </a:spcAft>
            </a:pPr>
            <a:r>
              <a:rPr sz="1500" b="1">
                <a:solidFill>
                  <a:srgbClr val="327CEC"/>
                </a:solidFill>
                <a:latin typeface="Arial"/>
                <a:ea typeface="Arial"/>
                <a:cs typeface="Arial"/>
              </a:rPr>
              <a:t>API Server</a:t>
            </a:r>
          </a:p>
        </p:txBody>
      </p:sp>
      <p:sp>
        <p:nvSpPr>
          <p:cNvPr id="36" name="TextBox 35"/>
          <p:cNvSpPr txBox="1"/>
          <p:nvPr/>
        </p:nvSpPr>
        <p:spPr>
          <a:xfrm>
            <a:off x="914400" y="3621024"/>
            <a:ext cx="2468880" cy="228600"/>
          </a:xfrm>
          <a:prstGeom prst="rect">
            <a:avLst/>
          </a:prstGeom>
          <a:noFill/>
        </p:spPr>
        <p:txBody>
          <a:bodyPr wrap="square" lIns="0" rIns="0" tIns="0" bIns="0" anchor="t">
            <a:spAutoFit/>
          </a:bodyPr>
          <a:lstStyle/>
          <a:p>
            <a:pPr algn="l">
              <a:lnSpc>
                <a:spcPct val="110000"/>
              </a:lnSpc>
              <a:spcAft>
                <a:spcPts val="0"/>
              </a:spcAft>
            </a:pPr>
            <a:r>
              <a:rPr sz="1200" b="0">
                <a:solidFill>
                  <a:srgbClr val="142B45"/>
                </a:solidFill>
                <a:latin typeface="Arial"/>
                <a:ea typeface="Arial"/>
                <a:cs typeface="Arial"/>
              </a:rPr>
              <a:t>↓ EngineClient · DuplexOmni</a:t>
            </a:r>
          </a:p>
        </p:txBody>
      </p:sp>
      <p:sp>
        <p:nvSpPr>
          <p:cNvPr id="37" name="TextBox 36"/>
          <p:cNvSpPr txBox="1"/>
          <p:nvPr/>
        </p:nvSpPr>
        <p:spPr>
          <a:xfrm>
            <a:off x="914400" y="3968496"/>
            <a:ext cx="2468880" cy="228600"/>
          </a:xfrm>
          <a:prstGeom prst="rect">
            <a:avLst/>
          </a:prstGeom>
          <a:noFill/>
        </p:spPr>
        <p:txBody>
          <a:bodyPr wrap="square" lIns="0" rIns="0" tIns="0" bIns="0" anchor="t">
            <a:spAutoFit/>
          </a:bodyPr>
          <a:lstStyle/>
          <a:p>
            <a:pPr algn="l">
              <a:lnSpc>
                <a:spcPct val="110000"/>
              </a:lnSpc>
              <a:spcAft>
                <a:spcPts val="0"/>
              </a:spcAft>
            </a:pPr>
            <a:r>
              <a:rPr sz="1280" b="0">
                <a:solidFill>
                  <a:srgbClr val="142B45"/>
                </a:solidFill>
                <a:latin typeface="Arial"/>
                <a:ea typeface="Arial"/>
                <a:cs typeface="Arial"/>
              </a:rPr>
              <a:t>↓ DuplexOmniEngine</a:t>
            </a:r>
          </a:p>
        </p:txBody>
      </p:sp>
      <p:sp>
        <p:nvSpPr>
          <p:cNvPr id="38" name="TextBox 37"/>
          <p:cNvSpPr txBox="1"/>
          <p:nvPr/>
        </p:nvSpPr>
        <p:spPr>
          <a:xfrm>
            <a:off x="914400" y="4398264"/>
            <a:ext cx="2468880" cy="192024"/>
          </a:xfrm>
          <a:prstGeom prst="rect">
            <a:avLst/>
          </a:prstGeom>
          <a:noFill/>
        </p:spPr>
        <p:txBody>
          <a:bodyPr wrap="square" lIns="0" rIns="0" tIns="0" bIns="0" anchor="t">
            <a:spAutoFit/>
          </a:bodyPr>
          <a:lstStyle/>
          <a:p>
            <a:pPr algn="l">
              <a:lnSpc>
                <a:spcPct val="110000"/>
              </a:lnSpc>
              <a:spcAft>
                <a:spcPts val="0"/>
              </a:spcAft>
            </a:pPr>
            <a:r>
              <a:rPr sz="1019" b="0">
                <a:solidFill>
                  <a:srgbClr val="586B7E"/>
                </a:solidFill>
                <a:latin typeface="Arial"/>
                <a:ea typeface="Arial"/>
                <a:cs typeface="Arial"/>
              </a:rPr>
              <a:t>Protocol → handle → command / control</a:t>
            </a:r>
          </a:p>
        </p:txBody>
      </p:sp>
      <p:sp>
        <p:nvSpPr>
          <p:cNvPr id="39" name="TextBox 38"/>
          <p:cNvSpPr txBox="1"/>
          <p:nvPr/>
        </p:nvSpPr>
        <p:spPr>
          <a:xfrm>
            <a:off x="905256" y="5001768"/>
            <a:ext cx="2496312"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EngineClient → API Server</a:t>
            </a:r>
          </a:p>
        </p:txBody>
      </p:sp>
      <p:sp>
        <p:nvSpPr>
          <p:cNvPr id="40" name="TextBox 39"/>
          <p:cNvSpPr txBox="1"/>
          <p:nvPr/>
        </p:nvSpPr>
        <p:spPr>
          <a:xfrm>
            <a:off x="905256" y="5312664"/>
            <a:ext cx="2496312" cy="192024"/>
          </a:xfrm>
          <a:prstGeom prst="rect">
            <a:avLst/>
          </a:prstGeom>
          <a:noFill/>
        </p:spPr>
        <p:txBody>
          <a:bodyPr wrap="square" lIns="0" rIns="0" tIns="0" bIns="0" anchor="t">
            <a:spAutoFit/>
          </a:bodyPr>
          <a:lstStyle/>
          <a:p>
            <a:pPr algn="l">
              <a:lnSpc>
                <a:spcPct val="110000"/>
              </a:lnSpc>
              <a:spcAft>
                <a:spcPts val="0"/>
              </a:spcAft>
            </a:pPr>
            <a:r>
              <a:rPr sz="1040" b="0">
                <a:solidFill>
                  <a:srgbClr val="586B7E"/>
                </a:solidFill>
                <a:latin typeface="Arial"/>
                <a:ea typeface="Arial"/>
                <a:cs typeface="Arial"/>
              </a:rPr>
              <a:t>handle.events() → WebSocket</a:t>
            </a:r>
          </a:p>
        </p:txBody>
      </p:sp>
      <p:sp>
        <p:nvSpPr>
          <p:cNvPr id="41" name="TextBox 40"/>
          <p:cNvSpPr txBox="1"/>
          <p:nvPr/>
        </p:nvSpPr>
        <p:spPr>
          <a:xfrm>
            <a:off x="4956048" y="3273552"/>
            <a:ext cx="2880360" cy="237744"/>
          </a:xfrm>
          <a:prstGeom prst="rect">
            <a:avLst/>
          </a:prstGeom>
          <a:noFill/>
        </p:spPr>
        <p:txBody>
          <a:bodyPr wrap="square" lIns="0" rIns="0" tIns="0" bIns="0" anchor="t">
            <a:spAutoFit/>
          </a:bodyPr>
          <a:lstStyle/>
          <a:p>
            <a:pPr algn="l">
              <a:lnSpc>
                <a:spcPct val="110000"/>
              </a:lnSpc>
              <a:spcAft>
                <a:spcPts val="0"/>
              </a:spcAft>
            </a:pPr>
            <a:r>
              <a:rPr sz="1300" b="1">
                <a:solidFill>
                  <a:srgbClr val="327CEC"/>
                </a:solidFill>
                <a:latin typeface="Arial"/>
                <a:ea typeface="Arial"/>
                <a:cs typeface="Arial"/>
              </a:rPr>
              <a:t>Session Manager → Runner</a:t>
            </a:r>
          </a:p>
        </p:txBody>
      </p:sp>
      <p:sp>
        <p:nvSpPr>
          <p:cNvPr id="42" name="TextBox 41"/>
          <p:cNvSpPr txBox="1"/>
          <p:nvPr/>
        </p:nvSpPr>
        <p:spPr>
          <a:xfrm>
            <a:off x="4956048" y="3584448"/>
            <a:ext cx="2880360" cy="219456"/>
          </a:xfrm>
          <a:prstGeom prst="rect">
            <a:avLst/>
          </a:prstGeom>
          <a:noFill/>
        </p:spPr>
        <p:txBody>
          <a:bodyPr wrap="square" lIns="0" rIns="0" tIns="0" bIns="0" anchor="t">
            <a:spAutoFit/>
          </a:bodyPr>
          <a:lstStyle/>
          <a:p>
            <a:pPr algn="l">
              <a:lnSpc>
                <a:spcPct val="110000"/>
              </a:lnSpc>
              <a:spcAft>
                <a:spcPts val="0"/>
              </a:spcAft>
            </a:pPr>
            <a:r>
              <a:rPr sz="1110" b="0">
                <a:solidFill>
                  <a:srgbClr val="586B7E"/>
                </a:solidFill>
                <a:latin typeface="Arial"/>
                <a:ea typeface="Arial"/>
                <a:cs typeface="Arial"/>
              </a:rPr>
              <a:t>Ordered mailbox · session state</a:t>
            </a:r>
          </a:p>
        </p:txBody>
      </p:sp>
      <p:sp>
        <p:nvSpPr>
          <p:cNvPr id="43" name="TextBox 42"/>
          <p:cNvSpPr txBox="1"/>
          <p:nvPr/>
        </p:nvSpPr>
        <p:spPr>
          <a:xfrm>
            <a:off x="4956048" y="3941063"/>
            <a:ext cx="2880360" cy="228600"/>
          </a:xfrm>
          <a:prstGeom prst="rect">
            <a:avLst/>
          </a:prstGeom>
          <a:noFill/>
        </p:spPr>
        <p:txBody>
          <a:bodyPr wrap="square" lIns="0" rIns="0" tIns="0" bIns="0" anchor="t">
            <a:spAutoFit/>
          </a:bodyPr>
          <a:lstStyle/>
          <a:p>
            <a:pPr algn="l">
              <a:lnSpc>
                <a:spcPct val="110000"/>
              </a:lnSpc>
              <a:spcAft>
                <a:spcPts val="0"/>
              </a:spcAft>
            </a:pPr>
            <a:r>
              <a:rPr sz="1230" b="0">
                <a:solidFill>
                  <a:srgbClr val="142B45"/>
                </a:solidFill>
                <a:latin typeface="Arial"/>
                <a:ea typeface="Arial"/>
                <a:cs typeface="Arial"/>
              </a:rPr>
              <a:t>Model Plugin / ModelChannel</a:t>
            </a:r>
          </a:p>
        </p:txBody>
      </p:sp>
      <p:sp>
        <p:nvSpPr>
          <p:cNvPr id="44" name="TextBox 43"/>
          <p:cNvSpPr txBox="1"/>
          <p:nvPr/>
        </p:nvSpPr>
        <p:spPr>
          <a:xfrm>
            <a:off x="4956048" y="4361688"/>
            <a:ext cx="2880360" cy="219456"/>
          </a:xfrm>
          <a:prstGeom prst="rect">
            <a:avLst/>
          </a:prstGeom>
          <a:noFill/>
        </p:spPr>
        <p:txBody>
          <a:bodyPr wrap="square" lIns="0" rIns="0" tIns="0" bIns="0" anchor="t">
            <a:spAutoFit/>
          </a:bodyPr>
          <a:lstStyle/>
          <a:p>
            <a:pPr algn="l">
              <a:lnSpc>
                <a:spcPct val="110000"/>
              </a:lnSpc>
              <a:spcAft>
                <a:spcPts val="0"/>
              </a:spcAft>
            </a:pPr>
            <a:r>
              <a:rPr sz="1230" b="1">
                <a:solidFill>
                  <a:srgbClr val="142B45"/>
                </a:solidFill>
                <a:latin typeface="Arial"/>
                <a:ea typeface="Arial"/>
                <a:cs typeface="Arial"/>
              </a:rPr>
              <a:t>↓ StagePool → Stage client</a:t>
            </a:r>
          </a:p>
        </p:txBody>
      </p:sp>
      <p:sp>
        <p:nvSpPr>
          <p:cNvPr id="45" name="TextBox 44"/>
          <p:cNvSpPr txBox="1"/>
          <p:nvPr/>
        </p:nvSpPr>
        <p:spPr>
          <a:xfrm>
            <a:off x="4956048" y="5001768"/>
            <a:ext cx="2880360" cy="219456"/>
          </a:xfrm>
          <a:prstGeom prst="rect">
            <a:avLst/>
          </a:prstGeom>
          <a:noFill/>
        </p:spPr>
        <p:txBody>
          <a:bodyPr wrap="square" lIns="0" rIns="0" tIns="0" bIns="0" anchor="t">
            <a:spAutoFit/>
          </a:bodyPr>
          <a:lstStyle/>
          <a:p>
            <a:pPr algn="l">
              <a:lnSpc>
                <a:spcPct val="110000"/>
              </a:lnSpc>
              <a:spcAft>
                <a:spcPts val="0"/>
              </a:spcAft>
            </a:pPr>
            <a:r>
              <a:rPr sz="1190" b="1">
                <a:solidFill>
                  <a:srgbClr val="008E96"/>
                </a:solidFill>
                <a:latin typeface="Arial"/>
                <a:ea typeface="Arial"/>
                <a:cs typeface="Arial"/>
              </a:rPr>
              <a:t>StagePool → Runner / Plugin</a:t>
            </a:r>
          </a:p>
        </p:txBody>
      </p:sp>
      <p:sp>
        <p:nvSpPr>
          <p:cNvPr id="46" name="TextBox 45"/>
          <p:cNvSpPr txBox="1"/>
          <p:nvPr/>
        </p:nvSpPr>
        <p:spPr>
          <a:xfrm>
            <a:off x="4956048" y="5312664"/>
            <a:ext cx="2880360" cy="192024"/>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Manager.emit → shared session buffer</a:t>
            </a:r>
          </a:p>
        </p:txBody>
      </p:sp>
      <p:cxnSp>
        <p:nvCxnSpPr>
          <p:cNvPr id="54" name="Connector 53"/>
          <p:cNvCxnSpPr/>
          <p:nvPr/>
        </p:nvCxnSpPr>
        <p:spPr>
          <a:xfrm>
            <a:off x="3547872" y="3886200"/>
            <a:ext cx="1234440"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3602736" y="3575304"/>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327CEC"/>
                </a:solidFill>
                <a:latin typeface="Arial"/>
                <a:ea typeface="Arial"/>
                <a:cs typeface="Arial"/>
              </a:rPr>
              <a:t>request_queue</a:t>
            </a:r>
          </a:p>
        </p:txBody>
      </p:sp>
      <p:sp>
        <p:nvSpPr>
          <p:cNvPr id="56" name="TextBox 55"/>
          <p:cNvSpPr txBox="1"/>
          <p:nvPr/>
        </p:nvSpPr>
        <p:spPr>
          <a:xfrm>
            <a:off x="3602736" y="4014215"/>
            <a:ext cx="1133856" cy="182880"/>
          </a:xfrm>
          <a:prstGeom prst="rect">
            <a:avLst/>
          </a:prstGeom>
          <a:noFill/>
        </p:spPr>
        <p:txBody>
          <a:bodyPr wrap="square" lIns="0" rIns="0" tIns="0" bIns="0" anchor="t">
            <a:spAutoFit/>
          </a:bodyPr>
          <a:lstStyle/>
          <a:p>
            <a:pPr algn="ctr">
              <a:lnSpc>
                <a:spcPct val="110000"/>
              </a:lnSpc>
              <a:spcAft>
                <a:spcPts val="0"/>
              </a:spcAft>
            </a:pPr>
            <a:r>
              <a:rPr sz="840" b="0">
                <a:solidFill>
                  <a:srgbClr val="586B7E"/>
                </a:solidFill>
                <a:latin typeface="Arial"/>
                <a:ea typeface="Arial"/>
                <a:cs typeface="Arial"/>
              </a:rPr>
              <a:t>Janus · requests</a:t>
            </a:r>
          </a:p>
        </p:txBody>
      </p:sp>
      <p:cxnSp>
        <p:nvCxnSpPr>
          <p:cNvPr id="57" name="Connector 56"/>
          <p:cNvCxnSpPr/>
          <p:nvPr/>
        </p:nvCxnSpPr>
        <p:spPr>
          <a:xfrm flipH="1">
            <a:off x="3547872" y="5212080"/>
            <a:ext cx="1234440"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58" name="TextBox 57"/>
          <p:cNvSpPr txBox="1"/>
          <p:nvPr/>
        </p:nvSpPr>
        <p:spPr>
          <a:xfrm>
            <a:off x="3602736" y="4910328"/>
            <a:ext cx="1133856" cy="182880"/>
          </a:xfrm>
          <a:prstGeom prst="rect">
            <a:avLst/>
          </a:prstGeom>
          <a:noFill/>
        </p:spPr>
        <p:txBody>
          <a:bodyPr wrap="square" lIns="0" rIns="0" tIns="0" bIns="0" anchor="t">
            <a:spAutoFit/>
          </a:bodyPr>
          <a:lstStyle/>
          <a:p>
            <a:pPr algn="ctr">
              <a:lnSpc>
                <a:spcPct val="110000"/>
              </a:lnSpc>
              <a:spcAft>
                <a:spcPts val="0"/>
              </a:spcAft>
            </a:pPr>
            <a:r>
              <a:rPr sz="960" b="1">
                <a:solidFill>
                  <a:srgbClr val="008E96"/>
                </a:solidFill>
                <a:latin typeface="Arial"/>
                <a:ea typeface="Arial"/>
                <a:cs typeface="Arial"/>
              </a:rPr>
              <a:t>session buffer</a:t>
            </a:r>
          </a:p>
        </p:txBody>
      </p:sp>
      <p:sp>
        <p:nvSpPr>
          <p:cNvPr id="59" name="TextBox 58"/>
          <p:cNvSpPr txBox="1"/>
          <p:nvPr/>
        </p:nvSpPr>
        <p:spPr>
          <a:xfrm>
            <a:off x="3602736" y="5330952"/>
            <a:ext cx="1133856" cy="182880"/>
          </a:xfrm>
          <a:prstGeom prst="rect">
            <a:avLst/>
          </a:prstGeom>
          <a:noFill/>
        </p:spPr>
        <p:txBody>
          <a:bodyPr wrap="square" lIns="0" rIns="0" tIns="0" bIns="0" anchor="t">
            <a:spAutoFit/>
          </a:bodyPr>
          <a:lstStyle/>
          <a:p>
            <a:pPr algn="ctr">
              <a:lnSpc>
                <a:spcPct val="110000"/>
              </a:lnSpc>
              <a:spcAft>
                <a:spcPts val="0"/>
              </a:spcAft>
            </a:pPr>
            <a:r>
              <a:rPr sz="869" b="0">
                <a:solidFill>
                  <a:srgbClr val="586B7E"/>
                </a:solidFill>
                <a:latin typeface="Arial"/>
                <a:ea typeface="Arial"/>
                <a:cs typeface="Arial"/>
              </a:rPr>
              <a:t>bounded · direct</a:t>
            </a:r>
          </a:p>
        </p:txBody>
      </p:sp>
      <p:sp>
        <p:nvSpPr>
          <p:cNvPr id="64" name="TextBox 63"/>
          <p:cNvSpPr txBox="1"/>
          <p:nvPr/>
        </p:nvSpPr>
        <p:spPr>
          <a:xfrm>
            <a:off x="777240" y="5952744"/>
            <a:ext cx="243230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MiniCPM-o 4.5 example</a:t>
            </a:r>
          </a:p>
        </p:txBody>
      </p:sp>
      <p:sp>
        <p:nvSpPr>
          <p:cNvPr id="65" name="TextBox 64"/>
          <p:cNvSpPr txBox="1"/>
          <p:nvPr/>
        </p:nvSpPr>
        <p:spPr>
          <a:xfrm>
            <a:off x="3300984" y="5925312"/>
            <a:ext cx="978408"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Thinker</a:t>
            </a:r>
          </a:p>
        </p:txBody>
      </p:sp>
      <p:sp>
        <p:nvSpPr>
          <p:cNvPr id="66" name="TextBox 65"/>
          <p:cNvSpPr txBox="1"/>
          <p:nvPr/>
        </p:nvSpPr>
        <p:spPr>
          <a:xfrm>
            <a:off x="6108192" y="5925312"/>
            <a:ext cx="969264"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Talker</a:t>
            </a:r>
          </a:p>
        </p:txBody>
      </p:sp>
      <p:sp>
        <p:nvSpPr>
          <p:cNvPr id="67" name="TextBox 66"/>
          <p:cNvSpPr txBox="1"/>
          <p:nvPr/>
        </p:nvSpPr>
        <p:spPr>
          <a:xfrm>
            <a:off x="9372600" y="5925312"/>
            <a:ext cx="2002536" cy="274320"/>
          </a:xfrm>
          <a:prstGeom prst="rect">
            <a:avLst/>
          </a:prstGeom>
          <a:noFill/>
        </p:spPr>
        <p:txBody>
          <a:bodyPr wrap="square" lIns="0" rIns="0" tIns="0" bIns="0" anchor="t">
            <a:spAutoFit/>
          </a:bodyPr>
          <a:lstStyle/>
          <a:p>
            <a:pPr algn="ctr">
              <a:lnSpc>
                <a:spcPct val="110000"/>
              </a:lnSpc>
              <a:spcAft>
                <a:spcPts val="0"/>
              </a:spcAft>
            </a:pPr>
            <a:r>
              <a:rPr sz="1400" b="1">
                <a:solidFill>
                  <a:srgbClr val="142B45"/>
                </a:solidFill>
                <a:latin typeface="Arial"/>
                <a:ea typeface="Arial"/>
                <a:cs typeface="Arial"/>
              </a:rPr>
              <a:t>Code2Wav</a:t>
            </a:r>
          </a:p>
        </p:txBody>
      </p:sp>
      <p:cxnSp>
        <p:nvCxnSpPr>
          <p:cNvPr id="68" name="Connector 67"/>
          <p:cNvCxnSpPr/>
          <p:nvPr/>
        </p:nvCxnSpPr>
        <p:spPr>
          <a:xfrm>
            <a:off x="4398264" y="6080760"/>
            <a:ext cx="1591056" cy="0"/>
          </a:xfrm>
          <a:prstGeom prst="line">
            <a:avLst/>
          </a:prstGeom>
          <a:ln w="16510">
            <a:solidFill>
              <a:srgbClr val="327CEC"/>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69" name="TextBox 68"/>
          <p:cNvSpPr txBox="1"/>
          <p:nvPr/>
        </p:nvSpPr>
        <p:spPr>
          <a:xfrm>
            <a:off x="4306824" y="6236208"/>
            <a:ext cx="1773936" cy="155448"/>
          </a:xfrm>
          <a:prstGeom prst="rect">
            <a:avLst/>
          </a:prstGeom>
          <a:noFill/>
        </p:spPr>
        <p:txBody>
          <a:bodyPr wrap="square" lIns="0" rIns="0" tIns="0" bIns="0" anchor="t">
            <a:spAutoFit/>
          </a:bodyPr>
          <a:lstStyle/>
          <a:p>
            <a:pPr algn="ctr">
              <a:lnSpc>
                <a:spcPct val="110000"/>
              </a:lnSpc>
              <a:spcAft>
                <a:spcPts val="0"/>
              </a:spcAft>
            </a:pPr>
            <a:r>
              <a:rPr sz="840" b="0">
                <a:solidFill>
                  <a:srgbClr val="327CEC"/>
                </a:solidFill>
                <a:latin typeface="Arial"/>
                <a:ea typeface="Arial"/>
                <a:cs typeface="Arial"/>
              </a:rPr>
              <a:t>Orchestrator / llm2tts</a:t>
            </a:r>
          </a:p>
        </p:txBody>
      </p:sp>
      <p:cxnSp>
        <p:nvCxnSpPr>
          <p:cNvPr id="70" name="Connector 69"/>
          <p:cNvCxnSpPr/>
          <p:nvPr/>
        </p:nvCxnSpPr>
        <p:spPr>
          <a:xfrm>
            <a:off x="7178040" y="6080760"/>
            <a:ext cx="2075688" cy="0"/>
          </a:xfrm>
          <a:prstGeom prst="line">
            <a:avLst/>
          </a:prstGeom>
          <a:ln w="16510">
            <a:solidFill>
              <a:srgbClr val="7855AD"/>
            </a:solidFill>
            <a:prstDash val="dash"/>
            <a:tailEnd type="triangle" w="sm" len="sm"/>
          </a:ln>
          <a:effectLst/>
        </p:spPr>
        <p:style>
          <a:lnRef idx="2">
            <a:schemeClr val="accent1"/>
          </a:lnRef>
          <a:fillRef idx="0">
            <a:schemeClr val="accent1"/>
          </a:fillRef>
          <a:effectRef idx="0">
            <a:schemeClr val="accent1"/>
          </a:effectRef>
          <a:fontRef idx="minor">
            <a:schemeClr val="tx1"/>
          </a:fontRef>
        </p:style>
      </p:cxnSp>
      <p:sp>
        <p:nvSpPr>
          <p:cNvPr id="71" name="TextBox 70"/>
          <p:cNvSpPr txBox="1"/>
          <p:nvPr/>
        </p:nvSpPr>
        <p:spPr>
          <a:xfrm>
            <a:off x="7178040" y="6236208"/>
            <a:ext cx="2075688" cy="155448"/>
          </a:xfrm>
          <a:prstGeom prst="rect">
            <a:avLst/>
          </a:prstGeom>
          <a:noFill/>
        </p:spPr>
        <p:txBody>
          <a:bodyPr wrap="square" lIns="0" rIns="0" tIns="0" bIns="0" anchor="t">
            <a:spAutoFit/>
          </a:bodyPr>
          <a:lstStyle/>
          <a:p>
            <a:pPr algn="ctr">
              <a:lnSpc>
                <a:spcPct val="110000"/>
              </a:lnSpc>
              <a:spcAft>
                <a:spcPts val="0"/>
              </a:spcAft>
            </a:pPr>
            <a:r>
              <a:rPr sz="840" b="0">
                <a:solidFill>
                  <a:srgbClr val="7855AD"/>
                </a:solidFill>
                <a:latin typeface="Arial"/>
                <a:ea typeface="Arial"/>
                <a:cs typeface="Arial"/>
              </a:rPr>
              <a:t>Shared-memory connector</a:t>
            </a:r>
          </a:p>
        </p:txBody>
      </p:sp>
      <p:sp>
        <p:nvSpPr>
          <p:cNvPr id="72" name="TextBox 71"/>
          <p:cNvSpPr txBox="1"/>
          <p:nvPr/>
        </p:nvSpPr>
        <p:spPr>
          <a:xfrm>
            <a:off x="4846320" y="2450592"/>
            <a:ext cx="333756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StagePool: select one · request affinity</a:t>
            </a:r>
          </a:p>
        </p:txBody>
      </p:sp>
      <p:sp>
        <p:nvSpPr>
          <p:cNvPr id="73" name="Rounded Rectangle 72"/>
          <p:cNvSpPr/>
          <p:nvPr/>
        </p:nvSpPr>
        <p:spPr>
          <a:xfrm>
            <a:off x="8503920" y="2670048"/>
            <a:ext cx="3127248" cy="3090672"/>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8659368" y="2816352"/>
            <a:ext cx="2807208" cy="228600"/>
          </a:xfrm>
          <a:prstGeom prst="rect">
            <a:avLst/>
          </a:prstGeom>
          <a:noFill/>
        </p:spPr>
        <p:txBody>
          <a:bodyPr wrap="square" lIns="0" rIns="0" tIns="0" bIns="0" anchor="t">
            <a:spAutoFit/>
          </a:bodyPr>
          <a:lstStyle/>
          <a:p>
            <a:pPr algn="l">
              <a:lnSpc>
                <a:spcPct val="110000"/>
              </a:lnSpc>
              <a:spcAft>
                <a:spcPts val="0"/>
              </a:spcAft>
            </a:pPr>
            <a:r>
              <a:rPr sz="1150" b="1">
                <a:solidFill>
                  <a:srgbClr val="142B45"/>
                </a:solidFill>
                <a:latin typeface="Arial"/>
                <a:ea typeface="Arial"/>
                <a:cs typeface="Arial"/>
              </a:rPr>
              <a:t>One stage · replica processes</a:t>
            </a:r>
          </a:p>
        </p:txBody>
      </p:sp>
      <p:sp>
        <p:nvSpPr>
          <p:cNvPr id="75" name="Rounded Rectangle 74"/>
          <p:cNvSpPr/>
          <p:nvPr/>
        </p:nvSpPr>
        <p:spPr>
          <a:xfrm>
            <a:off x="8668512" y="3136392"/>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TextBox 75"/>
          <p:cNvSpPr txBox="1"/>
          <p:nvPr/>
        </p:nvSpPr>
        <p:spPr>
          <a:xfrm>
            <a:off x="8787384" y="3236976"/>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0 · EngineCore</a:t>
            </a:r>
          </a:p>
        </p:txBody>
      </p:sp>
      <p:sp>
        <p:nvSpPr>
          <p:cNvPr id="77" name="TextBox 76"/>
          <p:cNvSpPr txBox="1"/>
          <p:nvPr/>
        </p:nvSpPr>
        <p:spPr>
          <a:xfrm>
            <a:off x="8787384" y="3547872"/>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78" name="Connector 77"/>
          <p:cNvCxnSpPr/>
          <p:nvPr/>
        </p:nvCxnSpPr>
        <p:spPr>
          <a:xfrm>
            <a:off x="11256264" y="3474720"/>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sp>
        <p:nvSpPr>
          <p:cNvPr id="79" name="Rounded Rectangle 78"/>
          <p:cNvSpPr/>
          <p:nvPr/>
        </p:nvSpPr>
        <p:spPr>
          <a:xfrm>
            <a:off x="8668512" y="3931920"/>
            <a:ext cx="2578608" cy="676656"/>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0" name="TextBox 79"/>
          <p:cNvSpPr txBox="1"/>
          <p:nvPr/>
        </p:nvSpPr>
        <p:spPr>
          <a:xfrm>
            <a:off x="8787384" y="4032504"/>
            <a:ext cx="2368296" cy="228600"/>
          </a:xfrm>
          <a:prstGeom prst="rect">
            <a:avLst/>
          </a:prstGeom>
          <a:noFill/>
        </p:spPr>
        <p:txBody>
          <a:bodyPr wrap="square" lIns="0" rIns="0" tIns="0" bIns="0" anchor="t">
            <a:spAutoFit/>
          </a:bodyPr>
          <a:lstStyle/>
          <a:p>
            <a:pPr algn="l">
              <a:lnSpc>
                <a:spcPct val="110000"/>
              </a:lnSpc>
              <a:spcAft>
                <a:spcPts val="0"/>
              </a:spcAft>
            </a:pPr>
            <a:r>
              <a:rPr sz="1230" b="1">
                <a:solidFill>
                  <a:srgbClr val="327CEC"/>
                </a:solidFill>
                <a:latin typeface="Arial"/>
                <a:ea typeface="Arial"/>
                <a:cs typeface="Arial"/>
              </a:rPr>
              <a:t>Replica 1 · EngineCore</a:t>
            </a:r>
          </a:p>
        </p:txBody>
      </p:sp>
      <p:sp>
        <p:nvSpPr>
          <p:cNvPr id="81" name="TextBox 80"/>
          <p:cNvSpPr txBox="1"/>
          <p:nvPr/>
        </p:nvSpPr>
        <p:spPr>
          <a:xfrm>
            <a:off x="8787384" y="4343400"/>
            <a:ext cx="2368296" cy="182880"/>
          </a:xfrm>
          <a:prstGeom prst="rect">
            <a:avLst/>
          </a:prstGeom>
          <a:noFill/>
        </p:spPr>
        <p:txBody>
          <a:bodyPr wrap="square" lIns="0" rIns="0" tIns="0" bIns="0" anchor="t">
            <a:spAutoFit/>
          </a:bodyPr>
          <a:lstStyle/>
          <a:p>
            <a:pPr algn="l">
              <a:lnSpc>
                <a:spcPct val="110000"/>
              </a:lnSpc>
              <a:spcAft>
                <a:spcPts val="0"/>
              </a:spcAft>
            </a:pPr>
            <a:r>
              <a:rPr sz="1030" b="0">
                <a:solidFill>
                  <a:srgbClr val="586B7E"/>
                </a:solidFill>
                <a:latin typeface="Arial"/>
                <a:ea typeface="Arial"/>
                <a:cs typeface="Arial"/>
              </a:rPr>
              <a:t>Scheduler → GPU Worker</a:t>
            </a:r>
          </a:p>
        </p:txBody>
      </p:sp>
      <p:cxnSp>
        <p:nvCxnSpPr>
          <p:cNvPr id="82" name="Connector 81"/>
          <p:cNvCxnSpPr/>
          <p:nvPr/>
        </p:nvCxnSpPr>
        <p:spPr>
          <a:xfrm>
            <a:off x="11256264" y="4270248"/>
            <a:ext cx="256032"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3" name="Connector 82"/>
          <p:cNvCxnSpPr/>
          <p:nvPr/>
        </p:nvCxnSpPr>
        <p:spPr>
          <a:xfrm>
            <a:off x="11512296" y="3474720"/>
            <a:ext cx="0" cy="128016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4" name="Connector 83"/>
          <p:cNvCxnSpPr/>
          <p:nvPr/>
        </p:nvCxnSpPr>
        <p:spPr>
          <a:xfrm flipH="1">
            <a:off x="10076688" y="4754880"/>
            <a:ext cx="1435608" cy="0"/>
          </a:xfrm>
          <a:prstGeom prst="line">
            <a:avLst/>
          </a:prstGeom>
          <a:ln w="15240">
            <a:solidFill>
              <a:srgbClr val="008E96"/>
            </a:solidFill>
          </a:ln>
          <a:effectLst/>
        </p:spPr>
        <p:style>
          <a:lnRef idx="2">
            <a:schemeClr val="accent1"/>
          </a:lnRef>
          <a:fillRef idx="0">
            <a:schemeClr val="accent1"/>
          </a:fillRef>
          <a:effectRef idx="0">
            <a:schemeClr val="accent1"/>
          </a:effectRef>
          <a:fontRef idx="minor">
            <a:schemeClr val="tx1"/>
          </a:fontRef>
        </p:style>
      </p:cxnSp>
      <p:cxnSp>
        <p:nvCxnSpPr>
          <p:cNvPr id="85" name="Connector 84"/>
          <p:cNvCxnSpPr/>
          <p:nvPr/>
        </p:nvCxnSpPr>
        <p:spPr>
          <a:xfrm>
            <a:off x="10076688" y="4754880"/>
            <a:ext cx="0" cy="109728"/>
          </a:xfrm>
          <a:prstGeom prst="line">
            <a:avLst/>
          </a:prstGeom>
          <a:ln w="1524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86" name="Rounded Rectangle 85"/>
          <p:cNvSpPr/>
          <p:nvPr/>
        </p:nvSpPr>
        <p:spPr>
          <a:xfrm>
            <a:off x="8668512" y="4882896"/>
            <a:ext cx="2798064" cy="676656"/>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8814816" y="5001768"/>
            <a:ext cx="2514600" cy="219456"/>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EngineCoreOutputs</a:t>
            </a:r>
          </a:p>
        </p:txBody>
      </p:sp>
      <p:sp>
        <p:nvSpPr>
          <p:cNvPr id="88" name="TextBox 87"/>
          <p:cNvSpPr txBox="1"/>
          <p:nvPr/>
        </p:nvSpPr>
        <p:spPr>
          <a:xfrm>
            <a:off x="8814816" y="5312664"/>
            <a:ext cx="2514600" cy="192024"/>
          </a:xfrm>
          <a:prstGeom prst="rect">
            <a:avLst/>
          </a:prstGeom>
          <a:noFill/>
        </p:spPr>
        <p:txBody>
          <a:bodyPr wrap="square" lIns="0" rIns="0" tIns="0" bIns="0" anchor="t">
            <a:spAutoFit/>
          </a:bodyPr>
          <a:lstStyle/>
          <a:p>
            <a:pPr algn="l">
              <a:lnSpc>
                <a:spcPct val="110000"/>
              </a:lnSpc>
              <a:spcAft>
                <a:spcPts val="0"/>
              </a:spcAft>
            </a:pPr>
            <a:r>
              <a:rPr sz="940" b="0">
                <a:solidFill>
                  <a:srgbClr val="586B7E"/>
                </a:solidFill>
                <a:latin typeface="Arial"/>
                <a:ea typeface="Arial"/>
                <a:cs typeface="Arial"/>
              </a:rPr>
              <a:t>Replicas can run on local or remote nodes</a:t>
            </a:r>
          </a:p>
        </p:txBody>
      </p:sp>
      <p:cxnSp>
        <p:nvCxnSpPr>
          <p:cNvPr id="89" name="Connector 88"/>
          <p:cNvCxnSpPr/>
          <p:nvPr/>
        </p:nvCxnSpPr>
        <p:spPr>
          <a:xfrm>
            <a:off x="8019288" y="3886200"/>
            <a:ext cx="393192"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0" name="Connector 89"/>
          <p:cNvCxnSpPr/>
          <p:nvPr/>
        </p:nvCxnSpPr>
        <p:spPr>
          <a:xfrm>
            <a:off x="8412480" y="3474720"/>
            <a:ext cx="0" cy="79552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91" name="Connector 90"/>
          <p:cNvCxnSpPr/>
          <p:nvPr/>
        </p:nvCxnSpPr>
        <p:spPr>
          <a:xfrm>
            <a:off x="8412480" y="3474720"/>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92" name="Connector 91"/>
          <p:cNvCxnSpPr/>
          <p:nvPr/>
        </p:nvCxnSpPr>
        <p:spPr>
          <a:xfrm>
            <a:off x="8412480" y="4270248"/>
            <a:ext cx="237744"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3" name="TextBox 92"/>
          <p:cNvSpPr txBox="1"/>
          <p:nvPr/>
        </p:nvSpPr>
        <p:spPr>
          <a:xfrm>
            <a:off x="8037575" y="3621024"/>
            <a:ext cx="466344" cy="182880"/>
          </a:xfrm>
          <a:prstGeom prst="rect">
            <a:avLst/>
          </a:prstGeom>
          <a:noFill/>
        </p:spPr>
        <p:txBody>
          <a:bodyPr wrap="square" lIns="0" rIns="0" tIns="0" bIns="0" anchor="t">
            <a:spAutoFit/>
          </a:bodyPr>
          <a:lstStyle/>
          <a:p>
            <a:pPr algn="ctr">
              <a:lnSpc>
                <a:spcPct val="110000"/>
              </a:lnSpc>
              <a:spcAft>
                <a:spcPts val="0"/>
              </a:spcAft>
            </a:pPr>
            <a:r>
              <a:rPr sz="900" b="1">
                <a:solidFill>
                  <a:srgbClr val="327CEC"/>
                </a:solidFill>
                <a:latin typeface="Arial"/>
                <a:ea typeface="Arial"/>
                <a:cs typeface="Arial"/>
              </a:rPr>
              <a:t>ZMQ</a:t>
            </a:r>
          </a:p>
        </p:txBody>
      </p:sp>
      <p:cxnSp>
        <p:nvCxnSpPr>
          <p:cNvPr id="94" name="Connector 93"/>
          <p:cNvCxnSpPr/>
          <p:nvPr/>
        </p:nvCxnSpPr>
        <p:spPr>
          <a:xfrm flipH="1">
            <a:off x="8019288" y="5212080"/>
            <a:ext cx="621792" cy="0"/>
          </a:xfrm>
          <a:prstGeom prst="line">
            <a:avLst/>
          </a:prstGeom>
          <a:ln w="17780">
            <a:solidFill>
              <a:srgbClr val="008E96"/>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95" name="TextBox 94"/>
          <p:cNvSpPr txBox="1"/>
          <p:nvPr/>
        </p:nvSpPr>
        <p:spPr>
          <a:xfrm>
            <a:off x="8083296" y="5340096"/>
            <a:ext cx="493776" cy="182880"/>
          </a:xfrm>
          <a:prstGeom prst="rect">
            <a:avLst/>
          </a:prstGeom>
          <a:noFill/>
        </p:spPr>
        <p:txBody>
          <a:bodyPr wrap="square" lIns="0" rIns="0" tIns="0" bIns="0" anchor="t">
            <a:spAutoFit/>
          </a:bodyPr>
          <a:lstStyle/>
          <a:p>
            <a:pPr algn="ctr">
              <a:lnSpc>
                <a:spcPct val="110000"/>
              </a:lnSpc>
              <a:spcAft>
                <a:spcPts val="0"/>
              </a:spcAft>
            </a:pPr>
            <a:r>
              <a:rPr sz="950" b="1">
                <a:solidFill>
                  <a:srgbClr val="008E96"/>
                </a:solidFill>
                <a:latin typeface="Arial"/>
                <a:ea typeface="Arial"/>
                <a:cs typeface="Arial"/>
              </a:rPr>
              <a:t>ZMQ</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Acoustic VAD vs. Semantic VAD</a:t>
            </a:r>
          </a:p>
        </p:txBody>
      </p:sp>
      <p:sp>
        <p:nvSpPr>
          <p:cNvPr id="7" name="TextBox 6"/>
          <p:cNvSpPr txBox="1"/>
          <p:nvPr/>
        </p:nvSpPr>
        <p:spPr>
          <a:xfrm>
            <a:off x="576072" y="1627632"/>
            <a:ext cx="10972800" cy="265176"/>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Often combined: acoustic VAD finds a pause, then a turn model checks whether the user has finished.</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A2</a:t>
            </a:r>
          </a:p>
        </p:txBody>
      </p:sp>
      <p:graphicFrame>
        <p:nvGraphicFramePr>
          <p:cNvPr id="200" name="Acoustic and Semantic VAD comparison"/>
          <p:cNvGraphicFramePr/>
          <p:nvPr/>
        </p:nvGraphicFramePr>
        <p:xfrm>
          <a:off x="548640" y="2057400"/>
          <a:ext cx="11082528" cy="3044952"/>
        </p:xfrm>
        <a:graphic>
          <a:graphicData uri="http://schemas.openxmlformats.org/drawingml/2006/table">
            <a:tbl>
              <a:tblPr firstRow="0" bandRow="0"/>
              <a:tblGrid>
                <a:gridCol w="1920240"/>
                <a:gridCol w="4581144"/>
                <a:gridCol w="4581144"/>
              </a:tblGrid>
              <a:tr h="493776">
                <a:tc>
                  <a:txBody>
                    <a:bodyPr wrap="square">
                      <a:noAutofit/>
                    </a:bodyPr>
                    <a:lstStyle/>
                    <a:p>
                      <a:pPr algn="l">
                        <a:lnSpc>
                          <a:spcPct val="106000"/>
                        </a:lnSpc>
                        <a:spcAft>
                          <a:spcPts val="0"/>
                        </a:spcAft>
                      </a:pPr>
                      <a:r>
                        <a:rPr sz="1350" b="1">
                          <a:solidFill>
                            <a:srgbClr val="FFFFFF"/>
                          </a:solidFill>
                          <a:latin typeface="Arial"/>
                          <a:ea typeface="Arial"/>
                          <a:cs typeface="Arial"/>
                        </a:rPr>
                        <a:t>COMPARISON</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Acoustic VAD</a:t>
                      </a:r>
                    </a:p>
                  </a:txBody>
                  <a:tcPr marL="164592" marR="128016" marT="50292" marB="50292" anchor="ctr">
                    <a:lnL w="0">
                      <a:noFill/>
                    </a:lnL>
                    <a:lnR w="0">
                      <a:noFill/>
                    </a:lnR>
                    <a:lnT w="0">
                      <a:noFill/>
                    </a:lnT>
                    <a:lnB w="25400">
                      <a:solidFill>
                        <a:srgbClr val="FFFFFF"/>
                      </a:solidFill>
                    </a:lnB>
                    <a:solidFill>
                      <a:srgbClr val="16304E"/>
                    </a:solidFill>
                  </a:tcPr>
                </a:tc>
                <a:tc>
                  <a:txBody>
                    <a:bodyPr wrap="square">
                      <a:noAutofit/>
                    </a:bodyPr>
                    <a:lstStyle/>
                    <a:p>
                      <a:pPr algn="l">
                        <a:lnSpc>
                          <a:spcPct val="106000"/>
                        </a:lnSpc>
                        <a:spcAft>
                          <a:spcPts val="0"/>
                        </a:spcAft>
                      </a:pPr>
                      <a:r>
                        <a:rPr sz="1350" b="1">
                          <a:solidFill>
                            <a:srgbClr val="FFFFFF"/>
                          </a:solidFill>
                          <a:latin typeface="Arial"/>
                          <a:ea typeface="Arial"/>
                          <a:cs typeface="Arial"/>
                        </a:rPr>
                        <a:t>Semantic VAD</a:t>
                      </a:r>
                    </a:p>
                    <a:p>
                      <a:pPr algn="l">
                        <a:lnSpc>
                          <a:spcPct val="106000"/>
                        </a:lnSpc>
                        <a:spcAft>
                          <a:spcPts val="0"/>
                        </a:spcAft>
                      </a:pPr>
                      <a:r>
                        <a:rPr sz="900" b="1">
                          <a:solidFill>
                            <a:srgbClr val="F4CF91"/>
                          </a:solidFill>
                          <a:latin typeface="Arial"/>
                          <a:ea typeface="Arial"/>
                          <a:cs typeface="Arial"/>
                        </a:rPr>
                        <a:t>PROPOSED EXTENSION</a:t>
                      </a:r>
                    </a:p>
                  </a:txBody>
                  <a:tcPr marL="164592" marR="128016" marT="50292" marB="50292" anchor="ctr">
                    <a:lnL w="0">
                      <a:noFill/>
                    </a:lnL>
                    <a:lnR w="0">
                      <a:noFill/>
                    </a:lnR>
                    <a:lnT w="0">
                      <a:noFill/>
                    </a:lnT>
                    <a:lnB w="25400">
                      <a:solidFill>
                        <a:srgbClr val="FFFFFF"/>
                      </a:solidFill>
                    </a:lnB>
                    <a:solidFill>
                      <a:srgbClr val="16304E"/>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Decision signal</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Speech activity + a configured</a:t>
                      </a:r>
                    </a:p>
                    <a:p>
                      <a:pPr algn="l">
                        <a:lnSpc>
                          <a:spcPct val="106000"/>
                        </a:lnSpc>
                        <a:spcAft>
                          <a:spcPts val="0"/>
                        </a:spcAft>
                      </a:pPr>
                      <a:r>
                        <a:rPr sz="1420" b="0">
                          <a:solidFill>
                            <a:srgbClr val="16304E"/>
                          </a:solidFill>
                          <a:latin typeface="Arial"/>
                          <a:ea typeface="Arial"/>
                          <a:cs typeface="Arial"/>
                        </a:rPr>
                        <a:t>silence duration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Meaning and context</a:t>
                      </a:r>
                    </a:p>
                    <a:p>
                      <a:pPr algn="l">
                        <a:lnSpc>
                          <a:spcPct val="106000"/>
                        </a:lnSpc>
                        <a:spcAft>
                          <a:spcPts val="0"/>
                        </a:spcAft>
                      </a:pPr>
                      <a:r>
                        <a:rPr sz="1420" b="0">
                          <a:solidFill>
                            <a:srgbClr val="16304E"/>
                          </a:solidFill>
                          <a:latin typeface="Arial"/>
                          <a:ea typeface="Arial"/>
                          <a:cs typeface="Arial"/>
                        </a:rPr>
                        <a:t>Audio models can also use prosody</a:t>
                      </a:r>
                    </a:p>
                  </a:txBody>
                  <a:tcPr marL="164592" marR="128016" marT="50292" marB="50292" anchor="ctr">
                    <a:lnL w="0">
                      <a:noFill/>
                    </a:lnL>
                    <a:lnR w="0">
                      <a:noFill/>
                    </a:lnR>
                    <a:lnT w="0">
                      <a:noFill/>
                    </a:lnT>
                    <a:lnB w="25400">
                      <a:solidFill>
                        <a:srgbClr val="FFFFFF"/>
                      </a:solidFill>
                    </a:lnB>
                    <a:solidFill>
                      <a:srgbClr val="F3F6FA"/>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Pause handling</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May commit after enough silence,</a:t>
                      </a:r>
                    </a:p>
                    <a:p>
                      <a:pPr algn="l">
                        <a:lnSpc>
                          <a:spcPct val="106000"/>
                        </a:lnSpc>
                        <a:spcAft>
                          <a:spcPts val="0"/>
                        </a:spcAft>
                      </a:pPr>
                      <a:r>
                        <a:rPr sz="1420" b="0">
                          <a:solidFill>
                            <a:srgbClr val="16304E"/>
                          </a:solidFill>
                          <a:latin typeface="Arial"/>
                          <a:ea typeface="Arial"/>
                          <a:cs typeface="Arial"/>
                        </a:rPr>
                        <a:t>even if the sentence is unfinished</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Can wait longer when the utterance</a:t>
                      </a:r>
                    </a:p>
                    <a:p>
                      <a:pPr algn="l">
                        <a:lnSpc>
                          <a:spcPct val="106000"/>
                        </a:lnSpc>
                        <a:spcAft>
                          <a:spcPts val="0"/>
                        </a:spcAft>
                      </a:pPr>
                      <a:r>
                        <a:rPr sz="1420" b="0">
                          <a:solidFill>
                            <a:srgbClr val="16304E"/>
                          </a:solidFill>
                          <a:latin typeface="Arial"/>
                          <a:ea typeface="Arial"/>
                          <a:cs typeface="Arial"/>
                        </a:rPr>
                        <a:t>appears incomplete</a:t>
                      </a:r>
                    </a:p>
                  </a:txBody>
                  <a:tcPr marL="164592" marR="128016" marT="50292" marB="50292" anchor="ctr">
                    <a:lnL w="0">
                      <a:noFill/>
                    </a:lnL>
                    <a:lnR w="0">
                      <a:noFill/>
                    </a:lnR>
                    <a:lnT w="0">
                      <a:noFill/>
                    </a:lnT>
                    <a:lnB w="25400">
                      <a:solidFill>
                        <a:srgbClr val="FFFFFF"/>
                      </a:solidFill>
                    </a:lnB>
                    <a:solidFill>
                      <a:srgbClr val="FFFFFF"/>
                    </a:solidFill>
                  </a:tcPr>
                </a:tc>
              </a:tr>
              <a:tr h="630936">
                <a:tc>
                  <a:txBody>
                    <a:bodyPr wrap="square">
                      <a:noAutofit/>
                    </a:bodyPr>
                    <a:lstStyle/>
                    <a:p>
                      <a:pPr algn="l">
                        <a:lnSpc>
                          <a:spcPct val="106000"/>
                        </a:lnSpc>
                        <a:spcAft>
                          <a:spcPts val="0"/>
                        </a:spcAft>
                      </a:pPr>
                      <a:r>
                        <a:rPr sz="1350" b="1">
                          <a:solidFill>
                            <a:srgbClr val="16304E"/>
                          </a:solidFill>
                          <a:latin typeface="Arial"/>
                          <a:ea typeface="Arial"/>
                          <a:cs typeface="Arial"/>
                        </a:rPr>
                        <a:t>System action</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after the silence threshold.</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Commit when the turn is judged complete.</a:t>
                      </a:r>
                    </a:p>
                    <a:p>
                      <a:pPr algn="l">
                        <a:lnSpc>
                          <a:spcPct val="106000"/>
                        </a:lnSpc>
                        <a:spcAft>
                          <a:spcPts val="0"/>
                        </a:spcAft>
                      </a:pPr>
                      <a:r>
                        <a:rPr sz="1420" b="0">
                          <a:solidFill>
                            <a:srgbClr val="16304E"/>
                          </a:solidFill>
                          <a:latin typeface="Arial"/>
                          <a:ea typeface="Arial"/>
                          <a:cs typeface="Arial"/>
                        </a:rPr>
                        <a:t>Start a response if enabled.</a:t>
                      </a:r>
                    </a:p>
                  </a:txBody>
                  <a:tcPr marL="164592" marR="128016" marT="50292" marB="50292" anchor="ctr">
                    <a:lnL w="0">
                      <a:noFill/>
                    </a:lnL>
                    <a:lnR w="0">
                      <a:noFill/>
                    </a:lnR>
                    <a:lnT w="0">
                      <a:noFill/>
                    </a:lnT>
                    <a:lnB w="25400">
                      <a:solidFill>
                        <a:srgbClr val="FFFFFF"/>
                      </a:solidFill>
                    </a:lnB>
                    <a:solidFill>
                      <a:srgbClr val="F3F6FA"/>
                    </a:solidFill>
                  </a:tcPr>
                </a:tc>
              </a:tr>
              <a:tr h="658368">
                <a:tc>
                  <a:txBody>
                    <a:bodyPr wrap="square">
                      <a:noAutofit/>
                    </a:bodyPr>
                    <a:lstStyle/>
                    <a:p>
                      <a:pPr algn="l">
                        <a:lnSpc>
                          <a:spcPct val="106000"/>
                        </a:lnSpc>
                        <a:spcAft>
                          <a:spcPts val="0"/>
                        </a:spcAft>
                      </a:pPr>
                      <a:r>
                        <a:rPr sz="1350" b="1">
                          <a:solidFill>
                            <a:srgbClr val="16304E"/>
                          </a:solidFill>
                          <a:latin typeface="Arial"/>
                          <a:ea typeface="Arial"/>
                          <a:cs typeface="Arial"/>
                        </a:rPr>
                        <a:t>Compute &amp;</a:t>
                      </a:r>
                    </a:p>
                    <a:p>
                      <a:pPr algn="l">
                        <a:lnSpc>
                          <a:spcPct val="106000"/>
                        </a:lnSpc>
                        <a:spcAft>
                          <a:spcPts val="0"/>
                        </a:spcAft>
                      </a:pPr>
                      <a:r>
                        <a:rPr sz="1350" b="1">
                          <a:solidFill>
                            <a:srgbClr val="16304E"/>
                          </a:solidFill>
                          <a:latin typeface="Arial"/>
                          <a:ea typeface="Arial"/>
                          <a:cs typeface="Arial"/>
                        </a:rPr>
                        <a:t>placement</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Low-latency CPU inference</a:t>
                      </a:r>
                    </a:p>
                    <a:p>
                      <a:pPr algn="l">
                        <a:lnSpc>
                          <a:spcPct val="106000"/>
                        </a:lnSpc>
                        <a:spcAft>
                          <a:spcPts val="0"/>
                        </a:spcAft>
                      </a:pPr>
                      <a:r>
                        <a:rPr sz="1420" b="0">
                          <a:solidFill>
                            <a:srgbClr val="16304E"/>
                          </a:solidFill>
                          <a:latin typeface="Arial"/>
                          <a:ea typeface="Arial"/>
                          <a:cs typeface="Arial"/>
                        </a:rPr>
                        <a:t>Current: CPU thread pool</a:t>
                      </a:r>
                    </a:p>
                  </a:txBody>
                  <a:tcPr marL="164592" marR="128016" marT="50292" marB="50292" anchor="ctr">
                    <a:lnL w="0">
                      <a:noFill/>
                    </a:lnL>
                    <a:lnR w="0">
                      <a:noFill/>
                    </a:lnR>
                    <a:lnT w="0">
                      <a:noFill/>
                    </a:lnT>
                    <a:lnB w="25400">
                      <a:solidFill>
                        <a:srgbClr val="FFFFFF"/>
                      </a:solidFill>
                    </a:lnB>
                    <a:solidFill>
                      <a:srgbClr val="FFFFFF"/>
                    </a:solidFill>
                  </a:tcPr>
                </a:tc>
                <a:tc>
                  <a:txBody>
                    <a:bodyPr wrap="square">
                      <a:noAutofit/>
                    </a:bodyPr>
                    <a:lstStyle/>
                    <a:p>
                      <a:pPr algn="l">
                        <a:lnSpc>
                          <a:spcPct val="106000"/>
                        </a:lnSpc>
                        <a:spcAft>
                          <a:spcPts val="0"/>
                        </a:spcAft>
                      </a:pPr>
                      <a:r>
                        <a:rPr sz="1420" b="0">
                          <a:solidFill>
                            <a:srgbClr val="16304E"/>
                          </a:solidFill>
                          <a:latin typeface="Arial"/>
                          <a:ea typeface="Arial"/>
                          <a:cs typeface="Arial"/>
                        </a:rPr>
                        <a:t>Typically more compute per decision</a:t>
                      </a:r>
                    </a:p>
                    <a:p>
                      <a:pPr algn="l">
                        <a:lnSpc>
                          <a:spcPct val="106000"/>
                        </a:lnSpc>
                        <a:spcAft>
                          <a:spcPts val="0"/>
                        </a:spcAft>
                      </a:pPr>
                      <a:r>
                        <a:rPr sz="1420" b="0">
                          <a:solidFill>
                            <a:srgbClr val="16304E"/>
                          </a:solidFill>
                          <a:latin typeface="Arial"/>
                          <a:ea typeface="Arial"/>
                          <a:cs typeface="Arial"/>
                        </a:rPr>
                        <a:t>Planned: Omni Stage for heavier models</a:t>
                      </a:r>
                    </a:p>
                  </a:txBody>
                  <a:tcPr marL="164592" marR="128016" marT="50292" marB="50292" anchor="ctr">
                    <a:lnL w="0">
                      <a:noFill/>
                    </a:lnL>
                    <a:lnR w="0">
                      <a:noFill/>
                    </a:lnR>
                    <a:lnT w="0">
                      <a:noFill/>
                    </a:lnT>
                    <a:lnB w="25400">
                      <a:solidFill>
                        <a:srgbClr val="FFFFFF"/>
                      </a:solidFill>
                    </a:lnB>
                    <a:solidFill>
                      <a:srgbClr val="FFFFFF"/>
                    </a:solidFill>
                  </a:tcPr>
                </a:tc>
              </a:tr>
            </a:tbl>
          </a:graphicData>
        </a:graphic>
      </p:graphicFrame>
      <p:sp>
        <p:nvSpPr>
          <p:cNvPr id="201" name="A PAUSE INSIDE AN UNFINISHED REQUEST"/>
          <p:cNvSpPr txBox="1"/>
          <p:nvPr/>
        </p:nvSpPr>
        <p:spPr>
          <a:xfrm>
            <a:off x="731520" y="5157216"/>
            <a:ext cx="10698480" cy="201168"/>
          </a:xfrm>
          <a:prstGeom prst="rect">
            <a:avLst/>
          </a:prstGeom>
          <a:noFill/>
          <a:ln>
            <a:noFill/>
          </a:ln>
        </p:spPr>
        <p:txBody>
          <a:bodyPr wrap="square" lIns="0" rIns="0" tIns="0" bIns="0" anchor="t">
            <a:noAutofit/>
          </a:bodyPr>
          <a:lstStyle/>
          <a:p>
            <a:pPr algn="l">
              <a:lnSpc>
                <a:spcPct val="106000"/>
              </a:lnSpc>
              <a:spcAft>
                <a:spcPts val="0"/>
              </a:spcAft>
            </a:pPr>
            <a:r>
              <a:rPr sz="1150" b="1">
                <a:solidFill>
                  <a:srgbClr val="586B7E"/>
                </a:solidFill>
                <a:latin typeface="Arial"/>
                <a:ea typeface="Arial"/>
                <a:cs typeface="Arial"/>
              </a:rPr>
              <a:t>OPEN-SOURCE EXAMPLE: SILERO VAD + PIPECAT SMART TURN v3.2</a:t>
            </a:r>
          </a:p>
        </p:txBody>
      </p:sp>
      <p:sp>
        <p:nvSpPr>
          <p:cNvPr id="202" name="“Book me a flight for tomorrow to … [pause] … Beijing.”"/>
          <p:cNvSpPr txBox="1"/>
          <p:nvPr/>
        </p:nvSpPr>
        <p:spPr>
          <a:xfrm>
            <a:off x="731520" y="5404104"/>
            <a:ext cx="10698480" cy="310896"/>
          </a:xfrm>
          <a:prstGeom prst="rect">
            <a:avLst/>
          </a:prstGeom>
          <a:noFill/>
          <a:ln>
            <a:noFill/>
          </a:ln>
        </p:spPr>
        <p:txBody>
          <a:bodyPr wrap="square" lIns="0" rIns="0" tIns="0" bIns="0" anchor="t">
            <a:noAutofit/>
          </a:bodyPr>
          <a:lstStyle/>
          <a:p>
            <a:pPr algn="l">
              <a:lnSpc>
                <a:spcPct val="106000"/>
              </a:lnSpc>
              <a:spcAft>
                <a:spcPts val="0"/>
              </a:spcAft>
            </a:pPr>
            <a:r>
              <a:rPr sz="1800" b="1">
                <a:solidFill>
                  <a:srgbClr val="16304E"/>
                </a:solidFill>
                <a:latin typeface="Arial"/>
                <a:ea typeface="Arial"/>
                <a:cs typeface="Arial"/>
              </a:rPr>
              <a:t>“Book me a flight for tomorrow to … [pause] … Beijing.”</a:t>
            </a:r>
          </a:p>
        </p:txBody>
      </p:sp>
      <p:sp>
        <p:nvSpPr>
          <p:cNvPr id="203" name="Acoustic: may commit during the pause"/>
          <p:cNvSpPr txBox="1"/>
          <p:nvPr/>
        </p:nvSpPr>
        <p:spPr>
          <a:xfrm>
            <a:off x="731520" y="5760720"/>
            <a:ext cx="53035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307BDB"/>
                </a:solidFill>
                <a:latin typeface="Arial"/>
                <a:ea typeface="Arial"/>
                <a:cs typeface="Arial"/>
              </a:rPr>
              <a:t>1. Silero: speech / non-speech and pauses</a:t>
            </a:r>
          </a:p>
        </p:txBody>
      </p:sp>
      <p:sp>
        <p:nvSpPr>
          <p:cNvPr id="204" name="Semantic: can wait for the destination"/>
          <p:cNvSpPr txBox="1"/>
          <p:nvPr/>
        </p:nvSpPr>
        <p:spPr>
          <a:xfrm>
            <a:off x="6263640" y="5760720"/>
            <a:ext cx="5074920" cy="228600"/>
          </a:xfrm>
          <a:prstGeom prst="rect">
            <a:avLst/>
          </a:prstGeom>
          <a:noFill/>
          <a:ln>
            <a:noFill/>
          </a:ln>
        </p:spPr>
        <p:txBody>
          <a:bodyPr wrap="square" lIns="0" rIns="0" tIns="0" bIns="0" anchor="t">
            <a:noAutofit/>
          </a:bodyPr>
          <a:lstStyle/>
          <a:p>
            <a:pPr algn="l">
              <a:lnSpc>
                <a:spcPct val="106000"/>
              </a:lnSpc>
              <a:spcAft>
                <a:spcPts val="0"/>
              </a:spcAft>
            </a:pPr>
            <a:r>
              <a:rPr sz="1300" b="0">
                <a:solidFill>
                  <a:srgbClr val="008E96"/>
                </a:solidFill>
                <a:latin typeface="Arial"/>
                <a:ea typeface="Arial"/>
                <a:cs typeface="Arial"/>
              </a:rPr>
              <a:t>2. Smart Turn: complete / incomplete</a:t>
            </a:r>
          </a:p>
        </p:txBody>
      </p:sp>
      <p:sp>
        <p:nvSpPr>
          <p:cNvPr id="205" name="Interruption intent recognition is a separate capability."/>
          <p:cNvSpPr txBox="1"/>
          <p:nvPr/>
        </p:nvSpPr>
        <p:spPr>
          <a:xfrm>
            <a:off x="731520" y="6272784"/>
            <a:ext cx="10698480" cy="164592"/>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586B7E"/>
                </a:solidFill>
                <a:latin typeface="Arial"/>
                <a:ea typeface="Arial"/>
                <a:cs typeface="Arial"/>
              </a:rPr>
              <a:t>VAD can reduce noise-triggered events. Denoising and interruption intent detection are separate.</a:t>
            </a:r>
          </a:p>
        </p:txBody>
      </p:sp>
      <p:sp>
        <p:nvSpPr>
          <p:cNvPr id="206" name="Session policy and asynchronous inference"/>
          <p:cNvSpPr txBox="1"/>
          <p:nvPr/>
        </p:nvSpPr>
        <p:spPr>
          <a:xfrm>
            <a:off x="731520" y="6053328"/>
            <a:ext cx="10698480" cy="192024"/>
          </a:xfrm>
          <a:prstGeom prst="rect">
            <a:avLst/>
          </a:prstGeom>
          <a:noFill/>
          <a:ln>
            <a:noFill/>
          </a:ln>
        </p:spPr>
        <p:txBody>
          <a:bodyPr wrap="square" lIns="0" rIns="0" tIns="0" bIns="0" anchor="t">
            <a:noAutofit/>
          </a:bodyPr>
          <a:lstStyle/>
          <a:p>
            <a:pPr algn="l">
              <a:lnSpc>
                <a:spcPct val="106000"/>
              </a:lnSpc>
              <a:spcAft>
                <a:spcPts val="0"/>
              </a:spcAft>
            </a:pPr>
            <a:r>
              <a:rPr sz="1150" b="0">
                <a:solidFill>
                  <a:srgbClr val="16304E"/>
                </a:solidFill>
                <a:latin typeface="Arial"/>
                <a:ea typeface="Arial"/>
                <a:cs typeface="Arial"/>
              </a:rPr>
              <a:t>Session Runner owns commit and interruption. Inference is asynchronous and stale results are discarded.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SESSION CONTROL</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Disconnect, cancel and close have different effects</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MiniCPM, AURA, Qwen3-Omni and Nemotron support live-session resume; PersonaPlex closes on disconnect.</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A3</a:t>
            </a:r>
          </a:p>
        </p:txBody>
      </p:sp>
      <p:sp>
        <p:nvSpPr>
          <p:cNvPr id="12" name="TextBox 11"/>
          <p:cNvSpPr txBox="1"/>
          <p:nvPr/>
        </p:nvSpPr>
        <p:spPr>
          <a:xfrm>
            <a:off x="694944" y="2148840"/>
            <a:ext cx="2240280"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TRIGGER</a:t>
            </a:r>
          </a:p>
        </p:txBody>
      </p:sp>
      <p:sp>
        <p:nvSpPr>
          <p:cNvPr id="13" name="TextBox 12"/>
          <p:cNvSpPr txBox="1"/>
          <p:nvPr/>
        </p:nvSpPr>
        <p:spPr>
          <a:xfrm>
            <a:off x="3227832" y="2148840"/>
            <a:ext cx="395935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IN-FLIGHT WORK</a:t>
            </a:r>
          </a:p>
        </p:txBody>
      </p:sp>
      <p:sp>
        <p:nvSpPr>
          <p:cNvPr id="14" name="TextBox 13"/>
          <p:cNvSpPr txBox="1"/>
          <p:nvPr/>
        </p:nvSpPr>
        <p:spPr>
          <a:xfrm>
            <a:off x="7479792" y="2148840"/>
            <a:ext cx="4005072" cy="228600"/>
          </a:xfrm>
          <a:prstGeom prst="rect">
            <a:avLst/>
          </a:prstGeom>
          <a:noFill/>
        </p:spPr>
        <p:txBody>
          <a:bodyPr wrap="square" lIns="0" rIns="0" tIns="0" bIns="0" anchor="t">
            <a:spAutoFit/>
          </a:bodyPr>
          <a:lstStyle/>
          <a:p>
            <a:pPr algn="l">
              <a:lnSpc>
                <a:spcPct val="110000"/>
              </a:lnSpc>
              <a:spcAft>
                <a:spcPts val="0"/>
              </a:spcAft>
            </a:pPr>
            <a:r>
              <a:rPr sz="1200" b="1">
                <a:solidFill>
                  <a:srgbClr val="586B7E"/>
                </a:solidFill>
                <a:latin typeface="Arial"/>
                <a:ea typeface="Arial"/>
                <a:cs typeface="Arial"/>
              </a:rPr>
              <a:t>SESSION / RESUME</a:t>
            </a:r>
          </a:p>
        </p:txBody>
      </p:sp>
      <p:sp>
        <p:nvSpPr>
          <p:cNvPr id="15" name="Rounded Rectangle 14"/>
          <p:cNvSpPr/>
          <p:nvPr/>
        </p:nvSpPr>
        <p:spPr>
          <a:xfrm>
            <a:off x="548640" y="2505456"/>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94944" y="2624328"/>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Disconnect · resumable model</a:t>
            </a:r>
          </a:p>
        </p:txBody>
      </p:sp>
      <p:sp>
        <p:nvSpPr>
          <p:cNvPr id="17" name="TextBox 16"/>
          <p:cNvSpPr txBox="1"/>
          <p:nvPr/>
        </p:nvSpPr>
        <p:spPr>
          <a:xfrm>
            <a:off x="3227832" y="2624328"/>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May keep generating; journal later events</a:t>
            </a:r>
          </a:p>
        </p:txBody>
      </p:sp>
      <p:sp>
        <p:nvSpPr>
          <p:cNvPr id="18" name="TextBox 17"/>
          <p:cNvSpPr txBox="1"/>
          <p:nvPr/>
        </p:nvSpPr>
        <p:spPr>
          <a:xfrm>
            <a:off x="7479792" y="2624328"/>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Disconnect grace; resume while the session lives</a:t>
            </a:r>
          </a:p>
        </p:txBody>
      </p:sp>
      <p:sp>
        <p:nvSpPr>
          <p:cNvPr id="19" name="Rounded Rectangle 18"/>
          <p:cNvSpPr/>
          <p:nvPr/>
        </p:nvSpPr>
        <p:spPr>
          <a:xfrm>
            <a:off x="548640" y="3127248"/>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94944" y="3246120"/>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response.cancel</a:t>
            </a:r>
          </a:p>
        </p:txBody>
      </p:sp>
      <p:sp>
        <p:nvSpPr>
          <p:cNvPr id="21" name="TextBox 20"/>
          <p:cNvSpPr txBox="1"/>
          <p:nvPr/>
        </p:nvSpPr>
        <p:spPr>
          <a:xfrm>
            <a:off x="3227832" y="3246120"/>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Cancel response; invalidate its queued audio</a:t>
            </a:r>
          </a:p>
        </p:txBody>
      </p:sp>
      <p:sp>
        <p:nvSpPr>
          <p:cNvPr id="22" name="TextBox 21"/>
          <p:cNvSpPr txBox="1"/>
          <p:nvPr/>
        </p:nvSpPr>
        <p:spPr>
          <a:xfrm>
            <a:off x="7479792" y="3246120"/>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stays open; cancelled work stays cancelled</a:t>
            </a:r>
          </a:p>
        </p:txBody>
      </p:sp>
      <p:sp>
        <p:nvSpPr>
          <p:cNvPr id="23" name="Rounded Rectangle 22"/>
          <p:cNvSpPr/>
          <p:nvPr/>
        </p:nvSpPr>
        <p:spPr>
          <a:xfrm>
            <a:off x="548640" y="3749039"/>
            <a:ext cx="11082528" cy="539496"/>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94944" y="3867911"/>
            <a:ext cx="2240280" cy="356615"/>
          </a:xfrm>
          <a:prstGeom prst="rect">
            <a:avLst/>
          </a:prstGeom>
          <a:noFill/>
        </p:spPr>
        <p:txBody>
          <a:bodyPr wrap="square" lIns="0" rIns="0" tIns="0" bIns="0" anchor="t">
            <a:spAutoFit/>
          </a:bodyPr>
          <a:lstStyle/>
          <a:p>
            <a:pPr algn="l">
              <a:lnSpc>
                <a:spcPct val="110000"/>
              </a:lnSpc>
              <a:spcAft>
                <a:spcPts val="0"/>
              </a:spcAft>
            </a:pPr>
            <a:r>
              <a:rPr sz="1220" b="1">
                <a:solidFill>
                  <a:srgbClr val="142B45"/>
                </a:solidFill>
                <a:latin typeface="Arial"/>
                <a:ea typeface="Arial"/>
                <a:cs typeface="Arial"/>
              </a:rPr>
              <a:t>session.close / lease expiry</a:t>
            </a:r>
          </a:p>
        </p:txBody>
      </p:sp>
      <p:sp>
        <p:nvSpPr>
          <p:cNvPr id="25" name="TextBox 24"/>
          <p:cNvSpPr txBox="1"/>
          <p:nvPr/>
        </p:nvSpPr>
        <p:spPr>
          <a:xfrm>
            <a:off x="3227832" y="3867911"/>
            <a:ext cx="395935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Terminate and clean up associated work</a:t>
            </a:r>
          </a:p>
        </p:txBody>
      </p:sp>
      <p:sp>
        <p:nvSpPr>
          <p:cNvPr id="26" name="TextBox 25"/>
          <p:cNvSpPr txBox="1"/>
          <p:nvPr/>
        </p:nvSpPr>
        <p:spPr>
          <a:xfrm>
            <a:off x="7479792" y="3867911"/>
            <a:ext cx="4005072" cy="356615"/>
          </a:xfrm>
          <a:prstGeom prst="rect">
            <a:avLst/>
          </a:prstGeom>
          <a:noFill/>
        </p:spPr>
        <p:txBody>
          <a:bodyPr wrap="square" lIns="0" rIns="0" tIns="0" bIns="0" anchor="t">
            <a:spAutoFit/>
          </a:bodyPr>
          <a:lstStyle/>
          <a:p>
            <a:pPr algn="l">
              <a:lnSpc>
                <a:spcPct val="110000"/>
              </a:lnSpc>
              <a:spcAft>
                <a:spcPts val="0"/>
              </a:spcAft>
            </a:pPr>
            <a:r>
              <a:rPr sz="1220" b="0">
                <a:solidFill>
                  <a:srgbClr val="142B45"/>
                </a:solidFill>
                <a:latin typeface="Arial"/>
                <a:ea typeface="Arial"/>
                <a:cs typeface="Arial"/>
              </a:rPr>
              <a:t>Session ends; create a new session</a:t>
            </a:r>
          </a:p>
        </p:txBody>
      </p:sp>
      <p:sp>
        <p:nvSpPr>
          <p:cNvPr id="27" name="Rounded Rectangle 26"/>
          <p:cNvSpPr/>
          <p:nvPr/>
        </p:nvSpPr>
        <p:spPr>
          <a:xfrm>
            <a:off x="548640"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694944" y="4764024"/>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SESSION LIFETIME</a:t>
            </a:r>
          </a:p>
        </p:txBody>
      </p:sp>
      <p:sp>
        <p:nvSpPr>
          <p:cNvPr id="29" name="TextBox 28"/>
          <p:cNvSpPr txBox="1"/>
          <p:nvPr/>
        </p:nvSpPr>
        <p:spPr>
          <a:xfrm>
            <a:off x="694944"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Resume within the disconnect grace</a:t>
            </a:r>
          </a:p>
          <a:p>
            <a:pPr algn="l">
              <a:lnSpc>
                <a:spcPct val="110000"/>
              </a:lnSpc>
              <a:spcAft>
                <a:spcPts val="0"/>
              </a:spcAft>
            </a:pPr>
            <a:r>
              <a:rPr sz="1250" b="0">
                <a:solidFill>
                  <a:srgbClr val="21364E"/>
                </a:solidFill>
                <a:latin typeface="Arial"/>
                <a:ea typeface="Arial"/>
                <a:cs typeface="Arial"/>
              </a:rPr>
              <a:t>Session remains on its live owner</a:t>
            </a:r>
          </a:p>
        </p:txBody>
      </p:sp>
      <p:sp>
        <p:nvSpPr>
          <p:cNvPr id="30" name="Rounded Rectangle 29"/>
          <p:cNvSpPr/>
          <p:nvPr/>
        </p:nvSpPr>
        <p:spPr>
          <a:xfrm>
            <a:off x="4315968" y="4645152"/>
            <a:ext cx="3547872" cy="1188720"/>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462272"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VALID CREDENTIALS</a:t>
            </a:r>
          </a:p>
        </p:txBody>
      </p:sp>
      <p:sp>
        <p:nvSpPr>
          <p:cNvPr id="32" name="TextBox 31"/>
          <p:cNvSpPr txBox="1"/>
          <p:nvPr/>
        </p:nvSpPr>
        <p:spPr>
          <a:xfrm>
            <a:off x="4462272" y="5120640"/>
            <a:ext cx="3255264" cy="640080"/>
          </a:xfrm>
          <a:prstGeom prst="rect">
            <a:avLst/>
          </a:prstGeom>
          <a:noFill/>
        </p:spPr>
        <p:txBody>
          <a:bodyPr wrap="square" lIns="0" rIns="0" tIns="0" bIns="0" anchor="t">
            <a:spAutoFit/>
          </a:bodyPr>
          <a:lstStyle/>
          <a:p>
            <a:pPr algn="l">
              <a:lnSpc>
                <a:spcPct val="110000"/>
              </a:lnSpc>
              <a:spcAft>
                <a:spcPts val="0"/>
              </a:spcAft>
            </a:pPr>
            <a:r>
              <a:rPr sz="1200" b="0">
                <a:solidFill>
                  <a:srgbClr val="21364E"/>
                </a:solidFill>
                <a:latin typeface="Arial"/>
                <a:ea typeface="Arial"/>
                <a:cs typeface="Arial"/>
              </a:rPr>
              <a:t>Valid resume token</a:t>
            </a:r>
          </a:p>
          <a:p>
            <a:pPr algn="l">
              <a:lnSpc>
                <a:spcPct val="110000"/>
              </a:lnSpc>
              <a:spcAft>
                <a:spcPts val="0"/>
              </a:spcAft>
            </a:pPr>
            <a:r>
              <a:rPr sz="1200" b="0">
                <a:solidFill>
                  <a:srgbClr val="21364E"/>
                </a:solidFill>
                <a:latin typeface="Arial"/>
                <a:ea typeface="Arial"/>
                <a:cs typeface="Arial"/>
              </a:rPr>
              <a:t>Matching lease generation</a:t>
            </a:r>
          </a:p>
        </p:txBody>
      </p:sp>
      <p:sp>
        <p:nvSpPr>
          <p:cNvPr id="33" name="Rounded Rectangle 32"/>
          <p:cNvSpPr/>
          <p:nvPr/>
        </p:nvSpPr>
        <p:spPr>
          <a:xfrm>
            <a:off x="8083296" y="4645152"/>
            <a:ext cx="3547872" cy="1188720"/>
          </a:xfrm>
          <a:prstGeom prst="roundRect">
            <a:avLst>
              <a:gd name="adj" fmla="val 10000"/>
            </a:avLst>
          </a:prstGeom>
          <a:solidFill>
            <a:srgbClr val="EAF7F6"/>
          </a:solidFill>
          <a:ln w="12065">
            <a:solidFill>
              <a:srgbClr val="8DB8B7"/>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229600" y="4764024"/>
            <a:ext cx="3255264"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REPLAY COVERAGE</a:t>
            </a:r>
          </a:p>
        </p:txBody>
      </p:sp>
      <p:sp>
        <p:nvSpPr>
          <p:cNvPr id="35" name="TextBox 34"/>
          <p:cNvSpPr txBox="1"/>
          <p:nvPr/>
        </p:nvSpPr>
        <p:spPr>
          <a:xfrm>
            <a:off x="8229600" y="5120640"/>
            <a:ext cx="3255264" cy="640080"/>
          </a:xfrm>
          <a:prstGeom prst="rect">
            <a:avLst/>
          </a:prstGeom>
          <a:noFill/>
        </p:spPr>
        <p:txBody>
          <a:bodyPr wrap="square" lIns="0" rIns="0" tIns="0" bIns="0" anchor="t">
            <a:spAutoFit/>
          </a:bodyPr>
          <a:lstStyle/>
          <a:p>
            <a:pPr algn="l">
              <a:lnSpc>
                <a:spcPct val="110000"/>
              </a:lnSpc>
              <a:spcAft>
                <a:spcPts val="0"/>
              </a:spcAft>
            </a:pPr>
            <a:r>
              <a:rPr sz="1250" b="0">
                <a:solidFill>
                  <a:srgbClr val="21364E"/>
                </a:solidFill>
                <a:latin typeface="Arial"/>
                <a:ea typeface="Arial"/>
                <a:cs typeface="Arial"/>
              </a:rPr>
              <a:t>Last received event position</a:t>
            </a:r>
          </a:p>
          <a:p>
            <a:pPr algn="l">
              <a:lnSpc>
                <a:spcPct val="110000"/>
              </a:lnSpc>
              <a:spcAft>
                <a:spcPts val="0"/>
              </a:spcAft>
            </a:pPr>
            <a:r>
              <a:rPr sz="1250" b="0">
                <a:solidFill>
                  <a:srgbClr val="21364E"/>
                </a:solidFill>
                <a:latin typeface="Arial"/>
                <a:ea typeface="Arial"/>
                <a:cs typeface="Arial"/>
              </a:rPr>
              <a:t>Required events remain available</a:t>
            </a:r>
          </a:p>
        </p:txBody>
      </p:sp>
      <p:sp>
        <p:nvSpPr>
          <p:cNvPr id="36" name="TextBox 35"/>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Defaults: disconnect grace 30s · idle TTL 300s · replay 60s / 8 MiB. Resume requires the same live owner.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jp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DEPLOYMENT</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2600" b="1">
                <a:solidFill>
                  <a:srgbClr val="142B45"/>
                </a:solidFill>
                <a:latin typeface="Arial"/>
                <a:ea typeface="Arial"/>
                <a:cs typeface="Arial"/>
              </a:rPr>
              <a:t>Cross-node stages share the entrypoint Orchestrator</a:t>
            </a:r>
          </a:p>
        </p:txBody>
      </p:sp>
      <p:sp>
        <p:nvSpPr>
          <p:cNvPr id="7" name="TextBox 6"/>
          <p:cNvSpPr txBox="1"/>
          <p:nvPr/>
        </p:nvSpPr>
        <p:spPr>
          <a:xfrm>
            <a:off x="576072" y="1645920"/>
            <a:ext cx="10972800" cy="411480"/>
          </a:xfrm>
          <a:prstGeom prst="rect">
            <a:avLst/>
          </a:prstGeom>
          <a:noFill/>
        </p:spPr>
        <p:txBody>
          <a:bodyPr wrap="square" lIns="0" rIns="0" tIns="0" bIns="0" anchor="t">
            <a:spAutoFit/>
          </a:bodyPr>
          <a:lstStyle/>
          <a:p>
            <a:pPr algn="l">
              <a:lnSpc>
                <a:spcPct val="110000"/>
              </a:lnSpc>
              <a:spcAft>
                <a:spcPts val="0"/>
              </a:spcAft>
            </a:pPr>
            <a:r>
              <a:rPr sz="1400" b="0">
                <a:solidFill>
                  <a:srgbClr val="586B7E"/>
                </a:solidFill>
                <a:latin typeface="Arial"/>
                <a:ea typeface="Arial"/>
                <a:cs typeface="Arial"/>
              </a:rPr>
              <a:t>One API worker owns duplex sessions; the Head connects local and registered headless Stage processes.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A4</a:t>
            </a:r>
          </a:p>
        </p:txBody>
      </p:sp>
      <p:sp>
        <p:nvSpPr>
          <p:cNvPr id="12" name="Rounded Rectangle 11"/>
          <p:cNvSpPr/>
          <p:nvPr/>
        </p:nvSpPr>
        <p:spPr>
          <a:xfrm>
            <a:off x="548640" y="2221992"/>
            <a:ext cx="5522976" cy="218541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31520" y="2368296"/>
            <a:ext cx="5120640" cy="237744"/>
          </a:xfrm>
          <a:prstGeom prst="rect">
            <a:avLst/>
          </a:prstGeom>
          <a:noFill/>
        </p:spPr>
        <p:txBody>
          <a:bodyPr wrap="square" lIns="0" rIns="0" tIns="0" bIns="0" anchor="t">
            <a:spAutoFit/>
          </a:bodyPr>
          <a:lstStyle/>
          <a:p>
            <a:pPr algn="l">
              <a:lnSpc>
                <a:spcPct val="110000"/>
              </a:lnSpc>
              <a:spcAft>
                <a:spcPts val="0"/>
              </a:spcAft>
            </a:pPr>
            <a:r>
              <a:rPr sz="1300" b="1">
                <a:solidFill>
                  <a:srgbClr val="008E96"/>
                </a:solidFill>
                <a:latin typeface="Arial"/>
                <a:ea typeface="Arial"/>
                <a:cs typeface="Arial"/>
              </a:rPr>
              <a:t>HEAD NODE</a:t>
            </a:r>
          </a:p>
        </p:txBody>
      </p:sp>
      <p:sp>
        <p:nvSpPr>
          <p:cNvPr id="14" name="Rounded Rectangle 13"/>
          <p:cNvSpPr/>
          <p:nvPr/>
        </p:nvSpPr>
        <p:spPr>
          <a:xfrm>
            <a:off x="740664" y="2798064"/>
            <a:ext cx="5111496" cy="585216"/>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896112" y="2971800"/>
            <a:ext cx="4800600" cy="228600"/>
          </a:xfrm>
          <a:prstGeom prst="rect">
            <a:avLst/>
          </a:prstGeom>
          <a:noFill/>
        </p:spPr>
        <p:txBody>
          <a:bodyPr wrap="square" lIns="0" rIns="0" tIns="0" bIns="0" anchor="t">
            <a:spAutoFit/>
          </a:bodyPr>
          <a:lstStyle/>
          <a:p>
            <a:pPr algn="l">
              <a:lnSpc>
                <a:spcPct val="110000"/>
              </a:lnSpc>
              <a:spcAft>
                <a:spcPts val="0"/>
              </a:spcAft>
            </a:pPr>
            <a:r>
              <a:rPr sz="1350" b="1">
                <a:solidFill>
                  <a:srgbClr val="142B45"/>
                </a:solidFill>
                <a:latin typeface="Arial"/>
                <a:ea typeface="Arial"/>
                <a:cs typeface="Arial"/>
              </a:rPr>
              <a:t>API / EngineClient / Duplex Orchestrator</a:t>
            </a:r>
          </a:p>
        </p:txBody>
      </p:sp>
      <p:sp>
        <p:nvSpPr>
          <p:cNvPr id="16" name="Rounded Rectangle 15"/>
          <p:cNvSpPr/>
          <p:nvPr/>
        </p:nvSpPr>
        <p:spPr>
          <a:xfrm>
            <a:off x="740664" y="3666744"/>
            <a:ext cx="5111496" cy="521207"/>
          </a:xfrm>
          <a:prstGeom prst="roundRect">
            <a:avLst>
              <a:gd name="adj" fmla="val 10000"/>
            </a:avLst>
          </a:prstGeom>
          <a:solidFill>
            <a:srgbClr val="FFFFFF"/>
          </a:solidFill>
          <a:ln w="12065">
            <a:solidFill>
              <a:srgbClr val="A2B4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96112" y="3822191"/>
            <a:ext cx="4800600" cy="219456"/>
          </a:xfrm>
          <a:prstGeom prst="rect">
            <a:avLst/>
          </a:prstGeom>
          <a:noFill/>
        </p:spPr>
        <p:txBody>
          <a:bodyPr wrap="square" lIns="0" rIns="0" tIns="0" bIns="0" anchor="t">
            <a:spAutoFit/>
          </a:bodyPr>
          <a:lstStyle/>
          <a:p>
            <a:pPr algn="l">
              <a:lnSpc>
                <a:spcPct val="110000"/>
              </a:lnSpc>
              <a:spcAft>
                <a:spcPts val="0"/>
              </a:spcAft>
            </a:pPr>
            <a:r>
              <a:rPr sz="1300" b="0">
                <a:solidFill>
                  <a:srgbClr val="142B45"/>
                </a:solidFill>
                <a:latin typeface="Arial"/>
                <a:ea typeface="Arial"/>
                <a:cs typeface="Arial"/>
              </a:rPr>
              <a:t>Local Stage 0 · EngineCore / Worker</a:t>
            </a:r>
          </a:p>
        </p:txBody>
      </p:sp>
      <p:cxnSp>
        <p:nvCxnSpPr>
          <p:cNvPr id="18" name="Connector 17"/>
          <p:cNvCxnSpPr/>
          <p:nvPr/>
        </p:nvCxnSpPr>
        <p:spPr>
          <a:xfrm>
            <a:off x="3291840" y="3419856"/>
            <a:ext cx="0" cy="210312"/>
          </a:xfrm>
          <a:prstGeom prst="line">
            <a:avLst/>
          </a:prstGeom>
          <a:ln w="1651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7434072" y="2221992"/>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7580376" y="2340864"/>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B · headless</a:t>
            </a:r>
          </a:p>
        </p:txBody>
      </p:sp>
      <p:sp>
        <p:nvSpPr>
          <p:cNvPr id="21" name="TextBox 20"/>
          <p:cNvSpPr txBox="1"/>
          <p:nvPr/>
        </p:nvSpPr>
        <p:spPr>
          <a:xfrm>
            <a:off x="7580376" y="2697480"/>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1 · EngineCore / Worker</a:t>
            </a:r>
          </a:p>
        </p:txBody>
      </p:sp>
      <p:sp>
        <p:nvSpPr>
          <p:cNvPr id="22" name="Rounded Rectangle 21"/>
          <p:cNvSpPr/>
          <p:nvPr/>
        </p:nvSpPr>
        <p:spPr>
          <a:xfrm>
            <a:off x="7434072" y="3429000"/>
            <a:ext cx="4197096" cy="987552"/>
          </a:xfrm>
          <a:prstGeom prst="roundRect">
            <a:avLst>
              <a:gd name="adj" fmla="val 10000"/>
            </a:avLst>
          </a:prstGeom>
          <a:solidFill>
            <a:srgbClr val="EDF4FF"/>
          </a:solidFill>
          <a:ln w="12065">
            <a:solidFill>
              <a:srgbClr val="96B4D9"/>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7580376" y="3547872"/>
            <a:ext cx="3904487" cy="256032"/>
          </a:xfrm>
          <a:prstGeom prst="rect">
            <a:avLst/>
          </a:prstGeom>
          <a:noFill/>
        </p:spPr>
        <p:txBody>
          <a:bodyPr wrap="square" lIns="0" rIns="0" tIns="0" bIns="0" anchor="t">
            <a:spAutoFit/>
          </a:bodyPr>
          <a:lstStyle/>
          <a:p>
            <a:pPr algn="l">
              <a:lnSpc>
                <a:spcPct val="110000"/>
              </a:lnSpc>
              <a:spcAft>
                <a:spcPts val="0"/>
              </a:spcAft>
            </a:pPr>
            <a:r>
              <a:rPr sz="1300" b="1">
                <a:solidFill>
                  <a:srgbClr val="142B45"/>
                </a:solidFill>
                <a:latin typeface="Arial"/>
                <a:ea typeface="Arial"/>
                <a:cs typeface="Arial"/>
              </a:rPr>
              <a:t>NODE C · headless</a:t>
            </a:r>
          </a:p>
        </p:txBody>
      </p:sp>
      <p:sp>
        <p:nvSpPr>
          <p:cNvPr id="24" name="TextBox 23"/>
          <p:cNvSpPr txBox="1"/>
          <p:nvPr/>
        </p:nvSpPr>
        <p:spPr>
          <a:xfrm>
            <a:off x="7580376" y="3904487"/>
            <a:ext cx="3904487" cy="438912"/>
          </a:xfrm>
          <a:prstGeom prst="rect">
            <a:avLst/>
          </a:prstGeom>
          <a:noFill/>
        </p:spPr>
        <p:txBody>
          <a:bodyPr wrap="square" lIns="0" rIns="0" tIns="0" bIns="0" anchor="t">
            <a:spAutoFit/>
          </a:bodyPr>
          <a:lstStyle/>
          <a:p>
            <a:pPr algn="l">
              <a:lnSpc>
                <a:spcPct val="110000"/>
              </a:lnSpc>
              <a:spcAft>
                <a:spcPts val="0"/>
              </a:spcAft>
            </a:pPr>
            <a:r>
              <a:rPr sz="1300" b="0">
                <a:solidFill>
                  <a:srgbClr val="21364E"/>
                </a:solidFill>
                <a:latin typeface="Arial"/>
                <a:ea typeface="Arial"/>
                <a:cs typeface="Arial"/>
              </a:rPr>
              <a:t>Stage 2 · EngineCore / Worker</a:t>
            </a:r>
          </a:p>
        </p:txBody>
      </p:sp>
      <p:cxnSp>
        <p:nvCxnSpPr>
          <p:cNvPr id="25" name="Connector 24"/>
          <p:cNvCxnSpPr/>
          <p:nvPr/>
        </p:nvCxnSpPr>
        <p:spPr>
          <a:xfrm>
            <a:off x="6126480" y="3054096"/>
            <a:ext cx="685800" cy="0"/>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a:off x="6812280" y="2715768"/>
            <a:ext cx="0" cy="1207008"/>
          </a:xfrm>
          <a:prstGeom prst="line">
            <a:avLst/>
          </a:prstGeom>
          <a:ln w="17780">
            <a:solidFill>
              <a:srgbClr val="327CEC"/>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a:off x="6812280" y="2715768"/>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a:off x="6812280" y="3922776"/>
            <a:ext cx="566928" cy="0"/>
          </a:xfrm>
          <a:prstGeom prst="line">
            <a:avLst/>
          </a:prstGeom>
          <a:ln w="17780">
            <a:solidFill>
              <a:srgbClr val="327CEC"/>
            </a:solidFill>
            <a:tailEnd type="triangle" w="sm" len="sm"/>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153912" y="4023360"/>
            <a:ext cx="1088136" cy="393192"/>
          </a:xfrm>
          <a:prstGeom prst="rect">
            <a:avLst/>
          </a:prstGeom>
          <a:noFill/>
        </p:spPr>
        <p:txBody>
          <a:bodyPr wrap="square" lIns="0" rIns="0" tIns="0" bIns="0" anchor="t">
            <a:spAutoFit/>
          </a:bodyPr>
          <a:lstStyle/>
          <a:p>
            <a:pPr algn="l">
              <a:lnSpc>
                <a:spcPct val="110000"/>
              </a:lnSpc>
              <a:spcAft>
                <a:spcPts val="0"/>
              </a:spcAft>
            </a:pPr>
            <a:r>
              <a:rPr sz="1050" b="0">
                <a:solidFill>
                  <a:srgbClr val="586B7E"/>
                </a:solidFill>
                <a:latin typeface="Arial"/>
                <a:ea typeface="Arial"/>
                <a:cs typeface="Arial"/>
              </a:rPr>
              <a:t>Requests / outputs</a:t>
            </a:r>
          </a:p>
        </p:txBody>
      </p:sp>
      <p:sp>
        <p:nvSpPr>
          <p:cNvPr id="30" name="Rounded Rectangle 29"/>
          <p:cNvSpPr/>
          <p:nvPr/>
        </p:nvSpPr>
        <p:spPr>
          <a:xfrm>
            <a:off x="548640"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694944"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1  SHARED DEPLOY CONFIG</a:t>
            </a:r>
          </a:p>
        </p:txBody>
      </p:sp>
      <p:sp>
        <p:nvSpPr>
          <p:cNvPr id="32" name="TextBox 31"/>
          <p:cNvSpPr txBox="1"/>
          <p:nvPr/>
        </p:nvSpPr>
        <p:spPr>
          <a:xfrm>
            <a:off x="694944"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Same topology; session_mode: duplex</a:t>
            </a:r>
          </a:p>
          <a:p>
            <a:pPr algn="l">
              <a:lnSpc>
                <a:spcPct val="110000"/>
              </a:lnSpc>
              <a:spcAft>
                <a:spcPts val="0"/>
              </a:spcAft>
            </a:pPr>
            <a:r>
              <a:rPr sz="1180" b="0">
                <a:solidFill>
                  <a:srgbClr val="21364E"/>
                </a:solidFill>
                <a:latin typeface="Arial"/>
                <a:ea typeface="Arial"/>
                <a:cs typeface="Arial"/>
              </a:rPr>
              <a:t>Configure devices and network connectors</a:t>
            </a:r>
          </a:p>
        </p:txBody>
      </p:sp>
      <p:sp>
        <p:nvSpPr>
          <p:cNvPr id="33" name="Rounded Rectangle 32"/>
          <p:cNvSpPr/>
          <p:nvPr/>
        </p:nvSpPr>
        <p:spPr>
          <a:xfrm>
            <a:off x="4315968"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4462272"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2  START THE HEAD</a:t>
            </a:r>
          </a:p>
        </p:txBody>
      </p:sp>
      <p:sp>
        <p:nvSpPr>
          <p:cNvPr id="35" name="TextBox 34"/>
          <p:cNvSpPr txBox="1"/>
          <p:nvPr/>
        </p:nvSpPr>
        <p:spPr>
          <a:xfrm>
            <a:off x="4462272"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stage-id 0 starts one API worker + local stage</a:t>
            </a:r>
          </a:p>
          <a:p>
            <a:pPr algn="l">
              <a:lnSpc>
                <a:spcPct val="110000"/>
              </a:lnSpc>
              <a:spcAft>
                <a:spcPts val="0"/>
              </a:spcAft>
            </a:pPr>
            <a:r>
              <a:rPr sz="1180" b="0">
                <a:solidFill>
                  <a:srgbClr val="21364E"/>
                </a:solidFill>
                <a:latin typeface="Arial"/>
                <a:ea typeface="Arial"/>
                <a:cs typeface="Arial"/>
              </a:rPr>
              <a:t>Publish a reachable master address / port</a:t>
            </a:r>
          </a:p>
        </p:txBody>
      </p:sp>
      <p:sp>
        <p:nvSpPr>
          <p:cNvPr id="36" name="Rounded Rectangle 35"/>
          <p:cNvSpPr/>
          <p:nvPr/>
        </p:nvSpPr>
        <p:spPr>
          <a:xfrm>
            <a:off x="8083296" y="4718304"/>
            <a:ext cx="3547872" cy="996696"/>
          </a:xfrm>
          <a:prstGeom prst="roundRect">
            <a:avLst>
              <a:gd name="adj" fmla="val 10000"/>
            </a:avLst>
          </a:prstGeom>
          <a:solidFill>
            <a:srgbClr val="F3F6FA"/>
          </a:solidFill>
          <a:ln w="12065">
            <a:solidFill>
              <a:srgbClr val="A4B5C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8229600" y="4837176"/>
            <a:ext cx="3255264" cy="256032"/>
          </a:xfrm>
          <a:prstGeom prst="rect">
            <a:avLst/>
          </a:prstGeom>
          <a:noFill/>
        </p:spPr>
        <p:txBody>
          <a:bodyPr wrap="square" lIns="0" rIns="0" tIns="0" bIns="0" anchor="t">
            <a:spAutoFit/>
          </a:bodyPr>
          <a:lstStyle/>
          <a:p>
            <a:pPr algn="l">
              <a:lnSpc>
                <a:spcPct val="110000"/>
              </a:lnSpc>
              <a:spcAft>
                <a:spcPts val="0"/>
              </a:spcAft>
            </a:pPr>
            <a:r>
              <a:rPr sz="1250" b="1">
                <a:solidFill>
                  <a:srgbClr val="142B45"/>
                </a:solidFill>
                <a:latin typeface="Arial"/>
                <a:ea typeface="Arial"/>
                <a:cs typeface="Arial"/>
              </a:rPr>
              <a:t>3  LAUNCH HEADLESS PROCESSES</a:t>
            </a:r>
          </a:p>
        </p:txBody>
      </p:sp>
      <p:sp>
        <p:nvSpPr>
          <p:cNvPr id="38" name="TextBox 37"/>
          <p:cNvSpPr txBox="1"/>
          <p:nvPr/>
        </p:nvSpPr>
        <p:spPr>
          <a:xfrm>
            <a:off x="8229600" y="5193792"/>
            <a:ext cx="3255264" cy="448056"/>
          </a:xfrm>
          <a:prstGeom prst="rect">
            <a:avLst/>
          </a:prstGeom>
          <a:noFill/>
        </p:spPr>
        <p:txBody>
          <a:bodyPr wrap="square" lIns="0" rIns="0" tIns="0" bIns="0" anchor="t">
            <a:spAutoFit/>
          </a:bodyPr>
          <a:lstStyle/>
          <a:p>
            <a:pPr algn="l">
              <a:lnSpc>
                <a:spcPct val="110000"/>
              </a:lnSpc>
              <a:spcAft>
                <a:spcPts val="0"/>
              </a:spcAft>
            </a:pPr>
            <a:r>
              <a:rPr sz="1180" b="0">
                <a:solidFill>
                  <a:srgbClr val="21364E"/>
                </a:solidFill>
                <a:latin typeface="Arial"/>
                <a:ea typeface="Arial"/>
                <a:cs typeface="Arial"/>
              </a:rPr>
              <a:t>Set stage-id and the same master</a:t>
            </a:r>
          </a:p>
          <a:p>
            <a:pPr algn="l">
              <a:lnSpc>
                <a:spcPct val="110000"/>
              </a:lnSpc>
              <a:spcAft>
                <a:spcPts val="0"/>
              </a:spcAft>
            </a:pPr>
            <a:r>
              <a:rPr sz="1180" b="0">
                <a:solidFill>
                  <a:srgbClr val="21364E"/>
                </a:solidFill>
                <a:latin typeface="Arial"/>
                <a:ea typeface="Arial"/>
                <a:cs typeface="Arial"/>
              </a:rPr>
              <a:t>Register with OmniMaster; launch local stage</a:t>
            </a:r>
          </a:p>
        </p:txBody>
      </p:sp>
      <p:sp>
        <p:nvSpPr>
          <p:cNvPr id="39" name="TextBox 38"/>
          <p:cNvSpPr txBox="1"/>
          <p:nvPr/>
        </p:nvSpPr>
        <p:spPr>
          <a:xfrm>
            <a:off x="722376" y="6089904"/>
            <a:ext cx="10744200" cy="292608"/>
          </a:xfrm>
          <a:prstGeom prst="rect">
            <a:avLst/>
          </a:prstGeom>
          <a:noFill/>
        </p:spPr>
        <p:txBody>
          <a:bodyPr wrap="square" lIns="0" rIns="0" tIns="0" bIns="0" anchor="t">
            <a:spAutoFit/>
          </a:bodyPr>
          <a:lstStyle/>
          <a:p>
            <a:pPr algn="l">
              <a:lnSpc>
                <a:spcPct val="110000"/>
              </a:lnSpc>
              <a:spcAft>
                <a:spcPts val="0"/>
              </a:spcAft>
            </a:pPr>
            <a:r>
              <a:rPr sz="1150" b="0">
                <a:solidFill>
                  <a:srgbClr val="586B7E"/>
                </a:solidFill>
                <a:latin typeface="Arial"/>
                <a:ea typeface="Arial"/>
                <a:cs typeface="Arial"/>
              </a:rPr>
              <a:t>Headless stages share the Head Orchestrator. Duplex rejects multiple API workers; cross-node data needs a network connector.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vllm-omni-logo.png">
            <a:hlinkClick r:id="rId3"/>
          </p:cNvPr>
          <p:cNvPicPr>
            <a:picLocks noChangeAspect="1"/>
          </p:cNvPicPr>
          <p:nvPr/>
        </p:nvPicPr>
        <p:blipFill>
          <a:blip r:embed="rId2"/>
          <a:stretch>
            <a:fillRect/>
          </a:stretch>
        </p:blipFill>
        <p:spPr>
          <a:xfrm>
            <a:off x="521207" y="256032"/>
            <a:ext cx="2103120" cy="385041"/>
          </a:xfrm>
          <a:prstGeom prst="rect">
            <a:avLst/>
          </a:prstGeom>
        </p:spPr>
      </p:pic>
      <p:cxnSp>
        <p:nvCxnSpPr>
          <p:cNvPr id="3" name="Connector 2"/>
          <p:cNvCxnSpPr/>
          <p:nvPr/>
        </p:nvCxnSpPr>
        <p:spPr>
          <a:xfrm>
            <a:off x="2834640" y="320040"/>
            <a:ext cx="0" cy="283464"/>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017520" y="347472"/>
            <a:ext cx="2286000" cy="228600"/>
          </a:xfrm>
          <a:prstGeom prst="rect">
            <a:avLst/>
          </a:prstGeom>
          <a:noFill/>
        </p:spPr>
        <p:txBody>
          <a:bodyPr wrap="square" lIns="0" rIns="0" tIns="0" bIns="0" anchor="t">
            <a:spAutoFit/>
          </a:bodyPr>
          <a:lstStyle/>
          <a:p>
            <a:pPr algn="l">
              <a:lnSpc>
                <a:spcPct val="110000"/>
              </a:lnSpc>
              <a:spcAft>
                <a:spcPts val="0"/>
              </a:spcAft>
            </a:pPr>
            <a:r>
              <a:rPr sz="1200" b="1">
                <a:solidFill>
                  <a:srgbClr val="008E96"/>
                </a:solidFill>
                <a:latin typeface="Arial"/>
                <a:ea typeface="Arial"/>
                <a:cs typeface="Arial"/>
              </a:rPr>
              <a:t>FULL DUPLEX</a:t>
            </a:r>
          </a:p>
        </p:txBody>
      </p:sp>
      <p:sp>
        <p:nvSpPr>
          <p:cNvPr id="5" name="TextBox 4"/>
          <p:cNvSpPr txBox="1"/>
          <p:nvPr/>
        </p:nvSpPr>
        <p:spPr>
          <a:xfrm>
            <a:off x="7589520" y="347472"/>
            <a:ext cx="4023360" cy="256032"/>
          </a:xfrm>
          <a:prstGeom prst="rect">
            <a:avLst/>
          </a:prstGeom>
          <a:noFill/>
        </p:spPr>
        <p:txBody>
          <a:bodyPr wrap="square" lIns="0" rIns="0" tIns="0" bIns="0" anchor="t">
            <a:spAutoFit/>
          </a:bodyPr>
          <a:lstStyle/>
          <a:p>
            <a:pPr algn="ctr">
              <a:lnSpc>
                <a:spcPct val="110000"/>
              </a:lnSpc>
              <a:spcAft>
                <a:spcPts val="0"/>
              </a:spcAft>
            </a:pPr>
            <a:r>
              <a:rPr sz="1100" b="0">
                <a:solidFill>
                  <a:srgbClr val="586B7E"/>
                </a:solidFill>
                <a:latin typeface="Arial"/>
                <a:ea typeface="Arial"/>
                <a:cs typeface="Arial"/>
              </a:rPr>
              <a:t>APPENDIX · CODE REFERENCES</a:t>
            </a:r>
          </a:p>
        </p:txBody>
      </p:sp>
      <p:sp>
        <p:nvSpPr>
          <p:cNvPr id="6" name="TextBox 5"/>
          <p:cNvSpPr txBox="1"/>
          <p:nvPr/>
        </p:nvSpPr>
        <p:spPr>
          <a:xfrm>
            <a:off x="548640" y="960120"/>
            <a:ext cx="11064240" cy="576072"/>
          </a:xfrm>
          <a:prstGeom prst="rect">
            <a:avLst/>
          </a:prstGeom>
          <a:noFill/>
        </p:spPr>
        <p:txBody>
          <a:bodyPr wrap="square" lIns="0" rIns="0" tIns="0" bIns="0" anchor="t">
            <a:spAutoFit/>
          </a:bodyPr>
          <a:lstStyle/>
          <a:p>
            <a:pPr algn="l">
              <a:lnSpc>
                <a:spcPct val="110000"/>
              </a:lnSpc>
              <a:spcAft>
                <a:spcPts val="0"/>
              </a:spcAft>
            </a:pPr>
            <a:r>
              <a:rPr sz="3100" b="1">
                <a:solidFill>
                  <a:srgbClr val="142B45"/>
                </a:solidFill>
                <a:latin typeface="Arial"/>
                <a:ea typeface="Arial"/>
                <a:cs typeface="Arial"/>
              </a:rPr>
              <a:t>Code references</a:t>
            </a:r>
          </a:p>
        </p:txBody>
      </p:sp>
      <p:cxnSp>
        <p:nvCxnSpPr>
          <p:cNvPr id="8" name="Connector 7"/>
          <p:cNvCxnSpPr/>
          <p:nvPr/>
        </p:nvCxnSpPr>
        <p:spPr>
          <a:xfrm>
            <a:off x="548640" y="6446520"/>
            <a:ext cx="11091672" cy="0"/>
          </a:xfrm>
          <a:prstGeom prst="line">
            <a:avLst/>
          </a:prstGeom>
          <a:ln w="15240">
            <a:solidFill>
              <a:srgbClr val="DEE6EF"/>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548640" y="6565392"/>
            <a:ext cx="7315200" cy="182880"/>
          </a:xfrm>
          <a:prstGeom prst="rect">
            <a:avLst/>
          </a:prstGeom>
          <a:noFill/>
        </p:spPr>
        <p:txBody>
          <a:bodyPr wrap="square" lIns="0" rIns="0" tIns="0" bIns="0" anchor="t">
            <a:spAutoFit/>
          </a:bodyPr>
          <a:lstStyle/>
          <a:p>
            <a:pPr algn="l">
              <a:lnSpc>
                <a:spcPct val="110000"/>
              </a:lnSpc>
              <a:spcAft>
                <a:spcPts val="0"/>
              </a:spcAft>
            </a:pPr>
            <a:r>
              <a:rPr sz="1000" b="0">
                <a:solidFill>
                  <a:srgbClr val="586B7E"/>
                </a:solidFill>
                <a:latin typeface="Arial"/>
                <a:ea typeface="Arial"/>
                <a:cs typeface="Arial"/>
              </a:rPr>
              <a:t>vLLM-Omni  /  Real-time conversations</a:t>
            </a:r>
          </a:p>
        </p:txBody>
      </p:sp>
      <p:sp>
        <p:nvSpPr>
          <p:cNvPr id="10" name="TextBox 9"/>
          <p:cNvSpPr txBox="1"/>
          <p:nvPr/>
        </p:nvSpPr>
        <p:spPr>
          <a:xfrm>
            <a:off x="9144000" y="6565392"/>
            <a:ext cx="1737360" cy="182880"/>
          </a:xfrm>
          <a:prstGeom prst="rect">
            <a:avLst/>
          </a:prstGeom>
          <a:noFill/>
        </p:spPr>
        <p:txBody>
          <a:bodyPr wrap="square" lIns="0" rIns="0" tIns="0" bIns="0" anchor="t">
            <a:spAutoFit/>
          </a:bodyPr>
          <a:lstStyle/>
          <a:p>
            <a:pPr algn="l">
              <a:lnSpc>
                <a:spcPct val="110000"/>
              </a:lnSpc>
              <a:spcAft>
                <a:spcPts val="0"/>
              </a:spcAft>
            </a:pPr>
            <a:r>
              <a:rPr sz="900" b="0">
                <a:solidFill>
                  <a:srgbClr val="586B7E"/>
                </a:solidFill>
                <a:latin typeface="Arial"/>
                <a:ea typeface="Arial"/>
                <a:cs typeface="Arial"/>
              </a:rPr>
              <a:t>OCTOBER 2026</a:t>
            </a:r>
          </a:p>
        </p:txBody>
      </p:sp>
      <p:sp>
        <p:nvSpPr>
          <p:cNvPr id="11" name="TextBox 10"/>
          <p:cNvSpPr txBox="1"/>
          <p:nvPr/>
        </p:nvSpPr>
        <p:spPr>
          <a:xfrm>
            <a:off x="11018520" y="6528816"/>
            <a:ext cx="603504" cy="228600"/>
          </a:xfrm>
          <a:prstGeom prst="rect">
            <a:avLst/>
          </a:prstGeom>
          <a:noFill/>
        </p:spPr>
        <p:txBody>
          <a:bodyPr wrap="square" lIns="0" rIns="0" tIns="0" bIns="0" anchor="t">
            <a:spAutoFit/>
          </a:bodyPr>
          <a:lstStyle/>
          <a:p>
            <a:pPr algn="ctr">
              <a:lnSpc>
                <a:spcPct val="110000"/>
              </a:lnSpc>
              <a:spcAft>
                <a:spcPts val="0"/>
              </a:spcAft>
            </a:pPr>
            <a:r>
              <a:rPr sz="1200" b="1">
                <a:solidFill>
                  <a:srgbClr val="142B45"/>
                </a:solidFill>
                <a:latin typeface="Arial"/>
                <a:ea typeface="Arial"/>
                <a:cs typeface="Arial"/>
              </a:rPr>
              <a:t>A5</a:t>
            </a:r>
          </a:p>
        </p:txBody>
      </p:sp>
      <p:sp>
        <p:nvSpPr>
          <p:cNvPr id="12" name="Rounded Rectangle 11"/>
          <p:cNvSpPr/>
          <p:nvPr/>
        </p:nvSpPr>
        <p:spPr>
          <a:xfrm>
            <a:off x="548640" y="2221992"/>
            <a:ext cx="11082528" cy="384048"/>
          </a:xfrm>
          <a:prstGeom prst="roundRect">
            <a:avLst>
              <a:gd name="adj" fmla="val 10000"/>
            </a:avLst>
          </a:prstGeom>
          <a:solidFill>
            <a:srgbClr val="142B45"/>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749808" y="2313432"/>
            <a:ext cx="2130552"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LAYER</a:t>
            </a:r>
          </a:p>
        </p:txBody>
      </p:sp>
      <p:sp>
        <p:nvSpPr>
          <p:cNvPr id="14" name="TextBox 13"/>
          <p:cNvSpPr txBox="1"/>
          <p:nvPr/>
        </p:nvSpPr>
        <p:spPr>
          <a:xfrm>
            <a:off x="3044952" y="2313432"/>
            <a:ext cx="4672584"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IMPLEMENTATION ENTRY</a:t>
            </a:r>
          </a:p>
        </p:txBody>
      </p:sp>
      <p:sp>
        <p:nvSpPr>
          <p:cNvPr id="15" name="TextBox 14"/>
          <p:cNvSpPr txBox="1"/>
          <p:nvPr/>
        </p:nvSpPr>
        <p:spPr>
          <a:xfrm>
            <a:off x="8147304" y="2313432"/>
            <a:ext cx="3236976" cy="256032"/>
          </a:xfrm>
          <a:prstGeom prst="rect">
            <a:avLst/>
          </a:prstGeom>
          <a:noFill/>
        </p:spPr>
        <p:txBody>
          <a:bodyPr wrap="square" lIns="0" rIns="0" tIns="0" bIns="0" anchor="t">
            <a:spAutoFit/>
          </a:bodyPr>
          <a:lstStyle/>
          <a:p>
            <a:pPr algn="l">
              <a:lnSpc>
                <a:spcPct val="110000"/>
              </a:lnSpc>
              <a:spcAft>
                <a:spcPts val="0"/>
              </a:spcAft>
            </a:pPr>
            <a:r>
              <a:rPr sz="1200" b="1">
                <a:solidFill>
                  <a:srgbClr val="FFFFFF"/>
                </a:solidFill>
                <a:latin typeface="Arial"/>
                <a:ea typeface="Arial"/>
                <a:cs typeface="Arial"/>
              </a:rPr>
              <a:t>READ FOR</a:t>
            </a:r>
          </a:p>
        </p:txBody>
      </p:sp>
      <p:sp>
        <p:nvSpPr>
          <p:cNvPr id="16" name="Rounded Rectangle 15"/>
          <p:cNvSpPr/>
          <p:nvPr/>
        </p:nvSpPr>
        <p:spPr>
          <a:xfrm>
            <a:off x="548640" y="2660904"/>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2752344"/>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API adapter</a:t>
            </a:r>
          </a:p>
        </p:txBody>
      </p:sp>
      <p:sp>
        <p:nvSpPr>
          <p:cNvPr id="18" name="TextBox 17"/>
          <p:cNvSpPr txBox="1"/>
          <p:nvPr/>
        </p:nvSpPr>
        <p:spPr>
          <a:xfrm>
            <a:off x="3044952" y="2752344"/>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4"/>
              </a:rPr>
              <a:t>OmniDuplexSessionHandler</a:t>
            </a:r>
          </a:p>
        </p:txBody>
      </p:sp>
      <p:sp>
        <p:nvSpPr>
          <p:cNvPr id="19" name="TextBox 18"/>
          <p:cNvSpPr txBox="1"/>
          <p:nvPr/>
        </p:nvSpPr>
        <p:spPr>
          <a:xfrm>
            <a:off x="8147304" y="276148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Wire events, attachment, replay</a:t>
            </a:r>
          </a:p>
        </p:txBody>
      </p:sp>
      <p:sp>
        <p:nvSpPr>
          <p:cNvPr id="20" name="Rounded Rectangle 19"/>
          <p:cNvSpPr/>
          <p:nvPr/>
        </p:nvSpPr>
        <p:spPr>
          <a:xfrm>
            <a:off x="548640" y="3136392"/>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3227832"/>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EngineClient</a:t>
            </a:r>
          </a:p>
        </p:txBody>
      </p:sp>
      <p:sp>
        <p:nvSpPr>
          <p:cNvPr id="22" name="TextBox 21"/>
          <p:cNvSpPr txBox="1"/>
          <p:nvPr/>
        </p:nvSpPr>
        <p:spPr>
          <a:xfrm>
            <a:off x="3044952" y="3227832"/>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5"/>
              </a:rPr>
              <a:t>DuplexOmni / DuplexSessionHandle</a:t>
            </a:r>
          </a:p>
        </p:txBody>
      </p:sp>
      <p:sp>
        <p:nvSpPr>
          <p:cNvPr id="23" name="TextBox 22"/>
          <p:cNvSpPr txBox="1"/>
          <p:nvPr/>
        </p:nvSpPr>
        <p:spPr>
          <a:xfrm>
            <a:off x="8147304" y="3236976"/>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Handles, shared output buffer, events</a:t>
            </a:r>
          </a:p>
        </p:txBody>
      </p:sp>
      <p:sp>
        <p:nvSpPr>
          <p:cNvPr id="24" name="Rounded Rectangle 23"/>
          <p:cNvSpPr/>
          <p:nvPr/>
        </p:nvSpPr>
        <p:spPr>
          <a:xfrm>
            <a:off x="548640" y="3611880"/>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49808" y="3703320"/>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Transport</a:t>
            </a:r>
          </a:p>
        </p:txBody>
      </p:sp>
      <p:sp>
        <p:nvSpPr>
          <p:cNvPr id="26" name="TextBox 25"/>
          <p:cNvSpPr txBox="1"/>
          <p:nvPr/>
        </p:nvSpPr>
        <p:spPr>
          <a:xfrm>
            <a:off x="3044952" y="3703320"/>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6"/>
              </a:rPr>
              <a:t>DuplexOmniEngine</a:t>
            </a:r>
            <a:r>
              <a:rPr sz="1450" b="0">
                <a:solidFill>
                  <a:srgbClr val="327CEC"/>
                </a:solidFill>
                <a:latin typeface="Arial"/>
                <a:ea typeface="Arial"/>
                <a:cs typeface="Arial"/>
              </a:rPr>
              <a:t> / </a:t>
            </a:r>
            <a:r>
              <a:rPr sz="1450" b="0">
                <a:solidFill>
                  <a:srgbClr val="327CEC"/>
                </a:solidFill>
                <a:latin typeface="Arial"/>
                <a:ea typeface="Arial"/>
                <a:cs typeface="Arial"/>
                <a:hlinkClick r:id="rId11"/>
              </a:rPr>
              <a:t>DuplexOutputBuffer</a:t>
            </a:r>
          </a:p>
        </p:txBody>
      </p:sp>
      <p:sp>
        <p:nvSpPr>
          <p:cNvPr id="27" name="TextBox 26"/>
          <p:cNvSpPr txBox="1"/>
          <p:nvPr/>
        </p:nvSpPr>
        <p:spPr>
          <a:xfrm>
            <a:off x="8147304" y="3712464"/>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Control queues; bounded session output</a:t>
            </a:r>
          </a:p>
        </p:txBody>
      </p:sp>
      <p:sp>
        <p:nvSpPr>
          <p:cNvPr id="28" name="Rounded Rectangle 27"/>
          <p:cNvSpPr/>
          <p:nvPr/>
        </p:nvSpPr>
        <p:spPr>
          <a:xfrm>
            <a:off x="548640" y="4087368"/>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749808" y="4178808"/>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Session runtime</a:t>
            </a:r>
          </a:p>
        </p:txBody>
      </p:sp>
      <p:sp>
        <p:nvSpPr>
          <p:cNvPr id="30" name="TextBox 29"/>
          <p:cNvSpPr txBox="1"/>
          <p:nvPr/>
        </p:nvSpPr>
        <p:spPr>
          <a:xfrm>
            <a:off x="3044952" y="4178808"/>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7"/>
              </a:rPr>
              <a:t>DuplexSessionManager / DuplexSessionRunner</a:t>
            </a:r>
          </a:p>
        </p:txBody>
      </p:sp>
      <p:sp>
        <p:nvSpPr>
          <p:cNvPr id="31" name="TextBox 30"/>
          <p:cNvSpPr txBox="1"/>
          <p:nvPr/>
        </p:nvSpPr>
        <p:spPr>
          <a:xfrm>
            <a:off x="8147304" y="4187952"/>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Leases, state, mailbox, model policy</a:t>
            </a:r>
          </a:p>
        </p:txBody>
      </p:sp>
      <p:sp>
        <p:nvSpPr>
          <p:cNvPr id="32" name="Rounded Rectangle 31"/>
          <p:cNvSpPr/>
          <p:nvPr/>
        </p:nvSpPr>
        <p:spPr>
          <a:xfrm>
            <a:off x="548640" y="4562856"/>
            <a:ext cx="11082528" cy="429768"/>
          </a:xfrm>
          <a:prstGeom prst="roundRect">
            <a:avLst>
              <a:gd name="adj" fmla="val 10000"/>
            </a:avLst>
          </a:prstGeom>
          <a:solidFill>
            <a:srgbClr val="F3F6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49808" y="4654296"/>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Stage orchestration</a:t>
            </a:r>
          </a:p>
        </p:txBody>
      </p:sp>
      <p:sp>
        <p:nvSpPr>
          <p:cNvPr id="34" name="TextBox 33"/>
          <p:cNvSpPr txBox="1"/>
          <p:nvPr/>
        </p:nvSpPr>
        <p:spPr>
          <a:xfrm>
            <a:off x="3044952" y="4654296"/>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8"/>
              </a:rPr>
              <a:t>DuplexOrchestrator / StagePool</a:t>
            </a:r>
          </a:p>
        </p:txBody>
      </p:sp>
      <p:sp>
        <p:nvSpPr>
          <p:cNvPr id="35" name="TextBox 34"/>
          <p:cNvSpPr txBox="1"/>
          <p:nvPr/>
        </p:nvSpPr>
        <p:spPr>
          <a:xfrm>
            <a:off x="8147304" y="4663440"/>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Initial / update, replica affinity</a:t>
            </a:r>
          </a:p>
        </p:txBody>
      </p:sp>
      <p:sp>
        <p:nvSpPr>
          <p:cNvPr id="36" name="Rounded Rectangle 35"/>
          <p:cNvSpPr/>
          <p:nvPr/>
        </p:nvSpPr>
        <p:spPr>
          <a:xfrm>
            <a:off x="548640" y="5038344"/>
            <a:ext cx="11082528" cy="429768"/>
          </a:xfrm>
          <a:prstGeom prst="roundRect">
            <a:avLst>
              <a:gd name="adj" fmla="val 10000"/>
            </a:avLst>
          </a:prstGeom>
          <a:solidFill>
            <a:srgbClr val="FFFF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749808" y="5129783"/>
            <a:ext cx="2103120" cy="265176"/>
          </a:xfrm>
          <a:prstGeom prst="rect">
            <a:avLst/>
          </a:prstGeom>
          <a:noFill/>
        </p:spPr>
        <p:txBody>
          <a:bodyPr wrap="square" lIns="0" rIns="0" tIns="0" bIns="0" anchor="t">
            <a:spAutoFit/>
          </a:bodyPr>
          <a:lstStyle/>
          <a:p>
            <a:pPr algn="l">
              <a:lnSpc>
                <a:spcPct val="110000"/>
              </a:lnSpc>
              <a:spcAft>
                <a:spcPts val="0"/>
              </a:spcAft>
            </a:pPr>
            <a:r>
              <a:rPr sz="1500" b="1">
                <a:solidFill>
                  <a:srgbClr val="142B45"/>
                </a:solidFill>
                <a:latin typeface="Arial"/>
                <a:ea typeface="Arial"/>
                <a:cs typeface="Arial"/>
              </a:rPr>
              <a:t>Model execution</a:t>
            </a:r>
          </a:p>
        </p:txBody>
      </p:sp>
      <p:sp>
        <p:nvSpPr>
          <p:cNvPr id="38" name="TextBox 37"/>
          <p:cNvSpPr txBox="1"/>
          <p:nvPr/>
        </p:nvSpPr>
        <p:spPr>
          <a:xfrm>
            <a:off x="3044952" y="5129783"/>
            <a:ext cx="4846320" cy="265176"/>
          </a:xfrm>
          <a:prstGeom prst="rect">
            <a:avLst/>
          </a:prstGeom>
          <a:noFill/>
        </p:spPr>
        <p:txBody>
          <a:bodyPr wrap="square" lIns="0" rIns="0" tIns="0" bIns="0" anchor="t">
            <a:spAutoFit/>
          </a:bodyPr>
          <a:lstStyle/>
          <a:p>
            <a:pPr algn="l">
              <a:lnSpc>
                <a:spcPct val="110000"/>
              </a:lnSpc>
              <a:spcAft>
                <a:spcPts val="0"/>
              </a:spcAft>
            </a:pPr>
            <a:r>
              <a:rPr sz="1450" b="0">
                <a:solidFill>
                  <a:srgbClr val="327CEC"/>
                </a:solidFill>
                <a:latin typeface="Arial"/>
                <a:ea typeface="Arial"/>
                <a:cs typeface="Arial"/>
                <a:hlinkClick r:id="rId9"/>
              </a:rPr>
              <a:t>Scheduler / Model Worker</a:t>
            </a:r>
          </a:p>
        </p:txBody>
      </p:sp>
      <p:sp>
        <p:nvSpPr>
          <p:cNvPr id="39" name="TextBox 38"/>
          <p:cNvSpPr txBox="1"/>
          <p:nvPr/>
        </p:nvSpPr>
        <p:spPr>
          <a:xfrm>
            <a:off x="8147304" y="5138928"/>
            <a:ext cx="3236976" cy="265176"/>
          </a:xfrm>
          <a:prstGeom prst="rect">
            <a:avLst/>
          </a:prstGeom>
          <a:noFill/>
        </p:spPr>
        <p:txBody>
          <a:bodyPr wrap="square" lIns="0" rIns="0" tIns="0" bIns="0" anchor="t">
            <a:spAutoFit/>
          </a:bodyPr>
          <a:lstStyle/>
          <a:p>
            <a:pPr algn="l">
              <a:lnSpc>
                <a:spcPct val="110000"/>
              </a:lnSpc>
              <a:spcAft>
                <a:spcPts val="0"/>
              </a:spcAft>
            </a:pPr>
            <a:r>
              <a:rPr sz="1230" b="0">
                <a:solidFill>
                  <a:srgbClr val="586B7E"/>
                </a:solidFill>
                <a:latin typeface="Arial"/>
                <a:ea typeface="Arial"/>
                <a:cs typeface="Arial"/>
              </a:rPr>
              <a:t>Batching, compute, model caches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(16:9)</PresentationFormat>
  <Paragraphs>0</Paragraphs>
  <Slides>18</Slides>
  <Notes>18</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Next Inflection Point in AI Interaction</dc:title>
  <dc:subject>How vLLM-Omni Enables Models to Listen and Speak Simultaneously</dc:subject>
  <dc:creator/>
  <cp:keywords/>
  <dc:description>generated using python-pptx</dc:description>
  <cp:lastModifiedBy>Steve Canny</cp:lastModifiedBy>
  <cp:revision>1</cp:revision>
  <dcterms:created xsi:type="dcterms:W3CDTF">2013-01-27T09:14:16Z</dcterms:created>
  <dcterms:modified xsi:type="dcterms:W3CDTF">2026-10-09T09:02:13Z</dcterms:modified>
  <cp:category/>
</cp:coreProperties>
</file>