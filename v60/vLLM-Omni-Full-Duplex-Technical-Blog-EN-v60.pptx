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Arial"/>
                  </a:defRPr>
                </a:pPr>
                <a:endParaRPr lang="en-US"/>
              </a:p>
            </c:txPr>
            <c:dLblPos val="t"/>
            <c:showLegendKey val="0"/>
            <c:showVal val="1"/>
            <c:showCatName val="0"/>
            <c:showSerName val="0"/>
            <c:showPercent val="0"/>
            <c:showBubbleSize val="0"/>
          </c:dLbls>
          <c:cat>
            <c:strRef>
              <c:f>Data!$A$2:$A$5</c:f>
              <c:strCache>
                <c:ptCount val="4"/>
                <c:pt idx="0">
                  <c:v>Oct 5</c:v>
                </c:pt>
                <c:pt idx="1">
                  <c:v>Oct 6</c:v>
                </c:pt>
                <c:pt idx="2">
                  <c:v>Oct 7</c:v>
                </c:pt>
                <c:pt idx="3">
                  <c:v>Oct 8</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Arial"/>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Arial"/>
                  </a:defRPr>
                </a:pPr>
                <a:r>
                  <a:rPr lang="en-US" sz="110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100" baseline="0">
                <a:solidFill>
                  <a:srgbClr val="526985"/>
                </a:solidFill>
                <a:latin typeface="Arial"/>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AI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t/>
            </a:r>
          </a:p>
          <a:p>
            <a: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t/>
            </a:r>
          </a:p>
          <a:p>
            <a:r>
              <a:t>Sources:</a:t>
            </a:r>
          </a:p>
          <a:p>
            <a:r>
              <a:t>- capabilities.py: https://github.com/vllm-project/vllm-omni/blob/712b90de9c7bc14c595b363401588a713a87c02d/vllm_omni/model_executor/models/minicpmo_4_5/duplex/capabilities.py</a:t>
            </a:r>
          </a:p>
          <a:p>
            <a:r>
              <a:t>- runner.py: https://github.com/vllm-project/vllm-omni/blob/712b90de9c7bc14c595b363401588a713a87c02d/vllm_omni/engine/duplex/session/runner.py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examples describe the MiniCPM, Qwen3-Omni and AURA Web demo profiles. Model-controlled yielding, local playback stop and server cancellation have different effects.</a:t>
            </a:r>
          </a:p>
          <a:p>
            <a:r>
              <a:t/>
            </a:r>
          </a:p>
          <a:p>
            <a:r>
              <a:t>MiniCPM accepts continuous audio/video input and uses model-native LISTEN / SPEAK without requiring Server VAD by default. LISTEN is separate from explicit cancellation.</a:t>
            </a:r>
          </a:p>
          <a:p>
            <a:r>
              <a:t/>
            </a:r>
          </a:p>
          <a:p>
            <a:r>
              <a:t>Qwen3-Omni's Server VAD profile keeps microphone input active, stops queued playback on speech_started and enables server interruption through interrupt_response. The separate manual Realtime profile uses duplex=0, pauses upload while answering and submits input_audio_buffer.commit followed by response.create; it is not the VAD profile illustrated in the table.</a:t>
            </a:r>
          </a:p>
          <a:p>
            <a:r>
              <a:t/>
            </a:r>
          </a:p>
          <a:p>
            <a:r>
              <a:t>AURA's hold-to-talk action stops local playback while server generation may continue. Releasing the button commits new input. The named demo profiles do not send response.cancel; applications can integrate that command through the shared protocol. Cancellation of generation and cleanup of audio already delivered to the client are separate responsibilities.</a:t>
            </a:r>
          </a:p>
          <a:p>
            <a:r>
              <a:t/>
            </a:r>
          </a:p>
          <a:p>
            <a:r>
              <a:t>Sources:</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t/>
            </a:r>
          </a:p>
          <a:p>
            <a: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t/>
            </a:r>
          </a:p>
          <a:p>
            <a: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t/>
            </a:r>
          </a:p>
          <a:p>
            <a:r>
              <a:t>Sources:</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t/>
            </a:r>
          </a:p>
          <a:p>
            <a: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t/>
            </a:r>
          </a:p>
          <a:p>
            <a: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manager.py: https://github.com/vllm-project/vllm-omni/blob/712b90de9c7bc14c595b363401588a713a87c02d/vllm_omni/engine/duplex/session/manager.py</a:t>
            </a:r>
          </a:p>
          <a:p>
            <a:r>
              <a:t>- delivery.py: https://github.com/vllm-project/vllm-omni/blob/712b90de9c7bc14c595b363401588a713a87c02d/vllm_omni/engine/duplex/delivery.py</a:t>
            </a:r>
          </a:p>
          <a:p>
            <a:r>
              <a:t>- stage_config.py: https://github.com/vllm-project/vllm-omni/blob/712b90de9c7bc14c595b363401588a713a87c02d/vllm_omni/config/stage_config.py</a:t>
            </a:r>
          </a:p>
          <a:p>
            <a:r>
              <a:t/>
            </a:r>
          </a:p>
          <a:p>
            <a:r>
              <a:t>Interaction control in the workflow: engine cancellation advances the response epoch, invalidates queued and held audio, and aborts the affected Stage requests. The API rechecks audio validity when committing delivery. Audio already delivered to the client still requires local playback cleanup. A model LISTEN transition is separate from this forced-cancellation path.</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parallel model paths are shown: PersonaPlex Talker → Mimi Code2Wav; MiniCPM-o 4.5 Multimodal LLM → Talker → Code2Wav; AURA ASR → Thinker → Talker → Code2Wav. The boxes identify compute stages; the retained state and speech timing remain model-specific.</a:t>
            </a:r>
          </a:p>
          <a:p>
            <a:r>
              <a:t/>
            </a:r>
          </a:p>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t/>
            </a:r>
          </a:p>
          <a:p>
            <a: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t/>
            </a:r>
          </a:p>
          <a:p>
            <a:r>
              <a:t>A Stage is a compute step. A replica is an execution instance of that Stage, not a duplicate conversation history. The Session Manager and StagePool preserve request affinity needed by resident model state.</a:t>
            </a:r>
          </a:p>
          <a:p>
            <a:r>
              <a:t/>
            </a:r>
          </a:p>
          <a:p>
            <a:r>
              <a:t>Sources:</a:t>
            </a:r>
          </a:p>
          <a:p>
            <a:r>
              <a:t>- stage0.py: https://github.com/vllm-project/vllm-omni/blob/712b90de9c7bc14c595b363401588a713a87c02d/vllm_omni/model_executor/models/minicpmo_4_5/duplex/stage0.py</a:t>
            </a:r>
          </a:p>
          <a:p>
            <a:r>
              <a:t>- window_kv.py: https://github.com/vllm-project/vllm-omni/blob/712b90de9c7bc14c595b363401588a713a87c02d/vllm_omni/model_executor/models/minicpmo_4_5/duplex/window_kv.py</a:t>
            </a:r>
          </a:p>
          <a:p>
            <a:r>
              <a:t>- window_plan.py: https://github.com/vllm-project/vllm-omni/blob/712b90de9c7bc14c595b363401588a713a87c02d/vllm_omni/model_executor/models/minicpmo_4_5/duplex/window_plan.py</a:t>
            </a:r>
          </a:p>
          <a:p>
            <a:r>
              <a:t>- plugin.py: https://github.com/vllm-project/vllm-omni/blob/712b90de9c7bc14c595b363401588a713a87c02d/vllm_omni/model_executor/models/aura_omni/duplex/plugin.py</a:t>
            </a:r>
          </a:p>
          <a:p>
            <a:r>
              <a:t>- plugin.py: https://github.com/vllm-project/vllm-omni/blob/712b90de9c7bc14c595b363401588a713a87c02d/vllm_omni/model_executor/models/qwen3_omni/duplex/plugin.py</a:t>
            </a:r>
          </a:p>
          <a:p>
            <a:r>
              <a:t/>
            </a:r>
          </a:p>
          <a:p>
            <a:r>
              <a:t>Playback and history boundaries: playback ACKs update MiniCPM playback records without rolling back model KV. For Qwen3-Omni, complete audio and full playback ACK are required to confirm unaligned output text was fully played. AURA commits text history on Thinker completion; playback ACK does not truncate that history.</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t/>
            </a:r>
          </a:p>
          <a:p>
            <a:r>
              <a:t>PersonaPlex currently advertises supports_session_resume=false; disconnect closes that session. Reconnect therefore opens a new one. Generic turn-based Realtime connection history is also a different path and does not use the engine-owned resume protocol.</a:t>
            </a:r>
          </a:p>
          <a:p>
            <a:r>
              <a:t/>
            </a:r>
          </a:p>
          <a:p>
            <a: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capabilities.py: https://github.com/vllm-project/vllm-omni/blob/712b90de9c7bc14c595b363401588a713a87c02d/vllm_omni/model_executor/models/personaplex/duplex/capabilities.py</a:t>
            </a:r>
          </a:p>
          <a:p>
            <a:r>
              <a:t>- capabilities.py: https://github.com/vllm-project/vllm-omni/blob/712b90de9c7bc14c595b363401588a713a87c02d/vllm_omni/model_executor/models/nemotron_voicechat/duplex/capabilities.py</a:t>
            </a:r>
          </a:p>
          <a:p>
            <a:r>
              <a:t>- duplex.py: https://github.com/vllm-project/vllm-omni/blob/712b90de9c7bc14c595b363401588a713a87c02d/vllm_omni/clients/duplex.py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examples summarize representative optimizations in current mainline in terms of reduced setup, fewer small operations, and processing several live sessions together. They are model-specific capabilities, not a claim that every model enables every path.</a:t>
            </a:r>
          </a:p>
          <a:p>
            <a:r>
              <a:t/>
            </a:r>
          </a:p>
          <a:p>
            <a:r>
              <a:t>1. MiniCPM-o 4.5 captures eligible streaming audio encoder units and vision encoder work for CUDA graph replay. Qwen3-Omni's graph path here is image-only; its video and audio paths retain their existing embedding execution. Captures depend on the supported shapes, attention configuration and deployment profile, with eager fallbacks. CUDA graphs primarily reduce repeated host scheduling and launch overhead; they do not eliminate the model's arithmetic.</a:t>
            </a:r>
          </a:p>
          <a:p>
            <a:r>
              <a:t/>
            </a:r>
          </a:p>
          <a:p>
            <a:r>
              <a:t>2. MiniCPM-o 4.5's shared Code2Wav backend defaults to its fused CFM/DiT body on supported CUDA execution when TF32 is enabled. Smaller operations are fused to reduce launch and intermediate-memory overhead. Unsupported layouts and attention-cache types fall back, and TF32 opt-out changes the default choice. Resident slot pooling remains opt-in. Fusion may change floating-point rounding and does not guarantee identical waveforms. The recent shared output path also moves eligible GPU-to-CPU waits to output consumption, but that separate implementation detail is omitted from the visible slide.</a:t>
            </a:r>
          </a:p>
          <a:p>
            <a:r>
              <a:t/>
            </a:r>
          </a:p>
          <a:p>
            <a:r>
              <a:t>3. PersonaPlex groups eligible live one-frame appends across sessions into a batched preparation path. Initial/persona-prefill appends and ineligible inputs use their existing path. Its asynchronous Code2Wav input contains only new codec frames; the synchronous full-payload path consumes each request once. This avoids repeatedly decoding an old prefix and should not be read as a measured throughput gain for all session mixes.</a:t>
            </a:r>
          </a:p>
          <a:p>
            <a:r>
              <a:t/>
            </a:r>
          </a:p>
          <a:p>
            <a:r>
              <a:t>Benchmark trend: the four latest consecutive H100 daily runs in the supplied performance dataset, October 5–8, 2026, use MiniCPM-o 4.5, Seed-TTS, openai-chat-omni, configured max_concurrency=8, num_prompts=128, and the same exported config_key. Their mean_audio_rtf values are 0.9844461966498954, 0.7430039011861929, 0.559707561533549, and 0.4902875810555307. All 128 requests completed in each run. The table rounds these to two decimals. The displayed improvement is an aggregate daily trend, not an isolated A/B attribution to any optimization above. The export does not establish identical deployment flags or exact runtime commits across runs, and only labels the hardware as H100; no GPU count is inferred.</a:t>
            </a:r>
          </a:p>
          <a:p>
            <a:r>
              <a:t/>
            </a:r>
          </a:p>
          <a:p>
            <a:r>
              <a:t>This is Chat Completions speech generation, not eight simultaneous native-duplex audio/video conversations. For the chat benchmark, audio generation time is elapsed time from request start to the final audio response chunk, and audio duration is decoded from the returned audio. Audio RTF is the per-request ratio, averaged across requests. The values do not establish first-play latency, interruption quality or uninterrupted playback under every load. No new GPU benchmark was run for this revision. Source URLs are intentionally kept in notes.</a:t>
            </a:r>
          </a:p>
          <a:p>
            <a:r>
              <a:t/>
            </a:r>
          </a:p>
          <a:p>
            <a:r>
              <a:t>Sources:</a:t>
            </a:r>
          </a:p>
          <a:p>
            <a:r>
              <a:t>- https://github.com/vllm-project/vllm-omni/blob/06afa310c942c0506f0ed9bdd189fa331c46bb97/vllm_omni/model_executor/models/minicpmo_4_5/streaming_audio_encoder_graph.py</a:t>
            </a:r>
          </a:p>
          <a:p>
            <a:r>
              <a:t>- https://github.com/vllm-project/vllm-omni/blob/06afa310c942c0506f0ed9bdd189fa331c46bb97/vllm_omni/model_executor/models/minicpmo_4_5/encoder_cuda_graph.py</a:t>
            </a:r>
          </a:p>
          <a:p>
            <a:r>
              <a:t>- https://github.com/vllm-project/vllm-omni/blob/06afa310c942c0506f0ed9bdd189fa331c46bb97/vllm_omni/model_executor/models/minicpmo_4_5/minicpmo_4_5_code2wav.py</a:t>
            </a:r>
          </a:p>
          <a:p>
            <a:r>
              <a:t>- https://github.com/vllm-project/vllm-omni/blob/06afa310c942c0506f0ed9bdd189fa331c46bb97/vllm_omni/model_executor/models/minicpmo_4_5/dit_fused.py</a:t>
            </a:r>
          </a:p>
          <a:p>
            <a:r>
              <a:t>- https://github.com/vllm-project/vllm-omni/blob/06afa310c942c0506f0ed9bdd189fa331c46bb97/vllm_omni/model_executor/models/qwen3_omni/vision_encoder_cudagraph.py</a:t>
            </a:r>
          </a:p>
          <a:p>
            <a:r>
              <a:t>- https://github.com/vllm-project/vllm-omni/blob/06afa310c942c0506f0ed9bdd189fa331c46bb97/vllm_omni/model_executor/models/personaplex/duplex/stage0.py</a:t>
            </a:r>
          </a:p>
          <a:p>
            <a:r>
              <a:t>- https://github.com/vllm-project/vllm-omni/blob/06afa310c942c0506f0ed9bdd189fa331c46bb97/vllm_omni/model_executor/models/personaplex/personaplex_code2wav.py</a:t>
            </a:r>
          </a:p>
          <a:p>
            <a:r>
              <a:t>- https://github.com/vllm-project/vllm-omni/blob/06afa310c942c0506f0ed9bdd189fa331c46bb97/vllm_omni/worker/gpu_generation_model_runner.py</a:t>
            </a:r>
          </a:p>
          <a:p>
            <a:r>
              <a:t>- https://github.com/vllm-project/vllm-omni/blob/06afa310c942c0506f0ed9bdd189fa331c46bb97/vllm_omni/benchmarks/patch/patch.py</a:t>
            </a:r>
          </a:p>
          <a:p>
            <a:r>
              <a:t>- https://github.com/vllm-project/vllm-omni/blob/06afa310c942c0506f0ed9bdd189fa331c46bb97/docs/design/minicpm_o45_mrv2_performance.md</a:t>
            </a:r>
          </a:p>
          <a:p>
            <a:r>
              <a:t>- https://github.com/vllm-project/vllm-omni/pull/8430</a:t>
            </a:r>
          </a:p>
          <a:p>
            <a:r>
              <a:t>- https://github.com/vllm-project/vllm-omni/pull/8215</a:t>
            </a:r>
          </a:p>
          <a:p>
            <a:r>
              <a:t>- https://github.com/vllm-project/vllm-omni/pull/8557</a:t>
            </a:r>
          </a:p>
          <a:p>
            <a:r>
              <a:t>- https://github.com/vllm-project/vllm-omni/pull/8356</a:t>
            </a:r>
          </a:p>
          <a:p>
            <a:r>
              <a:t>- https://github.com/vllm-project/vllm-omni/pull/7480</a:t>
            </a:r>
          </a:p>
          <a:p>
            <a:r>
              <a:t>- https://github.com/vllm-project/vllm-omni/pull/8540</a:t>
            </a:r>
          </a:p>
          <a:p>
            <a:r>
              <a:t>- https://hsliuustc0106.github.io/vllm-omni-kanban/pages/assets/charts/minicpmo_4_5_history.json</a:t>
            </a:r>
          </a:p>
          <a:p>
            <a:r>
              <a:t/>
            </a:r>
          </a:p>
          <a:p>
            <a:r>
              <a:t/>
            </a:r>
          </a:p>
          <a:p>
            <a:r>
              <a:t>The four visible categories are optimization methods, with model examples listed beneath each method. CUDA Graphs reduce host launch overhead, kernel fusion reduces launches and intermediate traffic, session batching processes eligible live frames together, and incremental decoding skips already decoded audio. These categories apply to distinct paths and should not be read as four universally enabled features for every model.</a:t>
            </a:r>
          </a:p>
          <a:p>
            <a:r>
              <a:t/>
            </a:r>
          </a:p>
          <a:p>
            <a:r>
              <a:t>PersonaPlex also has optional Mimi encode/decode CUDA graph capture: see duplex/stage0.py and personaplex_code2wav.py in the pinned mainline above. Supported capture shapes and codec graph configuration apply. Its batching example refers to eligible live frame encoding/embedding, rather than arbitrary complete conversations. Its incremental decoding example refers to async new-frame Code2Wav input.</a:t>
            </a:r>
          </a:p>
          <a:p>
            <a:r>
              <a:t/>
            </a:r>
          </a:p>
          <a:p>
            <a:r>
              <a:t>The MiniCPM-o chart is the same four measured daily records as v57, now shown as an editable line chart with the original unrounded values embedded. It illustrates a benchmark trend; it does not attribute the observed decrease to these four methods collectively or to any single PR. PersonaPlex-only changes are not an explanation of MiniCPM-o benchmark improvements.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t/>
            </a:r>
          </a:p>
          <a:p>
            <a: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t/>
            </a:r>
          </a:p>
          <a:p>
            <a:r>
              <a:t>Sources:</a:t>
            </a:r>
          </a:p>
          <a:p>
            <a:r>
              <a:t>- omniinteract.py: https://github.com/vllm-project/vllm-omni/blob/712b90de9c7bc14c595b363401588a713a87c02d/vllm_omni/benchmarks/omniinteract.py</a:t>
            </a:r>
          </a:p>
          <a:p>
            <a:r>
              <a:t>- omniinteract_eval.py: https://github.com/vllm-project/vllm-omni/blob/712b90de9c7bc14c595b363401588a713a87c02d/vllm_omni/benchmarks/omniinteract_eval.py</a:t>
            </a:r>
          </a:p>
          <a:p>
            <a:r>
              <a:t>- omni_duplex_eval_runner.py: https://github.com/vllm-project/vllm-omni/blob/712b90de9c7bc14c595b363401588a713a87c02d/vllm_omni/benchmarks/duplex/omni_duplex_eval_runner.py</a:t>
            </a:r>
          </a:p>
          <a:p>
            <a:r>
              <a:t>- omni_duplex_eval_metrics.py: https://github.com/vllm-project/vllm-omni/blob/712b90de9c7bc14c595b363401588a713a87c02d/vllm_omni/benchmarks/duplex/omni_duplex_eval_metrics.py</a:t>
            </a:r>
          </a:p>
          <a:p>
            <a: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calling already exists in selected vLLM-Omni Realtime serving paths. This slide separates those integrations from the work to provide consistent tool behavior and broader model coverage in the unified duplex framework.</a:t>
            </a:r>
          </a:p>
          <a:p>
            <a:r>
              <a:t/>
            </a:r>
          </a:p>
          <a:p>
            <a:r>
              <a:t>CURRENT SUPPORT</a:t>
            </a:r>
          </a:p>
          <a:p>
            <a: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t/>
            </a:r>
          </a:p>
          <a:p>
            <a: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t/>
            </a:r>
          </a:p>
          <a:p>
            <a:r>
              <a:t>UNIFIED DUPLEX ROADMAP</a:t>
            </a:r>
          </a:p>
          <a:p>
            <a: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t/>
            </a:r>
          </a:p>
          <a:p>
            <a: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t/>
            </a:r>
          </a:p>
          <a:p>
            <a: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t/>
            </a:r>
          </a:p>
          <a:p>
            <a: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t/>
            </a:r>
          </a:p>
          <a:p>
            <a:r>
              <a:t>Implementation references (snapshot d5a3380103df2fc827f095c60dbfb6e1c5655fd3):</a:t>
            </a:r>
          </a:p>
          <a:p>
            <a:r>
              <a:t>- https://github.com/vllm-project/vllm-omni/blob/d5a3380103df2fc827f095c60dbfb6e1c5655fd3/vllm_omni/entrypoints/openai/realtime/connection.py#L386-L425</a:t>
            </a:r>
          </a:p>
          <a:p>
            <a:r>
              <a:t>- https://github.com/vllm-project/vllm-omni/blob/d5a3380103df2fc827f095c60dbfb6e1c5655fd3/vllm_omni/entrypoints/openai/realtime/connection.py#L870-L940</a:t>
            </a:r>
          </a:p>
          <a:p>
            <a:r>
              <a:t>- https://github.com/vllm-project/vllm-omni/blob/d5a3380103df2fc827f095c60dbfb6e1c5655fd3/vllm_omni/entrypoints/openai/realtime/connection.py#L1655-L1678</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https://github.com/vllm-project/vllm-omni/blob/d5a3380103df2fc827f095c60dbfb6e1c5655fd3/vllm_omni/model_executor/models/nemotron_voicechat/duplex/plugin.py#L108-L147</a:t>
            </a:r>
          </a:p>
          <a:p>
            <a:r>
              <a:t>- https://github.com/vllm-project/vllm-omni/blob/d5a3380103df2fc827f095c60dbfb6e1c5655fd3/vllm_omni/model_executor/models/nemotron_voicechat/duplex/plugin.py#L430-L501</a:t>
            </a:r>
          </a:p>
          <a:p>
            <a:r>
              <a:t>- https://github.com/vllm-project/vllm-omni/blob/d5a3380103df2fc827f095c60dbfb6e1c5655fd3/vllm_omni/engine/duplex/realtime_events.py#L1080-L1126</a:t>
            </a:r>
          </a:p>
          <a:p>
            <a:r>
              <a:t>- https://github.com/vllm-project/vllm-omni/blob/d5a3380103df2fc827f095c60dbfb6e1c5655fd3/vllm_omni/engine/duplex/realtime_events.py#L1430-L1487</a:t>
            </a:r>
          </a:p>
          <a:p>
            <a:r>
              <a:t>- https://github.com/vllm-project/vllm-omni/blob/d5a3380103df2fc827f095c60dbfb6e1c5655fd3/vllm_omni/engine/duplex/plugin.py#L513-L523</a:t>
            </a:r>
          </a:p>
          <a:p>
            <a:r>
              <a:t>- https://github.com/vllm-project/vllm-omni/blob/d5a3380103df2fc827f095c60dbfb6e1c5655fd3/vllm_omni/engine/duplex/session/control.py#L290-L327</a:t>
            </a:r>
          </a:p>
          <a:p>
            <a: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t/>
            </a:r>
          </a:p>
          <a:p>
            <a:r>
              <a:t>NEAR TERM</a:t>
            </a:r>
          </a:p>
          <a:p>
            <a: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t/>
            </a:r>
          </a:p>
          <a:p>
            <a: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t/>
            </a:r>
          </a:p>
          <a:p>
            <a: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t/>
            </a:r>
          </a:p>
          <a:p>
            <a: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t/>
            </a:r>
          </a:p>
          <a:p>
            <a:r>
              <a:t>LONGER TERM</a:t>
            </a:r>
          </a:p>
          <a:p>
            <a: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t/>
            </a:r>
          </a:p>
          <a:p>
            <a: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t/>
            </a:r>
          </a:p>
          <a:p>
            <a:r>
              <a:t>Implementation references (latest fetched mainline d5a3380103df2fc827f095c60dbfb6e1c5655fd3):</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https://github.com/vllm-project/vllm-omni/blob/d5a3380103df2fc827f095c60dbfb6e1c5655fd3/vllm_omni/model_executor/models/nemotron_voicechat/duplex/plugin.py#L444-L501</a:t>
            </a:r>
          </a:p>
          <a:p>
            <a:r>
              <a:t>- https://github.com/vllm-project/vllm-omni/blob/d5a3380103df2fc827f095c60dbfb6e1c5655fd3/vllm_omni/entrypoints/openai/realtime/connection.py#L386-L425</a:t>
            </a:r>
          </a:p>
          <a:p>
            <a:r>
              <a:t>- https://github.com/vllm-project/vllm-omni/blob/d5a3380103df2fc827f095c60dbfb6e1c5655fd3/vllm_omni/engine/duplex/realtime_events.py#L1430-L1487</a:t>
            </a:r>
          </a:p>
          <a:p>
            <a:r>
              <a:t>- https://github.com/vllm-project/vllm-omni/blob/d5a3380103df2fc827f095c60dbfb6e1c5655fd3/vllm_omni/engine/duplex/turn_detection.py#L82-L99</a:t>
            </a:r>
          </a:p>
          <a:p>
            <a:r>
              <a:t>- https://github.com/vllm-project/vllm-omni/blob/d5a3380103df2fc827f095c60dbfb6e1c5655fd3/vllm_omni/engine/duplex/vad.py#L100-L108</a:t>
            </a:r>
          </a:p>
          <a:p>
            <a:r>
              <a:t>- https://github.com/vllm-project/vllm-omni/blob/d5a3380103df2fc827f095c60dbfb6e1c5655fd3/tests/engine/duplex/test_engine_session.py#L598-L608</a:t>
            </a:r>
          </a:p>
          <a:p>
            <a:r>
              <a:t>- https://github.com/vllm-project/vllm-omni/blob/d5a3380103df2fc827f095c60dbfb6e1c5655fd3/vllm_omni/benchmarks/omniinteract.py</a:t>
            </a:r>
          </a:p>
          <a:p>
            <a:r>
              <a:t>- https://github.com/vllm-project/vllm-omni/blob/d5a3380103df2fc827f095c60dbfb6e1c5655fd3/vllm_omni/benchmarks/omniinteract_eval.py</a:t>
            </a:r>
          </a:p>
          <a:p>
            <a:r>
              <a:t>- https://github.com/vllm-project/vllm-omni/blob/d5a3380103df2fc827f095c60dbfb6e1c5655fd3/vllm_omni/benchmarks/duplex/omni_duplex_eval_runner.py</a:t>
            </a:r>
          </a:p>
          <a:p>
            <a:r>
              <a:t>- https://github.com/vllm-project/vllm-omni/blob/d5a3380103df2fc827f095c60dbfb6e1c5655fd3/tests/e2e/accuracy/omni_duplex_eval/README.md</a:t>
            </a:r>
          </a:p>
          <a:p>
            <a:r>
              <a:t>- https://github.com/vllm-project/vllm-omni/blob/d5a3380103df2fc827f095c60dbfb6e1c5655fd3/vllm_omni/model_executor/models/minicpmo_4_5/duplex/window_kv.py</a:t>
            </a:r>
          </a:p>
          <a:p>
            <a:r>
              <a:t>- https://github.com/vllm-project/vllm-omni/blob/d5a3380103df2fc827f095c60dbfb6e1c5655fd3/vllm_omni/engine/stage_pool.py#L574-L609</a:t>
            </a:r>
          </a:p>
          <a:p>
            <a:r>
              <a:t>- https://github.com/vllm-project/vllm-omni/blob/d5a3380103df2fc827f095c60dbfb6e1c5655fd3/vllm_omni/engine/duplex_orchestrator.py#L393-L424</a:t>
            </a:r>
          </a:p>
          <a:p>
            <a:r>
              <a:t>- https://github.com/vllm-project/vllm-omni/blob/d5a3380103df2fc827f095c60dbfb6e1c5655fd3/vllm_omni/entrypoints/openai/api_server.py#L1880-L1895</a:t>
            </a:r>
          </a:p>
          <a:p>
            <a:r>
              <a:t>- https://github.com/vllm-project/vllm-omni/blob/d5a3380103df2fc827f095c60dbfb6e1c5655fd3/vllm_omni/model_executor/models/joyai_vl_interaction/pipeline.py</a:t>
            </a:r>
          </a:p>
          <a:p>
            <a: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t/>
            </a:r>
          </a:p>
          <a:p>
            <a: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t/>
            </a:r>
          </a:p>
          <a:p>
            <a:r>
              <a:t>Session event ACKs are handled at the API attachment layer. Playback ACKs enter the command path. Queue-full and engine-dead errors can return immediately; later rejection arrives as an event. The PersonaPlex Talker → Mimi Code2Wav pipeline at the bottom separates model stages from the process/replica diagram above. Network connectors are required when stages are placed on different nodes.</a:t>
            </a:r>
          </a:p>
          <a:p>
            <a:r>
              <a:t/>
            </a:r>
          </a:p>
          <a:p>
            <a: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t/>
            </a:r>
          </a:p>
          <a:p>
            <a:r>
              <a:t>Sources:</a:t>
            </a:r>
          </a:p>
          <a:p>
            <a:r>
              <a:t>- manager.py: https://github.com/vllm-project/vllm-omni/blob/712b90de9c7bc14c595b363401588a713a87c02d/vllm_omni/engine/duplex/session/manager.py</a:t>
            </a:r>
          </a:p>
          <a:p>
            <a:r>
              <a:t>- duplex_omni.py: https://github.com/vllm-project/vllm-omni/blob/712b90de9c7bc14c595b363401588a713a87c02d/vllm_omni/entrypoints/duplex_omni.py</a:t>
            </a:r>
          </a:p>
          <a:p>
            <a:r>
              <a:t>- serving.py: https://github.com/vllm-project/vllm-omni/blob/712b90de9c7bc14c595b363401588a713a87c02d/vllm_omni/entrypoints/duplex/serving.py</a:t>
            </a:r>
          </a:p>
          <a:p>
            <a:r>
              <a:t>- duplex_omni_engine.py: https://github.com/vllm-project/vllm-omni/blob/712b90de9c7bc14c595b363401588a713a87c02d/vllm_omni/engine/duplex_omni_engine.py</a:t>
            </a:r>
          </a:p>
          <a:p>
            <a:r>
              <a:t/>
            </a:r>
          </a:p>
          <a:p>
            <a:r>
              <a:t>Session-state implementation references:</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engine_session.py: https://github.com/vllm-project/vllm-omni/blob/712b90de9c7bc14c595b363401588a713a87c02d/vllm_omni/engine/duplex/session/engine_session.py</a:t>
            </a:r>
          </a:p>
          <a:p>
            <a:r>
              <a:t>- plugin.py: https://github.com/vllm-project/vllm-omni/blob/712b90de9c7bc14c595b363401588a713a87c02d/vllm_omni/engine/duplex/plugin.py</a:t>
            </a:r>
          </a:p>
          <a:p>
            <a:r>
              <a:t>- delivery.py: https://github.com/vllm-project/vllm-omni/blob/712b90de9c7bc14c595b363401588a713a87c02d/vllm_omni/engine/duplex/delivery.py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classifies speech activity. A separate endpointing policy uses the detected silence duration to decide when to end a turn. The detector alone does not commit input or start model generation.</a:t>
            </a:r>
          </a:p>
          <a:p>
            <a:r>
              <a:t/>
            </a:r>
          </a:p>
          <a:p>
            <a:r>
              <a:t>Semantic VAD is used here as an umbrella term for semantic end-of-turn detection. Such models estimate whether the user's utterance is complete, using linguistic context and, for audio-native models, cues such as intonation and rhythm. Text-based and audio-based approaches both exist.</a:t>
            </a:r>
          </a:p>
          <a:p>
            <a:r>
              <a:t/>
            </a:r>
          </a:p>
          <a:p>
            <a:r>
              <a:t>Pipecat Smart Turn v3.2 is an open-source audio-native turn detector that predicts complete or incomplete. Its documented deployment pairs it with a lightweight VAD such as Silero. VAD identifies a pause, then Smart Turn analyzes the accumulated audio of the current turn. It does not require a separate transcript. The flight-booking sentence on the slide illustrates why an unfinished request may need more time; it is not a measured prediction from this model. This is a reference model combination, not a claim of vLLM-Omni integration.</a:t>
            </a:r>
          </a:p>
          <a:p>
            <a:r>
              <a:t/>
            </a:r>
          </a:p>
          <a:p>
            <a:r>
              <a:t>LiveKit also documents turn detection layered on VAD. Its current audio turn detector requires VAD and adds semantic and prosodic information. These implementations support combining acoustic activity detection with a semantic completion model, rather than treating them as mutually exclusive components.</a:t>
            </a:r>
          </a:p>
          <a:p>
            <a:r>
              <a:t/>
            </a:r>
          </a:p>
          <a:p>
            <a:r>
              <a:t>An API can nevertheless expose alternative turn-detection modes. OpenAI Realtime accepts server_vad or semantic_vad as the selected type. That configuration choice does not establish whether acoustic and semantic signals are mutually exclusive inside a provider's implementation.</a:t>
            </a:r>
          </a:p>
          <a:p>
            <a:r>
              <a:t/>
            </a:r>
          </a:p>
          <a:p>
            <a:r>
              <a:t>Once the endpointing policy ends a turn, the session can commit input and, if configured, start a response. An incomplete prediction usually allows more listening time, subject to the system's timeout policy. Recognizing a new speech start or an intention to interrupt the assistant is a separate decision. Semantic turn completion is also distinct from a native duplex model's LISTEN / SPEAK behavior.</a:t>
            </a:r>
          </a:p>
          <a:p>
            <a:r>
              <a:t/>
            </a:r>
          </a:p>
          <a:p>
            <a:r>
              <a:t>Semantic VAD remains a proposed extension in this vLLM-Omni deck. The inspected unified-runtime configuration accepts server_vad and rejects other turn-detection types.</a:t>
            </a:r>
          </a:p>
          <a:p>
            <a:r>
              <a:t/>
            </a:r>
          </a:p>
          <a:p>
            <a:r>
              <a:t>References:</a:t>
            </a:r>
          </a:p>
          <a:p>
            <a:r>
              <a:t>- https://github.com/pipecat-ai/smart-turn</a:t>
            </a:r>
          </a:p>
          <a:p>
            <a:r>
              <a:t>- https://huggingface.co/pipecat-ai/smart-turn-v3.2</a:t>
            </a:r>
          </a:p>
          <a:p>
            <a:r>
              <a:t>- https://docs.livekit.io/agents/logic/turns/turn-detector/</a:t>
            </a:r>
          </a:p>
          <a:p>
            <a:r>
              <a:t>- https://developers.openai.com/api/docs/guides/realtime-vad</a:t>
            </a:r>
          </a:p>
          <a:p>
            <a:r>
              <a:t/>
            </a:r>
          </a:p>
          <a:p>
            <a:r>
              <a:t>vLLM-Omni implementation:</a:t>
            </a:r>
          </a:p>
          <a:p>
            <a:r>
              <a:t>- https://github.com/vllm-project/vllm-omni/blob/712b90de9c7bc14c595b363401588a713a87c02d/vllm_omni/engine/duplex/turn_detection.py</a:t>
            </a:r>
          </a:p>
          <a:p>
            <a:r>
              <a:t>- https://github.com/vllm-project/vllm-omni/blob/712b90de9c7bc14c595b363401588a713a87c02d/vllm_omni/engine/duplex/vad.py</a:t>
            </a:r>
          </a:p>
          <a:p>
            <a:r>
              <a:t>- https://github.com/vllm-project/vllm-omni/blob/712b90de9c7bc14c595b363401588a713a87c02d/vllm_omni/engine/duplex/session/runner.py</a:t>
            </a:r>
          </a:p>
          <a:p>
            <a:r>
              <a:t/>
            </a:r>
          </a:p>
          <a:p>
            <a:r>
              <a:t>Compute and placement: lightweight acoustic VAD has low inference cost per audio frame. Silero's published reference reports less than 1 ms of CPU processing for a 30+ ms audio chunk. This is inference time, not end-of-turn latency: buffering, scheduling and the configured silence duration also affect when the session commits. It is not a vLLM-Omni measurement.</a:t>
            </a:r>
          </a:p>
          <a:p>
            <a:r>
              <a:t/>
            </a:r>
          </a:p>
          <a:p>
            <a:r>
              <a:t>Semantic end-of-turn models usually analyze more context per decision, but their compute requirements depend on the model, hardware and invocation frequency. Smart Turn has a CPU implementation; its project reports inference from roughly 10 ms on some CPUs to below 100 ms on most cloud instances. Those figures use different inputs and environments from Silero's, so they do not establish a same-workload speed ratio. Gating semantic inference on detected pauses reduces invocation frequency.</a:t>
            </a:r>
          </a:p>
          <a:p>
            <a:r>
              <a:t/>
            </a:r>
          </a:p>
          <a:p>
            <a:r>
              <a:t>For vLLM-Omni, the planned direction is to execute heavier semantic models through an Omni Stage, while retaining an offloaded CPU option for lightweight models. Stage placement is a proposed architecture, not an implemented Semantic VAD path or a guarantee of lower latency. Scheduling, transfers, queueing and batching must fit the interaction latency budget. The Session Runner still owns the decision to wait, commit or create a response.</a:t>
            </a:r>
          </a:p>
          <a:p>
            <a:r>
              <a:t/>
            </a:r>
          </a:p>
          <a:p>
            <a:r>
              <a:t>Noise handling: VAD estimates speech activity and can suppress false speech events from non-speech noise. It does not produce a cleaned waveform, remove noise mixed with speech, or reliably exclude another person speaking in the background. Audio denoising, echo cancellation and target-speaker filtering are separate processing capabilities. The example does not imply dropping every non-speech audio chunk from a native duplex model's input.</a:t>
            </a:r>
          </a:p>
          <a:p>
            <a:r>
              <a:t/>
            </a:r>
          </a:p>
          <a:p>
            <a:r>
              <a:t>Additional references:</a:t>
            </a:r>
          </a:p>
          <a:p>
            <a:r>
              <a:t>- https://github.com/snakers4/silero-vad</a:t>
            </a:r>
          </a:p>
          <a:p>
            <a:r>
              <a:t>- https://github.com/pipecat-ai/smart-turn</a:t>
            </a:r>
          </a:p>
          <a:p>
            <a:r>
              <a:t/>
            </a:r>
          </a:p>
          <a:p>
            <a:r>
              <a:t/>
            </a:r>
          </a:p>
          <a:p>
            <a:r>
              <a:t>Runtime placement and session policy:</a:t>
            </a:r>
          </a:p>
          <a:p>
            <a: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t/>
            </a:r>
          </a:p>
          <a:p>
            <a: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t/>
            </a:r>
          </a:p>
          <a:p>
            <a:r>
              <a:t>Sources:</a:t>
            </a:r>
          </a:p>
          <a:p>
            <a:r>
              <a:t>- vad.py: https://github.com/vllm-project/vllm-omni/blob/712b90de9c7bc14c595b363401588a713a87c02d/vllm_omni/engine/duplex/vad.py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connection.py: https://github.com/vllm-project/vllm-omni/blob/712b90de9c7bc14c595b363401588a713a87c02d/vllm_omni/entrypoints/openai/realtime/connection.py</a:t>
            </a:r>
          </a:p>
          <a:p>
            <a:r>
              <a:t/>
            </a:r>
          </a:p>
          <a:p>
            <a:r>
              <a:t>Planned semantic inference placement: keep lightweight models in an offloaded CPU pool. Audio-native models such as Smart Turn do not require ASR; text-based endpointing models may reuse a streaming transcript. Execute heavier semantic models through an Omni Stage, with bounded queues and latency-aware microbatching. This is a proposed extension. The Stage returns a completion estimate; the Session Runner owns wait/commit/response policy and validates session, input sequence and epoch before applying a result. Account for queueing and transfer overhead rather than assuming accelerator placement always lowers latency.</a:t>
            </a:r>
          </a:p>
          <a:p>
            <a:r>
              <a:t/>
            </a:r>
          </a:p>
          <a:p>
            <a:r>
              <a:t>Additional references:</a:t>
            </a:r>
          </a:p>
          <a:p>
            <a:r>
              <a:t>- https://github.com/snakers4/silero-vad</a:t>
            </a:r>
          </a:p>
          <a:p>
            <a:r>
              <a:t>- https://github.com/pipecat-ai/smart-turn</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t/>
            </a:r>
          </a:p>
          <a:p>
            <a: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t/>
            </a:r>
          </a:p>
          <a:p>
            <a: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stage_config.py: https://github.com/vllm-project/vllm-omni/blob/712b90de9c7bc14c595b363401588a713a87c02d/vllm_omni/config/stage_config.py</a:t>
            </a:r>
          </a:p>
          <a:p>
            <a:r>
              <a:t>- manager.py: https://github.com/vllm-project/vllm-omni/blob/712b90de9c7bc14c595b363401588a713a87c02d/vllm_omni/engine/duplex/session/manager.py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a:solidFill>
                  <a:srgbClr val="586B7E"/>
                </a:solidFill>
                <a:latin typeface="Arial"/>
                <a:ea typeface="Arial"/>
                <a:cs typeface="Aria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 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Bounded output delivery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a:solidFill>
                  <a:srgbClr val="142B45"/>
                </a:solidFill>
                <a:latin typeface="Arial"/>
                <a:ea typeface="Arial"/>
                <a:cs typeface="Arial"/>
              </a:rPr>
              <a:t>Keep the</a:t>
            </a:r>
          </a:p>
          <a:p>
            <a:pPr algn="l">
              <a:lnSpc>
                <a:spcPct val="110000"/>
              </a:lnSpc>
              <a:spcAft>
                <a:spcPts val="0"/>
              </a:spcAft>
            </a:pPr>
            <a:r>
              <a:rPr sz="3800" b="1">
                <a:solidFill>
                  <a:srgbClr val="142B45"/>
                </a:solidFill>
                <a:latin typeface="Arial"/>
                <a:ea typeface="Arial"/>
                <a:cs typeface="Arial"/>
              </a:rPr>
              <a:t>conversation flowing.</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PersonaPlex · live voice demo</a:t>
            </a:r>
          </a:p>
        </p:txBody>
      </p:sp>
      <p:sp>
        <p:nvSpPr>
          <p:cNvPr id="17" name="TextBox 16"/>
          <p:cNvSpPr txBox="1"/>
          <p:nvPr/>
        </p:nvSpPr>
        <p:spPr>
          <a:xfrm>
            <a:off x="6537960" y="1874520"/>
            <a:ext cx="4700016" cy="27432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Preset voice + persona · continuous audio</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User speech</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1DFD8"/>
                </a:solidFill>
                <a:latin typeface="Arial"/>
                <a:ea typeface="Arial"/>
                <a:cs typeface="Arial"/>
              </a:rPr>
              <a:t>Assistant speech</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7955280" y="3995928"/>
            <a:ext cx="310896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overlapping speech</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Concurrent input &amp; output</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Keep receiving speech</a:t>
            </a:r>
          </a:p>
          <a:p>
            <a:pPr algn="l">
              <a:lnSpc>
                <a:spcPct val="110000"/>
              </a:lnSpc>
              <a:spcAft>
                <a:spcPts val="0"/>
              </a:spcAft>
            </a:pPr>
            <a:r>
              <a:rPr sz="1700" b="0">
                <a:solidFill>
                  <a:srgbClr val="586B7E"/>
                </a:solidFill>
                <a:latin typeface="Arial"/>
                <a:ea typeface="Arial"/>
                <a:cs typeface="Arial"/>
              </a:rPr>
              <a:t>while the assistant responds.</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Streamed responses</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Deliver text and audio incrementally,</a:t>
            </a:r>
          </a:p>
          <a:p>
            <a:pPr algn="l">
              <a:lnSpc>
                <a:spcPct val="110000"/>
              </a:lnSpc>
              <a:spcAft>
                <a:spcPts val="0"/>
              </a:spcAft>
            </a:pPr>
            <a:r>
              <a:rPr sz="1700" b="0">
                <a:solidFill>
                  <a:srgbClr val="586B7E"/>
                </a:solidFill>
                <a:latin typeface="Arial"/>
                <a:ea typeface="Arial"/>
                <a:cs typeface="Arial"/>
              </a:rPr>
              <a:t>without waiting for a complete reply.</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Adaptive interaction</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Use new input to continue, adapt what comes next, or yield the floor.</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Hard interruption: forced stop</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Client / server control</a:t>
            </a:r>
          </a:p>
          <a:p>
            <a:pPr algn="l">
              <a:lnSpc>
                <a:spcPct val="110000"/>
              </a:lnSpc>
              <a:spcAft>
                <a:spcPts val="0"/>
              </a:spcAft>
            </a:pPr>
            <a:r>
              <a:rPr sz="1250" b="0">
                <a:solidFill>
                  <a:srgbClr val="142B45"/>
                </a:solidFill>
                <a:latin typeface="Arial"/>
                <a:ea typeface="Arial"/>
                <a:cs typeface="Arial"/>
              </a:rPr>
              <a:t>Explicit cancel or configured VAD policy</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a:solidFill>
                  <a:srgbClr val="008E96"/>
                </a:solidFill>
                <a:latin typeface="Arial"/>
                <a:ea typeface="Arial"/>
                <a:cs typeface="Arial"/>
              </a:rPr>
              <a:t>Soft interruption: model-driven yielding*</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The model uses ongoing input + context to decide when to stop.</a:t>
            </a:r>
          </a:p>
          <a:p>
            <a:pPr algn="l">
              <a:lnSpc>
                <a:spcPct val="110000"/>
              </a:lnSpc>
              <a:spcAft>
                <a:spcPts val="0"/>
              </a:spcAft>
            </a:pPr>
            <a:r>
              <a:rPr sz="1250" b="0">
                <a:solidFill>
                  <a:srgbClr val="142B45"/>
                </a:solidFill>
                <a:latin typeface="Arial"/>
                <a:ea typeface="Arial"/>
                <a:cs typeface="Arial"/>
              </a:rPr>
              <a:t>*Depends on model capability.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Native model behavior, Server VAD and client controls shape the live interaction.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and video input</a:t>
            </a:r>
          </a:p>
          <a:p>
            <a:pPr algn="l">
              <a:lnSpc>
                <a:spcPct val="110000"/>
              </a:lnSpc>
              <a:spcAft>
                <a:spcPts val="0"/>
              </a:spcAft>
            </a:pPr>
            <a:r>
              <a:rPr sz="1180" b="0">
                <a:solidFill>
                  <a:srgbClr val="142B45"/>
                </a:solidFill>
                <a:latin typeface="Arial"/>
                <a:ea typeface="Arial"/>
                <a:cs typeface="Arial"/>
              </a:rPr>
              <a:t>Model decides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 or respond within the live session</a:t>
            </a:r>
          </a:p>
          <a:p>
            <a:pPr algn="l">
              <a:lnSpc>
                <a:spcPct val="110000"/>
              </a:lnSpc>
              <a:spcAft>
                <a:spcPts val="0"/>
              </a:spcAft>
            </a:pPr>
            <a:r>
              <a:rPr sz="1180" b="0">
                <a:solidFill>
                  <a:srgbClr val="142B45"/>
                </a:solidFill>
                <a:latin typeface="Arial"/>
                <a:ea typeface="Arial"/>
                <a:cs typeface="Arial"/>
              </a:rPr>
              <a:t>No Server VAD required by default</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Server VAD detects user speech</a:t>
            </a:r>
          </a:p>
          <a:p>
            <a:pPr algn="l">
              <a:lnSpc>
                <a:spcPct val="110000"/>
              </a:lnSpc>
              <a:spcAft>
                <a:spcPts val="0"/>
              </a:spcAft>
            </a:pPr>
            <a:r>
              <a:rPr sz="1180" b="0">
                <a:solidFill>
                  <a:srgbClr val="142B45"/>
                </a:solidFill>
                <a:latin typeface="Arial"/>
                <a:ea typeface="Arial"/>
                <a:cs typeface="Arial"/>
              </a:rPr>
              <a:t>Microphone input stays active</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Stop queued playback</a:t>
            </a:r>
          </a:p>
          <a:p>
            <a:pPr algn="l">
              <a:lnSpc>
                <a:spcPct val="110000"/>
              </a:lnSpc>
              <a:spcAft>
                <a:spcPts val="0"/>
              </a:spcAft>
            </a:pPr>
            <a:r>
              <a:rPr sz="1180" b="0">
                <a:solidFill>
                  <a:srgbClr val="142B45"/>
                </a:solidFill>
                <a:latin typeface="Arial"/>
                <a:ea typeface="Arial"/>
                <a:cs typeface="Arial"/>
              </a:rPr>
              <a:t>Interrupt the current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 to talk; release to submit</a:t>
            </a:r>
          </a:p>
          <a:p>
            <a:pPr algn="l">
              <a:lnSpc>
                <a:spcPct val="110000"/>
              </a:lnSpc>
              <a:spcAft>
                <a:spcPts val="0"/>
              </a:spcAft>
            </a:pPr>
            <a:r>
              <a:rPr sz="1180" b="0">
                <a:solidFill>
                  <a:srgbClr val="142B45"/>
                </a:solidFill>
                <a:latin typeface="Arial"/>
                <a:ea typeface="Arial"/>
                <a:cs typeface="Arial"/>
              </a:rPr>
              <a:t>new audio / video input</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Holding stops local playback</a:t>
            </a:r>
          </a:p>
          <a:p>
            <a:pPr algn="l">
              <a:lnSpc>
                <a:spcPct val="110000"/>
              </a:lnSpc>
              <a:spcAft>
                <a:spcPts val="0"/>
              </a:spcAft>
            </a:pPr>
            <a:r>
              <a:rPr sz="1180" b="0">
                <a:solidFill>
                  <a:srgbClr val="142B45"/>
                </a:solidFill>
                <a:latin typeface="Arial"/>
                <a:ea typeface="Arial"/>
                <a:cs typeface="Arial"/>
              </a:rPr>
              <a:t>Server generation can continue</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a:solidFill>
                  <a:srgbClr val="586B7E"/>
                </a:solidFill>
                <a:latin typeface="Arial"/>
                <a:ea typeface="Arial"/>
                <a:cs typeface="Arial"/>
              </a:rPr>
              <a:t>PersonaPlex: explicit cancel restarts conversation context; disconnect requires a new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MODEL-DRIVEN SPEECH</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The model controls speech timing</a:t>
            </a:r>
          </a:p>
          <a:p>
            <a:pPr algn="l">
              <a:lnSpc>
                <a:spcPct val="110000"/>
              </a:lnSpc>
              <a:spcAft>
                <a:spcPts val="0"/>
              </a:spcAft>
            </a:pPr>
            <a:r>
              <a:rPr sz="1050" b="0">
                <a:solidFill>
                  <a:srgbClr val="142B45"/>
                </a:solidFill>
                <a:latin typeface="Arial"/>
                <a:ea typeface="Arial"/>
                <a:cs typeface="Arial"/>
              </a:rPr>
              <a:t>Input continues during output</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Stop what the user hears</a:t>
            </a:r>
          </a:p>
          <a:p>
            <a:pPr algn="l">
              <a:lnSpc>
                <a:spcPct val="110000"/>
              </a:lnSpc>
              <a:spcAft>
                <a:spcPts val="0"/>
              </a:spcAft>
            </a:pPr>
            <a:r>
              <a:rPr sz="1050" b="0">
                <a:solidFill>
                  <a:srgbClr val="142B45"/>
                </a:solidFill>
                <a:latin typeface="Arial"/>
                <a:ea typeface="Arial"/>
                <a:cs typeface="Arial"/>
              </a:rPr>
              <a:t>Generation may continue</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Abort the active response</a:t>
            </a:r>
          </a:p>
          <a:p>
            <a:pPr algn="l">
              <a:lnSpc>
                <a:spcPct val="110000"/>
              </a:lnSpc>
              <a:spcAft>
                <a:spcPts val="0"/>
              </a:spcAft>
            </a:pPr>
            <a:r>
              <a:rPr sz="1050" b="0">
                <a:solidFill>
                  <a:srgbClr val="142B45"/>
                </a:solidFill>
                <a:latin typeface="Arial"/>
                <a:ea typeface="Arial"/>
                <a:cs typeface="Arial"/>
              </a:rPr>
              <a:t>Context reset depends on the model</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Server VAD interruption requires interrupt_response. Behavior depends on the model and selected demo profile.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in 80 ms frames</a:t>
            </a:r>
          </a:p>
          <a:p>
            <a:pPr algn="l">
              <a:lnSpc>
                <a:spcPct val="110000"/>
              </a:lnSpc>
              <a:spcAft>
                <a:spcPts val="0"/>
              </a:spcAft>
            </a:pPr>
            <a:r>
              <a:rPr sz="1180" b="0">
                <a:solidFill>
                  <a:srgbClr val="142B45"/>
                </a:solidFill>
                <a:latin typeface="Arial"/>
                <a:ea typeface="Arial"/>
                <a:cs typeface="Arial"/>
              </a:rPr>
              <a:t>No client commit or Server VAD needed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Model handles overlapping speech</a:t>
            </a:r>
          </a:p>
          <a:p>
            <a:pPr algn="l">
              <a:lnSpc>
                <a:spcPct val="110000"/>
              </a:lnSpc>
              <a:spcAft>
                <a:spcPts val="0"/>
              </a:spcAft>
            </a:pPr>
            <a:r>
              <a:rPr sz="1180" b="0">
                <a:solidFill>
                  <a:srgbClr val="142B45"/>
                </a:solidFill>
                <a:latin typeface="Arial"/>
                <a:ea typeface="Arial"/>
                <a:cs typeface="Arial"/>
              </a:rPr>
              <a:t>Voice + persona fixed for the session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en-US">
                <a:solidFill>
                  <a:srgbClr val="008E96"/>
                </a:solidFill>
                <a:latin typeface="Arial"/>
                <a:ea typeface="Arial"/>
                <a:cs typeface="Arial"/>
              </a:rPr>
              <a:t>Model-dependent extensions: video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session output; reap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the wire protocol; EngineClient exposes session handles; Runner / Plugin drives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Worker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Compute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Plugin plan → Stage request</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a:solidFill>
                  <a:srgbClr val="142B45"/>
                </a:solidFill>
                <a:latin typeface="Arial"/>
                <a:ea typeface="Arial"/>
                <a:cs typeface="Arial"/>
              </a:rPr>
              <a:t>Continuous input · Bounded output per session · Playback progress reported separately</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State handling: live computation and conversation history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PersonaPlex and MiniCPM retain live state; AURA and Qwen3-Omni rebuild input per committed turn.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STATE RETAINED ACROSS INPUTS</a:t>
            </a:r>
          </a:p>
        </p:txBody>
      </p:sp>
      <p:sp>
        <p:nvSpPr>
          <p:cNvPr id="15" name="Rounded Rectangle 14"/>
          <p:cNvSpPr/>
          <p:nvPr/>
        </p:nvSpPr>
        <p:spPr>
          <a:xfrm>
            <a:off x="548640" y="2688336"/>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7203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720340"/>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Chunk → continue live request</a:t>
            </a:r>
          </a:p>
        </p:txBody>
      </p:sp>
      <p:sp>
        <p:nvSpPr>
          <p:cNvPr id="18" name="TextBox 17"/>
          <p:cNvSpPr txBox="1"/>
          <p:nvPr/>
        </p:nvSpPr>
        <p:spPr>
          <a:xfrm>
            <a:off x="5532120" y="2720340"/>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LLM KV / audio state; configurable sliding window</a:t>
            </a:r>
          </a:p>
        </p:txBody>
      </p:sp>
      <p:sp>
        <p:nvSpPr>
          <p:cNvPr id="19" name="Rounded Rectangle 18"/>
          <p:cNvSpPr/>
          <p:nvPr/>
        </p:nvSpPr>
        <p:spPr>
          <a:xfrm>
            <a:off x="548640" y="3017520"/>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0495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049524"/>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2" name="TextBox 21"/>
          <p:cNvSpPr txBox="1"/>
          <p:nvPr/>
        </p:nvSpPr>
        <p:spPr>
          <a:xfrm>
            <a:off x="5532120" y="3049524"/>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ASR text, video clips and assistant text; rebuild prompt each turn</a:t>
            </a:r>
          </a:p>
        </p:txBody>
      </p:sp>
      <p:sp>
        <p:nvSpPr>
          <p:cNvPr id="23" name="Rounded Rectangle 22"/>
          <p:cNvSpPr/>
          <p:nvPr/>
        </p:nvSpPr>
        <p:spPr>
          <a:xfrm>
            <a:off x="548640" y="3346704"/>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37870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378708"/>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6" name="TextBox 25"/>
          <p:cNvSpPr txBox="1"/>
          <p:nvPr/>
        </p:nvSpPr>
        <p:spPr>
          <a:xfrm>
            <a:off x="5532120" y="3378708"/>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User audio, image frames and text; rebuild prompt each turn</a:t>
            </a:r>
          </a:p>
        </p:txBody>
      </p:sp>
      <p:sp>
        <p:nvSpPr>
          <p:cNvPr id="27" name="Rounded Rectangle 26"/>
          <p:cNvSpPr/>
          <p:nvPr/>
        </p:nvSpPr>
        <p:spPr>
          <a:xfrm>
            <a:off x="548640" y="3776472"/>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867912"/>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PersonaPlex</a:t>
            </a:r>
          </a:p>
        </p:txBody>
      </p:sp>
      <p:sp>
        <p:nvSpPr>
          <p:cNvPr id="29" name="TextBox 28"/>
          <p:cNvSpPr txBox="1"/>
          <p:nvPr/>
        </p:nvSpPr>
        <p:spPr>
          <a:xfrm>
            <a:off x="722376" y="4178808"/>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80 ms frames</a:t>
            </a:r>
          </a:p>
        </p:txBody>
      </p:sp>
      <p:sp>
        <p:nvSpPr>
          <p:cNvPr id="31" name="Rounded Rectangle 30"/>
          <p:cNvSpPr/>
          <p:nvPr/>
        </p:nvSpPr>
        <p:spPr>
          <a:xfrm>
            <a:off x="2898648" y="3835908"/>
            <a:ext cx="4974336"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867912"/>
            <a:ext cx="482803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0 · Talker</a:t>
            </a:r>
          </a:p>
        </p:txBody>
      </p:sp>
      <p:sp>
        <p:nvSpPr>
          <p:cNvPr id="33" name="TextBox 32"/>
          <p:cNvSpPr txBox="1"/>
          <p:nvPr/>
        </p:nvSpPr>
        <p:spPr>
          <a:xfrm>
            <a:off x="2953512" y="4091940"/>
            <a:ext cx="4864608"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encoder → temporal model + Depformer</a:t>
            </a:r>
          </a:p>
        </p:txBody>
      </p:sp>
      <p:sp>
        <p:nvSpPr>
          <p:cNvPr id="37" name="Rounded Rectangle 36"/>
          <p:cNvSpPr/>
          <p:nvPr/>
        </p:nvSpPr>
        <p:spPr>
          <a:xfrm>
            <a:off x="8897112" y="3835908"/>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3867912"/>
            <a:ext cx="2130552"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Stage 1 · Code2Wav</a:t>
            </a:r>
          </a:p>
        </p:txBody>
      </p:sp>
      <p:sp>
        <p:nvSpPr>
          <p:cNvPr id="39" name="TextBox 38"/>
          <p:cNvSpPr txBox="1"/>
          <p:nvPr/>
        </p:nvSpPr>
        <p:spPr>
          <a:xfrm>
            <a:off x="8951976" y="4091940"/>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Mimi decoder</a:t>
            </a:r>
          </a:p>
        </p:txBody>
      </p:sp>
      <p:cxnSp>
        <p:nvCxnSpPr>
          <p:cNvPr id="42" name="Connector 41"/>
          <p:cNvCxnSpPr/>
          <p:nvPr/>
        </p:nvCxnSpPr>
        <p:spPr>
          <a:xfrm>
            <a:off x="7946136" y="4041648"/>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311396"/>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Stage 0 retains KV and encoder state; Stage 1 retains decoder state.</a:t>
            </a:r>
          </a:p>
        </p:txBody>
      </p:sp>
      <p:sp>
        <p:nvSpPr>
          <p:cNvPr id="44" name="Rounded Rectangle 43"/>
          <p:cNvSpPr/>
          <p:nvPr/>
        </p:nvSpPr>
        <p:spPr>
          <a:xfrm>
            <a:off x="548640" y="5276088"/>
            <a:ext cx="11082528" cy="694944"/>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367528"/>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AURA</a:t>
            </a:r>
          </a:p>
        </p:txBody>
      </p:sp>
      <p:sp>
        <p:nvSpPr>
          <p:cNvPr id="46" name="TextBox 45"/>
          <p:cNvSpPr txBox="1"/>
          <p:nvPr/>
        </p:nvSpPr>
        <p:spPr>
          <a:xfrm>
            <a:off x="722376" y="5678424"/>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008E96"/>
                </a:solidFill>
                <a:latin typeface="Arial"/>
                <a:ea typeface="Arial"/>
                <a:cs typeface="Arial"/>
              </a:rPr>
              <a:t>turn-based · audio/video commit</a:t>
            </a:r>
          </a:p>
        </p:txBody>
      </p:sp>
      <p:sp>
        <p:nvSpPr>
          <p:cNvPr id="47" name="Rounded Rectangle 46"/>
          <p:cNvSpPr/>
          <p:nvPr/>
        </p:nvSpPr>
        <p:spPr>
          <a:xfrm>
            <a:off x="289864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ASR</a:t>
            </a:r>
          </a:p>
        </p:txBody>
      </p:sp>
      <p:sp>
        <p:nvSpPr>
          <p:cNvPr id="49" name="TextBox 48"/>
          <p:cNvSpPr txBox="1"/>
          <p:nvPr/>
        </p:nvSpPr>
        <p:spPr>
          <a:xfrm>
            <a:off x="292608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 text</a:t>
            </a:r>
          </a:p>
        </p:txBody>
      </p:sp>
      <p:cxnSp>
        <p:nvCxnSpPr>
          <p:cNvPr id="50" name="Connector 49"/>
          <p:cNvCxnSpPr/>
          <p:nvPr/>
        </p:nvCxnSpPr>
        <p:spPr>
          <a:xfrm>
            <a:off x="460857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Thinker</a:t>
            </a:r>
          </a:p>
        </p:txBody>
      </p:sp>
      <p:sp>
        <p:nvSpPr>
          <p:cNvPr id="53" name="TextBox 52"/>
          <p:cNvSpPr txBox="1"/>
          <p:nvPr/>
        </p:nvSpPr>
        <p:spPr>
          <a:xfrm>
            <a:off x="512064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Text + video + history</a:t>
            </a:r>
          </a:p>
        </p:txBody>
      </p:sp>
      <p:cxnSp>
        <p:nvCxnSpPr>
          <p:cNvPr id="54" name="Connector 53"/>
          <p:cNvCxnSpPr/>
          <p:nvPr/>
        </p:nvCxnSpPr>
        <p:spPr>
          <a:xfrm>
            <a:off x="680313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Talker</a:t>
            </a:r>
          </a:p>
        </p:txBody>
      </p:sp>
      <p:sp>
        <p:nvSpPr>
          <p:cNvPr id="57" name="TextBox 56"/>
          <p:cNvSpPr txBox="1"/>
          <p:nvPr/>
        </p:nvSpPr>
        <p:spPr>
          <a:xfrm>
            <a:off x="731520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Sentence speech tokens</a:t>
            </a:r>
          </a:p>
        </p:txBody>
      </p:sp>
      <p:cxnSp>
        <p:nvCxnSpPr>
          <p:cNvPr id="58" name="Connector 57"/>
          <p:cNvCxnSpPr/>
          <p:nvPr/>
        </p:nvCxnSpPr>
        <p:spPr>
          <a:xfrm>
            <a:off x="8997696" y="5541264"/>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335524"/>
            <a:ext cx="1655064"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67528"/>
            <a:ext cx="1563624" cy="210312"/>
          </a:xfrm>
          <a:prstGeom prst="rect">
            <a:avLst/>
          </a:prstGeom>
          <a:noFill/>
        </p:spPr>
        <p:txBody>
          <a:bodyPr wrap="square" lIns="0" rIns="0" tIns="0" bIns="0" anchor="t">
            <a:spAutoFit/>
          </a:bodyPr>
          <a:lstStyle/>
          <a:p>
            <a:pPr algn="ctr">
              <a:lnSpc>
                <a:spcPct val="110000"/>
              </a:lnSpc>
              <a:spcAft>
                <a:spcPts val="0"/>
              </a:spcAft>
            </a:pPr>
            <a:r>
              <a:rPr sz="1250" b="1">
                <a:solidFill>
                  <a:srgbClr val="008E96"/>
                </a:solidFill>
                <a:latin typeface="Arial"/>
                <a:ea typeface="Arial"/>
                <a:cs typeface="Arial"/>
              </a:rPr>
              <a:t>Code2Wav</a:t>
            </a:r>
          </a:p>
        </p:txBody>
      </p:sp>
      <p:sp>
        <p:nvSpPr>
          <p:cNvPr id="61" name="TextBox 60"/>
          <p:cNvSpPr txBox="1"/>
          <p:nvPr/>
        </p:nvSpPr>
        <p:spPr>
          <a:xfrm>
            <a:off x="9509760" y="5591556"/>
            <a:ext cx="1600200"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Audio chunks</a:t>
            </a:r>
          </a:p>
        </p:txBody>
      </p:sp>
      <p:sp>
        <p:nvSpPr>
          <p:cNvPr id="62" name="TextBox 61"/>
          <p:cNvSpPr txBox="1"/>
          <p:nvPr/>
        </p:nvSpPr>
        <p:spPr>
          <a:xfrm>
            <a:off x="2898648" y="5811012"/>
            <a:ext cx="8275320"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Qwen3-Omni is also turn-based: Thinker → Talker → Code2Wav, with no separate ASR Stage.</a:t>
            </a:r>
          </a:p>
        </p:txBody>
      </p:sp>
      <p:sp>
        <p:nvSpPr>
          <p:cNvPr id="63" name="TextBox 62"/>
          <p:cNvSpPr txBox="1"/>
          <p:nvPr/>
        </p:nvSpPr>
        <p:spPr>
          <a:xfrm>
            <a:off x="722376" y="6126480"/>
            <a:ext cx="10753344" cy="28346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 = one model-compute step; Replica = an execution instance of that Stage.</a:t>
            </a:r>
          </a:p>
          <a:p>
            <a:pPr algn="l">
              <a:lnSpc>
                <a:spcPct val="110000"/>
              </a:lnSpc>
              <a:spcAft>
                <a:spcPts val="0"/>
              </a:spcAft>
            </a:pPr>
            <a:r>
              <a:rPr sz="1000" b="0">
                <a:solidFill>
                  <a:srgbClr val="586B7E"/>
                </a:solidFill>
                <a:latin typeface="Arial"/>
                <a:ea typeface="Arial"/>
                <a:cs typeface="Arial"/>
              </a:rPr>
              <a:t>PersonaPlex reuses live request state; explicit cancel starts fresh conversation context.</a:t>
            </a:r>
          </a:p>
        </p:txBody>
      </p:sp>
      <p:sp>
        <p:nvSpPr>
          <p:cNvPr id="200" name="PersonaPlex 200"/>
          <p:cNvSpPr/>
          <p:nvPr/>
        </p:nvSpPr>
        <p:spPr>
          <a:xfrm>
            <a:off x="548640" y="2359152"/>
            <a:ext cx="11082528" cy="30175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391156"/>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PersonaPlex</a:t>
            </a:r>
          </a:p>
        </p:txBody>
      </p:sp>
      <p:sp>
        <p:nvSpPr>
          <p:cNvPr id="202" name="PersonaPlex 202"/>
          <p:cNvSpPr txBox="1"/>
          <p:nvPr/>
        </p:nvSpPr>
        <p:spPr>
          <a:xfrm>
            <a:off x="2770632" y="2391156"/>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Audio frame → live request</a:t>
            </a:r>
          </a:p>
        </p:txBody>
      </p:sp>
      <p:sp>
        <p:nvSpPr>
          <p:cNvPr id="203" name="PersonaPlex 203"/>
          <p:cNvSpPr txBox="1"/>
          <p:nvPr/>
        </p:nvSpPr>
        <p:spPr>
          <a:xfrm>
            <a:off x="5532120" y="2391156"/>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Temporal KV + streaming Mimi encoder / decoder state</a:t>
            </a:r>
          </a:p>
        </p:txBody>
      </p:sp>
      <p:sp>
        <p:nvSpPr>
          <p:cNvPr id="327" name="Restored MiniCPM workflow 27"/>
          <p:cNvSpPr/>
          <p:nvPr/>
        </p:nvSpPr>
        <p:spPr>
          <a:xfrm>
            <a:off x="548640" y="4526280"/>
            <a:ext cx="11082528" cy="69494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Restored MiniCPM workflow 28"/>
          <p:cNvSpPr txBox="1"/>
          <p:nvPr/>
        </p:nvSpPr>
        <p:spPr>
          <a:xfrm>
            <a:off x="722376" y="4617720"/>
            <a:ext cx="2029968" cy="237744"/>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MiniCPM-o 4.5</a:t>
            </a:r>
          </a:p>
        </p:txBody>
      </p:sp>
      <p:sp>
        <p:nvSpPr>
          <p:cNvPr id="329" name="Restored MiniCPM workflow 29"/>
          <p:cNvSpPr txBox="1"/>
          <p:nvPr/>
        </p:nvSpPr>
        <p:spPr>
          <a:xfrm>
            <a:off x="722376" y="4928616"/>
            <a:ext cx="2029968" cy="173736"/>
          </a:xfrm>
          <a:prstGeom prst="rect">
            <a:avLst/>
          </a:prstGeom>
          <a:noFill/>
        </p:spPr>
        <p:txBody>
          <a:bodyPr wrap="square" lIns="0" rIns="0" tIns="0" bIns="0" anchor="t">
            <a:spAutoFit/>
          </a:bodyPr>
          <a:lstStyle/>
          <a:p>
            <a:pPr algn="l">
              <a:lnSpc>
                <a:spcPct val="110000"/>
              </a:lnSpc>
              <a:spcAft>
                <a:spcPts val="0"/>
              </a:spcAft>
            </a:pPr>
            <a:r>
              <a:rPr sz="940" b="0">
                <a:solidFill>
                  <a:srgbClr val="327CEC"/>
                </a:solidFill>
                <a:latin typeface="Arial"/>
                <a:ea typeface="Arial"/>
                <a:cs typeface="Arial"/>
              </a:rPr>
              <a:t>native duplex · audio/video</a:t>
            </a:r>
          </a:p>
        </p:txBody>
      </p:sp>
      <p:sp>
        <p:nvSpPr>
          <p:cNvPr id="331" name="Restored MiniCPM workflow 31"/>
          <p:cNvSpPr/>
          <p:nvPr/>
        </p:nvSpPr>
        <p:spPr>
          <a:xfrm>
            <a:off x="2898648"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Restored MiniCPM workflow 32"/>
          <p:cNvSpPr txBox="1"/>
          <p:nvPr/>
        </p:nvSpPr>
        <p:spPr>
          <a:xfrm>
            <a:off x="2971800"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Multimodal LLM</a:t>
            </a:r>
          </a:p>
        </p:txBody>
      </p:sp>
      <p:sp>
        <p:nvSpPr>
          <p:cNvPr id="333" name="Restored MiniCPM workflow 33"/>
          <p:cNvSpPr txBox="1"/>
          <p:nvPr/>
        </p:nvSpPr>
        <p:spPr>
          <a:xfrm>
            <a:off x="2953512"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LLM KV + streaming audio state</a:t>
            </a:r>
          </a:p>
        </p:txBody>
      </p:sp>
      <p:sp>
        <p:nvSpPr>
          <p:cNvPr id="334" name="Restored MiniCPM workflow 34"/>
          <p:cNvSpPr/>
          <p:nvPr/>
        </p:nvSpPr>
        <p:spPr>
          <a:xfrm>
            <a:off x="5897880"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Restored MiniCPM workflow 35"/>
          <p:cNvSpPr txBox="1"/>
          <p:nvPr/>
        </p:nvSpPr>
        <p:spPr>
          <a:xfrm>
            <a:off x="5971032"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Talker</a:t>
            </a:r>
          </a:p>
        </p:txBody>
      </p:sp>
      <p:sp>
        <p:nvSpPr>
          <p:cNvPr id="336" name="Restored MiniCPM workflow 36"/>
          <p:cNvSpPr txBox="1"/>
          <p:nvPr/>
        </p:nvSpPr>
        <p:spPr>
          <a:xfrm>
            <a:off x="5952744"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Per-request TTS state</a:t>
            </a:r>
          </a:p>
        </p:txBody>
      </p:sp>
      <p:sp>
        <p:nvSpPr>
          <p:cNvPr id="337" name="Restored MiniCPM workflow 37"/>
          <p:cNvSpPr/>
          <p:nvPr/>
        </p:nvSpPr>
        <p:spPr>
          <a:xfrm>
            <a:off x="8897112" y="4585716"/>
            <a:ext cx="2221992" cy="411480"/>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8" name="Restored MiniCPM workflow 38"/>
          <p:cNvSpPr txBox="1"/>
          <p:nvPr/>
        </p:nvSpPr>
        <p:spPr>
          <a:xfrm>
            <a:off x="8970264" y="4617720"/>
            <a:ext cx="2075688" cy="210312"/>
          </a:xfrm>
          <a:prstGeom prst="rect">
            <a:avLst/>
          </a:prstGeom>
          <a:noFill/>
        </p:spPr>
        <p:txBody>
          <a:bodyPr wrap="square" lIns="0" rIns="0" tIns="0" bIns="0" anchor="t">
            <a:spAutoFit/>
          </a:bodyPr>
          <a:lstStyle/>
          <a:p>
            <a:pPr algn="ctr">
              <a:lnSpc>
                <a:spcPct val="110000"/>
              </a:lnSpc>
              <a:spcAft>
                <a:spcPts val="0"/>
              </a:spcAft>
            </a:pPr>
            <a:r>
              <a:rPr sz="1250" b="1">
                <a:solidFill>
                  <a:srgbClr val="327CEC"/>
                </a:solidFill>
                <a:latin typeface="Arial"/>
                <a:ea typeface="Arial"/>
                <a:cs typeface="Arial"/>
              </a:rPr>
              <a:t>Code2Wav</a:t>
            </a:r>
          </a:p>
        </p:txBody>
      </p:sp>
      <p:sp>
        <p:nvSpPr>
          <p:cNvPr id="339" name="Restored MiniCPM workflow 39"/>
          <p:cNvSpPr txBox="1"/>
          <p:nvPr/>
        </p:nvSpPr>
        <p:spPr>
          <a:xfrm>
            <a:off x="8951976" y="4841748"/>
            <a:ext cx="2112264" cy="146304"/>
          </a:xfrm>
          <a:prstGeom prst="rect">
            <a:avLst/>
          </a:prstGeom>
          <a:noFill/>
        </p:spPr>
        <p:txBody>
          <a:bodyPr wrap="square" lIns="0" rIns="0" tIns="0" bIns="0" anchor="t">
            <a:spAutoFit/>
          </a:bodyPr>
          <a:lstStyle/>
          <a:p>
            <a:pPr algn="ctr">
              <a:lnSpc>
                <a:spcPct val="110000"/>
              </a:lnSpc>
              <a:spcAft>
                <a:spcPts val="0"/>
              </a:spcAft>
            </a:pPr>
            <a:r>
              <a:rPr sz="890" b="0">
                <a:solidFill>
                  <a:srgbClr val="586B7E"/>
                </a:solidFill>
                <a:latin typeface="Arial"/>
                <a:ea typeface="Arial"/>
                <a:cs typeface="Arial"/>
              </a:rPr>
              <a:t>Decoder cache</a:t>
            </a:r>
          </a:p>
        </p:txBody>
      </p:sp>
      <p:cxnSp>
        <p:nvCxnSpPr>
          <p:cNvPr id="340" name="Restored MiniCPM workflow 40"/>
          <p:cNvCxnSpPr/>
          <p:nvPr/>
        </p:nvCxnSpPr>
        <p:spPr>
          <a:xfrm>
            <a:off x="5157216"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1" name="Restored MiniCPM workflow 41"/>
          <p:cNvSpPr txBox="1"/>
          <p:nvPr/>
        </p:nvSpPr>
        <p:spPr>
          <a:xfrm>
            <a:off x="5175504" y="4590288"/>
            <a:ext cx="612648" cy="146304"/>
          </a:xfrm>
          <a:prstGeom prst="rect">
            <a:avLst/>
          </a:prstGeom>
          <a:noFill/>
        </p:spPr>
        <p:txBody>
          <a:bodyPr wrap="square" lIns="0" rIns="0" tIns="0" bIns="0" anchor="t">
            <a:spAutoFit/>
          </a:bodyPr>
          <a:lstStyle/>
          <a:p>
            <a:pPr algn="ctr">
              <a:lnSpc>
                <a:spcPct val="110000"/>
              </a:lnSpc>
              <a:spcAft>
                <a:spcPts val="0"/>
              </a:spcAft>
            </a:pPr>
            <a:r>
              <a:rPr sz="860" b="0">
                <a:solidFill>
                  <a:srgbClr val="327CEC"/>
                </a:solidFill>
                <a:latin typeface="Arial"/>
                <a:ea typeface="Arial"/>
                <a:cs typeface="Arial"/>
              </a:rPr>
              <a:t>SPEAK</a:t>
            </a:r>
          </a:p>
        </p:txBody>
      </p:sp>
      <p:cxnSp>
        <p:nvCxnSpPr>
          <p:cNvPr id="342" name="Restored MiniCPM workflow 42"/>
          <p:cNvCxnSpPr/>
          <p:nvPr/>
        </p:nvCxnSpPr>
        <p:spPr>
          <a:xfrm>
            <a:off x="8156448" y="4791456"/>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43" name="Restored MiniCPM workflow 43"/>
          <p:cNvSpPr txBox="1"/>
          <p:nvPr/>
        </p:nvSpPr>
        <p:spPr>
          <a:xfrm>
            <a:off x="2898648" y="5061204"/>
            <a:ext cx="8238744" cy="146304"/>
          </a:xfrm>
          <a:prstGeom prst="rect">
            <a:avLst/>
          </a:prstGeom>
          <a:noFill/>
        </p:spPr>
        <p:txBody>
          <a:bodyPr wrap="square" lIns="0" rIns="0" tIns="0" bIns="0" anchor="t">
            <a:spAutoFit/>
          </a:bodyPr>
          <a:lstStyle/>
          <a:p>
            <a:pPr algn="l">
              <a:lnSpc>
                <a:spcPct val="110000"/>
              </a:lnSpc>
              <a:spcAft>
                <a:spcPts val="0"/>
              </a:spcAft>
            </a:pPr>
            <a:r>
              <a:rPr sz="930" b="0">
                <a:solidFill>
                  <a:srgbClr val="142B45"/>
                </a:solidFill>
                <a:latin typeface="Arial"/>
                <a:ea typeface="Arial"/>
                <a:cs typeface="Arial"/>
              </a:rPr>
              <a:t>LISTEN keeps the live request; later input reuses its bound Replica and retained KV.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Connection recovery across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MiniCPM, AURA, Qwen3-Omni and Nemotron can resume a live session through the path below.</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a:solidFill>
                  <a:srgbClr val="586B7E"/>
                </a:solidFill>
                <a:latin typeface="Arial"/>
                <a:ea typeface="Arial"/>
                <a:cs typeface="Arial"/>
              </a:rPr>
              <a:t>Requires the same live owner, a valid lease and retained events. Session resume does not provide process failover.</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Python SDK retains credentials automatically;</a:t>
            </a:r>
          </a:p>
          <a:p>
            <a:pPr algn="l">
              <a:lnSpc>
                <a:spcPct val="110000"/>
              </a:lnSpc>
              <a:spcAft>
                <a:spcPts val="0"/>
              </a:spcAft>
            </a:pPr>
            <a:r>
              <a:rPr sz="1180" b="0">
                <a:solidFill>
                  <a:srgbClr val="142B45"/>
                </a:solidFill>
                <a:latin typeface="Arial"/>
                <a:ea typeface="Arial"/>
                <a:cs typeface="Arial"/>
              </a:rPr>
              <a:t>custom clients store session ID /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Reconnect the WebSocket and send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Provide the last received event position</a:t>
            </a:r>
          </a:p>
          <a:p>
            <a:pPr algn="l">
              <a:lnSpc>
                <a:spcPct val="110000"/>
              </a:lnSpc>
              <a:spcAft>
                <a:spcPts val="0"/>
              </a:spcAft>
            </a:pPr>
            <a:r>
              <a:rPr sz="1150" b="0">
                <a:solidFill>
                  <a:srgbClr val="142B45"/>
                </a:solidFill>
                <a:latin typeface="Arial"/>
                <a:ea typeface="Arial"/>
                <a:cs typeface="Arial"/>
              </a:rPr>
              <a:t>Receive retained events from the replay window</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526985"/>
                </a:solidFill>
                <a:latin typeface="Arial"/>
                <a:ea typeface="Arial"/>
                <a:cs typeface="Arial"/>
              </a:rPr>
              <a:t>PersonaPlex demo: reconnect with a new session and reapply the same voice +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Skip audio that was decoded in previous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8 concurrent requests · Seed-TTS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speech generation via Chat Completions · Daily runs, October 5–8, 2026.</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connect live session execution with timing and quality evaluation.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Timing origin</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Request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Response speed</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TTFP · p50 / p95</a:t>
            </a:r>
          </a:p>
          <a:p>
            <a:pPr algn="l">
              <a:lnSpc>
                <a:spcPct val="110000"/>
              </a:lnSpc>
              <a:spcAft>
                <a:spcPts val="0"/>
              </a:spcAft>
            </a:pPr>
            <a:r>
              <a:rPr sz="1090" b="0">
                <a:solidFill>
                  <a:srgbClr val="21364E"/>
                </a:solidFill>
                <a:latin typeface="Arial"/>
                <a:ea typeface="Arial"/>
                <a:cs typeface="Arial"/>
              </a:rPr>
              <a:t>Queue, compute and transfer</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RTF · chunk intervals</a:t>
            </a:r>
          </a:p>
          <a:p>
            <a:pPr algn="l">
              <a:lnSpc>
                <a:spcPct val="110000"/>
              </a:lnSpc>
              <a:spcAft>
                <a:spcPts val="0"/>
              </a:spcAft>
            </a:pPr>
            <a:r>
              <a:rPr sz="1090" b="0">
                <a:solidFill>
                  <a:srgbClr val="21364E"/>
                </a:solidFill>
                <a:latin typeface="Arial"/>
                <a:ea typeface="Arial"/>
                <a:cs typeface="Arial"/>
              </a:rPr>
              <a:t>Pauses and playback buffers</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Speech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Valid, complete audio</a:t>
            </a:r>
          </a:p>
          <a:p>
            <a:pPr algn="l">
              <a:lnSpc>
                <a:spcPct val="110000"/>
              </a:lnSpc>
              <a:spcAft>
                <a:spcPts val="0"/>
              </a:spcAft>
            </a:pPr>
            <a:r>
              <a:rPr sz="1090" b="0">
                <a:solidFill>
                  <a:srgbClr val="21364E"/>
                </a:solidFill>
                <a:latin typeface="Arial"/>
                <a:ea typeface="Arial"/>
                <a:cs typeface="Arial"/>
              </a:rPr>
              <a:t>WER / CER · listening quality</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Fix model, hardware, concurrency and timing origin. Benchmark support and evaluation tasks are model-specific.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Broader model coverage and consistent behavior during tool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parser in the turn-based Realtime path</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Tool-result round trip in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UNIFIED DUPLEX ROADMAP</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Framework owns shared call handling; plugins adapt model formats and behavior.</a:t>
                      </a:r>
                    </a:p>
                    <a:p>
                      <a:pPr>
                        <a:lnSpc>
                          <a:spcPct val="108000"/>
                        </a:lnSpc>
                        <a:spcAft>
                          <a:spcPts val="0"/>
                        </a:spcAft>
                      </a:pPr>
                      <a:r>
                        <a:rPr sz="1400" b="0">
                          <a:solidFill>
                            <a:srgbClr val="16304E"/>
                          </a:solidFill>
                          <a:latin typeface="Arial"/>
                          <a:ea typeface="Arial"/>
                          <a:cs typeface="Arial"/>
                        </a:rPr>
                        <a:t>Extend coverage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Shared call/result handling and model adapters</a:t>
            </a:r>
          </a:p>
          <a:p>
            <a:pPr algn="l">
              <a:lnSpc>
                <a:spcPct val="106000"/>
              </a:lnSpc>
              <a:spcAft>
                <a:spcPts val="0"/>
              </a:spcAft>
            </a:pPr>
            <a:r>
              <a:rPr sz="1400" b="0">
                <a:solidFill>
                  <a:srgbClr val="586B7E"/>
                </a:solidFill>
                <a:latin typeface="Arial"/>
                <a:ea typeface="Arial"/>
                <a:cs typeface="Arial"/>
              </a:rPr>
              <a:t>Interruption, timeout and stale-result handling</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Scaled multi-replica serving</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Higher session concurrency across Stage replicas</a:t>
            </a:r>
          </a:p>
          <a:p>
            <a:pPr algn="l">
              <a:lnSpc>
                <a:spcPct val="106000"/>
              </a:lnSpc>
              <a:spcAft>
                <a:spcPts val="0"/>
              </a:spcAft>
            </a:pPr>
            <a:r>
              <a:rPr sz="1400" b="0">
                <a:solidFill>
                  <a:srgbClr val="586B7E"/>
                </a:solidFill>
                <a:latin typeface="Arial"/>
                <a:ea typeface="Arial"/>
                <a:cs typeface="Arial"/>
              </a:rPr>
              <a:t>Session routing and ownership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PersonaPlex example</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 · Mimi</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Shared-memory audio codes</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then a turn model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after the silence threshold.</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Typically more compute per decision</a:t>
                      </a:r>
                    </a:p>
                    <a:p>
                      <a:pPr algn="l">
                        <a:lnSpc>
                          <a:spcPct val="106000"/>
                        </a:lnSpc>
                        <a:spcAft>
                          <a:spcPts val="0"/>
                        </a:spcAft>
                      </a:pPr>
                      <a:r>
                        <a:rPr sz="1420" b="0">
                          <a:solidFill>
                            <a:srgbClr val="16304E"/>
                          </a:solidFill>
                          <a:latin typeface="Arial"/>
                          <a:ea typeface="Arial"/>
                          <a:cs typeface="Arial"/>
                        </a:rPr>
                        <a:t>Planned: Omni Stage for heavier models</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Session Runner owns commit and interruption. Inference is asynchronous and stale results are discarded.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Cancel response; invalidate its queued audio</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Session stays open; PersonaPlex resets model context</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Valid resume token</a:t>
            </a:r>
          </a:p>
          <a:p>
            <a:pPr algn="l">
              <a:lnSpc>
                <a:spcPct val="110000"/>
              </a:lnSpc>
              <a:spcAft>
                <a:spcPts val="0"/>
              </a:spcAft>
            </a:pPr>
            <a:r>
              <a:rPr sz="1200" b="0">
                <a:solidFill>
                  <a:srgbClr val="21364E"/>
                </a:solidFill>
                <a:latin typeface="Arial"/>
                <a:ea typeface="Arial"/>
                <a:cs typeface="Arial"/>
              </a:rPr>
              <a:t>Matching lease generation</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position</a:t>
            </a:r>
          </a:p>
          <a:p>
            <a:pPr algn="l">
              <a:lnSpc>
                <a:spcPct val="110000"/>
              </a:lnSpc>
              <a:spcAft>
                <a:spcPts val="0"/>
              </a:spcAft>
            </a:pPr>
            <a:r>
              <a:rPr sz="1250" b="0">
                <a:solidFill>
                  <a:srgbClr val="21364E"/>
                </a:solidFill>
                <a:latin typeface="Arial"/>
                <a:ea typeface="Arial"/>
                <a:cs typeface="Arial"/>
              </a:rPr>
              <a:t>Required events remain available</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Defaults: disconnect grace 30s · idle TTL 300s · replay 60s / 8 MiB. Resume requires the same live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2026-10-09T09:53:03Z</dcterms:modified>
  <cp:category/>
</cp:coreProperties>
</file>