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85" r:id="rIdAgendaV71"/>
    <p:sldId id="256" r:id="rId7"/>
    <p:sldId id="261" r:id="rId12"/>
    <p:sldId id="257" r:id="rId8"/>
    <p:sldId id="258" r:id="rId9"/>
    <p:sldId id="259" r:id="rId10"/>
    <p:sldId id="260" r:id="rId11"/>
    <p:sldId id="262" r:id="rId13"/>
    <p:sldId id="280" r:id="rId30"/>
    <p:sldId id="271" r:id="rId21"/>
    <p:sldId id="282" r:id="rId32"/>
    <p:sldId id="268" r:id="rId20"/>
    <p:sldId id="269" r:id="rId15"/>
    <p:sldId id="284" r:id="rIdModelVadAppendix"/>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 Id="rIdModelVadAppendix" Type="http://schemas.openxmlformats.org/officeDocument/2006/relationships/slide" Target="slides/slide19.xml"/><Relationship Id="rIdAgendaV71"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Arial"/>
              </a:defRPr>
            </a:pPr>
            <a:r>
              <a:rPr lang="en-US" sz="1600" b="1" baseline="0">
                <a:solidFill>
                  <a:srgbClr val="16304E"/>
                </a:solidFill>
                <a:latin typeface="Arial"/>
              </a:rPr>
              <a:t>MiniCPM-o 4.5</a:t>
            </a:r>
          </a:p>
        </c:rich>
      </c:tx>
      <c:layout/>
    </c:title>
    <c:plotArea>
      <c:layout>
        <c:manualLayout>
          <c:layoutTarget val="inner"/>
          <c:xMode val="edge"/>
          <c:yMode val="edge"/>
          <c:x val="0.19"/>
          <c:y val="0.27000000000000002"/>
          <c:w val="0.73999999999999999"/>
          <c:h val="0.56999999999999995"/>
        </c:manualLayout>
      </c:layout>
      <c:lineChart>
        <c:grouping val="standard"/>
        <c:ser>
          <c:idx val="0"/>
          <c:order val="0"/>
          <c:tx>
            <c:v>1 concurrent request</c:v>
          </c:tx>
          <c:spPr>
            <a:ln w="31750">
              <a:solidFill>
                <a:srgbClr val="347FF0"/>
              </a:solidFill>
            </a:ln>
          </c:spPr>
          <c:marker>
            <c:symbol val="circle"/>
            <c:size val="3.5"/>
            <c:spPr>
              <a:solidFill>
                <a:srgbClr val="347FF0"/>
              </a:solidFill>
              <a:ln>
                <a:solidFill>
                  <a:srgbClr val="347FF0"/>
                </a:solidFill>
              </a:ln>
            </c:spPr>
          </c:marker>
          <c:dLbls>
            <c:dLbl>
              <c:idx val="0"/>
              <c:numFmt formatCode="0.00" sourceLinked="0"/>
              <c:txPr>
                <a:bodyPr/>
                <a:lstStyle/>
                <a:p>
                  <a:pPr>
                    <a:defRPr sz="1200" b="1" baseline="0">
                      <a:solidFill>
                        <a:srgbClr val="347FF0"/>
                      </a:solidFill>
                      <a:latin typeface="Arial"/>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347FF0"/>
                      </a:solidFill>
                      <a:latin typeface="Arial"/>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347FF0"/>
                    </a:solidFill>
                    <a:latin typeface="Arial"/>
                  </a:defRPr>
                </a:pPr>
                <a:endParaRPr lang="en-US"/>
              </a:p>
            </c:txPr>
            <c:dLblPos val="t"/>
            <c:showLegendKey val="0"/>
            <c:showVal val="1"/>
            <c:showCatName val="0"/>
            <c:showSerName val="0"/>
            <c:showPercent val="0"/>
            <c:showBubbleSize val="0"/>
          </c:dLbls>
          <c:cat>
            <c:strRef>
              <c:f>Data!$A$2:$A$31</c:f>
              <c:strCache>
                <c:ptCount val="30"/>
                <c:pt idx="0">
                  <c:v>Sep 9</c:v>
                </c:pt>
                <c:pt idx="1">
                  <c:v>Sep 10</c:v>
                </c:pt>
                <c:pt idx="2">
                  <c:v>Sep 11</c:v>
                </c:pt>
                <c:pt idx="3">
                  <c:v>Sep 12</c:v>
                </c:pt>
                <c:pt idx="4">
                  <c:v>Sep 13</c:v>
                </c:pt>
                <c:pt idx="5">
                  <c:v>Sep 14</c:v>
                </c:pt>
                <c:pt idx="6">
                  <c:v>Sep 15</c:v>
                </c:pt>
                <c:pt idx="7">
                  <c:v>Sep 16</c:v>
                </c:pt>
                <c:pt idx="8">
                  <c:v>Sep 17</c:v>
                </c:pt>
                <c:pt idx="9">
                  <c:v>Sep 18</c:v>
                </c:pt>
                <c:pt idx="10">
                  <c:v>Sep 19</c:v>
                </c:pt>
                <c:pt idx="11">
                  <c:v>Sep 20</c:v>
                </c:pt>
                <c:pt idx="12">
                  <c:v>Sep 21</c:v>
                </c:pt>
                <c:pt idx="13">
                  <c:v>Sep 22</c:v>
                </c:pt>
                <c:pt idx="14">
                  <c:v>Sep 23</c:v>
                </c:pt>
                <c:pt idx="15">
                  <c:v>Sep 24</c:v>
                </c:pt>
                <c:pt idx="16">
                  <c:v>Sep 25</c:v>
                </c:pt>
                <c:pt idx="17">
                  <c:v>Sep 26</c:v>
                </c:pt>
                <c:pt idx="18">
                  <c:v>Sep 27</c:v>
                </c:pt>
                <c:pt idx="19">
                  <c:v>Sep 28</c:v>
                </c:pt>
                <c:pt idx="20">
                  <c:v>Sep 29</c:v>
                </c:pt>
                <c:pt idx="21">
                  <c:v>Sep 30</c:v>
                </c:pt>
                <c:pt idx="22">
                  <c:v>Oct 1</c:v>
                </c:pt>
                <c:pt idx="23">
                  <c:v>Oct 2</c:v>
                </c:pt>
                <c:pt idx="24">
                  <c:v>Oct 3</c:v>
                </c:pt>
                <c:pt idx="25">
                  <c:v>Oct 4</c:v>
                </c:pt>
                <c:pt idx="26">
                  <c:v>Oct 5</c:v>
                </c:pt>
                <c:pt idx="27">
                  <c:v>Oct 6</c:v>
                </c:pt>
                <c:pt idx="28">
                  <c:v>Oct 7</c:v>
                </c:pt>
                <c:pt idx="29">
                  <c:v>Oct 8</c:v>
                </c:pt>
              </c:strCache>
            </c:strRef>
          </c:cat>
          <c:val>
            <c:numRef>
              <c:f>Data!$B$2:$B$31</c:f>
              <c:numCache>
                <c:formatCode>General</c:formatCode>
                <c:ptCount val="30"/>
                <c:pt idx="0">
                  <c:v>0.2796372324453467</c:v>
                </c:pt>
                <c:pt idx="1">
                  <c:v>0.3057066610116239</c:v>
                </c:pt>
                <c:pt idx="2">
                  <c:v>0.2862686890393618</c:v>
                </c:pt>
                <c:pt idx="3">
                  <c:v>0.2996849285750839</c:v>
                </c:pt>
                <c:pt idx="4">
                  <c:v>0.2814201706698345</c:v>
                </c:pt>
                <c:pt idx="5">
                  <c:v>0.3354380315932828</c:v>
                </c:pt>
                <c:pt idx="6">
                  <c:v>0.292886297319142</c:v>
                </c:pt>
                <c:pt idx="9">
                  <c:v>0.2566866281425211</c:v>
                </c:pt>
                <c:pt idx="10">
                  <c:v>0.2574453724335966</c:v>
                </c:pt>
                <c:pt idx="11">
                  <c:v>0.2658440473115476</c:v>
                </c:pt>
                <c:pt idx="12">
                  <c:v>0.26640340325851</c:v>
                </c:pt>
                <c:pt idx="13">
                  <c:v>0.2516296008271153</c:v>
                </c:pt>
                <c:pt idx="14">
                  <c:v>0.2643693599131755</c:v>
                </c:pt>
                <c:pt idx="15">
                  <c:v>0.2615320184411149</c:v>
                </c:pt>
                <c:pt idx="16">
                  <c:v>0.2698624881757311</c:v>
                </c:pt>
                <c:pt idx="17">
                  <c:v>0.2402596326001973</c:v>
                </c:pt>
                <c:pt idx="18">
                  <c:v>0.2342349890436853</c:v>
                </c:pt>
                <c:pt idx="19">
                  <c:v>0.2309197556005091</c:v>
                </c:pt>
                <c:pt idx="20">
                  <c:v>0.2321438143465041</c:v>
                </c:pt>
                <c:pt idx="21">
                  <c:v>0.2360356775189957</c:v>
                </c:pt>
                <c:pt idx="22">
                  <c:v>0.225033587387731</c:v>
                </c:pt>
                <c:pt idx="23">
                  <c:v>0.232949219429914</c:v>
                </c:pt>
                <c:pt idx="24">
                  <c:v>0.2339812625105425</c:v>
                </c:pt>
                <c:pt idx="25">
                  <c:v>0.2321937609004436</c:v>
                </c:pt>
                <c:pt idx="26">
                  <c:v>0.2199261068144891</c:v>
                </c:pt>
                <c:pt idx="27">
                  <c:v>0.1984515588338899</c:v>
                </c:pt>
                <c:pt idx="28">
                  <c:v>0.2004860409658522</c:v>
                </c:pt>
                <c:pt idx="29">
                  <c:v>0.1980657252767292</c:v>
                </c:pt>
              </c:numCache>
            </c:numRef>
          </c:val>
          <c:smooth val="0"/>
        </c:ser>
        <c:ser>
          <c:idx val="1"/>
          <c:order val="1"/>
          <c:tx>
            <c:v>8 concurrent requests</c:v>
          </c:tx>
          <c:spPr>
            <a:ln w="31750">
              <a:solidFill>
                <a:srgbClr val="008E96"/>
              </a:solidFill>
            </a:ln>
          </c:spPr>
          <c:marker>
            <c:symbol val="circle"/>
            <c:size val="3.5"/>
            <c:spPr>
              <a:solidFill>
                <a:srgbClr val="008E96"/>
              </a:solidFill>
              <a:ln>
                <a:solidFill>
                  <a:srgbClr val="008E96"/>
                </a:solidFill>
              </a:ln>
            </c:spPr>
          </c:marker>
          <c:dLbls>
            <c:dLbl>
              <c:idx val="0"/>
              <c:numFmt formatCode="0.00" sourceLinked="0"/>
              <c:txPr>
                <a:bodyPr/>
                <a:lstStyle/>
                <a:p>
                  <a:pPr>
                    <a:defRPr sz="1200" b="1" baseline="0">
                      <a:solidFill>
                        <a:srgbClr val="008E96"/>
                      </a:solidFill>
                      <a:latin typeface="Arial"/>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008E96"/>
                      </a:solidFill>
                      <a:latin typeface="Arial"/>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008E96"/>
                    </a:solidFill>
                    <a:latin typeface="Arial"/>
                  </a:defRPr>
                </a:pPr>
                <a:endParaRPr lang="en-US"/>
              </a:p>
            </c:txPr>
            <c:dLblPos val="t"/>
            <c:showLegendKey val="0"/>
            <c:showVal val="1"/>
            <c:showCatName val="0"/>
            <c:showSerName val="0"/>
            <c:showPercent val="0"/>
            <c:showBubbleSize val="0"/>
          </c:dLbls>
          <c:cat>
            <c:strRef>
              <c:f>Data!$A$2:$A$31</c:f>
              <c:strCache>
                <c:ptCount val="30"/>
                <c:pt idx="0">
                  <c:v>Sep 9</c:v>
                </c:pt>
                <c:pt idx="1">
                  <c:v>Sep 10</c:v>
                </c:pt>
                <c:pt idx="2">
                  <c:v>Sep 11</c:v>
                </c:pt>
                <c:pt idx="3">
                  <c:v>Sep 12</c:v>
                </c:pt>
                <c:pt idx="4">
                  <c:v>Sep 13</c:v>
                </c:pt>
                <c:pt idx="5">
                  <c:v>Sep 14</c:v>
                </c:pt>
                <c:pt idx="6">
                  <c:v>Sep 15</c:v>
                </c:pt>
                <c:pt idx="7">
                  <c:v>Sep 16</c:v>
                </c:pt>
                <c:pt idx="8">
                  <c:v>Sep 17</c:v>
                </c:pt>
                <c:pt idx="9">
                  <c:v>Sep 18</c:v>
                </c:pt>
                <c:pt idx="10">
                  <c:v>Sep 19</c:v>
                </c:pt>
                <c:pt idx="11">
                  <c:v>Sep 20</c:v>
                </c:pt>
                <c:pt idx="12">
                  <c:v>Sep 21</c:v>
                </c:pt>
                <c:pt idx="13">
                  <c:v>Sep 22</c:v>
                </c:pt>
                <c:pt idx="14">
                  <c:v>Sep 23</c:v>
                </c:pt>
                <c:pt idx="15">
                  <c:v>Sep 24</c:v>
                </c:pt>
                <c:pt idx="16">
                  <c:v>Sep 25</c:v>
                </c:pt>
                <c:pt idx="17">
                  <c:v>Sep 26</c:v>
                </c:pt>
                <c:pt idx="18">
                  <c:v>Sep 27</c:v>
                </c:pt>
                <c:pt idx="19">
                  <c:v>Sep 28</c:v>
                </c:pt>
                <c:pt idx="20">
                  <c:v>Sep 29</c:v>
                </c:pt>
                <c:pt idx="21">
                  <c:v>Sep 30</c:v>
                </c:pt>
                <c:pt idx="22">
                  <c:v>Oct 1</c:v>
                </c:pt>
                <c:pt idx="23">
                  <c:v>Oct 2</c:v>
                </c:pt>
                <c:pt idx="24">
                  <c:v>Oct 3</c:v>
                </c:pt>
                <c:pt idx="25">
                  <c:v>Oct 4</c:v>
                </c:pt>
                <c:pt idx="26">
                  <c:v>Oct 5</c:v>
                </c:pt>
                <c:pt idx="27">
                  <c:v>Oct 6</c:v>
                </c:pt>
                <c:pt idx="28">
                  <c:v>Oct 7</c:v>
                </c:pt>
                <c:pt idx="29">
                  <c:v>Oct 8</c:v>
                </c:pt>
              </c:strCache>
            </c:strRef>
          </c:cat>
          <c:val>
            <c:numRef>
              <c:f>Data!$C$2:$C$31</c:f>
              <c:numCache>
                <c:formatCode>General</c:formatCode>
                <c:ptCount val="30"/>
                <c:pt idx="0">
                  <c:v>1.594658488735538</c:v>
                </c:pt>
                <c:pt idx="1">
                  <c:v>1.639119254901777</c:v>
                </c:pt>
                <c:pt idx="2">
                  <c:v>1.600506823076087</c:v>
                </c:pt>
                <c:pt idx="3">
                  <c:v>1.533075325540891</c:v>
                </c:pt>
                <c:pt idx="4">
                  <c:v>1.427439952879524</c:v>
                </c:pt>
                <c:pt idx="5">
                  <c:v>1.548777177390953</c:v>
                </c:pt>
                <c:pt idx="6">
                  <c:v>1.443613136566437</c:v>
                </c:pt>
                <c:pt idx="9">
                  <c:v>1.223237542270912</c:v>
                </c:pt>
                <c:pt idx="10">
                  <c:v>1.214442790468634</c:v>
                </c:pt>
                <c:pt idx="11">
                  <c:v>1.203165919083194</c:v>
                </c:pt>
                <c:pt idx="12">
                  <c:v>1.228476333626099</c:v>
                </c:pt>
                <c:pt idx="13">
                  <c:v>1.216958569393258</c:v>
                </c:pt>
                <c:pt idx="14">
                  <c:v>1.234337931990434</c:v>
                </c:pt>
                <c:pt idx="15">
                  <c:v>1.229611216873418</c:v>
                </c:pt>
                <c:pt idx="16">
                  <c:v>1.150527558844016</c:v>
                </c:pt>
                <c:pt idx="17">
                  <c:v>1.163503890476065</c:v>
                </c:pt>
                <c:pt idx="18">
                  <c:v>1.136492505645574</c:v>
                </c:pt>
                <c:pt idx="19">
                  <c:v>1.119524658925677</c:v>
                </c:pt>
                <c:pt idx="20">
                  <c:v>0.957241651854932</c:v>
                </c:pt>
                <c:pt idx="21">
                  <c:v>0.9713509255918522</c:v>
                </c:pt>
                <c:pt idx="22">
                  <c:v>0.9541174115557042</c:v>
                </c:pt>
                <c:pt idx="23">
                  <c:v>0.9149869953254338</c:v>
                </c:pt>
                <c:pt idx="24">
                  <c:v>0.9561431470835395</c:v>
                </c:pt>
                <c:pt idx="25">
                  <c:v>0.9721078984292808</c:v>
                </c:pt>
                <c:pt idx="26">
                  <c:v>0.9844461966498954</c:v>
                </c:pt>
                <c:pt idx="27">
                  <c:v>0.7430039011861929</c:v>
                </c:pt>
                <c:pt idx="28">
                  <c:v>0.5597075615335489</c:v>
                </c:pt>
                <c:pt idx="29">
                  <c:v>0.4902875810555307</c:v>
                </c:pt>
              </c:numCache>
            </c:numRef>
          </c:val>
          <c:smooth val="0"/>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050" baseline="0">
                <a:solidFill>
                  <a:srgbClr val="526985"/>
                </a:solidFill>
                <a:latin typeface="Arial"/>
              </a:defRPr>
            </a:pPr>
            <a:endParaRPr lang="en-US"/>
          </a:p>
        </c:txPr>
        <c:crossAx val="50010002"/>
        <c:crosses val="autoZero"/>
        <c:auto val="1"/>
        <c:lblAlgn val="ctr"/>
        <c:lblOffset val="100"/>
        <c:tickLblSkip val="7"/>
      </c:catAx>
      <c:valAx>
        <c:axId val="50010002"/>
        <c:scaling>
          <c:orientation val="minMax"/>
          <c:max val="1.8"/>
          <c:min val="0"/>
        </c:scaling>
        <c:axPos val="l"/>
        <c:majorGridlines>
          <c:spPr>
            <a:ln w="9525">
              <a:solidFill>
                <a:srgbClr val="DFE7EF"/>
              </a:solidFill>
            </a:ln>
          </c:spPr>
        </c:majorGridlines>
        <c:title>
          <c:tx>
            <c:rich>
              <a:bodyPr rot="-5400000" vert="horz"/>
              <a:lstStyle/>
              <a:p>
                <a:pPr>
                  <a:defRPr sz="1050" baseline="0">
                    <a:solidFill>
                      <a:srgbClr val="526985"/>
                    </a:solidFill>
                    <a:latin typeface="Arial"/>
                  </a:defRPr>
                </a:pPr>
                <a:r>
                  <a:rPr lang="en-US" sz="1050" baseline="0">
                    <a:solidFill>
                      <a:srgbClr val="526985"/>
                    </a:solidFill>
                    <a:latin typeface="Arial"/>
                  </a:rPr>
                  <a:t>Mean Audio RTF</a:t>
                </a:r>
              </a:p>
            </c:rich>
          </c:tx>
          <c:layout/>
        </c:title>
        <c:numFmt formatCode="0.0" sourceLinked="0"/>
        <c:majorTickMark val="none"/>
        <c:tickLblPos val="nextTo"/>
        <c:spPr>
          <a:ln>
            <a:noFill/>
          </a:ln>
        </c:spPr>
        <c:txPr>
          <a:bodyPr/>
          <a:lstStyle/>
          <a:p>
            <a:pPr>
              <a:defRPr sz="1050" baseline="0">
                <a:solidFill>
                  <a:srgbClr val="526985"/>
                </a:solidFill>
                <a:latin typeface="Arial"/>
              </a:defRPr>
            </a:pPr>
            <a:endParaRPr lang="en-US"/>
          </a:p>
        </c:txPr>
        <c:crossAx val="50010001"/>
        <c:crosses val="autoZero"/>
        <c:crossBetween val="midCat"/>
        <c:majorUnit val="0.6"/>
      </c:valAx>
      <c:spPr>
        <a:solidFill>
          <a:srgbClr val="FFFFFF"/>
        </a:solidFill>
        <a:ln>
          <a:noFill/>
        </a:ln>
      </c:spPr>
    </c:plotArea>
    <c:legend>
      <c:legendPos val="t"/>
      <c:layout/>
      <c:txPr>
        <a:bodyPr/>
        <a:lstStyle/>
        <a:p>
          <a:pPr>
            <a:defRPr sz="1050" baseline="0">
              <a:solidFill>
                <a:srgbClr val="526985"/>
              </a:solidFill>
              <a:latin typeface="Arial"/>
            </a:defRPr>
          </a:pPr>
          <a:endParaRPr lang="en-US"/>
        </a:p>
      </c:txPr>
    </c:legend>
    <c:plotVisOnly val="1"/>
    <c:dispBlanksAs val="gap"/>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Inflection Point in SI Interaction</a:t>
            </a:r>
          </a:p>
          <a:p>
            <a:r>
              <a:t>How vLLM-Omni Enables Models to Listen and Speak Simultaneously</a:t>
            </a:r>
          </a:p>
          <a:p>
            <a:r>
              <a:t/>
            </a:r>
          </a:p>
          <a:p>
            <a:r>
              <a:t>Full duplex lets models keep listening while speaking. This talk introduces the interaction modes, unified runtime architecture and measured performance of vLLM-Omni. Capabilities vary by model and execution mode.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Duplex is the community-wide serving scope. Contributions cover native-duplex models and turn-based models served through duplex sessions; this title does not claim that every model is natively full duplex.</a:t>
            </a:r>
          </a:p>
          <a:p>
            <a:r>
              <a:t/>
            </a:r>
          </a:p>
          <a:p>
            <a:r>
              <a:t>Full duplex is built with the vLLM-Omni community. This edition recognizes 62 GitHub-linked human contributors across 166 related pull requests merged to main through 7 October 2026. The slide uses rounded lower bounds of 60+ contributors and 160+ PRs.</a:t>
            </a:r>
          </a:p>
          <a:p>
            <a:r>
              <a:t/>
            </a:r>
          </a:p>
          <a:p>
            <a: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t/>
            </a:r>
          </a:p>
          <a:p>
            <a:r>
              <a:t>Selected milestones connect native duplex, the unified framework, Realtime interoperability, model integrations and bounded output delivery. The complete attribution is in the companion Community Credits document.</a:t>
            </a:r>
          </a:p>
          <a:p>
            <a:r>
              <a:t/>
            </a:r>
          </a:p>
          <a:p>
            <a:r>
              <a:t>Sources:</a:t>
            </a:r>
          </a:p>
          <a:p>
            <a:r>
              <a:t>- https://github.com/vllm-project/vllm-omni/pull/3907</a:t>
            </a:r>
          </a:p>
          <a:p>
            <a:r>
              <a:t>- https://github.com/vllm-project/vllm-omni/pull/7413</a:t>
            </a:r>
          </a:p>
          <a:p>
            <a:r>
              <a:t>- https://github.com/vllm-project/vllm-omni/pull/7285</a:t>
            </a:r>
          </a:p>
          <a:p>
            <a:r>
              <a:t>- https://github.com/vllm-project/vllm-omni/pull/7585</a:t>
            </a:r>
          </a:p>
          <a:p>
            <a:r>
              <a:t>- https://github.com/vllm-project/vllm-omni/pull/7695</a:t>
            </a:r>
          </a:p>
          <a:p>
            <a:r>
              <a:t>- https://github.com/vllm-project/vllm-omni/pull/6089</a:t>
            </a:r>
          </a:p>
          <a:p>
            <a:r>
              <a:t>- https://github.com/vllm-project/vllm-omni/pull/7633</a:t>
            </a:r>
          </a:p>
          <a:p>
            <a:r>
              <a:t>- https://github.com/vllm-project/vllm-omni/pull/7644</a:t>
            </a:r>
          </a:p>
          <a:p>
            <a:r>
              <a:t/>
            </a:r>
          </a:p>
          <a:p>
            <a:r>
              <a:t>PR #7644 bounds each session output buffer and rejects cancelled audio before delivery. The client must still stop audio already received.</a:t>
            </a:r>
          </a:p>
          <a:p>
            <a:r>
              <a:t>Source: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compares interaction experiences. Half-duplex means input and output take turns in the illustrated client experience; it is not a label for every turn-based model or transport. The half-duplex camera frames likewise accompany the accepted input segments. Full-duplex allows incoming user speech to overlap assistant output, with camera input continuing in this illustrated multimodal configuration. Waveform spacing is schematic, not a latency benchmark. Camera/video support depends on the model and configuration.</a:t>
            </a:r>
          </a:p>
          <a:p>
            <a:r>
              <a:t/>
            </a:r>
          </a:p>
          <a:p>
            <a:r>
              <a:t>Streamed responses are a shared capability: a turn-based or half-duplex experience can still generate and deliver audio/text incrementally. Native duplex models add the ability to use ongoing input within model execution to influence subsequent output or choose to yield. Qwen3-Omni + Server VAD instead buffers committed turns and supports externally triggered interruption; that distinction is detailed in Appendix A2. The detailed diagram and explicit-cancel versus VAD paths have been relocated there.</a:t>
            </a:r>
          </a:p>
          <a:p>
            <a:r>
              <a:t/>
            </a:r>
          </a:p>
          <a:p>
            <a:r>
              <a:t>Sources:</a:t>
            </a:r>
          </a:p>
          <a:p>
            <a:r>
              <a:t>https://github.com/vllm-project/vllm-omni/blob/f3391da7c58ee8dc990829aab82166edf865d19b/examples/online_serving/realtime_web/app/static/profiles/minicpm_native.js</a:t>
            </a:r>
          </a:p>
          <a:p>
            <a:r>
              <a:t>https://github.com/vllm-project/vllm-omni/blob/f3391da7c58ee8dc990829aab82166edf865d19b/examples/online_serving/realtime_web/app/static/profiles/qwen3_turn.js</a:t>
            </a:r>
          </a:p>
          <a:p>
            <a:r>
              <a:t>https://github.com/vllm-project/vllm-omni/blob/f3391da7c58ee8dc990829aab82166edf865d19b/examples/online_serving/realtime_web/app/static/app.js</a:t>
            </a:r>
          </a:p>
          <a:p>
            <a:r>
              <a:t>https://github.com/vllm-project/vllm-omni/blob/f3391da7c58ee8dc990829aab82166edf865d19b/vllm_omni/model_executor/models/minicpmo_4_5/duplex/capabilities.py</a:t>
            </a:r>
          </a:p>
          <a:p>
            <a:r>
              <a:t>https://github.com/vllm-project/vllm-omni/blob/f3391da7c58ee8dc990829aab82166edf865d19b/vllm_omni/model_executor/models/minicpmo_4_5/duplex/plugin.py</a:t>
            </a:r>
          </a:p>
          <a:p>
            <a:r>
              <a:t>https://github.com/vllm-project/vllm-omni/blob/f3391da7c58ee8dc990829aab82166edf865d19b/vllm_omni/model_executor/models/qwen3_omni/duplex/plugin.py</a:t>
            </a:r>
          </a:p>
          <a:p>
            <a:r>
              <a:t>https://github.com/vllm-project/vllm-omni/blob/f3391da7c58ee8dc990829aab82166edf865d19b/vllm_omni/engine/duplex/session/model_channel.py</a:t>
            </a:r>
          </a:p>
          <a:p>
            <a:r>
              <a:t>https://github.com/vllm-project/vllm-omni/blob/f3391da7c58ee8dc990829aab82166edf865d19b/vllm_omni/engine/duplex/session/overlap_policy.py</a:t>
            </a:r>
          </a:p>
          <a:p>
            <a:r>
              <a:t>https://github.com/vllm-project/vllm-omni/blob/f3391da7c58ee8dc990829aab82166edf865d19b/vllm_omni/engine/duplex/session/runner.py</a:t>
            </a:r>
          </a:p>
          <a:p>
            <a:r>
              <a:t>https://github.com/vllm-project/vllm-omni/blob/f3391da7c58ee8dc990829aab82166edf865d19b/vllm_omni/engine/duplex/vad.py</a:t>
            </a:r>
          </a:p>
          <a:p>
            <a:r>
              <a:t>https://github.com/vllm-project/vllm-omni/blob/4c5541cfc17143f80bdb89bbb7a5840b08bb52c6/vllm_omni/model_executor/models/qwen3_omni/duplex/plugin.py</a:t>
            </a:r>
          </a:p>
          <a:p>
            <a:r>
              <a:t>https://github.com/vllm-project/vllm-omni/blob/4c5541cfc17143f80bdb89bbb7a5840b08bb52c6/examples/online_serving/realtime_web/app/static/profiles/qwen3_turn.js</a:t>
            </a:r>
          </a:p>
          <a:p>
            <a:r>
              <a:t>https://github.com/vllm-project/vllm-omni/blob/4c5541cfc17143f80bdb89bbb7a5840b08bb52c6/vllm_omni/model_executor/models/minicpmo_4_5/duplex/plugin.py</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bottom cards are examples of mechanisms, not a feature checklist shared by every model. Native models continuously process input during output; AURA can make a per-commit silent/speak decision but does not append new input to one live Thinker request. Local playback stop does not by itself cancel inference.</a:t>
            </a:r>
          </a:p>
          <a:p>
            <a:r>
              <a:t/>
            </a:r>
          </a:p>
          <a:p>
            <a:r>
              <a:t>Sources:</a:t>
            </a:r>
          </a:p>
          <a:p>
            <a:r>
              <a:t>https://github.com/vllm-project/vllm-omni/blob/4c5541cfc17143f80bdb89bbb7a5840b08bb52c6/examples/online_serving/realtime_web/app/static/profiles/qwen3_turn.js</a:t>
            </a:r>
          </a:p>
          <a:p>
            <a:r>
              <a:t>https://github.com/vllm-project/vllm-omni/blob/4c5541cfc17143f80bdb89bbb7a5840b08bb52c6/examples/online_serving/realtime_web/app/static/profiles/aura_ptt.js</a:t>
            </a:r>
          </a:p>
          <a:p>
            <a:r>
              <a:t>https://github.com/vllm-project/vllm-omni/blob/ee81f33001922f8d91dd09da0a57ee1531a8df82/vllm_omni/model_executor/models/personaplex/duplex/plugin.py#L236-L258</a:t>
            </a:r>
          </a:p>
          <a:p>
            <a:r>
              <a:t>https://github.com/vllm-project/vllm-omni/blob/ee81f33001922f8d91dd09da0a57ee1531a8df82/examples/online_serving/realtime_web/app/static/profiles/qwen3_turn.js#L14-L20</a:t>
            </a:r>
          </a:p>
          <a:p>
            <a:r>
              <a:t>https://github.com/vllm-project/vllm-omni/blob/ee81f33001922f8d91dd09da0a57ee1531a8df82/examples/online_serving/realtime_web/app/static/profiles/aura_ptt.js#L8-L29</a:t>
            </a:r>
          </a:p>
          <a:p>
            <a:r>
              <a:t>https://github.com/vllm-project/vllm-omni/blob/ee81f33001922f8d91dd09da0a57ee1531a8df82/vllm_omni/model_executor/models/aura_omni/duplex/plugin.py#L374-L388</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https://github.com/vllm-project/vllm-omni/blob/712b90de9c7bc14c595b363401588a713a87c02d/vllm_omni/engine/duplex/delivery.py</a:t>
            </a:r>
          </a:p>
          <a:p>
            <a:r>
              <a:t>https://github.com/vllm-project/vllm-omni/blob/712b90de9c7bc14c595b363401588a713a87c02d/vllm_omni/entrypoints/duplex/session_attachment.py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10/13 remains a MiniCPM benchmark, not a PersonaPlex measurement.</a:t>
            </a:r>
          </a:p>
          <a:p>
            <a:r>
              <a:t/>
            </a:r>
          </a:p>
          <a:p>
            <a:r>
              <a:t>The duplex message protocol builds on the OpenAI Realtime event vocabulary and payload structure, with vLLM-Omni extensions for video input, playback feedback and session resume. /v1/duplex is an alias of /v1/realtime?duplex=1; both use the same handler and wire protocol. This describes protocol lineage and extensions, not universal feature support or complete semantic equivalence across all models.</a:t>
            </a:r>
          </a:p>
          <a:p>
            <a:r>
              <a:t/>
            </a:r>
          </a:p>
          <a:p>
            <a:r>
              <a:t>Reference: https://github.com/vllm-project/vllm-omni/blob/d5a3380103df2fc827f095c60dbfb6e1c5655fd3/docs/serving/realtime_duplex_api.md#compatibility-with-the-openai-realtime-protocol</a:t>
            </a:r>
          </a:p>
          <a:p>
            <a:r>
              <a:t/>
            </a:r>
          </a:p>
          <a:p>
            <a: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t/>
            </a:r>
          </a:p>
          <a:p>
            <a: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t/>
            </a:r>
          </a:p>
          <a:p>
            <a: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t/>
            </a:r>
          </a:p>
          <a:p>
            <a: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t/>
            </a:r>
          </a:p>
          <a:p>
            <a:r>
              <a:t>Sources:</a:t>
            </a:r>
          </a:p>
          <a:p>
            <a:r>
              <a:t>- https://github.com/vllm-project/vllm-omni/blob/712b90de9c7bc14c595b363401588a713a87c02d/vllm_omni/entrypoints/openai/api_server.py</a:t>
            </a:r>
          </a:p>
          <a:p>
            <a:r>
              <a:t>- https://github.com/vllm-project/vllm-omni/blob/712b90de9c7bc14c595b363401588a713a87c02d/vllm_omni/entrypoints/duplex/openai.py</a:t>
            </a:r>
          </a:p>
          <a:p>
            <a:r>
              <a:t>- https://github.com/vllm-project/vllm-omni/blob/712b90de9c7bc14c595b363401588a713a87c02d/vllm_omni/entrypoints/openai/realtime/connection.py</a:t>
            </a:r>
          </a:p>
          <a:p>
            <a:r>
              <a:t>- https://github.com/vllm-project/vllm-omni/blob/712b90de9c7bc14c595b363401588a713a87c02d/vllm_omni/model_executor/models/minicpmo_4_5/duplex/capabilities.py</a:t>
            </a:r>
          </a:p>
          <a:p>
            <a:r>
              <a:t>- https://github.com/vllm-project/vllm-omni/blob/712b90de9c7bc14c595b363401588a713a87c02d/vllm_omni/model_executor/models/qwen3_omni/duplex/plugin.py</a:t>
            </a:r>
          </a:p>
          <a:p>
            <a:r>
              <a:t>- https://github.com/vllm-project/vllm-omni/blob/712b90de9c7bc14c595b363401588a713a87c02d/vllm_omni/model_executor/models/aura_omni/duplex/plugin.py</a:t>
            </a:r>
          </a:p>
          <a:p>
            <a:r>
              <a:t>- https://github.com/vllm-project/vllm-omni/blob/712b90de9c7bc14c595b363401588a713a87c02d/vllm_omni/model_executor/models/personaplex/duplex/plugin.py</a:t>
            </a:r>
          </a:p>
          <a:p>
            <a:r>
              <a:t>- https://github.com/vllm-project/vllm-omni/blob/712b90de9c7bc14c595b363401588a713a87c02d/vllm_omni/model_executor/models/nemotron_voicechat/duplex/plugin.py</a:t>
            </a:r>
          </a:p>
          <a:p>
            <a:r>
              <a:t>- https://github.com/vllm-project/vllm-omni/blob/712b90de9c7bc14c595b363401588a713a87c02d/examples/online_serving/realtime_web/app/static/profiles/qwen3_turn.js</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Commands and lifecycle operations cross the same engine request transport. Open, close and resume use control-result correlation; ordinary session outputs go directly to the bounded buffer shared with the handle. EngineClient owns handles and routes command/event traffic; the Orchestrator runs session control and Stage dispatch on its own event loop in the same process.</a:t>
            </a:r>
          </a:p>
          <a:p>
            <a:r>
              <a:t/>
            </a:r>
          </a:p>
          <a:p>
            <a:r>
              <a:t>Sources:</a:t>
            </a:r>
          </a:p>
          <a:p>
            <a:r>
              <a:t>https://github.com/vllm-project/vllm-omni/blob/4c5541cfc17143f80bdb89bbb7a5840b08bb52c6/vllm_omni/engine/duplex_omni_engine.py</a:t>
            </a:r>
          </a:p>
          <a:p>
            <a:r>
              <a:t>https://github.com/vllm-project/vllm-omni/blob/4c5541cfc17143f80bdb89bbb7a5840b08bb52c6/vllm_omni/entrypoints/duplex_omni.py</a:t>
            </a:r>
          </a:p>
          <a:p>
            <a:r>
              <a:t>https://github.com/vllm-project/vllm-omni/blob/4c5541cfc17143f80bdb89bbb7a5840b08bb52c6/vllm_omni/engine/duplex/session/manager.py</a:t>
            </a:r>
          </a:p>
          <a:p>
            <a:r>
              <a:t>https://github.com/vllm-project/vllm-omni/blob/712b90de9c7bc14c595b363401588a713a87c02d/vllm_omni/entrypoints/duplex_omni.py</a:t>
            </a:r>
          </a:p>
          <a:p>
            <a:r>
              <a:t>https://github.com/vllm-project/vllm-omni/blob/712b90de9c7bc14c595b363401588a713a87c02d/vllm_omni/engine/duplex_omni_engine.py</a:t>
            </a:r>
          </a:p>
          <a:p>
            <a:r>
              <a:t>https://github.com/vllm-project/vllm-omni/blob/712b90de9c7bc14c595b363401588a713a87c02d/vllm_omni/engine/duplex/session/manager.py</a:t>
            </a:r>
          </a:p>
          <a:p>
            <a:r>
              <a:t>https://github.com/vllm-project/vllm-omni/blob/712b90de9c7bc14c595b363401588a713a87c02d/vllm_omni/engine/duplex/session/runner.py</a:t>
            </a:r>
          </a:p>
          <a:p>
            <a:r>
              <a:t>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represents framework I/O concurrency. Continued input reception does not mean every model immediately incorporates it into a running generation. Native plugins append to a live request; Qwen3-Omni and AURA wait for committed input to start fresh requests. Stage execution includes EngineCore scheduling and workers. Event acknowledgments terminate at the API; playback acknowledgments go to the session runtime.</a:t>
            </a:r>
          </a:p>
          <a:p>
            <a:r>
              <a:t/>
            </a:r>
          </a:p>
          <a:p>
            <a:r>
              <a:t>Sources:</a:t>
            </a:r>
          </a:p>
          <a:p>
            <a:r>
              <a:t>https://github.com/vllm-project/vllm-omni/blob/4c5541cfc17143f80bdb89bbb7a5840b08bb52c6/vllm_omni/engine/duplex/session/runner.py</a:t>
            </a:r>
          </a:p>
          <a:p>
            <a:r>
              <a:t>https://github.com/vllm-project/vllm-omni/blob/4c5541cfc17143f80bdb89bbb7a5840b08bb52c6/vllm_omni/model_executor/models/qwen3_omni/duplex/plugin.py</a:t>
            </a:r>
          </a:p>
          <a:p>
            <a:r>
              <a:t>https://github.com/vllm-project/vllm-omni/blob/4c5541cfc17143f80bdb89bbb7a5840b08bb52c6/vllm_omni/model_executor/models/aura_omni/duplex/plugin.py</a:t>
            </a:r>
          </a:p>
          <a:p>
            <a:r>
              <a:t>https://github.com/vllm-project/vllm-omni/blob/712b90de9c7bc14c595b363401588a713a87c02d/vllm_omni/entrypoints/duplex/serving.py</a:t>
            </a:r>
          </a:p>
          <a:p>
            <a:r>
              <a:t>https://github.com/vllm-project/vllm-omni/blob/712b90de9c7bc14c595b363401588a713a87c02d/vllm_omni/entrypoints/duplex_omni.py</a:t>
            </a:r>
          </a:p>
          <a:p>
            <a:r>
              <a:t>https://github.com/vllm-project/vllm-omni/blob/712b90de9c7bc14c595b363401588a713a87c02d/vllm_omni/engine/duplex/session/manager.py</a:t>
            </a:r>
          </a:p>
          <a:p>
            <a:r>
              <a:t>https://github.com/vllm-project/vllm-omni/blob/712b90de9c7bc14c595b363401588a713a87c02d/vllm_omni/engine/duplex/delivery.py</a:t>
            </a:r>
          </a:p>
          <a:p>
            <a:r>
              <a:t>https://github.com/vllm-project/vllm-omni/blob/712b90de9c7bc14c595b363401588a713a87c02d/vllm_omni/config/stage_config.py</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flow for 08/13</a:t>
            </a:r>
          </a:p>
          <a:p>
            <a:r>
              <a:t>Read one model row at a time: incoming media, compute stages, transmitted data, then the state carried into the next input. Stage numbers are local to each model pipeline, not a cross-model execution sequence. The pale rows use the same visual treatment for all models. Blue marks native duplex and teal marks turn-based execution.</a:t>
            </a:r>
          </a:p>
          <a:p>
            <a:r>
              <a:t/>
            </a:r>
          </a:p>
          <a:p>
            <a:r>
              <a:t>PersonaPlex: PCM in, audio codec tokens between stages, PCM out. The client preset sends mono 24 kHz pcm_f32le and receives 24 kHz pcm16 via Base64 WebSocket payloads. The session input buffer groups audio into 1920-sample / 80 ms units; 80 ms is a frame duration, not an end-to-end latency. Stage 0 contains streaming Mimi encoding plus Temporal Transformer and Depformer. The inter-stage adapter selects eight assistant codebooks, compensates their acoustic delays and packs them codebook-major. Stage 1 Mimi decoding emits float32 waveform samples; the output adapter performs the requested wire encoding. Stage 0 retains temporal KV and Mimi encoder state; Stage 1 retains Mimi decoder state. The encoder is not a third Stage and does not run in the API Server or Orchestrator.</a:t>
            </a:r>
          </a:p>
          <a:p>
            <a:r>
              <a:t/>
            </a:r>
          </a:p>
          <a:p>
            <a:r>
              <a:t>MiniCPM-o 4.5: stage 0 is the multimodal LLM; SPEAK passes text and model features to the Talker, followed by codec tokens to Code2Wav. LISTEN retains the live request rather than starting speech synthesis. LLM KV and streaming audio state are reused across native input appends, with the configured window policy. Downstream TTS and decoder state belongs to the speech-generation request, not a generic promise to preserve all downstream state for the whole session. The live request remains associated with its selected Stage replica.</a:t>
            </a:r>
          </a:p>
          <a:p>
            <a:r>
              <a:t/>
            </a:r>
          </a:p>
          <a:p>
            <a:r>
              <a:t>AURA: the stages are ASR, Thinker, Talker and Code2Wav. ASR produces text. Thinker uses the transcript, video and conversation context, then supplies text to the speech stages. Context carried into future turns consists of ASR text, retained video clips and assistant text, under the session context policy. A new committed turn creates a new generation request. The next turn can begin after Thinker completes while the prior speech synthesis continues.</a:t>
            </a:r>
          </a:p>
          <a:p>
            <a:r>
              <a:t/>
            </a:r>
          </a:p>
          <a:p>
            <a:r>
              <a:t>Qwen3-Omni: Thinker, Talker and Code2Wav; no separate ASR Stage. The Thinker consumes user audio/image frames plus conversation context; its text/embeddings and hidden features condition Talker. Codec tokens go to Code2Wav. Retained context includes user audio, image frames and conversation text, subject to configured limits. Input can arrive during output, but a committed turn starts fresh generation rather than appending to a continuously running native model request.</a:t>
            </a:r>
          </a:p>
          <a:p>
            <a:r>
              <a:t/>
            </a:r>
          </a:p>
          <a:p>
            <a:r>
              <a:t>Scope: the right column contrasts live computation retained across native inputs with conversation history reused for fresh turn-based requests. It is not an exhaustive list of every transient runtime buffer. Turn-based speech synthesis may retain decoder state within a response. Stage means a model-compute step; a replica is an execution instance of a Stage. A Stage can contain several internal modules.</a:t>
            </a:r>
          </a:p>
          <a:p>
            <a:r>
              <a:t/>
            </a:r>
          </a:p>
          <a:p>
            <a:r>
              <a:t>Source baseline: upstream main b65107d61331327424910c72e7a2da137dcfb3df; the relevant model pipeline/plugin/processor files are unchanged from the previously inspected f3391da7c snapshot. This is a targeted slide rewrite; the rest of the deck retains its previous source baselines.</a:t>
            </a:r>
          </a:p>
          <a:p>
            <a:r>
              <a:t>https://github.com/vllm-project/vllm-omni/blob/b65107d61331327424910c72e7a2da137dcfb3df/vllm_omni/clients/personaplex.py</a:t>
            </a:r>
          </a:p>
          <a:p>
            <a:r>
              <a:t>https://github.com/vllm-project/vllm-omni/blob/b65107d61331327424910c72e7a2da137dcfb3df/vllm_omni/model_executor/models/personaplex/pipeline.py</a:t>
            </a:r>
          </a:p>
          <a:p>
            <a:r>
              <a:t>https://github.com/vllm-project/vllm-omni/blob/b65107d61331327424910c72e7a2da137dcfb3df/vllm_omni/model_executor/models/personaplex/duplex/stage0.py</a:t>
            </a:r>
          </a:p>
          <a:p>
            <a:r>
              <a:t>https://github.com/vllm-project/vllm-omni/blob/b65107d61331327424910c72e7a2da137dcfb3df/vllm_omni/model_executor/stage_input_processors/personaplex.py</a:t>
            </a:r>
          </a:p>
          <a:p>
            <a:r>
              <a:t>https://github.com/vllm-project/vllm-omni/blob/b65107d61331327424910c72e7a2da137dcfb3df/vllm_omni/model_executor/models/personaplex/personaplex_code2wav.py</a:t>
            </a:r>
          </a:p>
          <a:p>
            <a:r>
              <a:t>https://github.com/vllm-project/vllm-omni/blob/b65107d61331327424910c72e7a2da137dcfb3df/vllm_omni/model_executor/models/minicpmo_4_5/pipeline.py</a:t>
            </a:r>
          </a:p>
          <a:p>
            <a:r>
              <a:t>https://github.com/vllm-project/vllm-omni/blob/b65107d61331327424910c72e7a2da137dcfb3df/vllm_omni/model_executor/models/minicpmo_4_5/duplex/plugin.py</a:t>
            </a:r>
          </a:p>
          <a:p>
            <a:r>
              <a:t>https://github.com/vllm-project/vllm-omni/blob/b65107d61331327424910c72e7a2da137dcfb3df/vllm_omni/model_executor/models/minicpmo_4_5/duplex/policy.py</a:t>
            </a:r>
          </a:p>
          <a:p>
            <a:r>
              <a:t>https://github.com/vllm-project/vllm-omni/blob/b65107d61331327424910c72e7a2da137dcfb3df/vllm_omni/model_executor/models/aura_omni/pipeline.py</a:t>
            </a:r>
          </a:p>
          <a:p>
            <a:r>
              <a:t>https://github.com/vllm-project/vllm-omni/blob/b65107d61331327424910c72e7a2da137dcfb3df/vllm_omni/model_executor/models/aura_omni/duplex/plugin.py</a:t>
            </a:r>
          </a:p>
          <a:p>
            <a:r>
              <a:t>https://github.com/vllm-project/vllm-omni/blob/b65107d61331327424910c72e7a2da137dcfb3df/vllm_omni/model_executor/models/qwen3_omni/pipeline.py</a:t>
            </a:r>
          </a:p>
          <a:p>
            <a:r>
              <a:t>https://github.com/vllm-project/vllm-omni/blob/b65107d61331327424910c72e7a2da137dcfb3df/vllm_omni/model_executor/models/qwen3_omni/duplex/plugin.py</a:t>
            </a:r>
          </a:p>
          <a:p>
            <a:r>
              <a:t>https://github.com/vllm-project/vllm-omni/blob/b65107d61331327424910c72e7a2da137dcfb3df/vllm_omni/model_executor/stage_input_processors/qwen3_omni.py</a:t>
            </a:r>
          </a:p>
          <a:p>
            <a:r>
              <a:t/>
            </a:r>
          </a:p>
          <a:p>
            <a:r>
              <a:t>Earlier source references retained for traceability:</a:t>
            </a:r>
          </a:p>
          <a:p>
            <a:r>
              <a:t>https://github.com/vllm-project/vllm-omni/blob/4c5541cfc17143f80bdb89bbb7a5840b08bb52c6/vllm_omni/model_executor/models/aura_omni/duplex/history.py</a:t>
            </a:r>
          </a:p>
          <a:p>
            <a:r>
              <a:t>https://github.com/vllm-project/vllm-omni/blob/4c5541cfc17143f80bdb89bbb7a5840b08bb52c6/vllm_omni/model_executor/models/aura_omni/duplex/plugin.py</a:t>
            </a:r>
          </a:p>
          <a:p>
            <a:r>
              <a:t>https://github.com/vllm-project/vllm-omni/blob/4c5541cfc17143f80bdb89bbb7a5840b08bb52c6/vllm_omni/model_executor/models/qwen3_omni/duplex/plugin.py</a:t>
            </a:r>
          </a:p>
          <a:p>
            <a:r>
              <a:t>https://github.com/vllm-project/vllm-omni/blob/712b90de9c7bc14c595b363401588a713a87c02d/vllm_omni/model_executor/models/minicpmo_4_5/duplex/stage0.py</a:t>
            </a:r>
          </a:p>
          <a:p>
            <a:r>
              <a:t>https://github.com/vllm-project/vllm-omni/blob/712b90de9c7bc14c595b363401588a713a87c02d/vllm_omni/model_executor/models/minicpmo_4_5/duplex/window_kv.py</a:t>
            </a:r>
          </a:p>
          <a:p>
            <a:r>
              <a:t>https://github.com/vllm-project/vllm-omni/blob/712b90de9c7bc14c595b363401588a713a87c02d/vllm_omni/model_executor/models/minicpmo_4_5/duplex/window_plan.py</a:t>
            </a:r>
          </a:p>
          <a:p>
            <a:r>
              <a:t>https://github.com/vllm-project/vllm-omni/blob/712b90de9c7bc14c595b363401588a713a87c02d/vllm_omni/model_executor/models/aura_omni/duplex/plugin.py</a:t>
            </a:r>
          </a:p>
          <a:p>
            <a:r>
              <a:t>https://github.com/vllm-project/vllm-omni/blob/712b90de9c7bc14c595b363401588a713a87c02d/vllm_omni/model_executor/models/qwen3_omni/duplex/plugin.py</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https://github.com/vllm-project/vllm-omni/blob/712b90de9c7bc14c595b363401588a713a87c02d/vllm_omni/engine/duplex/delivery.py</a:t>
            </a:r>
          </a:p>
          <a:p>
            <a:r>
              <a:t>https://github.com/vllm-project/vllm-omni/blob/712b90de9c7bc14c595b363401588a713a87c02d/vllm_omni/entrypoints/duplex/session_attachment.py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Audio terminology clarification</a:t>
            </a:r>
          </a:p>
          <a:p>
            <a:r>
              <a:t>All four model rows accept PCM audio in their unified duplex paths. PCM describes sampled audio; it does not distinguish native duplex from turn-based execution. The MiniCPM-o 4.5 web profile sends pcm16 at 16 kHz; its Python client preset inherits the same input default and pcm16 at 24 kHz output from SessionConfig. PersonaPlex uses its own preset: pcm_f32le at 24 kHz input and pcm16 at 24 kHz output. AURA web input is pcm16 at 16 kHz. The Qwen3 turn web profile uses audio/pcm at 24 kHz, while its plugin consumes normalized 16 kHz pcm_f32le. All these are PCM representations. Codec tokens between stages are a separate representation.</a:t>
            </a:r>
          </a:p>
          <a:p>
            <a:r>
              <a:t>https://github.com/vllm-project/vllm-omni/blob/b65107d61331327424910c72e7a2da137dcfb3df/examples/online_serving/realtime_web/app/static/profiles/minicpm_native.js</a:t>
            </a:r>
          </a:p>
          <a:p>
            <a:r>
              <a:t>https://github.com/vllm-project/vllm-omni/blob/b65107d61331327424910c72e7a2da137dcfb3df/vllm_omni/clients/duplex.py</a:t>
            </a:r>
          </a:p>
          <a:p>
            <a:r>
              <a:t>https://github.com/vllm-project/vllm-omni/blob/b65107d61331327424910c72e7a2da137dcfb3df/vllm_omni/clients/minicpmo_4_5.py</a:t>
            </a:r>
          </a:p>
          <a:p>
            <a:r>
              <a:t>https://github.com/vllm-project/vllm-omni/blob/b65107d61331327424910c72e7a2da137dcfb3df/examples/online_serving/realtime_web/app/static/profiles/aura_ptt.js</a:t>
            </a:r>
          </a:p>
          <a:p>
            <a:r>
              <a:t>https://github.com/vllm-project/vllm-omni/blob/b65107d61331327424910c72e7a2da137dcfb3df/examples/online_serving/realtime_web/app/static/profiles/qwen3_turn.js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 is a model-dependent serving capability and is separate from automatic reconnect in a particular demo. The Python WebSocket client retains credentials and can reconnect with its configured reconnect policy. A reconnect sends session.resume as its first message, with session ID, resume token and last received server-event sequence. Successful attachment rotates the token and returns it in session.resumed. The client saves the latest token. Replay gaps return session.resync_required and cannot transparently reconstruct missing output. Process restart or loss of the owner requires a fresh session. PersonaPlex does not support resume and closes on disconnect.</a:t>
            </a:r>
          </a:p>
          <a:p>
            <a:r>
              <a:t/>
            </a:r>
          </a:p>
          <a:p>
            <a:r>
              <a:t>Sources:</a:t>
            </a:r>
          </a:p>
          <a:p>
            <a:r>
              <a:t>https://github.com/vllm-project/vllm-omni/blob/4c5541cfc17143f80bdb89bbb7a5840b08bb52c6/vllm_omni/clients/duplex.py</a:t>
            </a:r>
          </a:p>
          <a:p>
            <a:r>
              <a:t>https://github.com/vllm-project/vllm-omni/blob/4c5541cfc17143f80bdb89bbb7a5840b08bb52c6/vllm_omni/entrypoints/duplex/serving.py</a:t>
            </a:r>
          </a:p>
          <a:p>
            <a:r>
              <a:t>https://github.com/vllm-project/vllm-omni/blob/4c5541cfc17143f80bdb89bbb7a5840b08bb52c6/vllm_omni/entrypoints/duplex/session_attachment.py</a:t>
            </a:r>
          </a:p>
          <a:p>
            <a:r>
              <a:t>https://github.com/vllm-project/vllm-omni/blob/712b90de9c7bc14c595b363401588a713a87c02d/vllm_omni/entrypoints/duplex/serving.py</a:t>
            </a:r>
          </a:p>
          <a:p>
            <a:r>
              <a:t>https://github.com/vllm-project/vllm-omni/blob/712b90de9c7bc14c595b363401588a713a87c02d/vllm_omni/entrypoints/duplex/session_attachment.py</a:t>
            </a:r>
          </a:p>
          <a:p>
            <a:r>
              <a:t>https://github.com/vllm-project/vllm-omni/blob/712b90de9c7bc14c595b363401588a713a87c02d/vllm_omni/model_executor/models/personaplex/duplex/capabilities.py</a:t>
            </a:r>
          </a:p>
          <a:p>
            <a:r>
              <a:t>https://github.com/vllm-project/vllm-omni/blob/712b90de9c7bc14c595b363401588a713a87c02d/vllm_omni/model_executor/models/nemotron_voicechat/duplex/capabilities.py</a:t>
            </a:r>
          </a:p>
          <a:p>
            <a:r>
              <a:t>https://github.com/vllm-project/vllm-omni/blob/712b90de9c7bc14c595b363401588a713a87c02d/vllm_omni/clients/duplex.py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MiniCPM-o 4.5 benchmark trend for a 30-calendar-day window ending with the latest matching H100 run: September 9 to October 8, 2026. Endpoint and backend: openai-chat-omni. Dataset: Seed-TTS. Concurrency 1: 32 requests per run. Concurrency 8: 128 requests per run. All selected runs completed without failed requests. Each series uses one unchanged config_key. One latest matching record per day; no matching records on September 16 or 17, bridged by dashed visual connectors. The figure contains 28 observed points per series and does not add missing measurements. Dashed connectors join the surrounding measured endpoints as a visual guide only; the chart data and embedded workbook retain empty cells for September 16 and 17. Mean Audio RTF is the mean per-request audio-generation-time / output-audio-duration ratio, lower is better. These are Chat Completions speech-generation benchmarks, not continuous native audio/video session measurements. Changes over time are observational and not an isolated attribution to any one optimization listed on the left.</a:t>
            </a:r>
          </a:p>
          <a:p>
            <a:r>
              <a:t>First and last values: C=1 0.279637232 to 0.198065725; C=8 1.594658489 to 0.490287581.</a:t>
            </a:r>
          </a:p>
          <a:p>
            <a:r>
              <a:t>Source: https://hsliuustc0106.github.io/vllm-omni-kanban/pages/assets/charts/minicpmo_4_5_history.json</a:t>
            </a:r>
          </a:p>
          <a:p>
            <a:r>
              <a:t>Source generated_at: 2026-10-09T02:35:21.650129</a:t>
            </a:r>
          </a:p>
          <a:p>
            <a:r>
              <a:t>https://github.com/vllm-project/vllm-omni/blob/06afa310c942c0506f0ed9bdd189fa331c46bb97/vllm_omni/model_executor/models/minicpmo_4_5/streaming_audio_encoder_graph.py</a:t>
            </a:r>
          </a:p>
          <a:p>
            <a:r>
              <a:t>https://github.com/vllm-project/vllm-omni/blob/06afa310c942c0506f0ed9bdd189fa331c46bb97/vllm_omni/model_executor/models/minicpmo_4_5/encoder_cuda_graph.py</a:t>
            </a:r>
          </a:p>
          <a:p>
            <a:r>
              <a:t>https://github.com/vllm-project/vllm-omni/blob/06afa310c942c0506f0ed9bdd189fa331c46bb97/vllm_omni/model_executor/models/minicpmo_4_5/minicpmo_4_5_code2wav.py</a:t>
            </a:r>
          </a:p>
          <a:p>
            <a:r>
              <a:t>https://github.com/vllm-project/vllm-omni/blob/06afa310c942c0506f0ed9bdd189fa331c46bb97/vllm_omni/model_executor/models/minicpmo_4_5/dit_fused.py</a:t>
            </a:r>
          </a:p>
          <a:p>
            <a:r>
              <a:t>https://github.com/vllm-project/vllm-omni/blob/06afa310c942c0506f0ed9bdd189fa331c46bb97/vllm_omni/model_executor/models/qwen3_omni/vision_encoder_cudagraph.py</a:t>
            </a:r>
          </a:p>
          <a:p>
            <a:r>
              <a:t>https://github.com/vllm-project/vllm-omni/blob/06afa310c942c0506f0ed9bdd189fa331c46bb97/vllm_omni/model_executor/models/personaplex/duplex/stage0.py</a:t>
            </a:r>
          </a:p>
          <a:p>
            <a:r>
              <a:t>https://github.com/vllm-project/vllm-omni/blob/06afa310c942c0506f0ed9bdd189fa331c46bb97/vllm_omni/model_executor/models/personaplex/personaplex_code2wav.py</a:t>
            </a:r>
          </a:p>
          <a:p>
            <a:r>
              <a:t>https://github.com/vllm-project/vllm-omni/blob/06afa310c942c0506f0ed9bdd189fa331c46bb97/vllm_omni/worker/gpu_generation_model_runner.py</a:t>
            </a:r>
          </a:p>
          <a:p>
            <a:r>
              <a:t>https://github.com/vllm-project/vllm-omni/blob/06afa310c942c0506f0ed9bdd189fa331c46bb97/vllm_omni/benchmarks/patch/patch.py</a:t>
            </a:r>
          </a:p>
          <a:p>
            <a:r>
              <a:t>https://github.com/vllm-project/vllm-omni/blob/06afa310c942c0506f0ed9bdd189fa331c46bb97/docs/design/minicpm_o45_mrv2_performance.md</a:t>
            </a:r>
          </a:p>
          <a:p>
            <a:r>
              <a:t>https://github.com/vllm-project/vllm-omni/pull/8430</a:t>
            </a:r>
          </a:p>
          <a:p>
            <a:r>
              <a:t>https://github.com/vllm-project/vllm-omni/pull/8215</a:t>
            </a:r>
          </a:p>
          <a:p>
            <a:r>
              <a:t>https://github.com/vllm-project/vllm-omni/pull/8557</a:t>
            </a:r>
          </a:p>
          <a:p>
            <a:r>
              <a:t>https://github.com/vllm-project/vllm-omni/pull/8356</a:t>
            </a:r>
          </a:p>
          <a:p>
            <a:r>
              <a:t>https://github.com/vllm-project/vllm-omni/pull/7480</a:t>
            </a:r>
          </a:p>
          <a:p>
            <a:r>
              <a:t>https://github.com/vllm-project/vllm-omni/pull/8540</a:t>
            </a:r>
          </a:p>
          <a:p>
            <a:r>
              <a:t>https://hsliuustc0106.github.io/vllm-omni-kanban/pages/assets/charts/minicpmo_4_5_history.json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timing illustration now explicitly uses stream TTFP: input-stream start until the client receives its first audio packet. It is not end-of-utterance latency or per-response server TTFP. The current metric collector has separate stream and response origins; comparisons must use the same origin, model, hardware and concurrency. Response RTF and stream RTF are not interchangeable. OmniInteract and Omni-DuplexEval provide model/task-specific interaction evaluation; the quality card emphasizes response timing and audiovisual understanding rather than implying all listed models share a speech-quality score. The figure is a schematic, not a measured timing trace.</a:t>
            </a:r>
          </a:p>
          <a:p>
            <a:r>
              <a:t/>
            </a:r>
          </a:p>
          <a:p>
            <a:r>
              <a:t>Sources:</a:t>
            </a:r>
          </a:p>
          <a:p>
            <a:r>
              <a:t>https://github.com/vllm-project/vllm-omni/blob/4c5541cfc17143f80bdb89bbb7a5840b08bb52c6/vllm_omni/benchmarks/duplex_session_metrics.py</a:t>
            </a:r>
          </a:p>
          <a:p>
            <a:r>
              <a:t>https://github.com/vllm-project/vllm-omni/blob/4c5541cfc17143f80bdb89bbb7a5840b08bb52c6/vllm_omni/benchmarks/omniinteract.py</a:t>
            </a:r>
          </a:p>
          <a:p>
            <a:r>
              <a:t>https://github.com/vllm-project/vllm-omni/blob/4c5541cfc17143f80bdb89bbb7a5840b08bb52c6/vllm_omni/benchmarks/duplex/omni_duplex_eval_metrics.py</a:t>
            </a:r>
          </a:p>
          <a:p>
            <a:r>
              <a:t>https://github.com/vllm-project/vllm-omni/blob/712b90de9c7bc14c595b363401588a713a87c02d/vllm_omni/benchmarks/omniinteract.py</a:t>
            </a:r>
          </a:p>
          <a:p>
            <a:r>
              <a:t>https://github.com/vllm-project/vllm-omni/blob/712b90de9c7bc14c595b363401588a713a87c02d/vllm_omni/benchmarks/omniinteract_eval.py</a:t>
            </a:r>
          </a:p>
          <a:p>
            <a:r>
              <a:t>https://github.com/vllm-project/vllm-omni/blob/712b90de9c7bc14c595b363401588a713a87c02d/vllm_omni/benchmarks/duplex/omni_duplex_eval_runner.py</a:t>
            </a:r>
          </a:p>
          <a:p>
            <a:r>
              <a:t>https://github.com/vllm-project/vllm-omni/blob/712b90de9c7bc14c595b363401588a713a87c02d/vllm_omni/benchmarks/duplex/omni_duplex_eval_metrics.py</a:t>
            </a:r>
          </a:p>
          <a:p>
            <a:r>
              <a:t>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Qwen3-Omni tool-call parsing exists in the separate Realtime turn endpoint (duplex=0). It must not be confused with the Qwen unified duplex + Server VAD adapter. Nemotron VoiceChat already supports tool calls and tool results through unified native duplex. The lower sequence and table describe broader common handling and model coverage to build on these implementations. Work includes interruption, timeout and duplicate/late-result handling, plus explicit input/output behavior while tools execute.</a:t>
            </a:r>
          </a:p>
          <a:p>
            <a:r>
              <a:t/>
            </a:r>
          </a:p>
          <a:p>
            <a:r>
              <a:t>Sources:</a:t>
            </a:r>
          </a:p>
          <a:p>
            <a:r>
              <a:t>https://github.com/vllm-project/vllm-omni/blob/4c5541cfc17143f80bdb89bbb7a5840b08bb52c6/vllm_omni/entrypoints/openai/realtime/session.py</a:t>
            </a:r>
          </a:p>
          <a:p>
            <a:r>
              <a:t>https://github.com/vllm-project/vllm-omni/blob/4c5541cfc17143f80bdb89bbb7a5840b08bb52c6/vllm_omni/model_executor/models/nemotron_voicechat/duplex/plugin.py</a:t>
            </a:r>
          </a:p>
          <a:p>
            <a:r>
              <a:t>https://github.com/vllm-project/vllm-omni/blob/4c5541cfc17143f80bdb89bbb7a5840b08bb52c6/vllm_omni/model_executor/models/qwen3_omni/duplex/plugin.py</a:t>
            </a:r>
          </a:p>
          <a:p>
            <a:r>
              <a:t>https://github.com/vllm-project/vllm-omni/blob/d5a3380103df2fc827f095c60dbfb6e1c5655fd3/vllm_omni/entrypoints/openai/realtime/connection.py#L386-L425</a:t>
            </a:r>
          </a:p>
          <a:p>
            <a:r>
              <a:t>https://github.com/vllm-project/vllm-omni/blob/d5a3380103df2fc827f095c60dbfb6e1c5655fd3/vllm_omni/entrypoints/openai/realtime/connection.py#L870-L940</a:t>
            </a:r>
          </a:p>
          <a:p>
            <a:r>
              <a:t>https://github.com/vllm-project/vllm-omni/blob/d5a3380103df2fc827f095c60dbfb6e1c5655fd3/vllm_omni/entrypoints/openai/realtime/connection.py#L1655-L1678</a:t>
            </a:r>
          </a:p>
          <a:p>
            <a:r>
              <a:t>https://github.com/vllm-project/vllm-omni/blob/d5a3380103df2fc827f095c60dbfb6e1c5655fd3/vllm_omni/model_executor/models/qwen3_omni/duplex/plugin.py#L160-L169</a:t>
            </a:r>
          </a:p>
          <a:p>
            <a:r>
              <a:t>https://github.com/vllm-project/vllm-omni/blob/d5a3380103df2fc827f095c60dbfb6e1c5655fd3/vllm_omni/model_executor/models/nemotron_voicechat/duplex/plugin.py#L108-L147</a:t>
            </a:r>
          </a:p>
          <a:p>
            <a:r>
              <a:t>https://github.com/vllm-project/vllm-omni/blob/d5a3380103df2fc827f095c60dbfb6e1c5655fd3/vllm_omni/model_executor/models/nemotron_voicechat/duplex/plugin.py#L430-L501</a:t>
            </a:r>
          </a:p>
          <a:p>
            <a:r>
              <a:t>https://github.com/vllm-project/vllm-omni/blob/d5a3380103df2fc827f095c60dbfb6e1c5655fd3/vllm_omni/engine/duplex/realtime_events.py#L1080-L1126</a:t>
            </a:r>
          </a:p>
          <a:p>
            <a:r>
              <a:t>https://github.com/vllm-project/vllm-omni/blob/d5a3380103df2fc827f095c60dbfb6e1c5655fd3/vllm_omni/engine/duplex/realtime_events.py#L1430-L1487</a:t>
            </a:r>
          </a:p>
          <a:p>
            <a:r>
              <a:t>https://github.com/vllm-project/vllm-omni/blob/d5a3380103df2fc827f095c60dbfb6e1c5655fd3/vllm_omni/engine/duplex/plugin.py#L513-L523</a:t>
            </a:r>
          </a:p>
          <a:p>
            <a:r>
              <a:t>https://github.com/vllm-project/vllm-omni/blob/d5a3380103df2fc827f095c60dbfb6e1c5655fd3/vllm_omni/engine/duplex/session/control.py#L290-L327</a:t>
            </a:r>
          </a:p>
          <a:p>
            <a:r>
              <a:t>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longer-term scale goal builds on existing StagePool replica routing and request affinity. It is not the first introduction of Stage replicas. The current unified duplex WebSocket path requires one API worker because session credentials and replay state are process-local. Routing/ownership across multiple API frontends is future work. Longer sessions extend existing context/history controls rather than claim that current sessions are necessarily short. JoyAI unified adaptation, broader tool handling, semantic endpointing and broader evaluation are proposed priorities, not release-date commitments.</a:t>
            </a:r>
          </a:p>
          <a:p>
            <a:r>
              <a:t/>
            </a:r>
          </a:p>
          <a:p>
            <a:r>
              <a:t>Sources:</a:t>
            </a:r>
          </a:p>
          <a:p>
            <a:r>
              <a:t>https://github.com/vllm-project/vllm-omni/blob/4c5541cfc17143f80bdb89bbb7a5840b08bb52c6/vllm_omni/entrypoints/openai/api_server.py</a:t>
            </a:r>
          </a:p>
          <a:p>
            <a:r>
              <a:t>https://github.com/vllm-project/vllm-omni/blob/4c5541cfc17143f80bdb89bbb7a5840b08bb52c6/vllm_omni/engine/duplex_omni_engine.py</a:t>
            </a:r>
          </a:p>
          <a:p>
            <a:r>
              <a:t>https://github.com/vllm-project/vllm-omni/blob/d5a3380103df2fc827f095c60dbfb6e1c5655fd3/vllm_omni/model_executor/models/qwen3_omni/duplex/plugin.py#L160-L169</a:t>
            </a:r>
          </a:p>
          <a:p>
            <a:r>
              <a:t>https://github.com/vllm-project/vllm-omni/blob/d5a3380103df2fc827f095c60dbfb6e1c5655fd3/vllm_omni/model_executor/models/nemotron_voicechat/duplex/plugin.py#L444-L501</a:t>
            </a:r>
          </a:p>
          <a:p>
            <a:r>
              <a:t>https://github.com/vllm-project/vllm-omni/blob/d5a3380103df2fc827f095c60dbfb6e1c5655fd3/vllm_omni/entrypoints/openai/realtime/connection.py#L386-L425</a:t>
            </a:r>
          </a:p>
          <a:p>
            <a:r>
              <a:t>https://github.com/vllm-project/vllm-omni/blob/d5a3380103df2fc827f095c60dbfb6e1c5655fd3/vllm_omni/engine/duplex/realtime_events.py#L1430-L1487</a:t>
            </a:r>
          </a:p>
          <a:p>
            <a:r>
              <a:t>https://github.com/vllm-project/vllm-omni/blob/d5a3380103df2fc827f095c60dbfb6e1c5655fd3/vllm_omni/engine/duplex/turn_detection.py#L82-L99</a:t>
            </a:r>
          </a:p>
          <a:p>
            <a:r>
              <a:t>https://github.com/vllm-project/vllm-omni/blob/d5a3380103df2fc827f095c60dbfb6e1c5655fd3/vllm_omni/engine/duplex/vad.py#L100-L108</a:t>
            </a:r>
          </a:p>
          <a:p>
            <a:r>
              <a:t>https://github.com/vllm-project/vllm-omni/blob/d5a3380103df2fc827f095c60dbfb6e1c5655fd3/tests/engine/duplex/test_engine_session.py#L598-L608</a:t>
            </a:r>
          </a:p>
          <a:p>
            <a:r>
              <a:t>https://github.com/vllm-project/vllm-omni/blob/d5a3380103df2fc827f095c60dbfb6e1c5655fd3/vllm_omni/benchmarks/omniinteract.py</a:t>
            </a:r>
          </a:p>
          <a:p>
            <a:r>
              <a:t>https://github.com/vllm-project/vllm-omni/blob/d5a3380103df2fc827f095c60dbfb6e1c5655fd3/vllm_omni/benchmarks/omniinteract_eval.py</a:t>
            </a:r>
          </a:p>
          <a:p>
            <a:r>
              <a:t>https://github.com/vllm-project/vllm-omni/blob/d5a3380103df2fc827f095c60dbfb6e1c5655fd3/vllm_omni/benchmarks/duplex/omni_duplex_eval_runner.py</a:t>
            </a:r>
          </a:p>
          <a:p>
            <a:r>
              <a:t>https://github.com/vllm-project/vllm-omni/blob/d5a3380103df2fc827f095c60dbfb6e1c5655fd3/tests/e2e/accuracy/omni_duplex_eval/README.md</a:t>
            </a:r>
          </a:p>
          <a:p>
            <a:r>
              <a:t>https://github.com/vllm-project/vllm-omni/blob/d5a3380103df2fc827f095c60dbfb6e1c5655fd3/vllm_omni/model_executor/models/minicpmo_4_5/duplex/window_kv.py</a:t>
            </a:r>
          </a:p>
          <a:p>
            <a:r>
              <a:t>https://github.com/vllm-project/vllm-omni/blob/d5a3380103df2fc827f095c60dbfb6e1c5655fd3/vllm_omni/engine/stage_pool.py#L574-L609</a:t>
            </a:r>
          </a:p>
          <a:p>
            <a:r>
              <a:t>https://github.com/vllm-project/vllm-omni/blob/d5a3380103df2fc827f095c60dbfb6e1c5655fd3/vllm_omni/engine/duplex_orchestrator.py#L393-L424</a:t>
            </a:r>
          </a:p>
          <a:p>
            <a:r>
              <a:t>https://github.com/vllm-project/vllm-omni/blob/d5a3380103df2fc827f095c60dbfb6e1c5655fd3/vllm_omni/entrypoints/openai/api_server.py#L1880-L1895</a:t>
            </a:r>
          </a:p>
          <a:p>
            <a:r>
              <a:t>https://github.com/vllm-project/vllm-omni/blob/d5a3380103df2fc827f095c60dbfb6e1c5655fd3/vllm_omni/model_executor/models/joyai_vl_interaction/pipeline.py</a:t>
            </a:r>
          </a:p>
          <a:p>
            <a:r>
              <a:t>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PersonaPlex compute stages are Talker (Stage 0) and Mimi Code2Wav (Stage 1). The connector example at the bottom is shared-memory transfer on one host. The upper replica topology can also be distributed, in which case Stage-to-Stage data requires a network-capable connector as shown in A4. Per-session ordinary output remains a bounded shared buffer within the API process.</a:t>
            </a:r>
          </a:p>
          <a:p>
            <a:r>
              <a:t/>
            </a:r>
          </a:p>
          <a:p>
            <a:r>
              <a:t>Sources:</a:t>
            </a:r>
          </a:p>
          <a:p>
            <a:r>
              <a:t>https://github.com/vllm-project/vllm-omni/blob/4c5541cfc17143f80bdb89bbb7a5840b08bb52c6/vllm_omni/deploy/personaplex.yaml</a:t>
            </a:r>
          </a:p>
          <a:p>
            <a:r>
              <a:t>https://github.com/vllm-project/vllm-omni/blob/4c5541cfc17143f80bdb89bbb7a5840b08bb52c6/vllm_omni/engine/duplex/session/manager.py</a:t>
            </a:r>
          </a:p>
          <a:p>
            <a:r>
              <a:t>https://github.com/vllm-project/vllm-omni/blob/712b90de9c7bc14c595b363401588a713a87c02d/vllm_omni/engine/duplex/session/manager.py</a:t>
            </a:r>
          </a:p>
          <a:p>
            <a:r>
              <a:t>https://github.com/vllm-project/vllm-omni/blob/712b90de9c7bc14c595b363401588a713a87c02d/vllm_omni/entrypoints/duplex_omni.py</a:t>
            </a:r>
          </a:p>
          <a:p>
            <a:r>
              <a:t>https://github.com/vllm-project/vllm-omni/blob/712b90de9c7bc14c595b363401588a713a87c02d/vllm_omni/entrypoints/duplex/serving.py</a:t>
            </a:r>
          </a:p>
          <a:p>
            <a:r>
              <a:t>https://github.com/vllm-project/vllm-omni/blob/712b90de9c7bc14c595b363401588a713a87c02d/vllm_omni/engine/duplex_omni_engine.py</a:t>
            </a:r>
          </a:p>
          <a:p>
            <a:r>
              <a:t>https://github.com/vllm-project/vllm-omni/blob/712b90de9c7bc14c595b363401588a713a87c02d/vllm_omni/engine/duplex/session/runner.py</a:t>
            </a:r>
          </a:p>
          <a:p>
            <a:r>
              <a:t>https://github.com/vllm-project/vllm-omni/blob/712b90de9c7bc14c595b363401588a713a87c02d/vllm_omni/engine/duplex/session/engine_session.py</a:t>
            </a:r>
          </a:p>
          <a:p>
            <a:r>
              <a:t>https://github.com/vllm-project/vllm-omni/blob/712b90de9c7bc14c595b363401588a713a87c02d/vllm_omni/engine/duplex/plugin.py</a:t>
            </a:r>
          </a:p>
          <a:p>
            <a:r>
              <a:t>https://github.com/vllm-project/vllm-omni/blob/712b90de9c7bc14c595b363401588a713a87c02d/vllm_omni/engine/duplex/delivery.py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Acoustic VAD identifies speech/non-speech; endpointing also uses a silence policy. Semantic turn-end detection uses learned linguistic/acoustic cues to judge whether the user has finished. The two can be combined: Silero detects a pause and Smart Turn checks completion. Smart Turn v3.2 is a lightweight CPU-capable example; semantic detection does not inherently require a GPU Stage. An Omni Stage for heavier models is a proposed integration, not current implementation. Current Server VAD inference is asynchronous in a CPU executor outside the Orchestrator event loop; the Runner applies configured commit/cancel policy. VAD is not a denoiser, and utterance completion is not interruption-intent detection.</a:t>
            </a:r>
          </a:p>
          <a:p>
            <a:r>
              <a:t/>
            </a:r>
          </a:p>
          <a:p>
            <a:r>
              <a:t>Sources:</a:t>
            </a:r>
          </a:p>
          <a:p>
            <a:r>
              <a:t>https://github.com/vllm-project/vllm-omni/blob/4c5541cfc17143f80bdb89bbb7a5840b08bb52c6/vllm_omni/engine/duplex/vad.py</a:t>
            </a:r>
          </a:p>
          <a:p>
            <a:r>
              <a:t>https://github.com/vllm-project/vllm-omni/blob/4c5541cfc17143f80bdb89bbb7a5840b08bb52c6/vllm_omni/engine/duplex/session/runner.py</a:t>
            </a:r>
          </a:p>
          <a:p>
            <a:r>
              <a:t>https://github.com/pipecat-ai/smart-turn</a:t>
            </a:r>
          </a:p>
          <a:p>
            <a:r>
              <a:t>https://huggingface.co/pipecat-ai/smart-turn-v3.2</a:t>
            </a:r>
          </a:p>
          <a:p>
            <a:r>
              <a:t>https://docs.livekit.io/agents/logic/turns/turn-detector/</a:t>
            </a:r>
          </a:p>
          <a:p>
            <a:r>
              <a:t>https://developers.openai.com/api/docs/guides/realtime-vad</a:t>
            </a:r>
          </a:p>
          <a:p>
            <a:r>
              <a:t>https://github.com/vllm-project/vllm-omni/blob/712b90de9c7bc14c595b363401588a713a87c02d/vllm_omni/engine/duplex/turn_detection.py</a:t>
            </a:r>
          </a:p>
          <a:p>
            <a:r>
              <a:t>https://github.com/vllm-project/vllm-omni/blob/712b90de9c7bc14c595b363401588a713a87c02d/vllm_omni/engine/duplex/vad.py</a:t>
            </a:r>
          </a:p>
          <a:p>
            <a:r>
              <a:t>https://github.com/vllm-project/vllm-omni/blob/712b90de9c7bc14c595b363401588a713a87c02d/vllm_omni/engine/duplex/session/runner.py</a:t>
            </a:r>
          </a:p>
          <a:p>
            <a:r>
              <a:t>https://github.com/snakers4/silero-vad</a:t>
            </a:r>
          </a:p>
          <a:p>
            <a:r>
              <a:t>https://github.com/vllm-project/vllm-omni/blob/712b90de9c7bc14c595b363401588a713a87c02d/vllm_omni/engine/duplex/session/manager.py</a:t>
            </a:r>
          </a:p>
          <a:p>
            <a:r>
              <a:t>https://github.com/vllm-project/vllm-omni/blob/712b90de9c7bc14c595b363401588a713a87c02d/vllm_omni/entrypoints/openai/realtime/connection.py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Disconnect, response.cancel and close are different actions. A resumable session may continue generating during the disconnect grace; PersonaPlex closes. Cancel invalidates server-side in-flight/unsent output, while the client separately stops and clears audio already delivered to its playback buffer. Cancel leaves the session open; PersonaPlex resets model context. Resume credentials are session ID plus the latest token; lease-generation checks are internal engine synchronization, not an additional WebSocket client credential. Successful resumes rotate tokens. A journal gap produces session.resync_required. The session must remain on the same live API owner. Defaults are disconnect grace 30s, idle TTL 300s, replay TTL 60s and replay cap 8 MiB. A session whose session.created could not be delivered is closed immediately rather than held for an impossible resume.</a:t>
            </a:r>
          </a:p>
          <a:p>
            <a:r>
              <a:t/>
            </a:r>
          </a:p>
          <a:p>
            <a:r>
              <a:t>Sources:</a:t>
            </a:r>
          </a:p>
          <a:p>
            <a:r>
              <a:t>https://github.com/vllm-project/vllm-omni/blob/4c5541cfc17143f80bdb89bbb7a5840b08bb52c6/vllm_omni/entrypoints/duplex/serving.py</a:t>
            </a:r>
          </a:p>
          <a:p>
            <a:r>
              <a:t>https://github.com/vllm-project/vllm-omni/blob/4c5541cfc17143f80bdb89bbb7a5840b08bb52c6/vllm_omni/entrypoints/duplex/session_attachment.py</a:t>
            </a:r>
          </a:p>
          <a:p>
            <a:r>
              <a:t>https://github.com/vllm-project/vllm-omni/blob/4c5541cfc17143f80bdb89bbb7a5840b08bb52c6/vllm_omni/config/stage_config.py</a:t>
            </a:r>
          </a:p>
          <a:p>
            <a:r>
              <a:t>https://github.com/vllm-project/vllm-omni/blob/4c5541cfc17143f80bdb89bbb7a5840b08bb52c6/vllm_omni/engine/duplex/session/lease.py</a:t>
            </a:r>
          </a:p>
          <a:p>
            <a:r>
              <a:t>https://github.com/vllm-project/vllm-omni/blob/712b90de9c7bc14c595b363401588a713a87c02d/vllm_omni/entrypoints/duplex/serving.py</a:t>
            </a:r>
          </a:p>
          <a:p>
            <a:r>
              <a:t>https://github.com/vllm-project/vllm-omni/blob/712b90de9c7bc14c595b363401588a713a87c02d/vllm_omni/entrypoints/duplex/session_attachment.py</a:t>
            </a:r>
          </a:p>
          <a:p>
            <a:r>
              <a:t>https://github.com/vllm-project/vllm-omni/blob/712b90de9c7bc14c595b363401588a713a87c02d/vllm_omni/config/stage_config.py</a:t>
            </a:r>
          </a:p>
          <a:p>
            <a:r>
              <a:t>https://github.com/vllm-project/vllm-omni/blob/712b90de9c7bc14c595b363401588a713a87c02d/vllm_omni/engine/duplex/session/manager.py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t/>
            </a:r>
          </a:p>
          <a:p>
            <a:r>
              <a:t>Use a consistent deploy topology, reachable master address/port and network-capable connectors for cross-node Stage data. SharedMemory connectors are local-host transports. The Head Orchestrator dispatches to StagePool clients and preserves request affinity.</a:t>
            </a:r>
          </a:p>
          <a:p>
            <a:r>
              <a:t/>
            </a:r>
          </a:p>
          <a:p>
            <a: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t/>
            </a:r>
          </a:p>
          <a:p>
            <a:r>
              <a:t>Sources:</a:t>
            </a:r>
          </a:p>
          <a:p>
            <a:r>
              <a:t>- api_server.py: https://github.com/vllm-project/vllm-omni/blob/712b90de9c7bc14c595b363401588a713a87c02d/vllm_omni/entrypoints/openai/api_server.py</a:t>
            </a:r>
          </a:p>
          <a:p>
            <a:r>
              <a:t>- stage_runtime.py: https://github.com/vllm-project/vllm-omni/blob/712b90de9c7bc14c595b363401588a713a87c02d/vllm_omni/engine/stage_runtime.py</a:t>
            </a:r>
          </a:p>
          <a:p>
            <a: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delivery.py: https://github.com/vllm-project/vllm-omni/blob/712b90de9c7bc14c595b363401588a713a87c02d/vllm_omni/engine/duplex/delivery.py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compares two execution paths using the same illustrative input. The output waveforms represent model-generated audio, not the precise time at which a device plays or stops it. The two output tracks are aligned to avoid suggesting a latency ranking or measured equality. Barge-in labels the user's overlapping speech; it is not the literal barge_in command in either illustrated path.</a:t>
            </a:r>
          </a:p>
          <a:p>
            <a:r>
              <a:t/>
            </a:r>
          </a:p>
          <a:p>
            <a:r>
              <a:t>MiniCPM-o 4.5 native example: the web profile continuously appends audio/video, enables auto_response, sends no commit messages, and does not enable Server VAD. The model chooses LISTEN / SPEAK as new chunks arrive. A model LISTEN is projected through the model-output path; it is not an automatic invocation of the runner's hard-cancel path. The web client's listen event changes model/interaction state without clearing the playback queue, so already queued audio can finish. The illustration shows one model choice to yield; the model may instead keep speaking. Later speech follows native continuation rather than a VAD commit. Explicit framework barge_in/cancel is a separate supported control mechanism for MiniCPM and is not depicted here.</a:t>
            </a:r>
          </a:p>
          <a:p>
            <a:r>
              <a:t/>
            </a:r>
          </a:p>
          <a:p>
            <a:r>
              <a:t>Qwen3-Omni + Server VAD example: the web profile keeps microphone upload enabled during playback, sets overlap_policy=barge_in_on_speech, and enables interrupt_response/create_response. VAD speech onset drives the runner overlap-cancellation path. The client's speech_started handling stops local playback and clears queued audio, including when server generation has already completed. After the configured silence threshold, VAD schedules commit and create_response. The plugin requires a committed turn and starts a fresh model request. This configuration does not wait for Qwen to autonomously decide whether to yield.</a:t>
            </a:r>
          </a:p>
          <a:p>
            <a:r>
              <a:t/>
            </a:r>
          </a:p>
          <a:p>
            <a:r>
              <a:t>Source snapshot: f3391da7c58ee8dc990829aab82166edf865d19b. The relevant runtime, plugin and web-profile files are unchanged from the preceding reviewed snapshot 4c5541cfc17143f80bdb89bbb7a5840b08bb52c6.</a:t>
            </a:r>
          </a:p>
          <a:p>
            <a:r>
              <a:t>Sources:</a:t>
            </a:r>
          </a:p>
          <a:p>
            <a:r>
              <a:t>https://github.com/vllm-project/vllm-omni/blob/f3391da7c58ee8dc990829aab82166edf865d19b/examples/online_serving/realtime_web/app/static/profiles/minicpm_native.js</a:t>
            </a:r>
          </a:p>
          <a:p>
            <a:r>
              <a:t>https://github.com/vllm-project/vllm-omni/blob/f3391da7c58ee8dc990829aab82166edf865d19b/examples/online_serving/realtime_web/app/static/profiles/qwen3_turn.js</a:t>
            </a:r>
          </a:p>
          <a:p>
            <a:r>
              <a:t>https://github.com/vllm-project/vllm-omni/blob/f3391da7c58ee8dc990829aab82166edf865d19b/examples/online_serving/realtime_web/app/static/app.js</a:t>
            </a:r>
          </a:p>
          <a:p>
            <a:r>
              <a:t>https://github.com/vllm-project/vllm-omni/blob/f3391da7c58ee8dc990829aab82166edf865d19b/vllm_omni/model_executor/models/minicpmo_4_5/duplex/capabilities.py</a:t>
            </a:r>
          </a:p>
          <a:p>
            <a:r>
              <a:t>https://github.com/vllm-project/vllm-omni/blob/f3391da7c58ee8dc990829aab82166edf865d19b/vllm_omni/model_executor/models/minicpmo_4_5/duplex/plugin.py</a:t>
            </a:r>
          </a:p>
          <a:p>
            <a:r>
              <a:t>https://github.com/vllm-project/vllm-omni/blob/f3391da7c58ee8dc990829aab82166edf865d19b/vllm_omni/model_executor/models/qwen3_omni/duplex/plugin.py</a:t>
            </a:r>
          </a:p>
          <a:p>
            <a:r>
              <a:t>https://github.com/vllm-project/vllm-omni/blob/f3391da7c58ee8dc990829aab82166edf865d19b/vllm_omni/engine/duplex/session/model_channel.py</a:t>
            </a:r>
          </a:p>
          <a:p>
            <a:r>
              <a:t>https://github.com/vllm-project/vllm-omni/blob/f3391da7c58ee8dc990829aab82166edf865d19b/vllm_omni/engine/duplex/session/overlap_policy.py</a:t>
            </a:r>
          </a:p>
          <a:p>
            <a:r>
              <a:t>https://github.com/vllm-project/vllm-omni/blob/f3391da7c58ee8dc990829aab82166edf865d19b/vllm_omni/engine/duplex/session/runner.py</a:t>
            </a:r>
          </a:p>
          <a:p>
            <a:r>
              <a:t>https://github.com/vllm-project/vllm-omni/blob/f3391da7c58ee8dc990829aab82166edf865d19b/vllm_omni/engine/duplex/vad.py</a:t>
            </a:r>
          </a:p>
          <a:p>
            <a:r>
              <a:t>https://github.com/vllm-project/vllm-omni/blob/4c5541cfc17143f80bdb89bbb7a5840b08bb52c6/vllm_omni/model_executor/models/qwen3_omni/duplex/plugin.py</a:t>
            </a:r>
          </a:p>
          <a:p>
            <a:r>
              <a:t>https://github.com/vllm-project/vllm-omni/blob/4c5541cfc17143f80bdb89bbb7a5840b08bb52c6/examples/online_serving/realtime_web/app/static/profiles/qwen3_turn.js</a:t>
            </a:r>
          </a:p>
          <a:p>
            <a:r>
              <a:t>https://github.com/vllm-project/vllm-omni/blob/4c5541cfc17143f80bdb89bbb7a5840b08bb52c6/vllm_omni/model_executor/models/minicpmo_4_5/duplex/plugin.py</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a:p>
            <a:r>
              <a:t>VAD commit is shown for both Qwen turns. The first commit follows the initial user utterance and the configured silence threshold; create_response=true then starts the first model request. A later user interruption can cancel the old response, followed by a second VAD commit after that utterance and silence. No cancellation is implied for the initial turn when no assistant response exists. The commit markers are on the Qwen path only. Marker positions express event order, not measured silence durations or response latency. The current Qwen VAD web preset uses silence_duration_ms=500; this is configurable.</a:t>
            </a:r>
          </a:p>
          <a:p>
            <a:r>
              <a:t/>
            </a:r>
          </a:p>
          <a:p>
            <a:r>
              <a:t/>
            </a:r>
          </a:p>
          <a:p>
            <a:r>
              <a:t>VAD-triggered interruption names a behavior, not a protocol command. The runner handles VAD overlap with _barge_in_for_overlap and shares the core _cancel_active_response helper with explicit response.cancel. It does not synthesize a response.cancel wire message. Explicit response.cancel arrives as CancelResponse, is resolved, and enters _on_cancel. These paths also differ in input-buffer handling. Local playback stop is performed by the web client in response to speech-start/interruption events.</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presentation covers duplex interaction and models, the unified architecture and execution workflow, performance optimization and evaluation metrics, and tool calling and the roadmap. The technical appendix expands the architecture and execution paths, VAD and interruption, session lifecycle and recovery, and deployment across machines. Code references follow at the end of the appendix.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4c5541cfc17143f80bdb89bbb7a5840b08bb52c6/vllm_omni/entrypoints/duplex/serving.py" TargetMode="External"/><Relationship Id="rId5" Type="http://schemas.openxmlformats.org/officeDocument/2006/relationships/hyperlink" Target="https://github.com/vllm-project/vllm-omni/blob/4c5541cfc17143f80bdb89bbb7a5840b08bb52c6/vllm_omni/entrypoints/duplex_omni.py" TargetMode="External"/><Relationship Id="rId6" Type="http://schemas.openxmlformats.org/officeDocument/2006/relationships/hyperlink" Target="https://github.com/vllm-project/vllm-omni/blob/4c5541cfc17143f80bdb89bbb7a5840b08bb52c6/vllm_omni/engine/duplex_omni_engine.py" TargetMode="External"/><Relationship Id="rId7" Type="http://schemas.openxmlformats.org/officeDocument/2006/relationships/hyperlink" Target="https://github.com/vllm-project/vllm-omni/blob/4c5541cfc17143f80bdb89bbb7a5840b08bb52c6/vllm_omni/engine/duplex/session/runner.py" TargetMode="External"/><Relationship Id="rId8" Type="http://schemas.openxmlformats.org/officeDocument/2006/relationships/hyperlink" Target="https://github.com/vllm-project/vllm-omni/blob/4c5541cfc17143f80bdb89bbb7a5840b08bb52c6/vllm_omni/engine/duplex_orchestrator.py" TargetMode="External"/><Relationship Id="rId9" Type="http://schemas.openxmlformats.org/officeDocument/2006/relationships/hyperlink" Target="https://github.com/vllm-project/vllm-omni/blob/4c5541cfc17143f80bdb89bbb7a5840b08bb52c6/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4c5541cfc17143f80bdb89bbb7a5840b08bb52c6/vllm_omni/engine/duplex/delivery.p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9.xml"/><Relationship Id="rId5" Type="http://schemas.openxmlformats.org/officeDocument/2006/relationships/image" Target="../media/image5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a:solidFill>
                  <a:srgbClr val="142B45"/>
                </a:solidFill>
                <a:latin typeface="Arial"/>
                <a:ea typeface="Arial"/>
                <a:cs typeface="Arial"/>
              </a:rPr>
              <a:t>The Next Inflection Point</a:t>
            </a:r>
          </a:p>
          <a:p>
            <a:pPr algn="l">
              <a:lnSpc>
                <a:spcPct val="110000"/>
              </a:lnSpc>
              <a:spcAft>
                <a:spcPts val="0"/>
              </a:spcAft>
            </a:pPr>
            <a:r>
              <a:rPr sz="4400" b="1">
                <a:solidFill>
                  <a:srgbClr val="008E96"/>
                </a:solidFill>
                <a:latin typeface="Arial"/>
                <a:ea typeface="Arial"/>
                <a:cs typeface="Arial"/>
              </a:rPr>
              <a:t>in SI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a:solidFill>
                  <a:srgbClr val="586B7E"/>
                </a:solidFill>
                <a:latin typeface="Arial"/>
                <a:ea typeface="Arial"/>
                <a:cs typeface="Arial"/>
              </a:rPr>
              <a:t>How vLLM-Omni Enables Models to</a:t>
            </a:r>
          </a:p>
          <a:p>
            <a:pPr algn="l">
              <a:lnSpc>
                <a:spcPct val="110000"/>
              </a:lnSpc>
              <a:spcAft>
                <a:spcPts val="0"/>
              </a:spcAft>
            </a:pPr>
            <a:r>
              <a:rPr sz="2400" b="1">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COMMUNITY</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Duplex, built with the community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a:solidFill>
                  <a:srgbClr val="586B7E"/>
                </a:solidFill>
                <a:latin typeface="Arial"/>
                <a:ea typeface="Arial"/>
                <a:cs typeface="Arial"/>
              </a:rPr>
              <a:t>Thanks to 60+ contributors · 160+ related PRs merged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13</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a:solidFill>
                  <a:srgbClr val="586B7E"/>
                </a:solidFill>
                <a:latin typeface="Arial"/>
                <a:ea typeface="Arial"/>
                <a:cs typeface="Arial"/>
              </a:rPr>
              <a:t>SELECTED MERGED PRs</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AS OF 07 OCT 2026</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Native duplex runtime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Unified duplex framework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Qwen3-Omni integration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AURA integration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Drop cancelled audio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13</a:t>
            </a:r>
          </a:p>
        </p:txBody>
      </p:sp>
      <p:sp>
        <p:nvSpPr>
          <p:cNvPr id="500" name="From Half-Duplex to Full-Duplex Interaction"/>
          <p:cNvSpPr txBox="1"/>
          <p:nvPr/>
        </p:nvSpPr>
        <p:spPr>
          <a:xfrm>
            <a:off x="548640" y="1005840"/>
            <a:ext cx="11082528" cy="576072"/>
          </a:xfrm>
          <a:prstGeom prst="rect">
            <a:avLst/>
          </a:prstGeom>
          <a:noFill/>
        </p:spPr>
        <p:txBody>
          <a:bodyPr wrap="square" lIns="0" rIns="0" tIns="0" bIns="0" anchor="t">
            <a:spAutoFit/>
          </a:bodyPr>
          <a:lstStyle/>
          <a:p>
            <a:pPr algn="l">
              <a:lnSpc>
                <a:spcPct val="110000"/>
              </a:lnSpc>
              <a:spcAft>
                <a:spcPts val="0"/>
              </a:spcAft>
            </a:pPr>
            <a:r>
              <a:rPr sz="3150" b="1">
                <a:solidFill>
                  <a:srgbClr val="16304E"/>
                </a:solidFill>
                <a:latin typeface="Arial"/>
                <a:ea typeface="Arial"/>
                <a:cs typeface="Arial"/>
              </a:rPr>
              <a:t>From Half-Duplex to Full-Duplex Interaction</a:t>
            </a:r>
          </a:p>
        </p:txBody>
      </p:sp>
      <p:sp>
        <p:nvSpPr>
          <p:cNvPr id="501" name="Half-duplex timeline"/>
          <p:cNvSpPr/>
          <p:nvPr/>
        </p:nvSpPr>
        <p:spPr>
          <a:xfrm>
            <a:off x="548640" y="1828800"/>
            <a:ext cx="5321808" cy="2615184"/>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2" name="Half-duplex"/>
          <p:cNvSpPr txBox="1"/>
          <p:nvPr/>
        </p:nvSpPr>
        <p:spPr>
          <a:xfrm>
            <a:off x="841248" y="1975104"/>
            <a:ext cx="4709160" cy="338328"/>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Half-duplex</a:t>
            </a:r>
          </a:p>
        </p:txBody>
      </p:sp>
      <p:sp>
        <p:nvSpPr>
          <p:cNvPr id="503" name="Taking turns"/>
          <p:cNvSpPr txBox="1"/>
          <p:nvPr/>
        </p:nvSpPr>
        <p:spPr>
          <a:xfrm>
            <a:off x="850392" y="2368296"/>
            <a:ext cx="4681728" cy="246888"/>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Taking turns</a:t>
            </a:r>
          </a:p>
        </p:txBody>
      </p:sp>
      <p:sp>
        <p:nvSpPr>
          <p:cNvPr id="504" name="Camera"/>
          <p:cNvSpPr txBox="1"/>
          <p:nvPr/>
        </p:nvSpPr>
        <p:spPr>
          <a:xfrm>
            <a:off x="850392" y="2752344"/>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FCAE7"/>
                </a:solidFill>
                <a:latin typeface="Arial"/>
                <a:ea typeface="Arial"/>
                <a:cs typeface="Arial"/>
              </a:rPr>
              <a:t>Camera</a:t>
            </a:r>
          </a:p>
        </p:txBody>
      </p:sp>
      <p:sp>
        <p:nvSpPr>
          <p:cNvPr id="505" name="User"/>
          <p:cNvSpPr txBox="1"/>
          <p:nvPr/>
        </p:nvSpPr>
        <p:spPr>
          <a:xfrm>
            <a:off x="850392" y="3227832"/>
            <a:ext cx="786384" cy="219456"/>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User</a:t>
            </a:r>
          </a:p>
        </p:txBody>
      </p:sp>
      <p:sp>
        <p:nvSpPr>
          <p:cNvPr id="506" name="Assistant"/>
          <p:cNvSpPr txBox="1"/>
          <p:nvPr/>
        </p:nvSpPr>
        <p:spPr>
          <a:xfrm>
            <a:off x="850392" y="3822192"/>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9E5DF"/>
                </a:solidFill>
                <a:latin typeface="Arial"/>
                <a:ea typeface="Arial"/>
                <a:cs typeface="Arial"/>
              </a:rPr>
              <a:t>Assistant</a:t>
            </a:r>
          </a:p>
        </p:txBody>
      </p:sp>
      <p:cxnSp>
        <p:nvCxnSpPr>
          <p:cNvPr id="507" name="Shared time axis"/>
          <p:cNvCxnSpPr/>
          <p:nvPr/>
        </p:nvCxnSpPr>
        <p:spPr>
          <a:xfrm>
            <a:off x="1737360" y="334670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508" name="Shared time axis"/>
          <p:cNvCxnSpPr/>
          <p:nvPr/>
        </p:nvCxnSpPr>
        <p:spPr>
          <a:xfrm>
            <a:off x="1737360" y="394106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509" name="Full-duplex timeline"/>
          <p:cNvSpPr/>
          <p:nvPr/>
        </p:nvSpPr>
        <p:spPr>
          <a:xfrm>
            <a:off x="6309360" y="1828800"/>
            <a:ext cx="5321808" cy="2615184"/>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0" name="Full-duplex"/>
          <p:cNvSpPr txBox="1"/>
          <p:nvPr/>
        </p:nvSpPr>
        <p:spPr>
          <a:xfrm>
            <a:off x="6601968" y="1975104"/>
            <a:ext cx="4709160" cy="338328"/>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Full-duplex</a:t>
            </a:r>
          </a:p>
        </p:txBody>
      </p:sp>
      <p:sp>
        <p:nvSpPr>
          <p:cNvPr id="511" name="Listening while speaking"/>
          <p:cNvSpPr txBox="1"/>
          <p:nvPr/>
        </p:nvSpPr>
        <p:spPr>
          <a:xfrm>
            <a:off x="6611112" y="2368296"/>
            <a:ext cx="4681728" cy="246888"/>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Listening while speaking</a:t>
            </a:r>
          </a:p>
        </p:txBody>
      </p:sp>
      <p:sp>
        <p:nvSpPr>
          <p:cNvPr id="512" name="Camera"/>
          <p:cNvSpPr txBox="1"/>
          <p:nvPr/>
        </p:nvSpPr>
        <p:spPr>
          <a:xfrm>
            <a:off x="6611112" y="2752344"/>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FCAE7"/>
                </a:solidFill>
                <a:latin typeface="Arial"/>
                <a:ea typeface="Arial"/>
                <a:cs typeface="Arial"/>
              </a:rPr>
              <a:t>Camera</a:t>
            </a:r>
          </a:p>
        </p:txBody>
      </p:sp>
      <p:sp>
        <p:nvSpPr>
          <p:cNvPr id="513" name="User"/>
          <p:cNvSpPr txBox="1"/>
          <p:nvPr/>
        </p:nvSpPr>
        <p:spPr>
          <a:xfrm>
            <a:off x="6611112" y="3227832"/>
            <a:ext cx="786384" cy="219456"/>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User</a:t>
            </a:r>
          </a:p>
        </p:txBody>
      </p:sp>
      <p:sp>
        <p:nvSpPr>
          <p:cNvPr id="514" name="Assistant"/>
          <p:cNvSpPr txBox="1"/>
          <p:nvPr/>
        </p:nvSpPr>
        <p:spPr>
          <a:xfrm>
            <a:off x="6611112" y="3822192"/>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9E5DF"/>
                </a:solidFill>
                <a:latin typeface="Arial"/>
                <a:ea typeface="Arial"/>
                <a:cs typeface="Arial"/>
              </a:rPr>
              <a:t>Assistant</a:t>
            </a:r>
          </a:p>
        </p:txBody>
      </p:sp>
      <p:cxnSp>
        <p:nvCxnSpPr>
          <p:cNvPr id="515" name="Shared time axis"/>
          <p:cNvCxnSpPr/>
          <p:nvPr/>
        </p:nvCxnSpPr>
        <p:spPr>
          <a:xfrm>
            <a:off x="7498080" y="334670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516" name="Shared time axis"/>
          <p:cNvCxnSpPr/>
          <p:nvPr/>
        </p:nvCxnSpPr>
        <p:spPr>
          <a:xfrm>
            <a:off x="7498080" y="394106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pic>
        <p:nvPicPr>
          <p:cNvPr id="517" name="Camera input frame"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1810512" y="2697480"/>
            <a:ext cx="310896" cy="320040"/>
          </a:xfrm>
          <a:prstGeom prst="rect">
            <a:avLst/>
          </a:prstGeom>
        </p:spPr>
      </p:pic>
      <p:pic>
        <p:nvPicPr>
          <p:cNvPr id="518" name="Camera input frame"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2313432" y="2697480"/>
            <a:ext cx="310896" cy="320040"/>
          </a:xfrm>
          <a:prstGeom prst="rect">
            <a:avLst/>
          </a:prstGeom>
        </p:spPr>
      </p:pic>
      <p:pic>
        <p:nvPicPr>
          <p:cNvPr id="519" name="Camera input frame"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3941064" y="2697480"/>
            <a:ext cx="310896" cy="320040"/>
          </a:xfrm>
          <a:prstGeom prst="rect">
            <a:avLst/>
          </a:prstGeom>
        </p:spPr>
      </p:pic>
      <p:pic>
        <p:nvPicPr>
          <p:cNvPr id="520" name="Camera input frame"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4315968" y="2697480"/>
            <a:ext cx="310896" cy="320040"/>
          </a:xfrm>
          <a:prstGeom prst="rect">
            <a:avLst/>
          </a:prstGeom>
        </p:spPr>
      </p:pic>
      <p:sp>
        <p:nvSpPr>
          <p:cNvPr id="521" name="Half-duplex user turn 1"/>
          <p:cNvSpPr/>
          <p:nvPr/>
        </p:nvSpPr>
        <p:spPr>
          <a:xfrm>
            <a:off x="181051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2" name="Half-duplex user turn 1"/>
          <p:cNvSpPr/>
          <p:nvPr/>
        </p:nvSpPr>
        <p:spPr>
          <a:xfrm>
            <a:off x="188442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3" name="Half-duplex user turn 1"/>
          <p:cNvSpPr/>
          <p:nvPr/>
        </p:nvSpPr>
        <p:spPr>
          <a:xfrm>
            <a:off x="195834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4" name="Half-duplex user turn 1"/>
          <p:cNvSpPr/>
          <p:nvPr/>
        </p:nvSpPr>
        <p:spPr>
          <a:xfrm>
            <a:off x="203225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5" name="Half-duplex user turn 1"/>
          <p:cNvSpPr/>
          <p:nvPr/>
        </p:nvSpPr>
        <p:spPr>
          <a:xfrm>
            <a:off x="2106168"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6" name="Half-duplex user turn 1"/>
          <p:cNvSpPr/>
          <p:nvPr/>
        </p:nvSpPr>
        <p:spPr>
          <a:xfrm>
            <a:off x="218008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7" name="Half-duplex user turn 1"/>
          <p:cNvSpPr/>
          <p:nvPr/>
        </p:nvSpPr>
        <p:spPr>
          <a:xfrm>
            <a:off x="2253996"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8" name="Half-duplex user turn 1"/>
          <p:cNvSpPr/>
          <p:nvPr/>
        </p:nvSpPr>
        <p:spPr>
          <a:xfrm>
            <a:off x="232791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9" name="Half-duplex user turn 1"/>
          <p:cNvSpPr/>
          <p:nvPr/>
        </p:nvSpPr>
        <p:spPr>
          <a:xfrm>
            <a:off x="2401824"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0" name="Half-duplex user turn 1"/>
          <p:cNvSpPr/>
          <p:nvPr/>
        </p:nvSpPr>
        <p:spPr>
          <a:xfrm>
            <a:off x="2475738"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1" name="Half-duplex user turn 1"/>
          <p:cNvSpPr/>
          <p:nvPr/>
        </p:nvSpPr>
        <p:spPr>
          <a:xfrm>
            <a:off x="254965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2" name="Half-duplex user turn 1"/>
          <p:cNvSpPr/>
          <p:nvPr/>
        </p:nvSpPr>
        <p:spPr>
          <a:xfrm>
            <a:off x="262356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3" name="Half-duplex user turn 1"/>
          <p:cNvSpPr/>
          <p:nvPr/>
        </p:nvSpPr>
        <p:spPr>
          <a:xfrm>
            <a:off x="269748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4" name="Half-duplex assistant turn 1"/>
          <p:cNvSpPr/>
          <p:nvPr/>
        </p:nvSpPr>
        <p:spPr>
          <a:xfrm>
            <a:off x="283464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5" name="Half-duplex assistant turn 1"/>
          <p:cNvSpPr/>
          <p:nvPr/>
        </p:nvSpPr>
        <p:spPr>
          <a:xfrm>
            <a:off x="2909199"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6" name="Half-duplex assistant turn 1"/>
          <p:cNvSpPr/>
          <p:nvPr/>
        </p:nvSpPr>
        <p:spPr>
          <a:xfrm>
            <a:off x="2983758"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7" name="Half-duplex assistant turn 1"/>
          <p:cNvSpPr/>
          <p:nvPr/>
        </p:nvSpPr>
        <p:spPr>
          <a:xfrm>
            <a:off x="3058316"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8" name="Half-duplex assistant turn 1"/>
          <p:cNvSpPr/>
          <p:nvPr/>
        </p:nvSpPr>
        <p:spPr>
          <a:xfrm>
            <a:off x="3132875"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9" name="Half-duplex assistant turn 1"/>
          <p:cNvSpPr/>
          <p:nvPr/>
        </p:nvSpPr>
        <p:spPr>
          <a:xfrm>
            <a:off x="3207434"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0" name="Half-duplex assistant turn 1"/>
          <p:cNvSpPr/>
          <p:nvPr/>
        </p:nvSpPr>
        <p:spPr>
          <a:xfrm>
            <a:off x="3281993"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1" name="Half-duplex assistant turn 1"/>
          <p:cNvSpPr/>
          <p:nvPr/>
        </p:nvSpPr>
        <p:spPr>
          <a:xfrm>
            <a:off x="3356551"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2" name="Half-duplex assistant turn 1"/>
          <p:cNvSpPr/>
          <p:nvPr/>
        </p:nvSpPr>
        <p:spPr>
          <a:xfrm>
            <a:off x="3431110"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3" name="Half-duplex assistant turn 1"/>
          <p:cNvSpPr/>
          <p:nvPr/>
        </p:nvSpPr>
        <p:spPr>
          <a:xfrm>
            <a:off x="3505669"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4" name="Half-duplex assistant turn 1"/>
          <p:cNvSpPr/>
          <p:nvPr/>
        </p:nvSpPr>
        <p:spPr>
          <a:xfrm>
            <a:off x="3580228"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5" name="Half-duplex assistant turn 1"/>
          <p:cNvSpPr/>
          <p:nvPr/>
        </p:nvSpPr>
        <p:spPr>
          <a:xfrm>
            <a:off x="3654786"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6" name="Half-duplex assistant turn 1"/>
          <p:cNvSpPr/>
          <p:nvPr/>
        </p:nvSpPr>
        <p:spPr>
          <a:xfrm>
            <a:off x="3729345"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7" name="Half-duplex assistant turn 1"/>
          <p:cNvSpPr/>
          <p:nvPr/>
        </p:nvSpPr>
        <p:spPr>
          <a:xfrm>
            <a:off x="3803904"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8" name="Half-duplex user turn 2"/>
          <p:cNvSpPr/>
          <p:nvPr/>
        </p:nvSpPr>
        <p:spPr>
          <a:xfrm>
            <a:off x="3941064"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9" name="Half-duplex user turn 2"/>
          <p:cNvSpPr/>
          <p:nvPr/>
        </p:nvSpPr>
        <p:spPr>
          <a:xfrm>
            <a:off x="4016248"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0" name="Half-duplex user turn 2"/>
          <p:cNvSpPr/>
          <p:nvPr/>
        </p:nvSpPr>
        <p:spPr>
          <a:xfrm>
            <a:off x="4091432"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1" name="Half-duplex user turn 2"/>
          <p:cNvSpPr/>
          <p:nvPr/>
        </p:nvSpPr>
        <p:spPr>
          <a:xfrm>
            <a:off x="4166616"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2" name="Half-duplex user turn 2"/>
          <p:cNvSpPr/>
          <p:nvPr/>
        </p:nvSpPr>
        <p:spPr>
          <a:xfrm>
            <a:off x="4241800"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3" name="Half-duplex user turn 2"/>
          <p:cNvSpPr/>
          <p:nvPr/>
        </p:nvSpPr>
        <p:spPr>
          <a:xfrm>
            <a:off x="4316984"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4" name="Half-duplex user turn 2"/>
          <p:cNvSpPr/>
          <p:nvPr/>
        </p:nvSpPr>
        <p:spPr>
          <a:xfrm>
            <a:off x="4392168"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5" name="Half-duplex user turn 2"/>
          <p:cNvSpPr/>
          <p:nvPr/>
        </p:nvSpPr>
        <p:spPr>
          <a:xfrm>
            <a:off x="4467352"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6" name="Half-duplex user turn 2"/>
          <p:cNvSpPr/>
          <p:nvPr/>
        </p:nvSpPr>
        <p:spPr>
          <a:xfrm>
            <a:off x="4542536"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7" name="Half-duplex user turn 2"/>
          <p:cNvSpPr/>
          <p:nvPr/>
        </p:nvSpPr>
        <p:spPr>
          <a:xfrm>
            <a:off x="4617720"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8" name="Half-duplex assistant turn 2"/>
          <p:cNvSpPr/>
          <p:nvPr/>
        </p:nvSpPr>
        <p:spPr>
          <a:xfrm>
            <a:off x="475488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9" name="Half-duplex assistant turn 2"/>
          <p:cNvSpPr/>
          <p:nvPr/>
        </p:nvSpPr>
        <p:spPr>
          <a:xfrm>
            <a:off x="4834128"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0" name="Half-duplex assistant turn 2"/>
          <p:cNvSpPr/>
          <p:nvPr/>
        </p:nvSpPr>
        <p:spPr>
          <a:xfrm>
            <a:off x="4913376"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1" name="Half-duplex assistant turn 2"/>
          <p:cNvSpPr/>
          <p:nvPr/>
        </p:nvSpPr>
        <p:spPr>
          <a:xfrm>
            <a:off x="4992624"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2" name="Half-duplex assistant turn 2"/>
          <p:cNvSpPr/>
          <p:nvPr/>
        </p:nvSpPr>
        <p:spPr>
          <a:xfrm>
            <a:off x="5071872"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3" name="Half-duplex assistant turn 2"/>
          <p:cNvSpPr/>
          <p:nvPr/>
        </p:nvSpPr>
        <p:spPr>
          <a:xfrm>
            <a:off x="5151120"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4" name="Half-duplex assistant turn 2"/>
          <p:cNvSpPr/>
          <p:nvPr/>
        </p:nvSpPr>
        <p:spPr>
          <a:xfrm>
            <a:off x="5230368"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5" name="Half-duplex assistant turn 2"/>
          <p:cNvSpPr/>
          <p:nvPr/>
        </p:nvSpPr>
        <p:spPr>
          <a:xfrm>
            <a:off x="530961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6" name="Half-duplex assistant turn 2"/>
          <p:cNvSpPr/>
          <p:nvPr/>
        </p:nvSpPr>
        <p:spPr>
          <a:xfrm>
            <a:off x="5388864"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7" name="Half-duplex assistant turn 2"/>
          <p:cNvSpPr/>
          <p:nvPr/>
        </p:nvSpPr>
        <p:spPr>
          <a:xfrm>
            <a:off x="5468112"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68" name="Camera input frame"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516368" y="2697480"/>
            <a:ext cx="356616" cy="320040"/>
          </a:xfrm>
          <a:prstGeom prst="rect">
            <a:avLst/>
          </a:prstGeom>
        </p:spPr>
      </p:pic>
      <p:pic>
        <p:nvPicPr>
          <p:cNvPr id="569" name="Camera input frame"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046720" y="2697480"/>
            <a:ext cx="356616" cy="320040"/>
          </a:xfrm>
          <a:prstGeom prst="rect">
            <a:avLst/>
          </a:prstGeom>
        </p:spPr>
      </p:pic>
      <p:pic>
        <p:nvPicPr>
          <p:cNvPr id="570" name="Camera input frame"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577072" y="2697480"/>
            <a:ext cx="356616" cy="320040"/>
          </a:xfrm>
          <a:prstGeom prst="rect">
            <a:avLst/>
          </a:prstGeom>
        </p:spPr>
      </p:pic>
      <p:pic>
        <p:nvPicPr>
          <p:cNvPr id="571" name="Camera input frame"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107424" y="2697480"/>
            <a:ext cx="356616" cy="320040"/>
          </a:xfrm>
          <a:prstGeom prst="rect">
            <a:avLst/>
          </a:prstGeom>
        </p:spPr>
      </p:pic>
      <p:pic>
        <p:nvPicPr>
          <p:cNvPr id="572" name="Camera input frame"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637776" y="2697480"/>
            <a:ext cx="356616" cy="320040"/>
          </a:xfrm>
          <a:prstGeom prst="rect">
            <a:avLst/>
          </a:prstGeom>
        </p:spPr>
      </p:pic>
      <p:pic>
        <p:nvPicPr>
          <p:cNvPr id="573" name="Camera input frame"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168128" y="2697480"/>
            <a:ext cx="356616" cy="320040"/>
          </a:xfrm>
          <a:prstGeom prst="rect">
            <a:avLst/>
          </a:prstGeom>
        </p:spPr>
      </p:pic>
      <p:pic>
        <p:nvPicPr>
          <p:cNvPr id="574" name="Camera input frame"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698480" y="2697480"/>
            <a:ext cx="356616" cy="320040"/>
          </a:xfrm>
          <a:prstGeom prst="rect">
            <a:avLst/>
          </a:prstGeom>
        </p:spPr>
      </p:pic>
      <p:sp>
        <p:nvSpPr>
          <p:cNvPr id="575" name="Full-duplex initial user turn"/>
          <p:cNvSpPr/>
          <p:nvPr/>
        </p:nvSpPr>
        <p:spPr>
          <a:xfrm>
            <a:off x="757123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6" name="Full-duplex initial user turn"/>
          <p:cNvSpPr/>
          <p:nvPr/>
        </p:nvSpPr>
        <p:spPr>
          <a:xfrm>
            <a:off x="764514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7" name="Full-duplex initial user turn"/>
          <p:cNvSpPr/>
          <p:nvPr/>
        </p:nvSpPr>
        <p:spPr>
          <a:xfrm>
            <a:off x="771906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8" name="Full-duplex initial user turn"/>
          <p:cNvSpPr/>
          <p:nvPr/>
        </p:nvSpPr>
        <p:spPr>
          <a:xfrm>
            <a:off x="779297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9" name="Full-duplex initial user turn"/>
          <p:cNvSpPr/>
          <p:nvPr/>
        </p:nvSpPr>
        <p:spPr>
          <a:xfrm>
            <a:off x="7866888"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0" name="Full-duplex initial user turn"/>
          <p:cNvSpPr/>
          <p:nvPr/>
        </p:nvSpPr>
        <p:spPr>
          <a:xfrm>
            <a:off x="794080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1" name="Full-duplex initial user turn"/>
          <p:cNvSpPr/>
          <p:nvPr/>
        </p:nvSpPr>
        <p:spPr>
          <a:xfrm>
            <a:off x="8014716"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2" name="Full-duplex initial user turn"/>
          <p:cNvSpPr/>
          <p:nvPr/>
        </p:nvSpPr>
        <p:spPr>
          <a:xfrm>
            <a:off x="808863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3" name="Full-duplex initial user turn"/>
          <p:cNvSpPr/>
          <p:nvPr/>
        </p:nvSpPr>
        <p:spPr>
          <a:xfrm>
            <a:off x="8162544"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4" name="Full-duplex initial user turn"/>
          <p:cNvSpPr/>
          <p:nvPr/>
        </p:nvSpPr>
        <p:spPr>
          <a:xfrm>
            <a:off x="8236458"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5" name="Full-duplex initial user turn"/>
          <p:cNvSpPr/>
          <p:nvPr/>
        </p:nvSpPr>
        <p:spPr>
          <a:xfrm>
            <a:off x="831037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6" name="Full-duplex initial user turn"/>
          <p:cNvSpPr/>
          <p:nvPr/>
        </p:nvSpPr>
        <p:spPr>
          <a:xfrm>
            <a:off x="838428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7" name="Full-duplex initial user turn"/>
          <p:cNvSpPr/>
          <p:nvPr/>
        </p:nvSpPr>
        <p:spPr>
          <a:xfrm>
            <a:off x="845820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8" name="Full-duplex user interjection"/>
          <p:cNvSpPr/>
          <p:nvPr/>
        </p:nvSpPr>
        <p:spPr>
          <a:xfrm>
            <a:off x="9226296"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9" name="Full-duplex user interjection"/>
          <p:cNvSpPr/>
          <p:nvPr/>
        </p:nvSpPr>
        <p:spPr>
          <a:xfrm>
            <a:off x="9303715"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0" name="Full-duplex user interjection"/>
          <p:cNvSpPr/>
          <p:nvPr/>
        </p:nvSpPr>
        <p:spPr>
          <a:xfrm>
            <a:off x="9381134"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1" name="Full-duplex user interjection"/>
          <p:cNvSpPr/>
          <p:nvPr/>
        </p:nvSpPr>
        <p:spPr>
          <a:xfrm>
            <a:off x="945855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2" name="Full-duplex user interjection"/>
          <p:cNvSpPr/>
          <p:nvPr/>
        </p:nvSpPr>
        <p:spPr>
          <a:xfrm>
            <a:off x="9535973"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3" name="Full-duplex user interjection"/>
          <p:cNvSpPr/>
          <p:nvPr/>
        </p:nvSpPr>
        <p:spPr>
          <a:xfrm>
            <a:off x="961339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4" name="Full-duplex user interjection"/>
          <p:cNvSpPr/>
          <p:nvPr/>
        </p:nvSpPr>
        <p:spPr>
          <a:xfrm>
            <a:off x="9690811"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5" name="Full-duplex user interjection"/>
          <p:cNvSpPr/>
          <p:nvPr/>
        </p:nvSpPr>
        <p:spPr>
          <a:xfrm>
            <a:off x="976823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6" name="Full-duplex user interjection"/>
          <p:cNvSpPr/>
          <p:nvPr/>
        </p:nvSpPr>
        <p:spPr>
          <a:xfrm>
            <a:off x="9845650"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7" name="Full-duplex user interjection"/>
          <p:cNvSpPr/>
          <p:nvPr/>
        </p:nvSpPr>
        <p:spPr>
          <a:xfrm>
            <a:off x="9923069"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8" name="Full-duplex user interjection"/>
          <p:cNvSpPr/>
          <p:nvPr/>
        </p:nvSpPr>
        <p:spPr>
          <a:xfrm>
            <a:off x="10000488"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9" name="Full-duplex user interjection"/>
          <p:cNvSpPr/>
          <p:nvPr/>
        </p:nvSpPr>
        <p:spPr>
          <a:xfrm>
            <a:off x="10077907"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0" name="Full-duplex user interjection"/>
          <p:cNvSpPr/>
          <p:nvPr/>
        </p:nvSpPr>
        <p:spPr>
          <a:xfrm>
            <a:off x="10155326"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1" name="Full-duplex user interjection"/>
          <p:cNvSpPr/>
          <p:nvPr/>
        </p:nvSpPr>
        <p:spPr>
          <a:xfrm>
            <a:off x="10232746"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2" name="Full-duplex user interjection"/>
          <p:cNvSpPr/>
          <p:nvPr/>
        </p:nvSpPr>
        <p:spPr>
          <a:xfrm>
            <a:off x="10310165"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3" name="Full-duplex user interjection"/>
          <p:cNvSpPr/>
          <p:nvPr/>
        </p:nvSpPr>
        <p:spPr>
          <a:xfrm>
            <a:off x="10387584"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4" name="Full-duplex output receives new input"/>
          <p:cNvSpPr/>
          <p:nvPr/>
        </p:nvSpPr>
        <p:spPr>
          <a:xfrm>
            <a:off x="859536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5" name="Full-duplex output receives new input"/>
          <p:cNvSpPr/>
          <p:nvPr/>
        </p:nvSpPr>
        <p:spPr>
          <a:xfrm>
            <a:off x="8669165"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6" name="Full-duplex output receives new input"/>
          <p:cNvSpPr/>
          <p:nvPr/>
        </p:nvSpPr>
        <p:spPr>
          <a:xfrm>
            <a:off x="8742970"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7" name="Full-duplex output receives new input"/>
          <p:cNvSpPr/>
          <p:nvPr/>
        </p:nvSpPr>
        <p:spPr>
          <a:xfrm>
            <a:off x="8816775"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8" name="Full-duplex output receives new input"/>
          <p:cNvSpPr/>
          <p:nvPr/>
        </p:nvSpPr>
        <p:spPr>
          <a:xfrm>
            <a:off x="8890581"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9" name="Full-duplex output receives new input"/>
          <p:cNvSpPr/>
          <p:nvPr/>
        </p:nvSpPr>
        <p:spPr>
          <a:xfrm>
            <a:off x="8964386"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0" name="Full-duplex output receives new input"/>
          <p:cNvSpPr/>
          <p:nvPr/>
        </p:nvSpPr>
        <p:spPr>
          <a:xfrm>
            <a:off x="9038191"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1" name="Full-duplex output receives new input"/>
          <p:cNvSpPr/>
          <p:nvPr/>
        </p:nvSpPr>
        <p:spPr>
          <a:xfrm>
            <a:off x="911199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2" name="Full-duplex output receives new input"/>
          <p:cNvSpPr/>
          <p:nvPr/>
        </p:nvSpPr>
        <p:spPr>
          <a:xfrm>
            <a:off x="9185801"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3" name="Full-duplex output receives new input"/>
          <p:cNvSpPr/>
          <p:nvPr/>
        </p:nvSpPr>
        <p:spPr>
          <a:xfrm>
            <a:off x="9259606"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4" name="Full-duplex output receives new input"/>
          <p:cNvSpPr/>
          <p:nvPr/>
        </p:nvSpPr>
        <p:spPr>
          <a:xfrm>
            <a:off x="9333411"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5" name="Full-duplex output receives new input"/>
          <p:cNvSpPr/>
          <p:nvPr/>
        </p:nvSpPr>
        <p:spPr>
          <a:xfrm>
            <a:off x="9407217"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6" name="Full-duplex output receives new input"/>
          <p:cNvSpPr/>
          <p:nvPr/>
        </p:nvSpPr>
        <p:spPr>
          <a:xfrm>
            <a:off x="9481022"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7" name="Full-duplex output receives new input"/>
          <p:cNvSpPr/>
          <p:nvPr/>
        </p:nvSpPr>
        <p:spPr>
          <a:xfrm>
            <a:off x="9554827"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8" name="Full-duplex output receives new input"/>
          <p:cNvSpPr/>
          <p:nvPr/>
        </p:nvSpPr>
        <p:spPr>
          <a:xfrm>
            <a:off x="9628632"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9" name="Full-duplex later output"/>
          <p:cNvSpPr/>
          <p:nvPr/>
        </p:nvSpPr>
        <p:spPr>
          <a:xfrm>
            <a:off x="10570464"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0" name="Full-duplex later output"/>
          <p:cNvSpPr/>
          <p:nvPr/>
        </p:nvSpPr>
        <p:spPr>
          <a:xfrm>
            <a:off x="10652760"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1" name="Full-duplex later output"/>
          <p:cNvSpPr/>
          <p:nvPr/>
        </p:nvSpPr>
        <p:spPr>
          <a:xfrm>
            <a:off x="10735056"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2" name="Full-duplex later output"/>
          <p:cNvSpPr/>
          <p:nvPr/>
        </p:nvSpPr>
        <p:spPr>
          <a:xfrm>
            <a:off x="10817352"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3" name="Full-duplex later output"/>
          <p:cNvSpPr/>
          <p:nvPr/>
        </p:nvSpPr>
        <p:spPr>
          <a:xfrm>
            <a:off x="10899648"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4" name="Full-duplex later output"/>
          <p:cNvSpPr/>
          <p:nvPr/>
        </p:nvSpPr>
        <p:spPr>
          <a:xfrm>
            <a:off x="10981944"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5" name="Full-duplex later output"/>
          <p:cNvSpPr/>
          <p:nvPr/>
        </p:nvSpPr>
        <p:spPr>
          <a:xfrm>
            <a:off x="11064240"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6" name="Full-duplex later output"/>
          <p:cNvSpPr/>
          <p:nvPr/>
        </p:nvSpPr>
        <p:spPr>
          <a:xfrm>
            <a:off x="1114653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7" name="Full-duplex later output"/>
          <p:cNvSpPr/>
          <p:nvPr/>
        </p:nvSpPr>
        <p:spPr>
          <a:xfrm>
            <a:off x="11228832"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28" name="User interjects during output"/>
          <p:cNvCxnSpPr/>
          <p:nvPr/>
        </p:nvCxnSpPr>
        <p:spPr>
          <a:xfrm>
            <a:off x="9226296" y="3136392"/>
            <a:ext cx="0" cy="996696"/>
          </a:xfrm>
          <a:prstGeom prst="line">
            <a:avLst/>
          </a:prstGeom>
          <a:ln w="1651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629" name="User interjects"/>
          <p:cNvSpPr txBox="1"/>
          <p:nvPr/>
        </p:nvSpPr>
        <p:spPr>
          <a:xfrm>
            <a:off x="9272016" y="4142232"/>
            <a:ext cx="1920240" cy="210312"/>
          </a:xfrm>
          <a:prstGeom prst="rect">
            <a:avLst/>
          </a:prstGeom>
          <a:noFill/>
        </p:spPr>
        <p:txBody>
          <a:bodyPr wrap="square" lIns="0" rIns="0" tIns="0" bIns="0" anchor="t">
            <a:spAutoFit/>
          </a:bodyPr>
          <a:lstStyle/>
          <a:p>
            <a:pPr algn="l">
              <a:lnSpc>
                <a:spcPct val="110000"/>
              </a:lnSpc>
              <a:spcAft>
                <a:spcPts val="0"/>
              </a:spcAft>
            </a:pPr>
            <a:r>
              <a:rPr sz="1100" b="0">
                <a:solidFill>
                  <a:srgbClr val="FFCB78"/>
                </a:solidFill>
                <a:latin typeface="Arial"/>
                <a:ea typeface="Arial"/>
                <a:cs typeface="Arial"/>
              </a:rPr>
              <a:t>User interjects</a:t>
            </a:r>
          </a:p>
        </p:txBody>
      </p:sp>
      <p:sp>
        <p:nvSpPr>
          <p:cNvPr id="630" name="→"/>
          <p:cNvSpPr txBox="1"/>
          <p:nvPr/>
        </p:nvSpPr>
        <p:spPr>
          <a:xfrm>
            <a:off x="5888736" y="3154680"/>
            <a:ext cx="365760" cy="365760"/>
          </a:xfrm>
          <a:prstGeom prst="rect">
            <a:avLst/>
          </a:prstGeom>
          <a:noFill/>
        </p:spPr>
        <p:txBody>
          <a:bodyPr wrap="square" lIns="0" rIns="0" tIns="0" bIns="0" anchor="t">
            <a:spAutoFit/>
          </a:bodyPr>
          <a:lstStyle/>
          <a:p>
            <a:pPr algn="ctr">
              <a:lnSpc>
                <a:spcPct val="110000"/>
              </a:lnSpc>
              <a:spcAft>
                <a:spcPts val="0"/>
              </a:spcAft>
            </a:pPr>
            <a:r>
              <a:rPr sz="2500" b="0">
                <a:solidFill>
                  <a:srgbClr val="526985"/>
                </a:solidFill>
                <a:latin typeface="Arial"/>
                <a:ea typeface="Arial"/>
                <a:cs typeface="Arial"/>
              </a:rPr>
              <a:t>→</a:t>
            </a:r>
          </a:p>
        </p:txBody>
      </p:sp>
      <p:sp>
        <p:nvSpPr>
          <p:cNvPr id="631" name="Shared capability"/>
          <p:cNvSpPr/>
          <p:nvPr/>
        </p:nvSpPr>
        <p:spPr>
          <a:xfrm>
            <a:off x="548640" y="4599432"/>
            <a:ext cx="11082528" cy="502920"/>
          </a:xfrm>
          <a:prstGeom prst="roundRect">
            <a:avLst>
              <a:gd name="adj" fmla="val 10000"/>
            </a:avLst>
          </a:prstGeom>
          <a:solidFill>
            <a:srgbClr val="ED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2" name="Shared: streamed responses"/>
          <p:cNvSpPr txBox="1"/>
          <p:nvPr/>
        </p:nvSpPr>
        <p:spPr>
          <a:xfrm>
            <a:off x="768096" y="4736592"/>
            <a:ext cx="4270248" cy="265176"/>
          </a:xfrm>
          <a:prstGeom prst="rect">
            <a:avLst/>
          </a:prstGeom>
          <a:noFill/>
        </p:spPr>
        <p:txBody>
          <a:bodyPr wrap="square" lIns="0" rIns="0" tIns="0" bIns="0" anchor="t">
            <a:spAutoFit/>
          </a:bodyPr>
          <a:lstStyle/>
          <a:p>
            <a:pPr algn="l">
              <a:lnSpc>
                <a:spcPct val="110000"/>
              </a:lnSpc>
              <a:spcAft>
                <a:spcPts val="0"/>
              </a:spcAft>
            </a:pPr>
            <a:r>
              <a:rPr sz="1700" b="1">
                <a:solidFill>
                  <a:srgbClr val="16304E"/>
                </a:solidFill>
                <a:latin typeface="Arial"/>
                <a:ea typeface="Arial"/>
                <a:cs typeface="Arial"/>
              </a:rPr>
              <a:t>Shared: streamed responses</a:t>
            </a:r>
          </a:p>
        </p:txBody>
      </p:sp>
      <p:sp>
        <p:nvSpPr>
          <p:cNvPr id="633" name="Both modes can deliver text and audio incrementally."/>
          <p:cNvSpPr txBox="1"/>
          <p:nvPr/>
        </p:nvSpPr>
        <p:spPr>
          <a:xfrm>
            <a:off x="5047488" y="4754880"/>
            <a:ext cx="6327648" cy="237744"/>
          </a:xfrm>
          <a:prstGeom prst="rect">
            <a:avLst/>
          </a:prstGeom>
          <a:noFill/>
        </p:spPr>
        <p:txBody>
          <a:bodyPr wrap="square" lIns="0" rIns="0" tIns="0" bIns="0" anchor="t">
            <a:spAutoFit/>
          </a:bodyPr>
          <a:lstStyle/>
          <a:p>
            <a:pPr algn="l">
              <a:lnSpc>
                <a:spcPct val="110000"/>
              </a:lnSpc>
              <a:spcAft>
                <a:spcPts val="0"/>
              </a:spcAft>
            </a:pPr>
            <a:r>
              <a:rPr sz="1370" b="0">
                <a:solidFill>
                  <a:srgbClr val="526985"/>
                </a:solidFill>
                <a:latin typeface="Arial"/>
                <a:ea typeface="Arial"/>
                <a:cs typeface="Arial"/>
              </a:rPr>
              <a:t>Both modes can deliver text and audio incrementally.</a:t>
            </a:r>
          </a:p>
        </p:txBody>
      </p:sp>
      <p:sp>
        <p:nvSpPr>
          <p:cNvPr id="634" name="Full-duplex capabilities"/>
          <p:cNvSpPr/>
          <p:nvPr/>
        </p:nvSpPr>
        <p:spPr>
          <a:xfrm>
            <a:off x="548640" y="5330952"/>
            <a:ext cx="11082528" cy="987552"/>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5" name="Full-duplex accent"/>
          <p:cNvSpPr/>
          <p:nvPr/>
        </p:nvSpPr>
        <p:spPr>
          <a:xfrm>
            <a:off x="548640" y="5330952"/>
            <a:ext cx="36576" cy="987552"/>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36" name="Feature divider"/>
          <p:cNvCxnSpPr/>
          <p:nvPr/>
        </p:nvCxnSpPr>
        <p:spPr>
          <a:xfrm>
            <a:off x="6062472" y="5495544"/>
            <a:ext cx="0" cy="640080"/>
          </a:xfrm>
          <a:prstGeom prst="line">
            <a:avLst/>
          </a:prstGeom>
          <a:ln w="10160">
            <a:solidFill>
              <a:srgbClr val="DFE7EF"/>
            </a:solidFill>
          </a:ln>
          <a:effectLst/>
        </p:spPr>
        <p:style>
          <a:lnRef idx="2">
            <a:schemeClr val="accent1"/>
          </a:lnRef>
          <a:fillRef idx="0">
            <a:schemeClr val="accent1"/>
          </a:fillRef>
          <a:effectRef idx="0">
            <a:schemeClr val="accent1"/>
          </a:effectRef>
          <a:fontRef idx="minor">
            <a:schemeClr val="tx1"/>
          </a:fontRef>
        </p:style>
      </p:cxnSp>
      <p:sp>
        <p:nvSpPr>
          <p:cNvPr id="637" name="Concurrent input &amp; output"/>
          <p:cNvSpPr txBox="1"/>
          <p:nvPr/>
        </p:nvSpPr>
        <p:spPr>
          <a:xfrm>
            <a:off x="777240" y="5477256"/>
            <a:ext cx="5020056" cy="283464"/>
          </a:xfrm>
          <a:prstGeom prst="rect">
            <a:avLst/>
          </a:prstGeom>
          <a:noFill/>
        </p:spPr>
        <p:txBody>
          <a:bodyPr wrap="square" lIns="0" rIns="0" tIns="0" bIns="0" anchor="t">
            <a:spAutoFit/>
          </a:bodyPr>
          <a:lstStyle/>
          <a:p>
            <a:pPr algn="l">
              <a:lnSpc>
                <a:spcPct val="110000"/>
              </a:lnSpc>
              <a:spcAft>
                <a:spcPts val="0"/>
              </a:spcAft>
            </a:pPr>
            <a:r>
              <a:rPr sz="1800" b="1">
                <a:solidFill>
                  <a:srgbClr val="347FF0"/>
                </a:solidFill>
                <a:latin typeface="Arial"/>
                <a:ea typeface="Arial"/>
                <a:cs typeface="Arial"/>
              </a:rPr>
              <a:t>Concurrent input &amp; output</a:t>
            </a:r>
          </a:p>
        </p:txBody>
      </p:sp>
      <p:sp>
        <p:nvSpPr>
          <p:cNvPr id="638" name="Keep receiving new input&#10;while the assistant responds."/>
          <p:cNvSpPr txBox="1"/>
          <p:nvPr/>
        </p:nvSpPr>
        <p:spPr>
          <a:xfrm>
            <a:off x="777240" y="5806440"/>
            <a:ext cx="5020056" cy="429768"/>
          </a:xfrm>
          <a:prstGeom prst="rect">
            <a:avLst/>
          </a:prstGeom>
          <a:noFill/>
        </p:spPr>
        <p:txBody>
          <a:bodyPr wrap="square" lIns="0" rIns="0" tIns="0" bIns="0" anchor="t">
            <a:spAutoFit/>
          </a:bodyPr>
          <a:lstStyle/>
          <a:p>
            <a:pPr algn="l">
              <a:lnSpc>
                <a:spcPct val="110000"/>
              </a:lnSpc>
              <a:spcAft>
                <a:spcPts val="0"/>
              </a:spcAft>
            </a:pPr>
            <a:r>
              <a:rPr sz="1400" b="0">
                <a:solidFill>
                  <a:srgbClr val="16304E"/>
                </a:solidFill>
                <a:latin typeface="Arial"/>
                <a:ea typeface="Arial"/>
                <a:cs typeface="Arial"/>
              </a:rPr>
              <a:t>Keep receiving new input</a:t>
            </a:r>
          </a:p>
          <a:p>
            <a:pPr algn="l">
              <a:lnSpc>
                <a:spcPct val="110000"/>
              </a:lnSpc>
              <a:spcAft>
                <a:spcPts val="0"/>
              </a:spcAft>
            </a:pPr>
            <a:r>
              <a:rPr sz="1400" b="0">
                <a:solidFill>
                  <a:srgbClr val="16304E"/>
                </a:solidFill>
                <a:latin typeface="Arial"/>
                <a:ea typeface="Arial"/>
                <a:cs typeface="Arial"/>
              </a:rPr>
              <a:t>while the assistant responds.</a:t>
            </a:r>
          </a:p>
        </p:txBody>
      </p:sp>
      <p:sp>
        <p:nvSpPr>
          <p:cNvPr id="639" name="Adaptive interaction"/>
          <p:cNvSpPr txBox="1"/>
          <p:nvPr/>
        </p:nvSpPr>
        <p:spPr>
          <a:xfrm>
            <a:off x="6318504" y="5477256"/>
            <a:ext cx="5029200" cy="283464"/>
          </a:xfrm>
          <a:prstGeom prst="rect">
            <a:avLst/>
          </a:prstGeom>
          <a:noFill/>
        </p:spPr>
        <p:txBody>
          <a:bodyPr wrap="square" lIns="0" rIns="0" tIns="0" bIns="0" anchor="t">
            <a:spAutoFit/>
          </a:bodyPr>
          <a:lstStyle/>
          <a:p>
            <a:pPr algn="l">
              <a:lnSpc>
                <a:spcPct val="110000"/>
              </a:lnSpc>
              <a:spcAft>
                <a:spcPts val="0"/>
              </a:spcAft>
            </a:pPr>
            <a:r>
              <a:rPr sz="1800" b="1">
                <a:solidFill>
                  <a:srgbClr val="008E96"/>
                </a:solidFill>
                <a:latin typeface="Arial"/>
                <a:ea typeface="Arial"/>
                <a:cs typeface="Arial"/>
              </a:rPr>
              <a:t>Adaptive interaction</a:t>
            </a:r>
          </a:p>
        </p:txBody>
      </p:sp>
      <p:sp>
        <p:nvSpPr>
          <p:cNvPr id="640" name="Native duplex models can use new input&#10;to shape the next output or yield."/>
          <p:cNvSpPr txBox="1"/>
          <p:nvPr/>
        </p:nvSpPr>
        <p:spPr>
          <a:xfrm>
            <a:off x="6318504" y="5806440"/>
            <a:ext cx="5029200" cy="429768"/>
          </a:xfrm>
          <a:prstGeom prst="rect">
            <a:avLst/>
          </a:prstGeom>
          <a:noFill/>
        </p:spPr>
        <p:txBody>
          <a:bodyPr wrap="square" lIns="0" rIns="0" tIns="0" bIns="0" anchor="t">
            <a:spAutoFit/>
          </a:bodyPr>
          <a:lstStyle/>
          <a:p>
            <a:pPr algn="l">
              <a:lnSpc>
                <a:spcPct val="110000"/>
              </a:lnSpc>
              <a:spcAft>
                <a:spcPts val="0"/>
              </a:spcAft>
            </a:pPr>
            <a:r>
              <a:rPr sz="1400" b="0">
                <a:solidFill>
                  <a:srgbClr val="16304E"/>
                </a:solidFill>
                <a:latin typeface="Arial"/>
                <a:ea typeface="Arial"/>
                <a:cs typeface="Arial"/>
              </a:rPr>
              <a:t>Native duplex models can use new input</a:t>
            </a:r>
          </a:p>
          <a:p>
            <a:pPr algn="l">
              <a:lnSpc>
                <a:spcPct val="110000"/>
              </a:lnSpc>
              <a:spcAft>
                <a:spcPts val="0"/>
              </a:spcAft>
            </a:pPr>
            <a:r>
              <a:rPr sz="1400" b="0">
                <a:solidFill>
                  <a:srgbClr val="16304E"/>
                </a:solidFill>
                <a:latin typeface="Arial"/>
                <a:ea typeface="Arial"/>
                <a:cs typeface="Arial"/>
              </a:rPr>
              <a:t>to shape the next output or yield.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How models handle live interaction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Interaction controls depend on the model and demo profile.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13</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INTERACTION</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WHAT HAPPENS</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speech and video input</a:t>
            </a:r>
          </a:p>
          <a:p>
            <a:pPr algn="l">
              <a:lnSpc>
                <a:spcPct val="110000"/>
              </a:lnSpc>
              <a:spcAft>
                <a:spcPts val="0"/>
              </a:spcAft>
            </a:pPr>
            <a:r>
              <a:rPr sz="1180" b="0">
                <a:solidFill>
                  <a:srgbClr val="142B45"/>
                </a:solidFill>
                <a:latin typeface="Arial"/>
                <a:ea typeface="Arial"/>
                <a:cs typeface="Arial"/>
              </a:rPr>
              <a:t>Model decides LISTEN / SPEAK</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Listen or respond within the live session</a:t>
            </a:r>
          </a:p>
          <a:p>
            <a:pPr algn="l">
              <a:lnSpc>
                <a:spcPct val="110000"/>
              </a:lnSpc>
              <a:spcAft>
                <a:spcPts val="0"/>
              </a:spcAft>
            </a:pPr>
            <a:r>
              <a:rPr sz="1180" b="0">
                <a:solidFill>
                  <a:srgbClr val="142B45"/>
                </a:solidFill>
                <a:latin typeface="Arial"/>
                <a:ea typeface="Arial"/>
                <a:cs typeface="Arial"/>
              </a:rPr>
              <a:t>No Server VAD required by default</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Server VAD detects user speech</a:t>
            </a:r>
          </a:p>
          <a:p>
            <a:pPr algn="l">
              <a:lnSpc>
                <a:spcPct val="110000"/>
              </a:lnSpc>
              <a:spcAft>
                <a:spcPts val="0"/>
              </a:spcAft>
            </a:pPr>
            <a:r>
              <a:rPr sz="1180" b="0">
                <a:solidFill>
                  <a:srgbClr val="142B45"/>
                </a:solidFill>
                <a:latin typeface="Arial"/>
                <a:ea typeface="Arial"/>
                <a:cs typeface="Arial"/>
              </a:rPr>
              <a:t>Microphone input stays active</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Stop queued playback</a:t>
            </a:r>
          </a:p>
          <a:p>
            <a:pPr algn="l">
              <a:lnSpc>
                <a:spcPct val="110000"/>
              </a:lnSpc>
              <a:spcAft>
                <a:spcPts val="0"/>
              </a:spcAft>
            </a:pPr>
            <a:r>
              <a:rPr sz="1180" b="0">
                <a:solidFill>
                  <a:srgbClr val="142B45"/>
                </a:solidFill>
                <a:latin typeface="Arial"/>
                <a:ea typeface="Arial"/>
                <a:cs typeface="Arial"/>
              </a:rPr>
              <a:t>Interrupt the current response*</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 to talk; release to submit</a:t>
            </a:r>
          </a:p>
          <a:p>
            <a:pPr algn="l">
              <a:lnSpc>
                <a:spcPct val="110000"/>
              </a:lnSpc>
              <a:spcAft>
                <a:spcPts val="0"/>
              </a:spcAft>
            </a:pPr>
            <a:r>
              <a:rPr sz="1180" b="0">
                <a:solidFill>
                  <a:srgbClr val="142B45"/>
                </a:solidFill>
                <a:latin typeface="Arial"/>
                <a:ea typeface="Arial"/>
                <a:cs typeface="Arial"/>
              </a:rPr>
              <a:t>new audio / video input</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Holding stops local playback</a:t>
            </a:r>
          </a:p>
          <a:p>
            <a:pPr algn="l">
              <a:lnSpc>
                <a:spcPct val="110000"/>
              </a:lnSpc>
              <a:spcAft>
                <a:spcPts val="0"/>
              </a:spcAft>
            </a:pPr>
            <a:r>
              <a:rPr sz="1180" b="0">
                <a:solidFill>
                  <a:srgbClr val="142B45"/>
                </a:solidFill>
                <a:latin typeface="Arial"/>
                <a:ea typeface="Arial"/>
                <a:cs typeface="Arial"/>
              </a:rPr>
              <a:t>Server generation can continue</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a:solidFill>
                  <a:srgbClr val="586B7E"/>
                </a:solidFill>
                <a:latin typeface="Arial"/>
                <a:ea typeface="Arial"/>
                <a:cs typeface="Arial"/>
              </a:rPr>
              <a:t>PersonaPlex: explicit cancel restarts conversation context; disconnect requires a new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MODEL-DRIVEN SPEECH</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PersonaPlex · MiniCPM-o 4.5</a:t>
            </a:r>
          </a:p>
          <a:p>
            <a:pPr algn="l">
              <a:lnSpc>
                <a:spcPct val="110000"/>
              </a:lnSpc>
              <a:spcAft>
                <a:spcPts val="0"/>
              </a:spcAft>
            </a:pPr>
            <a:r>
              <a:rPr sz="1050" b="0">
                <a:solidFill>
                  <a:srgbClr val="142B45"/>
                </a:solidFill>
                <a:latin typeface="Arial"/>
                <a:ea typeface="Arial"/>
                <a:cs typeface="Arial"/>
              </a:rPr>
              <a:t>The model controls when to speak</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LOCAL PLAYBACK STOP</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AURA button · Qwen VAD demo</a:t>
            </a:r>
          </a:p>
          <a:p>
            <a:pPr algn="l">
              <a:lnSpc>
                <a:spcPct val="110000"/>
              </a:lnSpc>
              <a:spcAft>
                <a:spcPts val="0"/>
              </a:spcAft>
            </a:pPr>
            <a:r>
              <a:rPr sz="1050" b="0">
                <a:solidFill>
                  <a:srgbClr val="142B45"/>
                </a:solidFill>
                <a:latin typeface="Arial"/>
                <a:ea typeface="Arial"/>
                <a:cs typeface="Arial"/>
              </a:rPr>
              <a:t>Stops playback; inference may continue</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SERVER CANCELLATION</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Qwen3-Omni + Server VAD*</a:t>
            </a:r>
          </a:p>
          <a:p>
            <a:pPr algn="l">
              <a:lnSpc>
                <a:spcPct val="110000"/>
              </a:lnSpc>
              <a:spcAft>
                <a:spcPts val="0"/>
              </a:spcAft>
            </a:pPr>
            <a:r>
              <a:rPr sz="1050" b="0">
                <a:solidFill>
                  <a:srgbClr val="142B45"/>
                </a:solidFill>
                <a:latin typeface="Arial"/>
                <a:ea typeface="Arial"/>
                <a:cs typeface="Arial"/>
              </a:rPr>
              <a:t>Cancels the active generation</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 Demo controls vary by model. Qwen VAD cancellation requires interrupt_response.</a:t>
            </a:r>
          </a:p>
        </p:txBody>
      </p:sp>
      <p:sp>
        <p:nvSpPr>
          <p:cNvPr id="200" name="PersonaPlex 200"/>
          <p:cNvSpPr/>
          <p:nvPr/>
        </p:nvSpPr>
        <p:spPr>
          <a:xfrm>
            <a:off x="548640" y="240487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speech in 80 ms frames</a:t>
            </a:r>
          </a:p>
          <a:p>
            <a:pPr algn="l">
              <a:lnSpc>
                <a:spcPct val="110000"/>
              </a:lnSpc>
              <a:spcAft>
                <a:spcPts val="0"/>
              </a:spcAft>
            </a:pPr>
            <a:r>
              <a:rPr sz="1180" b="0">
                <a:solidFill>
                  <a:srgbClr val="142B45"/>
                </a:solidFill>
                <a:latin typeface="Arial"/>
                <a:ea typeface="Arial"/>
                <a:cs typeface="Arial"/>
              </a:rPr>
              <a:t>No client commit or Server VAD needed</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Listens while generating speech</a:t>
            </a:r>
          </a:p>
          <a:p>
            <a:pPr algn="l">
              <a:lnSpc>
                <a:spcPct val="110000"/>
              </a:lnSpc>
              <a:spcAft>
                <a:spcPts val="0"/>
              </a:spcAft>
            </a:pPr>
            <a:r>
              <a:rPr sz="1180" b="0">
                <a:solidFill>
                  <a:srgbClr val="142B45"/>
                </a:solidFill>
                <a:latin typeface="Arial"/>
                <a:ea typeface="Arial"/>
                <a:cs typeface="Arial"/>
              </a:rPr>
              <a:t>Voice and role stay fixed during the session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a:solidFill>
                  <a:srgbClr val="142B45"/>
                </a:solidFill>
                <a:latin typeface="Arial"/>
                <a:ea typeface="Arial"/>
                <a:cs typeface="Arial"/>
              </a:rPr>
              <a:t>Interfaces, interaction modes and model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13</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a:solidFill>
                  <a:srgbClr val="586B7E"/>
                </a:solidFill>
                <a:latin typeface="Arial"/>
                <a:ea typeface="Arial"/>
                <a:cs typeface="Arial"/>
              </a:rPr>
              <a:t>The interface carries the conversation; the execution mode determines how the model processes input.</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Interface</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Interaction</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Execution</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Models</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/v1/duplex  or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a:solidFill>
                  <a:srgbClr val="586B7E"/>
                </a:solidFill>
                <a:latin typeface="Arial"/>
                <a:ea typeface="Arial"/>
                <a:cs typeface="Arial"/>
              </a:rPr>
              <a:t>A request returns a response;</a:t>
            </a:r>
          </a:p>
          <a:p>
            <a:pPr algn="ctr">
              <a:lnSpc>
                <a:spcPct val="106000"/>
              </a:lnSpc>
              <a:spcAft>
                <a:spcPts val="0"/>
              </a:spcAft>
            </a:pPr>
            <a:r>
              <a:rPr sz="1400" b="0">
                <a:solidFill>
                  <a:srgbClr val="586B7E"/>
                </a:solidFill>
                <a:latin typeface="Arial"/>
                <a:ea typeface="Arial"/>
                <a:cs typeface="Arial"/>
              </a:rPr>
              <a:t>streaming is optional.</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Continuous input and output</a:t>
            </a:r>
          </a:p>
          <a:p>
            <a:pPr algn="ctr">
              <a:lnSpc>
                <a:spcPct val="106000"/>
              </a:lnSpc>
              <a:spcAft>
                <a:spcPts val="0"/>
              </a:spcAft>
            </a:pPr>
            <a:r>
              <a:rPr sz="1200" b="0">
                <a:solidFill>
                  <a:srgbClr val="586B7E"/>
                </a:solidFill>
                <a:latin typeface="Arial"/>
                <a:ea typeface="Arial"/>
                <a:cs typeface="Arial"/>
              </a:rPr>
              <a:t>within ongoing inference</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A new generation request</a:t>
            </a:r>
          </a:p>
          <a:p>
            <a:pPr algn="ctr">
              <a:lnSpc>
                <a:spcPct val="106000"/>
              </a:lnSpc>
              <a:spcAft>
                <a:spcPts val="0"/>
              </a:spcAft>
            </a:pPr>
            <a:r>
              <a:rPr sz="1200" b="0">
                <a:solidFill>
                  <a:srgbClr val="586B7E"/>
                </a:solidFill>
                <a:latin typeface="Arial"/>
                <a:ea typeface="Arial"/>
                <a:cs typeface="Arial"/>
              </a:rPr>
              <a:t>for each committed turn</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a:solidFill>
                  <a:srgbClr val="16304E"/>
                </a:solidFill>
                <a:latin typeface="Arial"/>
                <a:ea typeface="Arial"/>
                <a:cs typeface="Arial"/>
              </a:rPr>
              <a:t>Qwen3-Omni</a:t>
            </a:r>
          </a:p>
          <a:p>
            <a:pPr algn="ctr">
              <a:lnSpc>
                <a:spcPct val="106000"/>
              </a:lnSpc>
              <a:spcAft>
                <a:spcPts val="0"/>
              </a:spcAft>
            </a:pPr>
            <a:r>
              <a:rPr sz="1520" b="1">
                <a:solidFill>
                  <a:srgbClr val="16304E"/>
                </a:solidFill>
                <a:latin typeface="Arial"/>
                <a:ea typeface="Arial"/>
                <a:cs typeface="Arial"/>
              </a:rPr>
              <a:t>MiniCPM-o 4.5 (turn mode)</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a:solidFill>
                  <a:srgbClr val="586B7E"/>
                </a:solidFill>
                <a:latin typeface="Arial"/>
                <a:ea typeface="Arial"/>
                <a:cs typeface="Arial"/>
              </a:rPr>
              <a:t>Realtime also supports a separate turn-based path: /v1/realtime?duplex=0.</a:t>
            </a:r>
          </a:p>
        </p:txBody>
      </p:sp>
      <p:sp>
        <p:nvSpPr>
          <p:cNvPr id="236" name="OpenAI Realtime–based message protocol with vLLM-Omni extensions"/>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en-US">
                <a:solidFill>
                  <a:srgbClr val="16304E"/>
                </a:solidFill>
                <a:latin typeface="Arial"/>
                <a:ea typeface="Arial"/>
                <a:cs typeface="Arial"/>
              </a:rPr>
              <a:t>OpenAI Realtime–based message protocol with vLLM-Omni extensions</a:t>
            </a:r>
          </a:p>
        </p:txBody>
      </p:sp>
      <p:sp>
        <p:nvSpPr>
          <p:cNvPr id="237" name="Video input · Playback feedback · Session resume"/>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en-US">
                <a:solidFill>
                  <a:srgbClr val="008E96"/>
                </a:solidFill>
                <a:latin typeface="Arial"/>
                <a:ea typeface="Arial"/>
                <a:cs typeface="Arial"/>
              </a:rPr>
              <a:t>Model-dependent extensions: video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Duplex WebSocket and Python sessions share engine-side control, model plugins and bounded output delivery.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13</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Unified duplex architecture, with clear roles at each layer</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APPLICATION / API PROCESS</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API / Python event loop</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a:solidFill>
                  <a:srgbClr val="586B7E"/>
                </a:solidFill>
                <a:latin typeface="Arial"/>
                <a:ea typeface="Arial"/>
                <a:cs typeface="Arial"/>
              </a:rPr>
              <a:t>Wire I/O · attach</a:t>
            </a:r>
          </a:p>
          <a:p>
            <a:pPr algn="l">
              <a:lnSpc>
                <a:spcPct val="110000"/>
              </a:lnSpc>
              <a:spcAft>
                <a:spcPts val="0"/>
              </a:spcAft>
            </a:pPr>
            <a:r>
              <a:rPr sz="1100" b="0">
                <a:solidFill>
                  <a:srgbClr val="586B7E"/>
                </a:solidFill>
                <a:latin typeface="Arial"/>
                <a:ea typeface="Arial"/>
                <a:cs typeface="Arial"/>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session handles</a:t>
            </a:r>
          </a:p>
          <a:p>
            <a:pPr algn="l">
              <a:lnSpc>
                <a:spcPct val="110000"/>
              </a:lnSpc>
              <a:spcAft>
                <a:spcPts val="0"/>
              </a:spcAft>
            </a:pPr>
            <a:r>
              <a:rPr sz="969" b="0">
                <a:solidFill>
                  <a:srgbClr val="586B7E"/>
                </a:solidFill>
                <a:latin typeface="Arial"/>
                <a:ea typeface="Arial"/>
                <a:cs typeface="Arial"/>
              </a:rPr>
              <a:t>command / event routing</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Create / close / resume; manage leases</a:t>
            </a:r>
          </a:p>
          <a:p>
            <a:pPr algn="l">
              <a:lnSpc>
                <a:spcPct val="110000"/>
              </a:lnSpc>
              <a:spcAft>
                <a:spcPts val="0"/>
              </a:spcAft>
            </a:pPr>
            <a:r>
              <a:rPr sz="1050" b="0">
                <a:solidFill>
                  <a:srgbClr val="142B45"/>
                </a:solidFill>
                <a:latin typeface="Arial"/>
                <a:ea typeface="Arial"/>
                <a:cs typeface="Arial"/>
              </a:rPr>
              <a:t>2. Check capacity / backlog; route commands</a:t>
            </a:r>
          </a:p>
          <a:p>
            <a:pPr algn="l">
              <a:lnSpc>
                <a:spcPct val="110000"/>
              </a:lnSpc>
              <a:spcAft>
                <a:spcPts val="0"/>
              </a:spcAft>
            </a:pPr>
            <a:r>
              <a:rPr sz="1050" b="0">
                <a:solidFill>
                  <a:srgbClr val="142B45"/>
                </a:solidFill>
                <a:latin typeface="Arial"/>
                <a:ea typeface="Arial"/>
                <a:cs typeface="Arial"/>
              </a:rPr>
              <a:t>3. Bound output buffers; close expired sessions</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One runner per session; ordered mailbox</a:t>
            </a:r>
          </a:p>
          <a:p>
            <a:pPr algn="l">
              <a:lnSpc>
                <a:spcPct val="110000"/>
              </a:lnSpc>
              <a:spcAft>
                <a:spcPts val="0"/>
              </a:spcAft>
            </a:pPr>
            <a:r>
              <a:rPr sz="1050" b="0">
                <a:solidFill>
                  <a:srgbClr val="142B45"/>
                </a:solidFill>
                <a:latin typeface="Arial"/>
                <a:ea typeface="Arial"/>
                <a:cs typeface="Arial"/>
              </a:rPr>
              <a:t>2. Handle input, commit, cancel, Stage output</a:t>
            </a:r>
          </a:p>
          <a:p>
            <a:pPr algn="l">
              <a:lnSpc>
                <a:spcPct val="110000"/>
              </a:lnSpc>
              <a:spcAft>
                <a:spcPts val="0"/>
              </a:spcAft>
            </a:pPr>
            <a:r>
              <a:rPr sz="1050" b="0">
                <a:solidFill>
                  <a:srgbClr val="142B45"/>
                </a:solidFill>
                <a:latin typeface="Arial"/>
                <a:ea typeface="Arial"/>
                <a:cs typeface="Arial"/>
              </a:rPr>
              <a:t>3. Advance response, history and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Capabilities; runtime / sampling settings</a:t>
            </a:r>
          </a:p>
          <a:p>
            <a:pPr algn="l">
              <a:lnSpc>
                <a:spcPct val="110000"/>
              </a:lnSpc>
              <a:spcAft>
                <a:spcPts val="0"/>
              </a:spcAft>
            </a:pPr>
            <a:r>
              <a:rPr sz="1050" b="0">
                <a:solidFill>
                  <a:srgbClr val="142B45"/>
                </a:solidFill>
                <a:latin typeface="Arial"/>
                <a:ea typeface="Arial"/>
                <a:cs typeface="Arial"/>
              </a:rPr>
              <a:t>2. Session buffers; chunk / turn input</a:t>
            </a:r>
          </a:p>
          <a:p>
            <a:pPr algn="l">
              <a:lnSpc>
                <a:spcPct val="110000"/>
              </a:lnSpc>
              <a:spcAft>
                <a:spcPts val="0"/>
              </a:spcAft>
            </a:pPr>
            <a:r>
              <a:rPr sz="1050" b="0">
                <a:solidFill>
                  <a:srgbClr val="142B45"/>
                </a:solidFill>
                <a:latin typeface="Arial"/>
                <a:ea typeface="Arial"/>
                <a:cs typeface="Arial"/>
              </a:rPr>
              <a:t>3. Interpret output; set downstream Stage policy</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950" b="1">
                <a:solidFill>
                  <a:srgbClr val="327CEC"/>
                </a:solidFill>
                <a:latin typeface="Arial"/>
                <a:ea typeface="Arial"/>
                <a:cs typeface="Arial"/>
              </a:rPr>
              <a:t>commands / session ops</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events</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a:solidFill>
                  <a:srgbClr val="586B7E"/>
                </a:solidFill>
                <a:latin typeface="Arial"/>
                <a:ea typeface="Arial"/>
                <a:cs typeface="Arial"/>
              </a:rPr>
              <a:t>same process · separate loops</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API Server: protocol, attachment and event replay</a:t>
            </a:r>
          </a:p>
          <a:p>
            <a:pPr algn="l">
              <a:lnSpc>
                <a:spcPct val="110000"/>
              </a:lnSpc>
              <a:spcAft>
                <a:spcPts val="0"/>
              </a:spcAft>
            </a:pPr>
            <a:r>
              <a:rPr sz="1200" b="1">
                <a:solidFill>
                  <a:srgbClr val="142B45"/>
                </a:solidFill>
                <a:latin typeface="Arial"/>
                <a:ea typeface="Arial"/>
                <a:cs typeface="Arial"/>
              </a:rPr>
              <a:t>EngineClient: handles, event streams and control results</a:t>
            </a:r>
          </a:p>
          <a:p>
            <a:pPr algn="l">
              <a:lnSpc>
                <a:spcPct val="110000"/>
              </a:lnSpc>
              <a:spcAft>
                <a:spcPts val="0"/>
              </a:spcAft>
            </a:pPr>
            <a:r>
              <a:rPr sz="1200" b="1">
                <a:solidFill>
                  <a:srgbClr val="142B45"/>
                </a:solidFill>
                <a:latin typeface="Arial"/>
                <a:ea typeface="Arial"/>
                <a:cs typeface="Arial"/>
              </a:rPr>
              <a:t>Duplex Orchestrator: session execution and Stage dispatch</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requests</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a:solidFill>
                  <a:srgbClr val="FFFFFF"/>
                </a:solidFill>
                <a:latin typeface="Arial"/>
                <a:ea typeface="Arial"/>
                <a:cs typeface="Arial"/>
              </a:rPr>
              <a:t>Stage execution processes</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a:solidFill>
                  <a:srgbClr val="B7C8D9"/>
                </a:solidFill>
                <a:latin typeface="Arial"/>
                <a:ea typeface="Arial"/>
                <a:cs typeface="Arial"/>
              </a:rPr>
              <a:t>Scheduler + workers · compute, KV and stream caches</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a:solidFill>
                  <a:srgbClr val="586B7E"/>
                </a:solidFill>
                <a:latin typeface="Arial"/>
                <a:ea typeface="Arial"/>
                <a:cs typeface="Arial"/>
              </a:rPr>
              <a:t>open / close / resume</a:t>
            </a:r>
          </a:p>
          <a:p>
            <a:pPr algn="ctr">
              <a:lnSpc>
                <a:spcPct val="110000"/>
              </a:lnSpc>
              <a:spcAft>
                <a:spcPts val="0"/>
              </a:spcAft>
            </a:pPr>
            <a:r>
              <a:rPr sz="860" b="0">
                <a:solidFill>
                  <a:srgbClr val="586B7E"/>
                </a:solidFill>
                <a:latin typeface="Arial"/>
                <a:ea typeface="Arial"/>
                <a:cs typeface="Arial"/>
              </a:rPr>
              <a:t>success or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Full-duplex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API Server handles protocol; EngineClient routes commands and events; Orchestrator coordinates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13</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API / Python event loop</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Dedicated orchestrator thread</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Stage processes</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Capture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engines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40" b="0">
                <a:solidFill>
                  <a:srgbClr val="586B7E"/>
                </a:solidFill>
                <a:latin typeface="Arial"/>
                <a:ea typeface="Arial"/>
                <a:cs typeface="Arial"/>
              </a:rPr>
              <a:t>Scheduler · workers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a:solidFill>
                  <a:srgbClr val="586B7E"/>
                </a:solidFill>
                <a:latin typeface="Arial"/>
                <a:ea typeface="Arial"/>
                <a:cs typeface="Arial"/>
              </a:rPr>
              <a:t>Session setup: EngineClient creates handle + buffer → Manager admits the session and shares that buffer → result returns</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audio / video</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Enqueue to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Prepared input → Stage execution</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Next input chunk arrives while Stage computation / output continues</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Per-session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text / audio</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a:solidFill>
                  <a:srgbClr val="AD761E"/>
                </a:solidFill>
                <a:latin typeface="Arial"/>
                <a:ea typeface="Arial"/>
                <a:cs typeface="Arial"/>
              </a:rPr>
              <a:t>ACK → update playback progress</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150" b="0">
                <a:solidFill>
                  <a:srgbClr val="142B45"/>
                </a:solidFill>
                <a:latin typeface="Arial"/>
                <a:ea typeface="Arial"/>
                <a:cs typeface="Arial"/>
              </a:rPr>
              <a:t>Native: append to a live request · Turn-based: generate after commit · Input can continue in both modes</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a:solidFill>
                  <a:srgbClr val="586B7E"/>
                </a:solidFill>
                <a:latin typeface="Arial"/>
                <a:ea typeface="Arial"/>
                <a:cs typeface="Arial"/>
              </a:rPr>
              <a:t>Session event ACKs stay at the API. Playback ACKs reach the Runner; history updates depend on model support.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13</a:t>
            </a:r>
          </a:p>
        </p:txBody>
      </p:sp>
      <p:sp>
        <p:nvSpPr>
          <p:cNvPr id="501" name="From live input to speech: stages and state"/>
          <p:cNvSpPr txBox="1"/>
          <p:nvPr/>
        </p:nvSpPr>
        <p:spPr>
          <a:xfrm>
            <a:off x="548640" y="1005840"/>
            <a:ext cx="11082528" cy="539496"/>
          </a:xfrm>
          <a:prstGeom prst="rect">
            <a:avLst/>
          </a:prstGeom>
          <a:noFill/>
        </p:spPr>
        <p:txBody>
          <a:bodyPr wrap="square" lIns="0" rIns="0" tIns="0" bIns="0" anchor="t">
            <a:noAutofit/>
          </a:bodyPr>
          <a:lstStyle/>
          <a:p>
            <a:pPr algn="l">
              <a:lnSpc>
                <a:spcPct val="108000"/>
              </a:lnSpc>
              <a:spcAft>
                <a:spcPts val="0"/>
              </a:spcAft>
            </a:pPr>
            <a:r>
              <a:rPr sz="3000" b="1">
                <a:solidFill>
                  <a:srgbClr val="16304E"/>
                </a:solidFill>
                <a:latin typeface="Arial"/>
                <a:ea typeface="Arial"/>
                <a:cs typeface="Arial"/>
              </a:rPr>
              <a:t>From live input to speech: stages and state</a:t>
            </a:r>
          </a:p>
        </p:txBody>
      </p:sp>
      <p:sp>
        <p:nvSpPr>
          <p:cNvPr id="502" name="Native duplex reuses live compute state. Turn-based execution builds a new request from history."/>
          <p:cNvSpPr txBox="1"/>
          <p:nvPr/>
        </p:nvSpPr>
        <p:spPr>
          <a:xfrm>
            <a:off x="576072" y="1655064"/>
            <a:ext cx="10991088" cy="310896"/>
          </a:xfrm>
          <a:prstGeom prst="rect">
            <a:avLst/>
          </a:prstGeom>
          <a:noFill/>
        </p:spPr>
        <p:txBody>
          <a:bodyPr wrap="square" lIns="0" rIns="0" tIns="0" bIns="0" anchor="t">
            <a:noAutofit/>
          </a:bodyPr>
          <a:lstStyle/>
          <a:p>
            <a:pPr algn="l">
              <a:lnSpc>
                <a:spcPct val="108000"/>
              </a:lnSpc>
              <a:spcAft>
                <a:spcPts val="0"/>
              </a:spcAft>
            </a:pPr>
            <a:r>
              <a:rPr sz="1440" b="0">
                <a:solidFill>
                  <a:srgbClr val="526985"/>
                </a:solidFill>
                <a:latin typeface="Arial"/>
                <a:ea typeface="Arial"/>
                <a:cs typeface="Arial"/>
              </a:rPr>
              <a:t>Native duplex reuses live compute state. Turn-based execution builds a new request from history.</a:t>
            </a:r>
          </a:p>
        </p:txBody>
      </p:sp>
      <p:sp>
        <p:nvSpPr>
          <p:cNvPr id="503" name="MODEL / INPUT"/>
          <p:cNvSpPr txBox="1"/>
          <p:nvPr/>
        </p:nvSpPr>
        <p:spPr>
          <a:xfrm>
            <a:off x="694944" y="2057400"/>
            <a:ext cx="1664208" cy="210312"/>
          </a:xfrm>
          <a:prstGeom prst="rect">
            <a:avLst/>
          </a:prstGeom>
          <a:noFill/>
        </p:spPr>
        <p:txBody>
          <a:bodyPr wrap="square" lIns="0" rIns="0" tIns="0" bIns="0" anchor="t">
            <a:noAutofit/>
          </a:bodyPr>
          <a:lstStyle/>
          <a:p>
            <a:pPr algn="l">
              <a:lnSpc>
                <a:spcPct val="108000"/>
              </a:lnSpc>
              <a:spcAft>
                <a:spcPts val="0"/>
              </a:spcAft>
            </a:pPr>
            <a:r>
              <a:rPr sz="1200" b="1">
                <a:solidFill>
                  <a:srgbClr val="526985"/>
                </a:solidFill>
                <a:latin typeface="Arial"/>
                <a:ea typeface="Arial"/>
                <a:cs typeface="Arial"/>
              </a:rPr>
              <a:t>MODEL / INPUT</a:t>
            </a:r>
          </a:p>
        </p:txBody>
      </p:sp>
      <p:sp>
        <p:nvSpPr>
          <p:cNvPr id="504" name="STAGES → SPOKEN OUTPUT"/>
          <p:cNvSpPr txBox="1"/>
          <p:nvPr/>
        </p:nvSpPr>
        <p:spPr>
          <a:xfrm>
            <a:off x="2441448" y="2057400"/>
            <a:ext cx="6309360" cy="210312"/>
          </a:xfrm>
          <a:prstGeom prst="rect">
            <a:avLst/>
          </a:prstGeom>
          <a:noFill/>
        </p:spPr>
        <p:txBody>
          <a:bodyPr wrap="square" lIns="0" rIns="0" tIns="0" bIns="0" anchor="t">
            <a:noAutofit/>
          </a:bodyPr>
          <a:lstStyle/>
          <a:p>
            <a:pPr algn="l">
              <a:lnSpc>
                <a:spcPct val="108000"/>
              </a:lnSpc>
              <a:spcAft>
                <a:spcPts val="0"/>
              </a:spcAft>
            </a:pPr>
            <a:r>
              <a:rPr sz="1200" b="1">
                <a:solidFill>
                  <a:srgbClr val="526985"/>
                </a:solidFill>
                <a:latin typeface="Arial"/>
                <a:ea typeface="Arial"/>
                <a:cs typeface="Arial"/>
              </a:rPr>
              <a:t>STAGES → SPOKEN OUTPUT</a:t>
            </a:r>
          </a:p>
        </p:txBody>
      </p:sp>
      <p:sp>
        <p:nvSpPr>
          <p:cNvPr id="505" name="WHAT CARRIES FORWARD"/>
          <p:cNvSpPr txBox="1"/>
          <p:nvPr/>
        </p:nvSpPr>
        <p:spPr>
          <a:xfrm>
            <a:off x="9253728" y="2057400"/>
            <a:ext cx="2286000" cy="210312"/>
          </a:xfrm>
          <a:prstGeom prst="rect">
            <a:avLst/>
          </a:prstGeom>
          <a:noFill/>
        </p:spPr>
        <p:txBody>
          <a:bodyPr wrap="square" lIns="0" rIns="0" tIns="0" bIns="0" anchor="t">
            <a:noAutofit/>
          </a:bodyPr>
          <a:lstStyle/>
          <a:p>
            <a:pPr algn="l">
              <a:lnSpc>
                <a:spcPct val="108000"/>
              </a:lnSpc>
              <a:spcAft>
                <a:spcPts val="0"/>
              </a:spcAft>
            </a:pPr>
            <a:r>
              <a:rPr sz="1150" b="1">
                <a:solidFill>
                  <a:srgbClr val="526985"/>
                </a:solidFill>
                <a:latin typeface="Arial"/>
                <a:ea typeface="Arial"/>
                <a:cs typeface="Arial"/>
              </a:rPr>
              <a:t>WHAT CARRIES FORWARD</a:t>
            </a:r>
          </a:p>
        </p:txBody>
      </p:sp>
      <p:sp>
        <p:nvSpPr>
          <p:cNvPr id="506" name="PersonaPlex row"/>
          <p:cNvSpPr/>
          <p:nvPr/>
        </p:nvSpPr>
        <p:spPr>
          <a:xfrm>
            <a:off x="548640" y="2368296"/>
            <a:ext cx="11082528" cy="886968"/>
          </a:xfrm>
          <a:prstGeom prst="rect">
            <a:avLst/>
          </a:prstGeom>
          <a:solidFill>
            <a:srgbClr val="F3F6FA"/>
          </a:solidFill>
          <a:ln w="11430">
            <a:noFill/>
          </a:ln>
        </p:spPr>
      </p:sp>
      <p:sp>
        <p:nvSpPr>
          <p:cNvPr id="507" name="PersonaPlex mode accent"/>
          <p:cNvSpPr/>
          <p:nvPr/>
        </p:nvSpPr>
        <p:spPr>
          <a:xfrm>
            <a:off x="548640" y="2368296"/>
            <a:ext cx="32004" cy="886968"/>
          </a:xfrm>
          <a:prstGeom prst="rect">
            <a:avLst/>
          </a:prstGeom>
          <a:solidFill>
            <a:srgbClr val="347FF0"/>
          </a:solidFill>
          <a:ln w="11430">
            <a:noFill/>
          </a:ln>
        </p:spPr>
      </p:sp>
      <p:cxnSp>
        <p:nvCxnSpPr>
          <p:cNvPr id="508" name="PersonaPlex state separator"/>
          <p:cNvCxnSpPr/>
          <p:nvPr/>
        </p:nvCxnSpPr>
        <p:spPr>
          <a:xfrm>
            <a:off x="9079992" y="2496312"/>
            <a:ext cx="0" cy="658368"/>
          </a:xfrm>
          <a:prstGeom prst="line">
            <a:avLst/>
          </a:prstGeom>
          <a:ln w="10795">
            <a:solidFill>
              <a:srgbClr val="CAD5E2"/>
            </a:solidFill>
            <a:tailEnd type="none" w="sm" len="sm"/>
          </a:ln>
        </p:spPr>
      </p:cxnSp>
      <p:sp>
        <p:nvSpPr>
          <p:cNvPr id="509" name="PersonaPlex"/>
          <p:cNvSpPr txBox="1"/>
          <p:nvPr/>
        </p:nvSpPr>
        <p:spPr>
          <a:xfrm>
            <a:off x="694944" y="2478024"/>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PersonaPlex</a:t>
            </a:r>
          </a:p>
        </p:txBody>
      </p:sp>
      <p:sp>
        <p:nvSpPr>
          <p:cNvPr id="510" name="Native duplex"/>
          <p:cNvSpPr txBox="1"/>
          <p:nvPr/>
        </p:nvSpPr>
        <p:spPr>
          <a:xfrm>
            <a:off x="694944" y="2779776"/>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347FF0"/>
                </a:solidFill>
                <a:latin typeface="Arial"/>
                <a:ea typeface="Arial"/>
                <a:cs typeface="Arial"/>
              </a:rPr>
              <a:t>Native duplex</a:t>
            </a:r>
          </a:p>
        </p:txBody>
      </p:sp>
      <p:sp>
        <p:nvSpPr>
          <p:cNvPr id="511" name="PCM audio · 80 ms frames"/>
          <p:cNvSpPr txBox="1"/>
          <p:nvPr/>
        </p:nvSpPr>
        <p:spPr>
          <a:xfrm>
            <a:off x="694944" y="3017520"/>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Arial"/>
                <a:ea typeface="Arial"/>
                <a:cs typeface="Arial"/>
              </a:rPr>
              <a:t>PCM audio · 80 ms frames</a:t>
            </a:r>
          </a:p>
        </p:txBody>
      </p:sp>
      <p:sp>
        <p:nvSpPr>
          <p:cNvPr id="512" name="Live compute state"/>
          <p:cNvSpPr txBox="1"/>
          <p:nvPr/>
        </p:nvSpPr>
        <p:spPr>
          <a:xfrm>
            <a:off x="9253728" y="2532888"/>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347FF0"/>
                </a:solidFill>
                <a:latin typeface="Arial"/>
                <a:ea typeface="Arial"/>
                <a:cs typeface="Arial"/>
              </a:rPr>
              <a:t>Live compute state</a:t>
            </a:r>
          </a:p>
        </p:txBody>
      </p:sp>
      <p:sp>
        <p:nvSpPr>
          <p:cNvPr id="513" name="S0: KV + Mimi encoder&#10;S1: Mimi decoder"/>
          <p:cNvSpPr txBox="1"/>
          <p:nvPr/>
        </p:nvSpPr>
        <p:spPr>
          <a:xfrm>
            <a:off x="9253728" y="2816352"/>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Arial"/>
                <a:ea typeface="Arial"/>
                <a:cs typeface="Arial"/>
              </a:rPr>
              <a:t>S0: KV + Mimi encoder</a:t>
            </a:r>
          </a:p>
          <a:p>
            <a:pPr algn="l">
              <a:lnSpc>
                <a:spcPct val="108000"/>
              </a:lnSpc>
              <a:spcAft>
                <a:spcPts val="0"/>
              </a:spcAft>
            </a:pPr>
            <a:r>
              <a:rPr sz="1200" b="0">
                <a:solidFill>
                  <a:srgbClr val="16304E"/>
                </a:solidFill>
                <a:latin typeface="Arial"/>
                <a:ea typeface="Arial"/>
                <a:cs typeface="Arial"/>
              </a:rPr>
              <a:t>S1: Mimi decoder</a:t>
            </a:r>
          </a:p>
        </p:txBody>
      </p:sp>
      <p:sp>
        <p:nvSpPr>
          <p:cNvPr id="514" name="MiniCPM-o 4.5 row"/>
          <p:cNvSpPr/>
          <p:nvPr/>
        </p:nvSpPr>
        <p:spPr>
          <a:xfrm>
            <a:off x="548640" y="3310128"/>
            <a:ext cx="11082528" cy="886968"/>
          </a:xfrm>
          <a:prstGeom prst="rect">
            <a:avLst/>
          </a:prstGeom>
          <a:solidFill>
            <a:srgbClr val="F3F6FA"/>
          </a:solidFill>
          <a:ln w="11430">
            <a:noFill/>
          </a:ln>
        </p:spPr>
      </p:sp>
      <p:sp>
        <p:nvSpPr>
          <p:cNvPr id="515" name="MiniCPM-o 4.5 mode accent"/>
          <p:cNvSpPr/>
          <p:nvPr/>
        </p:nvSpPr>
        <p:spPr>
          <a:xfrm>
            <a:off x="548640" y="3310128"/>
            <a:ext cx="32004" cy="886968"/>
          </a:xfrm>
          <a:prstGeom prst="rect">
            <a:avLst/>
          </a:prstGeom>
          <a:solidFill>
            <a:srgbClr val="347FF0"/>
          </a:solidFill>
          <a:ln w="11430">
            <a:noFill/>
          </a:ln>
        </p:spPr>
      </p:sp>
      <p:cxnSp>
        <p:nvCxnSpPr>
          <p:cNvPr id="516" name="MiniCPM-o 4.5 state separator"/>
          <p:cNvCxnSpPr/>
          <p:nvPr/>
        </p:nvCxnSpPr>
        <p:spPr>
          <a:xfrm>
            <a:off x="9079992" y="3438144"/>
            <a:ext cx="0" cy="658368"/>
          </a:xfrm>
          <a:prstGeom prst="line">
            <a:avLst/>
          </a:prstGeom>
          <a:ln w="10795">
            <a:solidFill>
              <a:srgbClr val="CAD5E2"/>
            </a:solidFill>
            <a:tailEnd type="none" w="sm" len="sm"/>
          </a:ln>
        </p:spPr>
      </p:cxnSp>
      <p:sp>
        <p:nvSpPr>
          <p:cNvPr id="517" name="MiniCPM-o 4.5"/>
          <p:cNvSpPr txBox="1"/>
          <p:nvPr/>
        </p:nvSpPr>
        <p:spPr>
          <a:xfrm>
            <a:off x="694944" y="3419856"/>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MiniCPM-o 4.5</a:t>
            </a:r>
          </a:p>
        </p:txBody>
      </p:sp>
      <p:sp>
        <p:nvSpPr>
          <p:cNvPr id="518" name="Native duplex"/>
          <p:cNvSpPr txBox="1"/>
          <p:nvPr/>
        </p:nvSpPr>
        <p:spPr>
          <a:xfrm>
            <a:off x="694944" y="3721608"/>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347FF0"/>
                </a:solidFill>
                <a:latin typeface="Arial"/>
                <a:ea typeface="Arial"/>
                <a:cs typeface="Arial"/>
              </a:rPr>
              <a:t>Native duplex</a:t>
            </a:r>
          </a:p>
        </p:txBody>
      </p:sp>
      <p:sp>
        <p:nvSpPr>
          <p:cNvPr id="519" name="PCM audio + video"/>
          <p:cNvSpPr txBox="1"/>
          <p:nvPr/>
        </p:nvSpPr>
        <p:spPr>
          <a:xfrm>
            <a:off x="694944" y="3959352"/>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Arial"/>
                <a:ea typeface="Arial"/>
                <a:cs typeface="Arial"/>
              </a:rPr>
              <a:t>PCM audio + video</a:t>
            </a:r>
          </a:p>
        </p:txBody>
      </p:sp>
      <p:sp>
        <p:nvSpPr>
          <p:cNvPr id="520" name="Live compute state"/>
          <p:cNvSpPr txBox="1"/>
          <p:nvPr/>
        </p:nvSpPr>
        <p:spPr>
          <a:xfrm>
            <a:off x="9253728" y="3474720"/>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347FF0"/>
                </a:solidFill>
                <a:latin typeface="Arial"/>
                <a:ea typeface="Arial"/>
                <a:cs typeface="Arial"/>
              </a:rPr>
              <a:t>Live compute state</a:t>
            </a:r>
          </a:p>
        </p:txBody>
      </p:sp>
      <p:sp>
        <p:nvSpPr>
          <p:cNvPr id="521" name="S0: LLM KV + audio state&#10;LISTEN keeps request alive."/>
          <p:cNvSpPr txBox="1"/>
          <p:nvPr/>
        </p:nvSpPr>
        <p:spPr>
          <a:xfrm>
            <a:off x="9253728" y="3758184"/>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Arial"/>
                <a:ea typeface="Arial"/>
                <a:cs typeface="Arial"/>
              </a:rPr>
              <a:t>S0: LLM KV + audio state</a:t>
            </a:r>
          </a:p>
          <a:p>
            <a:pPr algn="l">
              <a:lnSpc>
                <a:spcPct val="108000"/>
              </a:lnSpc>
              <a:spcAft>
                <a:spcPts val="0"/>
              </a:spcAft>
            </a:pPr>
            <a:r>
              <a:rPr sz="1200" b="0">
                <a:solidFill>
                  <a:srgbClr val="16304E"/>
                </a:solidFill>
                <a:latin typeface="Arial"/>
                <a:ea typeface="Arial"/>
                <a:cs typeface="Arial"/>
              </a:rPr>
              <a:t>LISTEN keeps request alive.</a:t>
            </a:r>
          </a:p>
        </p:txBody>
      </p:sp>
      <p:sp>
        <p:nvSpPr>
          <p:cNvPr id="522" name="AURA row"/>
          <p:cNvSpPr/>
          <p:nvPr/>
        </p:nvSpPr>
        <p:spPr>
          <a:xfrm>
            <a:off x="548640" y="4251960"/>
            <a:ext cx="11082528" cy="886968"/>
          </a:xfrm>
          <a:prstGeom prst="rect">
            <a:avLst/>
          </a:prstGeom>
          <a:solidFill>
            <a:srgbClr val="F3F6FA"/>
          </a:solidFill>
          <a:ln w="11430">
            <a:noFill/>
          </a:ln>
        </p:spPr>
      </p:sp>
      <p:sp>
        <p:nvSpPr>
          <p:cNvPr id="523" name="AURA mode accent"/>
          <p:cNvSpPr/>
          <p:nvPr/>
        </p:nvSpPr>
        <p:spPr>
          <a:xfrm>
            <a:off x="548640" y="4251960"/>
            <a:ext cx="32004" cy="886968"/>
          </a:xfrm>
          <a:prstGeom prst="rect">
            <a:avLst/>
          </a:prstGeom>
          <a:solidFill>
            <a:srgbClr val="008E96"/>
          </a:solidFill>
          <a:ln w="11430">
            <a:noFill/>
          </a:ln>
        </p:spPr>
      </p:sp>
      <p:cxnSp>
        <p:nvCxnSpPr>
          <p:cNvPr id="524" name="AURA state separator"/>
          <p:cNvCxnSpPr/>
          <p:nvPr/>
        </p:nvCxnSpPr>
        <p:spPr>
          <a:xfrm>
            <a:off x="9079992" y="4379976"/>
            <a:ext cx="0" cy="658368"/>
          </a:xfrm>
          <a:prstGeom prst="line">
            <a:avLst/>
          </a:prstGeom>
          <a:ln w="10795">
            <a:solidFill>
              <a:srgbClr val="CAD5E2"/>
            </a:solidFill>
            <a:tailEnd type="none" w="sm" len="sm"/>
          </a:ln>
        </p:spPr>
      </p:cxnSp>
      <p:sp>
        <p:nvSpPr>
          <p:cNvPr id="525" name="AURA"/>
          <p:cNvSpPr txBox="1"/>
          <p:nvPr/>
        </p:nvSpPr>
        <p:spPr>
          <a:xfrm>
            <a:off x="694944" y="4361688"/>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AURA</a:t>
            </a:r>
          </a:p>
        </p:txBody>
      </p:sp>
      <p:sp>
        <p:nvSpPr>
          <p:cNvPr id="526" name="Turn-based · commit"/>
          <p:cNvSpPr txBox="1"/>
          <p:nvPr/>
        </p:nvSpPr>
        <p:spPr>
          <a:xfrm>
            <a:off x="694944" y="4663440"/>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008E96"/>
                </a:solidFill>
                <a:latin typeface="Arial"/>
                <a:ea typeface="Arial"/>
                <a:cs typeface="Arial"/>
              </a:rPr>
              <a:t>Turn-based · commit</a:t>
            </a:r>
          </a:p>
        </p:txBody>
      </p:sp>
      <p:sp>
        <p:nvSpPr>
          <p:cNvPr id="527" name="PCM audio + video"/>
          <p:cNvSpPr txBox="1"/>
          <p:nvPr/>
        </p:nvSpPr>
        <p:spPr>
          <a:xfrm>
            <a:off x="694944" y="4901184"/>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Arial"/>
                <a:ea typeface="Arial"/>
                <a:cs typeface="Arial"/>
              </a:rPr>
              <a:t>PCM audio + video</a:t>
            </a:r>
          </a:p>
        </p:txBody>
      </p:sp>
      <p:sp>
        <p:nvSpPr>
          <p:cNvPr id="528" name="Conversation history"/>
          <p:cNvSpPr txBox="1"/>
          <p:nvPr/>
        </p:nvSpPr>
        <p:spPr>
          <a:xfrm>
            <a:off x="9253728" y="4416552"/>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008E96"/>
                </a:solidFill>
                <a:latin typeface="Arial"/>
                <a:ea typeface="Arial"/>
                <a:cs typeface="Arial"/>
              </a:rPr>
              <a:t>Conversation history</a:t>
            </a:r>
          </a:p>
        </p:txBody>
      </p:sp>
      <p:sp>
        <p:nvSpPr>
          <p:cNvPr id="529" name="ASR text + video clips&#10;+ assistant text"/>
          <p:cNvSpPr txBox="1"/>
          <p:nvPr/>
        </p:nvSpPr>
        <p:spPr>
          <a:xfrm>
            <a:off x="9253728" y="4700016"/>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Arial"/>
                <a:ea typeface="Arial"/>
                <a:cs typeface="Arial"/>
              </a:rPr>
              <a:t>ASR text + video clips</a:t>
            </a:r>
          </a:p>
          <a:p>
            <a:pPr algn="l">
              <a:lnSpc>
                <a:spcPct val="108000"/>
              </a:lnSpc>
              <a:spcAft>
                <a:spcPts val="0"/>
              </a:spcAft>
            </a:pPr>
            <a:r>
              <a:rPr sz="1200" b="0">
                <a:solidFill>
                  <a:srgbClr val="16304E"/>
                </a:solidFill>
                <a:latin typeface="Arial"/>
                <a:ea typeface="Arial"/>
                <a:cs typeface="Arial"/>
              </a:rPr>
              <a:t>+ assistant text</a:t>
            </a:r>
          </a:p>
        </p:txBody>
      </p:sp>
      <p:sp>
        <p:nvSpPr>
          <p:cNvPr id="530" name="Qwen3-Omni row"/>
          <p:cNvSpPr/>
          <p:nvPr/>
        </p:nvSpPr>
        <p:spPr>
          <a:xfrm>
            <a:off x="548640" y="5193792"/>
            <a:ext cx="11082528" cy="886968"/>
          </a:xfrm>
          <a:prstGeom prst="rect">
            <a:avLst/>
          </a:prstGeom>
          <a:solidFill>
            <a:srgbClr val="F3F6FA"/>
          </a:solidFill>
          <a:ln w="11430">
            <a:noFill/>
          </a:ln>
        </p:spPr>
      </p:sp>
      <p:sp>
        <p:nvSpPr>
          <p:cNvPr id="531" name="Qwen3-Omni mode accent"/>
          <p:cNvSpPr/>
          <p:nvPr/>
        </p:nvSpPr>
        <p:spPr>
          <a:xfrm>
            <a:off x="548640" y="5193792"/>
            <a:ext cx="32004" cy="886968"/>
          </a:xfrm>
          <a:prstGeom prst="rect">
            <a:avLst/>
          </a:prstGeom>
          <a:solidFill>
            <a:srgbClr val="008E96"/>
          </a:solidFill>
          <a:ln w="11430">
            <a:noFill/>
          </a:ln>
        </p:spPr>
      </p:sp>
      <p:cxnSp>
        <p:nvCxnSpPr>
          <p:cNvPr id="532" name="Qwen3-Omni state separator"/>
          <p:cNvCxnSpPr/>
          <p:nvPr/>
        </p:nvCxnSpPr>
        <p:spPr>
          <a:xfrm>
            <a:off x="9079992" y="5321808"/>
            <a:ext cx="0" cy="658368"/>
          </a:xfrm>
          <a:prstGeom prst="line">
            <a:avLst/>
          </a:prstGeom>
          <a:ln w="10795">
            <a:solidFill>
              <a:srgbClr val="CAD5E2"/>
            </a:solidFill>
            <a:tailEnd type="none" w="sm" len="sm"/>
          </a:ln>
        </p:spPr>
      </p:cxnSp>
      <p:sp>
        <p:nvSpPr>
          <p:cNvPr id="533" name="Qwen3-Omni"/>
          <p:cNvSpPr txBox="1"/>
          <p:nvPr/>
        </p:nvSpPr>
        <p:spPr>
          <a:xfrm>
            <a:off x="694944" y="5303520"/>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Qwen3-Omni</a:t>
            </a:r>
          </a:p>
        </p:txBody>
      </p:sp>
      <p:sp>
        <p:nvSpPr>
          <p:cNvPr id="534" name="Turn-based · commit"/>
          <p:cNvSpPr txBox="1"/>
          <p:nvPr/>
        </p:nvSpPr>
        <p:spPr>
          <a:xfrm>
            <a:off x="694944" y="5605272"/>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008E96"/>
                </a:solidFill>
                <a:latin typeface="Arial"/>
                <a:ea typeface="Arial"/>
                <a:cs typeface="Arial"/>
              </a:rPr>
              <a:t>Turn-based · commit</a:t>
            </a:r>
          </a:p>
        </p:txBody>
      </p:sp>
      <p:sp>
        <p:nvSpPr>
          <p:cNvPr id="535" name="PCM audio + images"/>
          <p:cNvSpPr txBox="1"/>
          <p:nvPr/>
        </p:nvSpPr>
        <p:spPr>
          <a:xfrm>
            <a:off x="694944" y="5843016"/>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Arial"/>
                <a:ea typeface="Arial"/>
                <a:cs typeface="Arial"/>
              </a:rPr>
              <a:t>PCM audio + images</a:t>
            </a:r>
          </a:p>
        </p:txBody>
      </p:sp>
      <p:sp>
        <p:nvSpPr>
          <p:cNvPr id="536" name="Conversation history"/>
          <p:cNvSpPr txBox="1"/>
          <p:nvPr/>
        </p:nvSpPr>
        <p:spPr>
          <a:xfrm>
            <a:off x="9253728" y="5358384"/>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008E96"/>
                </a:solidFill>
                <a:latin typeface="Arial"/>
                <a:ea typeface="Arial"/>
                <a:cs typeface="Arial"/>
              </a:rPr>
              <a:t>Conversation history</a:t>
            </a:r>
          </a:p>
        </p:txBody>
      </p:sp>
      <p:sp>
        <p:nvSpPr>
          <p:cNvPr id="537" name="User audio + images&#10;+ conversation text"/>
          <p:cNvSpPr txBox="1"/>
          <p:nvPr/>
        </p:nvSpPr>
        <p:spPr>
          <a:xfrm>
            <a:off x="9253728" y="5641848"/>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Arial"/>
                <a:ea typeface="Arial"/>
                <a:cs typeface="Arial"/>
              </a:rPr>
              <a:t>User audio + images</a:t>
            </a:r>
          </a:p>
          <a:p>
            <a:pPr algn="l">
              <a:lnSpc>
                <a:spcPct val="108000"/>
              </a:lnSpc>
              <a:spcAft>
                <a:spcPts val="0"/>
              </a:spcAft>
            </a:pPr>
            <a:r>
              <a:rPr sz="1200" b="0">
                <a:solidFill>
                  <a:srgbClr val="16304E"/>
                </a:solidFill>
                <a:latin typeface="Arial"/>
                <a:ea typeface="Arial"/>
                <a:cs typeface="Arial"/>
              </a:rPr>
              <a:t>+ conversation text</a:t>
            </a:r>
          </a:p>
        </p:txBody>
      </p:sp>
      <p:sp>
        <p:nvSpPr>
          <p:cNvPr id="538" name="S0 · Talker Stage"/>
          <p:cNvSpPr/>
          <p:nvPr/>
        </p:nvSpPr>
        <p:spPr>
          <a:xfrm>
            <a:off x="2441448" y="2569464"/>
            <a:ext cx="3337560" cy="603504"/>
          </a:xfrm>
          <a:prstGeom prst="roundRect">
            <a:avLst>
              <a:gd name="adj" fmla="val 6000"/>
            </a:avLst>
          </a:prstGeom>
          <a:solidFill>
            <a:srgbClr val="FFFFFF"/>
          </a:solidFill>
          <a:ln w="11430">
            <a:solidFill>
              <a:srgbClr val="9EB3CB"/>
            </a:solidFill>
          </a:ln>
        </p:spPr>
      </p:sp>
      <p:sp>
        <p:nvSpPr>
          <p:cNvPr id="539" name="S0 · Talker"/>
          <p:cNvSpPr txBox="1"/>
          <p:nvPr/>
        </p:nvSpPr>
        <p:spPr>
          <a:xfrm>
            <a:off x="2482596" y="2647188"/>
            <a:ext cx="3255264"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S0 · Talker</a:t>
            </a:r>
          </a:p>
        </p:txBody>
      </p:sp>
      <p:sp>
        <p:nvSpPr>
          <p:cNvPr id="540" name="Mimi encode · Temporal · Depformer"/>
          <p:cNvSpPr txBox="1"/>
          <p:nvPr/>
        </p:nvSpPr>
        <p:spPr>
          <a:xfrm>
            <a:off x="2473452" y="2926080"/>
            <a:ext cx="327355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Mimi encode · Temporal · Depformer</a:t>
            </a:r>
          </a:p>
        </p:txBody>
      </p:sp>
      <p:sp>
        <p:nvSpPr>
          <p:cNvPr id="541" name="S1 · Code2Wav Stage"/>
          <p:cNvSpPr/>
          <p:nvPr/>
        </p:nvSpPr>
        <p:spPr>
          <a:xfrm>
            <a:off x="6693408" y="2569464"/>
            <a:ext cx="2176272" cy="603504"/>
          </a:xfrm>
          <a:prstGeom prst="roundRect">
            <a:avLst>
              <a:gd name="adj" fmla="val 6000"/>
            </a:avLst>
          </a:prstGeom>
          <a:solidFill>
            <a:srgbClr val="FFFFFF"/>
          </a:solidFill>
          <a:ln w="11430">
            <a:solidFill>
              <a:srgbClr val="9EB3CB"/>
            </a:solidFill>
          </a:ln>
        </p:spPr>
      </p:sp>
      <p:sp>
        <p:nvSpPr>
          <p:cNvPr id="542" name="S1 · Code2Wav"/>
          <p:cNvSpPr txBox="1"/>
          <p:nvPr/>
        </p:nvSpPr>
        <p:spPr>
          <a:xfrm>
            <a:off x="6734556" y="2647188"/>
            <a:ext cx="2093976"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S1 · Code2Wav</a:t>
            </a:r>
          </a:p>
        </p:txBody>
      </p:sp>
      <p:sp>
        <p:nvSpPr>
          <p:cNvPr id="543" name="Mimi → 24 kHz PCM"/>
          <p:cNvSpPr txBox="1"/>
          <p:nvPr/>
        </p:nvSpPr>
        <p:spPr>
          <a:xfrm>
            <a:off x="6725412" y="2926080"/>
            <a:ext cx="21122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Mimi → 24 kHz PCM</a:t>
            </a:r>
          </a:p>
        </p:txBody>
      </p:sp>
      <p:cxnSp>
        <p:nvCxnSpPr>
          <p:cNvPr id="544" name="8 audio codebooks transfer"/>
          <p:cNvCxnSpPr/>
          <p:nvPr/>
        </p:nvCxnSpPr>
        <p:spPr>
          <a:xfrm>
            <a:off x="5833872" y="2871216"/>
            <a:ext cx="795528" cy="0"/>
          </a:xfrm>
          <a:prstGeom prst="line">
            <a:avLst/>
          </a:prstGeom>
          <a:ln w="17145">
            <a:solidFill>
              <a:srgbClr val="347FF0"/>
            </a:solidFill>
            <a:tailEnd type="triangle" w="sm" len="sm"/>
          </a:ln>
        </p:spPr>
      </p:cxnSp>
      <p:sp>
        <p:nvSpPr>
          <p:cNvPr id="545" name="8 audio codebooks"/>
          <p:cNvSpPr txBox="1"/>
          <p:nvPr/>
        </p:nvSpPr>
        <p:spPr>
          <a:xfrm>
            <a:off x="5445252" y="2400300"/>
            <a:ext cx="1581912"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8 audio codebooks</a:t>
            </a:r>
          </a:p>
        </p:txBody>
      </p:sp>
      <p:sp>
        <p:nvSpPr>
          <p:cNvPr id="546" name="S0 · LLM Stage"/>
          <p:cNvSpPr/>
          <p:nvPr/>
        </p:nvSpPr>
        <p:spPr>
          <a:xfrm>
            <a:off x="2441448" y="3511296"/>
            <a:ext cx="1719072" cy="603504"/>
          </a:xfrm>
          <a:prstGeom prst="roundRect">
            <a:avLst>
              <a:gd name="adj" fmla="val 6000"/>
            </a:avLst>
          </a:prstGeom>
          <a:solidFill>
            <a:srgbClr val="FFFFFF"/>
          </a:solidFill>
          <a:ln w="11430">
            <a:solidFill>
              <a:srgbClr val="9EB3CB"/>
            </a:solidFill>
          </a:ln>
        </p:spPr>
      </p:sp>
      <p:sp>
        <p:nvSpPr>
          <p:cNvPr id="547" name="S0 · LLM"/>
          <p:cNvSpPr txBox="1"/>
          <p:nvPr/>
        </p:nvSpPr>
        <p:spPr>
          <a:xfrm>
            <a:off x="2482596" y="3589020"/>
            <a:ext cx="1636776"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S0 · LLM</a:t>
            </a:r>
          </a:p>
        </p:txBody>
      </p:sp>
      <p:sp>
        <p:nvSpPr>
          <p:cNvPr id="548" name="Audio + video"/>
          <p:cNvSpPr txBox="1"/>
          <p:nvPr/>
        </p:nvSpPr>
        <p:spPr>
          <a:xfrm>
            <a:off x="2473452" y="3867912"/>
            <a:ext cx="16550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Audio + video</a:t>
            </a:r>
          </a:p>
        </p:txBody>
      </p:sp>
      <p:sp>
        <p:nvSpPr>
          <p:cNvPr id="549" name="S1 · Talker Stage"/>
          <p:cNvSpPr/>
          <p:nvPr/>
        </p:nvSpPr>
        <p:spPr>
          <a:xfrm>
            <a:off x="5093208" y="3511296"/>
            <a:ext cx="1481328" cy="603504"/>
          </a:xfrm>
          <a:prstGeom prst="roundRect">
            <a:avLst>
              <a:gd name="adj" fmla="val 6000"/>
            </a:avLst>
          </a:prstGeom>
          <a:solidFill>
            <a:srgbClr val="FFFFFF"/>
          </a:solidFill>
          <a:ln w="11430">
            <a:solidFill>
              <a:srgbClr val="9EB3CB"/>
            </a:solidFill>
          </a:ln>
        </p:spPr>
      </p:sp>
      <p:sp>
        <p:nvSpPr>
          <p:cNvPr id="550" name="S1 · Talker"/>
          <p:cNvSpPr txBox="1"/>
          <p:nvPr/>
        </p:nvSpPr>
        <p:spPr>
          <a:xfrm>
            <a:off x="5134356" y="3589020"/>
            <a:ext cx="1399032"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S1 · Talker</a:t>
            </a:r>
          </a:p>
        </p:txBody>
      </p:sp>
      <p:sp>
        <p:nvSpPr>
          <p:cNvPr id="551" name="Predicts audio tokens"/>
          <p:cNvSpPr txBox="1"/>
          <p:nvPr/>
        </p:nvSpPr>
        <p:spPr>
          <a:xfrm>
            <a:off x="5125212" y="3867912"/>
            <a:ext cx="1417320"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Predicts audio tokens</a:t>
            </a:r>
          </a:p>
        </p:txBody>
      </p:sp>
      <p:sp>
        <p:nvSpPr>
          <p:cNvPr id="552" name="S2 · Code2Wav Stage"/>
          <p:cNvSpPr/>
          <p:nvPr/>
        </p:nvSpPr>
        <p:spPr>
          <a:xfrm>
            <a:off x="7443216" y="3511296"/>
            <a:ext cx="1426464" cy="603504"/>
          </a:xfrm>
          <a:prstGeom prst="roundRect">
            <a:avLst>
              <a:gd name="adj" fmla="val 6000"/>
            </a:avLst>
          </a:prstGeom>
          <a:solidFill>
            <a:srgbClr val="FFFFFF"/>
          </a:solidFill>
          <a:ln w="11430">
            <a:solidFill>
              <a:srgbClr val="9EB3CB"/>
            </a:solidFill>
          </a:ln>
        </p:spPr>
      </p:sp>
      <p:sp>
        <p:nvSpPr>
          <p:cNvPr id="553" name="S2 · Code2Wav"/>
          <p:cNvSpPr txBox="1"/>
          <p:nvPr/>
        </p:nvSpPr>
        <p:spPr>
          <a:xfrm>
            <a:off x="7484364" y="3589020"/>
            <a:ext cx="1344168"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S2 · Code2Wav</a:t>
            </a:r>
          </a:p>
        </p:txBody>
      </p:sp>
      <p:sp>
        <p:nvSpPr>
          <p:cNvPr id="554" name="Tokens → PCM"/>
          <p:cNvSpPr txBox="1"/>
          <p:nvPr/>
        </p:nvSpPr>
        <p:spPr>
          <a:xfrm>
            <a:off x="7475220" y="3867912"/>
            <a:ext cx="1362456"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55" name="SPEAK: text + features transfer"/>
          <p:cNvCxnSpPr/>
          <p:nvPr/>
        </p:nvCxnSpPr>
        <p:spPr>
          <a:xfrm>
            <a:off x="4215384" y="3813048"/>
            <a:ext cx="813816" cy="0"/>
          </a:xfrm>
          <a:prstGeom prst="line">
            <a:avLst/>
          </a:prstGeom>
          <a:ln w="17145">
            <a:solidFill>
              <a:srgbClr val="347FF0"/>
            </a:solidFill>
            <a:tailEnd type="triangle" w="sm" len="sm"/>
          </a:ln>
        </p:spPr>
      </p:cxnSp>
      <p:sp>
        <p:nvSpPr>
          <p:cNvPr id="556" name="SPEAK: text + features"/>
          <p:cNvSpPr txBox="1"/>
          <p:nvPr/>
        </p:nvSpPr>
        <p:spPr>
          <a:xfrm>
            <a:off x="3657600" y="3342132"/>
            <a:ext cx="1938528"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SPEAK: text + features</a:t>
            </a:r>
          </a:p>
        </p:txBody>
      </p:sp>
      <p:cxnSp>
        <p:nvCxnSpPr>
          <p:cNvPr id="557" name="Audio tokens transfer"/>
          <p:cNvCxnSpPr/>
          <p:nvPr/>
        </p:nvCxnSpPr>
        <p:spPr>
          <a:xfrm>
            <a:off x="6629400" y="3813048"/>
            <a:ext cx="749808" cy="0"/>
          </a:xfrm>
          <a:prstGeom prst="line">
            <a:avLst/>
          </a:prstGeom>
          <a:ln w="17145">
            <a:solidFill>
              <a:srgbClr val="347FF0"/>
            </a:solidFill>
            <a:tailEnd type="triangle" w="sm" len="sm"/>
          </a:ln>
        </p:spPr>
      </p:cxnSp>
      <p:sp>
        <p:nvSpPr>
          <p:cNvPr id="558" name="Audio tokens"/>
          <p:cNvSpPr txBox="1"/>
          <p:nvPr/>
        </p:nvSpPr>
        <p:spPr>
          <a:xfrm>
            <a:off x="6437376" y="3342132"/>
            <a:ext cx="11430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59" name="S0 · ASR Stage"/>
          <p:cNvSpPr/>
          <p:nvPr/>
        </p:nvSpPr>
        <p:spPr>
          <a:xfrm>
            <a:off x="2441448" y="4453128"/>
            <a:ext cx="1005840" cy="603504"/>
          </a:xfrm>
          <a:prstGeom prst="roundRect">
            <a:avLst>
              <a:gd name="adj" fmla="val 6000"/>
            </a:avLst>
          </a:prstGeom>
          <a:solidFill>
            <a:srgbClr val="FFFFFF"/>
          </a:solidFill>
          <a:ln w="11430">
            <a:solidFill>
              <a:srgbClr val="9EB3CB"/>
            </a:solidFill>
          </a:ln>
        </p:spPr>
      </p:sp>
      <p:sp>
        <p:nvSpPr>
          <p:cNvPr id="560" name="S0 · ASR"/>
          <p:cNvSpPr txBox="1"/>
          <p:nvPr/>
        </p:nvSpPr>
        <p:spPr>
          <a:xfrm>
            <a:off x="2482596" y="4530852"/>
            <a:ext cx="923544"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S0 · ASR</a:t>
            </a:r>
          </a:p>
        </p:txBody>
      </p:sp>
      <p:sp>
        <p:nvSpPr>
          <p:cNvPr id="561" name="Audio → text"/>
          <p:cNvSpPr txBox="1"/>
          <p:nvPr/>
        </p:nvSpPr>
        <p:spPr>
          <a:xfrm>
            <a:off x="2473452" y="4809744"/>
            <a:ext cx="94183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Audio → text</a:t>
            </a:r>
          </a:p>
        </p:txBody>
      </p:sp>
      <p:sp>
        <p:nvSpPr>
          <p:cNvPr id="562" name="S1 · Thinker Stage"/>
          <p:cNvSpPr/>
          <p:nvPr/>
        </p:nvSpPr>
        <p:spPr>
          <a:xfrm>
            <a:off x="3959352" y="4453128"/>
            <a:ext cx="1316736" cy="603504"/>
          </a:xfrm>
          <a:prstGeom prst="roundRect">
            <a:avLst>
              <a:gd name="adj" fmla="val 6000"/>
            </a:avLst>
          </a:prstGeom>
          <a:solidFill>
            <a:srgbClr val="FFFFFF"/>
          </a:solidFill>
          <a:ln w="11430">
            <a:solidFill>
              <a:srgbClr val="9EB3CB"/>
            </a:solidFill>
          </a:ln>
        </p:spPr>
      </p:sp>
      <p:sp>
        <p:nvSpPr>
          <p:cNvPr id="563" name="S1 · Thinker"/>
          <p:cNvSpPr txBox="1"/>
          <p:nvPr/>
        </p:nvSpPr>
        <p:spPr>
          <a:xfrm>
            <a:off x="4000500" y="4530852"/>
            <a:ext cx="1234440"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S1 · Thinker</a:t>
            </a:r>
          </a:p>
        </p:txBody>
      </p:sp>
      <p:sp>
        <p:nvSpPr>
          <p:cNvPr id="564" name="Text + video"/>
          <p:cNvSpPr txBox="1"/>
          <p:nvPr/>
        </p:nvSpPr>
        <p:spPr>
          <a:xfrm>
            <a:off x="3991356" y="4809744"/>
            <a:ext cx="1252728"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Text + video</a:t>
            </a:r>
          </a:p>
        </p:txBody>
      </p:sp>
      <p:sp>
        <p:nvSpPr>
          <p:cNvPr id="565" name="S2 · Talker Stage"/>
          <p:cNvSpPr/>
          <p:nvPr/>
        </p:nvSpPr>
        <p:spPr>
          <a:xfrm>
            <a:off x="5788152" y="4453128"/>
            <a:ext cx="1280160" cy="603504"/>
          </a:xfrm>
          <a:prstGeom prst="roundRect">
            <a:avLst>
              <a:gd name="adj" fmla="val 6000"/>
            </a:avLst>
          </a:prstGeom>
          <a:solidFill>
            <a:srgbClr val="FFFFFF"/>
          </a:solidFill>
          <a:ln w="11430">
            <a:solidFill>
              <a:srgbClr val="9EB3CB"/>
            </a:solidFill>
          </a:ln>
        </p:spPr>
      </p:sp>
      <p:sp>
        <p:nvSpPr>
          <p:cNvPr id="566" name="S2 · Talker"/>
          <p:cNvSpPr txBox="1"/>
          <p:nvPr/>
        </p:nvSpPr>
        <p:spPr>
          <a:xfrm>
            <a:off x="5829300" y="4530852"/>
            <a:ext cx="1197864"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S2 · Talker</a:t>
            </a:r>
          </a:p>
        </p:txBody>
      </p:sp>
      <p:sp>
        <p:nvSpPr>
          <p:cNvPr id="567" name="Text → tokens"/>
          <p:cNvSpPr txBox="1"/>
          <p:nvPr/>
        </p:nvSpPr>
        <p:spPr>
          <a:xfrm>
            <a:off x="5820156" y="4809744"/>
            <a:ext cx="121615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Text → tokens</a:t>
            </a:r>
          </a:p>
        </p:txBody>
      </p:sp>
      <p:sp>
        <p:nvSpPr>
          <p:cNvPr id="568" name="S3 · Code2Wav Stage"/>
          <p:cNvSpPr/>
          <p:nvPr/>
        </p:nvSpPr>
        <p:spPr>
          <a:xfrm>
            <a:off x="7543800" y="4453128"/>
            <a:ext cx="1325880" cy="603504"/>
          </a:xfrm>
          <a:prstGeom prst="roundRect">
            <a:avLst>
              <a:gd name="adj" fmla="val 6000"/>
            </a:avLst>
          </a:prstGeom>
          <a:solidFill>
            <a:srgbClr val="FFFFFF"/>
          </a:solidFill>
          <a:ln w="11430">
            <a:solidFill>
              <a:srgbClr val="9EB3CB"/>
            </a:solidFill>
          </a:ln>
        </p:spPr>
      </p:sp>
      <p:sp>
        <p:nvSpPr>
          <p:cNvPr id="569" name="S3 · Code2Wav"/>
          <p:cNvSpPr txBox="1"/>
          <p:nvPr/>
        </p:nvSpPr>
        <p:spPr>
          <a:xfrm>
            <a:off x="7584948" y="4530852"/>
            <a:ext cx="1243584" cy="219456"/>
          </a:xfrm>
          <a:prstGeom prst="rect">
            <a:avLst/>
          </a:prstGeom>
          <a:noFill/>
        </p:spPr>
        <p:txBody>
          <a:bodyPr wrap="square" lIns="0" rIns="0" tIns="0" bIns="0" anchor="t">
            <a:noAutofit/>
          </a:bodyPr>
          <a:lstStyle/>
          <a:p>
            <a:pPr algn="ctr">
              <a:lnSpc>
                <a:spcPct val="108000"/>
              </a:lnSpc>
              <a:spcAft>
                <a:spcPts val="0"/>
              </a:spcAft>
            </a:pPr>
            <a:r>
              <a:rPr sz="1300" b="1">
                <a:solidFill>
                  <a:srgbClr val="008E96"/>
                </a:solidFill>
                <a:latin typeface="Arial"/>
                <a:ea typeface="Arial"/>
                <a:cs typeface="Arial"/>
              </a:rPr>
              <a:t>S3 · Code2Wav</a:t>
            </a:r>
          </a:p>
        </p:txBody>
      </p:sp>
      <p:sp>
        <p:nvSpPr>
          <p:cNvPr id="570" name="Tokens → PCM"/>
          <p:cNvSpPr txBox="1"/>
          <p:nvPr/>
        </p:nvSpPr>
        <p:spPr>
          <a:xfrm>
            <a:off x="7575804" y="4809744"/>
            <a:ext cx="126187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71" name="Text transfer"/>
          <p:cNvCxnSpPr/>
          <p:nvPr/>
        </p:nvCxnSpPr>
        <p:spPr>
          <a:xfrm>
            <a:off x="3502152" y="4754880"/>
            <a:ext cx="393192" cy="0"/>
          </a:xfrm>
          <a:prstGeom prst="line">
            <a:avLst/>
          </a:prstGeom>
          <a:ln w="17145">
            <a:solidFill>
              <a:srgbClr val="008E96"/>
            </a:solidFill>
            <a:tailEnd type="triangle" w="sm" len="sm"/>
          </a:ln>
        </p:spPr>
      </p:cxnSp>
      <p:sp>
        <p:nvSpPr>
          <p:cNvPr id="572" name="Text"/>
          <p:cNvSpPr txBox="1"/>
          <p:nvPr/>
        </p:nvSpPr>
        <p:spPr>
          <a:xfrm>
            <a:off x="3360420" y="4283964"/>
            <a:ext cx="6858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Text</a:t>
            </a:r>
          </a:p>
        </p:txBody>
      </p:sp>
      <p:cxnSp>
        <p:nvCxnSpPr>
          <p:cNvPr id="573" name="Text transfer"/>
          <p:cNvCxnSpPr/>
          <p:nvPr/>
        </p:nvCxnSpPr>
        <p:spPr>
          <a:xfrm>
            <a:off x="5330952" y="4754880"/>
            <a:ext cx="393192" cy="0"/>
          </a:xfrm>
          <a:prstGeom prst="line">
            <a:avLst/>
          </a:prstGeom>
          <a:ln w="17145">
            <a:solidFill>
              <a:srgbClr val="008E96"/>
            </a:solidFill>
            <a:tailEnd type="triangle" w="sm" len="sm"/>
          </a:ln>
        </p:spPr>
      </p:cxnSp>
      <p:sp>
        <p:nvSpPr>
          <p:cNvPr id="574" name="Text"/>
          <p:cNvSpPr txBox="1"/>
          <p:nvPr/>
        </p:nvSpPr>
        <p:spPr>
          <a:xfrm>
            <a:off x="5189220" y="4283964"/>
            <a:ext cx="6858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Text</a:t>
            </a:r>
          </a:p>
        </p:txBody>
      </p:sp>
      <p:cxnSp>
        <p:nvCxnSpPr>
          <p:cNvPr id="575" name="Audio tokens transfer"/>
          <p:cNvCxnSpPr/>
          <p:nvPr/>
        </p:nvCxnSpPr>
        <p:spPr>
          <a:xfrm>
            <a:off x="7123176" y="4754880"/>
            <a:ext cx="356616" cy="0"/>
          </a:xfrm>
          <a:prstGeom prst="line">
            <a:avLst/>
          </a:prstGeom>
          <a:ln w="17145">
            <a:solidFill>
              <a:srgbClr val="008E96"/>
            </a:solidFill>
            <a:tailEnd type="triangle" w="sm" len="sm"/>
          </a:ln>
        </p:spPr>
      </p:cxnSp>
      <p:sp>
        <p:nvSpPr>
          <p:cNvPr id="576" name="Audio tokens"/>
          <p:cNvSpPr txBox="1"/>
          <p:nvPr/>
        </p:nvSpPr>
        <p:spPr>
          <a:xfrm>
            <a:off x="6748272" y="4283964"/>
            <a:ext cx="1115568"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77" name="S0 · Thinker Stage"/>
          <p:cNvSpPr/>
          <p:nvPr/>
        </p:nvSpPr>
        <p:spPr>
          <a:xfrm>
            <a:off x="2441448" y="5394960"/>
            <a:ext cx="1719072" cy="603504"/>
          </a:xfrm>
          <a:prstGeom prst="roundRect">
            <a:avLst>
              <a:gd name="adj" fmla="val 6000"/>
            </a:avLst>
          </a:prstGeom>
          <a:solidFill>
            <a:srgbClr val="FFFFFF"/>
          </a:solidFill>
          <a:ln w="11430">
            <a:solidFill>
              <a:srgbClr val="9EB3CB"/>
            </a:solidFill>
          </a:ln>
        </p:spPr>
      </p:sp>
      <p:sp>
        <p:nvSpPr>
          <p:cNvPr id="578" name="S0 · Thinker"/>
          <p:cNvSpPr txBox="1"/>
          <p:nvPr/>
        </p:nvSpPr>
        <p:spPr>
          <a:xfrm>
            <a:off x="2482596" y="5472684"/>
            <a:ext cx="1636776"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S0 · Thinker</a:t>
            </a:r>
          </a:p>
        </p:txBody>
      </p:sp>
      <p:sp>
        <p:nvSpPr>
          <p:cNvPr id="579" name="Audio + images"/>
          <p:cNvSpPr txBox="1"/>
          <p:nvPr/>
        </p:nvSpPr>
        <p:spPr>
          <a:xfrm>
            <a:off x="2473452" y="5751576"/>
            <a:ext cx="16550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Audio + images</a:t>
            </a:r>
          </a:p>
        </p:txBody>
      </p:sp>
      <p:sp>
        <p:nvSpPr>
          <p:cNvPr id="580" name="S1 · Talker Stage"/>
          <p:cNvSpPr/>
          <p:nvPr/>
        </p:nvSpPr>
        <p:spPr>
          <a:xfrm>
            <a:off x="5093208" y="5394960"/>
            <a:ext cx="1481328" cy="603504"/>
          </a:xfrm>
          <a:prstGeom prst="roundRect">
            <a:avLst>
              <a:gd name="adj" fmla="val 6000"/>
            </a:avLst>
          </a:prstGeom>
          <a:solidFill>
            <a:srgbClr val="FFFFFF"/>
          </a:solidFill>
          <a:ln w="11430">
            <a:solidFill>
              <a:srgbClr val="9EB3CB"/>
            </a:solidFill>
          </a:ln>
        </p:spPr>
      </p:sp>
      <p:sp>
        <p:nvSpPr>
          <p:cNvPr id="581" name="S1 · Talker"/>
          <p:cNvSpPr txBox="1"/>
          <p:nvPr/>
        </p:nvSpPr>
        <p:spPr>
          <a:xfrm>
            <a:off x="5134356" y="5472684"/>
            <a:ext cx="1399032"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S1 · Talker</a:t>
            </a:r>
          </a:p>
        </p:txBody>
      </p:sp>
      <p:sp>
        <p:nvSpPr>
          <p:cNvPr id="582" name="Predicts audio tokens"/>
          <p:cNvSpPr txBox="1"/>
          <p:nvPr/>
        </p:nvSpPr>
        <p:spPr>
          <a:xfrm>
            <a:off x="5125212" y="5751576"/>
            <a:ext cx="1417320"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Predicts audio tokens</a:t>
            </a:r>
          </a:p>
        </p:txBody>
      </p:sp>
      <p:sp>
        <p:nvSpPr>
          <p:cNvPr id="583" name="S2 · Code2Wav Stage"/>
          <p:cNvSpPr/>
          <p:nvPr/>
        </p:nvSpPr>
        <p:spPr>
          <a:xfrm>
            <a:off x="7443216" y="5394960"/>
            <a:ext cx="1426464" cy="603504"/>
          </a:xfrm>
          <a:prstGeom prst="roundRect">
            <a:avLst>
              <a:gd name="adj" fmla="val 6000"/>
            </a:avLst>
          </a:prstGeom>
          <a:solidFill>
            <a:srgbClr val="FFFFFF"/>
          </a:solidFill>
          <a:ln w="11430">
            <a:solidFill>
              <a:srgbClr val="9EB3CB"/>
            </a:solidFill>
          </a:ln>
        </p:spPr>
      </p:sp>
      <p:sp>
        <p:nvSpPr>
          <p:cNvPr id="584" name="S2 · Code2Wav"/>
          <p:cNvSpPr txBox="1"/>
          <p:nvPr/>
        </p:nvSpPr>
        <p:spPr>
          <a:xfrm>
            <a:off x="7484364" y="5472684"/>
            <a:ext cx="1344168"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S2 · Code2Wav</a:t>
            </a:r>
          </a:p>
        </p:txBody>
      </p:sp>
      <p:sp>
        <p:nvSpPr>
          <p:cNvPr id="585" name="Tokens → PCM"/>
          <p:cNvSpPr txBox="1"/>
          <p:nvPr/>
        </p:nvSpPr>
        <p:spPr>
          <a:xfrm>
            <a:off x="7475220" y="5751576"/>
            <a:ext cx="1362456"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86" name="Text + features transfer"/>
          <p:cNvCxnSpPr/>
          <p:nvPr/>
        </p:nvCxnSpPr>
        <p:spPr>
          <a:xfrm>
            <a:off x="4215384" y="5696712"/>
            <a:ext cx="813816" cy="0"/>
          </a:xfrm>
          <a:prstGeom prst="line">
            <a:avLst/>
          </a:prstGeom>
          <a:ln w="17145">
            <a:solidFill>
              <a:srgbClr val="008E96"/>
            </a:solidFill>
            <a:tailEnd type="triangle" w="sm" len="sm"/>
          </a:ln>
        </p:spPr>
      </p:cxnSp>
      <p:sp>
        <p:nvSpPr>
          <p:cNvPr id="587" name="Text + features"/>
          <p:cNvSpPr txBox="1"/>
          <p:nvPr/>
        </p:nvSpPr>
        <p:spPr>
          <a:xfrm>
            <a:off x="3918204" y="5225796"/>
            <a:ext cx="141732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Text + features</a:t>
            </a:r>
          </a:p>
        </p:txBody>
      </p:sp>
      <p:cxnSp>
        <p:nvCxnSpPr>
          <p:cNvPr id="588" name="Audio tokens transfer"/>
          <p:cNvCxnSpPr/>
          <p:nvPr/>
        </p:nvCxnSpPr>
        <p:spPr>
          <a:xfrm>
            <a:off x="6629400" y="5696712"/>
            <a:ext cx="749808" cy="0"/>
          </a:xfrm>
          <a:prstGeom prst="line">
            <a:avLst/>
          </a:prstGeom>
          <a:ln w="17145">
            <a:solidFill>
              <a:srgbClr val="008E96"/>
            </a:solidFill>
            <a:tailEnd type="triangle" w="sm" len="sm"/>
          </a:ln>
        </p:spPr>
      </p:cxnSp>
      <p:sp>
        <p:nvSpPr>
          <p:cNvPr id="589" name="Audio tokens"/>
          <p:cNvSpPr txBox="1"/>
          <p:nvPr/>
        </p:nvSpPr>
        <p:spPr>
          <a:xfrm>
            <a:off x="6437376" y="5225796"/>
            <a:ext cx="11430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90" name="PCM = audio waveform   ·   Audio tokens = codec codes   ·   KV = model attention cache"/>
          <p:cNvSpPr txBox="1"/>
          <p:nvPr/>
        </p:nvSpPr>
        <p:spPr>
          <a:xfrm>
            <a:off x="713232" y="6217920"/>
            <a:ext cx="10835640" cy="201168"/>
          </a:xfrm>
          <a:prstGeom prst="rect">
            <a:avLst/>
          </a:prstGeom>
          <a:noFill/>
        </p:spPr>
        <p:txBody>
          <a:bodyPr wrap="square" lIns="0" rIns="0" tIns="0" bIns="0" anchor="t">
            <a:noAutofit/>
          </a:bodyPr>
          <a:lstStyle/>
          <a:p>
            <a:pPr algn="l">
              <a:lnSpc>
                <a:spcPct val="108000"/>
              </a:lnSpc>
              <a:spcAft>
                <a:spcPts val="0"/>
              </a:spcAft>
            </a:pPr>
            <a:r>
              <a:rPr sz="1180" b="0">
                <a:solidFill>
                  <a:srgbClr val="526985"/>
                </a:solidFill>
                <a:latin typeface="Arial"/>
                <a:ea typeface="Arial"/>
                <a:cs typeface="Arial"/>
              </a:rPr>
              <a:t>PCM = audio waveform   ·   Audio tokens = codec codes   ·   KV = model attention cache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Connection recovery across models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13</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Session resume: MiniCPM-o 4.5, AURA, Qwen3-Omni and Nemotron VoiceChat.</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Present session credentials</a:t>
            </a:r>
          </a:p>
          <a:p>
            <a:pPr algn="l">
              <a:lnSpc>
                <a:spcPct val="110000"/>
              </a:lnSpc>
              <a:spcAft>
                <a:spcPts val="0"/>
              </a:spcAft>
            </a:pPr>
            <a:r>
              <a:rPr sz="1080" b="0">
                <a:solidFill>
                  <a:srgbClr val="142B45"/>
                </a:solidFill>
                <a:latin typeface="Arial"/>
                <a:ea typeface="Arial"/>
                <a:cs typeface="Arial"/>
              </a:rPr>
              <a:t>Resume from the last received event position</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Validate credentials; bind the new connection</a:t>
            </a:r>
          </a:p>
          <a:p>
            <a:pPr algn="l">
              <a:lnSpc>
                <a:spcPct val="110000"/>
              </a:lnSpc>
              <a:spcAft>
                <a:spcPts val="0"/>
              </a:spcAft>
            </a:pPr>
            <a:r>
              <a:rPr sz="1080" b="0">
                <a:solidFill>
                  <a:srgbClr val="142B45"/>
                </a:solidFill>
                <a:latin typeface="Arial"/>
                <a:ea typeface="Arial"/>
                <a:cs typeface="Arial"/>
              </a:rPr>
              <a:t>Replay retained events</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Continue with existing session state</a:t>
            </a:r>
          </a:p>
          <a:p>
            <a:pPr algn="l">
              <a:lnSpc>
                <a:spcPct val="110000"/>
              </a:lnSpc>
              <a:spcAft>
                <a:spcPts val="0"/>
              </a:spcAft>
            </a:pPr>
            <a:r>
              <a:rPr sz="1080" b="0">
                <a:solidFill>
                  <a:srgbClr val="142B45"/>
                </a:solidFill>
                <a:latin typeface="Arial"/>
                <a:ea typeface="Arial"/>
                <a:cs typeface="Arial"/>
              </a:rPr>
              <a:t>Reattach input and output to the same session</a:t>
            </a:r>
          </a:p>
        </p:txBody>
      </p:sp>
      <p:sp>
        <p:nvSpPr>
          <p:cNvPr id="24" name="TextBox 23"/>
          <p:cNvSpPr txBox="1"/>
          <p:nvPr/>
        </p:nvSpPr>
        <p:spPr>
          <a:xfrm>
            <a:off x="722376" y="3264408"/>
            <a:ext cx="10744200" cy="402336"/>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Reconnect to the same live API process while the session is valid.</a:t>
            </a:r>
          </a:p>
          <a:p>
            <a:pPr algn="l">
              <a:lnSpc>
                <a:spcPct val="110000"/>
              </a:lnSpc>
              <a:spcAft>
                <a:spcPts val="0"/>
              </a:spcAft>
            </a:pPr>
            <a:r>
              <a:rPr sz="1150" b="0">
                <a:solidFill>
                  <a:srgbClr val="586B7E"/>
                </a:solidFill>
                <a:latin typeface="Arial"/>
                <a:ea typeface="Arial"/>
                <a:cs typeface="Arial"/>
              </a:rPr>
              <a:t>Replay requires retained events; process restarts require a new session.</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RESUME STEP</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FRAMEWORK ACTION</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USER CLIENT INTEGRATION</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Session identity</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Keep the same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Store session ID and the latest resume token;</a:t>
            </a:r>
          </a:p>
          <a:p>
            <a:pPr algn="l">
              <a:lnSpc>
                <a:spcPct val="110000"/>
              </a:lnSpc>
              <a:spcAft>
                <a:spcPts val="0"/>
              </a:spcAft>
            </a:pPr>
            <a:r>
              <a:rPr sz="1180" b="0">
                <a:solidFill>
                  <a:srgbClr val="142B45"/>
                </a:solidFill>
                <a:latin typeface="Arial"/>
                <a:ea typeface="Arial"/>
                <a:cs typeface="Arial"/>
              </a:rPr>
              <a:t>the Python WebSocket SDK manages both.</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Connection binding</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Rebind the existing session</a:t>
            </a:r>
          </a:p>
        </p:txBody>
      </p:sp>
      <p:sp>
        <p:nvSpPr>
          <p:cNvPr id="35" name="TextBox 34"/>
          <p:cNvSpPr txBox="1"/>
          <p:nvPr/>
        </p:nvSpPr>
        <p:spPr>
          <a:xfrm>
            <a:off x="5541264" y="4626864"/>
            <a:ext cx="5696712" cy="429768"/>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Send session.resume first on the new connection;</a:t>
            </a:r>
          </a:p>
          <a:p>
            <a:pPr algn="l">
              <a:lnSpc>
                <a:spcPct val="110000"/>
              </a:lnSpc>
              <a:spcAft>
                <a:spcPts val="0"/>
              </a:spcAft>
            </a:pPr>
            <a:r>
              <a:rPr sz="1150" b="0">
                <a:solidFill>
                  <a:srgbClr val="142B45"/>
                </a:solidFill>
                <a:latin typeface="Arial"/>
                <a:ea typeface="Arial"/>
                <a:cs typeface="Arial"/>
              </a:rPr>
              <a:t>save the new token returned in session.resumed.</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Event replay</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Replay retained events</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Send the last received event sequence.</a:t>
            </a:r>
          </a:p>
          <a:p>
            <a:pPr algn="l">
              <a:lnSpc>
                <a:spcPct val="110000"/>
              </a:lnSpc>
              <a:spcAft>
                <a:spcPts val="0"/>
              </a:spcAft>
            </a:pPr>
            <a:r>
              <a:rPr sz="1150" b="0">
                <a:solidFill>
                  <a:srgbClr val="142B45"/>
                </a:solidFill>
                <a:latin typeface="Arial"/>
                <a:ea typeface="Arial"/>
                <a:cs typeface="Arial"/>
              </a:rPr>
              <a:t>If replay has a gap, start a new session.</a:t>
            </a:r>
          </a:p>
        </p:txBody>
      </p:sp>
      <p:sp>
        <p:nvSpPr>
          <p:cNvPr id="40" name="Rounded Rectangle 39"/>
          <p:cNvSpPr/>
          <p:nvPr/>
        </p:nvSpPr>
        <p:spPr>
          <a:xfrm>
            <a:off x="548640" y="5961888"/>
            <a:ext cx="11082528" cy="33832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a:solidFill>
                  <a:srgbClr val="526985"/>
                </a:solidFill>
                <a:latin typeface="Arial"/>
                <a:ea typeface="Arial"/>
                <a:cs typeface="Arial"/>
              </a:rPr>
              <a:t>PersonaPlex demo: reconnect with a new session and reapply the same voice +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Performance optimizations and steady progress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Four methods reduce repeated work and make better use of the GPU.</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13</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CUDA Graphs: reuse prepared execution</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Replay GPU work with less CPU launch overhead.</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 · Qwen3-Omni (images) ·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Kernel fusion: combine small operations</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Reduce GPU launches and intermediate data movement.</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Session batching: process streams together</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Run new frames from several sessions in one batch.</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Incremental decoding: handle new audio only</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Keep decoder state; decode only new chunks.</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a:solidFill>
                  <a:srgbClr val="526985"/>
                </a:solidFill>
                <a:latin typeface="Arial"/>
                <a:ea typeface="Arial"/>
                <a:cs typeface="Arial"/>
              </a:rPr>
              <a:t>H100 · Chat Completions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Lower Audio RTF is better</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a:solidFill>
                  <a:srgbClr val="526985"/>
                </a:solidFill>
                <a:latin typeface="Arial"/>
                <a:ea typeface="Arial"/>
                <a:cs typeface="Arial"/>
              </a:rPr>
              <a:t>Seed-TTS · Sep 9–Oct 8, 2026. Dashed segments bridge dates without matching runs.</a:t>
            </a:r>
          </a:p>
          <a:p>
            <a:pPr algn="l">
              <a:lnSpc>
                <a:spcPct val="106000"/>
              </a:lnSpc>
              <a:spcAft>
                <a:spcPts val="0"/>
              </a:spcAft>
            </a:pPr>
            <a:r>
              <a:rPr sz="1050" b="0">
                <a:solidFill>
                  <a:srgbClr val="526985"/>
                </a:solidFill>
                <a:latin typeface="Arial"/>
                <a:ea typeface="Arial"/>
                <a:cs typeface="Arial"/>
              </a:rPr>
              <a:t>Audio RTF = audio generation time / output audio duration, averaged per request.</a:t>
            </a:r>
          </a:p>
        </p:txBody>
      </p:sp>
      <p:cxnSp>
        <p:nvCxnSpPr>
          <p:cNvPr id="234" name="Dashed gap bridge: 1 concurrent request" descr="Visual connection between measured Sep 15 and Sep 18 values; Sep 16–17 have no matching measurements."/>
          <p:cNvCxnSpPr/>
          <p:nvPr/>
        </p:nvCxnSpPr>
        <p:spPr>
          <a:xfrm>
            <a:off x="8333779" y="4880283"/>
            <a:ext cx="386394" cy="39517"/>
          </a:xfrm>
          <a:prstGeom prst="line">
            <a:avLst/>
          </a:prstGeom>
          <a:ln w="25400" cap="flat">
            <a:solidFill>
              <a:srgbClr val="347FF0"/>
            </a:solidFill>
            <a:prstDash val="sysDash"/>
            <a:headEnd type="none" w="med" len="med"/>
            <a:tailEnd type="none" w="med" len="med"/>
          </a:ln>
        </p:spPr>
      </p:cxnSp>
      <p:cxnSp>
        <p:nvCxnSpPr>
          <p:cNvPr id="235" name="Dashed gap bridge: 8 concurrent requests" descr="Visual connection between measured Sep 15 and Sep 18 values; Sep 16–17 have no matching measurements."/>
          <p:cNvCxnSpPr/>
          <p:nvPr/>
        </p:nvCxnSpPr>
        <p:spPr>
          <a:xfrm>
            <a:off x="8333779" y="3624102"/>
            <a:ext cx="386394" cy="240571"/>
          </a:xfrm>
          <a:prstGeom prst="line">
            <a:avLst/>
          </a:prstGeom>
          <a:ln w="25400" cap="flat">
            <a:solidFill>
              <a:srgbClr val="008E96"/>
            </a:solidFill>
            <a:prstDash val="sysDash"/>
            <a:headEnd type="none" w="med" len="med"/>
            <a:tailEnd type="none" w="med" len="med"/>
          </a:ln>
        </p:spPr>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a:solidFill>
                  <a:srgbClr val="142B45"/>
                </a:solidFill>
                <a:latin typeface="Arial"/>
                <a:ea typeface="Arial"/>
                <a:cs typeface="Arial"/>
              </a:rPr>
              <a:t>From first audio to sustained conversation quality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OmniInteract and Omni-DuplexEval evaluate live interaction alongside latency and streaming metrics.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13</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Timing schematic</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a:solidFill>
                  <a:srgbClr val="142B45"/>
                </a:solidFill>
                <a:latin typeface="Arial"/>
                <a:ea typeface="Arial"/>
                <a:cs typeface="Arial"/>
              </a:rPr>
              <a:t>Input stream starts</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a:solidFill>
                  <a:srgbClr val="327CEC"/>
                </a:solidFill>
                <a:latin typeface="Arial"/>
                <a:ea typeface="Arial"/>
                <a:cs typeface="Arial"/>
              </a:rPr>
              <a:t>First audio packet received</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Stream 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Input / output</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Input / queue</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Stage compute</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Transfer</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Incremental audio generation and delivery</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Client playback</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Playback starts</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a:solidFill>
                  <a:srgbClr val="FFFFFF"/>
                </a:solidFill>
                <a:latin typeface="Arial"/>
                <a:ea typeface="Arial"/>
                <a:cs typeface="Arial"/>
              </a:rPr>
              <a:t>Playback overlaps subsequent generation</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327CEC"/>
                </a:solidFill>
                <a:latin typeface="Arial"/>
                <a:ea typeface="Arial"/>
                <a:cs typeface="Arial"/>
              </a:rPr>
              <a:t>First-audio latency</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Stream TTFP · p50 / p95</a:t>
            </a:r>
          </a:p>
          <a:p>
            <a:pPr algn="l">
              <a:lnSpc>
                <a:spcPct val="110000"/>
              </a:lnSpc>
              <a:spcAft>
                <a:spcPts val="0"/>
              </a:spcAft>
            </a:pPr>
            <a:r>
              <a:rPr sz="1030" b="0">
                <a:solidFill>
                  <a:srgbClr val="21364E"/>
                </a:solidFill>
                <a:latin typeface="Arial"/>
                <a:ea typeface="Arial"/>
                <a:cs typeface="Arial"/>
              </a:rPr>
              <a:t>Input start → first audio received</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008E96"/>
                </a:solidFill>
                <a:latin typeface="Arial"/>
                <a:ea typeface="Arial"/>
                <a:cs typeface="Arial"/>
              </a:rPr>
              <a:t>Output cadence</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Response RTF · chunk intervals</a:t>
            </a:r>
          </a:p>
          <a:p>
            <a:pPr algn="l">
              <a:lnSpc>
                <a:spcPct val="110000"/>
              </a:lnSpc>
              <a:spcAft>
                <a:spcPts val="0"/>
              </a:spcAft>
            </a:pPr>
            <a:r>
              <a:rPr sz="1030" b="0">
                <a:solidFill>
                  <a:srgbClr val="21364E"/>
                </a:solidFill>
                <a:latin typeface="Arial"/>
                <a:ea typeface="Arial"/>
                <a:cs typeface="Arial"/>
              </a:rPr>
              <a:t>Pauses and playback buffering</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7855AD"/>
                </a:solidFill>
                <a:latin typeface="Arial"/>
                <a:ea typeface="Arial"/>
                <a:cs typeface="Arial"/>
              </a:rPr>
              <a:t>Duration and concurrency</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Duration · session count</a:t>
            </a:r>
          </a:p>
          <a:p>
            <a:pPr algn="l">
              <a:lnSpc>
                <a:spcPct val="110000"/>
              </a:lnSpc>
              <a:spcAft>
                <a:spcPts val="0"/>
              </a:spcAft>
            </a:pPr>
            <a:r>
              <a:rPr sz="1090" b="0">
                <a:solidFill>
                  <a:srgbClr val="21364E"/>
                </a:solidFill>
                <a:latin typeface="Arial"/>
                <a:ea typeface="Arial"/>
                <a:cs typeface="Arial"/>
              </a:rPr>
              <a:t>Peak memory · reclamation</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AD761E"/>
                </a:solidFill>
                <a:latin typeface="Arial"/>
                <a:ea typeface="Arial"/>
                <a:cs typeface="Arial"/>
              </a:rPr>
              <a:t>Interaction quality</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When to speak · what to answer</a:t>
            </a:r>
          </a:p>
          <a:p>
            <a:pPr algn="l">
              <a:lnSpc>
                <a:spcPct val="110000"/>
              </a:lnSpc>
              <a:spcAft>
                <a:spcPts val="0"/>
              </a:spcAft>
            </a:pPr>
            <a:r>
              <a:rPr sz="1030" b="0">
                <a:solidFill>
                  <a:srgbClr val="21364E"/>
                </a:solidFill>
                <a:latin typeface="Arial"/>
                <a:ea typeface="Arial"/>
                <a:cs typeface="Arial"/>
              </a:rPr>
              <a:t>Audio / video understanding</a:t>
            </a:r>
          </a:p>
        </p:txBody>
      </p:sp>
      <p:sp>
        <p:nvSpPr>
          <p:cNvPr id="55" name="TextBox 54"/>
          <p:cNvSpPr txBox="1"/>
          <p:nvPr/>
        </p:nvSpPr>
        <p:spPr>
          <a:xfrm>
            <a:off x="658368" y="6025896"/>
            <a:ext cx="10936224" cy="356616"/>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TTFP measures first-packet arrival; conversational response timing is evaluated separately.</a:t>
            </a:r>
          </a:p>
          <a:p>
            <a:pPr algn="l">
              <a:lnSpc>
                <a:spcPct val="110000"/>
              </a:lnSpc>
              <a:spcAft>
                <a:spcPts val="0"/>
              </a:spcAft>
            </a:pPr>
            <a:r>
              <a:rPr sz="1050" b="0">
                <a:solidFill>
                  <a:srgbClr val="586B7E"/>
                </a:solidFill>
                <a:latin typeface="Arial"/>
                <a:ea typeface="Arial"/>
                <a:cs typeface="Arial"/>
              </a:rPr>
              <a:t>Compare matching timing windows. Benchmark coverage varies by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TOOL CALLING</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Tool calling across duplex models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Existing tool paths provide a foundation for broader support across duplex models.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13</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307BDB"/>
                </a:solidFill>
                <a:latin typeface="Arial"/>
                <a:ea typeface="Arial"/>
                <a:cs typeface="Arial"/>
              </a:rPr>
              <a:t>AVAILABLE TODAY</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Tool-call parsing · /v1/realtime?duplex=0</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 calls + results in unified native duplex</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95620B"/>
                </a:solidFill>
                <a:latin typeface="Arial"/>
                <a:ea typeface="Arial"/>
                <a:cs typeface="Arial"/>
              </a:rPr>
              <a:t>NEXT: BROADER UNIFIED DUPLEX SUPPORT</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emits</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Tool name + arguments</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Application executes</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External function</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Result returns</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Match the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continues</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Generate the reply</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a:solidFill>
                            <a:srgbClr val="16304E"/>
                          </a:solidFill>
                          <a:latin typeface="Arial"/>
                          <a:ea typeface="Arial"/>
                          <a:cs typeface="Arial"/>
                        </a:rPr>
                        <a:t>During execution</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Define whether user input and speech output continue while the tool runs.</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a:solidFill>
                            <a:srgbClr val="16304E"/>
                          </a:solidFill>
                          <a:latin typeface="Arial"/>
                          <a:ea typeface="Arial"/>
                          <a:cs typeface="Arial"/>
                        </a:rPr>
                        <a:t>Turn safety</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a:solidFill>
                            <a:srgbClr val="16304E"/>
                          </a:solidFill>
                          <a:latin typeface="Arial"/>
                          <a:ea typeface="Arial"/>
                          <a:cs typeface="Arial"/>
                        </a:rPr>
                        <a:t>Handle interruption, timeouts, duplicate and late results;</a:t>
                      </a:r>
                    </a:p>
                    <a:p>
                      <a:pPr>
                        <a:lnSpc>
                          <a:spcPct val="108000"/>
                        </a:lnSpc>
                        <a:spcAft>
                          <a:spcPts val="0"/>
                        </a:spcAft>
                      </a:pPr>
                      <a:r>
                        <a:rPr sz="1400" b="0">
                          <a:solidFill>
                            <a:srgbClr val="16304E"/>
                          </a:solidFill>
                          <a:latin typeface="Arial"/>
                          <a:ea typeface="Arial"/>
                          <a:cs typeface="Arial"/>
                        </a:rPr>
                        <a:t>keep old calls from affecting a new turn.</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a:solidFill>
                            <a:srgbClr val="16304E"/>
                          </a:solidFill>
                          <a:latin typeface="Arial"/>
                          <a:ea typeface="Arial"/>
                          <a:cs typeface="Arial"/>
                        </a:rPr>
                        <a:t>Framework + plugins</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Shared framework handling, with model-specific adapters.</a:t>
                      </a:r>
                    </a:p>
                    <a:p>
                      <a:pPr>
                        <a:lnSpc>
                          <a:spcPct val="108000"/>
                        </a:lnSpc>
                        <a:spcAft>
                          <a:spcPts val="0"/>
                        </a:spcAft>
                      </a:pPr>
                      <a:r>
                        <a:rPr sz="1400" b="0">
                          <a:solidFill>
                            <a:srgbClr val="16304E"/>
                          </a:solidFill>
                          <a:latin typeface="Arial"/>
                          <a:ea typeface="Arial"/>
                          <a:cs typeface="Arial"/>
                        </a:rPr>
                        <a:t>Extend support to Qwen3-Omni unified duplex, AURA and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ROADMAP</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Full-duplex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Near-term model integration, interaction and evaluation; longer-term session duration and serving scale.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13 / 13</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307BDB"/>
                </a:solidFill>
                <a:latin typeface="Arial"/>
                <a:ea typeface="Arial"/>
                <a:cs typeface="Arial"/>
              </a:rPr>
              <a:t>NEAR TERM</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008E96"/>
                </a:solidFill>
                <a:latin typeface="Arial"/>
                <a:ea typeface="Arial"/>
                <a:cs typeface="Arial"/>
              </a:rPr>
              <a:t>LONGER TERM</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JoyAI integration</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Bring JoyAI into the unified duplex framework</a:t>
            </a:r>
          </a:p>
          <a:p>
            <a:pPr algn="l">
              <a:lnSpc>
                <a:spcPct val="106000"/>
              </a:lnSpc>
              <a:spcAft>
                <a:spcPts val="0"/>
              </a:spcAft>
            </a:pPr>
            <a:r>
              <a:rPr sz="1400" b="0">
                <a:solidFill>
                  <a:srgbClr val="586B7E"/>
                </a:solidFill>
                <a:latin typeface="Arial"/>
                <a:ea typeface="Arial"/>
                <a:cs typeface="Arial"/>
              </a:rPr>
              <a:t>with model-specific input/output adapters</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Unified tool calling</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Extend tool-call support across models</a:t>
            </a:r>
          </a:p>
          <a:p>
            <a:pPr algn="l">
              <a:lnSpc>
                <a:spcPct val="106000"/>
              </a:lnSpc>
              <a:spcAft>
                <a:spcPts val="0"/>
              </a:spcAft>
            </a:pPr>
            <a:r>
              <a:rPr sz="1400" b="0">
                <a:solidFill>
                  <a:srgbClr val="586B7E"/>
                </a:solidFill>
                <a:latin typeface="Arial"/>
                <a:ea typeface="Arial"/>
                <a:cs typeface="Arial"/>
              </a:rPr>
              <a:t>Handle interruption, timeout and late results</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Turn completion based on meaning and context</a:t>
            </a:r>
          </a:p>
          <a:p>
            <a:pPr algn="l">
              <a:lnSpc>
                <a:spcPct val="106000"/>
              </a:lnSpc>
              <a:spcAft>
                <a:spcPts val="0"/>
              </a:spcAft>
            </a:pPr>
            <a:r>
              <a:rPr sz="1400" b="0">
                <a:solidFill>
                  <a:srgbClr val="586B7E"/>
                </a:solidFill>
                <a:latin typeface="Arial"/>
                <a:ea typeface="Arial"/>
                <a:cs typeface="Arial"/>
              </a:rPr>
              <a:t>Integration with commit and response policies</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Broader realtime evaluation</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Broader OmniInteract and Omni-DuplexEval coverage</a:t>
            </a:r>
          </a:p>
          <a:p>
            <a:pPr algn="l">
              <a:lnSpc>
                <a:spcPct val="106000"/>
              </a:lnSpc>
              <a:spcAft>
                <a:spcPts val="0"/>
              </a:spcAft>
            </a:pPr>
            <a:r>
              <a:rPr sz="1400" b="0">
                <a:solidFill>
                  <a:srgbClr val="586B7E"/>
                </a:solidFill>
                <a:latin typeface="Arial"/>
                <a:ea typeface="Arial"/>
                <a:cs typeface="Arial"/>
              </a:rPr>
              <a:t>More models, interaction tasks and regression checks</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Longer sustained conversations</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Bound context and history for extended audio/video</a:t>
            </a:r>
          </a:p>
          <a:p>
            <a:pPr algn="l">
              <a:lnSpc>
                <a:spcPct val="106000"/>
              </a:lnSpc>
              <a:spcAft>
                <a:spcPts val="0"/>
              </a:spcAft>
            </a:pPr>
            <a:r>
              <a:rPr sz="1400" b="0">
                <a:solidFill>
                  <a:srgbClr val="586B7E"/>
                </a:solidFill>
                <a:latin typeface="Arial"/>
                <a:ea typeface="Arial"/>
                <a:cs typeface="Arial"/>
              </a:rPr>
              <a:t>Maintain stable latency and memory as sessions grow</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Scale beyond one API worker</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Build on existing Stage replicas</a:t>
            </a:r>
          </a:p>
          <a:p>
            <a:pPr algn="l">
              <a:lnSpc>
                <a:spcPct val="106000"/>
              </a:lnSpc>
              <a:spcAft>
                <a:spcPts val="0"/>
              </a:spcAft>
            </a:pPr>
            <a:r>
              <a:rPr sz="1400" b="0">
                <a:solidFill>
                  <a:srgbClr val="586B7E"/>
                </a:solidFill>
                <a:latin typeface="Arial"/>
                <a:ea typeface="Arial"/>
                <a:cs typeface="Arial"/>
              </a:rPr>
              <a:t>Route sessions across API frontends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ARCHITECTURE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Duplex execution: input, model computation and output</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Normal output uses a bounded per-session buffer shared by the API and Orchestrator threads.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a:solidFill>
                  <a:srgbClr val="586B7E"/>
                </a:solidFill>
                <a:latin typeface="Arial"/>
                <a:ea typeface="Arial"/>
                <a:cs typeface="Arial"/>
              </a:rPr>
              <a:t>SAME API PROCESS</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API event loop</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Duplex Orchestrator thread</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327CEC"/>
                </a:solidFill>
                <a:latin typeface="Arial"/>
                <a:ea typeface="Arial"/>
                <a:cs typeface="Arial"/>
              </a:rPr>
              <a:t>Input / requests</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008E96"/>
                </a:solidFill>
                <a:latin typeface="Arial"/>
                <a:ea typeface="Arial"/>
                <a:cs typeface="Arial"/>
              </a:rPr>
              <a:t>Output / events</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a:solidFill>
                  <a:srgbClr val="586B7E"/>
                </a:solidFill>
                <a:latin typeface="Arial"/>
                <a:ea typeface="Arial"/>
                <a:cs typeface="Arial"/>
              </a:rPr>
              <a:t>Protocol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Ordered mailbox · session state</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Manager.emit → shared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Janus · requests</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a:solidFill>
                  <a:srgbClr val="586B7E"/>
                </a:solidFill>
                <a:latin typeface="Arial"/>
                <a:ea typeface="Arial"/>
                <a:cs typeface="Arial"/>
              </a:rPr>
              <a:t>bounded · direct</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PersonaPlex example</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Mimi Code2Wav · Stage 1</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a:solidFill>
                  <a:srgbClr val="7855AD"/>
                </a:solidFill>
                <a:latin typeface="Arial"/>
                <a:ea typeface="Arial"/>
                <a:cs typeface="Arial"/>
              </a:rPr>
              <a:t>Local shared-memory audio codes</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StagePool: select one ·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One stage · replica processes</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a:solidFill>
                  <a:srgbClr val="586B7E"/>
                </a:solidFill>
                <a:latin typeface="Arial"/>
                <a:ea typeface="Arial"/>
                <a:cs typeface="Arial"/>
              </a:rPr>
              <a:t>Replicas can run on local or remote nodes</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Acoustic VAD vs.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Often combined: acoustic VAD finds a pause; a turn-end detector checks whether the user has finished.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a:solidFill>
                            <a:srgbClr val="FFFFFF"/>
                          </a:solidFill>
                          <a:latin typeface="Arial"/>
                          <a:ea typeface="Arial"/>
                          <a:cs typeface="Arial"/>
                        </a:rPr>
                        <a:t>COMPARISON</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Semantic VAD</a:t>
                      </a:r>
                    </a:p>
                    <a:p>
                      <a:pPr algn="l">
                        <a:lnSpc>
                          <a:spcPct val="106000"/>
                        </a:lnSpc>
                        <a:spcAft>
                          <a:spcPts val="0"/>
                        </a:spcAft>
                      </a:pPr>
                      <a:r>
                        <a:rPr sz="900" b="1">
                          <a:solidFill>
                            <a:srgbClr val="F4CF91"/>
                          </a:solidFill>
                          <a:latin typeface="Arial"/>
                          <a:ea typeface="Arial"/>
                          <a:cs typeface="Arial"/>
                        </a:rPr>
                        <a:t>PROPOSED EXTENSION</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Decision signal</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Speech activity + a configured</a:t>
                      </a:r>
                    </a:p>
                    <a:p>
                      <a:pPr algn="l">
                        <a:lnSpc>
                          <a:spcPct val="106000"/>
                        </a:lnSpc>
                        <a:spcAft>
                          <a:spcPts val="0"/>
                        </a:spcAft>
                      </a:pPr>
                      <a:r>
                        <a:rPr sz="1420" b="0">
                          <a:solidFill>
                            <a:srgbClr val="16304E"/>
                          </a:solidFill>
                          <a:latin typeface="Arial"/>
                          <a:ea typeface="Arial"/>
                          <a:cs typeface="Arial"/>
                        </a:rPr>
                        <a:t>silence duration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Meaning and context</a:t>
                      </a:r>
                    </a:p>
                    <a:p>
                      <a:pPr algn="l">
                        <a:lnSpc>
                          <a:spcPct val="106000"/>
                        </a:lnSpc>
                        <a:spcAft>
                          <a:spcPts val="0"/>
                        </a:spcAft>
                      </a:pPr>
                      <a:r>
                        <a:rPr sz="1420" b="0">
                          <a:solidFill>
                            <a:srgbClr val="16304E"/>
                          </a:solidFill>
                          <a:latin typeface="Arial"/>
                          <a:ea typeface="Arial"/>
                          <a:cs typeface="Arial"/>
                        </a:rPr>
                        <a:t>Audio models can also use prosody</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Pause handling</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commit after enough silence,</a:t>
                      </a:r>
                    </a:p>
                    <a:p>
                      <a:pPr algn="l">
                        <a:lnSpc>
                          <a:spcPct val="106000"/>
                        </a:lnSpc>
                        <a:spcAft>
                          <a:spcPts val="0"/>
                        </a:spcAft>
                      </a:pPr>
                      <a:r>
                        <a:rPr sz="1420" b="0">
                          <a:solidFill>
                            <a:srgbClr val="16304E"/>
                          </a:solidFill>
                          <a:latin typeface="Arial"/>
                          <a:ea typeface="Arial"/>
                          <a:cs typeface="Arial"/>
                        </a:rPr>
                        <a:t>even if the sentence is unfinished</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Can wait longer when the utterance</a:t>
                      </a:r>
                    </a:p>
                    <a:p>
                      <a:pPr algn="l">
                        <a:lnSpc>
                          <a:spcPct val="106000"/>
                        </a:lnSpc>
                        <a:spcAft>
                          <a:spcPts val="0"/>
                        </a:spcAft>
                      </a:pPr>
                      <a:r>
                        <a:rPr sz="1420" b="0">
                          <a:solidFill>
                            <a:srgbClr val="16304E"/>
                          </a:solidFill>
                          <a:latin typeface="Arial"/>
                          <a:ea typeface="Arial"/>
                          <a:cs typeface="Arial"/>
                        </a:rPr>
                        <a:t>appears incomplete</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System action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auto-commit after silence.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when the turn is judged complete.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a:solidFill>
                            <a:srgbClr val="16304E"/>
                          </a:solidFill>
                          <a:latin typeface="Arial"/>
                          <a:ea typeface="Arial"/>
                          <a:cs typeface="Arial"/>
                        </a:rPr>
                        <a:t>Compute &amp;</a:t>
                      </a:r>
                    </a:p>
                    <a:p>
                      <a:pPr algn="l">
                        <a:lnSpc>
                          <a:spcPct val="106000"/>
                        </a:lnSpc>
                        <a:spcAft>
                          <a:spcPts val="0"/>
                        </a:spcAft>
                      </a:pPr>
                      <a:r>
                        <a:rPr sz="1350" b="1">
                          <a:solidFill>
                            <a:srgbClr val="16304E"/>
                          </a:solidFill>
                          <a:latin typeface="Arial"/>
                          <a:ea typeface="Arial"/>
                          <a:cs typeface="Arial"/>
                        </a:rPr>
                        <a:t>placement</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Low-latency CPU inference</a:t>
                      </a:r>
                    </a:p>
                    <a:p>
                      <a:pPr algn="l">
                        <a:lnSpc>
                          <a:spcPct val="106000"/>
                        </a:lnSpc>
                        <a:spcAft>
                          <a:spcPts val="0"/>
                        </a:spcAft>
                      </a:pPr>
                      <a:r>
                        <a:rPr sz="1420" b="0">
                          <a:solidFill>
                            <a:srgbClr val="16304E"/>
                          </a:solidFill>
                          <a:latin typeface="Arial"/>
                          <a:ea typeface="Arial"/>
                          <a:cs typeface="Arial"/>
                        </a:rPr>
                        <a:t>Current: 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Small models can run on CPU</a:t>
                      </a:r>
                    </a:p>
                    <a:p>
                      <a:pPr algn="l">
                        <a:lnSpc>
                          <a:spcPct val="106000"/>
                        </a:lnSpc>
                        <a:spcAft>
                          <a:spcPts val="0"/>
                        </a:spcAft>
                      </a:pPr>
                      <a:r>
                        <a:rPr sz="1420" b="0">
                          <a:solidFill>
                            <a:srgbClr val="16304E"/>
                          </a:solidFill>
                          <a:latin typeface="Arial"/>
                          <a:ea typeface="Arial"/>
                          <a:cs typeface="Arial"/>
                        </a:rPr>
                        <a:t>Heavier models: proposed Omni Stage</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a:solidFill>
                  <a:srgbClr val="586B7E"/>
                </a:solidFill>
                <a:latin typeface="Arial"/>
                <a:ea typeface="Arial"/>
                <a:cs typeface="Arial"/>
              </a:rPr>
              <a:t>OPEN-SOURCE EXAMPLE: 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a:solidFill>
                  <a:srgbClr val="16304E"/>
                </a:solidFill>
                <a:latin typeface="Arial"/>
                <a:ea typeface="Arial"/>
                <a:cs typeface="Arial"/>
              </a:rPr>
              <a:t>“Book me a flight for tomorrow to … [pause] … Beijing.”</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307BDB"/>
                </a:solidFill>
                <a:latin typeface="Arial"/>
                <a:ea typeface="Arial"/>
                <a:cs typeface="Arial"/>
              </a:rPr>
              <a:t>1. Silero: speech / non-speech and pauses</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008E96"/>
                </a:solidFill>
                <a:latin typeface="Arial"/>
                <a:ea typeface="Arial"/>
                <a:cs typeface="Arial"/>
              </a:rPr>
              <a:t>2. Smart Turn: complete / incomplete</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586B7E"/>
                </a:solidFill>
                <a:latin typeface="Arial"/>
                <a:ea typeface="Arial"/>
                <a:cs typeface="Arial"/>
              </a:rPr>
              <a:t>VAD can reduce noise-triggered events. Denoising and interruption intent detection are separate.</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16304E"/>
                </a:solidFill>
                <a:latin typeface="Arial"/>
                <a:ea typeface="Arial"/>
                <a:cs typeface="Arial"/>
              </a:rPr>
              <a:t>Server VAD: Runner applies commit / cancel policies; inference runs outside its event loop.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Disconnect, cancel and close have different effects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MiniCPM, AURA, Qwen3-Omni and Nemotron support live-session resume; PersonaPlex closes on disconnect.</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TRIGGER</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IN-FLIGHT WORK</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SESSION / RESUME</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Disconnect · resumable model</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May keep generating; journal later events</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Disconnect grace; resume while the session lives</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Abort generation; discard unsent output</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Session stays open; PersonaPlex resets model context</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session.close / lease expiry</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Terminate and clean up associated work</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Session ends; create a new session</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SESSION LIFETIME</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Resume within the disconnect grace</a:t>
            </a:r>
          </a:p>
          <a:p>
            <a:pPr algn="l">
              <a:lnSpc>
                <a:spcPct val="110000"/>
              </a:lnSpc>
              <a:spcAft>
                <a:spcPts val="0"/>
              </a:spcAft>
            </a:pPr>
            <a:r>
              <a:rPr sz="1250" b="0">
                <a:solidFill>
                  <a:srgbClr val="21364E"/>
                </a:solidFill>
                <a:latin typeface="Arial"/>
                <a:ea typeface="Arial"/>
                <a:cs typeface="Arial"/>
              </a:rPr>
              <a:t>Session remains on its live owner</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VALID CREDENTIALS</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a:solidFill>
                  <a:srgbClr val="21364E"/>
                </a:solidFill>
                <a:latin typeface="Arial"/>
                <a:ea typeface="Arial"/>
                <a:cs typeface="Arial"/>
              </a:rPr>
              <a:t>Session ID + latest resume token</a:t>
            </a:r>
          </a:p>
          <a:p>
            <a:pPr algn="l">
              <a:lnSpc>
                <a:spcPct val="110000"/>
              </a:lnSpc>
              <a:spcAft>
                <a:spcPts val="0"/>
              </a:spcAft>
            </a:pPr>
            <a:r>
              <a:rPr sz="1200" b="0">
                <a:solidFill>
                  <a:srgbClr val="21364E"/>
                </a:solidFill>
                <a:latin typeface="Arial"/>
                <a:ea typeface="Arial"/>
                <a:cs typeface="Arial"/>
              </a:rPr>
              <a:t>Tokens rotate after successful resume</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REPLAY COVERAGE</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Last received event sequence</a:t>
            </a:r>
          </a:p>
          <a:p>
            <a:pPr algn="l">
              <a:lnSpc>
                <a:spcPct val="110000"/>
              </a:lnSpc>
              <a:spcAft>
                <a:spcPts val="0"/>
              </a:spcAft>
            </a:pPr>
            <a:r>
              <a:rPr sz="1250" b="0">
                <a:solidFill>
                  <a:srgbClr val="21364E"/>
                </a:solidFill>
                <a:latin typeface="Arial"/>
                <a:ea typeface="Arial"/>
                <a:cs typeface="Arial"/>
              </a:rPr>
              <a:t>A replay gap requires a new session</a:t>
            </a:r>
          </a:p>
        </p:txBody>
      </p:sp>
      <p:sp>
        <p:nvSpPr>
          <p:cNvPr id="36" name="TextBox 35"/>
          <p:cNvSpPr txBox="1"/>
          <p:nvPr/>
        </p:nvSpPr>
        <p:spPr>
          <a:xfrm>
            <a:off x="722376" y="5971032"/>
            <a:ext cx="10744200"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Defaults: disconnect grace 30s · idle TTL 300s · replay 60s / 8 MiB.</a:t>
            </a:r>
          </a:p>
          <a:p>
            <a:pPr algn="l">
              <a:lnSpc>
                <a:spcPct val="110000"/>
              </a:lnSpc>
              <a:spcAft>
                <a:spcPts val="0"/>
              </a:spcAft>
            </a:pPr>
            <a:r>
              <a:rPr sz="1050" b="0">
                <a:solidFill>
                  <a:srgbClr val="586B7E"/>
                </a:solidFill>
                <a:latin typeface="Arial"/>
                <a:ea typeface="Arial"/>
                <a:cs typeface="Arial"/>
              </a:rPr>
              <a:t>Clients must stop buffered playback separately; resume stays on the same live API process.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DEPLOYMENT</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Cross-node stages share the entrypoint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One API worker owns duplex sessions; the Head connects local and registered headless Stage processes.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a:solidFill>
                  <a:srgbClr val="008E96"/>
                </a:solidFill>
                <a:latin typeface="Arial"/>
                <a:ea typeface="Arial"/>
                <a:cs typeface="Arial"/>
              </a:rPr>
              <a:t>HEAD NODE</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a:solidFill>
                  <a:srgbClr val="142B45"/>
                </a:solidFill>
                <a:latin typeface="Arial"/>
                <a:ea typeface="Arial"/>
                <a:cs typeface="Arial"/>
              </a:rPr>
              <a:t>Local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Requests / outputs</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1  SHARED DEPLOY CONFIG</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Same topology; session_mode: duplex</a:t>
            </a:r>
          </a:p>
          <a:p>
            <a:pPr algn="l">
              <a:lnSpc>
                <a:spcPct val="110000"/>
              </a:lnSpc>
              <a:spcAft>
                <a:spcPts val="0"/>
              </a:spcAft>
            </a:pPr>
            <a:r>
              <a:rPr sz="1180" b="0">
                <a:solidFill>
                  <a:srgbClr val="21364E"/>
                </a:solidFill>
                <a:latin typeface="Arial"/>
                <a:ea typeface="Arial"/>
                <a:cs typeface="Arial"/>
              </a:rPr>
              <a:t>Configure devices and network connectors</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2  START THE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stage-id 0 starts one API worker + local stage</a:t>
            </a:r>
          </a:p>
          <a:p>
            <a:pPr algn="l">
              <a:lnSpc>
                <a:spcPct val="110000"/>
              </a:lnSpc>
              <a:spcAft>
                <a:spcPts val="0"/>
              </a:spcAft>
            </a:pPr>
            <a:r>
              <a:rPr sz="1180" b="0">
                <a:solidFill>
                  <a:srgbClr val="21364E"/>
                </a:solidFill>
                <a:latin typeface="Arial"/>
                <a:ea typeface="Arial"/>
                <a:cs typeface="Arial"/>
              </a:rPr>
              <a:t>Publish a reachable master address / port</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3  LAUNCH HEADLESS PROCESSES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Set stage-id and the same master</a:t>
            </a:r>
          </a:p>
          <a:p>
            <a:pPr algn="l">
              <a:lnSpc>
                <a:spcPct val="110000"/>
              </a:lnSpc>
              <a:spcAft>
                <a:spcPts val="0"/>
              </a:spcAft>
            </a:pPr>
            <a:r>
              <a:rPr sz="1180" b="0">
                <a:solidFill>
                  <a:srgbClr val="21364E"/>
                </a:solidFill>
                <a:latin typeface="Arial"/>
                <a:ea typeface="Arial"/>
                <a:cs typeface="Arial"/>
              </a:rPr>
              <a:t>Register with OmniMaster; launch local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Headless stages share the Head Orchestrator. Duplex rejects multiple API workers; cross-node data needs a network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CODE REFERENCES</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Code references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A6</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LAYER</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IMPLEMENTATION ENTRY</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READ FOR</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API adapter</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Wire events, attachment,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Handles, shared output buffer, events</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Transport</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Control queues; bounded session output</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Session runtime</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Leases, state, mailbox, model policy</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Stage orchestration</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Initial / update, replica affinity</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Model execution</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Batching, compute, model caches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Model decisions</a:t>
            </a:r>
          </a:p>
          <a:p>
            <a:pPr algn="l">
              <a:lnSpc>
                <a:spcPct val="110000"/>
              </a:lnSpc>
              <a:spcAft>
                <a:spcPts val="0"/>
              </a:spcAft>
            </a:pPr>
            <a:r>
              <a:rPr sz="3100" b="1">
                <a:solidFill>
                  <a:srgbClr val="142B45"/>
                </a:solidFill>
                <a:latin typeface="Arial"/>
                <a:ea typeface="Arial"/>
                <a:cs typeface="Arial"/>
              </a:rPr>
              <a:t>and VAD interruption</a:t>
            </a:r>
          </a:p>
        </p:txBody>
      </p:sp>
      <p:sp>
        <p:nvSpPr>
          <p:cNvPr id="15" name="Rounded Rectangle 14"/>
          <p:cNvSpPr/>
          <p:nvPr/>
        </p:nvSpPr>
        <p:spPr>
          <a:xfrm>
            <a:off x="6236208" y="1170432"/>
            <a:ext cx="5394960" cy="3694176"/>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One live conversation</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1900" b="1">
                <a:solidFill>
                  <a:srgbClr val="142B45"/>
                </a:solidFill>
                <a:latin typeface="Arial"/>
                <a:ea typeface="Arial"/>
                <a:cs typeface="Arial"/>
              </a:rPr>
              <a:t>Model-driven speech</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New input reaches ongoing model execution.</a:t>
            </a:r>
          </a:p>
          <a:p>
            <a:pPr algn="l">
              <a:lnSpc>
                <a:spcPct val="110000"/>
              </a:lnSpc>
              <a:spcAft>
                <a:spcPts val="0"/>
              </a:spcAft>
            </a:pPr>
            <a:r>
              <a:rPr sz="1400" b="0">
                <a:solidFill>
                  <a:srgbClr val="586B7E"/>
                </a:solidFill>
                <a:latin typeface="Arial"/>
                <a:ea typeface="Arial"/>
                <a:cs typeface="Arial"/>
              </a:rPr>
              <a:t>The model chooses whether to keep speaking.</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1900" b="1">
                <a:solidFill>
                  <a:srgbClr val="142B45"/>
                </a:solidFill>
                <a:latin typeface="Arial"/>
                <a:ea typeface="Arial"/>
                <a:cs typeface="Arial"/>
              </a:rPr>
              <a:t>VAD-driven turn-taking</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Speech onset interrupts the active reply.</a:t>
            </a:r>
          </a:p>
          <a:p>
            <a:pPr algn="l">
              <a:lnSpc>
                <a:spcPct val="110000"/>
              </a:lnSpc>
              <a:spcAft>
                <a:spcPts val="0"/>
              </a:spcAft>
            </a:pPr>
            <a:r>
              <a:rPr sz="1400" b="0">
                <a:solidFill>
                  <a:srgbClr val="586B7E"/>
                </a:solidFill>
                <a:latin typeface="Arial"/>
                <a:ea typeface="Arial"/>
                <a:cs typeface="Arial"/>
              </a:rPr>
              <a:t>Silence triggers commit and a fresh request.</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
            </a:r>
          </a:p>
        </p:txBody>
      </p:sp>
      <p:sp>
        <p:nvSpPr>
          <p:cNvPr id="109" name="TextBox 108"/>
          <p:cNvSpPr txBox="1"/>
          <p:nvPr/>
        </p:nvSpPr>
        <p:spPr>
          <a:xfrm>
            <a:off x="786384" y="5166360"/>
            <a:ext cx="5166360" cy="283464"/>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Two cancellation entry points</a:t>
            </a:r>
          </a:p>
        </p:txBody>
      </p:sp>
      <p:sp>
        <p:nvSpPr>
          <p:cNvPr id="110" name="TextBox 109"/>
          <p:cNvSpPr txBox="1"/>
          <p:nvPr/>
        </p:nvSpPr>
        <p:spPr>
          <a:xfrm>
            <a:off x="6318504" y="5202936"/>
            <a:ext cx="5029200" cy="228600"/>
          </a:xfrm>
          <a:prstGeom prst="rect">
            <a:avLst/>
          </a:prstGeom>
          <a:noFill/>
        </p:spPr>
        <p:txBody>
          <a:bodyPr wrap="square" lIns="0" rIns="0" tIns="0" bIns="0" anchor="t">
            <a:spAutoFit/>
          </a:bodyPr>
          <a:lstStyle/>
          <a:p>
            <a:pPr algn="l">
              <a:lnSpc>
                <a:spcPct val="110000"/>
              </a:lnSpc>
              <a:spcAft>
                <a:spcPts val="0"/>
              </a:spcAft>
            </a:pPr>
            <a:r>
              <a:rPr sz="1140" b="0">
                <a:solidFill>
                  <a:srgbClr val="586B7E"/>
                </a:solidFill>
                <a:latin typeface="Arial"/>
                <a:ea typeface="Arial"/>
                <a:cs typeface="Arial"/>
              </a:rPr>
              <a:t>LISTEN is a model decision, separate from these paths.</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Explicit response.cancel</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Client command enters the session cancellation handler.</a:t>
            </a:r>
          </a:p>
          <a:p>
            <a:pPr algn="l">
              <a:lnSpc>
                <a:spcPct val="110000"/>
              </a:lnSpc>
              <a:spcAft>
                <a:spcPts val="0"/>
              </a:spcAft>
            </a:pPr>
            <a:r>
              <a:rPr sz="1200" b="0">
                <a:solidFill>
                  <a:srgbClr val="142B45"/>
                </a:solidFill>
                <a:latin typeface="Arial"/>
                <a:ea typeface="Arial"/>
                <a:cs typeface="Arial"/>
              </a:rPr>
              <a:t>Core cancellation stops the active generation.</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VAD-triggered interruption</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Speech onset activates the overlap policy.</a:t>
            </a:r>
          </a:p>
          <a:p>
            <a:pPr algn="l">
              <a:lnSpc>
                <a:spcPct val="110000"/>
              </a:lnSpc>
              <a:spcAft>
                <a:spcPts val="0"/>
              </a:spcAft>
            </a:pPr>
            <a:r>
              <a:rPr sz="1200" b="0">
                <a:solidFill>
                  <a:srgbClr val="142B45"/>
                </a:solidFill>
                <a:latin typeface="Arial"/>
                <a:ea typeface="Arial"/>
                <a:cs typeface="Arial"/>
              </a:rPr>
              <a:t>It reuses core cancellation; the client stops playback.</a:t>
            </a:r>
          </a:p>
        </p:txBody>
      </p:sp>
      <p:pic>
        <p:nvPicPr>
          <p:cNvPr id="117" name="Picture 116"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744968" y="1773936"/>
            <a:ext cx="438912" cy="384048"/>
          </a:xfrm>
          <a:prstGeom prst="rect">
            <a:avLst/>
          </a:prstGeom>
        </p:spPr>
      </p:pic>
      <p:pic>
        <p:nvPicPr>
          <p:cNvPr id="118" name="Picture 117"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247888" y="1773936"/>
            <a:ext cx="438912" cy="384048"/>
          </a:xfrm>
          <a:prstGeom prst="rect">
            <a:avLst/>
          </a:prstGeom>
        </p:spPr>
      </p:pic>
      <p:pic>
        <p:nvPicPr>
          <p:cNvPr id="119" name="Picture 118"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750808" y="1773936"/>
            <a:ext cx="438912" cy="384048"/>
          </a:xfrm>
          <a:prstGeom prst="rect">
            <a:avLst/>
          </a:prstGeom>
        </p:spPr>
      </p:pic>
      <p:pic>
        <p:nvPicPr>
          <p:cNvPr id="120" name="Picture 119"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253728" y="1773936"/>
            <a:ext cx="438912" cy="384048"/>
          </a:xfrm>
          <a:prstGeom prst="rect">
            <a:avLst/>
          </a:prstGeom>
        </p:spPr>
      </p:pic>
      <p:pic>
        <p:nvPicPr>
          <p:cNvPr id="121" name="Picture 120"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756648" y="1773936"/>
            <a:ext cx="438912" cy="384048"/>
          </a:xfrm>
          <a:prstGeom prst="rect">
            <a:avLst/>
          </a:prstGeom>
        </p:spPr>
      </p:pic>
      <p:pic>
        <p:nvPicPr>
          <p:cNvPr id="122" name="Picture 121"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259568" y="1773936"/>
            <a:ext cx="438912" cy="384048"/>
          </a:xfrm>
          <a:prstGeom prst="rect">
            <a:avLst/>
          </a:prstGeom>
        </p:spPr>
      </p:pic>
      <p:pic>
        <p:nvPicPr>
          <p:cNvPr id="123" name="Picture 122"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762488" y="1773936"/>
            <a:ext cx="438912" cy="384048"/>
          </a:xfrm>
          <a:prstGeom prst="rect">
            <a:avLst/>
          </a:prstGeom>
        </p:spPr>
      </p:pic>
      <p:sp>
        <p:nvSpPr>
          <p:cNvPr id="200" name="Camera"/>
          <p:cNvSpPr txBox="1"/>
          <p:nvPr/>
        </p:nvSpPr>
        <p:spPr>
          <a:xfrm>
            <a:off x="6537960" y="1847088"/>
            <a:ext cx="1115568" cy="228600"/>
          </a:xfrm>
          <a:prstGeom prst="rect">
            <a:avLst/>
          </a:prstGeom>
          <a:noFill/>
        </p:spPr>
        <p:txBody>
          <a:bodyPr wrap="square" lIns="0" rIns="0" tIns="0" bIns="0" anchor="t">
            <a:spAutoFit/>
          </a:bodyPr>
          <a:lstStyle/>
          <a:p>
            <a:pPr algn="l">
              <a:lnSpc>
                <a:spcPct val="110000"/>
              </a:lnSpc>
              <a:spcAft>
                <a:spcPts val="0"/>
              </a:spcAft>
            </a:pPr>
            <a:r>
              <a:rPr sz="1250" b="0">
                <a:solidFill>
                  <a:srgbClr val="AFCAE7"/>
                </a:solidFill>
                <a:latin typeface="Arial"/>
                <a:ea typeface="Arial"/>
                <a:cs typeface="Arial"/>
              </a:rPr>
              <a:t>Camera</a:t>
            </a:r>
          </a:p>
        </p:txBody>
      </p:sp>
      <p:sp>
        <p:nvSpPr>
          <p:cNvPr id="201" name="User speech"/>
          <p:cNvSpPr txBox="1"/>
          <p:nvPr/>
        </p:nvSpPr>
        <p:spPr>
          <a:xfrm>
            <a:off x="6537960" y="2267712"/>
            <a:ext cx="2377440" cy="228600"/>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User speech</a:t>
            </a:r>
          </a:p>
        </p:txBody>
      </p:sp>
      <p:sp>
        <p:nvSpPr>
          <p:cNvPr id="202" name="New speech"/>
          <p:cNvSpPr txBox="1"/>
          <p:nvPr/>
        </p:nvSpPr>
        <p:spPr>
          <a:xfrm>
            <a:off x="9171432" y="2267712"/>
            <a:ext cx="2103120" cy="228600"/>
          </a:xfrm>
          <a:prstGeom prst="rect">
            <a:avLst/>
          </a:prstGeom>
          <a:noFill/>
        </p:spPr>
        <p:txBody>
          <a:bodyPr wrap="square" lIns="0" rIns="0" tIns="0" bIns="0" anchor="t">
            <a:spAutoFit/>
          </a:bodyPr>
          <a:lstStyle/>
          <a:p>
            <a:pPr algn="l">
              <a:lnSpc>
                <a:spcPct val="110000"/>
              </a:lnSpc>
              <a:spcAft>
                <a:spcPts val="0"/>
              </a:spcAft>
            </a:pPr>
            <a:r>
              <a:rPr sz="1120" b="0">
                <a:solidFill>
                  <a:srgbClr val="FFCB78"/>
                </a:solidFill>
                <a:latin typeface="Arial"/>
                <a:ea typeface="Arial"/>
                <a:cs typeface="Arial"/>
              </a:rPr>
              <a:t>Barge-in: user speaks</a:t>
            </a:r>
          </a:p>
        </p:txBody>
      </p:sp>
      <p:sp>
        <p:nvSpPr>
          <p:cNvPr id="203" name="MiniCPM-o 4.5 · Native duplex"/>
          <p:cNvSpPr txBox="1"/>
          <p:nvPr/>
        </p:nvSpPr>
        <p:spPr>
          <a:xfrm>
            <a:off x="6537960" y="2871216"/>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MiniCPM-o 4.5 · Native duplex</a:t>
            </a:r>
          </a:p>
        </p:txBody>
      </p:sp>
      <p:sp>
        <p:nvSpPr>
          <p:cNvPr id="204" name="New input can change the ongoing reply."/>
          <p:cNvSpPr txBox="1"/>
          <p:nvPr/>
        </p:nvSpPr>
        <p:spPr>
          <a:xfrm>
            <a:off x="6537960" y="3447288"/>
            <a:ext cx="4736592" cy="219456"/>
          </a:xfrm>
          <a:prstGeom prst="rect">
            <a:avLst/>
          </a:prstGeom>
          <a:noFill/>
        </p:spPr>
        <p:txBody>
          <a:bodyPr wrap="square" lIns="0" rIns="0" tIns="0" bIns="0" anchor="t">
            <a:spAutoFit/>
          </a:bodyPr>
          <a:lstStyle/>
          <a:p>
            <a:pPr algn="l">
              <a:lnSpc>
                <a:spcPct val="110000"/>
              </a:lnSpc>
              <a:spcAft>
                <a:spcPts val="0"/>
              </a:spcAft>
            </a:pPr>
            <a:r>
              <a:rPr sz="1050" b="0">
                <a:solidFill>
                  <a:srgbClr val="AFCAE7"/>
                </a:solidFill>
                <a:latin typeface="Arial"/>
                <a:ea typeface="Arial"/>
                <a:cs typeface="Arial"/>
              </a:rPr>
              <a:t>Model chooses LISTEN / SPEAK; queued audio can finish.</a:t>
            </a:r>
          </a:p>
        </p:txBody>
      </p:sp>
      <p:sp>
        <p:nvSpPr>
          <p:cNvPr id="205" name="Qwen3-Omni + VAD · Turn-based"/>
          <p:cNvSpPr txBox="1"/>
          <p:nvPr/>
        </p:nvSpPr>
        <p:spPr>
          <a:xfrm>
            <a:off x="6537960" y="3721608"/>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Qwen3-Omni + VAD · Turn-based</a:t>
            </a:r>
          </a:p>
        </p:txBody>
      </p:sp>
      <p:sp>
        <p:nvSpPr>
          <p:cNvPr id="206" name="VAD stops the reply. Commit starts a new request."/>
          <p:cNvSpPr txBox="1"/>
          <p:nvPr/>
        </p:nvSpPr>
        <p:spPr>
          <a:xfrm>
            <a:off x="6537960" y="4489704"/>
            <a:ext cx="4773168" cy="210312"/>
          </a:xfrm>
          <a:prstGeom prst="rect">
            <a:avLst/>
          </a:prstGeom>
          <a:noFill/>
        </p:spPr>
        <p:txBody>
          <a:bodyPr wrap="square" lIns="0" rIns="0" tIns="0" bIns="0" anchor="t">
            <a:spAutoFit/>
          </a:bodyPr>
          <a:lstStyle/>
          <a:p>
            <a:pPr algn="l">
              <a:lnSpc>
                <a:spcPct val="110000"/>
              </a:lnSpc>
              <a:spcAft>
                <a:spcPts val="0"/>
              </a:spcAft>
            </a:pPr>
            <a:r>
              <a:rPr sz="1020" b="0">
                <a:solidFill>
                  <a:srgbClr val="AFCAE7"/>
                </a:solidFill>
                <a:latin typeface="Arial"/>
                <a:ea typeface="Arial"/>
                <a:cs typeface="Arial"/>
              </a:rPr>
              <a:t>Speech onset stops generation and playback. Silence triggers commit.</a:t>
            </a:r>
          </a:p>
        </p:txBody>
      </p:sp>
      <p:sp>
        <p:nvSpPr>
          <p:cNvPr id="207" name="VAD stop"/>
          <p:cNvSpPr txBox="1"/>
          <p:nvPr/>
        </p:nvSpPr>
        <p:spPr>
          <a:xfrm>
            <a:off x="8549640" y="4215384"/>
            <a:ext cx="1554480"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VAD-triggered interruption</a:t>
            </a:r>
          </a:p>
        </p:txBody>
      </p:sp>
      <p:sp>
        <p:nvSpPr>
          <p:cNvPr id="208" name="commit"/>
          <p:cNvSpPr txBox="1"/>
          <p:nvPr/>
        </p:nvSpPr>
        <p:spPr>
          <a:xfrm>
            <a:off x="10131552" y="4215384"/>
            <a:ext cx="950976"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 commit</a:t>
            </a:r>
          </a:p>
        </p:txBody>
      </p:sp>
      <p:cxnSp>
        <p:nvCxnSpPr>
          <p:cNvPr id="300" name="Audio timeline"/>
          <p:cNvCxnSpPr/>
          <p:nvPr/>
        </p:nvCxnSpPr>
        <p:spPr>
          <a:xfrm>
            <a:off x="6547104" y="2642616"/>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1" name="Audio timeline"/>
          <p:cNvCxnSpPr/>
          <p:nvPr/>
        </p:nvCxnSpPr>
        <p:spPr>
          <a:xfrm>
            <a:off x="6547104" y="3246120"/>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2" name="Audio timeline"/>
          <p:cNvCxnSpPr/>
          <p:nvPr/>
        </p:nvCxnSpPr>
        <p:spPr>
          <a:xfrm>
            <a:off x="6547104" y="4096512"/>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303" name="Initial user utterance"/>
          <p:cNvSpPr/>
          <p:nvPr/>
        </p:nvSpPr>
        <p:spPr>
          <a:xfrm>
            <a:off x="6611112"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Initial user utterance"/>
          <p:cNvSpPr/>
          <p:nvPr/>
        </p:nvSpPr>
        <p:spPr>
          <a:xfrm>
            <a:off x="6688029"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5" name="Initial user utterance"/>
          <p:cNvSpPr/>
          <p:nvPr/>
        </p:nvSpPr>
        <p:spPr>
          <a:xfrm>
            <a:off x="6764946"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6" name="Initial user utterance"/>
          <p:cNvSpPr/>
          <p:nvPr/>
        </p:nvSpPr>
        <p:spPr>
          <a:xfrm>
            <a:off x="6841864"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7" name="Initial user utterance"/>
          <p:cNvSpPr/>
          <p:nvPr/>
        </p:nvSpPr>
        <p:spPr>
          <a:xfrm>
            <a:off x="6918781"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Initial user utterance"/>
          <p:cNvSpPr/>
          <p:nvPr/>
        </p:nvSpPr>
        <p:spPr>
          <a:xfrm>
            <a:off x="699569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Initial user utterance"/>
          <p:cNvSpPr/>
          <p:nvPr/>
        </p:nvSpPr>
        <p:spPr>
          <a:xfrm>
            <a:off x="707261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Initial user utterance"/>
          <p:cNvSpPr/>
          <p:nvPr/>
        </p:nvSpPr>
        <p:spPr>
          <a:xfrm>
            <a:off x="714953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1" name="Initial user utterance"/>
          <p:cNvSpPr/>
          <p:nvPr/>
        </p:nvSpPr>
        <p:spPr>
          <a:xfrm>
            <a:off x="7226449"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2" name="Initial user utterance"/>
          <p:cNvSpPr/>
          <p:nvPr/>
        </p:nvSpPr>
        <p:spPr>
          <a:xfrm>
            <a:off x="7303367"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3" name="Initial user utterance"/>
          <p:cNvSpPr/>
          <p:nvPr/>
        </p:nvSpPr>
        <p:spPr>
          <a:xfrm>
            <a:off x="7380284"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Initial user utterance"/>
          <p:cNvSpPr/>
          <p:nvPr/>
        </p:nvSpPr>
        <p:spPr>
          <a:xfrm>
            <a:off x="7457201"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Initial user utterance"/>
          <p:cNvSpPr/>
          <p:nvPr/>
        </p:nvSpPr>
        <p:spPr>
          <a:xfrm>
            <a:off x="7534118"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Initial user utterance"/>
          <p:cNvSpPr/>
          <p:nvPr/>
        </p:nvSpPr>
        <p:spPr>
          <a:xfrm>
            <a:off x="7611035"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7" name="Initial user utterance"/>
          <p:cNvSpPr/>
          <p:nvPr/>
        </p:nvSpPr>
        <p:spPr>
          <a:xfrm>
            <a:off x="768795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Initial user utterance"/>
          <p:cNvSpPr/>
          <p:nvPr/>
        </p:nvSpPr>
        <p:spPr>
          <a:xfrm>
            <a:off x="7764870"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Initial user utterance"/>
          <p:cNvSpPr/>
          <p:nvPr/>
        </p:nvSpPr>
        <p:spPr>
          <a:xfrm>
            <a:off x="7841787"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Initial user utterance"/>
          <p:cNvSpPr/>
          <p:nvPr/>
        </p:nvSpPr>
        <p:spPr>
          <a:xfrm>
            <a:off x="7918704"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User adds information"/>
          <p:cNvSpPr/>
          <p:nvPr/>
        </p:nvSpPr>
        <p:spPr>
          <a:xfrm>
            <a:off x="9180576"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User adds information"/>
          <p:cNvSpPr/>
          <p:nvPr/>
        </p:nvSpPr>
        <p:spPr>
          <a:xfrm>
            <a:off x="9255442"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User adds information"/>
          <p:cNvSpPr/>
          <p:nvPr/>
        </p:nvSpPr>
        <p:spPr>
          <a:xfrm>
            <a:off x="9330309"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User adds information"/>
          <p:cNvSpPr/>
          <p:nvPr/>
        </p:nvSpPr>
        <p:spPr>
          <a:xfrm>
            <a:off x="9405176"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User adds information"/>
          <p:cNvSpPr/>
          <p:nvPr/>
        </p:nvSpPr>
        <p:spPr>
          <a:xfrm>
            <a:off x="948004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User adds information"/>
          <p:cNvSpPr/>
          <p:nvPr/>
        </p:nvSpPr>
        <p:spPr>
          <a:xfrm>
            <a:off x="955490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7" name="User adds information"/>
          <p:cNvSpPr/>
          <p:nvPr/>
        </p:nvSpPr>
        <p:spPr>
          <a:xfrm>
            <a:off x="962977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User adds information"/>
          <p:cNvSpPr/>
          <p:nvPr/>
        </p:nvSpPr>
        <p:spPr>
          <a:xfrm>
            <a:off x="970464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User adds information"/>
          <p:cNvSpPr/>
          <p:nvPr/>
        </p:nvSpPr>
        <p:spPr>
          <a:xfrm>
            <a:off x="9779508"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0" name="User adds information"/>
          <p:cNvSpPr/>
          <p:nvPr/>
        </p:nvSpPr>
        <p:spPr>
          <a:xfrm>
            <a:off x="9854374"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User adds information"/>
          <p:cNvSpPr/>
          <p:nvPr/>
        </p:nvSpPr>
        <p:spPr>
          <a:xfrm>
            <a:off x="9929241"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User adds information"/>
          <p:cNvSpPr/>
          <p:nvPr/>
        </p:nvSpPr>
        <p:spPr>
          <a:xfrm>
            <a:off x="10004107"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User adds information"/>
          <p:cNvSpPr/>
          <p:nvPr/>
        </p:nvSpPr>
        <p:spPr>
          <a:xfrm>
            <a:off x="10078974"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4" name="User adds information"/>
          <p:cNvSpPr/>
          <p:nvPr/>
        </p:nvSpPr>
        <p:spPr>
          <a:xfrm>
            <a:off x="10153840"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User adds information"/>
          <p:cNvSpPr/>
          <p:nvPr/>
        </p:nvSpPr>
        <p:spPr>
          <a:xfrm>
            <a:off x="10228707"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User adds information"/>
          <p:cNvSpPr/>
          <p:nvPr/>
        </p:nvSpPr>
        <p:spPr>
          <a:xfrm>
            <a:off x="10303574"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User adds information"/>
          <p:cNvSpPr/>
          <p:nvPr/>
        </p:nvSpPr>
        <p:spPr>
          <a:xfrm>
            <a:off x="10378440"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Turn response before VAD cancellation"/>
          <p:cNvSpPr/>
          <p:nvPr/>
        </p:nvSpPr>
        <p:spPr>
          <a:xfrm>
            <a:off x="8174736"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Turn response before VAD cancellation"/>
          <p:cNvSpPr/>
          <p:nvPr/>
        </p:nvSpPr>
        <p:spPr>
          <a:xfrm>
            <a:off x="8250501"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Turn response before VAD cancellation"/>
          <p:cNvSpPr/>
          <p:nvPr/>
        </p:nvSpPr>
        <p:spPr>
          <a:xfrm>
            <a:off x="8326265"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Turn response before VAD cancellation"/>
          <p:cNvSpPr/>
          <p:nvPr/>
        </p:nvSpPr>
        <p:spPr>
          <a:xfrm>
            <a:off x="8402030"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Turn response before VAD cancellation"/>
          <p:cNvSpPr/>
          <p:nvPr/>
        </p:nvSpPr>
        <p:spPr>
          <a:xfrm>
            <a:off x="8477794"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Turn response before VAD cancellation"/>
          <p:cNvSpPr/>
          <p:nvPr/>
        </p:nvSpPr>
        <p:spPr>
          <a:xfrm>
            <a:off x="8553559" y="4000500"/>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Turn response before VAD cancellation"/>
          <p:cNvSpPr/>
          <p:nvPr/>
        </p:nvSpPr>
        <p:spPr>
          <a:xfrm>
            <a:off x="8629323" y="3968496"/>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Turn response before VAD cancellation"/>
          <p:cNvSpPr/>
          <p:nvPr/>
        </p:nvSpPr>
        <p:spPr>
          <a:xfrm>
            <a:off x="8705088" y="4018788"/>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Turn response before VAD cancellation"/>
          <p:cNvSpPr/>
          <p:nvPr/>
        </p:nvSpPr>
        <p:spPr>
          <a:xfrm>
            <a:off x="8780853" y="3991356"/>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Turn response before VAD cancellation"/>
          <p:cNvSpPr/>
          <p:nvPr/>
        </p:nvSpPr>
        <p:spPr>
          <a:xfrm>
            <a:off x="8856617" y="4027932"/>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Turn response before VAD cancellation"/>
          <p:cNvSpPr/>
          <p:nvPr/>
        </p:nvSpPr>
        <p:spPr>
          <a:xfrm>
            <a:off x="8932382"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Turn response before VAD cancellation"/>
          <p:cNvSpPr/>
          <p:nvPr/>
        </p:nvSpPr>
        <p:spPr>
          <a:xfrm>
            <a:off x="9008146"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Turn response before VAD cancellation"/>
          <p:cNvSpPr/>
          <p:nvPr/>
        </p:nvSpPr>
        <p:spPr>
          <a:xfrm>
            <a:off x="9083911"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Turn response before VAD cancellation"/>
          <p:cNvSpPr/>
          <p:nvPr/>
        </p:nvSpPr>
        <p:spPr>
          <a:xfrm>
            <a:off x="9159675"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Turn response before VAD cancellation"/>
          <p:cNvSpPr/>
          <p:nvPr/>
        </p:nvSpPr>
        <p:spPr>
          <a:xfrm>
            <a:off x="9235440"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New request after commit"/>
          <p:cNvSpPr/>
          <p:nvPr/>
        </p:nvSpPr>
        <p:spPr>
          <a:xfrm>
            <a:off x="10808208"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New request after commit"/>
          <p:cNvSpPr/>
          <p:nvPr/>
        </p:nvSpPr>
        <p:spPr>
          <a:xfrm>
            <a:off x="10901934"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New request after commit"/>
          <p:cNvSpPr/>
          <p:nvPr/>
        </p:nvSpPr>
        <p:spPr>
          <a:xfrm>
            <a:off x="10995660"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New request after commit"/>
          <p:cNvSpPr/>
          <p:nvPr/>
        </p:nvSpPr>
        <p:spPr>
          <a:xfrm>
            <a:off x="11089386"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New request after commit"/>
          <p:cNvSpPr/>
          <p:nvPr/>
        </p:nvSpPr>
        <p:spPr>
          <a:xfrm>
            <a:off x="11183112"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83" name="New user speech alignment"/>
          <p:cNvCxnSpPr/>
          <p:nvPr/>
        </p:nvCxnSpPr>
        <p:spPr>
          <a:xfrm>
            <a:off x="9171432" y="2487168"/>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4" name="New user speech alignment"/>
          <p:cNvCxnSpPr/>
          <p:nvPr/>
        </p:nvCxnSpPr>
        <p:spPr>
          <a:xfrm>
            <a:off x="9171432" y="3090672"/>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5" name="New user speech alignment"/>
          <p:cNvCxnSpPr/>
          <p:nvPr/>
        </p:nvCxnSpPr>
        <p:spPr>
          <a:xfrm>
            <a:off x="9171432" y="3941064"/>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6" name="VAD cancels the old reply"/>
          <p:cNvCxnSpPr/>
          <p:nvPr/>
        </p:nvCxnSpPr>
        <p:spPr>
          <a:xfrm>
            <a:off x="9281160" y="3977640"/>
            <a:ext cx="0" cy="23774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cxnSp>
        <p:nvCxnSpPr>
          <p:cNvPr id="387" name="Commit after user speech and silence"/>
          <p:cNvCxnSpPr/>
          <p:nvPr/>
        </p:nvCxnSpPr>
        <p:spPr>
          <a:xfrm>
            <a:off x="10597896" y="3977640"/>
            <a:ext cx="0" cy="23774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450" name="Native model audio output"/>
          <p:cNvSpPr/>
          <p:nvPr/>
        </p:nvSpPr>
        <p:spPr>
          <a:xfrm>
            <a:off x="8174736"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Native model audio output"/>
          <p:cNvSpPr/>
          <p:nvPr/>
        </p:nvSpPr>
        <p:spPr>
          <a:xfrm>
            <a:off x="8250501"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2" name="Native model audio output"/>
          <p:cNvSpPr/>
          <p:nvPr/>
        </p:nvSpPr>
        <p:spPr>
          <a:xfrm>
            <a:off x="8326265"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3" name="Native model audio output"/>
          <p:cNvSpPr/>
          <p:nvPr/>
        </p:nvSpPr>
        <p:spPr>
          <a:xfrm>
            <a:off x="8402030"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Native model audio output"/>
          <p:cNvSpPr/>
          <p:nvPr/>
        </p:nvSpPr>
        <p:spPr>
          <a:xfrm>
            <a:off x="8477794"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5" name="Native model audio output"/>
          <p:cNvSpPr/>
          <p:nvPr/>
        </p:nvSpPr>
        <p:spPr>
          <a:xfrm>
            <a:off x="8553559" y="3150108"/>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6" name="Native model audio output"/>
          <p:cNvSpPr/>
          <p:nvPr/>
        </p:nvSpPr>
        <p:spPr>
          <a:xfrm>
            <a:off x="8629323" y="3118104"/>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7" name="Native model audio output"/>
          <p:cNvSpPr/>
          <p:nvPr/>
        </p:nvSpPr>
        <p:spPr>
          <a:xfrm>
            <a:off x="8705088" y="3168396"/>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8" name="Native model audio output"/>
          <p:cNvSpPr/>
          <p:nvPr/>
        </p:nvSpPr>
        <p:spPr>
          <a:xfrm>
            <a:off x="8780853" y="3140964"/>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9" name="Native model audio output"/>
          <p:cNvSpPr/>
          <p:nvPr/>
        </p:nvSpPr>
        <p:spPr>
          <a:xfrm>
            <a:off x="8856617" y="3177540"/>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0" name="Native model audio output"/>
          <p:cNvSpPr/>
          <p:nvPr/>
        </p:nvSpPr>
        <p:spPr>
          <a:xfrm>
            <a:off x="8932382"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1" name="Native model audio output"/>
          <p:cNvSpPr/>
          <p:nvPr/>
        </p:nvSpPr>
        <p:spPr>
          <a:xfrm>
            <a:off x="9008146"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2" name="Native model audio output"/>
          <p:cNvSpPr/>
          <p:nvPr/>
        </p:nvSpPr>
        <p:spPr>
          <a:xfrm>
            <a:off x="9083911"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3" name="Native model audio output"/>
          <p:cNvSpPr/>
          <p:nvPr/>
        </p:nvSpPr>
        <p:spPr>
          <a:xfrm>
            <a:off x="9159675"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4" name="Native model audio output"/>
          <p:cNvSpPr/>
          <p:nvPr/>
        </p:nvSpPr>
        <p:spPr>
          <a:xfrm>
            <a:off x="9235440"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5" name="Native model audio output"/>
          <p:cNvSpPr/>
          <p:nvPr/>
        </p:nvSpPr>
        <p:spPr>
          <a:xfrm>
            <a:off x="10808208"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6" name="Native model audio output"/>
          <p:cNvSpPr/>
          <p:nvPr/>
        </p:nvSpPr>
        <p:spPr>
          <a:xfrm>
            <a:off x="10901934"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7" name="Native model audio output"/>
          <p:cNvSpPr/>
          <p:nvPr/>
        </p:nvSpPr>
        <p:spPr>
          <a:xfrm>
            <a:off x="10995660"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8" name="Native model audio output"/>
          <p:cNvSpPr/>
          <p:nvPr/>
        </p:nvSpPr>
        <p:spPr>
          <a:xfrm>
            <a:off x="11089386"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9" name="Native model audio output"/>
          <p:cNvSpPr/>
          <p:nvPr/>
        </p:nvSpPr>
        <p:spPr>
          <a:xfrm>
            <a:off x="11183112"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0" name="Model chooses LISTEN"/>
          <p:cNvCxnSpPr/>
          <p:nvPr/>
        </p:nvCxnSpPr>
        <p:spPr>
          <a:xfrm>
            <a:off x="9281160" y="3127248"/>
            <a:ext cx="0" cy="23774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sp>
        <p:nvSpPr>
          <p:cNvPr id="491" name="Model LISTEN decision"/>
          <p:cNvSpPr txBox="1"/>
          <p:nvPr/>
        </p:nvSpPr>
        <p:spPr>
          <a:xfrm>
            <a:off x="9400032" y="3127248"/>
            <a:ext cx="1325880" cy="210312"/>
          </a:xfrm>
          <a:prstGeom prst="rect">
            <a:avLst/>
          </a:prstGeom>
          <a:noFill/>
        </p:spPr>
        <p:txBody>
          <a:bodyPr wrap="square" lIns="0" rIns="0" tIns="0" bIns="0" anchor="t">
            <a:spAutoFit/>
          </a:bodyPr>
          <a:lstStyle/>
          <a:p>
            <a:pPr algn="l">
              <a:lnSpc>
                <a:spcPct val="110000"/>
              </a:lnSpc>
              <a:spcAft>
                <a:spcPts val="0"/>
              </a:spcAft>
            </a:pPr>
            <a:r>
              <a:rPr sz="1050" b="0">
                <a:solidFill>
                  <a:srgbClr val="FFCB78"/>
                </a:solidFill>
                <a:latin typeface="Arial"/>
                <a:ea typeface="Arial"/>
                <a:cs typeface="Arial"/>
              </a:rPr>
              <a:t>Model: LISTEN</a:t>
            </a:r>
          </a:p>
        </p:txBody>
      </p:sp>
      <p:cxnSp>
        <p:nvCxnSpPr>
          <p:cNvPr id="492" name="First VAD commit after user speech and silence"/>
          <p:cNvCxnSpPr/>
          <p:nvPr/>
        </p:nvCxnSpPr>
        <p:spPr>
          <a:xfrm>
            <a:off x="8046720" y="3977640"/>
            <a:ext cx="0" cy="23774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493" name="First VAD commit label"/>
          <p:cNvSpPr txBox="1"/>
          <p:nvPr/>
        </p:nvSpPr>
        <p:spPr>
          <a:xfrm>
            <a:off x="7571232" y="4215384"/>
            <a:ext cx="950976"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 commit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OVERVIEW</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Agenda</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13</a:t>
            </a:r>
          </a:p>
        </p:txBody>
      </p:sp>
      <p:cxnSp>
        <p:nvCxnSpPr>
          <p:cNvPr id="501" name="Column separator"/>
          <p:cNvCxnSpPr/>
          <p:nvPr/>
        </p:nvCxnSpPr>
        <p:spPr>
          <a:xfrm>
            <a:off x="6099048" y="1984248"/>
            <a:ext cx="0" cy="3657600"/>
          </a:xfrm>
          <a:prstGeom prst="line">
            <a:avLst/>
          </a:prstGeom>
          <a:ln w="12700">
            <a:solidFill>
              <a:srgbClr val="D5E0ED"/>
            </a:solidFill>
          </a:ln>
        </p:spPr>
      </p:cxnSp>
      <p:sp>
        <p:nvSpPr>
          <p:cNvPr id="502" name="Main Presentation"/>
          <p:cNvSpPr/>
          <p:nvPr/>
        </p:nvSpPr>
        <p:spPr>
          <a:xfrm>
            <a:off x="731520" y="1993392"/>
            <a:ext cx="5010912" cy="438912"/>
          </a:xfrm>
          <a:prstGeom prst="rect">
            <a:avLst/>
          </a:prstGeom>
          <a:noFill/>
        </p:spPr>
        <p:txBody>
          <a:bodyPr wrap="square" lIns="0" rIns="0" tIns="0" bIns="0" anchor="t">
            <a:noAutofit/>
          </a:bodyPr>
          <a:lstStyle/>
          <a:p>
            <a:pPr algn="l">
              <a:lnSpc>
                <a:spcPct val="108000"/>
              </a:lnSpc>
              <a:spcAft>
                <a:spcPts val="0"/>
              </a:spcAft>
            </a:pPr>
            <a:r>
              <a:rPr sz="2300" b="1">
                <a:solidFill>
                  <a:srgbClr val="347FF0"/>
                </a:solidFill>
                <a:latin typeface="Arial"/>
                <a:ea typeface="Arial"/>
                <a:cs typeface="Arial"/>
              </a:rPr>
              <a:t>Main Presentation</a:t>
            </a:r>
          </a:p>
        </p:txBody>
      </p:sp>
      <p:cxnSp>
        <p:nvCxnSpPr>
          <p:cNvPr id="503" name="Section underline"/>
          <p:cNvCxnSpPr/>
          <p:nvPr/>
        </p:nvCxnSpPr>
        <p:spPr>
          <a:xfrm>
            <a:off x="731520" y="2542032"/>
            <a:ext cx="5001768" cy="0"/>
          </a:xfrm>
          <a:prstGeom prst="line">
            <a:avLst/>
          </a:prstGeom>
          <a:ln w="12700">
            <a:solidFill>
              <a:srgbClr val="A7BAD0"/>
            </a:solidFill>
          </a:ln>
        </p:spPr>
      </p:cxnSp>
      <p:sp>
        <p:nvSpPr>
          <p:cNvPr id="504" name="Duplex Interaction &amp; Models"/>
          <p:cNvSpPr/>
          <p:nvPr/>
        </p:nvSpPr>
        <p:spPr>
          <a:xfrm>
            <a:off x="731520" y="285292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Duplex Interaction &amp; Models</a:t>
            </a:r>
          </a:p>
        </p:txBody>
      </p:sp>
      <p:sp>
        <p:nvSpPr>
          <p:cNvPr id="505" name="Unified Architecture &amp; Workflow"/>
          <p:cNvSpPr/>
          <p:nvPr/>
        </p:nvSpPr>
        <p:spPr>
          <a:xfrm>
            <a:off x="731520" y="358444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Unified Architecture &amp; Workflow</a:t>
            </a:r>
          </a:p>
        </p:txBody>
      </p:sp>
      <p:sp>
        <p:nvSpPr>
          <p:cNvPr id="506" name="Performance Optimization &amp; Metrics"/>
          <p:cNvSpPr/>
          <p:nvPr/>
        </p:nvSpPr>
        <p:spPr>
          <a:xfrm>
            <a:off x="731520" y="431596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Performance Optimization &amp; Metrics</a:t>
            </a:r>
          </a:p>
        </p:txBody>
      </p:sp>
      <p:sp>
        <p:nvSpPr>
          <p:cNvPr id="507" name="Tool Calling &amp; Roadmap"/>
          <p:cNvSpPr/>
          <p:nvPr/>
        </p:nvSpPr>
        <p:spPr>
          <a:xfrm>
            <a:off x="731520" y="504748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Tool Calling &amp; Roadmap</a:t>
            </a:r>
          </a:p>
        </p:txBody>
      </p:sp>
      <p:sp>
        <p:nvSpPr>
          <p:cNvPr id="508" name="Technical Appendix"/>
          <p:cNvSpPr/>
          <p:nvPr/>
        </p:nvSpPr>
        <p:spPr>
          <a:xfrm>
            <a:off x="6455664" y="1993392"/>
            <a:ext cx="5010912" cy="438912"/>
          </a:xfrm>
          <a:prstGeom prst="rect">
            <a:avLst/>
          </a:prstGeom>
          <a:noFill/>
        </p:spPr>
        <p:txBody>
          <a:bodyPr wrap="square" lIns="0" rIns="0" tIns="0" bIns="0" anchor="t">
            <a:noAutofit/>
          </a:bodyPr>
          <a:lstStyle/>
          <a:p>
            <a:pPr algn="l">
              <a:lnSpc>
                <a:spcPct val="108000"/>
              </a:lnSpc>
              <a:spcAft>
                <a:spcPts val="0"/>
              </a:spcAft>
            </a:pPr>
            <a:r>
              <a:rPr sz="2300" b="1">
                <a:solidFill>
                  <a:srgbClr val="008E96"/>
                </a:solidFill>
                <a:latin typeface="Arial"/>
                <a:ea typeface="Arial"/>
                <a:cs typeface="Arial"/>
              </a:rPr>
              <a:t>Technical Appendix</a:t>
            </a:r>
          </a:p>
        </p:txBody>
      </p:sp>
      <p:cxnSp>
        <p:nvCxnSpPr>
          <p:cNvPr id="509" name="Section underline"/>
          <p:cNvCxnSpPr/>
          <p:nvPr/>
        </p:nvCxnSpPr>
        <p:spPr>
          <a:xfrm>
            <a:off x="6455664" y="2542032"/>
            <a:ext cx="5001768" cy="0"/>
          </a:xfrm>
          <a:prstGeom prst="line">
            <a:avLst/>
          </a:prstGeom>
          <a:ln w="12700">
            <a:solidFill>
              <a:srgbClr val="A7BAD0"/>
            </a:solidFill>
          </a:ln>
        </p:spPr>
      </p:cxnSp>
      <p:sp>
        <p:nvSpPr>
          <p:cNvPr id="510" name="Architecture &amp; Execution Details"/>
          <p:cNvSpPr/>
          <p:nvPr/>
        </p:nvSpPr>
        <p:spPr>
          <a:xfrm>
            <a:off x="6455664" y="285292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Architecture &amp; Execution Details</a:t>
            </a:r>
          </a:p>
        </p:txBody>
      </p:sp>
      <p:sp>
        <p:nvSpPr>
          <p:cNvPr id="511" name="VAD &amp; Interruption"/>
          <p:cNvSpPr/>
          <p:nvPr/>
        </p:nvSpPr>
        <p:spPr>
          <a:xfrm>
            <a:off x="6455664" y="358444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VAD &amp; Interruption</a:t>
            </a:r>
          </a:p>
        </p:txBody>
      </p:sp>
      <p:sp>
        <p:nvSpPr>
          <p:cNvPr id="512" name="Session Lifecycle &amp; Recovery"/>
          <p:cNvSpPr/>
          <p:nvPr/>
        </p:nvSpPr>
        <p:spPr>
          <a:xfrm>
            <a:off x="6455664" y="431596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Session Lifecycle &amp; Recovery</a:t>
            </a:r>
          </a:p>
        </p:txBody>
      </p:sp>
      <p:sp>
        <p:nvSpPr>
          <p:cNvPr id="513" name="Distributed Deployment"/>
          <p:cNvSpPr/>
          <p:nvPr/>
        </p:nvSpPr>
        <p:spPr>
          <a:xfrm>
            <a:off x="6455664" y="5047488"/>
            <a:ext cx="5029200" cy="585216"/>
          </a:xfrm>
          <a:prstGeom prst="rect">
            <a:avLst/>
          </a:prstGeom>
          <a:noFill/>
        </p:spPr>
        <p:txBody>
          <a:bodyPr wrap="square" lIns="0" rIns="0" tIns="0" bIns="0" anchor="t">
            <a:noAutofit/>
          </a:bodyPr>
          <a:lstStyle/>
          <a:p>
            <a:pPr algn="l">
              <a:lnSpc>
                <a:spcPct val="108000"/>
              </a:lnSpc>
              <a:spcAft>
                <a:spcPts val="0"/>
              </a:spcAft>
            </a:pPr>
            <a:r>
              <a:rPr sz="2050" b="1">
                <a:solidFill>
                  <a:srgbClr val="16304E"/>
                </a:solidFill>
                <a:latin typeface="Arial"/>
                <a:ea typeface="Arial"/>
                <a:cs typeface="Arial"/>
              </a:rPr>
              <a:t>Distributed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2026-10-10T01:10:45Z</dcterms:modified>
  <cp:category/>
</cp:coreProperties>
</file>