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85" r:id="rIdAgendaV71"/>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 Id="rIdAgendaV71"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单并发</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并发</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Noto Sans CJK SC"/>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Noto Sans CJK SC"/>
                  </a:defRPr>
                </a:pPr>
                <a:r>
                  <a:rPr lang="en-US" sz="105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050" baseline="0">
                <a:solidFill>
                  <a:srgbClr val="526985"/>
                </a:solidFill>
                <a:latin typeface="Noto Sans CJK SC"/>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Noto Sans CJK SC"/>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a:p>
            <a:r>
              <a:rPr lang="zh-CN">
                <a:latin typeface="Noto Sans CJK SC"/>
                <a:ea typeface="Noto Sans CJK SC"/>
                <a:cs typeface="Noto Sans CJK SC"/>
              </a:rPr>
              <a:t/>
            </a:r>
          </a:p>
          <a:p>
            <a:r>
              <a:rPr lang="zh-CN">
                <a:latin typeface="Noto Sans CJK SC"/>
                <a:ea typeface="Noto Sans CJK SC"/>
                <a:cs typeface="Noto Sans CJK SC"/>
              </a:rPr>
              <a:t>PR #7644 bounds each session output buffer and rejects cancelled audio before delivery. The client must still stop audio already received.</a:t>
            </a:r>
          </a:p>
          <a:p>
            <a:r>
              <a:rPr lang="zh-CN">
                <a:latin typeface="Noto Sans CJK SC"/>
                <a:ea typeface="Noto Sans CJK SC"/>
                <a:cs typeface="Noto Sans CJK SC"/>
              </a:rP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讲解顺序：先看左侧半双工，再看右侧全双工，最后看下方能力对比。</a:t>
            </a:r>
          </a:p>
          <a:p>
            <a:r>
              <a:t>半双工示例按用户发言、助手回应交替进行。全双工示例展示助手发言时用户继续输入，模型可结合后续输入调整输出或让出话语权。共有能力是文本和音频的流式输出；这不是全双工独有能力。</a:t>
            </a:r>
          </a:p>
          <a:p>
            <a:r>
              <a:t>本页比较交互体验，不把所有 turn-based execution 一概等同于半双工。Qwen3-Omni + VAD 的会话可在播放期间接收输入，后续由 VAD 与 commit 驱动新请求；模型级持续输入与控制机制在 A2 展开。</a:t>
            </a:r>
          </a:p>
          <a:p>
            <a:r>
              <a:t>时间线只是说明先后关系和输入输出重叠，不表示真实延迟或模型性能排名。摄像头轨道代表具备相应视觉输入能力的示例，并非所有模型都支持视频。</a:t>
            </a:r>
          </a:p>
          <a:p>
            <a:r>
              <a:t/>
            </a:r>
          </a:p>
          <a:p>
            <a:r>
              <a:t>Technical detail and source references</a:t>
            </a:r>
          </a:p>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https://github.com/vllm-project/vllm-omni/blob/4c5541cfc17143f80bdb89bbb7a5840b08bb52c6/examples/online_serving/realtime_web/app/static/profiles/aura_ptt.js</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10/13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https://github.com/vllm-project/vllm-omni/blob/4c5541cfc17143f80bdb89bbb7a5840b08bb52c6/vllm_omni/entrypoints/duplex_omni.py</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讲解顺序：每次看一行，依次说明输入、Stage、箭头上的数据，以及右侧保留的状态。S0、S1 等编号属于各模型自己的 pipeline。</a:t>
            </a:r>
          </a:p>
          <a:p>
            <a:r>
              <a:t>PersonaPlex：PCM 音频输入，Stage 0 内部包含 Mimi encoder、Temporal Transformer 和 Depformer；Stage 间传助手侧 8 组 audio codebooks，经时间对齐后送至 Stage 1 的 Mimi decoder，输出 PCM。encoder 不是第三个 Stage，也不在 API Server 或 Orchestrator 中执行。80 ms 是模型音频帧时长，不是端到端延迟。Stage 0 保留 KV 与 encoder state，Stage 1 保留 decoder state。</a:t>
            </a:r>
          </a:p>
          <a:p>
            <a:r>
              <a:t>MiniCPM-o 4.5：S0 多模态 LLM 处理音频与视频；SPEAK 将文本与模型特征送至 Talker，再以 audio tokens 送至 Code2Wav。LISTEN 保留活跃请求。后续 native 输入续用 LLM KV 与流式音频状态，并受配置的窗口策略管理。TTS 与解码状态用于语音生成请求，不能扩大为所有下游状态始终跨整个会话保留。</a:t>
            </a:r>
          </a:p>
          <a:p>
            <a:r>
              <a:t>AURA：ASR → Thinker → Talker → Code2Wav。ASR 输出文本，Thinker 结合文本、视频和历史生成回复文本；语音阶段生成 tokens 并解码为音频。按上下文策略保留 ASR 文本、视频片段和助手文本，每个 commit 启动新生成请求。Thinker 完成后，下一轮可开始，而上一轮语音合成仍可继续。</a:t>
            </a:r>
          </a:p>
          <a:p>
            <a:r>
              <a:t>Qwen3-Omni：Thinker → Talker → Code2Wav，没有单独的 ASR Stage。Thinker 接收用户音频、图像帧和上下文，其文本及模型特征供 Talker 使用。后续 turn 复用用户音频、图像帧和对话文本等历史，在 commit 后构建新请求。</a:t>
            </a:r>
          </a:p>
          <a:p>
            <a:r>
              <a:t>右列区分跨 native 输入续用的计算状态，以及跨 turn 复用的会话历史。turn-based 模型在单个回复内也可保留流式解码状态。Stage 是一个模型计算阶段；Replica 是 Stage 的执行实例；一个 Stage 可以包含多个内部模块。</a:t>
            </a:r>
          </a:p>
          <a:p>
            <a:r>
              <a:t>四种模型都使用 PCM 音频。MiniCPM 官方 Web demo 使用 16 kHz pcm16 输入，Python preset 默认 24 kHz pcm16 输出；PersonaPlex preset 使用 24 kHz pcm_f32le 输入与 24 kHz pcm16 输出。AURA Web 使用 16 kHz pcm16，Qwen3 turn Web 使用 24 kHz PCM，插件侧消费归一化后的 16 kHz pcm_f32le。PCM 格式与 native / turn-based 执行方式属于不同维度。</a:t>
            </a:r>
          </a:p>
          <a:p>
            <a:r>
              <a:t/>
            </a:r>
          </a:p>
          <a:p>
            <a:r>
              <a:t>Technical detail and source references</a:t>
            </a:r>
          </a:p>
          <a:p>
            <a:r>
              <a:t>Presenter flow for 08/13</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https://github.com/vllm-project/vllm-omni/blob/4c5541cfc17143f80bdb89bbb7a5840b08bb52c6/vllm_omni/clients/duplex.py</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https://github.com/vllm-project/vllm-omni/blob/712b90de9c7bc14c595b363401588a713a87c02d/vllm_omni/model_executor/models/nemotron_voicechat/duplex/capabilities.py</a:t>
            </a:r>
          </a:p>
          <a:p>
            <a:r>
              <a:rPr lang="zh-CN">
                <a:latin typeface="Noto Sans CJK SC"/>
                <a:ea typeface="Noto Sans CJK SC"/>
                <a:cs typeface="Noto Sans CJK SC"/>
              </a:rPr>
              <a:t>https://github.com/vllm-project/vllm-omni/blob/712b90de9c7bc14c595b363401588a713a87c02d/vllm_omni/clients/duplex.py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单并发与 8 并发曲线使用同配置的 H100 Seed-TTS 测试记录，覆盖 2026 年 9 月 9 日至 10 月 8 日。</a:t>
            </a:r>
          </a:p>
          <a:p>
            <a:r>
              <a:t>9 月 16、17 日没有匹配配置的记录。虚线仅连接两侧真实测量点，表示缺测区间；原始数据、真实点数量和嵌入 Excel 中的空单元格都不变。</a:t>
            </a:r>
          </a:p>
          <a:p>
            <a:r>
              <a:t>Audio RTF 是每个请求的音频生成耗时除以输出音频时长，再取平均，越低越好。这是 Chat Completions 语音生成测试，不是连续音视频 native duplex 会话测试。趋势与左侧优化方法并列展示，不把时间变化归因于某一个独立优化。</a:t>
            </a:r>
          </a:p>
          <a:p>
            <a:r>
              <a:t/>
            </a:r>
          </a:p>
          <a:p>
            <a:r>
              <a:t>Technical detail and source references</a:t>
            </a:r>
          </a:p>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https://github.com/vllm-project/vllm-omni/blob/4c5541cfc17143f80bdb89bbb7a5840b08bb52c6/vllm_omni/benchmarks/duplex_session_metrics.py</a:t>
            </a:r>
          </a:p>
          <a:p>
            <a:r>
              <a:rPr lang="zh-CN">
                <a:latin typeface="Noto Sans CJK SC"/>
                <a:ea typeface="Noto Sans CJK SC"/>
                <a:cs typeface="Noto Sans CJK SC"/>
              </a:rPr>
              <a:t>https://github.com/vllm-project/vllm-omni/blob/4c5541cfc17143f80bdb89bbb7a5840b08bb52c6/vllm_omni/benchmarks/omniinteract.py</a:t>
            </a:r>
          </a:p>
          <a:p>
            <a:r>
              <a:rPr lang="zh-CN">
                <a:latin typeface="Noto Sans CJK SC"/>
                <a:ea typeface="Noto Sans CJK SC"/>
                <a:cs typeface="Noto Sans CJK SC"/>
              </a:rPr>
              <a:t>https://github.com/vllm-project/vllm-omni/blob/4c5541cfc17143f80bdb89bbb7a5840b08bb52c6/vllm_omni/benchmarks/duplex/omni_duplex_eval_metrics.py</a:t>
            </a:r>
          </a:p>
          <a:p>
            <a:r>
              <a:rPr lang="zh-CN">
                <a:latin typeface="Noto Sans CJK SC"/>
                <a:ea typeface="Noto Sans CJK SC"/>
                <a:cs typeface="Noto Sans CJK SC"/>
              </a:rPr>
              <a:t>https://github.com/vllm-project/vllm-omni/blob/712b90de9c7bc14c595b363401588a713a87c02d/vllm_omni/benchmarks/omniinteract.py</a:t>
            </a:r>
          </a:p>
          <a:p>
            <a:r>
              <a:rPr lang="zh-CN">
                <a:latin typeface="Noto Sans CJK SC"/>
                <a:ea typeface="Noto Sans CJK SC"/>
                <a:cs typeface="Noto Sans CJK SC"/>
              </a:rPr>
              <a:t>https://github.com/vllm-project/vllm-omni/blob/712b90de9c7bc14c595b363401588a713a87c02d/vllm_omni/benchmarks/omniinteract_eval.py</a:t>
            </a:r>
          </a:p>
          <a:p>
            <a:r>
              <a:rPr lang="zh-CN">
                <a:latin typeface="Noto Sans CJK SC"/>
                <a:ea typeface="Noto Sans CJK SC"/>
                <a:cs typeface="Noto Sans CJK SC"/>
              </a:rPr>
              <a:t>https://github.com/vllm-project/vllm-omni/blob/712b90de9c7bc14c595b363401588a713a87c02d/vllm_omni/benchmarks/duplex/omni_duplex_eval_runner.py</a:t>
            </a:r>
          </a:p>
          <a:p>
            <a:r>
              <a:rPr lang="zh-CN">
                <a:latin typeface="Noto Sans CJK SC"/>
                <a:ea typeface="Noto Sans CJK SC"/>
                <a:cs typeface="Noto Sans CJK SC"/>
              </a:rPr>
              <a:t>https://github.com/vllm-project/vllm-omni/blob/712b90de9c7bc14c595b363401588a713a87c02d/vllm_omni/benchmarks/duplex/omni_duplex_eval_metrics.py</a:t>
            </a:r>
          </a:p>
          <a:p>
            <a:r>
              <a:rPr lang="zh-CN">
                <a:latin typeface="Noto Sans CJK SC"/>
                <a:ea typeface="Noto Sans CJK SC"/>
                <a:cs typeface="Noto Sans CJK SC"/>
              </a:rP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https://github.com/vllm-project/vllm-omni/blob/4c5541cfc17143f80bdb89bbb7a5840b08bb52c6/vllm_omni/entrypoints/openai/realtime/session.py</a:t>
            </a:r>
          </a:p>
          <a:p>
            <a:r>
              <a:rPr lang="zh-CN">
                <a:latin typeface="Noto Sans CJK SC"/>
                <a:ea typeface="Noto Sans CJK SC"/>
                <a:cs typeface="Noto Sans CJK SC"/>
              </a:rPr>
              <a:t>https://github.com/vllm-project/vllm-omni/blob/4c5541cfc17143f80bdb89bbb7a5840b08bb52c6/vllm_omni/model_executor/models/nemotron_voicechat/duplex/plugin.py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https://github.com/vllm-project/vllm-omni/blob/d5a3380103df2fc827f095c60dbfb6e1c5655fd3/vllm_omni/entrypoints/openai/realtime/connection.py#L870-L940</a:t>
            </a:r>
          </a:p>
          <a:p>
            <a:r>
              <a:rPr lang="zh-CN">
                <a:latin typeface="Noto Sans CJK SC"/>
                <a:ea typeface="Noto Sans CJK SC"/>
                <a:cs typeface="Noto Sans CJK SC"/>
              </a:rPr>
              <a:t>https://github.com/vllm-project/vllm-omni/blob/d5a3380103df2fc827f095c60dbfb6e1c5655fd3/vllm_omni/entrypoints/openai/realtime/connection.py#L1655-L1678</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https://github.com/vllm-project/vllm-omni/blob/d5a3380103df2fc827f095c60dbfb6e1c5655fd3/vllm_omni/model_executor/models/nemotron_voicechat/duplex/plugin.py#L108-L147</a:t>
            </a:r>
          </a:p>
          <a:p>
            <a:r>
              <a:rPr lang="zh-CN">
                <a:latin typeface="Noto Sans CJK SC"/>
                <a:ea typeface="Noto Sans CJK SC"/>
                <a:cs typeface="Noto Sans CJK SC"/>
              </a:rPr>
              <a:t>https://github.com/vllm-project/vllm-omni/blob/d5a3380103df2fc827f095c60dbfb6e1c5655fd3/vllm_omni/model_executor/models/nemotron_voicechat/duplex/plugin.py#L430-L501</a:t>
            </a:r>
          </a:p>
          <a:p>
            <a:r>
              <a:rPr lang="zh-CN">
                <a:latin typeface="Noto Sans CJK SC"/>
                <a:ea typeface="Noto Sans CJK SC"/>
                <a:cs typeface="Noto Sans CJK SC"/>
              </a:rPr>
              <a:t>https://github.com/vllm-project/vllm-omni/blob/d5a3380103df2fc827f095c60dbfb6e1c5655fd3/vllm_omni/engine/duplex/realtime_events.py#L1080-L1126</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https://github.com/vllm-project/vllm-omni/blob/d5a3380103df2fc827f095c60dbfb6e1c5655fd3/vllm_omni/engine/duplex/plugin.py#L513-L523</a:t>
            </a:r>
          </a:p>
          <a:p>
            <a:r>
              <a:rPr lang="zh-CN">
                <a:latin typeface="Noto Sans CJK SC"/>
                <a:ea typeface="Noto Sans CJK SC"/>
                <a:cs typeface="Noto Sans CJK SC"/>
              </a:rPr>
              <a:t>https://github.com/vllm-project/vllm-omni/blob/d5a3380103df2fc827f095c60dbfb6e1c5655fd3/vllm_omni/engine/duplex/session/control.py#L290-L327</a:t>
            </a:r>
          </a:p>
          <a:p>
            <a:r>
              <a:rPr lang="zh-CN">
                <a:latin typeface="Noto Sans CJK SC"/>
                <a:ea typeface="Noto Sans CJK SC"/>
                <a:cs typeface="Noto Sans CJK SC"/>
              </a:rP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https://github.com/vllm-project/vllm-omni/blob/4c5541cfc17143f80bdb89bbb7a5840b08bb52c6/vllm_omni/entrypoints/openai/api_server.py</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https://github.com/vllm-project/vllm-omni/blob/d5a3380103df2fc827f095c60dbfb6e1c5655fd3/vllm_omni/model_executor/models/nemotron_voicechat/duplex/plugin.py#L444-L501</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https://github.com/vllm-project/vllm-omni/blob/d5a3380103df2fc827f095c60dbfb6e1c5655fd3/vllm_omni/engine/duplex/turn_detection.py#L82-L99</a:t>
            </a:r>
          </a:p>
          <a:p>
            <a:r>
              <a:rPr lang="zh-CN">
                <a:latin typeface="Noto Sans CJK SC"/>
                <a:ea typeface="Noto Sans CJK SC"/>
                <a:cs typeface="Noto Sans CJK SC"/>
              </a:rPr>
              <a:t>https://github.com/vllm-project/vllm-omni/blob/d5a3380103df2fc827f095c60dbfb6e1c5655fd3/vllm_omni/engine/duplex/vad.py#L100-L108</a:t>
            </a:r>
          </a:p>
          <a:p>
            <a:r>
              <a:rPr lang="zh-CN">
                <a:latin typeface="Noto Sans CJK SC"/>
                <a:ea typeface="Noto Sans CJK SC"/>
                <a:cs typeface="Noto Sans CJK SC"/>
              </a:rPr>
              <a:t>https://github.com/vllm-project/vllm-omni/blob/d5a3380103df2fc827f095c60dbfb6e1c5655fd3/tests/engine/duplex/test_engine_session.py#L598-L608</a:t>
            </a:r>
          </a:p>
          <a:p>
            <a:r>
              <a:rPr lang="zh-CN">
                <a:latin typeface="Noto Sans CJK SC"/>
                <a:ea typeface="Noto Sans CJK SC"/>
                <a:cs typeface="Noto Sans CJK SC"/>
              </a:rPr>
              <a:t>https://github.com/vllm-project/vllm-omni/blob/d5a3380103df2fc827f095c60dbfb6e1c5655fd3/vllm_omni/benchmarks/omniinteract.py</a:t>
            </a:r>
          </a:p>
          <a:p>
            <a:r>
              <a:rPr lang="zh-CN">
                <a:latin typeface="Noto Sans CJK SC"/>
                <a:ea typeface="Noto Sans CJK SC"/>
                <a:cs typeface="Noto Sans CJK SC"/>
              </a:rPr>
              <a:t>https://github.com/vllm-project/vllm-omni/blob/d5a3380103df2fc827f095c60dbfb6e1c5655fd3/vllm_omni/benchmarks/omniinteract_eval.py</a:t>
            </a:r>
          </a:p>
          <a:p>
            <a:r>
              <a:rPr lang="zh-CN">
                <a:latin typeface="Noto Sans CJK SC"/>
                <a:ea typeface="Noto Sans CJK SC"/>
                <a:cs typeface="Noto Sans CJK SC"/>
              </a:rPr>
              <a:t>https://github.com/vllm-project/vllm-omni/blob/d5a3380103df2fc827f095c60dbfb6e1c5655fd3/vllm_omni/benchmarks/duplex/omni_duplex_eval_runner.py</a:t>
            </a:r>
          </a:p>
          <a:p>
            <a:r>
              <a:rPr lang="zh-CN">
                <a:latin typeface="Noto Sans CJK SC"/>
                <a:ea typeface="Noto Sans CJK SC"/>
                <a:cs typeface="Noto Sans CJK SC"/>
              </a:rPr>
              <a:t>https://github.com/vllm-project/vllm-omni/blob/d5a3380103df2fc827f095c60dbfb6e1c5655fd3/tests/e2e/accuracy/omni_duplex_eval/README.md</a:t>
            </a:r>
          </a:p>
          <a:p>
            <a:r>
              <a:rPr lang="zh-CN">
                <a:latin typeface="Noto Sans CJK SC"/>
                <a:ea typeface="Noto Sans CJK SC"/>
                <a:cs typeface="Noto Sans CJK SC"/>
              </a:rPr>
              <a:t>https://github.com/vllm-project/vllm-omni/blob/d5a3380103df2fc827f095c60dbfb6e1c5655fd3/vllm_omni/model_executor/models/minicpmo_4_5/duplex/window_kv.py</a:t>
            </a:r>
          </a:p>
          <a:p>
            <a:r>
              <a:rPr lang="zh-CN">
                <a:latin typeface="Noto Sans CJK SC"/>
                <a:ea typeface="Noto Sans CJK SC"/>
                <a:cs typeface="Noto Sans CJK SC"/>
              </a:rPr>
              <a:t>https://github.com/vllm-project/vllm-omni/blob/d5a3380103df2fc827f095c60dbfb6e1c5655fd3/vllm_omni/engine/stage_pool.py#L574-L609</a:t>
            </a:r>
          </a:p>
          <a:p>
            <a:r>
              <a:rPr lang="zh-CN">
                <a:latin typeface="Noto Sans CJK SC"/>
                <a:ea typeface="Noto Sans CJK SC"/>
                <a:cs typeface="Noto Sans CJK SC"/>
              </a:rPr>
              <a:t>https://github.com/vllm-project/vllm-omni/blob/d5a3380103df2fc827f095c60dbfb6e1c5655fd3/vllm_omni/engine/duplex_orchestrator.py#L393-L424</a:t>
            </a:r>
          </a:p>
          <a:p>
            <a:r>
              <a:rPr lang="zh-CN">
                <a:latin typeface="Noto Sans CJK SC"/>
                <a:ea typeface="Noto Sans CJK SC"/>
                <a:cs typeface="Noto Sans CJK SC"/>
              </a:rPr>
              <a:t>https://github.com/vllm-project/vllm-omni/blob/d5a3380103df2fc827f095c60dbfb6e1c5655fd3/vllm_omni/entrypoints/openai/api_server.py#L1880-L1895</a:t>
            </a:r>
          </a:p>
          <a:p>
            <a:r>
              <a:rPr lang="zh-CN">
                <a:latin typeface="Noto Sans CJK SC"/>
                <a:ea typeface="Noto Sans CJK SC"/>
                <a:cs typeface="Noto Sans CJK SC"/>
              </a:rPr>
              <a:t>https://github.com/vllm-project/vllm-omni/blob/d5a3380103df2fc827f095c60dbfb6e1c5655fd3/vllm_omni/model_executor/models/joyai_vl_interaction/pipeline.py</a:t>
            </a:r>
          </a:p>
          <a:p>
            <a:r>
              <a:rPr lang="zh-CN">
                <a:latin typeface="Noto Sans CJK SC"/>
                <a:ea typeface="Noto Sans CJK SC"/>
                <a:cs typeface="Noto Sans CJK SC"/>
              </a:rP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https://github.com/vllm-project/vllm-omni/blob/4c5541cfc17143f80bdb89bbb7a5840b08bb52c6/vllm_omni/deploy/personaplex.yaml</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https://github.com/vllm-project/vllm-omni/blob/712b90de9c7bc14c595b363401588a713a87c02d/vllm_omni/engine/duplex/session/engine_session.py</a:t>
            </a:r>
          </a:p>
          <a:p>
            <a:r>
              <a:rPr lang="zh-CN">
                <a:latin typeface="Noto Sans CJK SC"/>
                <a:ea typeface="Noto Sans CJK SC"/>
                <a:cs typeface="Noto Sans CJK SC"/>
              </a:rPr>
              <a:t>https://github.com/vllm-project/vllm-omni/blob/712b90de9c7bc14c595b363401588a713a87c02d/vllm_omni/engine/duplex/plugin.py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https://github.com/vllm-project/vllm-omni/blob/4c5541cfc17143f80bdb89bbb7a5840b08bb52c6/vllm_omni/engine/duplex/vad.py</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https://github.com/pipecat-ai/smart-turn</a:t>
            </a:r>
          </a:p>
          <a:p>
            <a:r>
              <a:rPr lang="zh-CN">
                <a:latin typeface="Noto Sans CJK SC"/>
                <a:ea typeface="Noto Sans CJK SC"/>
                <a:cs typeface="Noto Sans CJK SC"/>
              </a:rPr>
              <a:t>https://huggingface.co/pipecat-ai/smart-turn-v3.2</a:t>
            </a:r>
          </a:p>
          <a:p>
            <a:r>
              <a:rPr lang="zh-CN">
                <a:latin typeface="Noto Sans CJK SC"/>
                <a:ea typeface="Noto Sans CJK SC"/>
                <a:cs typeface="Noto Sans CJK SC"/>
              </a:rPr>
              <a:t>https://docs.livekit.io/agents/logic/turns/turn-detector/</a:t>
            </a:r>
          </a:p>
          <a:p>
            <a:r>
              <a:rPr lang="zh-CN">
                <a:latin typeface="Noto Sans CJK SC"/>
                <a:ea typeface="Noto Sans CJK SC"/>
                <a:cs typeface="Noto Sans CJK SC"/>
              </a:rPr>
              <a:t>https://developers.openai.com/api/docs/guides/realtime-vad</a:t>
            </a:r>
          </a:p>
          <a:p>
            <a:r>
              <a:rPr lang="zh-CN">
                <a:latin typeface="Noto Sans CJK SC"/>
                <a:ea typeface="Noto Sans CJK SC"/>
                <a:cs typeface="Noto Sans CJK SC"/>
              </a:rPr>
              <a:t>https://github.com/vllm-project/vllm-omni/blob/712b90de9c7bc14c595b363401588a713a87c02d/vllm_omni/engine/duplex/turn_detection.py</a:t>
            </a:r>
          </a:p>
          <a:p>
            <a:r>
              <a:rPr lang="zh-CN">
                <a:latin typeface="Noto Sans CJK SC"/>
                <a:ea typeface="Noto Sans CJK SC"/>
                <a:cs typeface="Noto Sans CJK SC"/>
              </a:rPr>
              <a:t>https://github.com/vllm-project/vllm-omni/blob/712b90de9c7bc14c595b363401588a713a87c02d/vllm_omni/engine/duplex/vad.py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https://github.com/snakers4/silero-vad</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https://github.com/vllm-project/vllm-omni/blob/4c5541cfc17143f80bdb89bbb7a5840b08bb52c6/vllm_omni/config/stage_config.py</a:t>
            </a:r>
          </a:p>
          <a:p>
            <a:r>
              <a:rPr lang="zh-CN">
                <a:latin typeface="Noto Sans CJK SC"/>
                <a:ea typeface="Noto Sans CJK SC"/>
                <a:cs typeface="Noto Sans CJK SC"/>
              </a:rPr>
              <a:t>https://github.com/vllm-project/vllm-omni/blob/4c5541cfc17143f80bdb89bbb7a5840b08bb52c6/vllm_omni/engine/duplex/session/lease.py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本页承接体验对比，分别说明 MiniCPM 的模型决策路径和 Qwen3-Omni + VAD 的控制路径。</a:t>
            </a:r>
          </a:p>
          <a:p>
            <a:r>
              <a:t>MiniCPM 接收持续输入，由模型决定 LISTEN / SPEAK。LISTEN 不是 response.cancel，也不会清空客户端已排队的播放音频。时间线表示模型生成状态，已排队音频可能继续播放。</a:t>
            </a:r>
          </a:p>
          <a:p>
            <a:r>
              <a:t>Qwen3-Omni + VAD：首次用户语音结束并达到静音阈值后，VAD 自动 commit 并启动回复。播放期间用户再次发声，服务端按 overlap policy 取消当前生成，客户端停止并清理播放；这一段输入结束后再次 VAD commit，启动新的生成请求。</a:t>
            </a:r>
          </a:p>
          <a:p>
            <a:r>
              <a:t>显式 response.cancel 与 VAD 触发打断是两个入口。前者是客户端发送的 command，后者由服务端语音活动检测触发 overlap policy。二者复用底层取消逻辑，但 VAD 并不是发送了同一个 response.cancel 协议消息；输入缓冲的处理也可能不同。</a:t>
            </a:r>
          </a:p>
          <a:p>
            <a:r>
              <a:t>时间线对齐用于说明事件顺序，不比较实测延迟，不代表所有模型支持相同打断行为。</a:t>
            </a:r>
          </a:p>
          <a:p>
            <a:r>
              <a:t/>
            </a:r>
          </a:p>
          <a:p>
            <a:r>
              <a:t>Technical detail and source references</a:t>
            </a:r>
          </a:p>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正文依次介绍全双工背景、交互方式与模型，vLLM-Omni 统一架构和执行流程，性能优化和评测指标，以及工具调用和演进方向。技术附录进一步展开架构与执行路径、VAD 与打断机制、会话生命周期与恢复、跨机部署；参考代码位于附录末尾。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取消后丢弃待发音频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体验与交互方式"/>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500" name="从半双工到全双工交互"/>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Noto Sans CJK SC"/>
                <a:ea typeface="Noto Sans CJK SC"/>
                <a:cs typeface="Noto Sans CJK SC"/>
              </a:rPr>
              <a:t>从半双工到全双工交互</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半双工"/>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半双工</a:t>
            </a:r>
          </a:p>
        </p:txBody>
      </p:sp>
      <p:sp>
        <p:nvSpPr>
          <p:cNvPr id="503" name="轮流发言"/>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轮流发言</a:t>
            </a:r>
          </a:p>
        </p:txBody>
      </p:sp>
      <p:sp>
        <p:nvSpPr>
          <p:cNvPr id="504" name="摄像头"/>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05" name="用户"/>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06" name="助手"/>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全双工"/>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全双工</a:t>
            </a:r>
          </a:p>
        </p:txBody>
      </p:sp>
      <p:sp>
        <p:nvSpPr>
          <p:cNvPr id="511" name="边听边说"/>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边听边说</a:t>
            </a:r>
          </a:p>
        </p:txBody>
      </p:sp>
      <p:sp>
        <p:nvSpPr>
          <p:cNvPr id="512" name="摄像头"/>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13" name="用户"/>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14" name="助手"/>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用户插话"/>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Noto Sans CJK SC"/>
                <a:ea typeface="Noto Sans CJK SC"/>
                <a:cs typeface="Noto Sans CJK SC"/>
              </a:rPr>
              <a:t>用户插话</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共有能力：流式响应"/>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Noto Sans CJK SC"/>
                <a:ea typeface="Noto Sans CJK SC"/>
                <a:cs typeface="Noto Sans CJK SC"/>
              </a:rPr>
              <a:t>共有能力：流式响应</a:t>
            </a:r>
          </a:p>
        </p:txBody>
      </p:sp>
      <p:sp>
        <p:nvSpPr>
          <p:cNvPr id="633" name="两种模式都可增量输出文本与音频。"/>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Noto Sans CJK SC"/>
                <a:ea typeface="Noto Sans CJK SC"/>
                <a:cs typeface="Noto Sans CJK SC"/>
              </a:rPr>
              <a:t>两种模式都可增量输出文本与音频。</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输入输出并行"/>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Noto Sans CJK SC"/>
                <a:ea typeface="Noto Sans CJK SC"/>
                <a:cs typeface="Noto Sans CJK SC"/>
              </a:rPr>
              <a:t>输入输出并行</a:t>
            </a:r>
          </a:p>
        </p:txBody>
      </p:sp>
      <p:sp>
        <p:nvSpPr>
          <p:cNvPr id="638" name="助手回应期间， / 仍持续接收新输入。"/>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助手回应期间，</a:t>
            </a:r>
          </a:p>
          <a:p>
            <a:pPr algn="l">
              <a:lnSpc>
                <a:spcPct val="110000"/>
              </a:lnSpc>
              <a:spcAft>
                <a:spcPts val="0"/>
              </a:spcAft>
            </a:pPr>
            <a:r>
              <a:rPr sz="1400" b="0">
                <a:solidFill>
                  <a:srgbClr val="16304E"/>
                </a:solidFill>
                <a:latin typeface="Noto Sans CJK SC"/>
                <a:ea typeface="Noto Sans CJK SC"/>
                <a:cs typeface="Noto Sans CJK SC"/>
              </a:rPr>
              <a:t>仍持续接收新输入。</a:t>
            </a:r>
          </a:p>
        </p:txBody>
      </p:sp>
      <p:sp>
        <p:nvSpPr>
          <p:cNvPr id="639" name="实时交互调整"/>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Noto Sans CJK SC"/>
                <a:ea typeface="Noto Sans CJK SC"/>
                <a:cs typeface="Noto Sans CJK SC"/>
              </a:rPr>
              <a:t>实时交互调整</a:t>
            </a:r>
          </a:p>
        </p:txBody>
      </p:sp>
      <p:sp>
        <p:nvSpPr>
          <p:cNvPr id="640" name="native duplex 模型结合新输入， / 调整后续输出或让出话语权。"/>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native duplex 模型结合新输入，</a:t>
            </a:r>
          </a:p>
          <a:p>
            <a:pPr algn="l">
              <a:lnSpc>
                <a:spcPct val="110000"/>
              </a:lnSpc>
              <a:spcAft>
                <a:spcPts val="0"/>
              </a:spcAft>
            </a:pPr>
            <a:r>
              <a:rPr sz="1400" b="0">
                <a:solidFill>
                  <a:srgbClr val="16304E"/>
                </a:solidFill>
                <a:latin typeface="Noto Sans CJK SC"/>
                <a:ea typeface="Noto Sans CJK SC"/>
                <a:cs typeface="Noto Sans CJK SC"/>
              </a:rPr>
              <a:t>调整后续输出或让出话语权。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各模型的 demo 控制方式不同；Qwen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边生成语音，边处理用户语音</a:t>
            </a:r>
          </a:p>
          <a:p>
            <a:pPr algn="l">
              <a:lnSpc>
                <a:spcPct val="110000"/>
              </a:lnSpc>
              <a:spcAft>
                <a:spcPts val="0"/>
              </a:spcAft>
            </a:pPr>
            <a:r>
              <a:rPr sz="1180" b="0" lang="zh-CN">
                <a:solidFill>
                  <a:srgbClr val="142B45"/>
                </a:solidFill>
                <a:latin typeface="Noto Sans CJK SC"/>
                <a:ea typeface="Noto Sans CJK SC"/>
                <a:cs typeface="Noto Sans CJK SC"/>
              </a:rPr>
              <a:t>音色与角色设定在本次会话中保持不变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管理有界 output buffer，清理过期会话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 / 会话操作</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路由 command 与 event；Orchestrator 协调会话执行。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Stage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lang="zh-CN">
                <a:solidFill>
                  <a:srgbClr val="586B7E"/>
                </a:solidFill>
                <a:latin typeface="Noto Sans CJK SC"/>
                <a:ea typeface="Noto Sans CJK SC"/>
                <a:cs typeface="Noto Sans CJK SC"/>
              </a:rPr>
              <a:t>Scheduler · Worker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构造输入 → 提交 Stage 执行</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Native：追加到持续请求 · Turn-based：commit 后启动新请求 · 两种模式均可持续接收输入</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架构与执行流程"/>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架构与执行流程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10"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501" name="从实时输入到语音输出：Stage 与状态"/>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Noto Sans CJK SC"/>
                <a:ea typeface="Noto Sans CJK SC"/>
                <a:cs typeface="Noto Sans CJK SC"/>
              </a:rPr>
              <a:t>从实时输入到语音输出：Stage 与状态</a:t>
            </a:r>
          </a:p>
        </p:txBody>
      </p:sp>
      <p:sp>
        <p:nvSpPr>
          <p:cNvPr id="502" name="native duplex 续用计算状态；turn-based execution 根据历史构建新请求。"/>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Noto Sans CJK SC"/>
                <a:ea typeface="Noto Sans CJK SC"/>
                <a:cs typeface="Noto Sans CJK SC"/>
              </a:rPr>
              <a:t>native duplex 续用计算状态；turn-based execution 根据历史构建新请求。</a:t>
            </a:r>
          </a:p>
        </p:txBody>
      </p:sp>
      <p:sp>
        <p:nvSpPr>
          <p:cNvPr id="503" name="模型 / 输入"/>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模型 / 输入</a:t>
            </a:r>
          </a:p>
        </p:txBody>
      </p:sp>
      <p:sp>
        <p:nvSpPr>
          <p:cNvPr id="504" name="Stage → 语音输出"/>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Stage → 语音输出</a:t>
            </a:r>
          </a:p>
        </p:txBody>
      </p:sp>
      <p:sp>
        <p:nvSpPr>
          <p:cNvPr id="505" name="持续保留的内容"/>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Noto Sans CJK SC"/>
                <a:ea typeface="Noto Sans CJK SC"/>
                <a:cs typeface="Noto Sans CJK SC"/>
              </a:rPr>
              <a:t>持续保留的内容</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音频 · 80 ms / 帧"/>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80 ms / 帧</a:t>
            </a:r>
          </a:p>
        </p:txBody>
      </p:sp>
      <p:sp>
        <p:nvSpPr>
          <p:cNvPr id="512" name="计算状态"/>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13" name="S0：KV + Mimi encoder / S1：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S0：KV + Mimi encoder</a:t>
            </a:r>
          </a:p>
          <a:p>
            <a:pPr algn="l">
              <a:lnSpc>
                <a:spcPct val="108000"/>
              </a:lnSpc>
              <a:spcAft>
                <a:spcPts val="0"/>
              </a:spcAft>
            </a:pPr>
            <a:r>
              <a:rPr sz="1200" b="0">
                <a:solidFill>
                  <a:srgbClr val="16304E"/>
                </a:solidFill>
                <a:latin typeface="Arial"/>
                <a:ea typeface="Arial"/>
                <a:cs typeface="Arial"/>
              </a:rPr>
              <a:t>S1：Mimi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音频 + 视频"/>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0" name="计算状态"/>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21" name="S0：LLM KV + 音频状态 / LISTEN 保留活跃请求"/>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S0：LLM KV + 音频状态</a:t>
            </a:r>
          </a:p>
          <a:p>
            <a:pPr algn="l">
              <a:lnSpc>
                <a:spcPct val="108000"/>
              </a:lnSpc>
              <a:spcAft>
                <a:spcPts val="0"/>
              </a:spcAft>
            </a:pPr>
            <a:r>
              <a:rPr sz="1200" b="0">
                <a:solidFill>
                  <a:srgbClr val="16304E"/>
                </a:solidFill>
                <a:latin typeface="Noto Sans CJK SC"/>
                <a:ea typeface="Noto Sans CJK SC"/>
                <a:cs typeface="Noto Sans CJK SC"/>
              </a:rPr>
              <a:t>LISTEN 保留活跃请求</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音频 + 视频"/>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8" name="对话历史"/>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29" name="ASR 文本 + 视频片段 / + 助手文本"/>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ASR 文本 + 视频片段</a:t>
            </a:r>
          </a:p>
          <a:p>
            <a:pPr algn="l">
              <a:lnSpc>
                <a:spcPct val="108000"/>
              </a:lnSpc>
              <a:spcAft>
                <a:spcPts val="0"/>
              </a:spcAft>
            </a:pPr>
            <a:r>
              <a:rPr sz="1200" b="0">
                <a:solidFill>
                  <a:srgbClr val="16304E"/>
                </a:solidFill>
                <a:latin typeface="Noto Sans CJK SC"/>
                <a:ea typeface="Noto Sans CJK SC"/>
                <a:cs typeface="Noto Sans CJK SC"/>
              </a:rPr>
              <a:t>+ 助手文本</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音频 + 图像"/>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图像</a:t>
            </a:r>
          </a:p>
        </p:txBody>
      </p:sp>
      <p:sp>
        <p:nvSpPr>
          <p:cNvPr id="536" name="对话历史"/>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37" name="用户音频 + 图像 / + 对话文本"/>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用户音频 + 图像</a:t>
            </a:r>
          </a:p>
          <a:p>
            <a:pPr algn="l">
              <a:lnSpc>
                <a:spcPct val="108000"/>
              </a:lnSpc>
              <a:spcAft>
                <a:spcPts val="0"/>
              </a:spcAft>
            </a:pPr>
            <a:r>
              <a:rPr sz="1200" b="0">
                <a:solidFill>
                  <a:srgbClr val="16304E"/>
                </a:solidFill>
                <a:latin typeface="Noto Sans CJK SC"/>
                <a:ea typeface="Noto Sans CJK SC"/>
                <a:cs typeface="Noto Sans CJK SC"/>
              </a:rPr>
              <a:t>+ 对话文本</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编码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Mimi 编码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组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8 组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音频 + 视频"/>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视频</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生成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文本 + 特征"/>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SPEAK：文本 + 特征</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音频 → 文本"/>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文本</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文本 + 视频"/>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视频</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文本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文本"/>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文本"/>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音频 + 图像"/>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图像</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生成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文本 + 特征"/>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 + 特征</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音频波形   ·   Audio tokens = codec 编码   ·   KV = 模型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Noto Sans CJK SC"/>
                <a:ea typeface="Noto Sans CJK SC"/>
                <a:cs typeface="Noto Sans CJK SC"/>
              </a:rPr>
              <a:t>PCM = 音频波形   ·   Audio tokens = codec 编码   ·   KV = 模型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支持 session resume：MiniCPM-o 4.5、AURA、Qwen3-Omni 与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在 session 有效期间，重新连接到同一个仍存活的 API 进程。</a:t>
            </a:r>
          </a:p>
          <a:p>
            <a:pPr algn="l">
              <a:lnSpc>
                <a:spcPct val="110000"/>
              </a:lnSpc>
              <a:spcAft>
                <a:spcPts val="0"/>
              </a:spcAft>
            </a:pPr>
            <a:r>
              <a:rPr sz="1150" b="0" lang="zh-CN">
                <a:solidFill>
                  <a:srgbClr val="586B7E"/>
                </a:solidFill>
                <a:latin typeface="Noto Sans CJK SC"/>
                <a:ea typeface="Noto Sans CJK SC"/>
                <a:cs typeface="Noto Sans CJK SC"/>
              </a:rPr>
              <a:t>事件 replay 依赖保留窗口；进程重启后需新建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保存 session ID 与最新的 resume token；</a:t>
            </a:r>
          </a:p>
          <a:p>
            <a:pPr algn="l">
              <a:lnSpc>
                <a:spcPct val="110000"/>
              </a:lnSpc>
              <a:spcAft>
                <a:spcPts val="0"/>
              </a:spcAft>
            </a:pPr>
            <a:r>
              <a:rPr sz="1180" b="0" lang="zh-CN">
                <a:solidFill>
                  <a:srgbClr val="142B45"/>
                </a:solidFill>
                <a:latin typeface="Noto Sans CJK SC"/>
                <a:ea typeface="Noto Sans CJK SC"/>
                <a:cs typeface="Noto Sans CJK SC"/>
              </a:rPr>
              <a:t>Python WebSocket SDK 会管理这两项凭据。</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新连接的首条消息发送 session.resume；</a:t>
            </a:r>
          </a:p>
          <a:p>
            <a:pPr algn="l">
              <a:lnSpc>
                <a:spcPct val="110000"/>
              </a:lnSpc>
              <a:spcAft>
                <a:spcPts val="0"/>
              </a:spcAft>
            </a:pPr>
            <a:r>
              <a:rPr sz="1150" b="0" lang="zh-CN">
                <a:solidFill>
                  <a:srgbClr val="142B45"/>
                </a:solidFill>
                <a:latin typeface="Noto Sans CJK SC"/>
                <a:ea typeface="Noto Sans CJK SC"/>
                <a:cs typeface="Noto Sans CJK SC"/>
              </a:rPr>
              <a:t>保存 session.resumed 返回的新 token。</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提供最后接收的 event sequence。</a:t>
            </a:r>
          </a:p>
          <a:p>
            <a:pPr algn="l">
              <a:lnSpc>
                <a:spcPct val="110000"/>
              </a:lnSpc>
              <a:spcAft>
                <a:spcPts val="0"/>
              </a:spcAft>
            </a:pPr>
            <a:r>
              <a:rPr sz="1150" b="0" lang="zh-CN">
                <a:solidFill>
                  <a:srgbClr val="142B45"/>
                </a:solidFill>
                <a:latin typeface="Noto Sans CJK SC"/>
                <a:ea typeface="Noto Sans CJK SC"/>
                <a:cs typeface="Noto Sans CJK SC"/>
              </a:rPr>
              <a:t>若所需事件已缺失，则新建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保留解码状态，只处理新增的音频 chunk。</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Seed-TTS · 2026 年 9 月 9 日至 10 月 8 日；虚线跨越无同配置测试记录的日期。 / Audio RTF = 音频生成耗时 / 输出音频时长，按请求取平均。"/>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 2026 年 9 月 9 日至 10 月 8 日；虚线跨越无同配置测试记录的日期。</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结合 OmniInteract、Omni-DuplexEval 与延迟、流式输出指标，评估实时交互。</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输入流开始</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输入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输入 / 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首音频延迟</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Stream TTFP · p50 / p95</a:t>
            </a:r>
          </a:p>
          <a:p>
            <a:pPr algn="l">
              <a:lnSpc>
                <a:spcPct val="110000"/>
              </a:lnSpc>
              <a:spcAft>
                <a:spcPts val="0"/>
              </a:spcAft>
            </a:pPr>
            <a:r>
              <a:rPr sz="1030" b="0" lang="zh-CN">
                <a:solidFill>
                  <a:srgbClr val="21364E"/>
                </a:solidFill>
                <a:latin typeface="Noto Sans CJK SC"/>
                <a:ea typeface="Noto Sans CJK SC"/>
                <a:cs typeface="Noto Sans CJK SC"/>
              </a:rPr>
              <a:t>输入开始 → 收到首个音频包</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Response RTF · chunk 间隔</a:t>
            </a:r>
          </a:p>
          <a:p>
            <a:pPr algn="l">
              <a:lnSpc>
                <a:spcPct val="110000"/>
              </a:lnSpc>
              <a:spcAft>
                <a:spcPts val="0"/>
              </a:spcAft>
            </a:pPr>
            <a:r>
              <a:rPr sz="1030" b="0" lang="zh-CN">
                <a:solidFill>
                  <a:srgbClr val="21364E"/>
                </a:solidFill>
                <a:latin typeface="Noto Sans CJK SC"/>
                <a:ea typeface="Noto Sans CJK SC"/>
                <a:cs typeface="Noto Sans CJK SC"/>
              </a:rPr>
              <a:t>停顿与播放缓冲</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交互质量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何时回应 · 回应内容</a:t>
            </a:r>
          </a:p>
          <a:p>
            <a:pPr algn="l">
              <a:lnSpc>
                <a:spcPct val="110000"/>
              </a:lnSpc>
              <a:spcAft>
                <a:spcPts val="0"/>
              </a:spcAft>
            </a:pPr>
            <a:r>
              <a:rPr sz="1030" b="0" lang="zh-CN">
                <a:solidFill>
                  <a:srgbClr val="21364E"/>
                </a:solidFill>
                <a:latin typeface="Noto Sans CJK SC"/>
                <a:ea typeface="Noto Sans CJK SC"/>
                <a:cs typeface="Noto Sans CJK SC"/>
              </a:rPr>
              <a:t>音视频理解</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TTFP 衡量首包到达时间；真正何时开始回答，需结合交互测评判断。</a:t>
            </a:r>
          </a:p>
          <a:p>
            <a:pPr algn="l">
              <a:lnSpc>
                <a:spcPct val="110000"/>
              </a:lnSpc>
              <a:spcAft>
                <a:spcPts val="0"/>
              </a:spcAft>
            </a:pPr>
            <a:r>
              <a:rPr sz="1050" b="0" lang="zh-CN">
                <a:solidFill>
                  <a:srgbClr val="586B7E"/>
                </a:solidFill>
                <a:latin typeface="Noto Sans CJK SC"/>
                <a:ea typeface="Noto Sans CJK SC"/>
                <a:cs typeface="Noto Sans CJK SC"/>
              </a:rPr>
              <a:t>比较指标时需统一计时窗口；测评覆盖范围因模型而异。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基于已有工具调用路径，扩展更多模型在统一双工框架中的支持。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工具调用解析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 native duplex 中的工具调用与结果回填</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下一步：扩展统一双工工具调用支持</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框架提供公共处理逻辑，各模型通过 plugin 适配。</a:t>
                      </a:r>
                    </a:p>
                    <a:p>
                      <a:pPr>
                        <a:lnSpc>
                          <a:spcPct val="108000"/>
                        </a:lnSpc>
                        <a:spcAft>
                          <a:spcPts val="0"/>
                        </a:spcAft>
                      </a:pPr>
                      <a:r>
                        <a:rPr sz="1400" b="0" lang="zh-CN">
                          <a:solidFill>
                            <a:srgbClr val="16304E"/>
                          </a:solidFill>
                          <a:latin typeface="Noto Sans CJK SC"/>
                          <a:ea typeface="Noto Sans CJK SC"/>
                          <a:cs typeface="Noto Sans CJK SC"/>
                        </a:rPr>
                        <a:t>扩展 Qwen3-Omni unified duplex、AURA 与 JoyAI 的支持。</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扩展更多模型的工具调用支持</a:t>
            </a:r>
          </a:p>
          <a:p>
            <a:pPr algn="l">
              <a:lnSpc>
                <a:spcPct val="106000"/>
              </a:lnSpc>
              <a:spcAft>
                <a:spcPts val="0"/>
              </a:spcAft>
            </a:pPr>
            <a:r>
              <a:rPr sz="1400" b="0" lang="zh-CN">
                <a:solidFill>
                  <a:srgbClr val="586B7E"/>
                </a:solidFill>
                <a:latin typeface="Noto Sans CJK SC"/>
                <a:ea typeface="Noto Sans CJK SC"/>
                <a:cs typeface="Noto Sans CJK SC"/>
              </a:rPr>
              <a:t>处理打断、超时与迟到结果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扩展到多个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在现有 Stage replica 支持上继续扩展</a:t>
            </a:r>
          </a:p>
          <a:p>
            <a:pPr algn="l">
              <a:lnSpc>
                <a:spcPct val="106000"/>
              </a:lnSpc>
              <a:spcAft>
                <a:spcPts val="0"/>
              </a:spcAft>
            </a:pPr>
            <a:r>
              <a:rPr sz="1400" b="0" lang="zh-CN">
                <a:solidFill>
                  <a:srgbClr val="586B7E"/>
                </a:solidFill>
                <a:latin typeface="Noto Sans CJK SC"/>
                <a:ea typeface="Noto Sans CJK SC"/>
                <a:cs typeface="Noto Sans CJK SC"/>
              </a:rPr>
              <a:t>增加跨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同机 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检测停顿，再由 turn-end detector 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3"/>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可在静音后自动 commit。</a:t>
                      </a:r>
                    </a:p>
                    <a:p>
                      <a:pPr algn="l">
                        <a:lnSpc>
                          <a:spcPct val="106000"/>
                        </a:lnSpc>
                        <a:spcAft>
                          <a:spcPts val="0"/>
                        </a:spcAft>
                      </a:pPr>
                      <a:r>
                        <a:rPr sz="1420" b="0" lang="zh-CN">
                          <a:solidFill>
                            <a:srgbClr val="16304E"/>
                          </a:solidFill>
                          <a:latin typeface="Noto Sans CJK SC"/>
                          <a:ea typeface="Noto Sans CJK SC"/>
                          <a:cs typeface="Noto Sans CJK SC"/>
                        </a:rPr>
                        <a:t>按配置决定是否生成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轻量模型可在 CPU 上运行</a:t>
                      </a:r>
                    </a:p>
                    <a:p>
                      <a:pPr algn="l">
                        <a:lnSpc>
                          <a:spcPct val="106000"/>
                        </a:lnSpc>
                        <a:spcAft>
                          <a:spcPts val="0"/>
                        </a:spcAft>
                      </a:pPr>
                      <a:r>
                        <a:rPr sz="1420" b="0" lang="zh-CN">
                          <a:solidFill>
                            <a:srgbClr val="16304E"/>
                          </a:solidFill>
                          <a:latin typeface="Noto Sans CJK SC"/>
                          <a:ea typeface="Noto Sans CJK SC"/>
                          <a:cs typeface="Noto Sans CJK SC"/>
                        </a:rPr>
                        <a:t>较重模型：计划接入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Server VAD：Runner 执行 commit / cancel 策略；检测计算在其事件循环之外运行。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4"/>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终止生成，丢弃尚未发出的输出</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session ID + 最新 resume token</a:t>
            </a:r>
          </a:p>
          <a:p>
            <a:pPr algn="l">
              <a:lnSpc>
                <a:spcPct val="110000"/>
              </a:lnSpc>
              <a:spcAft>
                <a:spcPts val="0"/>
              </a:spcAft>
            </a:pPr>
            <a:r>
              <a:rPr sz="1200" b="0" lang="zh-CN">
                <a:solidFill>
                  <a:srgbClr val="21364E"/>
                </a:solidFill>
                <a:latin typeface="Noto Sans CJK SC"/>
                <a:ea typeface="Noto Sans CJK SC"/>
                <a:cs typeface="Noto Sans CJK SC"/>
              </a:rPr>
              <a:t>成功续接后 token 会更新</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最后接收的 event sequence</a:t>
            </a:r>
          </a:p>
          <a:p>
            <a:pPr algn="l">
              <a:lnSpc>
                <a:spcPct val="110000"/>
              </a:lnSpc>
              <a:spcAft>
                <a:spcPts val="0"/>
              </a:spcAft>
            </a:pPr>
            <a:r>
              <a:rPr sz="1250" b="0" lang="zh-CN">
                <a:solidFill>
                  <a:srgbClr val="21364E"/>
                </a:solidFill>
                <a:latin typeface="Noto Sans CJK SC"/>
                <a:ea typeface="Noto Sans CJK SC"/>
                <a:cs typeface="Noto Sans CJK SC"/>
              </a:rPr>
              <a:t>所需事件缺失时需新建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默认：断连 grace 30s · idle TTL 300s · replay 60s / 8 MiB。</a:t>
            </a:r>
          </a:p>
          <a:p>
            <a:pPr algn="l">
              <a:lnSpc>
                <a:spcPct val="110000"/>
              </a:lnSpc>
              <a:spcAft>
                <a:spcPts val="0"/>
              </a:spcAft>
            </a:pPr>
            <a:r>
              <a:rPr sz="1050" b="0" lang="zh-CN">
                <a:solidFill>
                  <a:srgbClr val="586B7E"/>
                </a:solidFill>
                <a:latin typeface="Noto Sans CJK SC"/>
                <a:ea typeface="Noto Sans CJK SC"/>
                <a:cs typeface="Noto Sans CJK SC"/>
              </a:rPr>
              <a:t>客户端需另行停止已缓存的播放音频；session resume 依赖同一个仍存活的 API 进程。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5"/>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6"/>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附录 · 会话控制"/>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附录 · 会话控制</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模型发言决策 / 与 VAD 打断"/>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Noto Sans CJK SC"/>
                <a:ea typeface="Noto Sans CJK SC"/>
                <a:cs typeface="Noto Sans CJK SC"/>
              </a:rPr>
              <a:t>模型发言决策</a:t>
            </a:r>
          </a:p>
          <a:p>
            <a:pPr algn="l">
              <a:lnSpc>
                <a:spcPct val="110000"/>
              </a:lnSpc>
              <a:spcAft>
                <a:spcPts val="0"/>
              </a:spcAft>
            </a:pPr>
            <a:r>
              <a:rPr sz="3100" b="1">
                <a:solidFill>
                  <a:srgbClr val="142B45"/>
                </a:solidFill>
                <a:latin typeface="Noto Sans CJK SC"/>
                <a:ea typeface="Noto Sans CJK SC"/>
                <a:cs typeface="Noto Sans CJK SC"/>
              </a:rPr>
              <a:t>与 VAD 打断</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同一段实时会话"/>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同一段实时会话</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模型决定何时发言"/>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模型决定何时发言</a:t>
            </a:r>
          </a:p>
        </p:txBody>
      </p:sp>
      <p:sp>
        <p:nvSpPr>
          <p:cNvPr id="102" name="新输入持续进入模型计算。 / 模型自主决定继续发言或让出话语权。"/>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新输入持续进入模型计算。</a:t>
            </a:r>
          </a:p>
          <a:p>
            <a:pPr algn="l">
              <a:lnSpc>
                <a:spcPct val="110000"/>
              </a:lnSpc>
              <a:spcAft>
                <a:spcPts val="0"/>
              </a:spcAft>
            </a:pPr>
            <a:r>
              <a:rPr sz="1400" b="0">
                <a:solidFill>
                  <a:srgbClr val="586B7E"/>
                </a:solidFill>
                <a:latin typeface="Noto Sans CJK SC"/>
                <a:ea typeface="Noto Sans CJK SC"/>
                <a:cs typeface="Noto Sans CJK SC"/>
              </a:rPr>
              <a:t>模型自主决定继续发言或让出话语权。</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VAD 驱动的 turn-taking"/>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VAD 驱动的 turn-taking</a:t>
            </a:r>
          </a:p>
        </p:txBody>
      </p:sp>
      <p:sp>
        <p:nvSpPr>
          <p:cNvPr id="105" name="检测到用户发声时，打断当前回复。 / 静音达到阈值后 commit，启动新请求。"/>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检测到用户发声时，打断当前回复。</a:t>
            </a:r>
          </a:p>
          <a:p>
            <a:pPr algn="l">
              <a:lnSpc>
                <a:spcPct val="110000"/>
              </a:lnSpc>
              <a:spcAft>
                <a:spcPts val="0"/>
              </a:spcAft>
            </a:pPr>
            <a:r>
              <a:rPr sz="1400" b="0">
                <a:solidFill>
                  <a:srgbClr val="586B7E"/>
                </a:solidFill>
                <a:latin typeface="Noto Sans CJK SC"/>
                <a:ea typeface="Noto Sans CJK SC"/>
                <a:cs typeface="Noto Sans CJK SC"/>
              </a:rPr>
              <a:t>静音达到阈值后 commit，启动新请求。</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两种取消入口"/>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Noto Sans CJK SC"/>
                <a:ea typeface="Noto Sans CJK SC"/>
                <a:cs typeface="Noto Sans CJK SC"/>
              </a:rPr>
              <a:t>两种取消入口</a:t>
            </a:r>
          </a:p>
        </p:txBody>
      </p:sp>
      <p:sp>
        <p:nvSpPr>
          <p:cNvPr id="110" name="LISTEN 是模型决策，与这两条路径不同。"/>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Noto Sans CJK SC"/>
                <a:ea typeface="Noto Sans CJK SC"/>
                <a:cs typeface="Noto Sans CJK SC"/>
              </a:rPr>
              <a:t>LISTEN 是模型决策，与这两条路径不同。</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显式 response.cancel"/>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Noto Sans CJK SC"/>
                <a:ea typeface="Noto Sans CJK SC"/>
                <a:cs typeface="Noto Sans CJK SC"/>
              </a:rPr>
              <a:t>显式 response.cancel</a:t>
            </a:r>
          </a:p>
        </p:txBody>
      </p:sp>
      <p:sp>
        <p:nvSpPr>
          <p:cNvPr id="114" name="客户端 command 进入会话取消处理。 / 底层取消逻辑停止当前生成。"/>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客户端 command 进入会话取消处理。</a:t>
            </a:r>
          </a:p>
          <a:p>
            <a:pPr algn="l">
              <a:lnSpc>
                <a:spcPct val="110000"/>
              </a:lnSpc>
              <a:spcAft>
                <a:spcPts val="0"/>
              </a:spcAft>
            </a:pPr>
            <a:r>
              <a:rPr sz="1200" b="0">
                <a:solidFill>
                  <a:srgbClr val="142B45"/>
                </a:solidFill>
                <a:latin typeface="Noto Sans CJK SC"/>
                <a:ea typeface="Noto Sans CJK SC"/>
                <a:cs typeface="Noto Sans CJK SC"/>
              </a:rPr>
              <a:t>底层取消逻辑停止当前生成。</a:t>
            </a:r>
          </a:p>
        </p:txBody>
      </p:sp>
      <p:sp>
        <p:nvSpPr>
          <p:cNvPr id="115" name="VAD 触发打断"/>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Noto Sans CJK SC"/>
                <a:ea typeface="Noto Sans CJK SC"/>
                <a:cs typeface="Noto Sans CJK SC"/>
              </a:rPr>
              <a:t>VAD 触发打断</a:t>
            </a:r>
          </a:p>
        </p:txBody>
      </p:sp>
      <p:sp>
        <p:nvSpPr>
          <p:cNvPr id="116" name="用户发声触发 overlap policy。 / 复用底层取消逻辑；客户端停止播放。"/>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用户发声触发 overlap policy。</a:t>
            </a:r>
          </a:p>
          <a:p>
            <a:pPr algn="l">
              <a:lnSpc>
                <a:spcPct val="110000"/>
              </a:lnSpc>
              <a:spcAft>
                <a:spcPts val="0"/>
              </a:spcAft>
            </a:pPr>
            <a:r>
              <a:rPr sz="1200" b="0">
                <a:solidFill>
                  <a:srgbClr val="142B45"/>
                </a:solidFill>
                <a:latin typeface="Noto Sans CJK SC"/>
                <a:ea typeface="Noto Sans CJK SC"/>
                <a:cs typeface="Noto Sans CJK SC"/>
              </a:rPr>
              <a:t>复用底层取消逻辑；客户端停止播放。</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摄像头"/>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Noto Sans CJK SC"/>
                <a:ea typeface="Noto Sans CJK SC"/>
                <a:cs typeface="Noto Sans CJK SC"/>
              </a:rPr>
              <a:t>摄像头</a:t>
            </a:r>
          </a:p>
        </p:txBody>
      </p:sp>
      <p:sp>
        <p:nvSpPr>
          <p:cNvPr id="201" name="用户语音"/>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用户语音</a:t>
            </a:r>
          </a:p>
        </p:txBody>
      </p:sp>
      <p:sp>
        <p:nvSpPr>
          <p:cNvPr id="202" name="Barge-in：用户插话"/>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Noto Sans CJK SC"/>
                <a:ea typeface="Noto Sans CJK SC"/>
                <a:cs typeface="Noto Sans CJK SC"/>
              </a:rPr>
              <a:t>Barge-in：用户插话</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模型决定 LISTEN / SPEAK；已排队音频可继续播放。"/>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Noto Sans CJK SC"/>
                <a:ea typeface="Noto Sans CJK SC"/>
                <a:cs typeface="Noto Sans CJK SC"/>
              </a:rPr>
              <a:t>模型决定 LISTEN / SPEAK；已排队音频可继续播放。</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用户发声停止生成与播放；静音达到阈值后 commi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Noto Sans CJK SC"/>
                <a:ea typeface="Noto Sans CJK SC"/>
                <a:cs typeface="Noto Sans CJK SC"/>
              </a:rPr>
              <a:t>用户发声停止生成与播放；静音达到阈值后 commit。</a:t>
            </a:r>
          </a:p>
        </p:txBody>
      </p:sp>
      <p:sp>
        <p:nvSpPr>
          <p:cNvPr id="207" name="VAD 触发打断"/>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Noto Sans CJK SC"/>
                <a:ea typeface="Noto Sans CJK SC"/>
                <a:cs typeface="Noto Sans CJK SC"/>
              </a:rPr>
              <a:t>VAD 触发打断</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模型：LISTE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Noto Sans CJK SC"/>
                <a:ea typeface="Noto Sans CJK SC"/>
                <a:cs typeface="Noto Sans CJK SC"/>
              </a:rPr>
              <a:t>模型：LISTEN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概览</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目录</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cxnSp>
        <p:nvCxnSpPr>
          <p:cNvPr id="501" name="Column separator"/>
          <p:cNvCxnSpPr/>
          <p:nvPr/>
        </p:nvCxnSpPr>
        <p:spPr>
          <a:xfrm>
            <a:off x="6099048" y="1984248"/>
            <a:ext cx="0" cy="3657600"/>
          </a:xfrm>
          <a:prstGeom prst="line">
            <a:avLst/>
          </a:prstGeom>
          <a:ln w="12700">
            <a:solidFill>
              <a:srgbClr val="D5E0ED"/>
            </a:solidFill>
          </a:ln>
        </p:spPr>
      </p:cxnSp>
      <p:sp>
        <p:nvSpPr>
          <p:cNvPr id="502" name="核心内容"/>
          <p:cNvSpPr/>
          <p:nvPr/>
        </p:nvSpPr>
        <p:spPr>
          <a:xfrm>
            <a:off x="731520"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347FF0"/>
                </a:solidFill>
                <a:latin typeface="Noto Sans CJK SC"/>
                <a:ea typeface="Noto Sans CJK SC"/>
                <a:cs typeface="Noto Sans CJK SC"/>
              </a:rPr>
              <a:t>核心内容</a:t>
            </a:r>
          </a:p>
        </p:txBody>
      </p:sp>
      <p:cxnSp>
        <p:nvCxnSpPr>
          <p:cNvPr id="503" name="Section underline"/>
          <p:cNvCxnSpPr/>
          <p:nvPr/>
        </p:nvCxnSpPr>
        <p:spPr>
          <a:xfrm>
            <a:off x="731520" y="2542032"/>
            <a:ext cx="5001768" cy="0"/>
          </a:xfrm>
          <a:prstGeom prst="line">
            <a:avLst/>
          </a:prstGeom>
          <a:ln w="12700">
            <a:solidFill>
              <a:srgbClr val="A7BAD0"/>
            </a:solidFill>
          </a:ln>
        </p:spPr>
      </p:cxnSp>
      <p:sp>
        <p:nvSpPr>
          <p:cNvPr id="504" name="全双工背景、交互方式与模型"/>
          <p:cNvSpPr/>
          <p:nvPr/>
        </p:nvSpPr>
        <p:spPr>
          <a:xfrm>
            <a:off x="731520" y="285292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全双工背景、交互方式与模型</a:t>
            </a:r>
          </a:p>
        </p:txBody>
      </p:sp>
      <p:sp>
        <p:nvSpPr>
          <p:cNvPr id="505" name="vLLM-Omni 统一架构与流程"/>
          <p:cNvSpPr/>
          <p:nvPr/>
        </p:nvSpPr>
        <p:spPr>
          <a:xfrm>
            <a:off x="731520" y="358444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vLLM-Omni 统一架构与流程</a:t>
            </a:r>
          </a:p>
        </p:txBody>
      </p:sp>
      <p:sp>
        <p:nvSpPr>
          <p:cNvPr id="506" name="性能优化与评测指标"/>
          <p:cNvSpPr/>
          <p:nvPr/>
        </p:nvSpPr>
        <p:spPr>
          <a:xfrm>
            <a:off x="731520" y="431596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性能优化与评测指标</a:t>
            </a:r>
          </a:p>
        </p:txBody>
      </p:sp>
      <p:sp>
        <p:nvSpPr>
          <p:cNvPr id="507" name="工具调用与演进方向"/>
          <p:cNvSpPr/>
          <p:nvPr/>
        </p:nvSpPr>
        <p:spPr>
          <a:xfrm>
            <a:off x="731520" y="504748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工具调用与演进方向</a:t>
            </a:r>
          </a:p>
        </p:txBody>
      </p:sp>
      <p:sp>
        <p:nvSpPr>
          <p:cNvPr id="508" name="技术附录"/>
          <p:cNvSpPr/>
          <p:nvPr/>
        </p:nvSpPr>
        <p:spPr>
          <a:xfrm>
            <a:off x="6455664"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008E96"/>
                </a:solidFill>
                <a:latin typeface="Noto Sans CJK SC"/>
                <a:ea typeface="Noto Sans CJK SC"/>
                <a:cs typeface="Noto Sans CJK SC"/>
              </a:rPr>
              <a:t>技术附录</a:t>
            </a:r>
          </a:p>
        </p:txBody>
      </p:sp>
      <p:cxnSp>
        <p:nvCxnSpPr>
          <p:cNvPr id="509" name="Section underline"/>
          <p:cNvCxnSpPr/>
          <p:nvPr/>
        </p:nvCxnSpPr>
        <p:spPr>
          <a:xfrm>
            <a:off x="6455664" y="2542032"/>
            <a:ext cx="5001768" cy="0"/>
          </a:xfrm>
          <a:prstGeom prst="line">
            <a:avLst/>
          </a:prstGeom>
          <a:ln w="12700">
            <a:solidFill>
              <a:srgbClr val="A7BAD0"/>
            </a:solidFill>
          </a:ln>
        </p:spPr>
      </p:cxnSp>
      <p:sp>
        <p:nvSpPr>
          <p:cNvPr id="510" name="更详细的架构与执行流程"/>
          <p:cNvSpPr/>
          <p:nvPr/>
        </p:nvSpPr>
        <p:spPr>
          <a:xfrm>
            <a:off x="6455664" y="285292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更详细的架构与执行流程</a:t>
            </a:r>
          </a:p>
        </p:txBody>
      </p:sp>
      <p:sp>
        <p:nvSpPr>
          <p:cNvPr id="511" name="VAD 与打断机制"/>
          <p:cNvSpPr/>
          <p:nvPr/>
        </p:nvSpPr>
        <p:spPr>
          <a:xfrm>
            <a:off x="6455664" y="358444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VAD 与打断机制</a:t>
            </a:r>
          </a:p>
        </p:txBody>
      </p:sp>
      <p:sp>
        <p:nvSpPr>
          <p:cNvPr id="512" name="会话生命周期与恢复"/>
          <p:cNvSpPr/>
          <p:nvPr/>
        </p:nvSpPr>
        <p:spPr>
          <a:xfrm>
            <a:off x="6455664" y="431596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会话生命周期与恢复</a:t>
            </a:r>
          </a:p>
        </p:txBody>
      </p:sp>
      <p:sp>
        <p:nvSpPr>
          <p:cNvPr id="513" name="跨机部署"/>
          <p:cNvSpPr/>
          <p:nvPr/>
        </p:nvSpPr>
        <p:spPr>
          <a:xfrm>
            <a:off x="6455664" y="504748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跨机部署</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2026-10-10T01:10:45Z</dcterms:modified>
  <cp:category/>
</cp:coreProperties>
</file>