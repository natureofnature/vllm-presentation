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单并发</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并发</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Noto Sans CJK SC"/>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Noto Sans CJK SC"/>
                  </a:defRPr>
                </a:pPr>
                <a:r>
                  <a:rPr lang="en-US" sz="105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050" baseline="0">
                <a:solidFill>
                  <a:srgbClr val="526985"/>
                </a:solidFill>
                <a:latin typeface="Noto Sans CJK SC"/>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Noto Sans CJK SC"/>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SI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这里的双工指整个社区建设的服务能力，覆盖 native duplex 模型以及通过 duplex session 服务的 turn-based 模型，并不表示每个模型都具备原生全双工能力。</a:t>
            </a:r>
          </a:p>
          <a:p>
            <a:r>
              <a:rPr lang="zh-CN">
                <a:latin typeface="Noto Sans CJK SC"/>
                <a:ea typeface="Noto Sans CJK SC"/>
                <a:cs typeface="Noto Sans CJK SC"/>
              </a:rPr>
              <a:t/>
            </a:r>
          </a:p>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a:p>
            <a:r>
              <a:rPr lang="zh-CN">
                <a:latin typeface="Noto Sans CJK SC"/>
                <a:ea typeface="Noto Sans CJK SC"/>
                <a:cs typeface="Noto Sans CJK SC"/>
              </a:rPr>
              <a:t/>
            </a:r>
          </a:p>
          <a:p>
            <a:r>
              <a:rPr lang="zh-CN">
                <a:latin typeface="Noto Sans CJK SC"/>
                <a:ea typeface="Noto Sans CJK SC"/>
                <a:cs typeface="Noto Sans CJK SC"/>
              </a:rPr>
              <a:t>PR #7644 bounds each session output buffer and rejects cancelled audio before delivery. The client must still stop audio already received.</a:t>
            </a:r>
          </a:p>
          <a:p>
            <a:r>
              <a:rPr lang="zh-CN">
                <a:latin typeface="Noto Sans CJK SC"/>
                <a:ea typeface="Noto Sans CJK SC"/>
                <a:cs typeface="Noto Sans CJK SC"/>
              </a:rP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讲解顺序：先看左侧半双工，再看右侧全双工，最后看下方能力对比。</a:t>
            </a:r>
          </a:p>
          <a:p>
            <a:r>
              <a:t>半双工示例按用户发言、助手回应交替进行。全双工示例展示助手发言时用户继续输入，模型可结合后续输入调整输出或让出话语权。共有能力是文本和音频的流式输出；这不是全双工独有能力。</a:t>
            </a:r>
          </a:p>
          <a:p>
            <a:r>
              <a:t>本页比较交互体验，不把所有 turn-based execution 一概等同于半双工。Qwen3-Omni + VAD 的会话可在播放期间接收输入，后续由 VAD 与 commit 驱动新请求；模型级持续输入与控制机制在 A2 展开。</a:t>
            </a:r>
          </a:p>
          <a:p>
            <a:r>
              <a:t>时间线只是说明先后关系和输入输出重叠，不表示真实延迟或模型性能排名。摄像头轨道代表具备相应视觉输入能力的示例，并非所有模型都支持视频。</a:t>
            </a:r>
          </a:p>
          <a:p>
            <a:r>
              <a:t/>
            </a:r>
          </a:p>
          <a:p>
            <a:r>
              <a:t>Technical detail and source references</a:t>
            </a:r>
          </a:p>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https://github.com/vllm-project/vllm-omni/blob/4c5541cfc17143f80bdb89bbb7a5840b08bb52c6/examples/online_serving/realtime_web/app/static/profiles/qwen3_turn.js</a:t>
            </a:r>
          </a:p>
          <a:p>
            <a:r>
              <a:rPr lang="zh-CN">
                <a:latin typeface="Noto Sans CJK SC"/>
                <a:ea typeface="Noto Sans CJK SC"/>
                <a:cs typeface="Noto Sans CJK SC"/>
              </a:rPr>
              <a:t>https://github.com/vllm-project/vllm-omni/blob/4c5541cfc17143f80bdb89bbb7a5840b08bb52c6/examples/online_serving/realtime_web/app/static/profiles/aura_ptt.js</a:t>
            </a:r>
          </a:p>
          <a:p>
            <a:r>
              <a:rPr lang="zh-CN">
                <a:latin typeface="Noto Sans CJK SC"/>
                <a:ea typeface="Noto Sans CJK SC"/>
                <a:cs typeface="Noto Sans CJK SC"/>
              </a:rPr>
              <a:t>https://github.com/vllm-project/vllm-omni/blob/ee81f33001922f8d91dd09da0a57ee1531a8df82/vllm_omni/model_executor/models/personaplex/duplex/plugin.py#L236-L258</a:t>
            </a:r>
          </a:p>
          <a:p>
            <a:r>
              <a:rPr lang="zh-CN">
                <a:latin typeface="Noto Sans CJK SC"/>
                <a:ea typeface="Noto Sans CJK SC"/>
                <a:cs typeface="Noto Sans CJK SC"/>
              </a:rPr>
              <a:t>https://github.com/vllm-project/vllm-omni/blob/ee81f33001922f8d91dd09da0a57ee1531a8df82/examples/online_serving/realtime_web/app/static/profiles/qwen3_turn.js#L14-L20</a:t>
            </a:r>
          </a:p>
          <a:p>
            <a:r>
              <a:rPr lang="zh-CN">
                <a:latin typeface="Noto Sans CJK SC"/>
                <a:ea typeface="Noto Sans CJK SC"/>
                <a:cs typeface="Noto Sans CJK SC"/>
              </a:rPr>
              <a:t>https://github.com/vllm-project/vllm-omni/blob/ee81f33001922f8d91dd09da0a57ee1531a8df82/examples/online_serving/realtime_web/app/static/profiles/aura_ptt.js#L8-L29</a:t>
            </a:r>
          </a:p>
          <a:p>
            <a:r>
              <a:rPr lang="zh-CN">
                <a:latin typeface="Noto Sans CJK SC"/>
                <a:ea typeface="Noto Sans CJK SC"/>
                <a:cs typeface="Noto Sans CJK SC"/>
              </a:rPr>
              <a:t>https://github.com/vllm-project/vllm-omni/blob/ee81f33001922f8d91dd09da0a57ee1531a8df82/vllm_omni/model_executor/models/aura_omni/duplex/plugin.py#L374-L388</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https://github.com/vllm-project/vllm-omni/blob/4c5541cfc17143f80bdb89bbb7a5840b08bb52c6/vllm_omni/entrypoints/duplex_omni.py</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讲解顺序：每次看一行，依次说明输入、Stage、箭头上的数据，以及右侧保留的状态。S0、S1 等编号属于各模型自己的 pipeline。</a:t>
            </a:r>
          </a:p>
          <a:p>
            <a:r>
              <a:t>PersonaPlex：PCM 音频输入，Stage 0 内部包含 Mimi encoder、Temporal Transformer 和 Depformer；Stage 间传助手侧 8 组 audio codebooks，经时间对齐后送至 Stage 1 的 Mimi decoder，输出 PCM。encoder 不是第三个 Stage，也不在 API Server 或 Orchestrator 中执行。80 ms 是模型音频帧时长，不是端到端延迟。Stage 0 保留 KV 与 encoder state，Stage 1 保留 decoder state。</a:t>
            </a:r>
          </a:p>
          <a:p>
            <a:r>
              <a:t>MiniCPM-o 4.5：S0 多模态 LLM 处理音频与视频；SPEAK 将文本与模型特征送至 Talker，再以 audio tokens 送至 Code2Wav。LISTEN 保留活跃请求。后续 native 输入续用 LLM KV 与流式音频状态，并受配置的窗口策略管理。TTS 与解码状态用于语音生成请求，不能扩大为所有下游状态始终跨整个会话保留。</a:t>
            </a:r>
          </a:p>
          <a:p>
            <a:r>
              <a:t>AURA：ASR → Thinker → Talker → Code2Wav。ASR 输出文本，Thinker 结合文本、视频和历史生成回复文本；语音阶段生成 tokens 并解码为音频。按上下文策略保留 ASR 文本、视频片段和助手文本，每个 commit 启动新生成请求。Thinker 完成后，下一轮可开始，而上一轮语音合成仍可继续。</a:t>
            </a:r>
          </a:p>
          <a:p>
            <a:r>
              <a:t>Qwen3-Omni：Thinker → Talker → Code2Wav，没有单独的 ASR Stage。Thinker 接收用户音频、图像帧和上下文，其文本及模型特征供 Talker 使用。后续 turn 复用用户音频、图像帧和对话文本等历史，在 commit 后构建新请求。</a:t>
            </a:r>
          </a:p>
          <a:p>
            <a:r>
              <a:t>右列区分跨 native 输入续用的计算状态，以及跨 turn 复用的会话历史。turn-based 模型在单个回复内也可保留流式解码状态。Stage 是一个模型计算阶段；Replica 是 Stage 的执行实例；一个 Stage 可以包含多个内部模块。</a:t>
            </a:r>
          </a:p>
          <a:p>
            <a:r>
              <a:t>四种模型都使用 PCM 音频。MiniCPM 官方 Web demo 使用 16 kHz pcm16 输入，Python preset 默认 24 kHz pcm16 输出；PersonaPlex preset 使用 24 kHz pcm_f32le 输入与 24 kHz pcm16 输出。AURA Web 使用 16 kHz pcm16，Qwen3 turn Web 使用 24 kHz PCM，插件侧消费归一化后的 16 kHz pcm_f32le。PCM 格式与 native / turn-based 执行方式属于不同维度。</a:t>
            </a:r>
          </a:p>
          <a:p>
            <a:r>
              <a:t/>
            </a:r>
          </a:p>
          <a:p>
            <a:r>
              <a:t>Technical detail and source references</a:t>
            </a:r>
          </a:p>
          <a:p>
            <a:r>
              <a:t>Presenter flow for 07/12</a:t>
            </a:r>
          </a:p>
          <a:p>
            <a:r>
              <a:t>Read one model row at a time: incoming media, compute stages, transmitted data, then the state carried into the next input. Stage numbers are local to each model pipeline, not a cross-model execution sequence. The pale rows use the same visual treatment for all models. Blue marks native duplex and teal marks turn-based execution.</a:t>
            </a:r>
          </a:p>
          <a:p>
            <a:r>
              <a:t/>
            </a:r>
          </a:p>
          <a:p>
            <a:r>
              <a:t>PersonaPlex: PCM in, audio codec tokens between stages, PCM out. The client preset sends mono 24 kHz pcm_f32le and receives 24 kHz pcm16 via Base64 WebSocket payloads. The session input buffer groups audio into 1920-sample / 80 ms units; 80 ms is a frame duration, not an end-to-end latency. Stage 0 contains streaming Mimi encoding plus Temporal Transformer and Depformer. The inter-stage adapter selects eight assistant codebooks, compensates their acoustic delays and packs them codebook-major. Stage 1 Mimi decoding emits float32 waveform samples; the output adapter performs the requested wire encoding. Stage 0 retains temporal KV and Mimi encoder state; Stage 1 retains Mimi decoder state. The encoder is not a third Stage and does not run in the API Server or Orchestrator.</a:t>
            </a:r>
          </a:p>
          <a:p>
            <a:r>
              <a:t/>
            </a:r>
          </a:p>
          <a:p>
            <a:r>
              <a:t>MiniCPM-o 4.5: stage 0 is the multimodal LLM; SPEAK passes text and model features to the Talker, followed by codec tokens to Code2Wav. LISTEN retains the live request rather than starting speech synthesis. LLM KV and streaming audio state are reused across native input appends, with the configured window policy. Downstream TTS and decoder state belongs to the speech-generation request, not a generic promise to preserve all downstream state for the whole session. The live request remains associated with its selected Stage replica.</a:t>
            </a:r>
          </a:p>
          <a:p>
            <a:r>
              <a:t/>
            </a:r>
          </a:p>
          <a:p>
            <a:r>
              <a:t>AURA: the stages are ASR, Thinker, Talker and Code2Wav. ASR produces text. Thinker uses the transcript, video and conversation context, then supplies text to the speech stages. Context carried into future turns consists of ASR text, retained video clips and assistant text, under the session context policy. A new committed turn creates a new generation request. The next turn can begin after Thinker completes while the prior speech synthesis continues.</a:t>
            </a:r>
          </a:p>
          <a:p>
            <a:r>
              <a:t/>
            </a:r>
          </a:p>
          <a:p>
            <a:r>
              <a:t>Qwen3-Omni: Thinker, Talker and Code2Wav; no separate ASR Stage. The Thinker consumes user audio/image frames plus conversation context; its text/embeddings and hidden features condition Talker. Codec tokens go to Code2Wav. Retained context includes user audio, image frames and conversation text, subject to configured limits. Input can arrive during output, but a committed turn starts fresh generation rather than appending to a continuously running native model request.</a:t>
            </a:r>
          </a:p>
          <a:p>
            <a:r>
              <a:t/>
            </a:r>
          </a:p>
          <a:p>
            <a:r>
              <a:t>Scope: the right column contrasts live computation retained across native inputs with conversation history reused for fresh turn-based requests. It is not an exhaustive list of every transient runtime buffer. Turn-based speech synthesis may retain decoder state within a response. Stage means a model-compute step; a replica is an execution instance of a Stage. A Stage can contain several internal modules.</a:t>
            </a:r>
          </a:p>
          <a:p>
            <a:r>
              <a:t/>
            </a:r>
          </a:p>
          <a:p>
            <a:r>
              <a:t>Source baseline: upstream main b65107d61331327424910c72e7a2da137dcfb3df; the relevant model pipeline/plugin/processor files are unchanged from the previously inspected f3391da7c snapshot. This is a targeted slide rewrite; the rest of the deck retains its previous source baselines.</a:t>
            </a:r>
          </a:p>
          <a:p>
            <a:r>
              <a:t>https://github.com/vllm-project/vllm-omni/blob/b65107d61331327424910c72e7a2da137dcfb3df/vllm_omni/clients/personaplex.py</a:t>
            </a:r>
          </a:p>
          <a:p>
            <a:r>
              <a:t>https://github.com/vllm-project/vllm-omni/blob/b65107d61331327424910c72e7a2da137dcfb3df/vllm_omni/model_executor/models/personaplex/pipeline.py</a:t>
            </a:r>
          </a:p>
          <a:p>
            <a:r>
              <a:t>https://github.com/vllm-project/vllm-omni/blob/b65107d61331327424910c72e7a2da137dcfb3df/vllm_omni/model_executor/models/personaplex/duplex/stage0.py</a:t>
            </a:r>
          </a:p>
          <a:p>
            <a:r>
              <a:t>https://github.com/vllm-project/vllm-omni/blob/b65107d61331327424910c72e7a2da137dcfb3df/vllm_omni/model_executor/stage_input_processors/personaplex.py</a:t>
            </a:r>
          </a:p>
          <a:p>
            <a:r>
              <a:t>https://github.com/vllm-project/vllm-omni/blob/b65107d61331327424910c72e7a2da137dcfb3df/vllm_omni/model_executor/models/personaplex/personaplex_code2wav.py</a:t>
            </a:r>
          </a:p>
          <a:p>
            <a:r>
              <a:t>https://github.com/vllm-project/vllm-omni/blob/b65107d61331327424910c72e7a2da137dcfb3df/vllm_omni/model_executor/models/minicpmo_4_5/pipeline.py</a:t>
            </a:r>
          </a:p>
          <a:p>
            <a:r>
              <a:t>https://github.com/vllm-project/vllm-omni/blob/b65107d61331327424910c72e7a2da137dcfb3df/vllm_omni/model_executor/models/minicpmo_4_5/duplex/plugin.py</a:t>
            </a:r>
          </a:p>
          <a:p>
            <a:r>
              <a:t>https://github.com/vllm-project/vllm-omni/blob/b65107d61331327424910c72e7a2da137dcfb3df/vllm_omni/model_executor/models/minicpmo_4_5/duplex/policy.py</a:t>
            </a:r>
          </a:p>
          <a:p>
            <a:r>
              <a:t>https://github.com/vllm-project/vllm-omni/blob/b65107d61331327424910c72e7a2da137dcfb3df/vllm_omni/model_executor/models/aura_omni/pipeline.py</a:t>
            </a:r>
          </a:p>
          <a:p>
            <a:r>
              <a:t>https://github.com/vllm-project/vllm-omni/blob/b65107d61331327424910c72e7a2da137dcfb3df/vllm_omni/model_executor/models/aura_omni/duplex/plugin.py</a:t>
            </a:r>
          </a:p>
          <a:p>
            <a:r>
              <a:t>https://github.com/vllm-project/vllm-omni/blob/b65107d61331327424910c72e7a2da137dcfb3df/vllm_omni/model_executor/models/qwen3_omni/pipeline.py</a:t>
            </a:r>
          </a:p>
          <a:p>
            <a:r>
              <a:t>https://github.com/vllm-project/vllm-omni/blob/b65107d61331327424910c72e7a2da137dcfb3df/vllm_omni/model_executor/models/qwen3_omni/duplex/plugin.py</a:t>
            </a:r>
          </a:p>
          <a:p>
            <a:r>
              <a:t>https://github.com/vllm-project/vllm-omni/blob/b65107d61331327424910c72e7a2da137dcfb3df/vllm_omni/model_executor/stage_input_processors/qwen3_omni.py</a:t>
            </a:r>
          </a:p>
          <a:p>
            <a:r>
              <a:t/>
            </a:r>
          </a:p>
          <a:p>
            <a:r>
              <a:t>Earlier source references retained for traceability:</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Audio terminology clarification</a:t>
            </a:r>
          </a:p>
          <a:p>
            <a:r>
              <a:t>All four model rows accept PCM audio in their unified duplex paths. PCM describes sampled audio; it does not distinguish native duplex from turn-based execution. The MiniCPM-o 4.5 web profile sends pcm16 at 16 kHz; its Python client preset inherits the same input default and pcm16 at 24 kHz output from SessionConfig. PersonaPlex uses its own preset: pcm_f32le at 24 kHz input and pcm16 at 24 kHz output. AURA web input is pcm16 at 16 kHz. The Qwen3 turn web profile uses audio/pcm at 24 kHz, while its plugin consumes normalized 16 kHz pcm_f32le. All these are PCM representations. Codec tokens between stages are a separate representation.</a:t>
            </a:r>
          </a:p>
          <a:p>
            <a:r>
              <a:t>https://github.com/vllm-project/vllm-omni/blob/b65107d61331327424910c72e7a2da137dcfb3df/examples/online_serving/realtime_web/app/static/profiles/minicpm_native.js</a:t>
            </a:r>
          </a:p>
          <a:p>
            <a:r>
              <a:t>https://github.com/vllm-project/vllm-omni/blob/b65107d61331327424910c72e7a2da137dcfb3df/vllm_omni/clients/duplex.py</a:t>
            </a:r>
          </a:p>
          <a:p>
            <a:r>
              <a:t>https://github.com/vllm-project/vllm-omni/blob/b65107d61331327424910c72e7a2da137dcfb3df/vllm_omni/clients/minicpmo_4_5.py</a:t>
            </a:r>
          </a:p>
          <a:p>
            <a:r>
              <a:t>https://github.com/vllm-project/vllm-omni/blob/b65107d61331327424910c72e7a2da137dcfb3df/examples/online_serving/realtime_web/app/static/profiles/aura_ptt.js</a:t>
            </a:r>
          </a:p>
          <a:p>
            <a:r>
              <a:t>https://github.com/vllm-project/vllm-omni/blob/b65107d61331327424910c72e7a2da137dcfb3df/examples/online_serving/realtime_web/app/static/profiles/qwen3_turn.js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https://github.com/vllm-project/vllm-omni/blob/4c5541cfc17143f80bdb89bbb7a5840b08bb52c6/vllm_omni/clients/duplex.py</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https://github.com/vllm-project/vllm-omni/blob/712b90de9c7bc14c595b363401588a713a87c02d/vllm_omni/model_executor/models/nemotron_voicechat/duplex/capabilities.py</a:t>
            </a:r>
          </a:p>
          <a:p>
            <a:r>
              <a:rPr lang="zh-CN">
                <a:latin typeface="Noto Sans CJK SC"/>
                <a:ea typeface="Noto Sans CJK SC"/>
                <a:cs typeface="Noto Sans CJK SC"/>
              </a:rPr>
              <a:t>https://github.com/vllm-project/vllm-omni/blob/712b90de9c7bc14c595b363401588a713a87c02d/vllm_omni/clients/duplex.py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单并发与 8 并发曲线使用同配置的 H100 Seed-TTS 测试记录，覆盖 2026 年 9 月 9 日至 10 月 8 日。</a:t>
            </a:r>
          </a:p>
          <a:p>
            <a:r>
              <a:t>9 月 16、17 日没有匹配配置的记录。虚线仅连接两侧真实测量点，表示缺测区间；原始数据、真实点数量和嵌入 Excel 中的空单元格都不变。</a:t>
            </a:r>
          </a:p>
          <a:p>
            <a:r>
              <a:t>Audio RTF 是每个请求的音频生成耗时除以输出音频时长，再取平均，越低越好。这是 Chat Completions 语音生成测试，不是连续音视频 native duplex 会话测试。趋势与左侧优化方法并列展示，不把时间变化归因于某一个独立优化。</a:t>
            </a:r>
          </a:p>
          <a:p>
            <a:r>
              <a:t/>
            </a:r>
          </a:p>
          <a:p>
            <a:r>
              <a:t>Technical detail and source references</a:t>
            </a:r>
          </a:p>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https://github.com/vllm-project/vllm-omni/blob/4c5541cfc17143f80bdb89bbb7a5840b08bb52c6/vllm_omni/benchmarks/duplex_session_metrics.py</a:t>
            </a:r>
          </a:p>
          <a:p>
            <a:r>
              <a:rPr lang="zh-CN">
                <a:latin typeface="Noto Sans CJK SC"/>
                <a:ea typeface="Noto Sans CJK SC"/>
                <a:cs typeface="Noto Sans CJK SC"/>
              </a:rPr>
              <a:t>https://github.com/vllm-project/vllm-omni/blob/4c5541cfc17143f80bdb89bbb7a5840b08bb52c6/vllm_omni/benchmarks/omniinteract.py</a:t>
            </a:r>
          </a:p>
          <a:p>
            <a:r>
              <a:rPr lang="zh-CN">
                <a:latin typeface="Noto Sans CJK SC"/>
                <a:ea typeface="Noto Sans CJK SC"/>
                <a:cs typeface="Noto Sans CJK SC"/>
              </a:rPr>
              <a:t>https://github.com/vllm-project/vllm-omni/blob/4c5541cfc17143f80bdb89bbb7a5840b08bb52c6/vllm_omni/benchmarks/duplex/omni_duplex_eval_metrics.py</a:t>
            </a:r>
          </a:p>
          <a:p>
            <a:r>
              <a:rPr lang="zh-CN">
                <a:latin typeface="Noto Sans CJK SC"/>
                <a:ea typeface="Noto Sans CJK SC"/>
                <a:cs typeface="Noto Sans CJK SC"/>
              </a:rPr>
              <a:t>https://github.com/vllm-project/vllm-omni/blob/712b90de9c7bc14c595b363401588a713a87c02d/vllm_omni/benchmarks/omniinteract.py</a:t>
            </a:r>
          </a:p>
          <a:p>
            <a:r>
              <a:rPr lang="zh-CN">
                <a:latin typeface="Noto Sans CJK SC"/>
                <a:ea typeface="Noto Sans CJK SC"/>
                <a:cs typeface="Noto Sans CJK SC"/>
              </a:rPr>
              <a:t>https://github.com/vllm-project/vllm-omni/blob/712b90de9c7bc14c595b363401588a713a87c02d/vllm_omni/benchmarks/omniinteract_eval.py</a:t>
            </a:r>
          </a:p>
          <a:p>
            <a:r>
              <a:rPr lang="zh-CN">
                <a:latin typeface="Noto Sans CJK SC"/>
                <a:ea typeface="Noto Sans CJK SC"/>
                <a:cs typeface="Noto Sans CJK SC"/>
              </a:rPr>
              <a:t>https://github.com/vllm-project/vllm-omni/blob/712b90de9c7bc14c595b363401588a713a87c02d/vllm_omni/benchmarks/duplex/omni_duplex_eval_runner.py</a:t>
            </a:r>
          </a:p>
          <a:p>
            <a:r>
              <a:rPr lang="zh-CN">
                <a:latin typeface="Noto Sans CJK SC"/>
                <a:ea typeface="Noto Sans CJK SC"/>
                <a:cs typeface="Noto Sans CJK SC"/>
              </a:rPr>
              <a:t>https://github.com/vllm-project/vllm-omni/blob/712b90de9c7bc14c595b363401588a713a87c02d/vllm_omni/benchmarks/duplex/omni_duplex_eval_metrics.py</a:t>
            </a:r>
          </a:p>
          <a:p>
            <a:r>
              <a:rPr lang="zh-CN">
                <a:latin typeface="Noto Sans CJK SC"/>
                <a:ea typeface="Noto Sans CJK SC"/>
                <a:cs typeface="Noto Sans CJK SC"/>
              </a:rP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https://github.com/vllm-project/vllm-omni/blob/4c5541cfc17143f80bdb89bbb7a5840b08bb52c6/vllm_omni/entrypoints/openai/realtime/session.py</a:t>
            </a:r>
          </a:p>
          <a:p>
            <a:r>
              <a:rPr lang="zh-CN">
                <a:latin typeface="Noto Sans CJK SC"/>
                <a:ea typeface="Noto Sans CJK SC"/>
                <a:cs typeface="Noto Sans CJK SC"/>
              </a:rPr>
              <a:t>https://github.com/vllm-project/vllm-omni/blob/4c5541cfc17143f80bdb89bbb7a5840b08bb52c6/vllm_omni/model_executor/models/nemotron_voicechat/duplex/plugin.py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https://github.com/vllm-project/vllm-omni/blob/d5a3380103df2fc827f095c60dbfb6e1c5655fd3/vllm_omni/entrypoints/openai/realtime/connection.py#L870-L940</a:t>
            </a:r>
          </a:p>
          <a:p>
            <a:r>
              <a:rPr lang="zh-CN">
                <a:latin typeface="Noto Sans CJK SC"/>
                <a:ea typeface="Noto Sans CJK SC"/>
                <a:cs typeface="Noto Sans CJK SC"/>
              </a:rPr>
              <a:t>https://github.com/vllm-project/vllm-omni/blob/d5a3380103df2fc827f095c60dbfb6e1c5655fd3/vllm_omni/entrypoints/openai/realtime/connection.py#L1655-L1678</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https://github.com/vllm-project/vllm-omni/blob/d5a3380103df2fc827f095c60dbfb6e1c5655fd3/vllm_omni/model_executor/models/nemotron_voicechat/duplex/plugin.py#L108-L147</a:t>
            </a:r>
          </a:p>
          <a:p>
            <a:r>
              <a:rPr lang="zh-CN">
                <a:latin typeface="Noto Sans CJK SC"/>
                <a:ea typeface="Noto Sans CJK SC"/>
                <a:cs typeface="Noto Sans CJK SC"/>
              </a:rPr>
              <a:t>https://github.com/vllm-project/vllm-omni/blob/d5a3380103df2fc827f095c60dbfb6e1c5655fd3/vllm_omni/model_executor/models/nemotron_voicechat/duplex/plugin.py#L430-L501</a:t>
            </a:r>
          </a:p>
          <a:p>
            <a:r>
              <a:rPr lang="zh-CN">
                <a:latin typeface="Noto Sans CJK SC"/>
                <a:ea typeface="Noto Sans CJK SC"/>
                <a:cs typeface="Noto Sans CJK SC"/>
              </a:rPr>
              <a:t>https://github.com/vllm-project/vllm-omni/blob/d5a3380103df2fc827f095c60dbfb6e1c5655fd3/vllm_omni/engine/duplex/realtime_events.py#L1080-L1126</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https://github.com/vllm-project/vllm-omni/blob/d5a3380103df2fc827f095c60dbfb6e1c5655fd3/vllm_omni/engine/duplex/plugin.py#L513-L523</a:t>
            </a:r>
          </a:p>
          <a:p>
            <a:r>
              <a:rPr lang="zh-CN">
                <a:latin typeface="Noto Sans CJK SC"/>
                <a:ea typeface="Noto Sans CJK SC"/>
                <a:cs typeface="Noto Sans CJK SC"/>
              </a:rPr>
              <a:t>https://github.com/vllm-project/vllm-omni/blob/d5a3380103df2fc827f095c60dbfb6e1c5655fd3/vllm_omni/engine/duplex/session/control.py#L290-L327</a:t>
            </a:r>
          </a:p>
          <a:p>
            <a:r>
              <a:rPr lang="zh-CN">
                <a:latin typeface="Noto Sans CJK SC"/>
                <a:ea typeface="Noto Sans CJK SC"/>
                <a:cs typeface="Noto Sans CJK SC"/>
              </a:rP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https://github.com/vllm-project/vllm-omni/blob/4c5541cfc17143f80bdb89bbb7a5840b08bb52c6/vllm_omni/entrypoints/openai/api_server.py</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https://github.com/vllm-project/vllm-omni/blob/d5a3380103df2fc827f095c60dbfb6e1c5655fd3/vllm_omni/model_executor/models/nemotron_voicechat/duplex/plugin.py#L444-L501</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https://github.com/vllm-project/vllm-omni/blob/d5a3380103df2fc827f095c60dbfb6e1c5655fd3/vllm_omni/engine/duplex/turn_detection.py#L82-L99</a:t>
            </a:r>
          </a:p>
          <a:p>
            <a:r>
              <a:rPr lang="zh-CN">
                <a:latin typeface="Noto Sans CJK SC"/>
                <a:ea typeface="Noto Sans CJK SC"/>
                <a:cs typeface="Noto Sans CJK SC"/>
              </a:rPr>
              <a:t>https://github.com/vllm-project/vllm-omni/blob/d5a3380103df2fc827f095c60dbfb6e1c5655fd3/vllm_omni/engine/duplex/vad.py#L100-L108</a:t>
            </a:r>
          </a:p>
          <a:p>
            <a:r>
              <a:rPr lang="zh-CN">
                <a:latin typeface="Noto Sans CJK SC"/>
                <a:ea typeface="Noto Sans CJK SC"/>
                <a:cs typeface="Noto Sans CJK SC"/>
              </a:rPr>
              <a:t>https://github.com/vllm-project/vllm-omni/blob/d5a3380103df2fc827f095c60dbfb6e1c5655fd3/tests/engine/duplex/test_engine_session.py#L598-L608</a:t>
            </a:r>
          </a:p>
          <a:p>
            <a:r>
              <a:rPr lang="zh-CN">
                <a:latin typeface="Noto Sans CJK SC"/>
                <a:ea typeface="Noto Sans CJK SC"/>
                <a:cs typeface="Noto Sans CJK SC"/>
              </a:rPr>
              <a:t>https://github.com/vllm-project/vllm-omni/blob/d5a3380103df2fc827f095c60dbfb6e1c5655fd3/vllm_omni/benchmarks/omniinteract.py</a:t>
            </a:r>
          </a:p>
          <a:p>
            <a:r>
              <a:rPr lang="zh-CN">
                <a:latin typeface="Noto Sans CJK SC"/>
                <a:ea typeface="Noto Sans CJK SC"/>
                <a:cs typeface="Noto Sans CJK SC"/>
              </a:rPr>
              <a:t>https://github.com/vllm-project/vllm-omni/blob/d5a3380103df2fc827f095c60dbfb6e1c5655fd3/vllm_omni/benchmarks/omniinteract_eval.py</a:t>
            </a:r>
          </a:p>
          <a:p>
            <a:r>
              <a:rPr lang="zh-CN">
                <a:latin typeface="Noto Sans CJK SC"/>
                <a:ea typeface="Noto Sans CJK SC"/>
                <a:cs typeface="Noto Sans CJK SC"/>
              </a:rPr>
              <a:t>https://github.com/vllm-project/vllm-omni/blob/d5a3380103df2fc827f095c60dbfb6e1c5655fd3/vllm_omni/benchmarks/duplex/omni_duplex_eval_runner.py</a:t>
            </a:r>
          </a:p>
          <a:p>
            <a:r>
              <a:rPr lang="zh-CN">
                <a:latin typeface="Noto Sans CJK SC"/>
                <a:ea typeface="Noto Sans CJK SC"/>
                <a:cs typeface="Noto Sans CJK SC"/>
              </a:rPr>
              <a:t>https://github.com/vllm-project/vllm-omni/blob/d5a3380103df2fc827f095c60dbfb6e1c5655fd3/tests/e2e/accuracy/omni_duplex_eval/README.md</a:t>
            </a:r>
          </a:p>
          <a:p>
            <a:r>
              <a:rPr lang="zh-CN">
                <a:latin typeface="Noto Sans CJK SC"/>
                <a:ea typeface="Noto Sans CJK SC"/>
                <a:cs typeface="Noto Sans CJK SC"/>
              </a:rPr>
              <a:t>https://github.com/vllm-project/vllm-omni/blob/d5a3380103df2fc827f095c60dbfb6e1c5655fd3/vllm_omni/model_executor/models/minicpmo_4_5/duplex/window_kv.py</a:t>
            </a:r>
          </a:p>
          <a:p>
            <a:r>
              <a:rPr lang="zh-CN">
                <a:latin typeface="Noto Sans CJK SC"/>
                <a:ea typeface="Noto Sans CJK SC"/>
                <a:cs typeface="Noto Sans CJK SC"/>
              </a:rPr>
              <a:t>https://github.com/vllm-project/vllm-omni/blob/d5a3380103df2fc827f095c60dbfb6e1c5655fd3/vllm_omni/engine/stage_pool.py#L574-L609</a:t>
            </a:r>
          </a:p>
          <a:p>
            <a:r>
              <a:rPr lang="zh-CN">
                <a:latin typeface="Noto Sans CJK SC"/>
                <a:ea typeface="Noto Sans CJK SC"/>
                <a:cs typeface="Noto Sans CJK SC"/>
              </a:rPr>
              <a:t>https://github.com/vllm-project/vllm-omni/blob/d5a3380103df2fc827f095c60dbfb6e1c5655fd3/vllm_omni/engine/duplex_orchestrator.py#L393-L424</a:t>
            </a:r>
          </a:p>
          <a:p>
            <a:r>
              <a:rPr lang="zh-CN">
                <a:latin typeface="Noto Sans CJK SC"/>
                <a:ea typeface="Noto Sans CJK SC"/>
                <a:cs typeface="Noto Sans CJK SC"/>
              </a:rPr>
              <a:t>https://github.com/vllm-project/vllm-omni/blob/d5a3380103df2fc827f095c60dbfb6e1c5655fd3/vllm_omni/entrypoints/openai/api_server.py#L1880-L1895</a:t>
            </a:r>
          </a:p>
          <a:p>
            <a:r>
              <a:rPr lang="zh-CN">
                <a:latin typeface="Noto Sans CJK SC"/>
                <a:ea typeface="Noto Sans CJK SC"/>
                <a:cs typeface="Noto Sans CJK SC"/>
              </a:rPr>
              <a:t>https://github.com/vllm-project/vllm-omni/blob/d5a3380103df2fc827f095c60dbfb6e1c5655fd3/vllm_omni/model_executor/models/joyai_vl_interaction/pipeline.py</a:t>
            </a:r>
          </a:p>
          <a:p>
            <a:r>
              <a:rPr lang="zh-CN">
                <a:latin typeface="Noto Sans CJK SC"/>
                <a:ea typeface="Noto Sans CJK SC"/>
                <a:cs typeface="Noto Sans CJK SC"/>
              </a:rP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https://github.com/vllm-project/vllm-omni/blob/4c5541cfc17143f80bdb89bbb7a5840b08bb52c6/vllm_omni/deploy/personaplex.yaml</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https://github.com/vllm-project/vllm-omni/blob/712b90de9c7bc14c595b363401588a713a87c02d/vllm_omni/engine/duplex/session/engine_session.py</a:t>
            </a:r>
          </a:p>
          <a:p>
            <a:r>
              <a:rPr lang="zh-CN">
                <a:latin typeface="Noto Sans CJK SC"/>
                <a:ea typeface="Noto Sans CJK SC"/>
                <a:cs typeface="Noto Sans CJK SC"/>
              </a:rPr>
              <a:t>https://github.com/vllm-project/vllm-omni/blob/712b90de9c7bc14c595b363401588a713a87c02d/vllm_omni/engine/duplex/plugin.py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https://github.com/vllm-project/vllm-omni/blob/4c5541cfc17143f80bdb89bbb7a5840b08bb52c6/vllm_omni/engine/duplex/vad.py</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https://github.com/pipecat-ai/smart-turn</a:t>
            </a:r>
          </a:p>
          <a:p>
            <a:r>
              <a:rPr lang="zh-CN">
                <a:latin typeface="Noto Sans CJK SC"/>
                <a:ea typeface="Noto Sans CJK SC"/>
                <a:cs typeface="Noto Sans CJK SC"/>
              </a:rPr>
              <a:t>https://huggingface.co/pipecat-ai/smart-turn-v3.2</a:t>
            </a:r>
          </a:p>
          <a:p>
            <a:r>
              <a:rPr lang="zh-CN">
                <a:latin typeface="Noto Sans CJK SC"/>
                <a:ea typeface="Noto Sans CJK SC"/>
                <a:cs typeface="Noto Sans CJK SC"/>
              </a:rPr>
              <a:t>https://docs.livekit.io/agents/logic/turns/turn-detector/</a:t>
            </a:r>
          </a:p>
          <a:p>
            <a:r>
              <a:rPr lang="zh-CN">
                <a:latin typeface="Noto Sans CJK SC"/>
                <a:ea typeface="Noto Sans CJK SC"/>
                <a:cs typeface="Noto Sans CJK SC"/>
              </a:rPr>
              <a:t>https://developers.openai.com/api/docs/guides/realtime-vad</a:t>
            </a:r>
          </a:p>
          <a:p>
            <a:r>
              <a:rPr lang="zh-CN">
                <a:latin typeface="Noto Sans CJK SC"/>
                <a:ea typeface="Noto Sans CJK SC"/>
                <a:cs typeface="Noto Sans CJK SC"/>
              </a:rPr>
              <a:t>https://github.com/vllm-project/vllm-omni/blob/712b90de9c7bc14c595b363401588a713a87c02d/vllm_omni/engine/duplex/turn_detection.py</a:t>
            </a:r>
          </a:p>
          <a:p>
            <a:r>
              <a:rPr lang="zh-CN">
                <a:latin typeface="Noto Sans CJK SC"/>
                <a:ea typeface="Noto Sans CJK SC"/>
                <a:cs typeface="Noto Sans CJK SC"/>
              </a:rPr>
              <a:t>https://github.com/vllm-project/vllm-omni/blob/712b90de9c7bc14c595b363401588a713a87c02d/vllm_omni/engine/duplex/vad.py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https://github.com/snakers4/silero-vad</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https://github.com/vllm-project/vllm-omni/blob/4c5541cfc17143f80bdb89bbb7a5840b08bb52c6/vllm_omni/config/stage_config.py</a:t>
            </a:r>
          </a:p>
          <a:p>
            <a:r>
              <a:rPr lang="zh-CN">
                <a:latin typeface="Noto Sans CJK SC"/>
                <a:ea typeface="Noto Sans CJK SC"/>
                <a:cs typeface="Noto Sans CJK SC"/>
              </a:rPr>
              <a:t>https://github.com/vllm-project/vllm-omni/blob/4c5541cfc17143f80bdb89bbb7a5840b08bb52c6/vllm_omni/engine/duplex/session/lease.py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本页承接体验对比，分别说明 MiniCPM 的模型决策路径和 Qwen3-Omni + VAD 的控制路径。</a:t>
            </a:r>
          </a:p>
          <a:p>
            <a:r>
              <a:t>MiniCPM 接收持续输入，由模型决定 LISTEN / SPEAK。LISTEN 不是 response.cancel，也不会清空客户端已排队的播放音频。时间线表示模型生成状态，已排队音频可能继续播放。</a:t>
            </a:r>
          </a:p>
          <a:p>
            <a:r>
              <a:t>Qwen3-Omni + VAD：首次用户语音结束并达到静音阈值后，VAD 自动 commit 并启动回复。播放期间用户再次发声，服务端按 overlap policy 取消当前生成，客户端停止并清理播放；这一段输入结束后再次 VAD commit，启动新的生成请求。</a:t>
            </a:r>
          </a:p>
          <a:p>
            <a:r>
              <a:t>显式 response.cancel 与 VAD 触发打断是两个入口。前者是客户端发送的 command，后者由服务端语音活动检测触发 overlap policy。二者复用底层取消逻辑，但 VAD 并不是发送了同一个 response.cancel 协议消息；输入缓冲的处理也可能不同。</a:t>
            </a:r>
          </a:p>
          <a:p>
            <a:r>
              <a:t>时间线对齐用于说明事件顺序，不比较实测延迟，不代表所有模型支持相同打断行为。</a:t>
            </a:r>
          </a:p>
          <a:p>
            <a:r>
              <a:t/>
            </a:r>
          </a:p>
          <a:p>
            <a:r>
              <a:t>Technical detail and source references</a:t>
            </a:r>
          </a:p>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取消后丢弃待发音频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体验与交互方式"/>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8"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500" name="从半双工到全双工交互"/>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Noto Sans CJK SC"/>
                <a:ea typeface="Noto Sans CJK SC"/>
                <a:cs typeface="Noto Sans CJK SC"/>
              </a:rPr>
              <a:t>从半双工到全双工交互</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半双工"/>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半双工</a:t>
            </a:r>
          </a:p>
        </p:txBody>
      </p:sp>
      <p:sp>
        <p:nvSpPr>
          <p:cNvPr id="503" name="轮流发言"/>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Noto Sans CJK SC"/>
                <a:ea typeface="Noto Sans CJK SC"/>
                <a:cs typeface="Noto Sans CJK SC"/>
              </a:rPr>
              <a:t>轮流发言</a:t>
            </a:r>
          </a:p>
        </p:txBody>
      </p:sp>
      <p:sp>
        <p:nvSpPr>
          <p:cNvPr id="504" name="摄像头"/>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Noto Sans CJK SC"/>
                <a:ea typeface="Noto Sans CJK SC"/>
                <a:cs typeface="Noto Sans CJK SC"/>
              </a:rPr>
              <a:t>摄像头</a:t>
            </a:r>
          </a:p>
        </p:txBody>
      </p:sp>
      <p:sp>
        <p:nvSpPr>
          <p:cNvPr id="505" name="用户"/>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a:t>
            </a:r>
          </a:p>
        </p:txBody>
      </p:sp>
      <p:sp>
        <p:nvSpPr>
          <p:cNvPr id="506" name="助手"/>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Noto Sans CJK SC"/>
                <a:ea typeface="Noto Sans CJK SC"/>
                <a:cs typeface="Noto Sans CJK SC"/>
              </a:rPr>
              <a:t>助手</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全双工"/>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全双工</a:t>
            </a:r>
          </a:p>
        </p:txBody>
      </p:sp>
      <p:sp>
        <p:nvSpPr>
          <p:cNvPr id="511" name="边听边说"/>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Noto Sans CJK SC"/>
                <a:ea typeface="Noto Sans CJK SC"/>
                <a:cs typeface="Noto Sans CJK SC"/>
              </a:rPr>
              <a:t>边听边说</a:t>
            </a:r>
          </a:p>
        </p:txBody>
      </p:sp>
      <p:sp>
        <p:nvSpPr>
          <p:cNvPr id="512" name="摄像头"/>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Noto Sans CJK SC"/>
                <a:ea typeface="Noto Sans CJK SC"/>
                <a:cs typeface="Noto Sans CJK SC"/>
              </a:rPr>
              <a:t>摄像头</a:t>
            </a:r>
          </a:p>
        </p:txBody>
      </p:sp>
      <p:sp>
        <p:nvSpPr>
          <p:cNvPr id="513" name="用户"/>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a:t>
            </a:r>
          </a:p>
        </p:txBody>
      </p:sp>
      <p:sp>
        <p:nvSpPr>
          <p:cNvPr id="514" name="助手"/>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Noto Sans CJK SC"/>
                <a:ea typeface="Noto Sans CJK SC"/>
                <a:cs typeface="Noto Sans CJK SC"/>
              </a:rPr>
              <a:t>助手</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用户插话"/>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Noto Sans CJK SC"/>
                <a:ea typeface="Noto Sans CJK SC"/>
                <a:cs typeface="Noto Sans CJK SC"/>
              </a:rPr>
              <a:t>用户插话</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共有能力：流式响应"/>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Noto Sans CJK SC"/>
                <a:ea typeface="Noto Sans CJK SC"/>
                <a:cs typeface="Noto Sans CJK SC"/>
              </a:rPr>
              <a:t>共有能力：流式响应</a:t>
            </a:r>
          </a:p>
        </p:txBody>
      </p:sp>
      <p:sp>
        <p:nvSpPr>
          <p:cNvPr id="633" name="两种模式都可增量输出文本与音频。"/>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Noto Sans CJK SC"/>
                <a:ea typeface="Noto Sans CJK SC"/>
                <a:cs typeface="Noto Sans CJK SC"/>
              </a:rPr>
              <a:t>两种模式都可增量输出文本与音频。</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输入输出并行"/>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Noto Sans CJK SC"/>
                <a:ea typeface="Noto Sans CJK SC"/>
                <a:cs typeface="Noto Sans CJK SC"/>
              </a:rPr>
              <a:t>输入输出并行</a:t>
            </a:r>
          </a:p>
        </p:txBody>
      </p:sp>
      <p:sp>
        <p:nvSpPr>
          <p:cNvPr id="638" name="助手回应期间， / 仍持续接收新输入。"/>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Noto Sans CJK SC"/>
                <a:ea typeface="Noto Sans CJK SC"/>
                <a:cs typeface="Noto Sans CJK SC"/>
              </a:rPr>
              <a:t>助手回应期间，</a:t>
            </a:r>
          </a:p>
          <a:p>
            <a:pPr algn="l">
              <a:lnSpc>
                <a:spcPct val="110000"/>
              </a:lnSpc>
              <a:spcAft>
                <a:spcPts val="0"/>
              </a:spcAft>
            </a:pPr>
            <a:r>
              <a:rPr sz="1400" b="0">
                <a:solidFill>
                  <a:srgbClr val="16304E"/>
                </a:solidFill>
                <a:latin typeface="Noto Sans CJK SC"/>
                <a:ea typeface="Noto Sans CJK SC"/>
                <a:cs typeface="Noto Sans CJK SC"/>
              </a:rPr>
              <a:t>仍持续接收新输入。</a:t>
            </a:r>
          </a:p>
        </p:txBody>
      </p:sp>
      <p:sp>
        <p:nvSpPr>
          <p:cNvPr id="639" name="实时交互调整"/>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Noto Sans CJK SC"/>
                <a:ea typeface="Noto Sans CJK SC"/>
                <a:cs typeface="Noto Sans CJK SC"/>
              </a:rPr>
              <a:t>实时交互调整</a:t>
            </a:r>
          </a:p>
        </p:txBody>
      </p:sp>
      <p:sp>
        <p:nvSpPr>
          <p:cNvPr id="640" name="native duplex 模型结合新输入， / 调整后续输出或让出话语权。"/>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Noto Sans CJK SC"/>
                <a:ea typeface="Noto Sans CJK SC"/>
                <a:cs typeface="Noto Sans CJK SC"/>
              </a:rPr>
              <a:t>native duplex 模型结合新输入，</a:t>
            </a:r>
          </a:p>
          <a:p>
            <a:pPr algn="l">
              <a:lnSpc>
                <a:spcPct val="110000"/>
              </a:lnSpc>
              <a:spcAft>
                <a:spcPts val="0"/>
              </a:spcAft>
            </a:pPr>
            <a:r>
              <a:rPr sz="1400" b="0">
                <a:solidFill>
                  <a:srgbClr val="16304E"/>
                </a:solidFill>
                <a:latin typeface="Noto Sans CJK SC"/>
                <a:ea typeface="Noto Sans CJK SC"/>
                <a:cs typeface="Noto Sans CJK SC"/>
              </a:rPr>
              <a:t>调整后续输出或让出话语权。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交互控制方式取决于模型能力与所选 demo。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PersonaPlex · MiniCPM-o 4.5</a:t>
            </a:r>
          </a:p>
          <a:p>
            <a:pPr algn="l">
              <a:lnSpc>
                <a:spcPct val="110000"/>
              </a:lnSpc>
              <a:spcAft>
                <a:spcPts val="0"/>
              </a:spcAft>
            </a:pPr>
            <a:r>
              <a:rPr sz="1050" b="0" lang="zh-CN">
                <a:solidFill>
                  <a:srgbClr val="142B45"/>
                </a:solidFill>
                <a:latin typeface="Noto Sans CJK SC"/>
                <a:ea typeface="Noto Sans CJK SC"/>
                <a:cs typeface="Noto Sans CJK SC"/>
              </a:rPr>
              <a:t>模型决定何时发言</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AURA 按钮 · Qwen VAD demo</a:t>
            </a:r>
          </a:p>
          <a:p>
            <a:pPr algn="l">
              <a:lnSpc>
                <a:spcPct val="110000"/>
              </a:lnSpc>
              <a:spcAft>
                <a:spcPts val="0"/>
              </a:spcAft>
            </a:pPr>
            <a:r>
              <a:rPr sz="1050" b="0" lang="zh-CN">
                <a:solidFill>
                  <a:srgbClr val="142B45"/>
                </a:solidFill>
                <a:latin typeface="Noto Sans CJK SC"/>
                <a:ea typeface="Noto Sans CJK SC"/>
                <a:cs typeface="Noto Sans CJK SC"/>
              </a:rPr>
              <a:t>停止本地播放，推理仍可能继续</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 Server VAD*</a:t>
            </a:r>
          </a:p>
          <a:p>
            <a:pPr algn="l">
              <a:lnSpc>
                <a:spcPct val="110000"/>
              </a:lnSpc>
              <a:spcAft>
                <a:spcPts val="0"/>
              </a:spcAft>
            </a:pPr>
            <a:r>
              <a:rPr sz="1050" b="0" lang="zh-CN">
                <a:solidFill>
                  <a:srgbClr val="142B45"/>
                </a:solidFill>
                <a:latin typeface="Noto Sans CJK SC"/>
                <a:ea typeface="Noto Sans CJK SC"/>
                <a:cs typeface="Noto Sans CJK SC"/>
              </a:rPr>
              <a:t>取消当前生成</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各模型的 demo 控制方式不同；Qwen VAD 取消需启用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42B45"/>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边生成语音，边处理用户语音</a:t>
            </a:r>
          </a:p>
          <a:p>
            <a:pPr algn="l">
              <a:lnSpc>
                <a:spcPct val="110000"/>
              </a:lnSpc>
              <a:spcAft>
                <a:spcPts val="0"/>
              </a:spcAft>
            </a:pPr>
            <a:r>
              <a:rPr sz="1180" b="0" lang="zh-CN">
                <a:solidFill>
                  <a:srgbClr val="142B45"/>
                </a:solidFill>
                <a:latin typeface="Noto Sans CJK SC"/>
                <a:ea typeface="Noto Sans CJK SC"/>
                <a:cs typeface="Noto Sans CJK SC"/>
              </a:rPr>
              <a:t>音色与角色设定在本次会话中保持不变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管理有界 output buffer，清理过期会话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 / 会话操作</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路由 command 与 event；Orchestrator 协调会话执行。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Stage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lang="zh-CN">
                <a:solidFill>
                  <a:srgbClr val="586B7E"/>
                </a:solidFill>
                <a:latin typeface="Noto Sans CJK SC"/>
                <a:ea typeface="Noto Sans CJK SC"/>
                <a:cs typeface="Noto Sans CJK SC"/>
              </a:rPr>
              <a:t>Scheduler · Worker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构造输入 → 提交 Stage 执行</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Native：追加到持续请求 · Turn-based：commit 后启动新请求 · 两种模式均可持续接收输入</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架构与执行流程"/>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架构与执行流程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10"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501" name="从实时输入到语音输出：Stage 与状态"/>
          <p:cNvSpPr txBox="1"/>
          <p:nvPr/>
        </p:nvSpPr>
        <p:spPr>
          <a:xfrm>
            <a:off x="548640" y="1005840"/>
            <a:ext cx="11082528" cy="539496"/>
          </a:xfrm>
          <a:prstGeom prst="rect">
            <a:avLst/>
          </a:prstGeom>
          <a:noFill/>
        </p:spPr>
        <p:txBody>
          <a:bodyPr wrap="square" lIns="0" rIns="0" tIns="0" bIns="0" anchor="t">
            <a:noAutofit/>
          </a:bodyPr>
          <a:lstStyle/>
          <a:p>
            <a:pPr algn="l">
              <a:lnSpc>
                <a:spcPct val="108000"/>
              </a:lnSpc>
              <a:spcAft>
                <a:spcPts val="0"/>
              </a:spcAft>
            </a:pPr>
            <a:r>
              <a:rPr sz="3000" b="1">
                <a:solidFill>
                  <a:srgbClr val="16304E"/>
                </a:solidFill>
                <a:latin typeface="Noto Sans CJK SC"/>
                <a:ea typeface="Noto Sans CJK SC"/>
                <a:cs typeface="Noto Sans CJK SC"/>
              </a:rPr>
              <a:t>从实时输入到语音输出：Stage 与状态</a:t>
            </a:r>
          </a:p>
        </p:txBody>
      </p:sp>
      <p:sp>
        <p:nvSpPr>
          <p:cNvPr id="502" name="native duplex 续用计算状态；turn-based execution 根据历史构建新请求。"/>
          <p:cNvSpPr txBox="1"/>
          <p:nvPr/>
        </p:nvSpPr>
        <p:spPr>
          <a:xfrm>
            <a:off x="576072" y="1655064"/>
            <a:ext cx="10991088" cy="310896"/>
          </a:xfrm>
          <a:prstGeom prst="rect">
            <a:avLst/>
          </a:prstGeom>
          <a:noFill/>
        </p:spPr>
        <p:txBody>
          <a:bodyPr wrap="square" lIns="0" rIns="0" tIns="0" bIns="0" anchor="t">
            <a:noAutofit/>
          </a:bodyPr>
          <a:lstStyle/>
          <a:p>
            <a:pPr algn="l">
              <a:lnSpc>
                <a:spcPct val="108000"/>
              </a:lnSpc>
              <a:spcAft>
                <a:spcPts val="0"/>
              </a:spcAft>
            </a:pPr>
            <a:r>
              <a:rPr sz="1440" b="0">
                <a:solidFill>
                  <a:srgbClr val="526985"/>
                </a:solidFill>
                <a:latin typeface="Noto Sans CJK SC"/>
                <a:ea typeface="Noto Sans CJK SC"/>
                <a:cs typeface="Noto Sans CJK SC"/>
              </a:rPr>
              <a:t>native duplex 续用计算状态；turn-based execution 根据历史构建新请求。</a:t>
            </a:r>
          </a:p>
        </p:txBody>
      </p:sp>
      <p:sp>
        <p:nvSpPr>
          <p:cNvPr id="503" name="模型 / 输入"/>
          <p:cNvSpPr txBox="1"/>
          <p:nvPr/>
        </p:nvSpPr>
        <p:spPr>
          <a:xfrm>
            <a:off x="694944" y="2057400"/>
            <a:ext cx="1664208"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Noto Sans CJK SC"/>
                <a:ea typeface="Noto Sans CJK SC"/>
                <a:cs typeface="Noto Sans CJK SC"/>
              </a:rPr>
              <a:t>模型 / 输入</a:t>
            </a:r>
          </a:p>
        </p:txBody>
      </p:sp>
      <p:sp>
        <p:nvSpPr>
          <p:cNvPr id="504" name="Stage → 语音输出"/>
          <p:cNvSpPr txBox="1"/>
          <p:nvPr/>
        </p:nvSpPr>
        <p:spPr>
          <a:xfrm>
            <a:off x="2441448" y="2057400"/>
            <a:ext cx="6309360"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Noto Sans CJK SC"/>
                <a:ea typeface="Noto Sans CJK SC"/>
                <a:cs typeface="Noto Sans CJK SC"/>
              </a:rPr>
              <a:t>Stage → 语音输出</a:t>
            </a:r>
          </a:p>
        </p:txBody>
      </p:sp>
      <p:sp>
        <p:nvSpPr>
          <p:cNvPr id="505" name="持续保留的内容"/>
          <p:cNvSpPr txBox="1"/>
          <p:nvPr/>
        </p:nvSpPr>
        <p:spPr>
          <a:xfrm>
            <a:off x="9253728" y="2057400"/>
            <a:ext cx="2286000" cy="210312"/>
          </a:xfrm>
          <a:prstGeom prst="rect">
            <a:avLst/>
          </a:prstGeom>
          <a:noFill/>
        </p:spPr>
        <p:txBody>
          <a:bodyPr wrap="square" lIns="0" rIns="0" tIns="0" bIns="0" anchor="t">
            <a:noAutofit/>
          </a:bodyPr>
          <a:lstStyle/>
          <a:p>
            <a:pPr algn="l">
              <a:lnSpc>
                <a:spcPct val="108000"/>
              </a:lnSpc>
              <a:spcAft>
                <a:spcPts val="0"/>
              </a:spcAft>
            </a:pPr>
            <a:r>
              <a:rPr sz="1150" b="1">
                <a:solidFill>
                  <a:srgbClr val="526985"/>
                </a:solidFill>
                <a:latin typeface="Noto Sans CJK SC"/>
                <a:ea typeface="Noto Sans CJK SC"/>
                <a:cs typeface="Noto Sans CJK SC"/>
              </a:rPr>
              <a:t>持续保留的内容</a:t>
            </a:r>
          </a:p>
        </p:txBody>
      </p:sp>
      <p:sp>
        <p:nvSpPr>
          <p:cNvPr id="506" name="PersonaPlex row"/>
          <p:cNvSpPr/>
          <p:nvPr/>
        </p:nvSpPr>
        <p:spPr>
          <a:xfrm>
            <a:off x="548640" y="2368296"/>
            <a:ext cx="11082528" cy="886968"/>
          </a:xfrm>
          <a:prstGeom prst="rect">
            <a:avLst/>
          </a:prstGeom>
          <a:solidFill>
            <a:srgbClr val="F3F6FA"/>
          </a:solidFill>
          <a:ln w="11430">
            <a:noFill/>
          </a:ln>
        </p:spPr>
      </p:sp>
      <p:sp>
        <p:nvSpPr>
          <p:cNvPr id="507" name="PersonaPlex mode accent"/>
          <p:cNvSpPr/>
          <p:nvPr/>
        </p:nvSpPr>
        <p:spPr>
          <a:xfrm>
            <a:off x="548640" y="2368296"/>
            <a:ext cx="32004" cy="886968"/>
          </a:xfrm>
          <a:prstGeom prst="rect">
            <a:avLst/>
          </a:prstGeom>
          <a:solidFill>
            <a:srgbClr val="347FF0"/>
          </a:solidFill>
          <a:ln w="11430">
            <a:noFill/>
          </a:ln>
        </p:spPr>
      </p:sp>
      <p:cxnSp>
        <p:nvCxnSpPr>
          <p:cNvPr id="508" name="PersonaPlex state separator"/>
          <p:cNvCxnSpPr/>
          <p:nvPr/>
        </p:nvCxnSpPr>
        <p:spPr>
          <a:xfrm>
            <a:off x="9079992" y="2496312"/>
            <a:ext cx="0" cy="658368"/>
          </a:xfrm>
          <a:prstGeom prst="line">
            <a:avLst/>
          </a:prstGeom>
          <a:ln w="10795">
            <a:solidFill>
              <a:srgbClr val="CAD5E2"/>
            </a:solidFill>
            <a:tailEnd type="none" w="sm" len="sm"/>
          </a:ln>
        </p:spPr>
      </p:cxnSp>
      <p:sp>
        <p:nvSpPr>
          <p:cNvPr id="509" name="PersonaPlex"/>
          <p:cNvSpPr txBox="1"/>
          <p:nvPr/>
        </p:nvSpPr>
        <p:spPr>
          <a:xfrm>
            <a:off x="694944" y="2478024"/>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PersonaPlex</a:t>
            </a:r>
          </a:p>
        </p:txBody>
      </p:sp>
      <p:sp>
        <p:nvSpPr>
          <p:cNvPr id="510" name="native duplex"/>
          <p:cNvSpPr txBox="1"/>
          <p:nvPr/>
        </p:nvSpPr>
        <p:spPr>
          <a:xfrm>
            <a:off x="694944" y="2779776"/>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1" name="PCM 音频 · 80 ms / 帧"/>
          <p:cNvSpPr txBox="1"/>
          <p:nvPr/>
        </p:nvSpPr>
        <p:spPr>
          <a:xfrm>
            <a:off x="694944" y="3017520"/>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80 ms / 帧</a:t>
            </a:r>
          </a:p>
        </p:txBody>
      </p:sp>
      <p:sp>
        <p:nvSpPr>
          <p:cNvPr id="512" name="计算状态"/>
          <p:cNvSpPr txBox="1"/>
          <p:nvPr/>
        </p:nvSpPr>
        <p:spPr>
          <a:xfrm>
            <a:off x="9253728" y="2532888"/>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Noto Sans CJK SC"/>
                <a:ea typeface="Noto Sans CJK SC"/>
                <a:cs typeface="Noto Sans CJK SC"/>
              </a:rPr>
              <a:t>计算状态</a:t>
            </a:r>
          </a:p>
        </p:txBody>
      </p:sp>
      <p:sp>
        <p:nvSpPr>
          <p:cNvPr id="513" name="S0：KV + Mimi encoder / S1：Mimi decoder"/>
          <p:cNvSpPr txBox="1"/>
          <p:nvPr/>
        </p:nvSpPr>
        <p:spPr>
          <a:xfrm>
            <a:off x="9253728" y="2816352"/>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S0：KV + Mimi encoder</a:t>
            </a:r>
          </a:p>
          <a:p>
            <a:pPr algn="l">
              <a:lnSpc>
                <a:spcPct val="108000"/>
              </a:lnSpc>
              <a:spcAft>
                <a:spcPts val="0"/>
              </a:spcAft>
            </a:pPr>
            <a:r>
              <a:rPr sz="1200" b="0">
                <a:solidFill>
                  <a:srgbClr val="16304E"/>
                </a:solidFill>
                <a:latin typeface="Arial"/>
                <a:ea typeface="Arial"/>
                <a:cs typeface="Arial"/>
              </a:rPr>
              <a:t>S1：Mimi decoder</a:t>
            </a:r>
          </a:p>
        </p:txBody>
      </p:sp>
      <p:sp>
        <p:nvSpPr>
          <p:cNvPr id="514" name="MiniCPM-o 4.5 row"/>
          <p:cNvSpPr/>
          <p:nvPr/>
        </p:nvSpPr>
        <p:spPr>
          <a:xfrm>
            <a:off x="548640" y="3310128"/>
            <a:ext cx="11082528" cy="886968"/>
          </a:xfrm>
          <a:prstGeom prst="rect">
            <a:avLst/>
          </a:prstGeom>
          <a:solidFill>
            <a:srgbClr val="F3F6FA"/>
          </a:solidFill>
          <a:ln w="11430">
            <a:noFill/>
          </a:ln>
        </p:spPr>
      </p:sp>
      <p:sp>
        <p:nvSpPr>
          <p:cNvPr id="515" name="MiniCPM-o 4.5 mode accent"/>
          <p:cNvSpPr/>
          <p:nvPr/>
        </p:nvSpPr>
        <p:spPr>
          <a:xfrm>
            <a:off x="548640" y="3310128"/>
            <a:ext cx="32004" cy="886968"/>
          </a:xfrm>
          <a:prstGeom prst="rect">
            <a:avLst/>
          </a:prstGeom>
          <a:solidFill>
            <a:srgbClr val="347FF0"/>
          </a:solidFill>
          <a:ln w="11430">
            <a:noFill/>
          </a:ln>
        </p:spPr>
      </p:sp>
      <p:cxnSp>
        <p:nvCxnSpPr>
          <p:cNvPr id="516" name="MiniCPM-o 4.5 state separator"/>
          <p:cNvCxnSpPr/>
          <p:nvPr/>
        </p:nvCxnSpPr>
        <p:spPr>
          <a:xfrm>
            <a:off x="9079992" y="3438144"/>
            <a:ext cx="0" cy="658368"/>
          </a:xfrm>
          <a:prstGeom prst="line">
            <a:avLst/>
          </a:prstGeom>
          <a:ln w="10795">
            <a:solidFill>
              <a:srgbClr val="CAD5E2"/>
            </a:solidFill>
            <a:tailEnd type="none" w="sm" len="sm"/>
          </a:ln>
        </p:spPr>
      </p:cxnSp>
      <p:sp>
        <p:nvSpPr>
          <p:cNvPr id="517" name="MiniCPM-o 4.5"/>
          <p:cNvSpPr txBox="1"/>
          <p:nvPr/>
        </p:nvSpPr>
        <p:spPr>
          <a:xfrm>
            <a:off x="694944" y="3419856"/>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MiniCPM-o 4.5</a:t>
            </a:r>
          </a:p>
        </p:txBody>
      </p:sp>
      <p:sp>
        <p:nvSpPr>
          <p:cNvPr id="518" name="native duplex"/>
          <p:cNvSpPr txBox="1"/>
          <p:nvPr/>
        </p:nvSpPr>
        <p:spPr>
          <a:xfrm>
            <a:off x="694944" y="3721608"/>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9" name="PCM 音频 + 视频"/>
          <p:cNvSpPr txBox="1"/>
          <p:nvPr/>
        </p:nvSpPr>
        <p:spPr>
          <a:xfrm>
            <a:off x="694944" y="3959352"/>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视频</a:t>
            </a:r>
          </a:p>
        </p:txBody>
      </p:sp>
      <p:sp>
        <p:nvSpPr>
          <p:cNvPr id="520" name="计算状态"/>
          <p:cNvSpPr txBox="1"/>
          <p:nvPr/>
        </p:nvSpPr>
        <p:spPr>
          <a:xfrm>
            <a:off x="9253728" y="3474720"/>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Noto Sans CJK SC"/>
                <a:ea typeface="Noto Sans CJK SC"/>
                <a:cs typeface="Noto Sans CJK SC"/>
              </a:rPr>
              <a:t>计算状态</a:t>
            </a:r>
          </a:p>
        </p:txBody>
      </p:sp>
      <p:sp>
        <p:nvSpPr>
          <p:cNvPr id="521" name="S0：LLM KV + 音频状态 / LISTEN 保留活跃请求"/>
          <p:cNvSpPr txBox="1"/>
          <p:nvPr/>
        </p:nvSpPr>
        <p:spPr>
          <a:xfrm>
            <a:off x="9253728" y="3758184"/>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S0：LLM KV + 音频状态</a:t>
            </a:r>
          </a:p>
          <a:p>
            <a:pPr algn="l">
              <a:lnSpc>
                <a:spcPct val="108000"/>
              </a:lnSpc>
              <a:spcAft>
                <a:spcPts val="0"/>
              </a:spcAft>
            </a:pPr>
            <a:r>
              <a:rPr sz="1200" b="0">
                <a:solidFill>
                  <a:srgbClr val="16304E"/>
                </a:solidFill>
                <a:latin typeface="Noto Sans CJK SC"/>
                <a:ea typeface="Noto Sans CJK SC"/>
                <a:cs typeface="Noto Sans CJK SC"/>
              </a:rPr>
              <a:t>LISTEN 保留活跃请求</a:t>
            </a:r>
          </a:p>
        </p:txBody>
      </p:sp>
      <p:sp>
        <p:nvSpPr>
          <p:cNvPr id="522" name="AURA row"/>
          <p:cNvSpPr/>
          <p:nvPr/>
        </p:nvSpPr>
        <p:spPr>
          <a:xfrm>
            <a:off x="548640" y="4251960"/>
            <a:ext cx="11082528" cy="886968"/>
          </a:xfrm>
          <a:prstGeom prst="rect">
            <a:avLst/>
          </a:prstGeom>
          <a:solidFill>
            <a:srgbClr val="F3F6FA"/>
          </a:solidFill>
          <a:ln w="11430">
            <a:noFill/>
          </a:ln>
        </p:spPr>
      </p:sp>
      <p:sp>
        <p:nvSpPr>
          <p:cNvPr id="523" name="AURA mode accent"/>
          <p:cNvSpPr/>
          <p:nvPr/>
        </p:nvSpPr>
        <p:spPr>
          <a:xfrm>
            <a:off x="548640" y="4251960"/>
            <a:ext cx="32004" cy="886968"/>
          </a:xfrm>
          <a:prstGeom prst="rect">
            <a:avLst/>
          </a:prstGeom>
          <a:solidFill>
            <a:srgbClr val="008E96"/>
          </a:solidFill>
          <a:ln w="11430">
            <a:noFill/>
          </a:ln>
        </p:spPr>
      </p:sp>
      <p:cxnSp>
        <p:nvCxnSpPr>
          <p:cNvPr id="524" name="AURA state separator"/>
          <p:cNvCxnSpPr/>
          <p:nvPr/>
        </p:nvCxnSpPr>
        <p:spPr>
          <a:xfrm>
            <a:off x="9079992" y="4379976"/>
            <a:ext cx="0" cy="658368"/>
          </a:xfrm>
          <a:prstGeom prst="line">
            <a:avLst/>
          </a:prstGeom>
          <a:ln w="10795">
            <a:solidFill>
              <a:srgbClr val="CAD5E2"/>
            </a:solidFill>
            <a:tailEnd type="none" w="sm" len="sm"/>
          </a:ln>
        </p:spPr>
      </p:cxnSp>
      <p:sp>
        <p:nvSpPr>
          <p:cNvPr id="525" name="AURA"/>
          <p:cNvSpPr txBox="1"/>
          <p:nvPr/>
        </p:nvSpPr>
        <p:spPr>
          <a:xfrm>
            <a:off x="694944" y="4361688"/>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AURA</a:t>
            </a:r>
          </a:p>
        </p:txBody>
      </p:sp>
      <p:sp>
        <p:nvSpPr>
          <p:cNvPr id="526" name="turn-based · commit"/>
          <p:cNvSpPr txBox="1"/>
          <p:nvPr/>
        </p:nvSpPr>
        <p:spPr>
          <a:xfrm>
            <a:off x="694944" y="4663440"/>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27" name="PCM 音频 + 视频"/>
          <p:cNvSpPr txBox="1"/>
          <p:nvPr/>
        </p:nvSpPr>
        <p:spPr>
          <a:xfrm>
            <a:off x="694944" y="4901184"/>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视频</a:t>
            </a:r>
          </a:p>
        </p:txBody>
      </p:sp>
      <p:sp>
        <p:nvSpPr>
          <p:cNvPr id="528" name="对话历史"/>
          <p:cNvSpPr txBox="1"/>
          <p:nvPr/>
        </p:nvSpPr>
        <p:spPr>
          <a:xfrm>
            <a:off x="9253728" y="4416552"/>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Noto Sans CJK SC"/>
                <a:ea typeface="Noto Sans CJK SC"/>
                <a:cs typeface="Noto Sans CJK SC"/>
              </a:rPr>
              <a:t>对话历史</a:t>
            </a:r>
          </a:p>
        </p:txBody>
      </p:sp>
      <p:sp>
        <p:nvSpPr>
          <p:cNvPr id="529" name="ASR 文本 + 视频片段 / + 助手文本"/>
          <p:cNvSpPr txBox="1"/>
          <p:nvPr/>
        </p:nvSpPr>
        <p:spPr>
          <a:xfrm>
            <a:off x="9253728" y="4700016"/>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ASR 文本 + 视频片段</a:t>
            </a:r>
          </a:p>
          <a:p>
            <a:pPr algn="l">
              <a:lnSpc>
                <a:spcPct val="108000"/>
              </a:lnSpc>
              <a:spcAft>
                <a:spcPts val="0"/>
              </a:spcAft>
            </a:pPr>
            <a:r>
              <a:rPr sz="1200" b="0">
                <a:solidFill>
                  <a:srgbClr val="16304E"/>
                </a:solidFill>
                <a:latin typeface="Noto Sans CJK SC"/>
                <a:ea typeface="Noto Sans CJK SC"/>
                <a:cs typeface="Noto Sans CJK SC"/>
              </a:rPr>
              <a:t>+ 助手文本</a:t>
            </a:r>
          </a:p>
        </p:txBody>
      </p:sp>
      <p:sp>
        <p:nvSpPr>
          <p:cNvPr id="530" name="Qwen3-Omni row"/>
          <p:cNvSpPr/>
          <p:nvPr/>
        </p:nvSpPr>
        <p:spPr>
          <a:xfrm>
            <a:off x="548640" y="5193792"/>
            <a:ext cx="11082528" cy="886968"/>
          </a:xfrm>
          <a:prstGeom prst="rect">
            <a:avLst/>
          </a:prstGeom>
          <a:solidFill>
            <a:srgbClr val="F3F6FA"/>
          </a:solidFill>
          <a:ln w="11430">
            <a:noFill/>
          </a:ln>
        </p:spPr>
      </p:sp>
      <p:sp>
        <p:nvSpPr>
          <p:cNvPr id="531" name="Qwen3-Omni mode accent"/>
          <p:cNvSpPr/>
          <p:nvPr/>
        </p:nvSpPr>
        <p:spPr>
          <a:xfrm>
            <a:off x="548640" y="5193792"/>
            <a:ext cx="32004" cy="886968"/>
          </a:xfrm>
          <a:prstGeom prst="rect">
            <a:avLst/>
          </a:prstGeom>
          <a:solidFill>
            <a:srgbClr val="008E96"/>
          </a:solidFill>
          <a:ln w="11430">
            <a:noFill/>
          </a:ln>
        </p:spPr>
      </p:sp>
      <p:cxnSp>
        <p:nvCxnSpPr>
          <p:cNvPr id="532" name="Qwen3-Omni state separator"/>
          <p:cNvCxnSpPr/>
          <p:nvPr/>
        </p:nvCxnSpPr>
        <p:spPr>
          <a:xfrm>
            <a:off x="9079992" y="5321808"/>
            <a:ext cx="0" cy="658368"/>
          </a:xfrm>
          <a:prstGeom prst="line">
            <a:avLst/>
          </a:prstGeom>
          <a:ln w="10795">
            <a:solidFill>
              <a:srgbClr val="CAD5E2"/>
            </a:solidFill>
            <a:tailEnd type="none" w="sm" len="sm"/>
          </a:ln>
        </p:spPr>
      </p:cxnSp>
      <p:sp>
        <p:nvSpPr>
          <p:cNvPr id="533" name="Qwen3-Omni"/>
          <p:cNvSpPr txBox="1"/>
          <p:nvPr/>
        </p:nvSpPr>
        <p:spPr>
          <a:xfrm>
            <a:off x="694944" y="5303520"/>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Qwen3-Omni</a:t>
            </a:r>
          </a:p>
        </p:txBody>
      </p:sp>
      <p:sp>
        <p:nvSpPr>
          <p:cNvPr id="534" name="turn-based · commit"/>
          <p:cNvSpPr txBox="1"/>
          <p:nvPr/>
        </p:nvSpPr>
        <p:spPr>
          <a:xfrm>
            <a:off x="694944" y="5605272"/>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35" name="PCM 音频 + 图像"/>
          <p:cNvSpPr txBox="1"/>
          <p:nvPr/>
        </p:nvSpPr>
        <p:spPr>
          <a:xfrm>
            <a:off x="694944" y="5843016"/>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图像</a:t>
            </a:r>
          </a:p>
        </p:txBody>
      </p:sp>
      <p:sp>
        <p:nvSpPr>
          <p:cNvPr id="536" name="对话历史"/>
          <p:cNvSpPr txBox="1"/>
          <p:nvPr/>
        </p:nvSpPr>
        <p:spPr>
          <a:xfrm>
            <a:off x="9253728" y="5358384"/>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Noto Sans CJK SC"/>
                <a:ea typeface="Noto Sans CJK SC"/>
                <a:cs typeface="Noto Sans CJK SC"/>
              </a:rPr>
              <a:t>对话历史</a:t>
            </a:r>
          </a:p>
        </p:txBody>
      </p:sp>
      <p:sp>
        <p:nvSpPr>
          <p:cNvPr id="537" name="用户音频 + 图像 / + 对话文本"/>
          <p:cNvSpPr txBox="1"/>
          <p:nvPr/>
        </p:nvSpPr>
        <p:spPr>
          <a:xfrm>
            <a:off x="9253728" y="5641848"/>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用户音频 + 图像</a:t>
            </a:r>
          </a:p>
          <a:p>
            <a:pPr algn="l">
              <a:lnSpc>
                <a:spcPct val="108000"/>
              </a:lnSpc>
              <a:spcAft>
                <a:spcPts val="0"/>
              </a:spcAft>
            </a:pPr>
            <a:r>
              <a:rPr sz="1200" b="0">
                <a:solidFill>
                  <a:srgbClr val="16304E"/>
                </a:solidFill>
                <a:latin typeface="Noto Sans CJK SC"/>
                <a:ea typeface="Noto Sans CJK SC"/>
                <a:cs typeface="Noto Sans CJK SC"/>
              </a:rPr>
              <a:t>+ 对话文本</a:t>
            </a:r>
          </a:p>
        </p:txBody>
      </p:sp>
      <p:sp>
        <p:nvSpPr>
          <p:cNvPr id="538" name="S0 · Talker Stage"/>
          <p:cNvSpPr/>
          <p:nvPr/>
        </p:nvSpPr>
        <p:spPr>
          <a:xfrm>
            <a:off x="2441448" y="2569464"/>
            <a:ext cx="3337560" cy="603504"/>
          </a:xfrm>
          <a:prstGeom prst="roundRect">
            <a:avLst>
              <a:gd name="adj" fmla="val 6000"/>
            </a:avLst>
          </a:prstGeom>
          <a:solidFill>
            <a:srgbClr val="FFFFFF"/>
          </a:solidFill>
          <a:ln w="11430">
            <a:solidFill>
              <a:srgbClr val="9EB3CB"/>
            </a:solidFill>
          </a:ln>
        </p:spPr>
      </p:sp>
      <p:sp>
        <p:nvSpPr>
          <p:cNvPr id="539" name="S0 · Talker"/>
          <p:cNvSpPr txBox="1"/>
          <p:nvPr/>
        </p:nvSpPr>
        <p:spPr>
          <a:xfrm>
            <a:off x="2482596" y="2647188"/>
            <a:ext cx="3255264"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Talker</a:t>
            </a:r>
          </a:p>
        </p:txBody>
      </p:sp>
      <p:sp>
        <p:nvSpPr>
          <p:cNvPr id="540" name="Mimi 编码 · Temporal · Depformer"/>
          <p:cNvSpPr txBox="1"/>
          <p:nvPr/>
        </p:nvSpPr>
        <p:spPr>
          <a:xfrm>
            <a:off x="2473452" y="2926080"/>
            <a:ext cx="32735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Mimi 编码 · Temporal · Depformer</a:t>
            </a:r>
          </a:p>
        </p:txBody>
      </p:sp>
      <p:sp>
        <p:nvSpPr>
          <p:cNvPr id="541" name="S1 · Code2Wav Stage"/>
          <p:cNvSpPr/>
          <p:nvPr/>
        </p:nvSpPr>
        <p:spPr>
          <a:xfrm>
            <a:off x="6693408" y="2569464"/>
            <a:ext cx="2176272" cy="603504"/>
          </a:xfrm>
          <a:prstGeom prst="roundRect">
            <a:avLst>
              <a:gd name="adj" fmla="val 6000"/>
            </a:avLst>
          </a:prstGeom>
          <a:solidFill>
            <a:srgbClr val="FFFFFF"/>
          </a:solidFill>
          <a:ln w="11430">
            <a:solidFill>
              <a:srgbClr val="9EB3CB"/>
            </a:solidFill>
          </a:ln>
        </p:spPr>
      </p:sp>
      <p:sp>
        <p:nvSpPr>
          <p:cNvPr id="542" name="S1 · Code2Wav"/>
          <p:cNvSpPr txBox="1"/>
          <p:nvPr/>
        </p:nvSpPr>
        <p:spPr>
          <a:xfrm>
            <a:off x="6734556" y="2647188"/>
            <a:ext cx="20939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Code2Wav</a:t>
            </a:r>
          </a:p>
        </p:txBody>
      </p:sp>
      <p:sp>
        <p:nvSpPr>
          <p:cNvPr id="543" name="Mimi → 24 kHz PCM"/>
          <p:cNvSpPr txBox="1"/>
          <p:nvPr/>
        </p:nvSpPr>
        <p:spPr>
          <a:xfrm>
            <a:off x="6725412" y="2926080"/>
            <a:ext cx="21122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 24 kHz PCM</a:t>
            </a:r>
          </a:p>
        </p:txBody>
      </p:sp>
      <p:cxnSp>
        <p:nvCxnSpPr>
          <p:cNvPr id="544" name="8 audio codebooks transfer"/>
          <p:cNvCxnSpPr/>
          <p:nvPr/>
        </p:nvCxnSpPr>
        <p:spPr>
          <a:xfrm>
            <a:off x="5833872" y="2871216"/>
            <a:ext cx="795528" cy="0"/>
          </a:xfrm>
          <a:prstGeom prst="line">
            <a:avLst/>
          </a:prstGeom>
          <a:ln w="17145">
            <a:solidFill>
              <a:srgbClr val="347FF0"/>
            </a:solidFill>
            <a:tailEnd type="triangle" w="sm" len="sm"/>
          </a:ln>
        </p:spPr>
      </p:cxnSp>
      <p:sp>
        <p:nvSpPr>
          <p:cNvPr id="545" name="8 组 audio codebooks"/>
          <p:cNvSpPr txBox="1"/>
          <p:nvPr/>
        </p:nvSpPr>
        <p:spPr>
          <a:xfrm>
            <a:off x="5445252" y="2400300"/>
            <a:ext cx="1581912"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8 组 audio codebooks</a:t>
            </a:r>
          </a:p>
        </p:txBody>
      </p:sp>
      <p:sp>
        <p:nvSpPr>
          <p:cNvPr id="546" name="S0 · LLM Stage"/>
          <p:cNvSpPr/>
          <p:nvPr/>
        </p:nvSpPr>
        <p:spPr>
          <a:xfrm>
            <a:off x="2441448" y="3511296"/>
            <a:ext cx="1719072" cy="603504"/>
          </a:xfrm>
          <a:prstGeom prst="roundRect">
            <a:avLst>
              <a:gd name="adj" fmla="val 6000"/>
            </a:avLst>
          </a:prstGeom>
          <a:solidFill>
            <a:srgbClr val="FFFFFF"/>
          </a:solidFill>
          <a:ln w="11430">
            <a:solidFill>
              <a:srgbClr val="9EB3CB"/>
            </a:solidFill>
          </a:ln>
        </p:spPr>
      </p:sp>
      <p:sp>
        <p:nvSpPr>
          <p:cNvPr id="547" name="S0 · LLM"/>
          <p:cNvSpPr txBox="1"/>
          <p:nvPr/>
        </p:nvSpPr>
        <p:spPr>
          <a:xfrm>
            <a:off x="2482596" y="3589020"/>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LLM</a:t>
            </a:r>
          </a:p>
        </p:txBody>
      </p:sp>
      <p:sp>
        <p:nvSpPr>
          <p:cNvPr id="548" name="音频 + 视频"/>
          <p:cNvSpPr txBox="1"/>
          <p:nvPr/>
        </p:nvSpPr>
        <p:spPr>
          <a:xfrm>
            <a:off x="2473452" y="3867912"/>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视频</a:t>
            </a:r>
          </a:p>
        </p:txBody>
      </p:sp>
      <p:sp>
        <p:nvSpPr>
          <p:cNvPr id="549" name="S1 · Talker Stage"/>
          <p:cNvSpPr/>
          <p:nvPr/>
        </p:nvSpPr>
        <p:spPr>
          <a:xfrm>
            <a:off x="5093208" y="3511296"/>
            <a:ext cx="1481328" cy="603504"/>
          </a:xfrm>
          <a:prstGeom prst="roundRect">
            <a:avLst>
              <a:gd name="adj" fmla="val 6000"/>
            </a:avLst>
          </a:prstGeom>
          <a:solidFill>
            <a:srgbClr val="FFFFFF"/>
          </a:solidFill>
          <a:ln w="11430">
            <a:solidFill>
              <a:srgbClr val="9EB3CB"/>
            </a:solidFill>
          </a:ln>
        </p:spPr>
      </p:sp>
      <p:sp>
        <p:nvSpPr>
          <p:cNvPr id="550" name="S1 · Talker"/>
          <p:cNvSpPr txBox="1"/>
          <p:nvPr/>
        </p:nvSpPr>
        <p:spPr>
          <a:xfrm>
            <a:off x="5134356" y="3589020"/>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Talker</a:t>
            </a:r>
          </a:p>
        </p:txBody>
      </p:sp>
      <p:sp>
        <p:nvSpPr>
          <p:cNvPr id="551" name="生成 audio tokens"/>
          <p:cNvSpPr txBox="1"/>
          <p:nvPr/>
        </p:nvSpPr>
        <p:spPr>
          <a:xfrm>
            <a:off x="5125212" y="3867912"/>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生成 audio tokens</a:t>
            </a:r>
          </a:p>
        </p:txBody>
      </p:sp>
      <p:sp>
        <p:nvSpPr>
          <p:cNvPr id="552" name="S2 · Code2Wav Stage"/>
          <p:cNvSpPr/>
          <p:nvPr/>
        </p:nvSpPr>
        <p:spPr>
          <a:xfrm>
            <a:off x="7443216" y="3511296"/>
            <a:ext cx="1426464" cy="603504"/>
          </a:xfrm>
          <a:prstGeom prst="roundRect">
            <a:avLst>
              <a:gd name="adj" fmla="val 6000"/>
            </a:avLst>
          </a:prstGeom>
          <a:solidFill>
            <a:srgbClr val="FFFFFF"/>
          </a:solidFill>
          <a:ln w="11430">
            <a:solidFill>
              <a:srgbClr val="9EB3CB"/>
            </a:solidFill>
          </a:ln>
        </p:spPr>
      </p:sp>
      <p:sp>
        <p:nvSpPr>
          <p:cNvPr id="553" name="S2 · Code2Wav"/>
          <p:cNvSpPr txBox="1"/>
          <p:nvPr/>
        </p:nvSpPr>
        <p:spPr>
          <a:xfrm>
            <a:off x="7484364" y="3589020"/>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S2 · Code2Wav</a:t>
            </a:r>
          </a:p>
        </p:txBody>
      </p:sp>
      <p:sp>
        <p:nvSpPr>
          <p:cNvPr id="554" name="Tokens → PCM"/>
          <p:cNvSpPr txBox="1"/>
          <p:nvPr/>
        </p:nvSpPr>
        <p:spPr>
          <a:xfrm>
            <a:off x="7475220" y="3867912"/>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55" name="SPEAK: text + features transfer"/>
          <p:cNvCxnSpPr/>
          <p:nvPr/>
        </p:nvCxnSpPr>
        <p:spPr>
          <a:xfrm>
            <a:off x="4215384" y="3813048"/>
            <a:ext cx="813816" cy="0"/>
          </a:xfrm>
          <a:prstGeom prst="line">
            <a:avLst/>
          </a:prstGeom>
          <a:ln w="17145">
            <a:solidFill>
              <a:srgbClr val="347FF0"/>
            </a:solidFill>
            <a:tailEnd type="triangle" w="sm" len="sm"/>
          </a:ln>
        </p:spPr>
      </p:cxnSp>
      <p:sp>
        <p:nvSpPr>
          <p:cNvPr id="556" name="SPEAK：文本 + 特征"/>
          <p:cNvSpPr txBox="1"/>
          <p:nvPr/>
        </p:nvSpPr>
        <p:spPr>
          <a:xfrm>
            <a:off x="3657600" y="3342132"/>
            <a:ext cx="193852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SPEAK：文本 + 特征</a:t>
            </a:r>
          </a:p>
        </p:txBody>
      </p:sp>
      <p:cxnSp>
        <p:nvCxnSpPr>
          <p:cNvPr id="557" name="Audio tokens transfer"/>
          <p:cNvCxnSpPr/>
          <p:nvPr/>
        </p:nvCxnSpPr>
        <p:spPr>
          <a:xfrm>
            <a:off x="6629400" y="3813048"/>
            <a:ext cx="749808" cy="0"/>
          </a:xfrm>
          <a:prstGeom prst="line">
            <a:avLst/>
          </a:prstGeom>
          <a:ln w="17145">
            <a:solidFill>
              <a:srgbClr val="347FF0"/>
            </a:solidFill>
            <a:tailEnd type="triangle" w="sm" len="sm"/>
          </a:ln>
        </p:spPr>
      </p:cxnSp>
      <p:sp>
        <p:nvSpPr>
          <p:cNvPr id="558" name="Audio tokens"/>
          <p:cNvSpPr txBox="1"/>
          <p:nvPr/>
        </p:nvSpPr>
        <p:spPr>
          <a:xfrm>
            <a:off x="6437376" y="3342132"/>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59" name="S0 · ASR Stage"/>
          <p:cNvSpPr/>
          <p:nvPr/>
        </p:nvSpPr>
        <p:spPr>
          <a:xfrm>
            <a:off x="2441448" y="4453128"/>
            <a:ext cx="1005840" cy="603504"/>
          </a:xfrm>
          <a:prstGeom prst="roundRect">
            <a:avLst>
              <a:gd name="adj" fmla="val 6000"/>
            </a:avLst>
          </a:prstGeom>
          <a:solidFill>
            <a:srgbClr val="FFFFFF"/>
          </a:solidFill>
          <a:ln w="11430">
            <a:solidFill>
              <a:srgbClr val="9EB3CB"/>
            </a:solidFill>
          </a:ln>
        </p:spPr>
      </p:sp>
      <p:sp>
        <p:nvSpPr>
          <p:cNvPr id="560" name="S0 · ASR"/>
          <p:cNvSpPr txBox="1"/>
          <p:nvPr/>
        </p:nvSpPr>
        <p:spPr>
          <a:xfrm>
            <a:off x="2482596" y="4530852"/>
            <a:ext cx="92354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ASR</a:t>
            </a:r>
          </a:p>
        </p:txBody>
      </p:sp>
      <p:sp>
        <p:nvSpPr>
          <p:cNvPr id="561" name="音频 → 文本"/>
          <p:cNvSpPr txBox="1"/>
          <p:nvPr/>
        </p:nvSpPr>
        <p:spPr>
          <a:xfrm>
            <a:off x="2473452" y="4809744"/>
            <a:ext cx="94183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文本</a:t>
            </a:r>
          </a:p>
        </p:txBody>
      </p:sp>
      <p:sp>
        <p:nvSpPr>
          <p:cNvPr id="562" name="S1 · Thinker Stage"/>
          <p:cNvSpPr/>
          <p:nvPr/>
        </p:nvSpPr>
        <p:spPr>
          <a:xfrm>
            <a:off x="3959352" y="4453128"/>
            <a:ext cx="1316736" cy="603504"/>
          </a:xfrm>
          <a:prstGeom prst="roundRect">
            <a:avLst>
              <a:gd name="adj" fmla="val 6000"/>
            </a:avLst>
          </a:prstGeom>
          <a:solidFill>
            <a:srgbClr val="FFFFFF"/>
          </a:solidFill>
          <a:ln w="11430">
            <a:solidFill>
              <a:srgbClr val="9EB3CB"/>
            </a:solidFill>
          </a:ln>
        </p:spPr>
      </p:sp>
      <p:sp>
        <p:nvSpPr>
          <p:cNvPr id="563" name="S1 · Thinker"/>
          <p:cNvSpPr txBox="1"/>
          <p:nvPr/>
        </p:nvSpPr>
        <p:spPr>
          <a:xfrm>
            <a:off x="4000500" y="4530852"/>
            <a:ext cx="1234440"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Thinker</a:t>
            </a:r>
          </a:p>
        </p:txBody>
      </p:sp>
      <p:sp>
        <p:nvSpPr>
          <p:cNvPr id="564" name="文本 + 视频"/>
          <p:cNvSpPr txBox="1"/>
          <p:nvPr/>
        </p:nvSpPr>
        <p:spPr>
          <a:xfrm>
            <a:off x="3991356" y="4809744"/>
            <a:ext cx="1252728"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文本 + 视频</a:t>
            </a:r>
          </a:p>
        </p:txBody>
      </p:sp>
      <p:sp>
        <p:nvSpPr>
          <p:cNvPr id="565" name="S2 · Talker Stage"/>
          <p:cNvSpPr/>
          <p:nvPr/>
        </p:nvSpPr>
        <p:spPr>
          <a:xfrm>
            <a:off x="5788152" y="4453128"/>
            <a:ext cx="1280160" cy="603504"/>
          </a:xfrm>
          <a:prstGeom prst="roundRect">
            <a:avLst>
              <a:gd name="adj" fmla="val 6000"/>
            </a:avLst>
          </a:prstGeom>
          <a:solidFill>
            <a:srgbClr val="FFFFFF"/>
          </a:solidFill>
          <a:ln w="11430">
            <a:solidFill>
              <a:srgbClr val="9EB3CB"/>
            </a:solidFill>
          </a:ln>
        </p:spPr>
      </p:sp>
      <p:sp>
        <p:nvSpPr>
          <p:cNvPr id="566" name="S2 · Talker"/>
          <p:cNvSpPr txBox="1"/>
          <p:nvPr/>
        </p:nvSpPr>
        <p:spPr>
          <a:xfrm>
            <a:off x="5829300" y="4530852"/>
            <a:ext cx="119786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Talker</a:t>
            </a:r>
          </a:p>
        </p:txBody>
      </p:sp>
      <p:sp>
        <p:nvSpPr>
          <p:cNvPr id="567" name="文本 → tokens"/>
          <p:cNvSpPr txBox="1"/>
          <p:nvPr/>
        </p:nvSpPr>
        <p:spPr>
          <a:xfrm>
            <a:off x="5820156" y="4809744"/>
            <a:ext cx="12161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文本 → tokens</a:t>
            </a:r>
          </a:p>
        </p:txBody>
      </p:sp>
      <p:sp>
        <p:nvSpPr>
          <p:cNvPr id="568" name="S3 · Code2Wav Stage"/>
          <p:cNvSpPr/>
          <p:nvPr/>
        </p:nvSpPr>
        <p:spPr>
          <a:xfrm>
            <a:off x="7543800" y="4453128"/>
            <a:ext cx="1325880" cy="603504"/>
          </a:xfrm>
          <a:prstGeom prst="roundRect">
            <a:avLst>
              <a:gd name="adj" fmla="val 6000"/>
            </a:avLst>
          </a:prstGeom>
          <a:solidFill>
            <a:srgbClr val="FFFFFF"/>
          </a:solidFill>
          <a:ln w="11430">
            <a:solidFill>
              <a:srgbClr val="9EB3CB"/>
            </a:solidFill>
          </a:ln>
        </p:spPr>
      </p:sp>
      <p:sp>
        <p:nvSpPr>
          <p:cNvPr id="569" name="S3 · Code2Wav"/>
          <p:cNvSpPr txBox="1"/>
          <p:nvPr/>
        </p:nvSpPr>
        <p:spPr>
          <a:xfrm>
            <a:off x="7584948" y="4530852"/>
            <a:ext cx="1243584" cy="219456"/>
          </a:xfrm>
          <a:prstGeom prst="rect">
            <a:avLst/>
          </a:prstGeom>
          <a:noFill/>
        </p:spPr>
        <p:txBody>
          <a:bodyPr wrap="square" lIns="0" rIns="0" tIns="0" bIns="0" anchor="t">
            <a:noAutofit/>
          </a:bodyPr>
          <a:lstStyle/>
          <a:p>
            <a:pPr algn="ctr">
              <a:lnSpc>
                <a:spcPct val="108000"/>
              </a:lnSpc>
              <a:spcAft>
                <a:spcPts val="0"/>
              </a:spcAft>
            </a:pPr>
            <a:r>
              <a:rPr sz="1300" b="1">
                <a:solidFill>
                  <a:srgbClr val="008E96"/>
                </a:solidFill>
                <a:latin typeface="Arial"/>
                <a:ea typeface="Arial"/>
                <a:cs typeface="Arial"/>
              </a:rPr>
              <a:t>S3 · Code2Wav</a:t>
            </a:r>
          </a:p>
        </p:txBody>
      </p:sp>
      <p:sp>
        <p:nvSpPr>
          <p:cNvPr id="570" name="Tokens → PCM"/>
          <p:cNvSpPr txBox="1"/>
          <p:nvPr/>
        </p:nvSpPr>
        <p:spPr>
          <a:xfrm>
            <a:off x="7575804" y="4809744"/>
            <a:ext cx="126187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71" name="Text transfer"/>
          <p:cNvCxnSpPr/>
          <p:nvPr/>
        </p:nvCxnSpPr>
        <p:spPr>
          <a:xfrm>
            <a:off x="3502152" y="4754880"/>
            <a:ext cx="393192" cy="0"/>
          </a:xfrm>
          <a:prstGeom prst="line">
            <a:avLst/>
          </a:prstGeom>
          <a:ln w="17145">
            <a:solidFill>
              <a:srgbClr val="008E96"/>
            </a:solidFill>
            <a:tailEnd type="triangle" w="sm" len="sm"/>
          </a:ln>
        </p:spPr>
      </p:cxnSp>
      <p:sp>
        <p:nvSpPr>
          <p:cNvPr id="572" name="文本"/>
          <p:cNvSpPr txBox="1"/>
          <p:nvPr/>
        </p:nvSpPr>
        <p:spPr>
          <a:xfrm>
            <a:off x="33604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a:t>
            </a:r>
          </a:p>
        </p:txBody>
      </p:sp>
      <p:cxnSp>
        <p:nvCxnSpPr>
          <p:cNvPr id="573" name="Text transfer"/>
          <p:cNvCxnSpPr/>
          <p:nvPr/>
        </p:nvCxnSpPr>
        <p:spPr>
          <a:xfrm>
            <a:off x="5330952" y="4754880"/>
            <a:ext cx="393192" cy="0"/>
          </a:xfrm>
          <a:prstGeom prst="line">
            <a:avLst/>
          </a:prstGeom>
          <a:ln w="17145">
            <a:solidFill>
              <a:srgbClr val="008E96"/>
            </a:solidFill>
            <a:tailEnd type="triangle" w="sm" len="sm"/>
          </a:ln>
        </p:spPr>
      </p:cxnSp>
      <p:sp>
        <p:nvSpPr>
          <p:cNvPr id="574" name="文本"/>
          <p:cNvSpPr txBox="1"/>
          <p:nvPr/>
        </p:nvSpPr>
        <p:spPr>
          <a:xfrm>
            <a:off x="51892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a:t>
            </a:r>
          </a:p>
        </p:txBody>
      </p:sp>
      <p:cxnSp>
        <p:nvCxnSpPr>
          <p:cNvPr id="575" name="Audio tokens transfer"/>
          <p:cNvCxnSpPr/>
          <p:nvPr/>
        </p:nvCxnSpPr>
        <p:spPr>
          <a:xfrm>
            <a:off x="7123176" y="4754880"/>
            <a:ext cx="356616" cy="0"/>
          </a:xfrm>
          <a:prstGeom prst="line">
            <a:avLst/>
          </a:prstGeom>
          <a:ln w="17145">
            <a:solidFill>
              <a:srgbClr val="008E96"/>
            </a:solidFill>
            <a:tailEnd type="triangle" w="sm" len="sm"/>
          </a:ln>
        </p:spPr>
      </p:cxnSp>
      <p:sp>
        <p:nvSpPr>
          <p:cNvPr id="576" name="Audio tokens"/>
          <p:cNvSpPr txBox="1"/>
          <p:nvPr/>
        </p:nvSpPr>
        <p:spPr>
          <a:xfrm>
            <a:off x="6748272" y="4283964"/>
            <a:ext cx="111556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77" name="S0 · Thinker Stage"/>
          <p:cNvSpPr/>
          <p:nvPr/>
        </p:nvSpPr>
        <p:spPr>
          <a:xfrm>
            <a:off x="2441448" y="5394960"/>
            <a:ext cx="1719072" cy="603504"/>
          </a:xfrm>
          <a:prstGeom prst="roundRect">
            <a:avLst>
              <a:gd name="adj" fmla="val 6000"/>
            </a:avLst>
          </a:prstGeom>
          <a:solidFill>
            <a:srgbClr val="FFFFFF"/>
          </a:solidFill>
          <a:ln w="11430">
            <a:solidFill>
              <a:srgbClr val="9EB3CB"/>
            </a:solidFill>
          </a:ln>
        </p:spPr>
      </p:sp>
      <p:sp>
        <p:nvSpPr>
          <p:cNvPr id="578" name="S0 · Thinker"/>
          <p:cNvSpPr txBox="1"/>
          <p:nvPr/>
        </p:nvSpPr>
        <p:spPr>
          <a:xfrm>
            <a:off x="2482596" y="5472684"/>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Thinker</a:t>
            </a:r>
          </a:p>
        </p:txBody>
      </p:sp>
      <p:sp>
        <p:nvSpPr>
          <p:cNvPr id="579" name="音频 + 图像"/>
          <p:cNvSpPr txBox="1"/>
          <p:nvPr/>
        </p:nvSpPr>
        <p:spPr>
          <a:xfrm>
            <a:off x="2473452" y="5751576"/>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图像</a:t>
            </a:r>
          </a:p>
        </p:txBody>
      </p:sp>
      <p:sp>
        <p:nvSpPr>
          <p:cNvPr id="580" name="S1 · Talker Stage"/>
          <p:cNvSpPr/>
          <p:nvPr/>
        </p:nvSpPr>
        <p:spPr>
          <a:xfrm>
            <a:off x="5093208" y="5394960"/>
            <a:ext cx="1481328" cy="603504"/>
          </a:xfrm>
          <a:prstGeom prst="roundRect">
            <a:avLst>
              <a:gd name="adj" fmla="val 6000"/>
            </a:avLst>
          </a:prstGeom>
          <a:solidFill>
            <a:srgbClr val="FFFFFF"/>
          </a:solidFill>
          <a:ln w="11430">
            <a:solidFill>
              <a:srgbClr val="9EB3CB"/>
            </a:solidFill>
          </a:ln>
        </p:spPr>
      </p:sp>
      <p:sp>
        <p:nvSpPr>
          <p:cNvPr id="581" name="S1 · Talker"/>
          <p:cNvSpPr txBox="1"/>
          <p:nvPr/>
        </p:nvSpPr>
        <p:spPr>
          <a:xfrm>
            <a:off x="5134356" y="5472684"/>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Talker</a:t>
            </a:r>
          </a:p>
        </p:txBody>
      </p:sp>
      <p:sp>
        <p:nvSpPr>
          <p:cNvPr id="582" name="生成 audio tokens"/>
          <p:cNvSpPr txBox="1"/>
          <p:nvPr/>
        </p:nvSpPr>
        <p:spPr>
          <a:xfrm>
            <a:off x="5125212" y="5751576"/>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生成 audio tokens</a:t>
            </a:r>
          </a:p>
        </p:txBody>
      </p:sp>
      <p:sp>
        <p:nvSpPr>
          <p:cNvPr id="583" name="S2 · Code2Wav Stage"/>
          <p:cNvSpPr/>
          <p:nvPr/>
        </p:nvSpPr>
        <p:spPr>
          <a:xfrm>
            <a:off x="7443216" y="5394960"/>
            <a:ext cx="1426464" cy="603504"/>
          </a:xfrm>
          <a:prstGeom prst="roundRect">
            <a:avLst>
              <a:gd name="adj" fmla="val 6000"/>
            </a:avLst>
          </a:prstGeom>
          <a:solidFill>
            <a:srgbClr val="FFFFFF"/>
          </a:solidFill>
          <a:ln w="11430">
            <a:solidFill>
              <a:srgbClr val="9EB3CB"/>
            </a:solidFill>
          </a:ln>
        </p:spPr>
      </p:sp>
      <p:sp>
        <p:nvSpPr>
          <p:cNvPr id="584" name="S2 · Code2Wav"/>
          <p:cNvSpPr txBox="1"/>
          <p:nvPr/>
        </p:nvSpPr>
        <p:spPr>
          <a:xfrm>
            <a:off x="7484364" y="5472684"/>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Code2Wav</a:t>
            </a:r>
          </a:p>
        </p:txBody>
      </p:sp>
      <p:sp>
        <p:nvSpPr>
          <p:cNvPr id="585" name="Tokens → PCM"/>
          <p:cNvSpPr txBox="1"/>
          <p:nvPr/>
        </p:nvSpPr>
        <p:spPr>
          <a:xfrm>
            <a:off x="7475220" y="5751576"/>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86" name="Text + features transfer"/>
          <p:cNvCxnSpPr/>
          <p:nvPr/>
        </p:nvCxnSpPr>
        <p:spPr>
          <a:xfrm>
            <a:off x="4215384" y="5696712"/>
            <a:ext cx="813816" cy="0"/>
          </a:xfrm>
          <a:prstGeom prst="line">
            <a:avLst/>
          </a:prstGeom>
          <a:ln w="17145">
            <a:solidFill>
              <a:srgbClr val="008E96"/>
            </a:solidFill>
            <a:tailEnd type="triangle" w="sm" len="sm"/>
          </a:ln>
        </p:spPr>
      </p:cxnSp>
      <p:sp>
        <p:nvSpPr>
          <p:cNvPr id="587" name="文本 + 特征"/>
          <p:cNvSpPr txBox="1"/>
          <p:nvPr/>
        </p:nvSpPr>
        <p:spPr>
          <a:xfrm>
            <a:off x="3918204" y="5225796"/>
            <a:ext cx="141732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 + 特征</a:t>
            </a:r>
          </a:p>
        </p:txBody>
      </p:sp>
      <p:cxnSp>
        <p:nvCxnSpPr>
          <p:cNvPr id="588" name="Audio tokens transfer"/>
          <p:cNvCxnSpPr/>
          <p:nvPr/>
        </p:nvCxnSpPr>
        <p:spPr>
          <a:xfrm>
            <a:off x="6629400" y="5696712"/>
            <a:ext cx="749808" cy="0"/>
          </a:xfrm>
          <a:prstGeom prst="line">
            <a:avLst/>
          </a:prstGeom>
          <a:ln w="17145">
            <a:solidFill>
              <a:srgbClr val="008E96"/>
            </a:solidFill>
            <a:tailEnd type="triangle" w="sm" len="sm"/>
          </a:ln>
        </p:spPr>
      </p:cxnSp>
      <p:sp>
        <p:nvSpPr>
          <p:cNvPr id="589" name="Audio tokens"/>
          <p:cNvSpPr txBox="1"/>
          <p:nvPr/>
        </p:nvSpPr>
        <p:spPr>
          <a:xfrm>
            <a:off x="6437376" y="5225796"/>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90" name="PCM = 音频波形   ·   Audio tokens = codec 编码   ·   KV = 模型 attention cache"/>
          <p:cNvSpPr txBox="1"/>
          <p:nvPr/>
        </p:nvSpPr>
        <p:spPr>
          <a:xfrm>
            <a:off x="713232" y="6217920"/>
            <a:ext cx="10835640" cy="201168"/>
          </a:xfrm>
          <a:prstGeom prst="rect">
            <a:avLst/>
          </a:prstGeom>
          <a:noFill/>
        </p:spPr>
        <p:txBody>
          <a:bodyPr wrap="square" lIns="0" rIns="0" tIns="0" bIns="0" anchor="t">
            <a:noAutofit/>
          </a:bodyPr>
          <a:lstStyle/>
          <a:p>
            <a:pPr algn="l">
              <a:lnSpc>
                <a:spcPct val="108000"/>
              </a:lnSpc>
              <a:spcAft>
                <a:spcPts val="0"/>
              </a:spcAft>
            </a:pPr>
            <a:r>
              <a:rPr sz="1180" b="0">
                <a:solidFill>
                  <a:srgbClr val="526985"/>
                </a:solidFill>
                <a:latin typeface="Noto Sans CJK SC"/>
                <a:ea typeface="Noto Sans CJK SC"/>
                <a:cs typeface="Noto Sans CJK SC"/>
              </a:rPr>
              <a:t>PCM = 音频波形   ·   Audio tokens = codec 编码   ·   KV = 模型 attention 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支持 session resume：MiniCPM-o 4.5、AURA、Qwen3-Omni 与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在 session 有效期间，重新连接到同一个仍存活的 API 进程。</a:t>
            </a:r>
          </a:p>
          <a:p>
            <a:pPr algn="l">
              <a:lnSpc>
                <a:spcPct val="110000"/>
              </a:lnSpc>
              <a:spcAft>
                <a:spcPts val="0"/>
              </a:spcAft>
            </a:pPr>
            <a:r>
              <a:rPr sz="1150" b="0" lang="zh-CN">
                <a:solidFill>
                  <a:srgbClr val="586B7E"/>
                </a:solidFill>
                <a:latin typeface="Noto Sans CJK SC"/>
                <a:ea typeface="Noto Sans CJK SC"/>
                <a:cs typeface="Noto Sans CJK SC"/>
              </a:rPr>
              <a:t>事件 replay 依赖保留窗口；进程重启后需新建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保存 session ID 与最新的 resume token；</a:t>
            </a:r>
          </a:p>
          <a:p>
            <a:pPr algn="l">
              <a:lnSpc>
                <a:spcPct val="110000"/>
              </a:lnSpc>
              <a:spcAft>
                <a:spcPts val="0"/>
              </a:spcAft>
            </a:pPr>
            <a:r>
              <a:rPr sz="1180" b="0" lang="zh-CN">
                <a:solidFill>
                  <a:srgbClr val="142B45"/>
                </a:solidFill>
                <a:latin typeface="Noto Sans CJK SC"/>
                <a:ea typeface="Noto Sans CJK SC"/>
                <a:cs typeface="Noto Sans CJK SC"/>
              </a:rPr>
              <a:t>Python WebSocket SDK 会管理这两项凭据。</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新连接的首条消息发送 session.resume；</a:t>
            </a:r>
          </a:p>
          <a:p>
            <a:pPr algn="l">
              <a:lnSpc>
                <a:spcPct val="110000"/>
              </a:lnSpc>
              <a:spcAft>
                <a:spcPts val="0"/>
              </a:spcAft>
            </a:pPr>
            <a:r>
              <a:rPr sz="1150" b="0" lang="zh-CN">
                <a:solidFill>
                  <a:srgbClr val="142B45"/>
                </a:solidFill>
                <a:latin typeface="Noto Sans CJK SC"/>
                <a:ea typeface="Noto Sans CJK SC"/>
                <a:cs typeface="Noto Sans CJK SC"/>
              </a:rPr>
              <a:t>保存 session.resumed 返回的新 token。</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提供最后接收的 event sequence。</a:t>
            </a:r>
          </a:p>
          <a:p>
            <a:pPr algn="l">
              <a:lnSpc>
                <a:spcPct val="110000"/>
              </a:lnSpc>
              <a:spcAft>
                <a:spcPts val="0"/>
              </a:spcAft>
            </a:pPr>
            <a:r>
              <a:rPr sz="1150" b="0" lang="zh-CN">
                <a:solidFill>
                  <a:srgbClr val="142B45"/>
                </a:solidFill>
                <a:latin typeface="Noto Sans CJK SC"/>
                <a:ea typeface="Noto Sans CJK SC"/>
                <a:cs typeface="Noto Sans CJK SC"/>
              </a:rPr>
              <a:t>若所需事件已缺失，则新建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保留解码状态，只处理新增的音频 chunk。</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Seed-TTS · 2026 年 9 月 9 日至 10 月 8 日；虚线跨越无同配置测试记录的日期。 / Audio RTF = 音频生成耗时 / 输出音频时长，按请求取平均。"/>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 2026 年 9 月 9 日至 10 月 8 日；虚线跨越无同配置测试记录的日期。</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结合 OmniInteract、Omni-DuplexEval 与延迟、流式输出指标，评估实时交互。</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输入流开始</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输入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输入 / 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首音频延迟</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Stream TTFP · p50 / p95</a:t>
            </a:r>
          </a:p>
          <a:p>
            <a:pPr algn="l">
              <a:lnSpc>
                <a:spcPct val="110000"/>
              </a:lnSpc>
              <a:spcAft>
                <a:spcPts val="0"/>
              </a:spcAft>
            </a:pPr>
            <a:r>
              <a:rPr sz="1030" b="0" lang="zh-CN">
                <a:solidFill>
                  <a:srgbClr val="21364E"/>
                </a:solidFill>
                <a:latin typeface="Noto Sans CJK SC"/>
                <a:ea typeface="Noto Sans CJK SC"/>
                <a:cs typeface="Noto Sans CJK SC"/>
              </a:rPr>
              <a:t>输入开始 → 收到首个音频包</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Response RTF · chunk 间隔</a:t>
            </a:r>
          </a:p>
          <a:p>
            <a:pPr algn="l">
              <a:lnSpc>
                <a:spcPct val="110000"/>
              </a:lnSpc>
              <a:spcAft>
                <a:spcPts val="0"/>
              </a:spcAft>
            </a:pPr>
            <a:r>
              <a:rPr sz="1030" b="0" lang="zh-CN">
                <a:solidFill>
                  <a:srgbClr val="21364E"/>
                </a:solidFill>
                <a:latin typeface="Noto Sans CJK SC"/>
                <a:ea typeface="Noto Sans CJK SC"/>
                <a:cs typeface="Noto Sans CJK SC"/>
              </a:rPr>
              <a:t>停顿与播放缓冲</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交互质量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何时回应 · 回应内容</a:t>
            </a:r>
          </a:p>
          <a:p>
            <a:pPr algn="l">
              <a:lnSpc>
                <a:spcPct val="110000"/>
              </a:lnSpc>
              <a:spcAft>
                <a:spcPts val="0"/>
              </a:spcAft>
            </a:pPr>
            <a:r>
              <a:rPr sz="1030" b="0" lang="zh-CN">
                <a:solidFill>
                  <a:srgbClr val="21364E"/>
                </a:solidFill>
                <a:latin typeface="Noto Sans CJK SC"/>
                <a:ea typeface="Noto Sans CJK SC"/>
                <a:cs typeface="Noto Sans CJK SC"/>
              </a:rPr>
              <a:t>音视频理解</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TTFP 衡量首包到达时间；真正何时开始回答，需结合交互测评判断。</a:t>
            </a:r>
          </a:p>
          <a:p>
            <a:pPr algn="l">
              <a:lnSpc>
                <a:spcPct val="110000"/>
              </a:lnSpc>
              <a:spcAft>
                <a:spcPts val="0"/>
              </a:spcAft>
            </a:pPr>
            <a:r>
              <a:rPr sz="1050" b="0" lang="zh-CN">
                <a:solidFill>
                  <a:srgbClr val="586B7E"/>
                </a:solidFill>
                <a:latin typeface="Noto Sans CJK SC"/>
                <a:ea typeface="Noto Sans CJK SC"/>
                <a:cs typeface="Noto Sans CJK SC"/>
              </a:rPr>
              <a:t>比较指标时需统一计时窗口；测评覆盖范围因模型而异。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基于已有工具调用路径，扩展更多模型在统一双工框架中的支持。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工具调用解析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 native duplex 中的工具调用与结果回填</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下一步：扩展统一双工工具调用支持</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框架提供公共处理逻辑，各模型通过 plugin 适配。</a:t>
                      </a:r>
                    </a:p>
                    <a:p>
                      <a:pPr>
                        <a:lnSpc>
                          <a:spcPct val="108000"/>
                        </a:lnSpc>
                        <a:spcAft>
                          <a:spcPts val="0"/>
                        </a:spcAft>
                      </a:pPr>
                      <a:r>
                        <a:rPr sz="1400" b="0" lang="zh-CN">
                          <a:solidFill>
                            <a:srgbClr val="16304E"/>
                          </a:solidFill>
                          <a:latin typeface="Noto Sans CJK SC"/>
                          <a:ea typeface="Noto Sans CJK SC"/>
                          <a:cs typeface="Noto Sans CJK SC"/>
                        </a:rPr>
                        <a:t>扩展 Qwen3-Omni unified duplex、AURA 与 JoyAI 的支持。</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扩展更多模型的工具调用支持</a:t>
            </a:r>
          </a:p>
          <a:p>
            <a:pPr algn="l">
              <a:lnSpc>
                <a:spcPct val="106000"/>
              </a:lnSpc>
              <a:spcAft>
                <a:spcPts val="0"/>
              </a:spcAft>
            </a:pPr>
            <a:r>
              <a:rPr sz="1400" b="0" lang="zh-CN">
                <a:solidFill>
                  <a:srgbClr val="586B7E"/>
                </a:solidFill>
                <a:latin typeface="Noto Sans CJK SC"/>
                <a:ea typeface="Noto Sans CJK SC"/>
                <a:cs typeface="Noto Sans CJK SC"/>
              </a:rPr>
              <a:t>处理打断、超时与迟到结果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扩展到多个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在现有 Stage replica 支持上继续扩展</a:t>
            </a:r>
          </a:p>
          <a:p>
            <a:pPr algn="l">
              <a:lnSpc>
                <a:spcPct val="106000"/>
              </a:lnSpc>
              <a:spcAft>
                <a:spcPts val="0"/>
              </a:spcAft>
            </a:pPr>
            <a:r>
              <a:rPr sz="1400" b="0" lang="zh-CN">
                <a:solidFill>
                  <a:srgbClr val="586B7E"/>
                </a:solidFill>
                <a:latin typeface="Noto Sans CJK SC"/>
                <a:ea typeface="Noto Sans CJK SC"/>
                <a:cs typeface="Noto Sans CJK SC"/>
              </a:rPr>
              <a:t>增加跨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同机 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检测停顿，再由 turn-end detector 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3"/>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可在静音后自动 commit。</a:t>
                      </a:r>
                    </a:p>
                    <a:p>
                      <a:pPr algn="l">
                        <a:lnSpc>
                          <a:spcPct val="106000"/>
                        </a:lnSpc>
                        <a:spcAft>
                          <a:spcPts val="0"/>
                        </a:spcAft>
                      </a:pPr>
                      <a:r>
                        <a:rPr sz="1420" b="0" lang="zh-CN">
                          <a:solidFill>
                            <a:srgbClr val="16304E"/>
                          </a:solidFill>
                          <a:latin typeface="Noto Sans CJK SC"/>
                          <a:ea typeface="Noto Sans CJK SC"/>
                          <a:cs typeface="Noto Sans CJK SC"/>
                        </a:rPr>
                        <a:t>按配置决定是否生成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轻量模型可在 CPU 上运行</a:t>
                      </a:r>
                    </a:p>
                    <a:p>
                      <a:pPr algn="l">
                        <a:lnSpc>
                          <a:spcPct val="106000"/>
                        </a:lnSpc>
                        <a:spcAft>
                          <a:spcPts val="0"/>
                        </a:spcAft>
                      </a:pPr>
                      <a:r>
                        <a:rPr sz="1420" b="0" lang="zh-CN">
                          <a:solidFill>
                            <a:srgbClr val="16304E"/>
                          </a:solidFill>
                          <a:latin typeface="Noto Sans CJK SC"/>
                          <a:ea typeface="Noto Sans CJK SC"/>
                          <a:cs typeface="Noto Sans CJK SC"/>
                        </a:rPr>
                        <a:t>较重模型：计划接入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Server VAD：Runner 执行 commit / cancel 策略；检测计算在其事件循环之外运行。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4"/>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终止生成，丢弃尚未发出的输出</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session ID + 最新 resume token</a:t>
            </a:r>
          </a:p>
          <a:p>
            <a:pPr algn="l">
              <a:lnSpc>
                <a:spcPct val="110000"/>
              </a:lnSpc>
              <a:spcAft>
                <a:spcPts val="0"/>
              </a:spcAft>
            </a:pPr>
            <a:r>
              <a:rPr sz="1200" b="0" lang="zh-CN">
                <a:solidFill>
                  <a:srgbClr val="21364E"/>
                </a:solidFill>
                <a:latin typeface="Noto Sans CJK SC"/>
                <a:ea typeface="Noto Sans CJK SC"/>
                <a:cs typeface="Noto Sans CJK SC"/>
              </a:rPr>
              <a:t>成功续接后 token 会更新</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最后接收的 event sequence</a:t>
            </a:r>
          </a:p>
          <a:p>
            <a:pPr algn="l">
              <a:lnSpc>
                <a:spcPct val="110000"/>
              </a:lnSpc>
              <a:spcAft>
                <a:spcPts val="0"/>
              </a:spcAft>
            </a:pPr>
            <a:r>
              <a:rPr sz="1250" b="0" lang="zh-CN">
                <a:solidFill>
                  <a:srgbClr val="21364E"/>
                </a:solidFill>
                <a:latin typeface="Noto Sans CJK SC"/>
                <a:ea typeface="Noto Sans CJK SC"/>
                <a:cs typeface="Noto Sans CJK SC"/>
              </a:rPr>
              <a:t>所需事件缺失时需新建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默认：断连 grace 30s · idle TTL 300s · replay 60s / 8 MiB。</a:t>
            </a:r>
          </a:p>
          <a:p>
            <a:pPr algn="l">
              <a:lnSpc>
                <a:spcPct val="110000"/>
              </a:lnSpc>
              <a:spcAft>
                <a:spcPts val="0"/>
              </a:spcAft>
            </a:pPr>
            <a:r>
              <a:rPr sz="1050" b="0" lang="zh-CN">
                <a:solidFill>
                  <a:srgbClr val="586B7E"/>
                </a:solidFill>
                <a:latin typeface="Noto Sans CJK SC"/>
                <a:ea typeface="Noto Sans CJK SC"/>
                <a:cs typeface="Noto Sans CJK SC"/>
              </a:rPr>
              <a:t>客户端需另行停止已缓存的播放音频；session resume 依赖同一个仍存活的 API 进程。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5"/>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6"/>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附录 · 会话控制"/>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附录 · 会话控制</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8"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模型发言决策 / 与 VAD 打断"/>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Noto Sans CJK SC"/>
                <a:ea typeface="Noto Sans CJK SC"/>
                <a:cs typeface="Noto Sans CJK SC"/>
              </a:rPr>
              <a:t>模型发言决策</a:t>
            </a:r>
          </a:p>
          <a:p>
            <a:pPr algn="l">
              <a:lnSpc>
                <a:spcPct val="110000"/>
              </a:lnSpc>
              <a:spcAft>
                <a:spcPts val="0"/>
              </a:spcAft>
            </a:pPr>
            <a:r>
              <a:rPr sz="3100" b="1">
                <a:solidFill>
                  <a:srgbClr val="142B45"/>
                </a:solidFill>
                <a:latin typeface="Noto Sans CJK SC"/>
                <a:ea typeface="Noto Sans CJK SC"/>
                <a:cs typeface="Noto Sans CJK SC"/>
              </a:rPr>
              <a:t>与 VAD 打断</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同一段实时会话"/>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同一段实时会话</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模型决定何时发言"/>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Noto Sans CJK SC"/>
                <a:ea typeface="Noto Sans CJK SC"/>
                <a:cs typeface="Noto Sans CJK SC"/>
              </a:rPr>
              <a:t>模型决定何时发言</a:t>
            </a:r>
          </a:p>
        </p:txBody>
      </p:sp>
      <p:sp>
        <p:nvSpPr>
          <p:cNvPr id="102" name="新输入持续进入模型计算。 / 模型自主决定继续发言或让出话语权。"/>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Noto Sans CJK SC"/>
                <a:ea typeface="Noto Sans CJK SC"/>
                <a:cs typeface="Noto Sans CJK SC"/>
              </a:rPr>
              <a:t>新输入持续进入模型计算。</a:t>
            </a:r>
          </a:p>
          <a:p>
            <a:pPr algn="l">
              <a:lnSpc>
                <a:spcPct val="110000"/>
              </a:lnSpc>
              <a:spcAft>
                <a:spcPts val="0"/>
              </a:spcAft>
            </a:pPr>
            <a:r>
              <a:rPr sz="1400" b="0">
                <a:solidFill>
                  <a:srgbClr val="586B7E"/>
                </a:solidFill>
                <a:latin typeface="Noto Sans CJK SC"/>
                <a:ea typeface="Noto Sans CJK SC"/>
                <a:cs typeface="Noto Sans CJK SC"/>
              </a:rPr>
              <a:t>模型自主决定继续发言或让出话语权。</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VAD 驱动的 turn-taking"/>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Noto Sans CJK SC"/>
                <a:ea typeface="Noto Sans CJK SC"/>
                <a:cs typeface="Noto Sans CJK SC"/>
              </a:rPr>
              <a:t>VAD 驱动的 turn-taking</a:t>
            </a:r>
          </a:p>
        </p:txBody>
      </p:sp>
      <p:sp>
        <p:nvSpPr>
          <p:cNvPr id="105" name="检测到用户发声时，打断当前回复。 / 静音达到阈值后 commit，启动新请求。"/>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Noto Sans CJK SC"/>
                <a:ea typeface="Noto Sans CJK SC"/>
                <a:cs typeface="Noto Sans CJK SC"/>
              </a:rPr>
              <a:t>检测到用户发声时，打断当前回复。</a:t>
            </a:r>
          </a:p>
          <a:p>
            <a:pPr algn="l">
              <a:lnSpc>
                <a:spcPct val="110000"/>
              </a:lnSpc>
              <a:spcAft>
                <a:spcPts val="0"/>
              </a:spcAft>
            </a:pPr>
            <a:r>
              <a:rPr sz="1400" b="0">
                <a:solidFill>
                  <a:srgbClr val="586B7E"/>
                </a:solidFill>
                <a:latin typeface="Noto Sans CJK SC"/>
                <a:ea typeface="Noto Sans CJK SC"/>
                <a:cs typeface="Noto Sans CJK SC"/>
              </a:rPr>
              <a:t>静音达到阈值后 commit，启动新请求。</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两种取消入口"/>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Noto Sans CJK SC"/>
                <a:ea typeface="Noto Sans CJK SC"/>
                <a:cs typeface="Noto Sans CJK SC"/>
              </a:rPr>
              <a:t>两种取消入口</a:t>
            </a:r>
          </a:p>
        </p:txBody>
      </p:sp>
      <p:sp>
        <p:nvSpPr>
          <p:cNvPr id="110" name="LISTEN 是模型决策，与这两条路径不同。"/>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Noto Sans CJK SC"/>
                <a:ea typeface="Noto Sans CJK SC"/>
                <a:cs typeface="Noto Sans CJK SC"/>
              </a:rPr>
              <a:t>LISTEN 是模型决策，与这两条路径不同。</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显式 response.cancel"/>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Noto Sans CJK SC"/>
                <a:ea typeface="Noto Sans CJK SC"/>
                <a:cs typeface="Noto Sans CJK SC"/>
              </a:rPr>
              <a:t>显式 response.cancel</a:t>
            </a:r>
          </a:p>
        </p:txBody>
      </p:sp>
      <p:sp>
        <p:nvSpPr>
          <p:cNvPr id="114" name="客户端 command 进入会话取消处理。 / 底层取消逻辑停止当前生成。"/>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Noto Sans CJK SC"/>
                <a:ea typeface="Noto Sans CJK SC"/>
                <a:cs typeface="Noto Sans CJK SC"/>
              </a:rPr>
              <a:t>客户端 command 进入会话取消处理。</a:t>
            </a:r>
          </a:p>
          <a:p>
            <a:pPr algn="l">
              <a:lnSpc>
                <a:spcPct val="110000"/>
              </a:lnSpc>
              <a:spcAft>
                <a:spcPts val="0"/>
              </a:spcAft>
            </a:pPr>
            <a:r>
              <a:rPr sz="1200" b="0">
                <a:solidFill>
                  <a:srgbClr val="142B45"/>
                </a:solidFill>
                <a:latin typeface="Noto Sans CJK SC"/>
                <a:ea typeface="Noto Sans CJK SC"/>
                <a:cs typeface="Noto Sans CJK SC"/>
              </a:rPr>
              <a:t>底层取消逻辑停止当前生成。</a:t>
            </a:r>
          </a:p>
        </p:txBody>
      </p:sp>
      <p:sp>
        <p:nvSpPr>
          <p:cNvPr id="115" name="VAD 触发打断"/>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Noto Sans CJK SC"/>
                <a:ea typeface="Noto Sans CJK SC"/>
                <a:cs typeface="Noto Sans CJK SC"/>
              </a:rPr>
              <a:t>VAD 触发打断</a:t>
            </a:r>
          </a:p>
        </p:txBody>
      </p:sp>
      <p:sp>
        <p:nvSpPr>
          <p:cNvPr id="116" name="用户发声触发 overlap policy。 / 复用底层取消逻辑；客户端停止播放。"/>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Noto Sans CJK SC"/>
                <a:ea typeface="Noto Sans CJK SC"/>
                <a:cs typeface="Noto Sans CJK SC"/>
              </a:rPr>
              <a:t>用户发声触发 overlap policy。</a:t>
            </a:r>
          </a:p>
          <a:p>
            <a:pPr algn="l">
              <a:lnSpc>
                <a:spcPct val="110000"/>
              </a:lnSpc>
              <a:spcAft>
                <a:spcPts val="0"/>
              </a:spcAft>
            </a:pPr>
            <a:r>
              <a:rPr sz="1200" b="0">
                <a:solidFill>
                  <a:srgbClr val="142B45"/>
                </a:solidFill>
                <a:latin typeface="Noto Sans CJK SC"/>
                <a:ea typeface="Noto Sans CJK SC"/>
                <a:cs typeface="Noto Sans CJK SC"/>
              </a:rPr>
              <a:t>复用底层取消逻辑；客户端停止播放。</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摄像头"/>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Noto Sans CJK SC"/>
                <a:ea typeface="Noto Sans CJK SC"/>
                <a:cs typeface="Noto Sans CJK SC"/>
              </a:rPr>
              <a:t>摄像头</a:t>
            </a:r>
          </a:p>
        </p:txBody>
      </p:sp>
      <p:sp>
        <p:nvSpPr>
          <p:cNvPr id="201" name="用户语音"/>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用户语音</a:t>
            </a:r>
          </a:p>
        </p:txBody>
      </p:sp>
      <p:sp>
        <p:nvSpPr>
          <p:cNvPr id="202" name="Barge-in：用户插话"/>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Noto Sans CJK SC"/>
                <a:ea typeface="Noto Sans CJK SC"/>
                <a:cs typeface="Noto Sans CJK SC"/>
              </a:rPr>
              <a:t>Barge-in：用户插话</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模型决定 LISTEN / SPEAK；已排队音频可继续播放。"/>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Noto Sans CJK SC"/>
                <a:ea typeface="Noto Sans CJK SC"/>
                <a:cs typeface="Noto Sans CJK SC"/>
              </a:rPr>
              <a:t>模型决定 LISTEN / SPEAK；已排队音频可继续播放。</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用户发声停止生成与播放；静音达到阈值后 commi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Noto Sans CJK SC"/>
                <a:ea typeface="Noto Sans CJK SC"/>
                <a:cs typeface="Noto Sans CJK SC"/>
              </a:rPr>
              <a:t>用户发声停止生成与播放；静音达到阈值后 commit。</a:t>
            </a:r>
          </a:p>
        </p:txBody>
      </p:sp>
      <p:sp>
        <p:nvSpPr>
          <p:cNvPr id="207" name="VAD 触发打断"/>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Noto Sans CJK SC"/>
                <a:ea typeface="Noto Sans CJK SC"/>
                <a:cs typeface="Noto Sans CJK SC"/>
              </a:rPr>
              <a:t>VAD 触发打断</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模型：LISTE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Noto Sans CJK SC"/>
                <a:ea typeface="Noto Sans CJK SC"/>
                <a:cs typeface="Noto Sans CJK SC"/>
              </a:rPr>
              <a:t>模型：LISTEN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2026-10-09T19:15:28Z</dcterms:modified>
  <cp:category/>
</cp:coreProperties>
</file>