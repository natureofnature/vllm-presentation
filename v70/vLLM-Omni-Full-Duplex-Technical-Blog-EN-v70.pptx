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3.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14.xml" ContentType="application/vnd.openxmlformats-officedocument.presentationml.notesSlide+xml"/>
  <Override PartName="/ppt/notesSlides/notesSlide11.xml" ContentType="application/vnd.openxmlformats-officedocument.presentationml.notesSlide+xml"/>
  <Override PartName="/ppt/notesSlides/notesSlide17.xml" ContentType="application/vnd.openxmlformats-officedocument.presentationml.notesSlide+xml"/>
  <Override PartName="/ppt/notesSlides/notesSlide5.xml" ContentType="application/vnd.openxmlformats-officedocument.presentationml.notesSlide+xml"/>
  <Override PartName="/ppt/notesSlides/notesSlide16.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4.xml" ContentType="application/vnd.openxmlformats-officedocument.presentationml.notesSlide+xml"/>
  <Override PartName="/ppt/notesSlides/notesSlide9.xml" ContentType="application/vnd.openxmlformats-officedocument.presentationml.notesSlide+xml"/>
  <Override PartName="/ppt/notesSlides/notesSlide1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2.xml" ContentType="application/vnd.openxmlformats-officedocument.presentationml.slide+xml"/>
  <Override PartName="/ppt/slides/slide13.xml" ContentType="application/vnd.openxmlformats-officedocument.presentationml.slide+xml"/>
  <Override PartName="/ppt/slides/slide18.xml" ContentType="application/vnd.openxmlformats-officedocument.presentationml.slide+xml"/>
  <Override PartName="/ppt/slides/slide14.xml" ContentType="application/vnd.openxmlformats-officedocument.presentationml.slide+xml"/>
  <Override PartName="/ppt/slides/slide11.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10.xml" ContentType="application/vnd.openxmlformats-officedocument.presentationml.slide+xml"/>
  <Override PartName="/ppt/notesSlides/notesSlide10.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xml" ContentType="application/vnd.openxmlformats-officedocument.presentationml.slide+xml"/>
  <Override PartName="/ppt/notesSlides/notesSlide1.xml" ContentType="application/vnd.openxmlformats-officedocument.presentationml.notesSlide+xml"/>
  <Override PartName="/ppt/charts/chart1.xml" ContentType="application/vnd.openxmlformats-officedocument.drawingml.chart+xml"/>
  <Default Extension="xlsx" ContentType="application/vnd.openxmlformats-officedocument.spreadsheetml.sheet"/>
  <Override PartName="/ppt/slides/slide19.xml" ContentType="application/vnd.openxmlformats-officedocument.presentationml.slide+xml"/>
  <Override PartName="/ppt/notesSlides/notesSlide19.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83" r:id="rIdDuplexCover"/>
    <p:sldId id="266" r:id="rId18"/>
    <p:sldId id="256" r:id="rId7"/>
    <p:sldId id="261" r:id="rId12"/>
    <p:sldId id="257" r:id="rId8"/>
    <p:sldId id="258" r:id="rId9"/>
    <p:sldId id="259" r:id="rId10"/>
    <p:sldId id="260" r:id="rId11"/>
    <p:sldId id="262" r:id="rId13"/>
    <p:sldId id="280" r:id="rId30"/>
    <p:sldId id="271" r:id="rId21"/>
    <p:sldId id="282" r:id="rId32"/>
    <p:sldId id="268" r:id="rId20"/>
    <p:sldId id="269" r:id="rId15"/>
    <p:sldId id="284" r:id="rIdModelVadAppendix"/>
    <p:sldId id="281" r:id="rId31"/>
    <p:sldId id="277" r:id="rId27"/>
    <p:sldId id="275" r:id="rId25"/>
    <p:sldId id="265" r:id="rId1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3.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4.xml"/><Relationship Id="rId13" Type="http://schemas.openxmlformats.org/officeDocument/2006/relationships/slide" Target="slides/slide9.xml"/><Relationship Id="rId15" Type="http://schemas.openxmlformats.org/officeDocument/2006/relationships/slide" Target="slides/slide14.xml"/><Relationship Id="rId16" Type="http://schemas.openxmlformats.org/officeDocument/2006/relationships/slide" Target="slides/slide18.xml"/><Relationship Id="rId17" Type="http://schemas.openxmlformats.org/officeDocument/2006/relationships/notesMaster" Target="notesMasters/notesMaster1.xml"/><Relationship Id="rId18" Type="http://schemas.openxmlformats.org/officeDocument/2006/relationships/slide" Target="slides/slide2.xml"/><Relationship Id="rId20" Type="http://schemas.openxmlformats.org/officeDocument/2006/relationships/slide" Target="slides/slide13.xml"/><Relationship Id="rId21" Type="http://schemas.openxmlformats.org/officeDocument/2006/relationships/slide" Target="slides/slide11.xml"/><Relationship Id="rId25" Type="http://schemas.openxmlformats.org/officeDocument/2006/relationships/slide" Target="slides/slide17.xml"/><Relationship Id="rId27" Type="http://schemas.openxmlformats.org/officeDocument/2006/relationships/slide" Target="slides/slide16.xml"/><Relationship Id="rId30" Type="http://schemas.openxmlformats.org/officeDocument/2006/relationships/slide" Target="slides/slide10.xml"/><Relationship Id="rId31" Type="http://schemas.openxmlformats.org/officeDocument/2006/relationships/slide" Target="slides/slide15.xml"/><Relationship Id="rId32" Type="http://schemas.openxmlformats.org/officeDocument/2006/relationships/slide" Target="slides/slide12.xml"/><Relationship Id="rIdDuplexCover" Type="http://schemas.openxmlformats.org/officeDocument/2006/relationships/slide" Target="slides/slide1.xml"/><Relationship Id="rIdModelVadAppendix" Type="http://schemas.openxmlformats.org/officeDocument/2006/relationships/slide" Target="slides/slide1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niCPM_RTF.xlsx"/></Relationships>
</file>

<file path=ppt/charts/chart1.xml><?xml version="1.0" encoding="utf-8"?>
<c:chartSpace xmlns:c="http://schemas.openxmlformats.org/drawingml/2006/chart" xmlns:a="http://schemas.openxmlformats.org/drawingml/2006/main" xmlns:r="http://schemas.openxmlformats.org/officeDocument/2006/relationships">
  <c:lang val="en-US"/>
  <c:chart>
    <c:title>
      <c:tx>
        <c:rich>
          <a:bodyPr/>
          <a:lstStyle/>
          <a:p>
            <a:pPr>
              <a:defRPr sz="1600" b="1" baseline="0">
                <a:solidFill>
                  <a:srgbClr val="16304E"/>
                </a:solidFill>
                <a:latin typeface="Arial"/>
              </a:defRPr>
            </a:pPr>
            <a:r>
              <a:rPr lang="en-US" sz="1600" b="1" baseline="0">
                <a:solidFill>
                  <a:srgbClr val="16304E"/>
                </a:solidFill>
                <a:latin typeface="Arial"/>
              </a:rPr>
              <a:t>MiniCPM-o 4.5</a:t>
            </a:r>
          </a:p>
        </c:rich>
      </c:tx>
      <c:layout/>
    </c:title>
    <c:plotArea>
      <c:layout>
        <c:manualLayout>
          <c:layoutTarget val="inner"/>
          <c:xMode val="edge"/>
          <c:yMode val="edge"/>
          <c:x val="0.19"/>
          <c:y val="0.27000000000000002"/>
          <c:w val="0.73999999999999999"/>
          <c:h val="0.56999999999999995"/>
        </c:manualLayout>
      </c:layout>
      <c:lineChart>
        <c:grouping val="standard"/>
        <c:ser>
          <c:idx val="0"/>
          <c:order val="0"/>
          <c:tx>
            <c:v>1 concurrent request</c:v>
          </c:tx>
          <c:spPr>
            <a:ln w="31750">
              <a:solidFill>
                <a:srgbClr val="347FF0"/>
              </a:solidFill>
            </a:ln>
          </c:spPr>
          <c:marker>
            <c:symbol val="circle"/>
            <c:size val="3.5"/>
            <c:spPr>
              <a:solidFill>
                <a:srgbClr val="347FF0"/>
              </a:solidFill>
              <a:ln>
                <a:solidFill>
                  <a:srgbClr val="347FF0"/>
                </a:solidFill>
              </a:ln>
            </c:spPr>
          </c:marker>
          <c:dLbls>
            <c:dLbl>
              <c:idx val="0"/>
              <c:numFmt formatCode="0.00" sourceLinked="0"/>
              <c:txPr>
                <a:bodyPr/>
                <a:lstStyle/>
                <a:p>
                  <a:pPr>
                    <a:defRPr sz="1200" b="1" baseline="0">
                      <a:solidFill>
                        <a:srgbClr val="347FF0"/>
                      </a:solidFill>
                      <a:latin typeface="Arial"/>
                    </a:defRPr>
                  </a:pPr>
                  <a:endParaRPr lang="en-US"/>
                </a:p>
              </c:txPr>
              <c:dLblPos val="t"/>
              <c:showLegendKey val="0"/>
              <c:showVal val="1"/>
              <c:showCatName val="0"/>
              <c:showSerName val="0"/>
              <c:showPercent val="0"/>
              <c:showBubbleSize val="0"/>
            </c:dLbl>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dLbl>
              <c:idx val="15"/>
              <c:delete val="1"/>
            </c:dLbl>
            <c:dLbl>
              <c:idx val="16"/>
              <c:delete val="1"/>
            </c:dLbl>
            <c:dLbl>
              <c:idx val="17"/>
              <c:delete val="1"/>
            </c:dLbl>
            <c:dLbl>
              <c:idx val="18"/>
              <c:delete val="1"/>
            </c:dLbl>
            <c:dLbl>
              <c:idx val="19"/>
              <c:delete val="1"/>
            </c:dLbl>
            <c:dLbl>
              <c:idx val="20"/>
              <c:delete val="1"/>
            </c:dLbl>
            <c:dLbl>
              <c:idx val="21"/>
              <c:delete val="1"/>
            </c:dLbl>
            <c:dLbl>
              <c:idx val="22"/>
              <c:delete val="1"/>
            </c:dLbl>
            <c:dLbl>
              <c:idx val="23"/>
              <c:delete val="1"/>
            </c:dLbl>
            <c:dLbl>
              <c:idx val="24"/>
              <c:delete val="1"/>
            </c:dLbl>
            <c:dLbl>
              <c:idx val="25"/>
              <c:delete val="1"/>
            </c:dLbl>
            <c:dLbl>
              <c:idx val="26"/>
              <c:delete val="1"/>
            </c:dLbl>
            <c:dLbl>
              <c:idx val="27"/>
              <c:delete val="1"/>
            </c:dLbl>
            <c:dLbl>
              <c:idx val="28"/>
              <c:delete val="1"/>
            </c:dLbl>
            <c:dLbl>
              <c:idx val="29"/>
              <c:numFmt formatCode="0.00" sourceLinked="0"/>
              <c:txPr>
                <a:bodyPr/>
                <a:lstStyle/>
                <a:p>
                  <a:pPr>
                    <a:defRPr sz="1200" b="1" baseline="0">
                      <a:solidFill>
                        <a:srgbClr val="347FF0"/>
                      </a:solidFill>
                      <a:latin typeface="Arial"/>
                    </a:defRPr>
                  </a:pPr>
                  <a:endParaRPr lang="en-US"/>
                </a:p>
              </c:txPr>
              <c:dLblPos val="t"/>
              <c:showLegendKey val="0"/>
              <c:showVal val="1"/>
              <c:showCatName val="0"/>
              <c:showSerName val="0"/>
              <c:showPercent val="0"/>
              <c:showBubbleSize val="0"/>
            </c:dLbl>
            <c:numFmt formatCode="0.00" sourceLinked="0"/>
            <c:txPr>
              <a:bodyPr/>
              <a:lstStyle/>
              <a:p>
                <a:pPr>
                  <a:defRPr sz="1200" b="1" baseline="0">
                    <a:solidFill>
                      <a:srgbClr val="347FF0"/>
                    </a:solidFill>
                    <a:latin typeface="Arial"/>
                  </a:defRPr>
                </a:pPr>
                <a:endParaRPr lang="en-US"/>
              </a:p>
            </c:txPr>
            <c:dLblPos val="t"/>
            <c:showLegendKey val="0"/>
            <c:showVal val="1"/>
            <c:showCatName val="0"/>
            <c:showSerName val="0"/>
            <c:showPercent val="0"/>
            <c:showBubbleSize val="0"/>
          </c:dLbls>
          <c:cat>
            <c:strRef>
              <c:f>Data!$A$2:$A$31</c:f>
              <c:strCache>
                <c:ptCount val="30"/>
                <c:pt idx="0">
                  <c:v>Sep 9</c:v>
                </c:pt>
                <c:pt idx="1">
                  <c:v>Sep 10</c:v>
                </c:pt>
                <c:pt idx="2">
                  <c:v>Sep 11</c:v>
                </c:pt>
                <c:pt idx="3">
                  <c:v>Sep 12</c:v>
                </c:pt>
                <c:pt idx="4">
                  <c:v>Sep 13</c:v>
                </c:pt>
                <c:pt idx="5">
                  <c:v>Sep 14</c:v>
                </c:pt>
                <c:pt idx="6">
                  <c:v>Sep 15</c:v>
                </c:pt>
                <c:pt idx="7">
                  <c:v>Sep 16</c:v>
                </c:pt>
                <c:pt idx="8">
                  <c:v>Sep 17</c:v>
                </c:pt>
                <c:pt idx="9">
                  <c:v>Sep 18</c:v>
                </c:pt>
                <c:pt idx="10">
                  <c:v>Sep 19</c:v>
                </c:pt>
                <c:pt idx="11">
                  <c:v>Sep 20</c:v>
                </c:pt>
                <c:pt idx="12">
                  <c:v>Sep 21</c:v>
                </c:pt>
                <c:pt idx="13">
                  <c:v>Sep 22</c:v>
                </c:pt>
                <c:pt idx="14">
                  <c:v>Sep 23</c:v>
                </c:pt>
                <c:pt idx="15">
                  <c:v>Sep 24</c:v>
                </c:pt>
                <c:pt idx="16">
                  <c:v>Sep 25</c:v>
                </c:pt>
                <c:pt idx="17">
                  <c:v>Sep 26</c:v>
                </c:pt>
                <c:pt idx="18">
                  <c:v>Sep 27</c:v>
                </c:pt>
                <c:pt idx="19">
                  <c:v>Sep 28</c:v>
                </c:pt>
                <c:pt idx="20">
                  <c:v>Sep 29</c:v>
                </c:pt>
                <c:pt idx="21">
                  <c:v>Sep 30</c:v>
                </c:pt>
                <c:pt idx="22">
                  <c:v>Oct 1</c:v>
                </c:pt>
                <c:pt idx="23">
                  <c:v>Oct 2</c:v>
                </c:pt>
                <c:pt idx="24">
                  <c:v>Oct 3</c:v>
                </c:pt>
                <c:pt idx="25">
                  <c:v>Oct 4</c:v>
                </c:pt>
                <c:pt idx="26">
                  <c:v>Oct 5</c:v>
                </c:pt>
                <c:pt idx="27">
                  <c:v>Oct 6</c:v>
                </c:pt>
                <c:pt idx="28">
                  <c:v>Oct 7</c:v>
                </c:pt>
                <c:pt idx="29">
                  <c:v>Oct 8</c:v>
                </c:pt>
              </c:strCache>
            </c:strRef>
          </c:cat>
          <c:val>
            <c:numRef>
              <c:f>Data!$B$2:$B$31</c:f>
              <c:numCache>
                <c:formatCode>General</c:formatCode>
                <c:ptCount val="30"/>
                <c:pt idx="0">
                  <c:v>0.2796372324453467</c:v>
                </c:pt>
                <c:pt idx="1">
                  <c:v>0.3057066610116239</c:v>
                </c:pt>
                <c:pt idx="2">
                  <c:v>0.2862686890393618</c:v>
                </c:pt>
                <c:pt idx="3">
                  <c:v>0.2996849285750839</c:v>
                </c:pt>
                <c:pt idx="4">
                  <c:v>0.2814201706698345</c:v>
                </c:pt>
                <c:pt idx="5">
                  <c:v>0.3354380315932828</c:v>
                </c:pt>
                <c:pt idx="6">
                  <c:v>0.292886297319142</c:v>
                </c:pt>
                <c:pt idx="9">
                  <c:v>0.2566866281425211</c:v>
                </c:pt>
                <c:pt idx="10">
                  <c:v>0.2574453724335966</c:v>
                </c:pt>
                <c:pt idx="11">
                  <c:v>0.2658440473115476</c:v>
                </c:pt>
                <c:pt idx="12">
                  <c:v>0.26640340325851</c:v>
                </c:pt>
                <c:pt idx="13">
                  <c:v>0.2516296008271153</c:v>
                </c:pt>
                <c:pt idx="14">
                  <c:v>0.2643693599131755</c:v>
                </c:pt>
                <c:pt idx="15">
                  <c:v>0.2615320184411149</c:v>
                </c:pt>
                <c:pt idx="16">
                  <c:v>0.2698624881757311</c:v>
                </c:pt>
                <c:pt idx="17">
                  <c:v>0.2402596326001973</c:v>
                </c:pt>
                <c:pt idx="18">
                  <c:v>0.2342349890436853</c:v>
                </c:pt>
                <c:pt idx="19">
                  <c:v>0.2309197556005091</c:v>
                </c:pt>
                <c:pt idx="20">
                  <c:v>0.2321438143465041</c:v>
                </c:pt>
                <c:pt idx="21">
                  <c:v>0.2360356775189957</c:v>
                </c:pt>
                <c:pt idx="22">
                  <c:v>0.225033587387731</c:v>
                </c:pt>
                <c:pt idx="23">
                  <c:v>0.232949219429914</c:v>
                </c:pt>
                <c:pt idx="24">
                  <c:v>0.2339812625105425</c:v>
                </c:pt>
                <c:pt idx="25">
                  <c:v>0.2321937609004436</c:v>
                </c:pt>
                <c:pt idx="26">
                  <c:v>0.2199261068144891</c:v>
                </c:pt>
                <c:pt idx="27">
                  <c:v>0.1984515588338899</c:v>
                </c:pt>
                <c:pt idx="28">
                  <c:v>0.2004860409658522</c:v>
                </c:pt>
                <c:pt idx="29">
                  <c:v>0.1980657252767292</c:v>
                </c:pt>
              </c:numCache>
            </c:numRef>
          </c:val>
          <c:smooth val="0"/>
        </c:ser>
        <c:ser>
          <c:idx val="1"/>
          <c:order val="1"/>
          <c:tx>
            <c:v>8 concurrent requests</c:v>
          </c:tx>
          <c:spPr>
            <a:ln w="31750">
              <a:solidFill>
                <a:srgbClr val="008E96"/>
              </a:solidFill>
            </a:ln>
          </c:spPr>
          <c:marker>
            <c:symbol val="circle"/>
            <c:size val="3.5"/>
            <c:spPr>
              <a:solidFill>
                <a:srgbClr val="008E96"/>
              </a:solidFill>
              <a:ln>
                <a:solidFill>
                  <a:srgbClr val="008E96"/>
                </a:solidFill>
              </a:ln>
            </c:spPr>
          </c:marker>
          <c:dLbls>
            <c:dLbl>
              <c:idx val="0"/>
              <c:numFmt formatCode="0.00" sourceLinked="0"/>
              <c:txPr>
                <a:bodyPr/>
                <a:lstStyle/>
                <a:p>
                  <a:pPr>
                    <a:defRPr sz="1200" b="1" baseline="0">
                      <a:solidFill>
                        <a:srgbClr val="008E96"/>
                      </a:solidFill>
                      <a:latin typeface="Arial"/>
                    </a:defRPr>
                  </a:pPr>
                  <a:endParaRPr lang="en-US"/>
                </a:p>
              </c:txPr>
              <c:dLblPos val="t"/>
              <c:showLegendKey val="0"/>
              <c:showVal val="1"/>
              <c:showCatName val="0"/>
              <c:showSerName val="0"/>
              <c:showPercent val="0"/>
              <c:showBubbleSize val="0"/>
            </c:dLbl>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dLbl>
              <c:idx val="15"/>
              <c:delete val="1"/>
            </c:dLbl>
            <c:dLbl>
              <c:idx val="16"/>
              <c:delete val="1"/>
            </c:dLbl>
            <c:dLbl>
              <c:idx val="17"/>
              <c:delete val="1"/>
            </c:dLbl>
            <c:dLbl>
              <c:idx val="18"/>
              <c:delete val="1"/>
            </c:dLbl>
            <c:dLbl>
              <c:idx val="19"/>
              <c:delete val="1"/>
            </c:dLbl>
            <c:dLbl>
              <c:idx val="20"/>
              <c:delete val="1"/>
            </c:dLbl>
            <c:dLbl>
              <c:idx val="21"/>
              <c:delete val="1"/>
            </c:dLbl>
            <c:dLbl>
              <c:idx val="22"/>
              <c:delete val="1"/>
            </c:dLbl>
            <c:dLbl>
              <c:idx val="23"/>
              <c:delete val="1"/>
            </c:dLbl>
            <c:dLbl>
              <c:idx val="24"/>
              <c:delete val="1"/>
            </c:dLbl>
            <c:dLbl>
              <c:idx val="25"/>
              <c:delete val="1"/>
            </c:dLbl>
            <c:dLbl>
              <c:idx val="26"/>
              <c:delete val="1"/>
            </c:dLbl>
            <c:dLbl>
              <c:idx val="27"/>
              <c:delete val="1"/>
            </c:dLbl>
            <c:dLbl>
              <c:idx val="28"/>
              <c:delete val="1"/>
            </c:dLbl>
            <c:dLbl>
              <c:idx val="29"/>
              <c:numFmt formatCode="0.00" sourceLinked="0"/>
              <c:txPr>
                <a:bodyPr/>
                <a:lstStyle/>
                <a:p>
                  <a:pPr>
                    <a:defRPr sz="1200" b="1" baseline="0">
                      <a:solidFill>
                        <a:srgbClr val="008E96"/>
                      </a:solidFill>
                      <a:latin typeface="Arial"/>
                    </a:defRPr>
                  </a:pPr>
                  <a:endParaRPr lang="en-US"/>
                </a:p>
              </c:txPr>
              <c:dLblPos val="t"/>
              <c:showLegendKey val="0"/>
              <c:showVal val="1"/>
              <c:showCatName val="0"/>
              <c:showSerName val="0"/>
              <c:showPercent val="0"/>
              <c:showBubbleSize val="0"/>
            </c:dLbl>
            <c:numFmt formatCode="0.00" sourceLinked="0"/>
            <c:txPr>
              <a:bodyPr/>
              <a:lstStyle/>
              <a:p>
                <a:pPr>
                  <a:defRPr sz="1200" b="1" baseline="0">
                    <a:solidFill>
                      <a:srgbClr val="008E96"/>
                    </a:solidFill>
                    <a:latin typeface="Arial"/>
                  </a:defRPr>
                </a:pPr>
                <a:endParaRPr lang="en-US"/>
              </a:p>
            </c:txPr>
            <c:dLblPos val="t"/>
            <c:showLegendKey val="0"/>
            <c:showVal val="1"/>
            <c:showCatName val="0"/>
            <c:showSerName val="0"/>
            <c:showPercent val="0"/>
            <c:showBubbleSize val="0"/>
          </c:dLbls>
          <c:cat>
            <c:strRef>
              <c:f>Data!$A$2:$A$31</c:f>
              <c:strCache>
                <c:ptCount val="30"/>
                <c:pt idx="0">
                  <c:v>Sep 9</c:v>
                </c:pt>
                <c:pt idx="1">
                  <c:v>Sep 10</c:v>
                </c:pt>
                <c:pt idx="2">
                  <c:v>Sep 11</c:v>
                </c:pt>
                <c:pt idx="3">
                  <c:v>Sep 12</c:v>
                </c:pt>
                <c:pt idx="4">
                  <c:v>Sep 13</c:v>
                </c:pt>
                <c:pt idx="5">
                  <c:v>Sep 14</c:v>
                </c:pt>
                <c:pt idx="6">
                  <c:v>Sep 15</c:v>
                </c:pt>
                <c:pt idx="7">
                  <c:v>Sep 16</c:v>
                </c:pt>
                <c:pt idx="8">
                  <c:v>Sep 17</c:v>
                </c:pt>
                <c:pt idx="9">
                  <c:v>Sep 18</c:v>
                </c:pt>
                <c:pt idx="10">
                  <c:v>Sep 19</c:v>
                </c:pt>
                <c:pt idx="11">
                  <c:v>Sep 20</c:v>
                </c:pt>
                <c:pt idx="12">
                  <c:v>Sep 21</c:v>
                </c:pt>
                <c:pt idx="13">
                  <c:v>Sep 22</c:v>
                </c:pt>
                <c:pt idx="14">
                  <c:v>Sep 23</c:v>
                </c:pt>
                <c:pt idx="15">
                  <c:v>Sep 24</c:v>
                </c:pt>
                <c:pt idx="16">
                  <c:v>Sep 25</c:v>
                </c:pt>
                <c:pt idx="17">
                  <c:v>Sep 26</c:v>
                </c:pt>
                <c:pt idx="18">
                  <c:v>Sep 27</c:v>
                </c:pt>
                <c:pt idx="19">
                  <c:v>Sep 28</c:v>
                </c:pt>
                <c:pt idx="20">
                  <c:v>Sep 29</c:v>
                </c:pt>
                <c:pt idx="21">
                  <c:v>Sep 30</c:v>
                </c:pt>
                <c:pt idx="22">
                  <c:v>Oct 1</c:v>
                </c:pt>
                <c:pt idx="23">
                  <c:v>Oct 2</c:v>
                </c:pt>
                <c:pt idx="24">
                  <c:v>Oct 3</c:v>
                </c:pt>
                <c:pt idx="25">
                  <c:v>Oct 4</c:v>
                </c:pt>
                <c:pt idx="26">
                  <c:v>Oct 5</c:v>
                </c:pt>
                <c:pt idx="27">
                  <c:v>Oct 6</c:v>
                </c:pt>
                <c:pt idx="28">
                  <c:v>Oct 7</c:v>
                </c:pt>
                <c:pt idx="29">
                  <c:v>Oct 8</c:v>
                </c:pt>
              </c:strCache>
            </c:strRef>
          </c:cat>
          <c:val>
            <c:numRef>
              <c:f>Data!$C$2:$C$31</c:f>
              <c:numCache>
                <c:formatCode>General</c:formatCode>
                <c:ptCount val="30"/>
                <c:pt idx="0">
                  <c:v>1.594658488735538</c:v>
                </c:pt>
                <c:pt idx="1">
                  <c:v>1.639119254901777</c:v>
                </c:pt>
                <c:pt idx="2">
                  <c:v>1.600506823076087</c:v>
                </c:pt>
                <c:pt idx="3">
                  <c:v>1.533075325540891</c:v>
                </c:pt>
                <c:pt idx="4">
                  <c:v>1.427439952879524</c:v>
                </c:pt>
                <c:pt idx="5">
                  <c:v>1.548777177390953</c:v>
                </c:pt>
                <c:pt idx="6">
                  <c:v>1.443613136566437</c:v>
                </c:pt>
                <c:pt idx="9">
                  <c:v>1.223237542270912</c:v>
                </c:pt>
                <c:pt idx="10">
                  <c:v>1.214442790468634</c:v>
                </c:pt>
                <c:pt idx="11">
                  <c:v>1.203165919083194</c:v>
                </c:pt>
                <c:pt idx="12">
                  <c:v>1.228476333626099</c:v>
                </c:pt>
                <c:pt idx="13">
                  <c:v>1.216958569393258</c:v>
                </c:pt>
                <c:pt idx="14">
                  <c:v>1.234337931990434</c:v>
                </c:pt>
                <c:pt idx="15">
                  <c:v>1.229611216873418</c:v>
                </c:pt>
                <c:pt idx="16">
                  <c:v>1.150527558844016</c:v>
                </c:pt>
                <c:pt idx="17">
                  <c:v>1.163503890476065</c:v>
                </c:pt>
                <c:pt idx="18">
                  <c:v>1.136492505645574</c:v>
                </c:pt>
                <c:pt idx="19">
                  <c:v>1.119524658925677</c:v>
                </c:pt>
                <c:pt idx="20">
                  <c:v>0.957241651854932</c:v>
                </c:pt>
                <c:pt idx="21">
                  <c:v>0.9713509255918522</c:v>
                </c:pt>
                <c:pt idx="22">
                  <c:v>0.9541174115557042</c:v>
                </c:pt>
                <c:pt idx="23">
                  <c:v>0.9149869953254338</c:v>
                </c:pt>
                <c:pt idx="24">
                  <c:v>0.9561431470835395</c:v>
                </c:pt>
                <c:pt idx="25">
                  <c:v>0.9721078984292808</c:v>
                </c:pt>
                <c:pt idx="26">
                  <c:v>0.9844461966498954</c:v>
                </c:pt>
                <c:pt idx="27">
                  <c:v>0.7430039011861929</c:v>
                </c:pt>
                <c:pt idx="28">
                  <c:v>0.5597075615335489</c:v>
                </c:pt>
                <c:pt idx="29">
                  <c:v>0.4902875810555307</c:v>
                </c:pt>
              </c:numCache>
            </c:numRef>
          </c:val>
          <c:smooth val="0"/>
        </c:ser>
        <c:marker val="1"/>
        <c:axId val="50010001"/>
        <c:axId val="50010002"/>
      </c:lineChart>
      <c:catAx>
        <c:axId val="50010001"/>
        <c:scaling>
          <c:orientation val="minMax"/>
        </c:scaling>
        <c:axPos val="b"/>
        <c:majorTickMark val="none"/>
        <c:minorTickMark val="none"/>
        <c:tickLblPos val="low"/>
        <c:spPr>
          <a:ln>
            <a:solidFill>
              <a:srgbClr val="BAC9D7"/>
            </a:solidFill>
          </a:ln>
        </c:spPr>
        <c:txPr>
          <a:bodyPr/>
          <a:lstStyle/>
          <a:p>
            <a:pPr>
              <a:defRPr sz="1050" baseline="0">
                <a:solidFill>
                  <a:srgbClr val="526985"/>
                </a:solidFill>
                <a:latin typeface="Arial"/>
              </a:defRPr>
            </a:pPr>
            <a:endParaRPr lang="en-US"/>
          </a:p>
        </c:txPr>
        <c:crossAx val="50010002"/>
        <c:crosses val="autoZero"/>
        <c:auto val="1"/>
        <c:lblAlgn val="ctr"/>
        <c:lblOffset val="100"/>
        <c:tickLblSkip val="7"/>
      </c:catAx>
      <c:valAx>
        <c:axId val="50010002"/>
        <c:scaling>
          <c:orientation val="minMax"/>
          <c:max val="1.8"/>
          <c:min val="0"/>
        </c:scaling>
        <c:axPos val="l"/>
        <c:majorGridlines>
          <c:spPr>
            <a:ln w="9525">
              <a:solidFill>
                <a:srgbClr val="DFE7EF"/>
              </a:solidFill>
            </a:ln>
          </c:spPr>
        </c:majorGridlines>
        <c:title>
          <c:tx>
            <c:rich>
              <a:bodyPr rot="-5400000" vert="horz"/>
              <a:lstStyle/>
              <a:p>
                <a:pPr>
                  <a:defRPr sz="1050" baseline="0">
                    <a:solidFill>
                      <a:srgbClr val="526985"/>
                    </a:solidFill>
                    <a:latin typeface="Arial"/>
                  </a:defRPr>
                </a:pPr>
                <a:r>
                  <a:rPr lang="en-US" sz="1050" baseline="0">
                    <a:solidFill>
                      <a:srgbClr val="526985"/>
                    </a:solidFill>
                    <a:latin typeface="Arial"/>
                  </a:rPr>
                  <a:t>Mean Audio RTF</a:t>
                </a:r>
              </a:p>
            </c:rich>
          </c:tx>
          <c:layout/>
        </c:title>
        <c:numFmt formatCode="0.0" sourceLinked="0"/>
        <c:majorTickMark val="none"/>
        <c:tickLblPos val="nextTo"/>
        <c:spPr>
          <a:ln>
            <a:noFill/>
          </a:ln>
        </c:spPr>
        <c:txPr>
          <a:bodyPr/>
          <a:lstStyle/>
          <a:p>
            <a:pPr>
              <a:defRPr sz="1050" baseline="0">
                <a:solidFill>
                  <a:srgbClr val="526985"/>
                </a:solidFill>
                <a:latin typeface="Arial"/>
              </a:defRPr>
            </a:pPr>
            <a:endParaRPr lang="en-US"/>
          </a:p>
        </c:txPr>
        <c:crossAx val="50010001"/>
        <c:crosses val="autoZero"/>
        <c:crossBetween val="midCat"/>
        <c:majorUnit val="0.6"/>
      </c:valAx>
      <c:spPr>
        <a:solidFill>
          <a:srgbClr val="FFFFFF"/>
        </a:solidFill>
        <a:ln>
          <a:noFill/>
        </a:ln>
      </c:spPr>
    </c:plotArea>
    <c:legend>
      <c:legendPos val="t"/>
      <c:layout/>
      <c:txPr>
        <a:bodyPr/>
        <a:lstStyle/>
        <a:p>
          <a:pPr>
            <a:defRPr sz="1050" baseline="0">
              <a:solidFill>
                <a:srgbClr val="526985"/>
              </a:solidFill>
              <a:latin typeface="Arial"/>
            </a:defRPr>
          </a:pPr>
          <a:endParaRPr lang="en-US"/>
        </a:p>
      </c:txPr>
    </c:legend>
    <c:plotVisOnly val="1"/>
    <c:dispBlanksAs val="gap"/>
  </c:chart>
  <c:spPr>
    <a:solidFill>
      <a:srgbClr val="FFFFFF"/>
    </a:solidFill>
    <a:ln>
      <a:noFill/>
    </a:ln>
  </c:spPr>
  <c:externalData r:id="rId1">
    <c:autoUpdate val="0"/>
  </c:externalData>
  <c:printSettings>
    <c:headerFooter/>
    <c:pageMargins b="0.75" l="0.7" r="0.7" t="0.75" header="0.3" footer="0.3"/>
    <c:pageSetup/>
  </c:printSettings>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Inflection Point in SI Interaction</a:t>
            </a:r>
          </a:p>
          <a:p>
            <a:r>
              <a:t>How vLLM-Omni Enables Models to Listen and Speak Simultaneously</a:t>
            </a:r>
          </a:p>
          <a:p>
            <a:r>
              <a:t/>
            </a:r>
          </a:p>
          <a:p>
            <a:r>
              <a:t>Full duplex lets models keep listening while speaking. This talk introduces the interaction modes, unified runtime architecture and measured performance of vLLM-Omni. Capabilities vary by model and execution mode.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Duplex is the community-wide serving scope. Contributions cover native-duplex models and turn-based models served through duplex sessions; this title does not claim that every model is natively full duplex.</a:t>
            </a:r>
          </a:p>
          <a:p>
            <a:r>
              <a:t/>
            </a:r>
          </a:p>
          <a:p>
            <a:r>
              <a:t>Full duplex is built with the vLLM-Omni community. This edition recognizes 62 GitHub-linked human contributors across 166 related pull requests merged to main through 7 October 2026. The slide uses rounded lower bounds of 60+ contributors and 160+ PRs.</a:t>
            </a:r>
          </a:p>
          <a:p>
            <a:r>
              <a:t/>
            </a:r>
          </a:p>
          <a:p>
            <a:r>
              <a:t>The portraits credit PR authors and GitHub-linked coauthors on merged commits, in alphabetical order with equal visual weight. Scope includes duplex runtimes, associated model integration and execution, Realtime control, and direct benchmark / validation tooling. Review-only contributions are not included in this count; unlinked signatures are recorded separately without assigning an identity or portrait. Original public GitHub profile avatars link to their respective profiles.</a:t>
            </a:r>
          </a:p>
          <a:p>
            <a:r>
              <a:t/>
            </a:r>
          </a:p>
          <a:p>
            <a:r>
              <a:t>Selected milestones connect native duplex, the unified framework, Realtime interoperability, model integrations and bounded output delivery. The complete attribution is in the companion Community Credits document.</a:t>
            </a:r>
          </a:p>
          <a:p>
            <a:r>
              <a:t/>
            </a:r>
          </a:p>
          <a:p>
            <a:r>
              <a:t>Sources:</a:t>
            </a:r>
          </a:p>
          <a:p>
            <a:r>
              <a:t>- https://github.com/vllm-project/vllm-omni/pull/3907</a:t>
            </a:r>
          </a:p>
          <a:p>
            <a:r>
              <a:t>- https://github.com/vllm-project/vllm-omni/pull/7413</a:t>
            </a:r>
          </a:p>
          <a:p>
            <a:r>
              <a:t>- https://github.com/vllm-project/vllm-omni/pull/7285</a:t>
            </a:r>
          </a:p>
          <a:p>
            <a:r>
              <a:t>- https://github.com/vllm-project/vllm-omni/pull/7585</a:t>
            </a:r>
          </a:p>
          <a:p>
            <a:r>
              <a:t>- https://github.com/vllm-project/vllm-omni/pull/7695</a:t>
            </a:r>
          </a:p>
          <a:p>
            <a:r>
              <a:t>- https://github.com/vllm-project/vllm-omni/pull/6089</a:t>
            </a:r>
          </a:p>
          <a:p>
            <a:r>
              <a:t>- https://github.com/vllm-project/vllm-omni/pull/7633</a:t>
            </a:r>
          </a:p>
          <a:p>
            <a:r>
              <a:t>- https://github.com/vllm-project/vllm-omni/pull/7644</a:t>
            </a:r>
          </a:p>
          <a:p>
            <a:r>
              <a:t/>
            </a:r>
          </a:p>
          <a:p>
            <a:r>
              <a:t>PR #7644 bounds each session output buffer and rejects cancelled audio before delivery. The client must still stop audio already received.</a:t>
            </a:r>
          </a:p>
          <a:p>
            <a:r>
              <a:t>Source: https://github.com/vllm-project/vllm-omni/pull/7644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compares interaction experiences. Half-duplex means input and output take turns in the illustrated client experience; it is not a label for every turn-based model or transport. The half-duplex camera frames likewise accompany the accepted input segments. Full-duplex allows incoming user speech to overlap assistant output, with camera input continuing in this illustrated multimodal configuration. Waveform spacing is schematic, not a latency benchmark. Camera/video support depends on the model and configuration.</a:t>
            </a:r>
          </a:p>
          <a:p>
            <a:r>
              <a:t/>
            </a:r>
          </a:p>
          <a:p>
            <a:r>
              <a:t>Streamed responses are a shared capability: a turn-based or half-duplex experience can still generate and deliver audio/text incrementally. Native duplex models add the ability to use ongoing input within model execution to influence subsequent output or choose to yield. Qwen3-Omni + Server VAD instead buffers committed turns and supports externally triggered interruption; that distinction is detailed in Appendix A2. The detailed diagram and explicit-cancel versus VAD paths have been relocated there.</a:t>
            </a:r>
          </a:p>
          <a:p>
            <a:r>
              <a:t/>
            </a:r>
          </a:p>
          <a:p>
            <a:r>
              <a:t>Sources:</a:t>
            </a:r>
          </a:p>
          <a:p>
            <a:r>
              <a:t>https://github.com/vllm-project/vllm-omni/blob/f3391da7c58ee8dc990829aab82166edf865d19b/examples/online_serving/realtime_web/app/static/profiles/minicpm_native.js</a:t>
            </a:r>
          </a:p>
          <a:p>
            <a:r>
              <a:t>https://github.com/vllm-project/vllm-omni/blob/f3391da7c58ee8dc990829aab82166edf865d19b/examples/online_serving/realtime_web/app/static/profiles/qwen3_turn.js</a:t>
            </a:r>
          </a:p>
          <a:p>
            <a:r>
              <a:t>https://github.com/vllm-project/vllm-omni/blob/f3391da7c58ee8dc990829aab82166edf865d19b/examples/online_serving/realtime_web/app/static/app.js</a:t>
            </a:r>
          </a:p>
          <a:p>
            <a:r>
              <a:t>https://github.com/vllm-project/vllm-omni/blob/f3391da7c58ee8dc990829aab82166edf865d19b/vllm_omni/model_executor/models/minicpmo_4_5/duplex/capabilities.py</a:t>
            </a:r>
          </a:p>
          <a:p>
            <a:r>
              <a:t>https://github.com/vllm-project/vllm-omni/blob/f3391da7c58ee8dc990829aab82166edf865d19b/vllm_omni/model_executor/models/minicpmo_4_5/duplex/plugin.py</a:t>
            </a:r>
          </a:p>
          <a:p>
            <a:r>
              <a:t>https://github.com/vllm-project/vllm-omni/blob/f3391da7c58ee8dc990829aab82166edf865d19b/vllm_omni/model_executor/models/qwen3_omni/duplex/plugin.py</a:t>
            </a:r>
          </a:p>
          <a:p>
            <a:r>
              <a:t>https://github.com/vllm-project/vllm-omni/blob/f3391da7c58ee8dc990829aab82166edf865d19b/vllm_omni/engine/duplex/session/model_channel.py</a:t>
            </a:r>
          </a:p>
          <a:p>
            <a:r>
              <a:t>https://github.com/vllm-project/vllm-omni/blob/f3391da7c58ee8dc990829aab82166edf865d19b/vllm_omni/engine/duplex/session/overlap_policy.py</a:t>
            </a:r>
          </a:p>
          <a:p>
            <a:r>
              <a:t>https://github.com/vllm-project/vllm-omni/blob/f3391da7c58ee8dc990829aab82166edf865d19b/vllm_omni/engine/duplex/session/runner.py</a:t>
            </a:r>
          </a:p>
          <a:p>
            <a:r>
              <a:t>https://github.com/vllm-project/vllm-omni/blob/f3391da7c58ee8dc990829aab82166edf865d19b/vllm_omni/engine/duplex/vad.py</a:t>
            </a:r>
          </a:p>
          <a:p>
            <a:r>
              <a:t>https://github.com/vllm-project/vllm-omni/blob/4c5541cfc17143f80bdb89bbb7a5840b08bb52c6/vllm_omni/model_executor/models/qwen3_omni/duplex/plugin.py</a:t>
            </a:r>
          </a:p>
          <a:p>
            <a:r>
              <a:t>https://github.com/vllm-project/vllm-omni/blob/4c5541cfc17143f80bdb89bbb7a5840b08bb52c6/examples/online_serving/realtime_web/app/static/profiles/qwen3_turn.js</a:t>
            </a:r>
          </a:p>
          <a:p>
            <a:r>
              <a:t>https://github.com/vllm-project/vllm-omni/blob/4c5541cfc17143f80bdb89bbb7a5840b08bb52c6/vllm_omni/model_executor/models/minicpmo_4_5/duplex/plugin.py</a:t>
            </a:r>
          </a:p>
          <a:p>
            <a:r>
              <a:t>https://github.com/vllm-project/vllm-omni/blob/4c5541cfc17143f80bdb89bbb7a5840b08bb52c6/vllm_omni/model_executor/models/personaplex/duplex/capabilities.py</a:t>
            </a:r>
          </a:p>
          <a:p>
            <a:r>
              <a:t>https://github.com/vllm-project/vllm-omni/blob/712b90de9c7bc14c595b363401588a713a87c02d/vllm_omni/model_executor/models/minicpmo_4_5/duplex/capabilities.py</a:t>
            </a:r>
          </a:p>
          <a:p>
            <a:r>
              <a:t>https://github.com/vllm-project/vllm-omni/blob/712b90de9c7bc14c595b363401588a713a87c02d/vllm_omni/engine/duplex/session/runner.py</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bottom cards are examples of mechanisms, not a feature checklist shared by every model. Native models continuously process input during output; AURA can make a per-commit silent/speak decision but does not append new input to one live Thinker request. Local playback stop does not by itself cancel inference.</a:t>
            </a:r>
          </a:p>
          <a:p>
            <a:r>
              <a:t/>
            </a:r>
          </a:p>
          <a:p>
            <a:r>
              <a:t>Sources:</a:t>
            </a:r>
          </a:p>
          <a:p>
            <a:r>
              <a:t>https://github.com/vllm-project/vllm-omni/blob/4c5541cfc17143f80bdb89bbb7a5840b08bb52c6/examples/online_serving/realtime_web/app/static/profiles/qwen3_turn.js</a:t>
            </a:r>
          </a:p>
          <a:p>
            <a:r>
              <a:t>https://github.com/vllm-project/vllm-omni/blob/4c5541cfc17143f80bdb89bbb7a5840b08bb52c6/examples/online_serving/realtime_web/app/static/profiles/aura_ptt.js</a:t>
            </a:r>
          </a:p>
          <a:p>
            <a:r>
              <a:t>https://github.com/vllm-project/vllm-omni/blob/ee81f33001922f8d91dd09da0a57ee1531a8df82/vllm_omni/model_executor/models/personaplex/duplex/plugin.py#L236-L258</a:t>
            </a:r>
          </a:p>
          <a:p>
            <a:r>
              <a:t>https://github.com/vllm-project/vllm-omni/blob/ee81f33001922f8d91dd09da0a57ee1531a8df82/examples/online_serving/realtime_web/app/static/profiles/qwen3_turn.js#L14-L20</a:t>
            </a:r>
          </a:p>
          <a:p>
            <a:r>
              <a:t>https://github.com/vllm-project/vllm-omni/blob/ee81f33001922f8d91dd09da0a57ee1531a8df82/examples/online_serving/realtime_web/app/static/profiles/aura_ptt.js#L8-L29</a:t>
            </a:r>
          </a:p>
          <a:p>
            <a:r>
              <a:t>https://github.com/vllm-project/vllm-omni/blob/ee81f33001922f8d91dd09da0a57ee1531a8df82/vllm_omni/model_executor/models/aura_omni/duplex/plugin.py#L374-L388</a:t>
            </a:r>
          </a:p>
          <a:p>
            <a:r>
              <a:t>https://github.com/vllm-project/vllm-omni/blob/712b90de9c7bc14c595b363401588a713a87c02d/examples/online_serving/realtime_web/app/static/profiles/qwen3_turn.js</a:t>
            </a:r>
          </a:p>
          <a:p>
            <a:r>
              <a:t>https://github.com/vllm-project/vllm-omni/blob/712b90de9c7bc14c595b363401588a713a87c02d/examples/online_serving/realtime_web/app/static/profiles/aura_ptt.js</a:t>
            </a:r>
          </a:p>
          <a:p>
            <a:r>
              <a:t>https://github.com/vllm-project/vllm-omni/blob/712b90de9c7bc14c595b363401588a713a87c02d/vllm_omni/engine/duplex/session/runner.py</a:t>
            </a:r>
          </a:p>
          <a:p>
            <a:r>
              <a:t>https://github.com/vllm-project/vllm-omni/blob/712b90de9c7bc14c595b363401588a713a87c02d/vllm_omni/engine/duplex/delivery.py</a:t>
            </a:r>
          </a:p>
          <a:p>
            <a:r>
              <a:t>https://github.com/vllm-project/vllm-omni/blob/712b90de9c7bc14c595b363401588a713a87c02d/vllm_omni/entrypoints/duplex/session_attachment.py</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PersonaPlex demonstration and model-specific behavior</a:t>
            </a:r>
          </a:p>
          <a:p>
            <a:r>
              <a:t/>
            </a:r>
          </a:p>
          <a:p>
            <a:r>
              <a:t>PersonaPlex is a speech-only, native duplex model on the unified /v1/duplex endpoint (also /v1/realtime?duplex=1). It is always clocked in 80 ms audio units: 1920 samples at 24 kHz. This is a codec/model frame duration, not an end-to-end latency guarantee. Input is framed by the session; clients may send different chunk sizes. The model continues hearing the user during its own speech. There are no client commits or external turn signals, and no Server VAD is required to gate generation. The plugin's decide_output returns None: do not label its behavior as MiniCPM's discrete LISTEN/SPEAK decision path.</a:t>
            </a:r>
          </a:p>
          <a:p>
            <a:r>
              <a:t/>
            </a:r>
          </a:p>
          <a:p>
            <a:r>
              <a:t>Voice comes from bundled voice prompts; persona comes from session instructions. Both are fixed for the lifetime of a session. This is not arbitrary voice cloning. The former standalone Moshi-compatible web demo has been removed; the current integration uses the unified endpoint and DuplexClient preset.</a:t>
            </a:r>
          </a:p>
          <a:p>
            <a:r>
              <a:t/>
            </a:r>
          </a:p>
          <a:p>
            <a:r>
              <a:t>Stage 0 is the Talker: worker-side streaming Mimi input encoding, temporal transformer and Depformer. The framework keeps a live resumable Stage 0 request, with KV managed through the model runner; the worker runtime retains per-session encoder state and frame history. Stage 1 is Code2Wav with a separate streaming Mimi decoder per request. Codes cross the shared-memory connector and only new PCM is returned. These are two Stages, not three Stages for the encoder, temporal model and Depformer. State is isolated by request/session and epoch.</a:t>
            </a:r>
          </a:p>
          <a:p>
            <a:r>
              <a:t/>
            </a:r>
          </a:p>
          <a:p>
            <a:r>
              <a:t>Overlapping speech is native model behavior. supports_barge_in=false and supports_audio_truncate=false: do not promise playback-position rewind or destructive barge-in semantics. response.cancel and output_audio_buffer.clear advance the epoch, abort the live request and replay voice/persona prefill on the next fresh request. The engine session may remain open, but its previous model conversation context is discarded. These explicit commands are different from speaking while the model is talking.</a:t>
            </a:r>
          </a:p>
          <a:p>
            <a:r>
              <a:t/>
            </a:r>
          </a:p>
          <a:p>
            <a:r>
              <a:t>supports_session_resume=false: a transport drop closes the PersonaPlex session. A reconnect creates a new session; reusing voice/persona configuration does not restore earlier KV or codec state. The resume diagram applies only to the models named as resumable. The MiniCPM RTF chart on 09/12 remains a MiniCPM benchmark, not a PersonaPlex measurement.</a:t>
            </a:r>
          </a:p>
          <a:p>
            <a:r>
              <a:t/>
            </a:r>
          </a:p>
          <a:p>
            <a:r>
              <a:t>The duplex message protocol builds on the OpenAI Realtime event vocabulary and payload structure, with vLLM-Omni extensions for video input, playback feedback and session resume. /v1/duplex is an alias of /v1/realtime?duplex=1; both use the same handler and wire protocol. This describes protocol lineage and extensions, not universal feature support or complete semantic equivalence across all models.</a:t>
            </a:r>
          </a:p>
          <a:p>
            <a:r>
              <a:t/>
            </a:r>
          </a:p>
          <a:p>
            <a:r>
              <a:t>Reference: https://github.com/vllm-project/vllm-omni/blob/d5a3380103df2fc827f095c60dbfb6e1c5655fd3/docs/serving/realtime_duplex_api.md#compatibility-with-the-openai-realtime-protocol</a:t>
            </a:r>
          </a:p>
          <a:p>
            <a:r>
              <a:t/>
            </a:r>
          </a:p>
          <a:p>
            <a:r>
              <a:t>Distinguish three layers: the interface, the conversation interaction, and the model execution inside a session. Chat Completions carries request–response interactions, optionally streamed. Qwen3-Omni and MiniCPM-o 4.5 in turn mode are representative examples; the list is not exhaustive.</a:t>
            </a:r>
          </a:p>
          <a:p>
            <a:r>
              <a:t/>
            </a:r>
          </a:p>
          <a:p>
            <a:r>
              <a:t>Realtime Duplex opens an engine-owned Duplex session. Use /v1/duplex, or select the Duplex backend explicitly with /v1/realtime?duplex=1. Native duplex execution consumes ongoing input while producing output: MiniCPM-o 4.5, PersonaPlex and Nemotron VoiceChat follow this model-specific path. Turn-based execution buffers a turn and submits a new generation request when it is committed: Qwen3-Omni with Server VAD and AURA are examples. Qwen also supports explicit commit. AURA controls its turns through its model/session policy. The interface remains a streaming session for both execution modes.</a:t>
            </a:r>
          </a:p>
          <a:p>
            <a:r>
              <a:t/>
            </a:r>
          </a:p>
          <a:p>
            <a:r>
              <a:t>Execution mode does not imply identical capabilities. Video input, cancellation, yielding, resume and concurrency vary by model. In particular, MiniCPM LISTEN/SPEAK decisions must not be generalized to every native duplex model. The same model can appear on multiple serving paths when configured accordingly.</a:t>
            </a:r>
          </a:p>
          <a:p>
            <a:r>
              <a:t/>
            </a:r>
          </a:p>
          <a:p>
            <a:r>
              <a:t>/v1/realtime?duplex=0 uses a separate generic turn-based Realtime connection with connection-owned history and a new generation request per committed turn. It does not allocate a Unified Duplex engine session. The unqualified /v1/realtime route selects the backend according to server configuration. The explicit interface labels on this slide avoid equating every WebSocket Realtime connection with Unified Duplex.</a:t>
            </a:r>
          </a:p>
          <a:p>
            <a:r>
              <a:t/>
            </a:r>
          </a:p>
          <a:p>
            <a:r>
              <a:t>Sources:</a:t>
            </a:r>
          </a:p>
          <a:p>
            <a:r>
              <a:t>- https://github.com/vllm-project/vllm-omni/blob/712b90de9c7bc14c595b363401588a713a87c02d/vllm_omni/entrypoints/openai/api_server.py</a:t>
            </a:r>
          </a:p>
          <a:p>
            <a:r>
              <a:t>- https://github.com/vllm-project/vllm-omni/blob/712b90de9c7bc14c595b363401588a713a87c02d/vllm_omni/entrypoints/duplex/openai.py</a:t>
            </a:r>
          </a:p>
          <a:p>
            <a:r>
              <a:t>- https://github.com/vllm-project/vllm-omni/blob/712b90de9c7bc14c595b363401588a713a87c02d/vllm_omni/entrypoints/openai/realtime/connection.py</a:t>
            </a:r>
          </a:p>
          <a:p>
            <a:r>
              <a:t>- https://github.com/vllm-project/vllm-omni/blob/712b90de9c7bc14c595b363401588a713a87c02d/vllm_omni/model_executor/models/minicpmo_4_5/duplex/capabilities.py</a:t>
            </a:r>
          </a:p>
          <a:p>
            <a:r>
              <a:t>- https://github.com/vllm-project/vllm-omni/blob/712b90de9c7bc14c595b363401588a713a87c02d/vllm_omni/model_executor/models/qwen3_omni/duplex/plugin.py</a:t>
            </a:r>
          </a:p>
          <a:p>
            <a:r>
              <a:t>- https://github.com/vllm-project/vllm-omni/blob/712b90de9c7bc14c595b363401588a713a87c02d/vllm_omni/model_executor/models/aura_omni/duplex/plugin.py</a:t>
            </a:r>
          </a:p>
          <a:p>
            <a:r>
              <a:t>- https://github.com/vllm-project/vllm-omni/blob/712b90de9c7bc14c595b363401588a713a87c02d/vllm_omni/model_executor/models/personaplex/duplex/plugin.py</a:t>
            </a:r>
          </a:p>
          <a:p>
            <a:r>
              <a:t>- https://github.com/vllm-project/vllm-omni/blob/712b90de9c7bc14c595b363401588a713a87c02d/vllm_omni/model_executor/models/nemotron_voicechat/duplex/plugin.py</a:t>
            </a:r>
          </a:p>
          <a:p>
            <a:r>
              <a:t>- https://github.com/vllm-project/vllm-omni/blob/712b90de9c7bc14c595b363401588a713a87c02d/examples/online_serving/realtime_web/app/static/profiles/qwen3_turn.js</a:t>
            </a:r>
          </a:p>
          <a:p>
            <a:r>
              <a:t>PersonaPlex source references:</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Commands and lifecycle operations cross the same engine request transport. Open, close and resume use control-result correlation; ordinary session outputs go directly to the bounded buffer shared with the handle. EngineClient owns handles and routes command/event traffic; the Orchestrator runs session control and Stage dispatch on its own event loop in the same process.</a:t>
            </a:r>
          </a:p>
          <a:p>
            <a:r>
              <a:t/>
            </a:r>
          </a:p>
          <a:p>
            <a:r>
              <a:t>Sources:</a:t>
            </a:r>
          </a:p>
          <a:p>
            <a:r>
              <a:t>https://github.com/vllm-project/vllm-omni/blob/4c5541cfc17143f80bdb89bbb7a5840b08bb52c6/vllm_omni/engine/duplex_omni_engine.py</a:t>
            </a:r>
          </a:p>
          <a:p>
            <a:r>
              <a:t>https://github.com/vllm-project/vllm-omni/blob/4c5541cfc17143f80bdb89bbb7a5840b08bb52c6/vllm_omni/entrypoints/duplex_omni.py</a:t>
            </a:r>
          </a:p>
          <a:p>
            <a:r>
              <a:t>https://github.com/vllm-project/vllm-omni/blob/4c5541cfc17143f80bdb89bbb7a5840b08bb52c6/vllm_omni/engine/duplex/session/manager.py</a:t>
            </a:r>
          </a:p>
          <a:p>
            <a:r>
              <a:t>https://github.com/vllm-project/vllm-omni/blob/712b90de9c7bc14c595b363401588a713a87c02d/vllm_omni/entrypoints/duplex_omni.py</a:t>
            </a:r>
          </a:p>
          <a:p>
            <a:r>
              <a:t>https://github.com/vllm-project/vllm-omni/blob/712b90de9c7bc14c595b363401588a713a87c02d/vllm_omni/engine/duplex_omni_engine.py</a:t>
            </a:r>
          </a:p>
          <a:p>
            <a:r>
              <a:t>https://github.com/vllm-project/vllm-omni/blob/712b90de9c7bc14c595b363401588a713a87c02d/vllm_omni/engine/duplex/session/manager.py</a:t>
            </a:r>
          </a:p>
          <a:p>
            <a:r>
              <a:t>https://github.com/vllm-project/vllm-omni/blob/712b90de9c7bc14c595b363401588a713a87c02d/vllm_omni/engine/duplex/session/runner.py</a:t>
            </a:r>
          </a:p>
          <a:p>
            <a:r>
              <a:t>https://github.com/vllm-project/vllm-omni/blob/712b90de9c7bc14c595b363401588a713a87c02d/vllm_omni/engine/duplex/delivery.py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diagram represents framework I/O concurrency. Continued input reception does not mean every model immediately incorporates it into a running generation. Native plugins append to a live request; Qwen3-Omni and AURA wait for committed input to start fresh requests. Stage execution includes EngineCore scheduling and workers. Event acknowledgments terminate at the API; playback acknowledgments go to the session runtime.</a:t>
            </a:r>
          </a:p>
          <a:p>
            <a:r>
              <a:t/>
            </a:r>
          </a:p>
          <a:p>
            <a:r>
              <a:t>Sources:</a:t>
            </a:r>
          </a:p>
          <a:p>
            <a:r>
              <a:t>https://github.com/vllm-project/vllm-omni/blob/4c5541cfc17143f80bdb89bbb7a5840b08bb52c6/vllm_omni/engine/duplex/session/runner.py</a:t>
            </a:r>
          </a:p>
          <a:p>
            <a:r>
              <a:t>https://github.com/vllm-project/vllm-omni/blob/4c5541cfc17143f80bdb89bbb7a5840b08bb52c6/vllm_omni/model_executor/models/qwen3_omni/duplex/plugin.py</a:t>
            </a:r>
          </a:p>
          <a:p>
            <a:r>
              <a:t>https://github.com/vllm-project/vllm-omni/blob/4c5541cfc17143f80bdb89bbb7a5840b08bb52c6/vllm_omni/model_executor/models/aura_omni/duplex/plugin.py</a:t>
            </a:r>
          </a:p>
          <a:p>
            <a:r>
              <a:t>https://github.com/vllm-project/vllm-omni/blob/712b90de9c7bc14c595b363401588a713a87c02d/vllm_omni/entrypoints/duplex/serving.py</a:t>
            </a:r>
          </a:p>
          <a:p>
            <a:r>
              <a:t>https://github.com/vllm-project/vllm-omni/blob/712b90de9c7bc14c595b363401588a713a87c02d/vllm_omni/entrypoints/duplex_omni.py</a:t>
            </a:r>
          </a:p>
          <a:p>
            <a:r>
              <a:t>https://github.com/vllm-project/vllm-omni/blob/712b90de9c7bc14c595b363401588a713a87c02d/vllm_omni/engine/duplex/session/manager.py</a:t>
            </a:r>
          </a:p>
          <a:p>
            <a:r>
              <a:t>https://github.com/vllm-project/vllm-omni/blob/712b90de9c7bc14c595b363401588a713a87c02d/vllm_omni/engine/duplex/delivery.py</a:t>
            </a:r>
          </a:p>
          <a:p>
            <a:r>
              <a:t>https://github.com/vllm-project/vllm-omni/blob/712b90de9c7bc14c595b363401588a713a87c02d/vllm_omni/config/stage_config.py</a:t>
            </a:r>
          </a:p>
          <a:p>
            <a:r>
              <a:t>https://github.com/vllm-project/vllm-omni/blob/712b90de9c7bc14c595b363401588a713a87c02d/examples/online_serving/realtime_web/app/static/profiles/qwen3_turn.js</a:t>
            </a:r>
          </a:p>
          <a:p>
            <a:r>
              <a:t>https://github.com/vllm-project/vllm-omni/blob/712b90de9c7bc14c595b363401588a713a87c02d/examples/online_serving/realtime_web/app/static/profiles/aura_ptt.js</a:t>
            </a:r>
          </a:p>
          <a:p>
            <a:r>
              <a:t>https://github.com/vllm-project/vllm-omni/blob/712b90de9c7bc14c595b363401588a713a87c02d/vllm_omni/engine/duplex/session/runner.py</a:t>
            </a:r>
          </a:p>
          <a:p>
            <a:r>
              <a:t>https://github.com/vllm-project/vllm-omni/blob/712b90de9c7bc14c595b363401588a713a87c02d/vllm_omni/entrypoints/duplex/session_attachment.py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flow for 07/12</a:t>
            </a:r>
          </a:p>
          <a:p>
            <a:r>
              <a:t>Read one model row at a time: incoming media, compute stages, transmitted data, then the state carried into the next input. Stage numbers are local to each model pipeline, not a cross-model execution sequence. The pale rows use the same visual treatment for all models. Blue marks native duplex and teal marks turn-based execution.</a:t>
            </a:r>
          </a:p>
          <a:p>
            <a:r>
              <a:t/>
            </a:r>
          </a:p>
          <a:p>
            <a:r>
              <a:t>PersonaPlex: PCM in, audio codec tokens between stages, PCM out. The client preset sends mono 24 kHz pcm_f32le and receives 24 kHz pcm16 via Base64 WebSocket payloads. The session input buffer groups audio into 1920-sample / 80 ms units; 80 ms is a frame duration, not an end-to-end latency. Stage 0 contains streaming Mimi encoding plus Temporal Transformer and Depformer. The inter-stage adapter selects eight assistant codebooks, compensates their acoustic delays and packs them codebook-major. Stage 1 Mimi decoding emits float32 waveform samples; the output adapter performs the requested wire encoding. Stage 0 retains temporal KV and Mimi encoder state; Stage 1 retains Mimi decoder state. The encoder is not a third Stage and does not run in the API Server or Orchestrator.</a:t>
            </a:r>
          </a:p>
          <a:p>
            <a:r>
              <a:t/>
            </a:r>
          </a:p>
          <a:p>
            <a:r>
              <a:t>MiniCPM-o 4.5: stage 0 is the multimodal LLM; SPEAK passes text and model features to the Talker, followed by codec tokens to Code2Wav. LISTEN retains the live request rather than starting speech synthesis. LLM KV and streaming audio state are reused across native input appends, with the configured window policy. Downstream TTS and decoder state belongs to the speech-generation request, not a generic promise to preserve all downstream state for the whole session. The live request remains associated with its selected Stage replica.</a:t>
            </a:r>
          </a:p>
          <a:p>
            <a:r>
              <a:t/>
            </a:r>
          </a:p>
          <a:p>
            <a:r>
              <a:t>AURA: the stages are ASR, Thinker, Talker and Code2Wav. ASR produces text. Thinker uses the transcript, video and conversation context, then supplies text to the speech stages. Context carried into future turns consists of ASR text, retained video clips and assistant text, under the session context policy. A new committed turn creates a new generation request. The next turn can begin after Thinker completes while the prior speech synthesis continues.</a:t>
            </a:r>
          </a:p>
          <a:p>
            <a:r>
              <a:t/>
            </a:r>
          </a:p>
          <a:p>
            <a:r>
              <a:t>Qwen3-Omni: Thinker, Talker and Code2Wav; no separate ASR Stage. The Thinker consumes user audio/image frames plus conversation context; its text/embeddings and hidden features condition Talker. Codec tokens go to Code2Wav. Retained context includes user audio, image frames and conversation text, subject to configured limits. Input can arrive during output, but a committed turn starts fresh generation rather than appending to a continuously running native model request.</a:t>
            </a:r>
          </a:p>
          <a:p>
            <a:r>
              <a:t/>
            </a:r>
          </a:p>
          <a:p>
            <a:r>
              <a:t>Scope: the right column contrasts live computation retained across native inputs with conversation history reused for fresh turn-based requests. It is not an exhaustive list of every transient runtime buffer. Turn-based speech synthesis may retain decoder state within a response. Stage means a model-compute step; a replica is an execution instance of a Stage. A Stage can contain several internal modules.</a:t>
            </a:r>
          </a:p>
          <a:p>
            <a:r>
              <a:t/>
            </a:r>
          </a:p>
          <a:p>
            <a:r>
              <a:t>Source baseline: upstream main b65107d61331327424910c72e7a2da137dcfb3df; the relevant model pipeline/plugin/processor files are unchanged from the previously inspected f3391da7c snapshot. This is a targeted slide rewrite; the rest of the deck retains its previous source baselines.</a:t>
            </a:r>
          </a:p>
          <a:p>
            <a:r>
              <a:t>https://github.com/vllm-project/vllm-omni/blob/b65107d61331327424910c72e7a2da137dcfb3df/vllm_omni/clients/personaplex.py</a:t>
            </a:r>
          </a:p>
          <a:p>
            <a:r>
              <a:t>https://github.com/vllm-project/vllm-omni/blob/b65107d61331327424910c72e7a2da137dcfb3df/vllm_omni/model_executor/models/personaplex/pipeline.py</a:t>
            </a:r>
          </a:p>
          <a:p>
            <a:r>
              <a:t>https://github.com/vllm-project/vllm-omni/blob/b65107d61331327424910c72e7a2da137dcfb3df/vllm_omni/model_executor/models/personaplex/duplex/stage0.py</a:t>
            </a:r>
          </a:p>
          <a:p>
            <a:r>
              <a:t>https://github.com/vllm-project/vllm-omni/blob/b65107d61331327424910c72e7a2da137dcfb3df/vllm_omni/model_executor/stage_input_processors/personaplex.py</a:t>
            </a:r>
          </a:p>
          <a:p>
            <a:r>
              <a:t>https://github.com/vllm-project/vllm-omni/blob/b65107d61331327424910c72e7a2da137dcfb3df/vllm_omni/model_executor/models/personaplex/personaplex_code2wav.py</a:t>
            </a:r>
          </a:p>
          <a:p>
            <a:r>
              <a:t>https://github.com/vllm-project/vllm-omni/blob/b65107d61331327424910c72e7a2da137dcfb3df/vllm_omni/model_executor/models/minicpmo_4_5/pipeline.py</a:t>
            </a:r>
          </a:p>
          <a:p>
            <a:r>
              <a:t>https://github.com/vllm-project/vllm-omni/blob/b65107d61331327424910c72e7a2da137dcfb3df/vllm_omni/model_executor/models/minicpmo_4_5/duplex/plugin.py</a:t>
            </a:r>
          </a:p>
          <a:p>
            <a:r>
              <a:t>https://github.com/vllm-project/vllm-omni/blob/b65107d61331327424910c72e7a2da137dcfb3df/vllm_omni/model_executor/models/minicpmo_4_5/duplex/policy.py</a:t>
            </a:r>
          </a:p>
          <a:p>
            <a:r>
              <a:t>https://github.com/vllm-project/vllm-omni/blob/b65107d61331327424910c72e7a2da137dcfb3df/vllm_omni/model_executor/models/aura_omni/pipeline.py</a:t>
            </a:r>
          </a:p>
          <a:p>
            <a:r>
              <a:t>https://github.com/vllm-project/vllm-omni/blob/b65107d61331327424910c72e7a2da137dcfb3df/vllm_omni/model_executor/models/aura_omni/duplex/plugin.py</a:t>
            </a:r>
          </a:p>
          <a:p>
            <a:r>
              <a:t>https://github.com/vllm-project/vllm-omni/blob/b65107d61331327424910c72e7a2da137dcfb3df/vllm_omni/model_executor/models/qwen3_omni/pipeline.py</a:t>
            </a:r>
          </a:p>
          <a:p>
            <a:r>
              <a:t>https://github.com/vllm-project/vllm-omni/blob/b65107d61331327424910c72e7a2da137dcfb3df/vllm_omni/model_executor/models/qwen3_omni/duplex/plugin.py</a:t>
            </a:r>
          </a:p>
          <a:p>
            <a:r>
              <a:t>https://github.com/vllm-project/vllm-omni/blob/b65107d61331327424910c72e7a2da137dcfb3df/vllm_omni/model_executor/stage_input_processors/qwen3_omni.py</a:t>
            </a:r>
          </a:p>
          <a:p>
            <a:r>
              <a:t/>
            </a:r>
          </a:p>
          <a:p>
            <a:r>
              <a:t>Earlier source references retained for traceability:</a:t>
            </a:r>
          </a:p>
          <a:p>
            <a:r>
              <a:t>https://github.com/vllm-project/vllm-omni/blob/4c5541cfc17143f80bdb89bbb7a5840b08bb52c6/vllm_omni/model_executor/models/aura_omni/duplex/history.py</a:t>
            </a:r>
          </a:p>
          <a:p>
            <a:r>
              <a:t>https://github.com/vllm-project/vllm-omni/blob/4c5541cfc17143f80bdb89bbb7a5840b08bb52c6/vllm_omni/model_executor/models/aura_omni/duplex/plugin.py</a:t>
            </a:r>
          </a:p>
          <a:p>
            <a:r>
              <a:t>https://github.com/vllm-project/vllm-omni/blob/4c5541cfc17143f80bdb89bbb7a5840b08bb52c6/vllm_omni/model_executor/models/qwen3_omni/duplex/plugin.py</a:t>
            </a:r>
          </a:p>
          <a:p>
            <a:r>
              <a:t>https://github.com/vllm-project/vllm-omni/blob/712b90de9c7bc14c595b363401588a713a87c02d/vllm_omni/model_executor/models/minicpmo_4_5/duplex/stage0.py</a:t>
            </a:r>
          </a:p>
          <a:p>
            <a:r>
              <a:t>https://github.com/vllm-project/vllm-omni/blob/712b90de9c7bc14c595b363401588a713a87c02d/vllm_omni/model_executor/models/minicpmo_4_5/duplex/window_kv.py</a:t>
            </a:r>
          </a:p>
          <a:p>
            <a:r>
              <a:t>https://github.com/vllm-project/vllm-omni/blob/712b90de9c7bc14c595b363401588a713a87c02d/vllm_omni/model_executor/models/minicpmo_4_5/duplex/window_plan.py</a:t>
            </a:r>
          </a:p>
          <a:p>
            <a:r>
              <a:t>https://github.com/vllm-project/vllm-omni/blob/712b90de9c7bc14c595b363401588a713a87c02d/vllm_omni/model_executor/models/aura_omni/duplex/plugin.py</a:t>
            </a:r>
          </a:p>
          <a:p>
            <a:r>
              <a:t>https://github.com/vllm-project/vllm-omni/blob/712b90de9c7bc14c595b363401588a713a87c02d/vllm_omni/model_executor/models/qwen3_omni/duplex/plugin.py</a:t>
            </a:r>
          </a:p>
          <a:p>
            <a:r>
              <a:t>https://github.com/vllm-project/vllm-omni/blob/712b90de9c7bc14c595b363401588a713a87c02d/examples/online_serving/realtime_web/app/static/profiles/qwen3_turn.js</a:t>
            </a:r>
          </a:p>
          <a:p>
            <a:r>
              <a:t>https://github.com/vllm-project/vllm-omni/blob/712b90de9c7bc14c595b363401588a713a87c02d/examples/online_serving/realtime_web/app/static/profiles/aura_ptt.js</a:t>
            </a:r>
          </a:p>
          <a:p>
            <a:r>
              <a:t>https://github.com/vllm-project/vllm-omni/blob/712b90de9c7bc14c595b363401588a713a87c02d/vllm_omni/engine/duplex/session/runner.py</a:t>
            </a:r>
          </a:p>
          <a:p>
            <a:r>
              <a:t>https://github.com/vllm-project/vllm-omni/blob/712b90de9c7bc14c595b363401588a713a87c02d/vllm_omni/engine/duplex/delivery.py</a:t>
            </a:r>
          </a:p>
          <a:p>
            <a:r>
              <a:t>https://github.com/vllm-project/vllm-omni/blob/712b90de9c7bc14c595b363401588a713a87c02d/vllm_omni/entrypoints/duplex/session_attachment.py</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a:p>
            <a:r>
              <a:t>Audio terminology clarification</a:t>
            </a:r>
          </a:p>
          <a:p>
            <a:r>
              <a:t>All four model rows accept PCM audio in their unified duplex paths. PCM describes sampled audio; it does not distinguish native duplex from turn-based execution. The MiniCPM-o 4.5 web profile sends pcm16 at 16 kHz; its Python client preset inherits the same input default and pcm16 at 24 kHz output from SessionConfig. PersonaPlex uses its own preset: pcm_f32le at 24 kHz input and pcm16 at 24 kHz output. AURA web input is pcm16 at 16 kHz. The Qwen3 turn web profile uses audio/pcm at 24 kHz, while its plugin consumes normalized 16 kHz pcm_f32le. All these are PCM representations. Codec tokens between stages are a separate representation.</a:t>
            </a:r>
          </a:p>
          <a:p>
            <a:r>
              <a:t>https://github.com/vllm-project/vllm-omni/blob/b65107d61331327424910c72e7a2da137dcfb3df/examples/online_serving/realtime_web/app/static/profiles/minicpm_native.js</a:t>
            </a:r>
          </a:p>
          <a:p>
            <a:r>
              <a:t>https://github.com/vllm-project/vllm-omni/blob/b65107d61331327424910c72e7a2da137dcfb3df/vllm_omni/clients/duplex.py</a:t>
            </a:r>
          </a:p>
          <a:p>
            <a:r>
              <a:t>https://github.com/vllm-project/vllm-omni/blob/b65107d61331327424910c72e7a2da137dcfb3df/vllm_omni/clients/minicpmo_4_5.py</a:t>
            </a:r>
          </a:p>
          <a:p>
            <a:r>
              <a:t>https://github.com/vllm-project/vllm-omni/blob/b65107d61331327424910c72e7a2da137dcfb3df/examples/online_serving/realtime_web/app/static/profiles/aura_ptt.js</a:t>
            </a:r>
          </a:p>
          <a:p>
            <a:r>
              <a:t>https://github.com/vllm-project/vllm-omni/blob/b65107d61331327424910c72e7a2da137dcfb3df/examples/online_serving/realtime_web/app/static/profiles/qwen3_turn.js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Resume is a model-dependent serving capability and is separate from automatic reconnect in a particular demo. The Python WebSocket client retains credentials and can reconnect with its configured reconnect policy. A reconnect sends session.resume as its first message, with session ID, resume token and last received server-event sequence. Successful attachment rotates the token and returns it in session.resumed. The client saves the latest token. Replay gaps return session.resync_required and cannot transparently reconstruct missing output. Process restart or loss of the owner requires a fresh session. PersonaPlex does not support resume and closes on disconnect.</a:t>
            </a:r>
          </a:p>
          <a:p>
            <a:r>
              <a:t/>
            </a:r>
          </a:p>
          <a:p>
            <a:r>
              <a:t>Sources:</a:t>
            </a:r>
          </a:p>
          <a:p>
            <a:r>
              <a:t>https://github.com/vllm-project/vllm-omni/blob/4c5541cfc17143f80bdb89bbb7a5840b08bb52c6/vllm_omni/clients/duplex.py</a:t>
            </a:r>
          </a:p>
          <a:p>
            <a:r>
              <a:t>https://github.com/vllm-project/vllm-omni/blob/4c5541cfc17143f80bdb89bbb7a5840b08bb52c6/vllm_omni/entrypoints/duplex/serving.py</a:t>
            </a:r>
          </a:p>
          <a:p>
            <a:r>
              <a:t>https://github.com/vllm-project/vllm-omni/blob/4c5541cfc17143f80bdb89bbb7a5840b08bb52c6/vllm_omni/entrypoints/duplex/session_attachment.py</a:t>
            </a:r>
          </a:p>
          <a:p>
            <a:r>
              <a:t>https://github.com/vllm-project/vllm-omni/blob/712b90de9c7bc14c595b363401588a713a87c02d/vllm_omni/entrypoints/duplex/serving.py</a:t>
            </a:r>
          </a:p>
          <a:p>
            <a:r>
              <a:t>https://github.com/vllm-project/vllm-omni/blob/712b90de9c7bc14c595b363401588a713a87c02d/vllm_omni/entrypoints/duplex/session_attachment.py</a:t>
            </a:r>
          </a:p>
          <a:p>
            <a:r>
              <a:t>https://github.com/vllm-project/vllm-omni/blob/712b90de9c7bc14c595b363401588a713a87c02d/vllm_omni/model_executor/models/personaplex/duplex/capabilities.py</a:t>
            </a:r>
          </a:p>
          <a:p>
            <a:r>
              <a:t>https://github.com/vllm-project/vllm-omni/blob/712b90de9c7bc14c595b363401588a713a87c02d/vllm_omni/model_executor/models/nemotron_voicechat/duplex/capabilities.py</a:t>
            </a:r>
          </a:p>
          <a:p>
            <a:r>
              <a:t>https://github.com/vllm-project/vllm-omni/blob/712b90de9c7bc14c595b363401588a713a87c02d/vllm_omni/clients/duplex.py</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MiniCPM-o 4.5 benchmark trend for a 30-calendar-day window ending with the latest matching H100 run: September 9 to October 8, 2026. Endpoint and backend: openai-chat-omni. Dataset: Seed-TTS. Concurrency 1: 32 requests per run. Concurrency 8: 128 requests per run. All selected runs completed without failed requests. Each series uses one unchanged config_key. One latest matching record per day; no matching records on September 16 or 17, bridged by dashed visual connectors. The figure contains 28 observed points per series and does not add missing measurements. Dashed connectors join the surrounding measured endpoints as a visual guide only; the chart data and embedded workbook retain empty cells for September 16 and 17. Mean Audio RTF is the mean per-request audio-generation-time / output-audio-duration ratio, lower is better. These are Chat Completions speech-generation benchmarks, not continuous native audio/video session measurements. Changes over time are observational and not an isolated attribution to any one optimization listed on the left.</a:t>
            </a:r>
          </a:p>
          <a:p>
            <a:r>
              <a:t>First and last values: C=1 0.279637232 to 0.198065725; C=8 1.594658489 to 0.490287581.</a:t>
            </a:r>
          </a:p>
          <a:p>
            <a:r>
              <a:t>Source: https://hsliuustc0106.github.io/vllm-omni-kanban/pages/assets/charts/minicpmo_4_5_history.json</a:t>
            </a:r>
          </a:p>
          <a:p>
            <a:r>
              <a:t>Source generated_at: 2026-10-09T02:35:21.650129</a:t>
            </a:r>
          </a:p>
          <a:p>
            <a:r>
              <a:t>https://github.com/vllm-project/vllm-omni/blob/06afa310c942c0506f0ed9bdd189fa331c46bb97/vllm_omni/model_executor/models/minicpmo_4_5/streaming_audio_encoder_graph.py</a:t>
            </a:r>
          </a:p>
          <a:p>
            <a:r>
              <a:t>https://github.com/vllm-project/vllm-omni/blob/06afa310c942c0506f0ed9bdd189fa331c46bb97/vllm_omni/model_executor/models/minicpmo_4_5/encoder_cuda_graph.py</a:t>
            </a:r>
          </a:p>
          <a:p>
            <a:r>
              <a:t>https://github.com/vllm-project/vllm-omni/blob/06afa310c942c0506f0ed9bdd189fa331c46bb97/vllm_omni/model_executor/models/minicpmo_4_5/minicpmo_4_5_code2wav.py</a:t>
            </a:r>
          </a:p>
          <a:p>
            <a:r>
              <a:t>https://github.com/vllm-project/vllm-omni/blob/06afa310c942c0506f0ed9bdd189fa331c46bb97/vllm_omni/model_executor/models/minicpmo_4_5/dit_fused.py</a:t>
            </a:r>
          </a:p>
          <a:p>
            <a:r>
              <a:t>https://github.com/vllm-project/vllm-omni/blob/06afa310c942c0506f0ed9bdd189fa331c46bb97/vllm_omni/model_executor/models/qwen3_omni/vision_encoder_cudagraph.py</a:t>
            </a:r>
          </a:p>
          <a:p>
            <a:r>
              <a:t>https://github.com/vllm-project/vllm-omni/blob/06afa310c942c0506f0ed9bdd189fa331c46bb97/vllm_omni/model_executor/models/personaplex/duplex/stage0.py</a:t>
            </a:r>
          </a:p>
          <a:p>
            <a:r>
              <a:t>https://github.com/vllm-project/vllm-omni/blob/06afa310c942c0506f0ed9bdd189fa331c46bb97/vllm_omni/model_executor/models/personaplex/personaplex_code2wav.py</a:t>
            </a:r>
          </a:p>
          <a:p>
            <a:r>
              <a:t>https://github.com/vllm-project/vllm-omni/blob/06afa310c942c0506f0ed9bdd189fa331c46bb97/vllm_omni/worker/gpu_generation_model_runner.py</a:t>
            </a:r>
          </a:p>
          <a:p>
            <a:r>
              <a:t>https://github.com/vllm-project/vllm-omni/blob/06afa310c942c0506f0ed9bdd189fa331c46bb97/vllm_omni/benchmarks/patch/patch.py</a:t>
            </a:r>
          </a:p>
          <a:p>
            <a:r>
              <a:t>https://github.com/vllm-project/vllm-omni/blob/06afa310c942c0506f0ed9bdd189fa331c46bb97/docs/design/minicpm_o45_mrv2_performance.md</a:t>
            </a:r>
          </a:p>
          <a:p>
            <a:r>
              <a:t>https://github.com/vllm-project/vllm-omni/pull/8430</a:t>
            </a:r>
          </a:p>
          <a:p>
            <a:r>
              <a:t>https://github.com/vllm-project/vllm-omni/pull/8215</a:t>
            </a:r>
          </a:p>
          <a:p>
            <a:r>
              <a:t>https://github.com/vllm-project/vllm-omni/pull/8557</a:t>
            </a:r>
          </a:p>
          <a:p>
            <a:r>
              <a:t>https://github.com/vllm-project/vllm-omni/pull/8356</a:t>
            </a:r>
          </a:p>
          <a:p>
            <a:r>
              <a:t>https://github.com/vllm-project/vllm-omni/pull/7480</a:t>
            </a:r>
          </a:p>
          <a:p>
            <a:r>
              <a:t>https://github.com/vllm-project/vllm-omni/pull/8540</a:t>
            </a:r>
          </a:p>
          <a:p>
            <a:r>
              <a:t>https://hsliuustc0106.github.io/vllm-omni-kanban/pages/assets/charts/minicpmo_4_5_history.json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timing illustration now explicitly uses stream TTFP: input-stream start until the client receives its first audio packet. It is not end-of-utterance latency or per-response server TTFP. The current metric collector has separate stream and response origins; comparisons must use the same origin, model, hardware and concurrency. Response RTF and stream RTF are not interchangeable. OmniInteract and Omni-DuplexEval provide model/task-specific interaction evaluation; the quality card emphasizes response timing and audiovisual understanding rather than implying all listed models share a speech-quality score. The figure is a schematic, not a measured timing trace.</a:t>
            </a:r>
          </a:p>
          <a:p>
            <a:r>
              <a:t/>
            </a:r>
          </a:p>
          <a:p>
            <a:r>
              <a:t>Sources:</a:t>
            </a:r>
          </a:p>
          <a:p>
            <a:r>
              <a:t>https://github.com/vllm-project/vllm-omni/blob/4c5541cfc17143f80bdb89bbb7a5840b08bb52c6/vllm_omni/benchmarks/duplex_session_metrics.py</a:t>
            </a:r>
          </a:p>
          <a:p>
            <a:r>
              <a:t>https://github.com/vllm-project/vllm-omni/blob/4c5541cfc17143f80bdb89bbb7a5840b08bb52c6/vllm_omni/benchmarks/omniinteract.py</a:t>
            </a:r>
          </a:p>
          <a:p>
            <a:r>
              <a:t>https://github.com/vllm-project/vllm-omni/blob/4c5541cfc17143f80bdb89bbb7a5840b08bb52c6/vllm_omni/benchmarks/duplex/omni_duplex_eval_metrics.py</a:t>
            </a:r>
          </a:p>
          <a:p>
            <a:r>
              <a:t>https://github.com/vllm-project/vllm-omni/blob/712b90de9c7bc14c595b363401588a713a87c02d/vllm_omni/benchmarks/omniinteract.py</a:t>
            </a:r>
          </a:p>
          <a:p>
            <a:r>
              <a:t>https://github.com/vllm-project/vllm-omni/blob/712b90de9c7bc14c595b363401588a713a87c02d/vllm_omni/benchmarks/omniinteract_eval.py</a:t>
            </a:r>
          </a:p>
          <a:p>
            <a:r>
              <a:t>https://github.com/vllm-project/vllm-omni/blob/712b90de9c7bc14c595b363401588a713a87c02d/vllm_omni/benchmarks/duplex/omni_duplex_eval_runner.py</a:t>
            </a:r>
          </a:p>
          <a:p>
            <a:r>
              <a:t>https://github.com/vllm-project/vllm-omni/blob/712b90de9c7bc14c595b363401588a713a87c02d/vllm_omni/benchmarks/duplex/omni_duplex_eval_metrics.py</a:t>
            </a:r>
          </a:p>
          <a:p>
            <a:r>
              <a:t>https://github.com/vllm-project/vllm-omni/blob/712b90de9c7bc14c595b363401588a713a87c02d/tests/e2e/accuracy/omni_duplex_eval/README.md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Qwen3-Omni tool-call parsing exists in the separate Realtime turn endpoint (duplex=0). It must not be confused with the Qwen unified duplex + Server VAD adapter. Nemotron VoiceChat already supports tool calls and tool results through unified native duplex. The lower sequence and table describe broader common handling and model coverage to build on these implementations. Work includes interruption, timeout and duplicate/late-result handling, plus explicit input/output behavior while tools execute.</a:t>
            </a:r>
          </a:p>
          <a:p>
            <a:r>
              <a:t/>
            </a:r>
          </a:p>
          <a:p>
            <a:r>
              <a:t>Sources:</a:t>
            </a:r>
          </a:p>
          <a:p>
            <a:r>
              <a:t>https://github.com/vllm-project/vllm-omni/blob/4c5541cfc17143f80bdb89bbb7a5840b08bb52c6/vllm_omni/entrypoints/openai/realtime/session.py</a:t>
            </a:r>
          </a:p>
          <a:p>
            <a:r>
              <a:t>https://github.com/vllm-project/vllm-omni/blob/4c5541cfc17143f80bdb89bbb7a5840b08bb52c6/vllm_omni/model_executor/models/nemotron_voicechat/duplex/plugin.py</a:t>
            </a:r>
          </a:p>
          <a:p>
            <a:r>
              <a:t>https://github.com/vllm-project/vllm-omni/blob/4c5541cfc17143f80bdb89bbb7a5840b08bb52c6/vllm_omni/model_executor/models/qwen3_omni/duplex/plugin.py</a:t>
            </a:r>
          </a:p>
          <a:p>
            <a:r>
              <a:t>https://github.com/vllm-project/vllm-omni/blob/d5a3380103df2fc827f095c60dbfb6e1c5655fd3/vllm_omni/entrypoints/openai/realtime/connection.py#L386-L425</a:t>
            </a:r>
          </a:p>
          <a:p>
            <a:r>
              <a:t>https://github.com/vllm-project/vllm-omni/blob/d5a3380103df2fc827f095c60dbfb6e1c5655fd3/vllm_omni/entrypoints/openai/realtime/connection.py#L870-L940</a:t>
            </a:r>
          </a:p>
          <a:p>
            <a:r>
              <a:t>https://github.com/vllm-project/vllm-omni/blob/d5a3380103df2fc827f095c60dbfb6e1c5655fd3/vllm_omni/entrypoints/openai/realtime/connection.py#L1655-L1678</a:t>
            </a:r>
          </a:p>
          <a:p>
            <a:r>
              <a:t>https://github.com/vllm-project/vllm-omni/blob/d5a3380103df2fc827f095c60dbfb6e1c5655fd3/vllm_omni/model_executor/models/qwen3_omni/duplex/plugin.py#L160-L169</a:t>
            </a:r>
          </a:p>
          <a:p>
            <a:r>
              <a:t>https://github.com/vllm-project/vllm-omni/blob/d5a3380103df2fc827f095c60dbfb6e1c5655fd3/vllm_omni/model_executor/models/nemotron_voicechat/duplex/plugin.py#L108-L147</a:t>
            </a:r>
          </a:p>
          <a:p>
            <a:r>
              <a:t>https://github.com/vllm-project/vllm-omni/blob/d5a3380103df2fc827f095c60dbfb6e1c5655fd3/vllm_omni/model_executor/models/nemotron_voicechat/duplex/plugin.py#L430-L501</a:t>
            </a:r>
          </a:p>
          <a:p>
            <a:r>
              <a:t>https://github.com/vllm-project/vllm-omni/blob/d5a3380103df2fc827f095c60dbfb6e1c5655fd3/vllm_omni/engine/duplex/realtime_events.py#L1080-L1126</a:t>
            </a:r>
          </a:p>
          <a:p>
            <a:r>
              <a:t>https://github.com/vllm-project/vllm-omni/blob/d5a3380103df2fc827f095c60dbfb6e1c5655fd3/vllm_omni/engine/duplex/realtime_events.py#L1430-L1487</a:t>
            </a:r>
          </a:p>
          <a:p>
            <a:r>
              <a:t>https://github.com/vllm-project/vllm-omni/blob/d5a3380103df2fc827f095c60dbfb6e1c5655fd3/vllm_omni/engine/duplex/plugin.py#L513-L523</a:t>
            </a:r>
          </a:p>
          <a:p>
            <a:r>
              <a:t>https://github.com/vllm-project/vllm-omni/blob/d5a3380103df2fc827f095c60dbfb6e1c5655fd3/vllm_omni/engine/duplex/session/control.py#L290-L327</a:t>
            </a:r>
          </a:p>
          <a:p>
            <a:r>
              <a:t>https://github.com/vllm-project/vllm-omni/blob/d5a3380103df2fc827f095c60dbfb6e1c5655fd3/tests/e2e/online_serving/nemotron_voicechat_realtime_duplex.py#L245-L273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longer-term scale goal builds on existing StagePool replica routing and request affinity. It is not the first introduction of Stage replicas. The current unified duplex WebSocket path requires one API worker because session credentials and replay state are process-local. Routing/ownership across multiple API frontends is future work. Longer sessions extend existing context/history controls rather than claim that current sessions are necessarily short. JoyAI unified adaptation, broader tool handling, semantic endpointing and broader evaluation are proposed priorities, not release-date commitments.</a:t>
            </a:r>
          </a:p>
          <a:p>
            <a:r>
              <a:t/>
            </a:r>
          </a:p>
          <a:p>
            <a:r>
              <a:t>Sources:</a:t>
            </a:r>
          </a:p>
          <a:p>
            <a:r>
              <a:t>https://github.com/vllm-project/vllm-omni/blob/4c5541cfc17143f80bdb89bbb7a5840b08bb52c6/vllm_omni/entrypoints/openai/api_server.py</a:t>
            </a:r>
          </a:p>
          <a:p>
            <a:r>
              <a:t>https://github.com/vllm-project/vllm-omni/blob/4c5541cfc17143f80bdb89bbb7a5840b08bb52c6/vllm_omni/engine/duplex_omni_engine.py</a:t>
            </a:r>
          </a:p>
          <a:p>
            <a:r>
              <a:t>https://github.com/vllm-project/vllm-omni/blob/d5a3380103df2fc827f095c60dbfb6e1c5655fd3/vllm_omni/model_executor/models/qwen3_omni/duplex/plugin.py#L160-L169</a:t>
            </a:r>
          </a:p>
          <a:p>
            <a:r>
              <a:t>https://github.com/vllm-project/vllm-omni/blob/d5a3380103df2fc827f095c60dbfb6e1c5655fd3/vllm_omni/model_executor/models/nemotron_voicechat/duplex/plugin.py#L444-L501</a:t>
            </a:r>
          </a:p>
          <a:p>
            <a:r>
              <a:t>https://github.com/vllm-project/vllm-omni/blob/d5a3380103df2fc827f095c60dbfb6e1c5655fd3/vllm_omni/entrypoints/openai/realtime/connection.py#L386-L425</a:t>
            </a:r>
          </a:p>
          <a:p>
            <a:r>
              <a:t>https://github.com/vllm-project/vllm-omni/blob/d5a3380103df2fc827f095c60dbfb6e1c5655fd3/vllm_omni/engine/duplex/realtime_events.py#L1430-L1487</a:t>
            </a:r>
          </a:p>
          <a:p>
            <a:r>
              <a:t>https://github.com/vllm-project/vllm-omni/blob/d5a3380103df2fc827f095c60dbfb6e1c5655fd3/vllm_omni/engine/duplex/turn_detection.py#L82-L99</a:t>
            </a:r>
          </a:p>
          <a:p>
            <a:r>
              <a:t>https://github.com/vllm-project/vllm-omni/blob/d5a3380103df2fc827f095c60dbfb6e1c5655fd3/vllm_omni/engine/duplex/vad.py#L100-L108</a:t>
            </a:r>
          </a:p>
          <a:p>
            <a:r>
              <a:t>https://github.com/vllm-project/vllm-omni/blob/d5a3380103df2fc827f095c60dbfb6e1c5655fd3/tests/engine/duplex/test_engine_session.py#L598-L608</a:t>
            </a:r>
          </a:p>
          <a:p>
            <a:r>
              <a:t>https://github.com/vllm-project/vllm-omni/blob/d5a3380103df2fc827f095c60dbfb6e1c5655fd3/vllm_omni/benchmarks/omniinteract.py</a:t>
            </a:r>
          </a:p>
          <a:p>
            <a:r>
              <a:t>https://github.com/vllm-project/vllm-omni/blob/d5a3380103df2fc827f095c60dbfb6e1c5655fd3/vllm_omni/benchmarks/omniinteract_eval.py</a:t>
            </a:r>
          </a:p>
          <a:p>
            <a:r>
              <a:t>https://github.com/vllm-project/vllm-omni/blob/d5a3380103df2fc827f095c60dbfb6e1c5655fd3/vllm_omni/benchmarks/duplex/omni_duplex_eval_runner.py</a:t>
            </a:r>
          </a:p>
          <a:p>
            <a:r>
              <a:t>https://github.com/vllm-project/vllm-omni/blob/d5a3380103df2fc827f095c60dbfb6e1c5655fd3/tests/e2e/accuracy/omni_duplex_eval/README.md</a:t>
            </a:r>
          </a:p>
          <a:p>
            <a:r>
              <a:t>https://github.com/vllm-project/vllm-omni/blob/d5a3380103df2fc827f095c60dbfb6e1c5655fd3/vllm_omni/model_executor/models/minicpmo_4_5/duplex/window_kv.py</a:t>
            </a:r>
          </a:p>
          <a:p>
            <a:r>
              <a:t>https://github.com/vllm-project/vllm-omni/blob/d5a3380103df2fc827f095c60dbfb6e1c5655fd3/vllm_omni/engine/stage_pool.py#L574-L609</a:t>
            </a:r>
          </a:p>
          <a:p>
            <a:r>
              <a:t>https://github.com/vllm-project/vllm-omni/blob/d5a3380103df2fc827f095c60dbfb6e1c5655fd3/vllm_omni/engine/duplex_orchestrator.py#L393-L424</a:t>
            </a:r>
          </a:p>
          <a:p>
            <a:r>
              <a:t>https://github.com/vllm-project/vllm-omni/blob/d5a3380103df2fc827f095c60dbfb6e1c5655fd3/vllm_omni/entrypoints/openai/api_server.py#L1880-L1895</a:t>
            </a:r>
          </a:p>
          <a:p>
            <a:r>
              <a:t>https://github.com/vllm-project/vllm-omni/blob/d5a3380103df2fc827f095c60dbfb6e1c5655fd3/vllm_omni/model_executor/models/joyai_vl_interaction/pipeline.py</a:t>
            </a:r>
          </a:p>
          <a:p>
            <a:r>
              <a:t>https://github.com/vllm-project/vllm-omni/blob/d5a3380103df2fc827f095c60dbfb6e1c5655fd3/vllm_omni/experimental/fullduplex/joyvl/serving/server.py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PersonaPlex compute stages are Talker (Stage 0) and Mimi Code2Wav (Stage 1). The connector example at the bottom is shared-memory transfer on one host. The upper replica topology can also be distributed, in which case Stage-to-Stage data requires a network-capable connector as shown in A4. Per-session ordinary output remains a bounded shared buffer within the API process.</a:t>
            </a:r>
          </a:p>
          <a:p>
            <a:r>
              <a:t/>
            </a:r>
          </a:p>
          <a:p>
            <a:r>
              <a:t>Sources:</a:t>
            </a:r>
          </a:p>
          <a:p>
            <a:r>
              <a:t>https://github.com/vllm-project/vllm-omni/blob/4c5541cfc17143f80bdb89bbb7a5840b08bb52c6/vllm_omni/deploy/personaplex.yaml</a:t>
            </a:r>
          </a:p>
          <a:p>
            <a:r>
              <a:t>https://github.com/vllm-project/vllm-omni/blob/4c5541cfc17143f80bdb89bbb7a5840b08bb52c6/vllm_omni/engine/duplex/session/manager.py</a:t>
            </a:r>
          </a:p>
          <a:p>
            <a:r>
              <a:t>https://github.com/vllm-project/vllm-omni/blob/712b90de9c7bc14c595b363401588a713a87c02d/vllm_omni/engine/duplex/session/manager.py</a:t>
            </a:r>
          </a:p>
          <a:p>
            <a:r>
              <a:t>https://github.com/vllm-project/vllm-omni/blob/712b90de9c7bc14c595b363401588a713a87c02d/vllm_omni/entrypoints/duplex_omni.py</a:t>
            </a:r>
          </a:p>
          <a:p>
            <a:r>
              <a:t>https://github.com/vllm-project/vllm-omni/blob/712b90de9c7bc14c595b363401588a713a87c02d/vllm_omni/entrypoints/duplex/serving.py</a:t>
            </a:r>
          </a:p>
          <a:p>
            <a:r>
              <a:t>https://github.com/vllm-project/vllm-omni/blob/712b90de9c7bc14c595b363401588a713a87c02d/vllm_omni/engine/duplex_omni_engine.py</a:t>
            </a:r>
          </a:p>
          <a:p>
            <a:r>
              <a:t>https://github.com/vllm-project/vllm-omni/blob/712b90de9c7bc14c595b363401588a713a87c02d/vllm_omni/engine/duplex/session/runner.py</a:t>
            </a:r>
          </a:p>
          <a:p>
            <a:r>
              <a:t>https://github.com/vllm-project/vllm-omni/blob/712b90de9c7bc14c595b363401588a713a87c02d/vllm_omni/engine/duplex/session/engine_session.py</a:t>
            </a:r>
          </a:p>
          <a:p>
            <a:r>
              <a:t>https://github.com/vllm-project/vllm-omni/blob/712b90de9c7bc14c595b363401588a713a87c02d/vllm_omni/engine/duplex/plugin.py</a:t>
            </a:r>
          </a:p>
          <a:p>
            <a:r>
              <a:t>https://github.com/vllm-project/vllm-omni/blob/712b90de9c7bc14c595b363401588a713a87c02d/vllm_omni/engine/duplex/delivery.py</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Acoustic VAD identifies speech/non-speech; endpointing also uses a silence policy. Semantic turn-end detection uses learned linguistic/acoustic cues to judge whether the user has finished. The two can be combined: Silero detects a pause and Smart Turn checks completion. Smart Turn v3.2 is a lightweight CPU-capable example; semantic detection does not inherently require a GPU Stage. An Omni Stage for heavier models is a proposed integration, not current implementation. Current Server VAD inference is asynchronous in a CPU executor outside the Orchestrator event loop; the Runner applies configured commit/cancel policy. VAD is not a denoiser, and utterance completion is not interruption-intent detection.</a:t>
            </a:r>
          </a:p>
          <a:p>
            <a:r>
              <a:t/>
            </a:r>
          </a:p>
          <a:p>
            <a:r>
              <a:t>Sources:</a:t>
            </a:r>
          </a:p>
          <a:p>
            <a:r>
              <a:t>https://github.com/vllm-project/vllm-omni/blob/4c5541cfc17143f80bdb89bbb7a5840b08bb52c6/vllm_omni/engine/duplex/vad.py</a:t>
            </a:r>
          </a:p>
          <a:p>
            <a:r>
              <a:t>https://github.com/vllm-project/vllm-omni/blob/4c5541cfc17143f80bdb89bbb7a5840b08bb52c6/vllm_omni/engine/duplex/session/runner.py</a:t>
            </a:r>
          </a:p>
          <a:p>
            <a:r>
              <a:t>https://github.com/pipecat-ai/smart-turn</a:t>
            </a:r>
          </a:p>
          <a:p>
            <a:r>
              <a:t>https://huggingface.co/pipecat-ai/smart-turn-v3.2</a:t>
            </a:r>
          </a:p>
          <a:p>
            <a:r>
              <a:t>https://docs.livekit.io/agents/logic/turns/turn-detector/</a:t>
            </a:r>
          </a:p>
          <a:p>
            <a:r>
              <a:t>https://developers.openai.com/api/docs/guides/realtime-vad</a:t>
            </a:r>
          </a:p>
          <a:p>
            <a:r>
              <a:t>https://github.com/vllm-project/vllm-omni/blob/712b90de9c7bc14c595b363401588a713a87c02d/vllm_omni/engine/duplex/turn_detection.py</a:t>
            </a:r>
          </a:p>
          <a:p>
            <a:r>
              <a:t>https://github.com/vllm-project/vllm-omni/blob/712b90de9c7bc14c595b363401588a713a87c02d/vllm_omni/engine/duplex/vad.py</a:t>
            </a:r>
          </a:p>
          <a:p>
            <a:r>
              <a:t>https://github.com/vllm-project/vllm-omni/blob/712b90de9c7bc14c595b363401588a713a87c02d/vllm_omni/engine/duplex/session/runner.py</a:t>
            </a:r>
          </a:p>
          <a:p>
            <a:r>
              <a:t>https://github.com/snakers4/silero-vad</a:t>
            </a:r>
          </a:p>
          <a:p>
            <a:r>
              <a:t>https://github.com/vllm-project/vllm-omni/blob/712b90de9c7bc14c595b363401588a713a87c02d/vllm_omni/engine/duplex/session/manager.py</a:t>
            </a:r>
          </a:p>
          <a:p>
            <a:r>
              <a:t>https://github.com/vllm-project/vllm-omni/blob/712b90de9c7bc14c595b363401588a713a87c02d/vllm_omni/entrypoints/openai/realtime/connection.py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Disconnect, response.cancel and close are different actions. A resumable session may continue generating during the disconnect grace; PersonaPlex closes. Cancel invalidates server-side in-flight/unsent output, while the client separately stops and clears audio already delivered to its playback buffer. Cancel leaves the session open; PersonaPlex resets model context. Resume credentials are session ID plus the latest token; lease-generation checks are internal engine synchronization, not an additional WebSocket client credential. Successful resumes rotate tokens. A journal gap produces session.resync_required. The session must remain on the same live API owner. Defaults are disconnect grace 30s, idle TTL 300s, replay TTL 60s and replay cap 8 MiB. A session whose session.created could not be delivered is closed immediately rather than held for an impossible resume.</a:t>
            </a:r>
          </a:p>
          <a:p>
            <a:r>
              <a:t/>
            </a:r>
          </a:p>
          <a:p>
            <a:r>
              <a:t>Sources:</a:t>
            </a:r>
          </a:p>
          <a:p>
            <a:r>
              <a:t>https://github.com/vllm-project/vllm-omni/blob/4c5541cfc17143f80bdb89bbb7a5840b08bb52c6/vllm_omni/entrypoints/duplex/serving.py</a:t>
            </a:r>
          </a:p>
          <a:p>
            <a:r>
              <a:t>https://github.com/vllm-project/vllm-omni/blob/4c5541cfc17143f80bdb89bbb7a5840b08bb52c6/vllm_omni/entrypoints/duplex/session_attachment.py</a:t>
            </a:r>
          </a:p>
          <a:p>
            <a:r>
              <a:t>https://github.com/vllm-project/vllm-omni/blob/4c5541cfc17143f80bdb89bbb7a5840b08bb52c6/vllm_omni/config/stage_config.py</a:t>
            </a:r>
          </a:p>
          <a:p>
            <a:r>
              <a:t>https://github.com/vllm-project/vllm-omni/blob/4c5541cfc17143f80bdb89bbb7a5840b08bb52c6/vllm_omni/engine/duplex/session/lease.py</a:t>
            </a:r>
          </a:p>
          <a:p>
            <a:r>
              <a:t>https://github.com/vllm-project/vllm-omni/blob/712b90de9c7bc14c595b363401588a713a87c02d/vllm_omni/entrypoints/duplex/serving.py</a:t>
            </a:r>
          </a:p>
          <a:p>
            <a:r>
              <a:t>https://github.com/vllm-project/vllm-omni/blob/712b90de9c7bc14c595b363401588a713a87c02d/vllm_omni/entrypoints/duplex/session_attachment.py</a:t>
            </a:r>
          </a:p>
          <a:p>
            <a:r>
              <a:t>https://github.com/vllm-project/vllm-omni/blob/712b90de9c7bc14c595b363401588a713a87c02d/vllm_omni/config/stage_config.py</a:t>
            </a:r>
          </a:p>
          <a:p>
            <a:r>
              <a:t>https://github.com/vllm-project/vllm-omni/blob/712b90de9c7bc14c595b363401588a713a87c02d/vllm_omni/engine/duplex/session/manager.py</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Head process owns the API/EngineClient and its Duplex Orchestrator. It starts the selected local stage and discovers other stage/replica processes through OmniMaster registration. Each headless process starts its assigned Stage engines/workers; it does not create a separate Duplex Orchestrator for that stage.</a:t>
            </a:r>
          </a:p>
          <a:p>
            <a:r>
              <a:t/>
            </a:r>
          </a:p>
          <a:p>
            <a:r>
              <a:t>Use a consistent deploy topology, reachable master address/port and network-capable connectors for cross-node Stage data. SharedMemory connectors are local-host transports. The Head Orchestrator dispatches to StagePool clients and preserves request affinity.</a:t>
            </a:r>
          </a:p>
          <a:p>
            <a:r>
              <a:t/>
            </a:r>
          </a:p>
          <a:p>
            <a:r>
              <a:t>Current duplex endpoints reject configurations with multiple API workers, since attachment credentials and replay state are owner-local. Scaling stage replicas is different from scaling API workers, and a distributed Stage layout does not supply transparent frontend failover. The diagram illustrates deployment ownership; model/device/connector support must match the chosen configuration.</a:t>
            </a:r>
          </a:p>
          <a:p>
            <a:r>
              <a:t/>
            </a:r>
          </a:p>
          <a:p>
            <a:r>
              <a:t>Sources:</a:t>
            </a:r>
          </a:p>
          <a:p>
            <a:r>
              <a:t>- api_server.py: https://github.com/vllm-project/vllm-omni/blob/712b90de9c7bc14c595b363401588a713a87c02d/vllm_omni/entrypoints/openai/api_server.py</a:t>
            </a:r>
          </a:p>
          <a:p>
            <a:r>
              <a:t>- stage_runtime.py: https://github.com/vllm-project/vllm-omni/blob/712b90de9c7bc14c595b363401588a713a87c02d/vllm_omni/engine/stage_runtime.py</a:t>
            </a:r>
          </a:p>
          <a:p>
            <a:r>
              <a:t>- stage_init_utils.py: https://github.com/vllm-project/vllm-omni/blob/712b90de9c7bc14c595b363401588a713a87c02d/vllm_omni/engine/stage_init_utils.py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references link to one source snapshot. The engine queue carries commands and lifecycle control messages. Ordinary output uses the handle's shared DuplexOutputBuffer; the global output queue remains for control results and exceptional session notifications. Follow Manager/Runner for session ownership, StagePool for replica selection, and Scheduler/Worker for model compute and retained caches.</a:t>
            </a:r>
          </a:p>
          <a:p>
            <a:r>
              <a:t/>
            </a:r>
          </a:p>
          <a:p>
            <a:r>
              <a:t>Sources:</a:t>
            </a:r>
          </a:p>
          <a:p>
            <a:r>
              <a:t>- serving.py: https://github.com/vllm-project/vllm-omni/blob/712b90de9c7bc14c595b363401588a713a87c02d/vllm_omni/entrypoints/duplex/serving.py</a:t>
            </a:r>
          </a:p>
          <a:p>
            <a:r>
              <a:t>- duplex_omni.py: https://github.com/vllm-project/vllm-omni/blob/712b90de9c7bc14c595b363401588a713a87c02d/vllm_omni/entrypoints/duplex_omni.py</a:t>
            </a:r>
          </a:p>
          <a:p>
            <a:r>
              <a:t>- duplex_omni_engine.py: https://github.com/vllm-project/vllm-omni/blob/712b90de9c7bc14c595b363401588a713a87c02d/vllm_omni/engine/duplex_omni_engine.py</a:t>
            </a:r>
          </a:p>
          <a:p>
            <a:r>
              <a:t>- delivery.py: https://github.com/vllm-project/vllm-omni/blob/712b90de9c7bc14c595b363401588a713a87c02d/vllm_omni/engine/duplex/delivery.py</a:t>
            </a:r>
          </a:p>
          <a:p>
            <a:r>
              <a:t>- manager.py: https://github.com/vllm-project/vllm-omni/blob/712b90de9c7bc14c595b363401588a713a87c02d/vllm_omni/engine/duplex/session/manager.py</a:t>
            </a:r>
          </a:p>
          <a:p>
            <a:r>
              <a:t>- runner.py: https://github.com/vllm-project/vllm-omni/blob/712b90de9c7bc14c595b363401588a713a87c02d/vllm_omni/engine/duplex/session/runner.py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figure compares two execution paths using the same illustrative input. The output waveforms represent model-generated audio, not the precise time at which a device plays or stops it. The two output tracks are aligned to avoid suggesting a latency ranking or measured equality. Barge-in labels the user's overlapping speech; it is not the literal barge_in command in either illustrated path.</a:t>
            </a:r>
          </a:p>
          <a:p>
            <a:r>
              <a:t/>
            </a:r>
          </a:p>
          <a:p>
            <a:r>
              <a:t>MiniCPM-o 4.5 native example: the web profile continuously appends audio/video, enables auto_response, sends no commit messages, and does not enable Server VAD. The model chooses LISTEN / SPEAK as new chunks arrive. A model LISTEN is projected through the model-output path; it is not an automatic invocation of the runner's hard-cancel path. The web client's listen event changes model/interaction state without clearing the playback queue, so already queued audio can finish. The illustration shows one model choice to yield; the model may instead keep speaking. Later speech follows native continuation rather than a VAD commit. Explicit framework barge_in/cancel is a separate supported control mechanism for MiniCPM and is not depicted here.</a:t>
            </a:r>
          </a:p>
          <a:p>
            <a:r>
              <a:t/>
            </a:r>
          </a:p>
          <a:p>
            <a:r>
              <a:t>Qwen3-Omni + Server VAD example: the web profile keeps microphone upload enabled during playback, sets overlap_policy=barge_in_on_speech, and enables interrupt_response/create_response. VAD speech onset drives the runner overlap-cancellation path. The client's speech_started handling stops local playback and clears queued audio, including when server generation has already completed. After the configured silence threshold, VAD schedules commit and create_response. The plugin requires a committed turn and starts a fresh model request. This configuration does not wait for Qwen to autonomously decide whether to yield.</a:t>
            </a:r>
          </a:p>
          <a:p>
            <a:r>
              <a:t/>
            </a:r>
          </a:p>
          <a:p>
            <a:r>
              <a:t>Source snapshot: f3391da7c58ee8dc990829aab82166edf865d19b. The relevant runtime, plugin and web-profile files are unchanged from the preceding reviewed snapshot 4c5541cfc17143f80bdb89bbb7a5840b08bb52c6.</a:t>
            </a:r>
          </a:p>
          <a:p>
            <a:r>
              <a:t>Sources:</a:t>
            </a:r>
          </a:p>
          <a:p>
            <a:r>
              <a:t>https://github.com/vllm-project/vllm-omni/blob/f3391da7c58ee8dc990829aab82166edf865d19b/examples/online_serving/realtime_web/app/static/profiles/minicpm_native.js</a:t>
            </a:r>
          </a:p>
          <a:p>
            <a:r>
              <a:t>https://github.com/vllm-project/vllm-omni/blob/f3391da7c58ee8dc990829aab82166edf865d19b/examples/online_serving/realtime_web/app/static/profiles/qwen3_turn.js</a:t>
            </a:r>
          </a:p>
          <a:p>
            <a:r>
              <a:t>https://github.com/vllm-project/vllm-omni/blob/f3391da7c58ee8dc990829aab82166edf865d19b/examples/online_serving/realtime_web/app/static/app.js</a:t>
            </a:r>
          </a:p>
          <a:p>
            <a:r>
              <a:t>https://github.com/vllm-project/vllm-omni/blob/f3391da7c58ee8dc990829aab82166edf865d19b/vllm_omni/model_executor/models/minicpmo_4_5/duplex/capabilities.py</a:t>
            </a:r>
          </a:p>
          <a:p>
            <a:r>
              <a:t>https://github.com/vllm-project/vllm-omni/blob/f3391da7c58ee8dc990829aab82166edf865d19b/vllm_omni/model_executor/models/minicpmo_4_5/duplex/plugin.py</a:t>
            </a:r>
          </a:p>
          <a:p>
            <a:r>
              <a:t>https://github.com/vllm-project/vllm-omni/blob/f3391da7c58ee8dc990829aab82166edf865d19b/vllm_omni/model_executor/models/qwen3_omni/duplex/plugin.py</a:t>
            </a:r>
          </a:p>
          <a:p>
            <a:r>
              <a:t>https://github.com/vllm-project/vllm-omni/blob/f3391da7c58ee8dc990829aab82166edf865d19b/vllm_omni/engine/duplex/session/model_channel.py</a:t>
            </a:r>
          </a:p>
          <a:p>
            <a:r>
              <a:t>https://github.com/vllm-project/vllm-omni/blob/f3391da7c58ee8dc990829aab82166edf865d19b/vllm_omni/engine/duplex/session/overlap_policy.py</a:t>
            </a:r>
          </a:p>
          <a:p>
            <a:r>
              <a:t>https://github.com/vllm-project/vllm-omni/blob/f3391da7c58ee8dc990829aab82166edf865d19b/vllm_omni/engine/duplex/session/runner.py</a:t>
            </a:r>
          </a:p>
          <a:p>
            <a:r>
              <a:t>https://github.com/vllm-project/vllm-omni/blob/f3391da7c58ee8dc990829aab82166edf865d19b/vllm_omni/engine/duplex/vad.py</a:t>
            </a:r>
          </a:p>
          <a:p>
            <a:r>
              <a:t>https://github.com/vllm-project/vllm-omni/blob/4c5541cfc17143f80bdb89bbb7a5840b08bb52c6/vllm_omni/model_executor/models/qwen3_omni/duplex/plugin.py</a:t>
            </a:r>
          </a:p>
          <a:p>
            <a:r>
              <a:t>https://github.com/vllm-project/vllm-omni/blob/4c5541cfc17143f80bdb89bbb7a5840b08bb52c6/examples/online_serving/realtime_web/app/static/profiles/qwen3_turn.js</a:t>
            </a:r>
          </a:p>
          <a:p>
            <a:r>
              <a:t>https://github.com/vllm-project/vllm-omni/blob/4c5541cfc17143f80bdb89bbb7a5840b08bb52c6/vllm_omni/model_executor/models/minicpmo_4_5/duplex/plugin.py</a:t>
            </a:r>
          </a:p>
          <a:p>
            <a:r>
              <a:t>https://github.com/vllm-project/vllm-omni/blob/4c5541cfc17143f80bdb89bbb7a5840b08bb52c6/vllm_omni/model_executor/models/personaplex/duplex/capabilities.py</a:t>
            </a:r>
          </a:p>
          <a:p>
            <a:r>
              <a:t>https://github.com/vllm-project/vllm-omni/blob/712b90de9c7bc14c595b363401588a713a87c02d/vllm_omni/model_executor/models/minicpmo_4_5/duplex/capabilities.py</a:t>
            </a:r>
          </a:p>
          <a:p>
            <a:r>
              <a:t>https://github.com/vllm-project/vllm-omni/blob/712b90de9c7bc14c595b363401588a713a87c02d/vllm_omni/engine/duplex/session/runner.py</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a:p>
            <a:r>
              <a:t/>
            </a:r>
          </a:p>
          <a:p>
            <a:r>
              <a:t>VAD commit is shown for both Qwen turns. The first commit follows the initial user utterance and the configured silence threshold; create_response=true then starts the first model request. A later user interruption can cancel the old response, followed by a second VAD commit after that utterance and silence. No cancellation is implied for the initial turn when no assistant response exists. The commit markers are on the Qwen path only. Marker positions express event order, not measured silence durations or response latency. The current Qwen VAD web preset uses silence_duration_ms=500; this is configurable.</a:t>
            </a:r>
          </a:p>
          <a:p>
            <a:r>
              <a:t/>
            </a:r>
          </a:p>
          <a:p>
            <a:r>
              <a:t/>
            </a:r>
          </a:p>
          <a:p>
            <a:r>
              <a:t>VAD-triggered interruption names a behavior, not a protocol command. The runner handles VAD overlap with _barge_in_for_overlap and shares the core _cancel_active_response helper with explicit response.cancel. It does not synthesize a response.cancel wire message. Explicit response.cancel arrives as CancelResponse, is resolved, and enters _on_cancel. These paths also differ in input-buffer handling. Local playback stop is performed by the web client in response to speech-start/interruption events.</a:t>
            </a:r>
          </a:p>
          <a:p>
            <a:r>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12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image" Target="../media/image2.png"/><Relationship Id="rId5" Type="http://schemas.openxmlformats.org/officeDocument/2006/relationships/hyperlink" Target="https://github.com/0xtoward" TargetMode="External"/><Relationship Id="rId6" Type="http://schemas.openxmlformats.org/officeDocument/2006/relationships/image" Target="../media/image3.jpg"/><Relationship Id="rId7" Type="http://schemas.openxmlformats.org/officeDocument/2006/relationships/hyperlink" Target="https://github.com/0z5a" TargetMode="External"/><Relationship Id="rId8" Type="http://schemas.openxmlformats.org/officeDocument/2006/relationships/image" Target="../media/image4.png"/><Relationship Id="rId9" Type="http://schemas.openxmlformats.org/officeDocument/2006/relationships/hyperlink" Target="https://github.com/AbelSara" TargetMode="External"/><Relationship Id="rId10" Type="http://schemas.openxmlformats.org/officeDocument/2006/relationships/image" Target="../media/image5.png"/><Relationship Id="rId11" Type="http://schemas.openxmlformats.org/officeDocument/2006/relationships/hyperlink" Target="https://github.com/akshatvishu" TargetMode="External"/><Relationship Id="rId12" Type="http://schemas.openxmlformats.org/officeDocument/2006/relationships/image" Target="../media/image6.jpg"/><Relationship Id="rId13" Type="http://schemas.openxmlformats.org/officeDocument/2006/relationships/hyperlink" Target="https://github.com/amy-why-3459" TargetMode="External"/><Relationship Id="rId14" Type="http://schemas.openxmlformats.org/officeDocument/2006/relationships/image" Target="../media/image7.png"/><Relationship Id="rId15" Type="http://schemas.openxmlformats.org/officeDocument/2006/relationships/hyperlink" Target="https://github.com/andyluo7" TargetMode="External"/><Relationship Id="rId16" Type="http://schemas.openxmlformats.org/officeDocument/2006/relationships/image" Target="../media/image8.png"/><Relationship Id="rId17" Type="http://schemas.openxmlformats.org/officeDocument/2006/relationships/hyperlink" Target="https://github.com/anurag12-webster" TargetMode="External"/><Relationship Id="rId18" Type="http://schemas.openxmlformats.org/officeDocument/2006/relationships/image" Target="../media/image9.png"/><Relationship Id="rId19" Type="http://schemas.openxmlformats.org/officeDocument/2006/relationships/hyperlink" Target="https://github.com/BeatSeat" TargetMode="External"/><Relationship Id="rId20" Type="http://schemas.openxmlformats.org/officeDocument/2006/relationships/image" Target="../media/image10.jpg"/><Relationship Id="rId21" Type="http://schemas.openxmlformats.org/officeDocument/2006/relationships/hyperlink" Target="https://github.com/BruceLoveDecimal" TargetMode="External"/><Relationship Id="rId22" Type="http://schemas.openxmlformats.org/officeDocument/2006/relationships/image" Target="../media/image11.jpg"/><Relationship Id="rId23" Type="http://schemas.openxmlformats.org/officeDocument/2006/relationships/hyperlink" Target="https://github.com/CarrotSwordsman" TargetMode="External"/><Relationship Id="rId24" Type="http://schemas.openxmlformats.org/officeDocument/2006/relationships/image" Target="../media/image12.png"/><Relationship Id="rId25" Type="http://schemas.openxmlformats.org/officeDocument/2006/relationships/hyperlink" Target="https://github.com/chickeyton" TargetMode="External"/><Relationship Id="rId26" Type="http://schemas.openxmlformats.org/officeDocument/2006/relationships/image" Target="../media/image13.jpg"/><Relationship Id="rId27" Type="http://schemas.openxmlformats.org/officeDocument/2006/relationships/hyperlink" Target="https://github.com/congw729" TargetMode="External"/><Relationship Id="rId28" Type="http://schemas.openxmlformats.org/officeDocument/2006/relationships/image" Target="../media/image14.png"/><Relationship Id="rId29" Type="http://schemas.openxmlformats.org/officeDocument/2006/relationships/hyperlink" Target="https://github.com/dshah1333" TargetMode="External"/><Relationship Id="rId30" Type="http://schemas.openxmlformats.org/officeDocument/2006/relationships/image" Target="../media/image15.png"/><Relationship Id="rId31" Type="http://schemas.openxmlformats.org/officeDocument/2006/relationships/hyperlink" Target="https://github.com/eval-dev" TargetMode="External"/><Relationship Id="rId32" Type="http://schemas.openxmlformats.org/officeDocument/2006/relationships/image" Target="../media/image16.jpg"/><Relationship Id="rId33" Type="http://schemas.openxmlformats.org/officeDocument/2006/relationships/hyperlink" Target="https://github.com/FayeSpica" TargetMode="External"/><Relationship Id="rId34" Type="http://schemas.openxmlformats.org/officeDocument/2006/relationships/image" Target="../media/image17.jpg"/><Relationship Id="rId35" Type="http://schemas.openxmlformats.org/officeDocument/2006/relationships/hyperlink" Target="https://github.com/frank-2077" TargetMode="External"/><Relationship Id="rId36" Type="http://schemas.openxmlformats.org/officeDocument/2006/relationships/image" Target="../media/image18.jpg"/><Relationship Id="rId37" Type="http://schemas.openxmlformats.org/officeDocument/2006/relationships/hyperlink" Target="https://github.com/Fyrgo8" TargetMode="External"/><Relationship Id="rId38" Type="http://schemas.openxmlformats.org/officeDocument/2006/relationships/image" Target="../media/image19.jpg"/><Relationship Id="rId39" Type="http://schemas.openxmlformats.org/officeDocument/2006/relationships/hyperlink" Target="https://github.com/Gaohan123" TargetMode="External"/><Relationship Id="rId40" Type="http://schemas.openxmlformats.org/officeDocument/2006/relationships/image" Target="../media/image20.png"/><Relationship Id="rId41" Type="http://schemas.openxmlformats.org/officeDocument/2006/relationships/hyperlink" Target="https://github.com/GKangaroo" TargetMode="External"/><Relationship Id="rId42" Type="http://schemas.openxmlformats.org/officeDocument/2006/relationships/image" Target="../media/image21.jpg"/><Relationship Id="rId43" Type="http://schemas.openxmlformats.org/officeDocument/2006/relationships/hyperlink" Target="https://github.com/guanzheh" TargetMode="External"/><Relationship Id="rId44" Type="http://schemas.openxmlformats.org/officeDocument/2006/relationships/image" Target="../media/image22.png"/><Relationship Id="rId45" Type="http://schemas.openxmlformats.org/officeDocument/2006/relationships/hyperlink" Target="https://github.com/herotai214" TargetMode="External"/><Relationship Id="rId46" Type="http://schemas.openxmlformats.org/officeDocument/2006/relationships/image" Target="../media/image23.jpg"/><Relationship Id="rId47" Type="http://schemas.openxmlformats.org/officeDocument/2006/relationships/hyperlink" Target="https://github.com/Hiro208" TargetMode="External"/><Relationship Id="rId48" Type="http://schemas.openxmlformats.org/officeDocument/2006/relationships/image" Target="../media/image24.png"/><Relationship Id="rId49" Type="http://schemas.openxmlformats.org/officeDocument/2006/relationships/hyperlink" Target="https://github.com/hsliuustc0106" TargetMode="External"/><Relationship Id="rId50" Type="http://schemas.openxmlformats.org/officeDocument/2006/relationships/image" Target="../media/image25.jpg"/><Relationship Id="rId51" Type="http://schemas.openxmlformats.org/officeDocument/2006/relationships/hyperlink" Target="https://github.com/IneshReddy249" TargetMode="External"/><Relationship Id="rId52" Type="http://schemas.openxmlformats.org/officeDocument/2006/relationships/image" Target="../media/image26.jpg"/><Relationship Id="rId53" Type="http://schemas.openxmlformats.org/officeDocument/2006/relationships/hyperlink" Target="https://github.com/LHXuuu" TargetMode="External"/><Relationship Id="rId54" Type="http://schemas.openxmlformats.org/officeDocument/2006/relationships/image" Target="../media/image27.png"/><Relationship Id="rId55" Type="http://schemas.openxmlformats.org/officeDocument/2006/relationships/hyperlink" Target="https://github.com/linyueqian" TargetMode="External"/><Relationship Id="rId56" Type="http://schemas.openxmlformats.org/officeDocument/2006/relationships/image" Target="../media/image28.jpg"/><Relationship Id="rId57" Type="http://schemas.openxmlformats.org/officeDocument/2006/relationships/hyperlink" Target="https://github.com/lishunyang12" TargetMode="External"/><Relationship Id="rId58" Type="http://schemas.openxmlformats.org/officeDocument/2006/relationships/image" Target="../media/image29.jpg"/><Relationship Id="rId59" Type="http://schemas.openxmlformats.org/officeDocument/2006/relationships/hyperlink" Target="https://github.com/LOGO127" TargetMode="External"/><Relationship Id="rId60" Type="http://schemas.openxmlformats.org/officeDocument/2006/relationships/image" Target="../media/image30.jpg"/><Relationship Id="rId61" Type="http://schemas.openxmlformats.org/officeDocument/2006/relationships/hyperlink" Target="https://github.com/m0g3r" TargetMode="External"/><Relationship Id="rId62" Type="http://schemas.openxmlformats.org/officeDocument/2006/relationships/image" Target="../media/image31.jpg"/><Relationship Id="rId63" Type="http://schemas.openxmlformats.org/officeDocument/2006/relationships/hyperlink" Target="https://github.com/MrDongsls" TargetMode="External"/><Relationship Id="rId64" Type="http://schemas.openxmlformats.org/officeDocument/2006/relationships/image" Target="../media/image32.jpg"/><Relationship Id="rId65" Type="http://schemas.openxmlformats.org/officeDocument/2006/relationships/hyperlink" Target="https://github.com/natureofnature" TargetMode="External"/><Relationship Id="rId66" Type="http://schemas.openxmlformats.org/officeDocument/2006/relationships/image" Target="../media/image33.jpg"/><Relationship Id="rId67" Type="http://schemas.openxmlformats.org/officeDocument/2006/relationships/hyperlink" Target="https://github.com/NickCao" TargetMode="External"/><Relationship Id="rId68" Type="http://schemas.openxmlformats.org/officeDocument/2006/relationships/image" Target="../media/image34.png"/><Relationship Id="rId69" Type="http://schemas.openxmlformats.org/officeDocument/2006/relationships/hyperlink" Target="https://github.com/NolenLiang" TargetMode="External"/><Relationship Id="rId70" Type="http://schemas.openxmlformats.org/officeDocument/2006/relationships/image" Target="../media/image35.png"/><Relationship Id="rId71" Type="http://schemas.openxmlformats.org/officeDocument/2006/relationships/hyperlink" Target="https://github.com/NumberWan" TargetMode="External"/><Relationship Id="rId72" Type="http://schemas.openxmlformats.org/officeDocument/2006/relationships/image" Target="../media/image36.jpg"/><Relationship Id="rId73" Type="http://schemas.openxmlformats.org/officeDocument/2006/relationships/hyperlink" Target="https://github.com/psv666" TargetMode="External"/><Relationship Id="rId74" Type="http://schemas.openxmlformats.org/officeDocument/2006/relationships/image" Target="../media/image37.jpg"/><Relationship Id="rId75" Type="http://schemas.openxmlformats.org/officeDocument/2006/relationships/hyperlink" Target="https://github.com/pujitha24" TargetMode="External"/><Relationship Id="rId76" Type="http://schemas.openxmlformats.org/officeDocument/2006/relationships/image" Target="../media/image38.jpg"/><Relationship Id="rId77" Type="http://schemas.openxmlformats.org/officeDocument/2006/relationships/hyperlink" Target="https://github.com/R2-Y" TargetMode="External"/><Relationship Id="rId78" Type="http://schemas.openxmlformats.org/officeDocument/2006/relationships/image" Target="../media/image39.jpg"/><Relationship Id="rId79" Type="http://schemas.openxmlformats.org/officeDocument/2006/relationships/hyperlink" Target="https://github.com/RyanYun09" TargetMode="External"/><Relationship Id="rId80" Type="http://schemas.openxmlformats.org/officeDocument/2006/relationships/image" Target="../media/image40.jpg"/><Relationship Id="rId81" Type="http://schemas.openxmlformats.org/officeDocument/2006/relationships/hyperlink" Target="https://github.com/sphinxkkkbc" TargetMode="External"/><Relationship Id="rId82" Type="http://schemas.openxmlformats.org/officeDocument/2006/relationships/image" Target="../media/image41.png"/><Relationship Id="rId83" Type="http://schemas.openxmlformats.org/officeDocument/2006/relationships/hyperlink" Target="https://github.com/StormMelody" TargetMode="External"/><Relationship Id="rId84" Type="http://schemas.openxmlformats.org/officeDocument/2006/relationships/image" Target="../media/image42.jpg"/><Relationship Id="rId85" Type="http://schemas.openxmlformats.org/officeDocument/2006/relationships/hyperlink" Target="https://github.com/stringl1l1l1l" TargetMode="External"/><Relationship Id="rId86" Type="http://schemas.openxmlformats.org/officeDocument/2006/relationships/image" Target="../media/image43.png"/><Relationship Id="rId87" Type="http://schemas.openxmlformats.org/officeDocument/2006/relationships/hyperlink" Target="https://github.com/Sy0307" TargetMode="External"/><Relationship Id="rId88" Type="http://schemas.openxmlformats.org/officeDocument/2006/relationships/image" Target="../media/image44.jpg"/><Relationship Id="rId89" Type="http://schemas.openxmlformats.org/officeDocument/2006/relationships/hyperlink" Target="https://github.com/tc-mb" TargetMode="External"/><Relationship Id="rId90" Type="http://schemas.openxmlformats.org/officeDocument/2006/relationships/image" Target="../media/image45.png"/><Relationship Id="rId91" Type="http://schemas.openxmlformats.org/officeDocument/2006/relationships/hyperlink" Target="https://github.com/TheCodeWrangler" TargetMode="External"/><Relationship Id="rId92" Type="http://schemas.openxmlformats.org/officeDocument/2006/relationships/image" Target="../media/image46.png"/><Relationship Id="rId93" Type="http://schemas.openxmlformats.org/officeDocument/2006/relationships/hyperlink" Target="https://github.com/THUqliu" TargetMode="External"/><Relationship Id="rId94" Type="http://schemas.openxmlformats.org/officeDocument/2006/relationships/image" Target="../media/image47.jpg"/><Relationship Id="rId95" Type="http://schemas.openxmlformats.org/officeDocument/2006/relationships/hyperlink" Target="https://github.com/Tiagosf00" TargetMode="External"/><Relationship Id="rId96" Type="http://schemas.openxmlformats.org/officeDocument/2006/relationships/image" Target="../media/image48.png"/><Relationship Id="rId97" Type="http://schemas.openxmlformats.org/officeDocument/2006/relationships/hyperlink" Target="https://github.com/tlysanhuo" TargetMode="External"/><Relationship Id="rId98" Type="http://schemas.openxmlformats.org/officeDocument/2006/relationships/image" Target="../media/image49.jpg"/><Relationship Id="rId99" Type="http://schemas.openxmlformats.org/officeDocument/2006/relationships/hyperlink" Target="https://github.com/twu3202" TargetMode="External"/><Relationship Id="rId100" Type="http://schemas.openxmlformats.org/officeDocument/2006/relationships/image" Target="../media/image50.png"/><Relationship Id="rId101" Type="http://schemas.openxmlformats.org/officeDocument/2006/relationships/hyperlink" Target="https://github.com/vuuihc" TargetMode="External"/><Relationship Id="rId102" Type="http://schemas.openxmlformats.org/officeDocument/2006/relationships/image" Target="../media/image51.png"/><Relationship Id="rId103" Type="http://schemas.openxmlformats.org/officeDocument/2006/relationships/hyperlink" Target="https://github.com/wuli666" TargetMode="External"/><Relationship Id="rId104" Type="http://schemas.openxmlformats.org/officeDocument/2006/relationships/image" Target="../media/image52.jpg"/><Relationship Id="rId105" Type="http://schemas.openxmlformats.org/officeDocument/2006/relationships/hyperlink" Target="https://github.com/xsmccc" TargetMode="External"/><Relationship Id="rId106" Type="http://schemas.openxmlformats.org/officeDocument/2006/relationships/image" Target="../media/image53.png"/><Relationship Id="rId107" Type="http://schemas.openxmlformats.org/officeDocument/2006/relationships/hyperlink" Target="https://github.com/y-null" TargetMode="External"/><Relationship Id="rId108" Type="http://schemas.openxmlformats.org/officeDocument/2006/relationships/image" Target="../media/image54.jpg"/><Relationship Id="rId109" Type="http://schemas.openxmlformats.org/officeDocument/2006/relationships/hyperlink" Target="https://github.com/yenuo26" TargetMode="External"/><Relationship Id="rId110" Type="http://schemas.openxmlformats.org/officeDocument/2006/relationships/image" Target="../media/image55.jpg"/><Relationship Id="rId111" Type="http://schemas.openxmlformats.org/officeDocument/2006/relationships/hyperlink" Target="https://github.com/yuekaizhang" TargetMode="External"/><Relationship Id="rId112" Type="http://schemas.openxmlformats.org/officeDocument/2006/relationships/image" Target="../media/image56.png"/><Relationship Id="rId113" Type="http://schemas.openxmlformats.org/officeDocument/2006/relationships/hyperlink" Target="https://github.com/ZacheryAU" TargetMode="External"/><Relationship Id="rId114" Type="http://schemas.openxmlformats.org/officeDocument/2006/relationships/image" Target="../media/image57.png"/><Relationship Id="rId115" Type="http://schemas.openxmlformats.org/officeDocument/2006/relationships/hyperlink" Target="https://github.com/Zhou248" TargetMode="External"/><Relationship Id="rId116" Type="http://schemas.openxmlformats.org/officeDocument/2006/relationships/image" Target="../media/image58.jpg"/><Relationship Id="rId117" Type="http://schemas.openxmlformats.org/officeDocument/2006/relationships/hyperlink" Target="https://github.com/zyforsure" TargetMode="External"/><Relationship Id="rId118" Type="http://schemas.openxmlformats.org/officeDocument/2006/relationships/hyperlink" Target="https://github.com/vllm-project/vllm-omni/pull/3907" TargetMode="External"/><Relationship Id="rId119" Type="http://schemas.openxmlformats.org/officeDocument/2006/relationships/hyperlink" Target="https://github.com/vllm-project/vllm-omni/pull/7413" TargetMode="External"/><Relationship Id="rId120" Type="http://schemas.openxmlformats.org/officeDocument/2006/relationships/hyperlink" Target="https://github.com/vllm-project/vllm-omni/pull/6021" TargetMode="External"/><Relationship Id="rId122" Type="http://schemas.openxmlformats.org/officeDocument/2006/relationships/hyperlink" Target="https://github.com/vllm-project/vllm-omni/pull/4771" TargetMode="External"/><Relationship Id="rId123" Type="http://schemas.openxmlformats.org/officeDocument/2006/relationships/hyperlink" Target="https://github.com/vllm-project/vllm-omni/pull/6089" TargetMode="External"/><Relationship Id="rId124" Type="http://schemas.openxmlformats.org/officeDocument/2006/relationships/hyperlink" Target="https://github.com/vllm-project/vllm-omni/pull/7633" TargetMode="External"/><Relationship Id="rId125" Type="http://schemas.openxmlformats.org/officeDocument/2006/relationships/hyperlink" Target="https://github.com/vllm-project/vllm-omni/pull/7242" TargetMode="External"/><Relationship Id="rId126" Type="http://schemas.openxmlformats.org/officeDocument/2006/relationships/notesSlide" Target="../notesSlides/notesSlide2.xml"/><Relationship Id="rId127" Type="http://schemas.openxmlformats.org/officeDocument/2006/relationships/hyperlink" Target="https://github.com/vllm-project/vllm-omni/pull/7585" TargetMode="External"/><Relationship Id="rId128" Type="http://schemas.openxmlformats.org/officeDocument/2006/relationships/image" Target="../media/v42-avatar-HyperbolicCr.png"/><Relationship Id="rId129" Type="http://schemas.openxmlformats.org/officeDocument/2006/relationships/hyperlink" Target="https://github.com/HyperbolicCr" TargetMode="External"/><Relationship Id="rId130" Type="http://schemas.openxmlformats.org/officeDocument/2006/relationships/image" Target="../media/v42-avatar-LinzeShi.jpg"/><Relationship Id="rId131" Type="http://schemas.openxmlformats.org/officeDocument/2006/relationships/hyperlink" Target="https://github.com/LinzeShi" TargetMode="External"/><Relationship Id="rId132" Type="http://schemas.openxmlformats.org/officeDocument/2006/relationships/image" Target="../media/v42-avatar-vraiti.png"/><Relationship Id="rId133" Type="http://schemas.openxmlformats.org/officeDocument/2006/relationships/hyperlink" Target="https://github.com/vraiti" TargetMode="External"/><Relationship Id="rId134" Type="http://schemas.openxmlformats.org/officeDocument/2006/relationships/image" Target="../media/v42-avatar-xuhuan51.jpg"/><Relationship Id="rId135" Type="http://schemas.openxmlformats.org/officeDocument/2006/relationships/hyperlink" Target="https://github.com/xuhuan51" TargetMode="External"/><Relationship Id="rId136" Type="http://schemas.openxmlformats.org/officeDocument/2006/relationships/image" Target="../media/v42-avatar-ZhengWG.jpg"/><Relationship Id="rId137" Type="http://schemas.openxmlformats.org/officeDocument/2006/relationships/hyperlink" Target="https://github.com/ZhengWG" TargetMode="External"/><Relationship Id="rId138" Type="http://schemas.openxmlformats.org/officeDocument/2006/relationships/hyperlink" Target="https://github.com/vllm-project/vllm-omni/pull/3907" TargetMode="External"/><Relationship Id="rId139" Type="http://schemas.openxmlformats.org/officeDocument/2006/relationships/hyperlink" Target="https://github.com/vllm-project/vllm-omni/pull/7413" TargetMode="External"/><Relationship Id="rId140" Type="http://schemas.openxmlformats.org/officeDocument/2006/relationships/hyperlink" Target="https://github.com/vllm-project/vllm-omni/pull/7285" TargetMode="External"/><Relationship Id="rId141" Type="http://schemas.openxmlformats.org/officeDocument/2006/relationships/hyperlink" Target="https://github.com/vllm-project/vllm-omni/pull/7585" TargetMode="External"/><Relationship Id="rId142" Type="http://schemas.openxmlformats.org/officeDocument/2006/relationships/hyperlink" Target="https://github.com/vllm-project/vllm-omni/pull/7695" TargetMode="External"/><Relationship Id="rId143" Type="http://schemas.openxmlformats.org/officeDocument/2006/relationships/hyperlink" Target="https://github.com/vllm-project/vllm-omni/pull/6089" TargetMode="External"/><Relationship Id="rId144" Type="http://schemas.openxmlformats.org/officeDocument/2006/relationships/hyperlink" Target="https://github.com/vllm-project/vllm-omni/pull/7633" TargetMode="External"/><Relationship Id="rId145" Type="http://schemas.openxmlformats.org/officeDocument/2006/relationships/hyperlink" Target="https://github.com/vllm-project/vllm-omni/pull/7644"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3.xml"/><Relationship Id="rId5" Type="http://schemas.openxmlformats.org/officeDocument/2006/relationships/image" Target="../media/image5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0.xml"/><Relationship Id="rIdRtfTrend" Type="http://schemas.openxmlformats.org/officeDocument/2006/relationships/chart" Target="../charts/char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hyperlink" Target="https://github.com/vllm-project/vllm-omni/blob/4c5541cfc17143f80bdb89bbb7a5840b08bb52c6/vllm_omni/entrypoints/duplex/serving.py" TargetMode="External"/><Relationship Id="rId5" Type="http://schemas.openxmlformats.org/officeDocument/2006/relationships/hyperlink" Target="https://github.com/vllm-project/vllm-omni/blob/4c5541cfc17143f80bdb89bbb7a5840b08bb52c6/vllm_omni/entrypoints/duplex_omni.py" TargetMode="External"/><Relationship Id="rId6" Type="http://schemas.openxmlformats.org/officeDocument/2006/relationships/hyperlink" Target="https://github.com/vllm-project/vllm-omni/blob/4c5541cfc17143f80bdb89bbb7a5840b08bb52c6/vllm_omni/engine/duplex_omni_engine.py" TargetMode="External"/><Relationship Id="rId7" Type="http://schemas.openxmlformats.org/officeDocument/2006/relationships/hyperlink" Target="https://github.com/vllm-project/vllm-omni/blob/4c5541cfc17143f80bdb89bbb7a5840b08bb52c6/vllm_omni/engine/duplex/session/runner.py" TargetMode="External"/><Relationship Id="rId8" Type="http://schemas.openxmlformats.org/officeDocument/2006/relationships/hyperlink" Target="https://github.com/vllm-project/vllm-omni/blob/4c5541cfc17143f80bdb89bbb7a5840b08bb52c6/vllm_omni/engine/duplex_orchestrator.py" TargetMode="External"/><Relationship Id="rId9" Type="http://schemas.openxmlformats.org/officeDocument/2006/relationships/hyperlink" Target="https://github.com/vllm-project/vllm-omni/blob/4c5541cfc17143f80bdb89bbb7a5840b08bb52c6/vllm_omni/core/sched/omni_ar_scheduler.py" TargetMode="External"/><Relationship Id="rId10" Type="http://schemas.openxmlformats.org/officeDocument/2006/relationships/notesSlide" Target="../notesSlides/notesSlide18.xml"/><Relationship Id="rId11" Type="http://schemas.openxmlformats.org/officeDocument/2006/relationships/hyperlink" Target="https://github.com/vllm-project/vllm-omni/blob/4c5541cfc17143f80bdb89bbb7a5840b08bb52c6/vllm_omni/engine/duplex/delivery.py"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9.xml"/><Relationship Id="rId5" Type="http://schemas.openxmlformats.org/officeDocument/2006/relationships/image" Target="../media/image59.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6" name="TextBox 5"/>
          <p:cNvSpPr txBox="1"/>
          <p:nvPr/>
        </p:nvSpPr>
        <p:spPr>
          <a:xfrm>
            <a:off x="548640" y="1874520"/>
            <a:ext cx="11064240" cy="1600200"/>
          </a:xfrm>
          <a:prstGeom prst="rect">
            <a:avLst/>
          </a:prstGeom>
          <a:noFill/>
        </p:spPr>
        <p:txBody>
          <a:bodyPr wrap="square" lIns="0" rIns="0" tIns="0" bIns="0" anchor="t">
            <a:noAutofit/>
          </a:bodyPr>
          <a:lstStyle/>
          <a:p>
            <a:pPr algn="l">
              <a:lnSpc>
                <a:spcPct val="110000"/>
              </a:lnSpc>
              <a:spcAft>
                <a:spcPts val="0"/>
              </a:spcAft>
            </a:pPr>
            <a:r>
              <a:rPr sz="4400" b="1">
                <a:solidFill>
                  <a:srgbClr val="142B45"/>
                </a:solidFill>
                <a:latin typeface="Arial"/>
                <a:ea typeface="Arial"/>
                <a:cs typeface="Arial"/>
              </a:rPr>
              <a:t>The Next Inflection Point</a:t>
            </a:r>
          </a:p>
          <a:p>
            <a:pPr algn="l">
              <a:lnSpc>
                <a:spcPct val="110000"/>
              </a:lnSpc>
              <a:spcAft>
                <a:spcPts val="0"/>
              </a:spcAft>
            </a:pPr>
            <a:r>
              <a:rPr sz="4400" b="1">
                <a:solidFill>
                  <a:srgbClr val="008E96"/>
                </a:solidFill>
                <a:latin typeface="Arial"/>
                <a:ea typeface="Arial"/>
                <a:cs typeface="Arial"/>
              </a:rPr>
              <a:t>in SI Interaction</a:t>
            </a:r>
          </a:p>
        </p:txBody>
      </p:sp>
      <p:sp>
        <p:nvSpPr>
          <p:cNvPr id="7" name="TextBox 6"/>
          <p:cNvSpPr txBox="1"/>
          <p:nvPr/>
        </p:nvSpPr>
        <p:spPr>
          <a:xfrm>
            <a:off x="576072" y="3794760"/>
            <a:ext cx="10789920" cy="1005840"/>
          </a:xfrm>
          <a:prstGeom prst="rect">
            <a:avLst/>
          </a:prstGeom>
          <a:noFill/>
        </p:spPr>
        <p:txBody>
          <a:bodyPr wrap="square" lIns="0" rIns="0" tIns="0" bIns="0" anchor="t">
            <a:noAutofit/>
          </a:bodyPr>
          <a:lstStyle/>
          <a:p>
            <a:pPr algn="l">
              <a:lnSpc>
                <a:spcPct val="110000"/>
              </a:lnSpc>
              <a:spcAft>
                <a:spcPts val="0"/>
              </a:spcAft>
            </a:pPr>
            <a:r>
              <a:rPr sz="2400" b="1">
                <a:solidFill>
                  <a:srgbClr val="586B7E"/>
                </a:solidFill>
                <a:latin typeface="Arial"/>
                <a:ea typeface="Arial"/>
                <a:cs typeface="Arial"/>
              </a:rPr>
              <a:t>How vLLM-Omni Enables Models to</a:t>
            </a:r>
          </a:p>
          <a:p>
            <a:pPr algn="l">
              <a:lnSpc>
                <a:spcPct val="110000"/>
              </a:lnSpc>
              <a:spcAft>
                <a:spcPts val="0"/>
              </a:spcAft>
            </a:pPr>
            <a:r>
              <a:rPr sz="2400" b="1">
                <a:solidFill>
                  <a:srgbClr val="586B7E"/>
                </a:solidFill>
                <a:latin typeface="Arial"/>
                <a:ea typeface="Arial"/>
                <a:cs typeface="Arial"/>
              </a:rPr>
              <a:t>Listen and Speak Simultaneously</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COMMUNITY</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200" b="1">
                <a:solidFill>
                  <a:srgbClr val="142B45"/>
                </a:solidFill>
                <a:latin typeface="Arial"/>
                <a:ea typeface="Arial"/>
                <a:cs typeface="Arial"/>
              </a:rPr>
              <a:t>Duplex, built with the community</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800" b="0">
                <a:solidFill>
                  <a:srgbClr val="586B7E"/>
                </a:solidFill>
                <a:latin typeface="Arial"/>
                <a:ea typeface="Arial"/>
                <a:cs typeface="Arial"/>
              </a:rPr>
              <a:t>Thanks to 60+ contributors · 160+ related PRs merged</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01 / 12</a:t>
            </a:r>
          </a:p>
        </p:txBody>
      </p:sp>
      <p:sp>
        <p:nvSpPr>
          <p:cNvPr id="126" name="TextBox 125"/>
          <p:cNvSpPr txBox="1"/>
          <p:nvPr/>
        </p:nvSpPr>
        <p:spPr>
          <a:xfrm>
            <a:off x="603504" y="5431536"/>
            <a:ext cx="4572000" cy="201168"/>
          </a:xfrm>
          <a:prstGeom prst="rect">
            <a:avLst/>
          </a:prstGeom>
          <a:noFill/>
        </p:spPr>
        <p:txBody>
          <a:bodyPr wrap="square" lIns="0" rIns="0" tIns="0" bIns="0" anchor="t">
            <a:spAutoFit/>
          </a:bodyPr>
          <a:lstStyle/>
          <a:p>
            <a:pPr algn="l">
              <a:lnSpc>
                <a:spcPct val="110000"/>
              </a:lnSpc>
              <a:spcAft>
                <a:spcPts val="0"/>
              </a:spcAft>
            </a:pPr>
            <a:r>
              <a:rPr sz="1100" b="1">
                <a:solidFill>
                  <a:srgbClr val="586B7E"/>
                </a:solidFill>
                <a:latin typeface="Arial"/>
                <a:ea typeface="Arial"/>
                <a:cs typeface="Arial"/>
              </a:rPr>
              <a:t>SELECTED MERGED PRs</a:t>
            </a:r>
          </a:p>
        </p:txBody>
      </p:sp>
      <p:sp>
        <p:nvSpPr>
          <p:cNvPr id="127" name="TextBox 126"/>
          <p:cNvSpPr txBox="1"/>
          <p:nvPr/>
        </p:nvSpPr>
        <p:spPr>
          <a:xfrm>
            <a:off x="8924544" y="5431536"/>
            <a:ext cx="2651760" cy="201168"/>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AS OF 07 OCT 2026</a:t>
            </a:r>
          </a:p>
        </p:txBody>
      </p:sp>
      <p:sp>
        <p:nvSpPr>
          <p:cNvPr id="128" name="Rounded Rectangle 127">
            <a:hlinkClick r:id="rId118"/>
          </p:cNvPr>
          <p:cNvSpPr/>
          <p:nvPr/>
        </p:nvSpPr>
        <p:spPr>
          <a:xfrm>
            <a:off x="54864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9" name="TextBox 128">
            <a:hlinkClick r:id="rId138"/>
          </p:cNvPr>
          <p:cNvSpPr txBox="1"/>
          <p:nvPr/>
        </p:nvSpPr>
        <p:spPr>
          <a:xfrm>
            <a:off x="621792" y="5715000"/>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327CEC"/>
                </a:solidFill>
                <a:latin typeface="Arial"/>
                <a:ea typeface="Arial"/>
                <a:cs typeface="Arial"/>
              </a:rPr>
              <a:t>Native duplex runtime · #3907</a:t>
            </a:r>
          </a:p>
        </p:txBody>
      </p:sp>
      <p:sp>
        <p:nvSpPr>
          <p:cNvPr id="130" name="Rounded Rectangle 129">
            <a:hlinkClick r:id="rId119"/>
          </p:cNvPr>
          <p:cNvSpPr/>
          <p:nvPr/>
        </p:nvSpPr>
        <p:spPr>
          <a:xfrm>
            <a:off x="338328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1" name="TextBox 130">
            <a:hlinkClick r:id="rId139"/>
          </p:cNvPr>
          <p:cNvSpPr txBox="1"/>
          <p:nvPr/>
        </p:nvSpPr>
        <p:spPr>
          <a:xfrm>
            <a:off x="3456432" y="5715000"/>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327CEC"/>
                </a:solidFill>
                <a:latin typeface="Arial"/>
                <a:ea typeface="Arial"/>
                <a:cs typeface="Arial"/>
              </a:rPr>
              <a:t>Unified duplex framework · #7413</a:t>
            </a:r>
          </a:p>
        </p:txBody>
      </p:sp>
      <p:sp>
        <p:nvSpPr>
          <p:cNvPr id="132" name="Rounded Rectangle 131">
            <a:hlinkClick r:id="rId120"/>
          </p:cNvPr>
          <p:cNvSpPr/>
          <p:nvPr/>
        </p:nvSpPr>
        <p:spPr>
          <a:xfrm>
            <a:off x="621792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3" name="TextBox 132">
            <a:hlinkClick r:id="rId140"/>
          </p:cNvPr>
          <p:cNvSpPr txBox="1"/>
          <p:nvPr/>
        </p:nvSpPr>
        <p:spPr>
          <a:xfrm>
            <a:off x="6291072" y="5715000"/>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327CEC"/>
                </a:solidFill>
                <a:latin typeface="Arial"/>
                <a:ea typeface="Arial"/>
                <a:cs typeface="Arial"/>
              </a:rPr>
              <a:t>OpenAI Realtime API · #7285</a:t>
            </a:r>
          </a:p>
        </p:txBody>
      </p:sp>
      <p:sp>
        <p:nvSpPr>
          <p:cNvPr id="134" name="Rounded Rectangle 133">
            <a:hlinkClick r:id="rId127"/>
          </p:cNvPr>
          <p:cNvSpPr/>
          <p:nvPr/>
        </p:nvSpPr>
        <p:spPr>
          <a:xfrm>
            <a:off x="905256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5" name="TextBox 134">
            <a:hlinkClick r:id="rId141"/>
          </p:cNvPr>
          <p:cNvSpPr txBox="1"/>
          <p:nvPr/>
        </p:nvSpPr>
        <p:spPr>
          <a:xfrm>
            <a:off x="9125712" y="5715000"/>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327CEC"/>
                </a:solidFill>
                <a:latin typeface="Arial"/>
                <a:ea typeface="Arial"/>
                <a:cs typeface="Arial"/>
              </a:rPr>
              <a:t>Qwen3-Omni integration · #7585</a:t>
            </a:r>
          </a:p>
        </p:txBody>
      </p:sp>
      <p:sp>
        <p:nvSpPr>
          <p:cNvPr id="136" name="Rounded Rectangle 135">
            <a:hlinkClick r:id="rId122"/>
          </p:cNvPr>
          <p:cNvSpPr/>
          <p:nvPr/>
        </p:nvSpPr>
        <p:spPr>
          <a:xfrm>
            <a:off x="54864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7" name="TextBox 136">
            <a:hlinkClick r:id="rId142"/>
          </p:cNvPr>
          <p:cNvSpPr txBox="1"/>
          <p:nvPr/>
        </p:nvSpPr>
        <p:spPr>
          <a:xfrm>
            <a:off x="62179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PersonaPlex unified duplex · #7695</a:t>
            </a:r>
          </a:p>
        </p:txBody>
      </p:sp>
      <p:sp>
        <p:nvSpPr>
          <p:cNvPr id="138" name="Rounded Rectangle 137">
            <a:hlinkClick r:id="rId123"/>
          </p:cNvPr>
          <p:cNvSpPr/>
          <p:nvPr/>
        </p:nvSpPr>
        <p:spPr>
          <a:xfrm>
            <a:off x="338328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9" name="TextBox 138">
            <a:hlinkClick r:id="rId143"/>
          </p:cNvPr>
          <p:cNvSpPr txBox="1"/>
          <p:nvPr/>
        </p:nvSpPr>
        <p:spPr>
          <a:xfrm>
            <a:off x="345643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Nemotron VoiceChat · #6089</a:t>
            </a:r>
          </a:p>
        </p:txBody>
      </p:sp>
      <p:sp>
        <p:nvSpPr>
          <p:cNvPr id="140" name="Rounded Rectangle 139">
            <a:hlinkClick r:id="rId124"/>
          </p:cNvPr>
          <p:cNvSpPr/>
          <p:nvPr/>
        </p:nvSpPr>
        <p:spPr>
          <a:xfrm>
            <a:off x="621792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1" name="TextBox 140">
            <a:hlinkClick r:id="rId144"/>
          </p:cNvPr>
          <p:cNvSpPr txBox="1"/>
          <p:nvPr/>
        </p:nvSpPr>
        <p:spPr>
          <a:xfrm>
            <a:off x="629107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AURA integration · #7633</a:t>
            </a:r>
          </a:p>
        </p:txBody>
      </p:sp>
      <p:sp>
        <p:nvSpPr>
          <p:cNvPr id="142" name="Rounded Rectangle 141">
            <a:hlinkClick r:id="rId125"/>
          </p:cNvPr>
          <p:cNvSpPr/>
          <p:nvPr/>
        </p:nvSpPr>
        <p:spPr>
          <a:xfrm>
            <a:off x="905256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3" name="TextBox 142">
            <a:hlinkClick r:id="rId145"/>
          </p:cNvPr>
          <p:cNvSpPr txBox="1"/>
          <p:nvPr/>
        </p:nvSpPr>
        <p:spPr>
          <a:xfrm>
            <a:off x="912571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Drop cancelled audio · #7644</a:t>
            </a:r>
          </a:p>
        </p:txBody>
      </p:sp>
      <p:pic>
        <p:nvPicPr>
          <p:cNvPr id="500" name="Contributor @0xtoward" descr="0xtoward; merged PR author/coauthor">
            <a:hlinkClick r:id="rId5"/>
          </p:cNvPr>
          <p:cNvPicPr>
            <a:picLocks noChangeAspect="1"/>
          </p:cNvPicPr>
          <p:nvPr/>
        </p:nvPicPr>
        <p:blipFill>
          <a:blip r:embed="rId4"/>
          <a:stretch>
            <a:fillRect/>
          </a:stretch>
        </p:blipFill>
        <p:spPr>
          <a:xfrm>
            <a:off x="869511" y="2057400"/>
            <a:ext cx="365760" cy="365760"/>
          </a:xfrm>
          <a:prstGeom prst="ellipse">
            <a:avLst/>
          </a:prstGeom>
        </p:spPr>
      </p:pic>
      <p:sp>
        <p:nvSpPr>
          <p:cNvPr id="501" name="Contributor label @0xtoward">
            <a:hlinkClick r:id="rId5"/>
          </p:cNvPr>
          <p:cNvSpPr txBox="1"/>
          <p:nvPr/>
        </p:nvSpPr>
        <p:spPr>
          <a:xfrm>
            <a:off x="54864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0xtoward</a:t>
            </a:r>
          </a:p>
        </p:txBody>
      </p:sp>
      <p:pic>
        <p:nvPicPr>
          <p:cNvPr id="502" name="Contributor @0z5a" descr="0z5a; merged PR author/coauthor">
            <a:hlinkClick r:id="rId7"/>
          </p:cNvPr>
          <p:cNvPicPr>
            <a:picLocks noChangeAspect="1"/>
          </p:cNvPicPr>
          <p:nvPr/>
        </p:nvPicPr>
        <p:blipFill>
          <a:blip r:embed="rId6"/>
          <a:stretch>
            <a:fillRect/>
          </a:stretch>
        </p:blipFill>
        <p:spPr>
          <a:xfrm>
            <a:off x="1877014" y="2057400"/>
            <a:ext cx="365760" cy="365760"/>
          </a:xfrm>
          <a:prstGeom prst="ellipse">
            <a:avLst/>
          </a:prstGeom>
        </p:spPr>
      </p:pic>
      <p:sp>
        <p:nvSpPr>
          <p:cNvPr id="503" name="Contributor label @0z5a">
            <a:hlinkClick r:id="rId7"/>
          </p:cNvPr>
          <p:cNvSpPr txBox="1"/>
          <p:nvPr/>
        </p:nvSpPr>
        <p:spPr>
          <a:xfrm>
            <a:off x="155614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0z5a</a:t>
            </a:r>
          </a:p>
        </p:txBody>
      </p:sp>
      <p:pic>
        <p:nvPicPr>
          <p:cNvPr id="504" name="Contributor @AbelSara" descr="AbelSara; merged PR author/coauthor">
            <a:hlinkClick r:id="rId9"/>
          </p:cNvPr>
          <p:cNvPicPr>
            <a:picLocks noChangeAspect="1"/>
          </p:cNvPicPr>
          <p:nvPr/>
        </p:nvPicPr>
        <p:blipFill>
          <a:blip r:embed="rId8"/>
          <a:stretch>
            <a:fillRect/>
          </a:stretch>
        </p:blipFill>
        <p:spPr>
          <a:xfrm>
            <a:off x="2884516" y="2057400"/>
            <a:ext cx="365760" cy="365760"/>
          </a:xfrm>
          <a:prstGeom prst="ellipse">
            <a:avLst/>
          </a:prstGeom>
        </p:spPr>
      </p:pic>
      <p:sp>
        <p:nvSpPr>
          <p:cNvPr id="505" name="Contributor label @AbelSara">
            <a:hlinkClick r:id="rId9"/>
          </p:cNvPr>
          <p:cNvSpPr txBox="1"/>
          <p:nvPr/>
        </p:nvSpPr>
        <p:spPr>
          <a:xfrm>
            <a:off x="256364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AbelSara</a:t>
            </a:r>
          </a:p>
        </p:txBody>
      </p:sp>
      <p:pic>
        <p:nvPicPr>
          <p:cNvPr id="506" name="Contributor @akshatvishu" descr="akshatvishu; merged PR author/coauthor">
            <a:hlinkClick r:id="rId11"/>
          </p:cNvPr>
          <p:cNvPicPr>
            <a:picLocks noChangeAspect="1"/>
          </p:cNvPicPr>
          <p:nvPr/>
        </p:nvPicPr>
        <p:blipFill>
          <a:blip r:embed="rId10"/>
          <a:stretch>
            <a:fillRect/>
          </a:stretch>
        </p:blipFill>
        <p:spPr>
          <a:xfrm>
            <a:off x="3892019" y="2057400"/>
            <a:ext cx="365760" cy="365760"/>
          </a:xfrm>
          <a:prstGeom prst="ellipse">
            <a:avLst/>
          </a:prstGeom>
        </p:spPr>
      </p:pic>
      <p:sp>
        <p:nvSpPr>
          <p:cNvPr id="507" name="Contributor label @akshatvishu">
            <a:hlinkClick r:id="rId11"/>
          </p:cNvPr>
          <p:cNvSpPr txBox="1"/>
          <p:nvPr/>
        </p:nvSpPr>
        <p:spPr>
          <a:xfrm>
            <a:off x="3571148"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akshatvishu</a:t>
            </a:r>
          </a:p>
        </p:txBody>
      </p:sp>
      <p:pic>
        <p:nvPicPr>
          <p:cNvPr id="508" name="Contributor @amy-why-3459" descr="amy-why-3459; merged PR author/coauthor">
            <a:hlinkClick r:id="rId13"/>
          </p:cNvPr>
          <p:cNvPicPr>
            <a:picLocks noChangeAspect="1"/>
          </p:cNvPicPr>
          <p:nvPr/>
        </p:nvPicPr>
        <p:blipFill>
          <a:blip r:embed="rId12"/>
          <a:stretch>
            <a:fillRect/>
          </a:stretch>
        </p:blipFill>
        <p:spPr>
          <a:xfrm>
            <a:off x="4899521" y="2057400"/>
            <a:ext cx="365760" cy="365760"/>
          </a:xfrm>
          <a:prstGeom prst="ellipse">
            <a:avLst/>
          </a:prstGeom>
        </p:spPr>
      </p:pic>
      <p:sp>
        <p:nvSpPr>
          <p:cNvPr id="509" name="Contributor label @amy-why-3459">
            <a:hlinkClick r:id="rId13"/>
          </p:cNvPr>
          <p:cNvSpPr txBox="1"/>
          <p:nvPr/>
        </p:nvSpPr>
        <p:spPr>
          <a:xfrm>
            <a:off x="457865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amy-why-3459</a:t>
            </a:r>
          </a:p>
        </p:txBody>
      </p:sp>
      <p:pic>
        <p:nvPicPr>
          <p:cNvPr id="510" name="Contributor @andyluo7" descr="andyluo7; merged PR author/coauthor">
            <a:hlinkClick r:id="rId15"/>
          </p:cNvPr>
          <p:cNvPicPr>
            <a:picLocks noChangeAspect="1"/>
          </p:cNvPicPr>
          <p:nvPr/>
        </p:nvPicPr>
        <p:blipFill>
          <a:blip r:embed="rId14"/>
          <a:stretch>
            <a:fillRect/>
          </a:stretch>
        </p:blipFill>
        <p:spPr>
          <a:xfrm>
            <a:off x="5907024" y="2057400"/>
            <a:ext cx="365760" cy="365760"/>
          </a:xfrm>
          <a:prstGeom prst="ellipse">
            <a:avLst/>
          </a:prstGeom>
        </p:spPr>
      </p:pic>
      <p:sp>
        <p:nvSpPr>
          <p:cNvPr id="511" name="Contributor label @andyluo7">
            <a:hlinkClick r:id="rId15"/>
          </p:cNvPr>
          <p:cNvSpPr txBox="1"/>
          <p:nvPr/>
        </p:nvSpPr>
        <p:spPr>
          <a:xfrm>
            <a:off x="558615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andyluo7</a:t>
            </a:r>
          </a:p>
        </p:txBody>
      </p:sp>
      <p:pic>
        <p:nvPicPr>
          <p:cNvPr id="512" name="Contributor @anurag12-webster" descr="anurag12-webster; merged PR author/coauthor">
            <a:hlinkClick r:id="rId17"/>
          </p:cNvPr>
          <p:cNvPicPr>
            <a:picLocks noChangeAspect="1"/>
          </p:cNvPicPr>
          <p:nvPr/>
        </p:nvPicPr>
        <p:blipFill>
          <a:blip r:embed="rId16"/>
          <a:stretch>
            <a:fillRect/>
          </a:stretch>
        </p:blipFill>
        <p:spPr>
          <a:xfrm>
            <a:off x="6914527" y="2057400"/>
            <a:ext cx="365760" cy="365760"/>
          </a:xfrm>
          <a:prstGeom prst="ellipse">
            <a:avLst/>
          </a:prstGeom>
        </p:spPr>
      </p:pic>
      <p:sp>
        <p:nvSpPr>
          <p:cNvPr id="513" name="Contributor label @anurag12-webster">
            <a:hlinkClick r:id="rId17"/>
          </p:cNvPr>
          <p:cNvSpPr txBox="1"/>
          <p:nvPr/>
        </p:nvSpPr>
        <p:spPr>
          <a:xfrm>
            <a:off x="659365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anurag12-webster</a:t>
            </a:r>
          </a:p>
        </p:txBody>
      </p:sp>
      <p:pic>
        <p:nvPicPr>
          <p:cNvPr id="514" name="Contributor @BeatSeat" descr="BeatSeat; merged PR author/coauthor">
            <a:hlinkClick r:id="rId19"/>
          </p:cNvPr>
          <p:cNvPicPr>
            <a:picLocks noChangeAspect="1"/>
          </p:cNvPicPr>
          <p:nvPr/>
        </p:nvPicPr>
        <p:blipFill>
          <a:blip r:embed="rId18"/>
          <a:stretch>
            <a:fillRect/>
          </a:stretch>
        </p:blipFill>
        <p:spPr>
          <a:xfrm>
            <a:off x="7922029" y="2057400"/>
            <a:ext cx="365760" cy="365760"/>
          </a:xfrm>
          <a:prstGeom prst="ellipse">
            <a:avLst/>
          </a:prstGeom>
        </p:spPr>
      </p:pic>
      <p:sp>
        <p:nvSpPr>
          <p:cNvPr id="515" name="Contributor label @BeatSeat">
            <a:hlinkClick r:id="rId19"/>
          </p:cNvPr>
          <p:cNvSpPr txBox="1"/>
          <p:nvPr/>
        </p:nvSpPr>
        <p:spPr>
          <a:xfrm>
            <a:off x="7601158"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BeatSeat</a:t>
            </a:r>
          </a:p>
        </p:txBody>
      </p:sp>
      <p:pic>
        <p:nvPicPr>
          <p:cNvPr id="516" name="Contributor @BruceLoveDecimal" descr="BruceLoveDecimal; merged PR author/coauthor">
            <a:hlinkClick r:id="rId21"/>
          </p:cNvPr>
          <p:cNvPicPr>
            <a:picLocks noChangeAspect="1"/>
          </p:cNvPicPr>
          <p:nvPr/>
        </p:nvPicPr>
        <p:blipFill>
          <a:blip r:embed="rId20"/>
          <a:stretch>
            <a:fillRect/>
          </a:stretch>
        </p:blipFill>
        <p:spPr>
          <a:xfrm>
            <a:off x="8929532" y="2057400"/>
            <a:ext cx="365760" cy="365760"/>
          </a:xfrm>
          <a:prstGeom prst="ellipse">
            <a:avLst/>
          </a:prstGeom>
        </p:spPr>
      </p:pic>
      <p:sp>
        <p:nvSpPr>
          <p:cNvPr id="517" name="Contributor label @BruceLoveDecimal">
            <a:hlinkClick r:id="rId21"/>
          </p:cNvPr>
          <p:cNvSpPr txBox="1"/>
          <p:nvPr/>
        </p:nvSpPr>
        <p:spPr>
          <a:xfrm>
            <a:off x="860866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BruceLoveDecimal</a:t>
            </a:r>
          </a:p>
        </p:txBody>
      </p:sp>
      <p:pic>
        <p:nvPicPr>
          <p:cNvPr id="518" name="Contributor @CarrotSwordsman" descr="CarrotSwordsman; merged PR author/coauthor">
            <a:hlinkClick r:id="rId23"/>
          </p:cNvPr>
          <p:cNvPicPr>
            <a:picLocks noChangeAspect="1"/>
          </p:cNvPicPr>
          <p:nvPr/>
        </p:nvPicPr>
        <p:blipFill>
          <a:blip r:embed="rId22"/>
          <a:stretch>
            <a:fillRect/>
          </a:stretch>
        </p:blipFill>
        <p:spPr>
          <a:xfrm>
            <a:off x="9937034" y="2057400"/>
            <a:ext cx="365760" cy="365760"/>
          </a:xfrm>
          <a:prstGeom prst="ellipse">
            <a:avLst/>
          </a:prstGeom>
        </p:spPr>
      </p:pic>
      <p:sp>
        <p:nvSpPr>
          <p:cNvPr id="519" name="Contributor label @CarrotSwordsman">
            <a:hlinkClick r:id="rId23"/>
          </p:cNvPr>
          <p:cNvSpPr txBox="1"/>
          <p:nvPr/>
        </p:nvSpPr>
        <p:spPr>
          <a:xfrm>
            <a:off x="961616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CarrotSwordsman</a:t>
            </a:r>
          </a:p>
        </p:txBody>
      </p:sp>
      <p:pic>
        <p:nvPicPr>
          <p:cNvPr id="520" name="Contributor @chickeyton" descr="chickeyton; merged PR author/coauthor">
            <a:hlinkClick r:id="rId25"/>
          </p:cNvPr>
          <p:cNvPicPr>
            <a:picLocks noChangeAspect="1"/>
          </p:cNvPicPr>
          <p:nvPr/>
        </p:nvPicPr>
        <p:blipFill>
          <a:blip r:embed="rId24"/>
          <a:stretch>
            <a:fillRect/>
          </a:stretch>
        </p:blipFill>
        <p:spPr>
          <a:xfrm>
            <a:off x="10944537" y="2057400"/>
            <a:ext cx="365760" cy="365760"/>
          </a:xfrm>
          <a:prstGeom prst="ellipse">
            <a:avLst/>
          </a:prstGeom>
        </p:spPr>
      </p:pic>
      <p:sp>
        <p:nvSpPr>
          <p:cNvPr id="521" name="Contributor label @chickeyton">
            <a:hlinkClick r:id="rId25"/>
          </p:cNvPr>
          <p:cNvSpPr txBox="1"/>
          <p:nvPr/>
        </p:nvSpPr>
        <p:spPr>
          <a:xfrm>
            <a:off x="1062366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chickeyton</a:t>
            </a:r>
          </a:p>
        </p:txBody>
      </p:sp>
      <p:pic>
        <p:nvPicPr>
          <p:cNvPr id="522" name="Contributor @congw729" descr="congw729; merged PR author/coauthor">
            <a:hlinkClick r:id="rId27"/>
          </p:cNvPr>
          <p:cNvPicPr>
            <a:picLocks noChangeAspect="1"/>
          </p:cNvPicPr>
          <p:nvPr/>
        </p:nvPicPr>
        <p:blipFill>
          <a:blip r:embed="rId26"/>
          <a:stretch>
            <a:fillRect/>
          </a:stretch>
        </p:blipFill>
        <p:spPr>
          <a:xfrm>
            <a:off x="869511" y="2606040"/>
            <a:ext cx="365760" cy="365760"/>
          </a:xfrm>
          <a:prstGeom prst="ellipse">
            <a:avLst/>
          </a:prstGeom>
        </p:spPr>
      </p:pic>
      <p:sp>
        <p:nvSpPr>
          <p:cNvPr id="523" name="Contributor label @congw729">
            <a:hlinkClick r:id="rId27"/>
          </p:cNvPr>
          <p:cNvSpPr txBox="1"/>
          <p:nvPr/>
        </p:nvSpPr>
        <p:spPr>
          <a:xfrm>
            <a:off x="54864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congw729</a:t>
            </a:r>
          </a:p>
        </p:txBody>
      </p:sp>
      <p:pic>
        <p:nvPicPr>
          <p:cNvPr id="524" name="Contributor @dshah1333" descr="dshah1333; merged PR author/coauthor">
            <a:hlinkClick r:id="rId29"/>
          </p:cNvPr>
          <p:cNvPicPr>
            <a:picLocks noChangeAspect="1"/>
          </p:cNvPicPr>
          <p:nvPr/>
        </p:nvPicPr>
        <p:blipFill>
          <a:blip r:embed="rId28"/>
          <a:stretch>
            <a:fillRect/>
          </a:stretch>
        </p:blipFill>
        <p:spPr>
          <a:xfrm>
            <a:off x="1877014" y="2606040"/>
            <a:ext cx="365760" cy="365760"/>
          </a:xfrm>
          <a:prstGeom prst="ellipse">
            <a:avLst/>
          </a:prstGeom>
        </p:spPr>
      </p:pic>
      <p:sp>
        <p:nvSpPr>
          <p:cNvPr id="525" name="Contributor label @dshah1333">
            <a:hlinkClick r:id="rId29"/>
          </p:cNvPr>
          <p:cNvSpPr txBox="1"/>
          <p:nvPr/>
        </p:nvSpPr>
        <p:spPr>
          <a:xfrm>
            <a:off x="155614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dshah1333</a:t>
            </a:r>
          </a:p>
        </p:txBody>
      </p:sp>
      <p:pic>
        <p:nvPicPr>
          <p:cNvPr id="526" name="Contributor @eval-dev" descr="eval-dev; merged PR author/coauthor">
            <a:hlinkClick r:id="rId31"/>
          </p:cNvPr>
          <p:cNvPicPr>
            <a:picLocks noChangeAspect="1"/>
          </p:cNvPicPr>
          <p:nvPr/>
        </p:nvPicPr>
        <p:blipFill>
          <a:blip r:embed="rId30"/>
          <a:stretch>
            <a:fillRect/>
          </a:stretch>
        </p:blipFill>
        <p:spPr>
          <a:xfrm>
            <a:off x="2884516" y="2606040"/>
            <a:ext cx="365760" cy="365760"/>
          </a:xfrm>
          <a:prstGeom prst="ellipse">
            <a:avLst/>
          </a:prstGeom>
        </p:spPr>
      </p:pic>
      <p:sp>
        <p:nvSpPr>
          <p:cNvPr id="527" name="Contributor label @eval-dev">
            <a:hlinkClick r:id="rId31"/>
          </p:cNvPr>
          <p:cNvSpPr txBox="1"/>
          <p:nvPr/>
        </p:nvSpPr>
        <p:spPr>
          <a:xfrm>
            <a:off x="256364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eval-dev</a:t>
            </a:r>
          </a:p>
        </p:txBody>
      </p:sp>
      <p:pic>
        <p:nvPicPr>
          <p:cNvPr id="528" name="Contributor @FayeSpica" descr="FayeSpica; merged PR author/coauthor">
            <a:hlinkClick r:id="rId33"/>
          </p:cNvPr>
          <p:cNvPicPr>
            <a:picLocks noChangeAspect="1"/>
          </p:cNvPicPr>
          <p:nvPr/>
        </p:nvPicPr>
        <p:blipFill>
          <a:blip r:embed="rId32"/>
          <a:stretch>
            <a:fillRect/>
          </a:stretch>
        </p:blipFill>
        <p:spPr>
          <a:xfrm>
            <a:off x="3892019" y="2606040"/>
            <a:ext cx="365760" cy="365760"/>
          </a:xfrm>
          <a:prstGeom prst="ellipse">
            <a:avLst/>
          </a:prstGeom>
        </p:spPr>
      </p:pic>
      <p:sp>
        <p:nvSpPr>
          <p:cNvPr id="529" name="Contributor label @FayeSpica">
            <a:hlinkClick r:id="rId33"/>
          </p:cNvPr>
          <p:cNvSpPr txBox="1"/>
          <p:nvPr/>
        </p:nvSpPr>
        <p:spPr>
          <a:xfrm>
            <a:off x="3571148"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FayeSpica</a:t>
            </a:r>
          </a:p>
        </p:txBody>
      </p:sp>
      <p:pic>
        <p:nvPicPr>
          <p:cNvPr id="530" name="Contributor @frank-2077" descr="frank-2077; merged PR author/coauthor">
            <a:hlinkClick r:id="rId35"/>
          </p:cNvPr>
          <p:cNvPicPr>
            <a:picLocks noChangeAspect="1"/>
          </p:cNvPicPr>
          <p:nvPr/>
        </p:nvPicPr>
        <p:blipFill>
          <a:blip r:embed="rId34"/>
          <a:stretch>
            <a:fillRect/>
          </a:stretch>
        </p:blipFill>
        <p:spPr>
          <a:xfrm>
            <a:off x="4899521" y="2606040"/>
            <a:ext cx="365760" cy="365760"/>
          </a:xfrm>
          <a:prstGeom prst="ellipse">
            <a:avLst/>
          </a:prstGeom>
        </p:spPr>
      </p:pic>
      <p:sp>
        <p:nvSpPr>
          <p:cNvPr id="531" name="Contributor label @frank-2077">
            <a:hlinkClick r:id="rId35"/>
          </p:cNvPr>
          <p:cNvSpPr txBox="1"/>
          <p:nvPr/>
        </p:nvSpPr>
        <p:spPr>
          <a:xfrm>
            <a:off x="457865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frank-2077</a:t>
            </a:r>
          </a:p>
        </p:txBody>
      </p:sp>
      <p:pic>
        <p:nvPicPr>
          <p:cNvPr id="532" name="Contributor @Fyrgo8" descr="Fyrgo8; merged PR author/coauthor">
            <a:hlinkClick r:id="rId37"/>
          </p:cNvPr>
          <p:cNvPicPr>
            <a:picLocks noChangeAspect="1"/>
          </p:cNvPicPr>
          <p:nvPr/>
        </p:nvPicPr>
        <p:blipFill>
          <a:blip r:embed="rId36"/>
          <a:stretch>
            <a:fillRect/>
          </a:stretch>
        </p:blipFill>
        <p:spPr>
          <a:xfrm>
            <a:off x="5907024" y="2606040"/>
            <a:ext cx="365760" cy="365760"/>
          </a:xfrm>
          <a:prstGeom prst="ellipse">
            <a:avLst/>
          </a:prstGeom>
        </p:spPr>
      </p:pic>
      <p:sp>
        <p:nvSpPr>
          <p:cNvPr id="533" name="Contributor label @Fyrgo8">
            <a:hlinkClick r:id="rId37"/>
          </p:cNvPr>
          <p:cNvSpPr txBox="1"/>
          <p:nvPr/>
        </p:nvSpPr>
        <p:spPr>
          <a:xfrm>
            <a:off x="558615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Fyrgo8</a:t>
            </a:r>
          </a:p>
        </p:txBody>
      </p:sp>
      <p:pic>
        <p:nvPicPr>
          <p:cNvPr id="534" name="Contributor @Gaohan123" descr="Gaohan123; merged PR author/coauthor">
            <a:hlinkClick r:id="rId39"/>
          </p:cNvPr>
          <p:cNvPicPr>
            <a:picLocks noChangeAspect="1"/>
          </p:cNvPicPr>
          <p:nvPr/>
        </p:nvPicPr>
        <p:blipFill>
          <a:blip r:embed="rId38"/>
          <a:stretch>
            <a:fillRect/>
          </a:stretch>
        </p:blipFill>
        <p:spPr>
          <a:xfrm>
            <a:off x="6914527" y="2606040"/>
            <a:ext cx="365760" cy="365760"/>
          </a:xfrm>
          <a:prstGeom prst="ellipse">
            <a:avLst/>
          </a:prstGeom>
        </p:spPr>
      </p:pic>
      <p:sp>
        <p:nvSpPr>
          <p:cNvPr id="535" name="Contributor label @Gaohan123">
            <a:hlinkClick r:id="rId39"/>
          </p:cNvPr>
          <p:cNvSpPr txBox="1"/>
          <p:nvPr/>
        </p:nvSpPr>
        <p:spPr>
          <a:xfrm>
            <a:off x="659365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Gaohan123</a:t>
            </a:r>
          </a:p>
        </p:txBody>
      </p:sp>
      <p:pic>
        <p:nvPicPr>
          <p:cNvPr id="536" name="Contributor @GKangaroo" descr="GKangaroo; merged PR author/coauthor">
            <a:hlinkClick r:id="rId41"/>
          </p:cNvPr>
          <p:cNvPicPr>
            <a:picLocks noChangeAspect="1"/>
          </p:cNvPicPr>
          <p:nvPr/>
        </p:nvPicPr>
        <p:blipFill>
          <a:blip r:embed="rId40"/>
          <a:stretch>
            <a:fillRect/>
          </a:stretch>
        </p:blipFill>
        <p:spPr>
          <a:xfrm>
            <a:off x="7922029" y="2606040"/>
            <a:ext cx="365760" cy="365760"/>
          </a:xfrm>
          <a:prstGeom prst="ellipse">
            <a:avLst/>
          </a:prstGeom>
        </p:spPr>
      </p:pic>
      <p:sp>
        <p:nvSpPr>
          <p:cNvPr id="537" name="Contributor label @GKangaroo">
            <a:hlinkClick r:id="rId41"/>
          </p:cNvPr>
          <p:cNvSpPr txBox="1"/>
          <p:nvPr/>
        </p:nvSpPr>
        <p:spPr>
          <a:xfrm>
            <a:off x="7601158"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GKangaroo</a:t>
            </a:r>
          </a:p>
        </p:txBody>
      </p:sp>
      <p:pic>
        <p:nvPicPr>
          <p:cNvPr id="538" name="Contributor @guanzheh" descr="guanzheh; merged PR author/coauthor">
            <a:hlinkClick r:id="rId43"/>
          </p:cNvPr>
          <p:cNvPicPr>
            <a:picLocks noChangeAspect="1"/>
          </p:cNvPicPr>
          <p:nvPr/>
        </p:nvPicPr>
        <p:blipFill>
          <a:blip r:embed="rId42"/>
          <a:stretch>
            <a:fillRect/>
          </a:stretch>
        </p:blipFill>
        <p:spPr>
          <a:xfrm>
            <a:off x="8929532" y="2606040"/>
            <a:ext cx="365760" cy="365760"/>
          </a:xfrm>
          <a:prstGeom prst="ellipse">
            <a:avLst/>
          </a:prstGeom>
        </p:spPr>
      </p:pic>
      <p:sp>
        <p:nvSpPr>
          <p:cNvPr id="539" name="Contributor label @guanzheh">
            <a:hlinkClick r:id="rId43"/>
          </p:cNvPr>
          <p:cNvSpPr txBox="1"/>
          <p:nvPr/>
        </p:nvSpPr>
        <p:spPr>
          <a:xfrm>
            <a:off x="860866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guanzheh</a:t>
            </a:r>
          </a:p>
        </p:txBody>
      </p:sp>
      <p:pic>
        <p:nvPicPr>
          <p:cNvPr id="540" name="Contributor @herotai214" descr="herotai214; merged PR author/coauthor">
            <a:hlinkClick r:id="rId45"/>
          </p:cNvPr>
          <p:cNvPicPr>
            <a:picLocks noChangeAspect="1"/>
          </p:cNvPicPr>
          <p:nvPr/>
        </p:nvPicPr>
        <p:blipFill>
          <a:blip r:embed="rId44"/>
          <a:stretch>
            <a:fillRect/>
          </a:stretch>
        </p:blipFill>
        <p:spPr>
          <a:xfrm>
            <a:off x="9937034" y="2606040"/>
            <a:ext cx="365760" cy="365760"/>
          </a:xfrm>
          <a:prstGeom prst="ellipse">
            <a:avLst/>
          </a:prstGeom>
        </p:spPr>
      </p:pic>
      <p:sp>
        <p:nvSpPr>
          <p:cNvPr id="541" name="Contributor label @herotai214">
            <a:hlinkClick r:id="rId45"/>
          </p:cNvPr>
          <p:cNvSpPr txBox="1"/>
          <p:nvPr/>
        </p:nvSpPr>
        <p:spPr>
          <a:xfrm>
            <a:off x="961616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herotai214</a:t>
            </a:r>
          </a:p>
        </p:txBody>
      </p:sp>
      <p:pic>
        <p:nvPicPr>
          <p:cNvPr id="542" name="Contributor @Hiro208" descr="Hiro208; merged PR author/coauthor">
            <a:hlinkClick r:id="rId47"/>
          </p:cNvPr>
          <p:cNvPicPr>
            <a:picLocks noChangeAspect="1"/>
          </p:cNvPicPr>
          <p:nvPr/>
        </p:nvPicPr>
        <p:blipFill>
          <a:blip r:embed="rId46"/>
          <a:stretch>
            <a:fillRect/>
          </a:stretch>
        </p:blipFill>
        <p:spPr>
          <a:xfrm>
            <a:off x="10944537" y="2606040"/>
            <a:ext cx="365760" cy="365760"/>
          </a:xfrm>
          <a:prstGeom prst="ellipse">
            <a:avLst/>
          </a:prstGeom>
        </p:spPr>
      </p:pic>
      <p:sp>
        <p:nvSpPr>
          <p:cNvPr id="543" name="Contributor label @Hiro208">
            <a:hlinkClick r:id="rId47"/>
          </p:cNvPr>
          <p:cNvSpPr txBox="1"/>
          <p:nvPr/>
        </p:nvSpPr>
        <p:spPr>
          <a:xfrm>
            <a:off x="1062366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Hiro208</a:t>
            </a:r>
          </a:p>
        </p:txBody>
      </p:sp>
      <p:pic>
        <p:nvPicPr>
          <p:cNvPr id="544" name="Contributor @hsliuustc0106" descr="hsliuustc0106; merged PR author/coauthor">
            <a:hlinkClick r:id="rId49"/>
          </p:cNvPr>
          <p:cNvPicPr>
            <a:picLocks noChangeAspect="1"/>
          </p:cNvPicPr>
          <p:nvPr/>
        </p:nvPicPr>
        <p:blipFill>
          <a:blip r:embed="rId48"/>
          <a:stretch>
            <a:fillRect/>
          </a:stretch>
        </p:blipFill>
        <p:spPr>
          <a:xfrm>
            <a:off x="869511" y="3154680"/>
            <a:ext cx="365760" cy="365760"/>
          </a:xfrm>
          <a:prstGeom prst="ellipse">
            <a:avLst/>
          </a:prstGeom>
        </p:spPr>
      </p:pic>
      <p:sp>
        <p:nvSpPr>
          <p:cNvPr id="545" name="Contributor label @hsliuustc0106">
            <a:hlinkClick r:id="rId49"/>
          </p:cNvPr>
          <p:cNvSpPr txBox="1"/>
          <p:nvPr/>
        </p:nvSpPr>
        <p:spPr>
          <a:xfrm>
            <a:off x="54864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hsliuustc0106</a:t>
            </a:r>
          </a:p>
        </p:txBody>
      </p:sp>
      <p:pic>
        <p:nvPicPr>
          <p:cNvPr id="546" name="Contributor @HyperbolicCr" descr="HyperbolicCr; merged PR author/coauthor">
            <a:hlinkClick r:id="rId129"/>
          </p:cNvPr>
          <p:cNvPicPr>
            <a:picLocks noChangeAspect="1"/>
          </p:cNvPicPr>
          <p:nvPr/>
        </p:nvPicPr>
        <p:blipFill>
          <a:blip r:embed="rId128"/>
          <a:stretch>
            <a:fillRect/>
          </a:stretch>
        </p:blipFill>
        <p:spPr>
          <a:xfrm>
            <a:off x="1877014" y="3154680"/>
            <a:ext cx="365760" cy="365760"/>
          </a:xfrm>
          <a:prstGeom prst="ellipse">
            <a:avLst/>
          </a:prstGeom>
        </p:spPr>
      </p:pic>
      <p:sp>
        <p:nvSpPr>
          <p:cNvPr id="547" name="Contributor label @HyperbolicCr">
            <a:hlinkClick r:id="rId129"/>
          </p:cNvPr>
          <p:cNvSpPr txBox="1"/>
          <p:nvPr/>
        </p:nvSpPr>
        <p:spPr>
          <a:xfrm>
            <a:off x="155614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HyperbolicCr</a:t>
            </a:r>
          </a:p>
        </p:txBody>
      </p:sp>
      <p:pic>
        <p:nvPicPr>
          <p:cNvPr id="548" name="Contributor @IneshReddy249" descr="IneshReddy249; merged PR author/coauthor">
            <a:hlinkClick r:id="rId51"/>
          </p:cNvPr>
          <p:cNvPicPr>
            <a:picLocks noChangeAspect="1"/>
          </p:cNvPicPr>
          <p:nvPr/>
        </p:nvPicPr>
        <p:blipFill>
          <a:blip r:embed="rId50"/>
          <a:stretch>
            <a:fillRect/>
          </a:stretch>
        </p:blipFill>
        <p:spPr>
          <a:xfrm>
            <a:off x="2884516" y="3154680"/>
            <a:ext cx="365760" cy="365760"/>
          </a:xfrm>
          <a:prstGeom prst="ellipse">
            <a:avLst/>
          </a:prstGeom>
        </p:spPr>
      </p:pic>
      <p:sp>
        <p:nvSpPr>
          <p:cNvPr id="549" name="Contributor label @IneshReddy249">
            <a:hlinkClick r:id="rId51"/>
          </p:cNvPr>
          <p:cNvSpPr txBox="1"/>
          <p:nvPr/>
        </p:nvSpPr>
        <p:spPr>
          <a:xfrm>
            <a:off x="256364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IneshReddy249</a:t>
            </a:r>
          </a:p>
        </p:txBody>
      </p:sp>
      <p:pic>
        <p:nvPicPr>
          <p:cNvPr id="550" name="Contributor @LHXuuu" descr="LHXuuu; merged PR author/coauthor">
            <a:hlinkClick r:id="rId53"/>
          </p:cNvPr>
          <p:cNvPicPr>
            <a:picLocks noChangeAspect="1"/>
          </p:cNvPicPr>
          <p:nvPr/>
        </p:nvPicPr>
        <p:blipFill>
          <a:blip r:embed="rId52"/>
          <a:stretch>
            <a:fillRect/>
          </a:stretch>
        </p:blipFill>
        <p:spPr>
          <a:xfrm>
            <a:off x="3892019" y="3154680"/>
            <a:ext cx="365760" cy="365760"/>
          </a:xfrm>
          <a:prstGeom prst="ellipse">
            <a:avLst/>
          </a:prstGeom>
        </p:spPr>
      </p:pic>
      <p:sp>
        <p:nvSpPr>
          <p:cNvPr id="551" name="Contributor label @LHXuuu">
            <a:hlinkClick r:id="rId53"/>
          </p:cNvPr>
          <p:cNvSpPr txBox="1"/>
          <p:nvPr/>
        </p:nvSpPr>
        <p:spPr>
          <a:xfrm>
            <a:off x="3571148"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LHXuuu</a:t>
            </a:r>
          </a:p>
        </p:txBody>
      </p:sp>
      <p:pic>
        <p:nvPicPr>
          <p:cNvPr id="552" name="Contributor @linyueqian" descr="linyueqian; merged PR author/coauthor">
            <a:hlinkClick r:id="rId55"/>
          </p:cNvPr>
          <p:cNvPicPr>
            <a:picLocks noChangeAspect="1"/>
          </p:cNvPicPr>
          <p:nvPr/>
        </p:nvPicPr>
        <p:blipFill>
          <a:blip r:embed="rId54"/>
          <a:stretch>
            <a:fillRect/>
          </a:stretch>
        </p:blipFill>
        <p:spPr>
          <a:xfrm>
            <a:off x="4899521" y="3154680"/>
            <a:ext cx="365760" cy="365760"/>
          </a:xfrm>
          <a:prstGeom prst="ellipse">
            <a:avLst/>
          </a:prstGeom>
        </p:spPr>
      </p:pic>
      <p:sp>
        <p:nvSpPr>
          <p:cNvPr id="553" name="Contributor label @linyueqian">
            <a:hlinkClick r:id="rId55"/>
          </p:cNvPr>
          <p:cNvSpPr txBox="1"/>
          <p:nvPr/>
        </p:nvSpPr>
        <p:spPr>
          <a:xfrm>
            <a:off x="457865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linyueqian</a:t>
            </a:r>
          </a:p>
        </p:txBody>
      </p:sp>
      <p:pic>
        <p:nvPicPr>
          <p:cNvPr id="554" name="Contributor @LinzeShi" descr="LinzeShi; merged PR author/coauthor">
            <a:hlinkClick r:id="rId131"/>
          </p:cNvPr>
          <p:cNvPicPr>
            <a:picLocks noChangeAspect="1"/>
          </p:cNvPicPr>
          <p:nvPr/>
        </p:nvPicPr>
        <p:blipFill>
          <a:blip r:embed="rId130"/>
          <a:stretch>
            <a:fillRect/>
          </a:stretch>
        </p:blipFill>
        <p:spPr>
          <a:xfrm>
            <a:off x="5907024" y="3154680"/>
            <a:ext cx="365760" cy="365760"/>
          </a:xfrm>
          <a:prstGeom prst="ellipse">
            <a:avLst/>
          </a:prstGeom>
        </p:spPr>
      </p:pic>
      <p:sp>
        <p:nvSpPr>
          <p:cNvPr id="555" name="Contributor label @LinzeShi">
            <a:hlinkClick r:id="rId131"/>
          </p:cNvPr>
          <p:cNvSpPr txBox="1"/>
          <p:nvPr/>
        </p:nvSpPr>
        <p:spPr>
          <a:xfrm>
            <a:off x="558615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LinzeShi</a:t>
            </a:r>
          </a:p>
        </p:txBody>
      </p:sp>
      <p:pic>
        <p:nvPicPr>
          <p:cNvPr id="556" name="Contributor @lishunyang12" descr="lishunyang12; merged PR author/coauthor">
            <a:hlinkClick r:id="rId57"/>
          </p:cNvPr>
          <p:cNvPicPr>
            <a:picLocks noChangeAspect="1"/>
          </p:cNvPicPr>
          <p:nvPr/>
        </p:nvPicPr>
        <p:blipFill>
          <a:blip r:embed="rId56"/>
          <a:stretch>
            <a:fillRect/>
          </a:stretch>
        </p:blipFill>
        <p:spPr>
          <a:xfrm>
            <a:off x="6914527" y="3154680"/>
            <a:ext cx="365760" cy="365760"/>
          </a:xfrm>
          <a:prstGeom prst="ellipse">
            <a:avLst/>
          </a:prstGeom>
        </p:spPr>
      </p:pic>
      <p:sp>
        <p:nvSpPr>
          <p:cNvPr id="557" name="Contributor label @lishunyang12">
            <a:hlinkClick r:id="rId57"/>
          </p:cNvPr>
          <p:cNvSpPr txBox="1"/>
          <p:nvPr/>
        </p:nvSpPr>
        <p:spPr>
          <a:xfrm>
            <a:off x="659365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lishunyang12</a:t>
            </a:r>
          </a:p>
        </p:txBody>
      </p:sp>
      <p:pic>
        <p:nvPicPr>
          <p:cNvPr id="558" name="Contributor @LOGO127" descr="LOGO127; merged PR author/coauthor">
            <a:hlinkClick r:id="rId59"/>
          </p:cNvPr>
          <p:cNvPicPr>
            <a:picLocks noChangeAspect="1"/>
          </p:cNvPicPr>
          <p:nvPr/>
        </p:nvPicPr>
        <p:blipFill>
          <a:blip r:embed="rId58"/>
          <a:stretch>
            <a:fillRect/>
          </a:stretch>
        </p:blipFill>
        <p:spPr>
          <a:xfrm>
            <a:off x="7922029" y="3154680"/>
            <a:ext cx="365760" cy="365760"/>
          </a:xfrm>
          <a:prstGeom prst="ellipse">
            <a:avLst/>
          </a:prstGeom>
        </p:spPr>
      </p:pic>
      <p:sp>
        <p:nvSpPr>
          <p:cNvPr id="559" name="Contributor label @LOGO127">
            <a:hlinkClick r:id="rId59"/>
          </p:cNvPr>
          <p:cNvSpPr txBox="1"/>
          <p:nvPr/>
        </p:nvSpPr>
        <p:spPr>
          <a:xfrm>
            <a:off x="7601158"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LOGO127</a:t>
            </a:r>
          </a:p>
        </p:txBody>
      </p:sp>
      <p:pic>
        <p:nvPicPr>
          <p:cNvPr id="560" name="Contributor @m0g3r" descr="m0g3r; merged PR author/coauthor">
            <a:hlinkClick r:id="rId61"/>
          </p:cNvPr>
          <p:cNvPicPr>
            <a:picLocks noChangeAspect="1"/>
          </p:cNvPicPr>
          <p:nvPr/>
        </p:nvPicPr>
        <p:blipFill>
          <a:blip r:embed="rId60"/>
          <a:stretch>
            <a:fillRect/>
          </a:stretch>
        </p:blipFill>
        <p:spPr>
          <a:xfrm>
            <a:off x="8929532" y="3154680"/>
            <a:ext cx="365760" cy="365760"/>
          </a:xfrm>
          <a:prstGeom prst="ellipse">
            <a:avLst/>
          </a:prstGeom>
        </p:spPr>
      </p:pic>
      <p:sp>
        <p:nvSpPr>
          <p:cNvPr id="561" name="Contributor label @m0g3r">
            <a:hlinkClick r:id="rId61"/>
          </p:cNvPr>
          <p:cNvSpPr txBox="1"/>
          <p:nvPr/>
        </p:nvSpPr>
        <p:spPr>
          <a:xfrm>
            <a:off x="860866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m0g3r</a:t>
            </a:r>
          </a:p>
        </p:txBody>
      </p:sp>
      <p:pic>
        <p:nvPicPr>
          <p:cNvPr id="562" name="Contributor @MrDongsls" descr="MrDongsls; merged PR author/coauthor">
            <a:hlinkClick r:id="rId63"/>
          </p:cNvPr>
          <p:cNvPicPr>
            <a:picLocks noChangeAspect="1"/>
          </p:cNvPicPr>
          <p:nvPr/>
        </p:nvPicPr>
        <p:blipFill>
          <a:blip r:embed="rId62"/>
          <a:stretch>
            <a:fillRect/>
          </a:stretch>
        </p:blipFill>
        <p:spPr>
          <a:xfrm>
            <a:off x="9937034" y="3154680"/>
            <a:ext cx="365760" cy="365760"/>
          </a:xfrm>
          <a:prstGeom prst="ellipse">
            <a:avLst/>
          </a:prstGeom>
        </p:spPr>
      </p:pic>
      <p:sp>
        <p:nvSpPr>
          <p:cNvPr id="563" name="Contributor label @MrDongsls">
            <a:hlinkClick r:id="rId63"/>
          </p:cNvPr>
          <p:cNvSpPr txBox="1"/>
          <p:nvPr/>
        </p:nvSpPr>
        <p:spPr>
          <a:xfrm>
            <a:off x="961616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MrDongsls</a:t>
            </a:r>
          </a:p>
        </p:txBody>
      </p:sp>
      <p:pic>
        <p:nvPicPr>
          <p:cNvPr id="564" name="Contributor @natureofnature" descr="natureofnature; merged PR author/coauthor">
            <a:hlinkClick r:id="rId65"/>
          </p:cNvPr>
          <p:cNvPicPr>
            <a:picLocks noChangeAspect="1"/>
          </p:cNvPicPr>
          <p:nvPr/>
        </p:nvPicPr>
        <p:blipFill>
          <a:blip r:embed="rId64"/>
          <a:stretch>
            <a:fillRect/>
          </a:stretch>
        </p:blipFill>
        <p:spPr>
          <a:xfrm>
            <a:off x="10944537" y="3154680"/>
            <a:ext cx="365760" cy="365760"/>
          </a:xfrm>
          <a:prstGeom prst="ellipse">
            <a:avLst/>
          </a:prstGeom>
        </p:spPr>
      </p:pic>
      <p:sp>
        <p:nvSpPr>
          <p:cNvPr id="565" name="Contributor label @natureofnature">
            <a:hlinkClick r:id="rId65"/>
          </p:cNvPr>
          <p:cNvSpPr txBox="1"/>
          <p:nvPr/>
        </p:nvSpPr>
        <p:spPr>
          <a:xfrm>
            <a:off x="1062366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natureofnature</a:t>
            </a:r>
          </a:p>
        </p:txBody>
      </p:sp>
      <p:pic>
        <p:nvPicPr>
          <p:cNvPr id="566" name="Contributor @NickCao" descr="NickCao; merged PR author/coauthor">
            <a:hlinkClick r:id="rId67"/>
          </p:cNvPr>
          <p:cNvPicPr>
            <a:picLocks noChangeAspect="1"/>
          </p:cNvPicPr>
          <p:nvPr/>
        </p:nvPicPr>
        <p:blipFill>
          <a:blip r:embed="rId66"/>
          <a:stretch>
            <a:fillRect/>
          </a:stretch>
        </p:blipFill>
        <p:spPr>
          <a:xfrm>
            <a:off x="869511" y="3703320"/>
            <a:ext cx="365760" cy="365760"/>
          </a:xfrm>
          <a:prstGeom prst="ellipse">
            <a:avLst/>
          </a:prstGeom>
        </p:spPr>
      </p:pic>
      <p:sp>
        <p:nvSpPr>
          <p:cNvPr id="567" name="Contributor label @NickCao">
            <a:hlinkClick r:id="rId67"/>
          </p:cNvPr>
          <p:cNvSpPr txBox="1"/>
          <p:nvPr/>
        </p:nvSpPr>
        <p:spPr>
          <a:xfrm>
            <a:off x="54864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NickCao</a:t>
            </a:r>
          </a:p>
        </p:txBody>
      </p:sp>
      <p:pic>
        <p:nvPicPr>
          <p:cNvPr id="568" name="Contributor @NolenLiang" descr="NolenLiang; merged PR author/coauthor">
            <a:hlinkClick r:id="rId69"/>
          </p:cNvPr>
          <p:cNvPicPr>
            <a:picLocks noChangeAspect="1"/>
          </p:cNvPicPr>
          <p:nvPr/>
        </p:nvPicPr>
        <p:blipFill>
          <a:blip r:embed="rId68"/>
          <a:stretch>
            <a:fillRect/>
          </a:stretch>
        </p:blipFill>
        <p:spPr>
          <a:xfrm>
            <a:off x="1877014" y="3703320"/>
            <a:ext cx="365760" cy="365760"/>
          </a:xfrm>
          <a:prstGeom prst="ellipse">
            <a:avLst/>
          </a:prstGeom>
        </p:spPr>
      </p:pic>
      <p:sp>
        <p:nvSpPr>
          <p:cNvPr id="569" name="Contributor label @NolenLiang">
            <a:hlinkClick r:id="rId69"/>
          </p:cNvPr>
          <p:cNvSpPr txBox="1"/>
          <p:nvPr/>
        </p:nvSpPr>
        <p:spPr>
          <a:xfrm>
            <a:off x="155614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NolenLiang</a:t>
            </a:r>
          </a:p>
        </p:txBody>
      </p:sp>
      <p:pic>
        <p:nvPicPr>
          <p:cNvPr id="570" name="Contributor @NumberWan" descr="NumberWan; merged PR author/coauthor">
            <a:hlinkClick r:id="rId71"/>
          </p:cNvPr>
          <p:cNvPicPr>
            <a:picLocks noChangeAspect="1"/>
          </p:cNvPicPr>
          <p:nvPr/>
        </p:nvPicPr>
        <p:blipFill>
          <a:blip r:embed="rId70"/>
          <a:stretch>
            <a:fillRect/>
          </a:stretch>
        </p:blipFill>
        <p:spPr>
          <a:xfrm>
            <a:off x="2884516" y="3703320"/>
            <a:ext cx="365760" cy="365760"/>
          </a:xfrm>
          <a:prstGeom prst="ellipse">
            <a:avLst/>
          </a:prstGeom>
        </p:spPr>
      </p:pic>
      <p:sp>
        <p:nvSpPr>
          <p:cNvPr id="571" name="Contributor label @NumberWan">
            <a:hlinkClick r:id="rId71"/>
          </p:cNvPr>
          <p:cNvSpPr txBox="1"/>
          <p:nvPr/>
        </p:nvSpPr>
        <p:spPr>
          <a:xfrm>
            <a:off x="256364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NumberWan</a:t>
            </a:r>
          </a:p>
        </p:txBody>
      </p:sp>
      <p:pic>
        <p:nvPicPr>
          <p:cNvPr id="572" name="Contributor @psv666" descr="psv666; merged PR author/coauthor">
            <a:hlinkClick r:id="rId73"/>
          </p:cNvPr>
          <p:cNvPicPr>
            <a:picLocks noChangeAspect="1"/>
          </p:cNvPicPr>
          <p:nvPr/>
        </p:nvPicPr>
        <p:blipFill>
          <a:blip r:embed="rId72"/>
          <a:stretch>
            <a:fillRect/>
          </a:stretch>
        </p:blipFill>
        <p:spPr>
          <a:xfrm>
            <a:off x="3892019" y="3703320"/>
            <a:ext cx="365760" cy="365760"/>
          </a:xfrm>
          <a:prstGeom prst="ellipse">
            <a:avLst/>
          </a:prstGeom>
        </p:spPr>
      </p:pic>
      <p:sp>
        <p:nvSpPr>
          <p:cNvPr id="573" name="Contributor label @psv666">
            <a:hlinkClick r:id="rId73"/>
          </p:cNvPr>
          <p:cNvSpPr txBox="1"/>
          <p:nvPr/>
        </p:nvSpPr>
        <p:spPr>
          <a:xfrm>
            <a:off x="3571148"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psv666</a:t>
            </a:r>
          </a:p>
        </p:txBody>
      </p:sp>
      <p:pic>
        <p:nvPicPr>
          <p:cNvPr id="574" name="Contributor @pujitha24" descr="pujitha24; merged PR author/coauthor">
            <a:hlinkClick r:id="rId75"/>
          </p:cNvPr>
          <p:cNvPicPr>
            <a:picLocks noChangeAspect="1"/>
          </p:cNvPicPr>
          <p:nvPr/>
        </p:nvPicPr>
        <p:blipFill>
          <a:blip r:embed="rId74"/>
          <a:stretch>
            <a:fillRect/>
          </a:stretch>
        </p:blipFill>
        <p:spPr>
          <a:xfrm>
            <a:off x="4899521" y="3703320"/>
            <a:ext cx="365760" cy="365760"/>
          </a:xfrm>
          <a:prstGeom prst="ellipse">
            <a:avLst/>
          </a:prstGeom>
        </p:spPr>
      </p:pic>
      <p:sp>
        <p:nvSpPr>
          <p:cNvPr id="575" name="Contributor label @pujitha24">
            <a:hlinkClick r:id="rId75"/>
          </p:cNvPr>
          <p:cNvSpPr txBox="1"/>
          <p:nvPr/>
        </p:nvSpPr>
        <p:spPr>
          <a:xfrm>
            <a:off x="457865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pujitha24</a:t>
            </a:r>
          </a:p>
        </p:txBody>
      </p:sp>
      <p:pic>
        <p:nvPicPr>
          <p:cNvPr id="576" name="Contributor @R2-Y" descr="R2-Y; merged PR author/coauthor">
            <a:hlinkClick r:id="rId77"/>
          </p:cNvPr>
          <p:cNvPicPr>
            <a:picLocks noChangeAspect="1"/>
          </p:cNvPicPr>
          <p:nvPr/>
        </p:nvPicPr>
        <p:blipFill>
          <a:blip r:embed="rId76"/>
          <a:stretch>
            <a:fillRect/>
          </a:stretch>
        </p:blipFill>
        <p:spPr>
          <a:xfrm>
            <a:off x="5907024" y="3703320"/>
            <a:ext cx="365760" cy="365760"/>
          </a:xfrm>
          <a:prstGeom prst="ellipse">
            <a:avLst/>
          </a:prstGeom>
        </p:spPr>
      </p:pic>
      <p:sp>
        <p:nvSpPr>
          <p:cNvPr id="577" name="Contributor label @R2-Y">
            <a:hlinkClick r:id="rId77"/>
          </p:cNvPr>
          <p:cNvSpPr txBox="1"/>
          <p:nvPr/>
        </p:nvSpPr>
        <p:spPr>
          <a:xfrm>
            <a:off x="558615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R2-Y</a:t>
            </a:r>
          </a:p>
        </p:txBody>
      </p:sp>
      <p:pic>
        <p:nvPicPr>
          <p:cNvPr id="578" name="Contributor @RyanYun09" descr="RyanYun09; merged PR author/coauthor">
            <a:hlinkClick r:id="rId79"/>
          </p:cNvPr>
          <p:cNvPicPr>
            <a:picLocks noChangeAspect="1"/>
          </p:cNvPicPr>
          <p:nvPr/>
        </p:nvPicPr>
        <p:blipFill>
          <a:blip r:embed="rId78"/>
          <a:stretch>
            <a:fillRect/>
          </a:stretch>
        </p:blipFill>
        <p:spPr>
          <a:xfrm>
            <a:off x="6914527" y="3703320"/>
            <a:ext cx="365760" cy="365760"/>
          </a:xfrm>
          <a:prstGeom prst="ellipse">
            <a:avLst/>
          </a:prstGeom>
        </p:spPr>
      </p:pic>
      <p:sp>
        <p:nvSpPr>
          <p:cNvPr id="579" name="Contributor label @RyanYun09">
            <a:hlinkClick r:id="rId79"/>
          </p:cNvPr>
          <p:cNvSpPr txBox="1"/>
          <p:nvPr/>
        </p:nvSpPr>
        <p:spPr>
          <a:xfrm>
            <a:off x="659365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RyanYun09</a:t>
            </a:r>
          </a:p>
        </p:txBody>
      </p:sp>
      <p:pic>
        <p:nvPicPr>
          <p:cNvPr id="580" name="Contributor @sphinxkkkbc" descr="sphinxkkkbc; merged PR author/coauthor">
            <a:hlinkClick r:id="rId81"/>
          </p:cNvPr>
          <p:cNvPicPr>
            <a:picLocks noChangeAspect="1"/>
          </p:cNvPicPr>
          <p:nvPr/>
        </p:nvPicPr>
        <p:blipFill>
          <a:blip r:embed="rId80"/>
          <a:stretch>
            <a:fillRect/>
          </a:stretch>
        </p:blipFill>
        <p:spPr>
          <a:xfrm>
            <a:off x="7922029" y="3703320"/>
            <a:ext cx="365760" cy="365760"/>
          </a:xfrm>
          <a:prstGeom prst="ellipse">
            <a:avLst/>
          </a:prstGeom>
        </p:spPr>
      </p:pic>
      <p:sp>
        <p:nvSpPr>
          <p:cNvPr id="581" name="Contributor label @sphinxkkkbc">
            <a:hlinkClick r:id="rId81"/>
          </p:cNvPr>
          <p:cNvSpPr txBox="1"/>
          <p:nvPr/>
        </p:nvSpPr>
        <p:spPr>
          <a:xfrm>
            <a:off x="7601158"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sphinxkkkbc</a:t>
            </a:r>
          </a:p>
        </p:txBody>
      </p:sp>
      <p:pic>
        <p:nvPicPr>
          <p:cNvPr id="582" name="Contributor @StormMelody" descr="StormMelody; merged PR author/coauthor">
            <a:hlinkClick r:id="rId83"/>
          </p:cNvPr>
          <p:cNvPicPr>
            <a:picLocks noChangeAspect="1"/>
          </p:cNvPicPr>
          <p:nvPr/>
        </p:nvPicPr>
        <p:blipFill>
          <a:blip r:embed="rId82"/>
          <a:stretch>
            <a:fillRect/>
          </a:stretch>
        </p:blipFill>
        <p:spPr>
          <a:xfrm>
            <a:off x="8929532" y="3703320"/>
            <a:ext cx="365760" cy="365760"/>
          </a:xfrm>
          <a:prstGeom prst="ellipse">
            <a:avLst/>
          </a:prstGeom>
        </p:spPr>
      </p:pic>
      <p:sp>
        <p:nvSpPr>
          <p:cNvPr id="583" name="Contributor label @StormMelody">
            <a:hlinkClick r:id="rId83"/>
          </p:cNvPr>
          <p:cNvSpPr txBox="1"/>
          <p:nvPr/>
        </p:nvSpPr>
        <p:spPr>
          <a:xfrm>
            <a:off x="860866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StormMelody</a:t>
            </a:r>
          </a:p>
        </p:txBody>
      </p:sp>
      <p:pic>
        <p:nvPicPr>
          <p:cNvPr id="584" name="Contributor @stringl1l1l1l" descr="stringl1l1l1l; merged PR author/coauthor">
            <a:hlinkClick r:id="rId85"/>
          </p:cNvPr>
          <p:cNvPicPr>
            <a:picLocks noChangeAspect="1"/>
          </p:cNvPicPr>
          <p:nvPr/>
        </p:nvPicPr>
        <p:blipFill>
          <a:blip r:embed="rId84"/>
          <a:stretch>
            <a:fillRect/>
          </a:stretch>
        </p:blipFill>
        <p:spPr>
          <a:xfrm>
            <a:off x="9937034" y="3703320"/>
            <a:ext cx="365760" cy="365760"/>
          </a:xfrm>
          <a:prstGeom prst="ellipse">
            <a:avLst/>
          </a:prstGeom>
        </p:spPr>
      </p:pic>
      <p:sp>
        <p:nvSpPr>
          <p:cNvPr id="585" name="Contributor label @stringl1l1l1l">
            <a:hlinkClick r:id="rId85"/>
          </p:cNvPr>
          <p:cNvSpPr txBox="1"/>
          <p:nvPr/>
        </p:nvSpPr>
        <p:spPr>
          <a:xfrm>
            <a:off x="961616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stringl1l1l1l</a:t>
            </a:r>
          </a:p>
        </p:txBody>
      </p:sp>
      <p:pic>
        <p:nvPicPr>
          <p:cNvPr id="586" name="Contributor @Sy0307" descr="Sy0307; merged PR author/coauthor">
            <a:hlinkClick r:id="rId87"/>
          </p:cNvPr>
          <p:cNvPicPr>
            <a:picLocks noChangeAspect="1"/>
          </p:cNvPicPr>
          <p:nvPr/>
        </p:nvPicPr>
        <p:blipFill>
          <a:blip r:embed="rId86"/>
          <a:stretch>
            <a:fillRect/>
          </a:stretch>
        </p:blipFill>
        <p:spPr>
          <a:xfrm>
            <a:off x="10944537" y="3703320"/>
            <a:ext cx="365760" cy="365760"/>
          </a:xfrm>
          <a:prstGeom prst="ellipse">
            <a:avLst/>
          </a:prstGeom>
        </p:spPr>
      </p:pic>
      <p:sp>
        <p:nvSpPr>
          <p:cNvPr id="587" name="Contributor label @Sy0307">
            <a:hlinkClick r:id="rId87"/>
          </p:cNvPr>
          <p:cNvSpPr txBox="1"/>
          <p:nvPr/>
        </p:nvSpPr>
        <p:spPr>
          <a:xfrm>
            <a:off x="1062366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Sy0307</a:t>
            </a:r>
          </a:p>
        </p:txBody>
      </p:sp>
      <p:pic>
        <p:nvPicPr>
          <p:cNvPr id="588" name="Contributor @tc-mb" descr="tc-mb; merged PR author/coauthor">
            <a:hlinkClick r:id="rId89"/>
          </p:cNvPr>
          <p:cNvPicPr>
            <a:picLocks noChangeAspect="1"/>
          </p:cNvPicPr>
          <p:nvPr/>
        </p:nvPicPr>
        <p:blipFill>
          <a:blip r:embed="rId88"/>
          <a:stretch>
            <a:fillRect/>
          </a:stretch>
        </p:blipFill>
        <p:spPr>
          <a:xfrm>
            <a:off x="869511" y="4251960"/>
            <a:ext cx="365760" cy="365760"/>
          </a:xfrm>
          <a:prstGeom prst="ellipse">
            <a:avLst/>
          </a:prstGeom>
        </p:spPr>
      </p:pic>
      <p:sp>
        <p:nvSpPr>
          <p:cNvPr id="589" name="Contributor label @tc-mb">
            <a:hlinkClick r:id="rId89"/>
          </p:cNvPr>
          <p:cNvSpPr txBox="1"/>
          <p:nvPr/>
        </p:nvSpPr>
        <p:spPr>
          <a:xfrm>
            <a:off x="54864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tc-mb</a:t>
            </a:r>
          </a:p>
        </p:txBody>
      </p:sp>
      <p:pic>
        <p:nvPicPr>
          <p:cNvPr id="590" name="Contributor @TheCodeWrangler" descr="TheCodeWrangler; merged PR author/coauthor">
            <a:hlinkClick r:id="rId91"/>
          </p:cNvPr>
          <p:cNvPicPr>
            <a:picLocks noChangeAspect="1"/>
          </p:cNvPicPr>
          <p:nvPr/>
        </p:nvPicPr>
        <p:blipFill>
          <a:blip r:embed="rId90"/>
          <a:stretch>
            <a:fillRect/>
          </a:stretch>
        </p:blipFill>
        <p:spPr>
          <a:xfrm>
            <a:off x="1877014" y="4251960"/>
            <a:ext cx="365760" cy="365760"/>
          </a:xfrm>
          <a:prstGeom prst="ellipse">
            <a:avLst/>
          </a:prstGeom>
        </p:spPr>
      </p:pic>
      <p:sp>
        <p:nvSpPr>
          <p:cNvPr id="591" name="Contributor label @TheCodeWrangler">
            <a:hlinkClick r:id="rId91"/>
          </p:cNvPr>
          <p:cNvSpPr txBox="1"/>
          <p:nvPr/>
        </p:nvSpPr>
        <p:spPr>
          <a:xfrm>
            <a:off x="155614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TheCodeWrangler</a:t>
            </a:r>
          </a:p>
        </p:txBody>
      </p:sp>
      <p:pic>
        <p:nvPicPr>
          <p:cNvPr id="592" name="Contributor @THUqliu" descr="THUqliu; merged PR author/coauthor">
            <a:hlinkClick r:id="rId93"/>
          </p:cNvPr>
          <p:cNvPicPr>
            <a:picLocks noChangeAspect="1"/>
          </p:cNvPicPr>
          <p:nvPr/>
        </p:nvPicPr>
        <p:blipFill>
          <a:blip r:embed="rId92"/>
          <a:stretch>
            <a:fillRect/>
          </a:stretch>
        </p:blipFill>
        <p:spPr>
          <a:xfrm>
            <a:off x="2884516" y="4251960"/>
            <a:ext cx="365760" cy="365760"/>
          </a:xfrm>
          <a:prstGeom prst="ellipse">
            <a:avLst/>
          </a:prstGeom>
        </p:spPr>
      </p:pic>
      <p:sp>
        <p:nvSpPr>
          <p:cNvPr id="593" name="Contributor label @THUqliu">
            <a:hlinkClick r:id="rId93"/>
          </p:cNvPr>
          <p:cNvSpPr txBox="1"/>
          <p:nvPr/>
        </p:nvSpPr>
        <p:spPr>
          <a:xfrm>
            <a:off x="256364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THUqliu</a:t>
            </a:r>
          </a:p>
        </p:txBody>
      </p:sp>
      <p:pic>
        <p:nvPicPr>
          <p:cNvPr id="594" name="Contributor @Tiagosf00" descr="Tiagosf00; merged PR author/coauthor">
            <a:hlinkClick r:id="rId95"/>
          </p:cNvPr>
          <p:cNvPicPr>
            <a:picLocks noChangeAspect="1"/>
          </p:cNvPicPr>
          <p:nvPr/>
        </p:nvPicPr>
        <p:blipFill>
          <a:blip r:embed="rId94"/>
          <a:stretch>
            <a:fillRect/>
          </a:stretch>
        </p:blipFill>
        <p:spPr>
          <a:xfrm>
            <a:off x="3892019" y="4251960"/>
            <a:ext cx="365760" cy="365760"/>
          </a:xfrm>
          <a:prstGeom prst="ellipse">
            <a:avLst/>
          </a:prstGeom>
        </p:spPr>
      </p:pic>
      <p:sp>
        <p:nvSpPr>
          <p:cNvPr id="595" name="Contributor label @Tiagosf00">
            <a:hlinkClick r:id="rId95"/>
          </p:cNvPr>
          <p:cNvSpPr txBox="1"/>
          <p:nvPr/>
        </p:nvSpPr>
        <p:spPr>
          <a:xfrm>
            <a:off x="3571148"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Tiagosf00</a:t>
            </a:r>
          </a:p>
        </p:txBody>
      </p:sp>
      <p:pic>
        <p:nvPicPr>
          <p:cNvPr id="596" name="Contributor @tlysanhuo" descr="tlysanhuo; merged PR author/coauthor">
            <a:hlinkClick r:id="rId97"/>
          </p:cNvPr>
          <p:cNvPicPr>
            <a:picLocks noChangeAspect="1"/>
          </p:cNvPicPr>
          <p:nvPr/>
        </p:nvPicPr>
        <p:blipFill>
          <a:blip r:embed="rId96"/>
          <a:stretch>
            <a:fillRect/>
          </a:stretch>
        </p:blipFill>
        <p:spPr>
          <a:xfrm>
            <a:off x="4899521" y="4251960"/>
            <a:ext cx="365760" cy="365760"/>
          </a:xfrm>
          <a:prstGeom prst="ellipse">
            <a:avLst/>
          </a:prstGeom>
        </p:spPr>
      </p:pic>
      <p:sp>
        <p:nvSpPr>
          <p:cNvPr id="597" name="Contributor label @tlysanhuo">
            <a:hlinkClick r:id="rId97"/>
          </p:cNvPr>
          <p:cNvSpPr txBox="1"/>
          <p:nvPr/>
        </p:nvSpPr>
        <p:spPr>
          <a:xfrm>
            <a:off x="457865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tlysanhuo</a:t>
            </a:r>
          </a:p>
        </p:txBody>
      </p:sp>
      <p:pic>
        <p:nvPicPr>
          <p:cNvPr id="598" name="Contributor @twu3202" descr="twu3202; merged PR author/coauthor">
            <a:hlinkClick r:id="rId99"/>
          </p:cNvPr>
          <p:cNvPicPr>
            <a:picLocks noChangeAspect="1"/>
          </p:cNvPicPr>
          <p:nvPr/>
        </p:nvPicPr>
        <p:blipFill>
          <a:blip r:embed="rId98"/>
          <a:stretch>
            <a:fillRect/>
          </a:stretch>
        </p:blipFill>
        <p:spPr>
          <a:xfrm>
            <a:off x="5907024" y="4251960"/>
            <a:ext cx="365760" cy="365760"/>
          </a:xfrm>
          <a:prstGeom prst="ellipse">
            <a:avLst/>
          </a:prstGeom>
        </p:spPr>
      </p:pic>
      <p:sp>
        <p:nvSpPr>
          <p:cNvPr id="599" name="Contributor label @twu3202">
            <a:hlinkClick r:id="rId99"/>
          </p:cNvPr>
          <p:cNvSpPr txBox="1"/>
          <p:nvPr/>
        </p:nvSpPr>
        <p:spPr>
          <a:xfrm>
            <a:off x="558615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twu3202</a:t>
            </a:r>
          </a:p>
        </p:txBody>
      </p:sp>
      <p:pic>
        <p:nvPicPr>
          <p:cNvPr id="600" name="Contributor @vraiti" descr="vraiti; merged PR author/coauthor">
            <a:hlinkClick r:id="rId133"/>
          </p:cNvPr>
          <p:cNvPicPr>
            <a:picLocks noChangeAspect="1"/>
          </p:cNvPicPr>
          <p:nvPr/>
        </p:nvPicPr>
        <p:blipFill>
          <a:blip r:embed="rId132"/>
          <a:stretch>
            <a:fillRect/>
          </a:stretch>
        </p:blipFill>
        <p:spPr>
          <a:xfrm>
            <a:off x="6914527" y="4251960"/>
            <a:ext cx="365760" cy="365760"/>
          </a:xfrm>
          <a:prstGeom prst="ellipse">
            <a:avLst/>
          </a:prstGeom>
        </p:spPr>
      </p:pic>
      <p:sp>
        <p:nvSpPr>
          <p:cNvPr id="601" name="Contributor label @vraiti">
            <a:hlinkClick r:id="rId133"/>
          </p:cNvPr>
          <p:cNvSpPr txBox="1"/>
          <p:nvPr/>
        </p:nvSpPr>
        <p:spPr>
          <a:xfrm>
            <a:off x="659365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vraiti</a:t>
            </a:r>
          </a:p>
        </p:txBody>
      </p:sp>
      <p:pic>
        <p:nvPicPr>
          <p:cNvPr id="602" name="Contributor @vuuihc" descr="vuuihc; merged PR author/coauthor">
            <a:hlinkClick r:id="rId101"/>
          </p:cNvPr>
          <p:cNvPicPr>
            <a:picLocks noChangeAspect="1"/>
          </p:cNvPicPr>
          <p:nvPr/>
        </p:nvPicPr>
        <p:blipFill>
          <a:blip r:embed="rId100"/>
          <a:stretch>
            <a:fillRect/>
          </a:stretch>
        </p:blipFill>
        <p:spPr>
          <a:xfrm>
            <a:off x="7922029" y="4251960"/>
            <a:ext cx="365760" cy="365760"/>
          </a:xfrm>
          <a:prstGeom prst="ellipse">
            <a:avLst/>
          </a:prstGeom>
        </p:spPr>
      </p:pic>
      <p:sp>
        <p:nvSpPr>
          <p:cNvPr id="603" name="Contributor label @vuuihc">
            <a:hlinkClick r:id="rId101"/>
          </p:cNvPr>
          <p:cNvSpPr txBox="1"/>
          <p:nvPr/>
        </p:nvSpPr>
        <p:spPr>
          <a:xfrm>
            <a:off x="7601158"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vuuihc</a:t>
            </a:r>
          </a:p>
        </p:txBody>
      </p:sp>
      <p:pic>
        <p:nvPicPr>
          <p:cNvPr id="604" name="Contributor @wuli666" descr="wuli666; merged PR author/coauthor">
            <a:hlinkClick r:id="rId103"/>
          </p:cNvPr>
          <p:cNvPicPr>
            <a:picLocks noChangeAspect="1"/>
          </p:cNvPicPr>
          <p:nvPr/>
        </p:nvPicPr>
        <p:blipFill>
          <a:blip r:embed="rId102"/>
          <a:stretch>
            <a:fillRect/>
          </a:stretch>
        </p:blipFill>
        <p:spPr>
          <a:xfrm>
            <a:off x="8929532" y="4251960"/>
            <a:ext cx="365760" cy="365760"/>
          </a:xfrm>
          <a:prstGeom prst="ellipse">
            <a:avLst/>
          </a:prstGeom>
        </p:spPr>
      </p:pic>
      <p:sp>
        <p:nvSpPr>
          <p:cNvPr id="605" name="Contributor label @wuli666">
            <a:hlinkClick r:id="rId103"/>
          </p:cNvPr>
          <p:cNvSpPr txBox="1"/>
          <p:nvPr/>
        </p:nvSpPr>
        <p:spPr>
          <a:xfrm>
            <a:off x="860866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wuli666</a:t>
            </a:r>
          </a:p>
        </p:txBody>
      </p:sp>
      <p:pic>
        <p:nvPicPr>
          <p:cNvPr id="606" name="Contributor @xsmccc" descr="xsmccc; merged PR author/coauthor">
            <a:hlinkClick r:id="rId105"/>
          </p:cNvPr>
          <p:cNvPicPr>
            <a:picLocks noChangeAspect="1"/>
          </p:cNvPicPr>
          <p:nvPr/>
        </p:nvPicPr>
        <p:blipFill>
          <a:blip r:embed="rId104"/>
          <a:stretch>
            <a:fillRect/>
          </a:stretch>
        </p:blipFill>
        <p:spPr>
          <a:xfrm>
            <a:off x="9937034" y="4251960"/>
            <a:ext cx="365760" cy="365760"/>
          </a:xfrm>
          <a:prstGeom prst="ellipse">
            <a:avLst/>
          </a:prstGeom>
        </p:spPr>
      </p:pic>
      <p:sp>
        <p:nvSpPr>
          <p:cNvPr id="607" name="Contributor label @xsmccc">
            <a:hlinkClick r:id="rId105"/>
          </p:cNvPr>
          <p:cNvSpPr txBox="1"/>
          <p:nvPr/>
        </p:nvSpPr>
        <p:spPr>
          <a:xfrm>
            <a:off x="961616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xsmccc</a:t>
            </a:r>
          </a:p>
        </p:txBody>
      </p:sp>
      <p:pic>
        <p:nvPicPr>
          <p:cNvPr id="608" name="Contributor @xuhuan51" descr="xuhuan51; merged PR author/coauthor">
            <a:hlinkClick r:id="rId135"/>
          </p:cNvPr>
          <p:cNvPicPr>
            <a:picLocks noChangeAspect="1"/>
          </p:cNvPicPr>
          <p:nvPr/>
        </p:nvPicPr>
        <p:blipFill>
          <a:blip r:embed="rId134"/>
          <a:stretch>
            <a:fillRect/>
          </a:stretch>
        </p:blipFill>
        <p:spPr>
          <a:xfrm>
            <a:off x="10944537" y="4251960"/>
            <a:ext cx="365760" cy="365760"/>
          </a:xfrm>
          <a:prstGeom prst="ellipse">
            <a:avLst/>
          </a:prstGeom>
        </p:spPr>
      </p:pic>
      <p:sp>
        <p:nvSpPr>
          <p:cNvPr id="609" name="Contributor label @xuhuan51">
            <a:hlinkClick r:id="rId135"/>
          </p:cNvPr>
          <p:cNvSpPr txBox="1"/>
          <p:nvPr/>
        </p:nvSpPr>
        <p:spPr>
          <a:xfrm>
            <a:off x="1062366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xuhuan51</a:t>
            </a:r>
          </a:p>
        </p:txBody>
      </p:sp>
      <p:pic>
        <p:nvPicPr>
          <p:cNvPr id="610" name="Contributor @y-null" descr="y-null; merged PR author/coauthor">
            <a:hlinkClick r:id="rId107"/>
          </p:cNvPr>
          <p:cNvPicPr>
            <a:picLocks noChangeAspect="1"/>
          </p:cNvPicPr>
          <p:nvPr/>
        </p:nvPicPr>
        <p:blipFill>
          <a:blip r:embed="rId106"/>
          <a:stretch>
            <a:fillRect/>
          </a:stretch>
        </p:blipFill>
        <p:spPr>
          <a:xfrm>
            <a:off x="2884516" y="4800600"/>
            <a:ext cx="365760" cy="365760"/>
          </a:xfrm>
          <a:prstGeom prst="ellipse">
            <a:avLst/>
          </a:prstGeom>
        </p:spPr>
      </p:pic>
      <p:sp>
        <p:nvSpPr>
          <p:cNvPr id="611" name="Contributor label @y-null">
            <a:hlinkClick r:id="rId107"/>
          </p:cNvPr>
          <p:cNvSpPr txBox="1"/>
          <p:nvPr/>
        </p:nvSpPr>
        <p:spPr>
          <a:xfrm>
            <a:off x="2563645"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y-null</a:t>
            </a:r>
          </a:p>
        </p:txBody>
      </p:sp>
      <p:pic>
        <p:nvPicPr>
          <p:cNvPr id="612" name="Contributor @yenuo26" descr="yenuo26; merged PR author/coauthor">
            <a:hlinkClick r:id="rId109"/>
          </p:cNvPr>
          <p:cNvPicPr>
            <a:picLocks noChangeAspect="1"/>
          </p:cNvPicPr>
          <p:nvPr/>
        </p:nvPicPr>
        <p:blipFill>
          <a:blip r:embed="rId108"/>
          <a:stretch>
            <a:fillRect/>
          </a:stretch>
        </p:blipFill>
        <p:spPr>
          <a:xfrm>
            <a:off x="3892019" y="4800600"/>
            <a:ext cx="365760" cy="365760"/>
          </a:xfrm>
          <a:prstGeom prst="ellipse">
            <a:avLst/>
          </a:prstGeom>
        </p:spPr>
      </p:pic>
      <p:sp>
        <p:nvSpPr>
          <p:cNvPr id="613" name="Contributor label @yenuo26">
            <a:hlinkClick r:id="rId109"/>
          </p:cNvPr>
          <p:cNvSpPr txBox="1"/>
          <p:nvPr/>
        </p:nvSpPr>
        <p:spPr>
          <a:xfrm>
            <a:off x="3571148"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yenuo26</a:t>
            </a:r>
          </a:p>
        </p:txBody>
      </p:sp>
      <p:pic>
        <p:nvPicPr>
          <p:cNvPr id="614" name="Contributor @yuekaizhang" descr="yuekaizhang; merged PR author/coauthor">
            <a:hlinkClick r:id="rId111"/>
          </p:cNvPr>
          <p:cNvPicPr>
            <a:picLocks noChangeAspect="1"/>
          </p:cNvPicPr>
          <p:nvPr/>
        </p:nvPicPr>
        <p:blipFill>
          <a:blip r:embed="rId110"/>
          <a:stretch>
            <a:fillRect/>
          </a:stretch>
        </p:blipFill>
        <p:spPr>
          <a:xfrm>
            <a:off x="4899521" y="4800600"/>
            <a:ext cx="365760" cy="365760"/>
          </a:xfrm>
          <a:prstGeom prst="ellipse">
            <a:avLst/>
          </a:prstGeom>
        </p:spPr>
      </p:pic>
      <p:sp>
        <p:nvSpPr>
          <p:cNvPr id="615" name="Contributor label @yuekaizhang">
            <a:hlinkClick r:id="rId111"/>
          </p:cNvPr>
          <p:cNvSpPr txBox="1"/>
          <p:nvPr/>
        </p:nvSpPr>
        <p:spPr>
          <a:xfrm>
            <a:off x="4578650"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yuekaizhang</a:t>
            </a:r>
          </a:p>
        </p:txBody>
      </p:sp>
      <p:pic>
        <p:nvPicPr>
          <p:cNvPr id="616" name="Contributor @ZacheryAU" descr="ZacheryAU; merged PR author/coauthor">
            <a:hlinkClick r:id="rId113"/>
          </p:cNvPr>
          <p:cNvPicPr>
            <a:picLocks noChangeAspect="1"/>
          </p:cNvPicPr>
          <p:nvPr/>
        </p:nvPicPr>
        <p:blipFill>
          <a:blip r:embed="rId112"/>
          <a:stretch>
            <a:fillRect/>
          </a:stretch>
        </p:blipFill>
        <p:spPr>
          <a:xfrm>
            <a:off x="5907024" y="4800600"/>
            <a:ext cx="365760" cy="365760"/>
          </a:xfrm>
          <a:prstGeom prst="ellipse">
            <a:avLst/>
          </a:prstGeom>
        </p:spPr>
      </p:pic>
      <p:sp>
        <p:nvSpPr>
          <p:cNvPr id="617" name="Contributor label @ZacheryAU">
            <a:hlinkClick r:id="rId113"/>
          </p:cNvPr>
          <p:cNvSpPr txBox="1"/>
          <p:nvPr/>
        </p:nvSpPr>
        <p:spPr>
          <a:xfrm>
            <a:off x="5586153"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ZacheryAU</a:t>
            </a:r>
          </a:p>
        </p:txBody>
      </p:sp>
      <p:pic>
        <p:nvPicPr>
          <p:cNvPr id="618" name="Contributor @ZhengWG" descr="ZhengWG; merged PR author/coauthor">
            <a:hlinkClick r:id="rId137"/>
          </p:cNvPr>
          <p:cNvPicPr>
            <a:picLocks noChangeAspect="1"/>
          </p:cNvPicPr>
          <p:nvPr/>
        </p:nvPicPr>
        <p:blipFill>
          <a:blip r:embed="rId136"/>
          <a:stretch>
            <a:fillRect/>
          </a:stretch>
        </p:blipFill>
        <p:spPr>
          <a:xfrm>
            <a:off x="6914527" y="4800600"/>
            <a:ext cx="365760" cy="365760"/>
          </a:xfrm>
          <a:prstGeom prst="ellipse">
            <a:avLst/>
          </a:prstGeom>
        </p:spPr>
      </p:pic>
      <p:sp>
        <p:nvSpPr>
          <p:cNvPr id="619" name="Contributor label @ZhengWG">
            <a:hlinkClick r:id="rId137"/>
          </p:cNvPr>
          <p:cNvSpPr txBox="1"/>
          <p:nvPr/>
        </p:nvSpPr>
        <p:spPr>
          <a:xfrm>
            <a:off x="6593655"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ZhengWG</a:t>
            </a:r>
          </a:p>
        </p:txBody>
      </p:sp>
      <p:pic>
        <p:nvPicPr>
          <p:cNvPr id="620" name="Contributor @Zhou248" descr="Zhou248; merged PR author/coauthor">
            <a:hlinkClick r:id="rId115"/>
          </p:cNvPr>
          <p:cNvPicPr>
            <a:picLocks noChangeAspect="1"/>
          </p:cNvPicPr>
          <p:nvPr/>
        </p:nvPicPr>
        <p:blipFill>
          <a:blip r:embed="rId114"/>
          <a:stretch>
            <a:fillRect/>
          </a:stretch>
        </p:blipFill>
        <p:spPr>
          <a:xfrm>
            <a:off x="7922029" y="4800600"/>
            <a:ext cx="365760" cy="365760"/>
          </a:xfrm>
          <a:prstGeom prst="ellipse">
            <a:avLst/>
          </a:prstGeom>
        </p:spPr>
      </p:pic>
      <p:sp>
        <p:nvSpPr>
          <p:cNvPr id="621" name="Contributor label @Zhou248">
            <a:hlinkClick r:id="rId115"/>
          </p:cNvPr>
          <p:cNvSpPr txBox="1"/>
          <p:nvPr/>
        </p:nvSpPr>
        <p:spPr>
          <a:xfrm>
            <a:off x="7601158"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Zhou248</a:t>
            </a:r>
          </a:p>
        </p:txBody>
      </p:sp>
      <p:pic>
        <p:nvPicPr>
          <p:cNvPr id="622" name="Contributor @zyforsure" descr="zyforsure; merged PR author/coauthor">
            <a:hlinkClick r:id="rId117"/>
          </p:cNvPr>
          <p:cNvPicPr>
            <a:picLocks noChangeAspect="1"/>
          </p:cNvPicPr>
          <p:nvPr/>
        </p:nvPicPr>
        <p:blipFill>
          <a:blip r:embed="rId116"/>
          <a:stretch>
            <a:fillRect/>
          </a:stretch>
        </p:blipFill>
        <p:spPr>
          <a:xfrm>
            <a:off x="8929532" y="4800600"/>
            <a:ext cx="365760" cy="365760"/>
          </a:xfrm>
          <a:prstGeom prst="ellipse">
            <a:avLst/>
          </a:prstGeom>
        </p:spPr>
      </p:pic>
      <p:sp>
        <p:nvSpPr>
          <p:cNvPr id="623" name="Contributor label @zyforsure">
            <a:hlinkClick r:id="rId117"/>
          </p:cNvPr>
          <p:cNvSpPr txBox="1"/>
          <p:nvPr/>
        </p:nvSpPr>
        <p:spPr>
          <a:xfrm>
            <a:off x="8608660"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zyforsure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EXPERIENCE &amp; INTERACTION</a:t>
            </a:r>
          </a:p>
        </p:txBody>
      </p:sp>
      <p:cxnSp>
        <p:nvCxnSpPr>
          <p:cNvPr id="6" name="Connector 5"/>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8" name="TextBox 7"/>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9" name="TextBox 8"/>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02 / 12</a:t>
            </a:r>
          </a:p>
        </p:txBody>
      </p:sp>
      <p:sp>
        <p:nvSpPr>
          <p:cNvPr id="500" name="From Half-Duplex to Full-Duplex Interaction"/>
          <p:cNvSpPr txBox="1"/>
          <p:nvPr/>
        </p:nvSpPr>
        <p:spPr>
          <a:xfrm>
            <a:off x="548640" y="1005840"/>
            <a:ext cx="11082528" cy="576072"/>
          </a:xfrm>
          <a:prstGeom prst="rect">
            <a:avLst/>
          </a:prstGeom>
          <a:noFill/>
        </p:spPr>
        <p:txBody>
          <a:bodyPr wrap="square" lIns="0" rIns="0" tIns="0" bIns="0" anchor="t">
            <a:spAutoFit/>
          </a:bodyPr>
          <a:lstStyle/>
          <a:p>
            <a:pPr algn="l">
              <a:lnSpc>
                <a:spcPct val="110000"/>
              </a:lnSpc>
              <a:spcAft>
                <a:spcPts val="0"/>
              </a:spcAft>
            </a:pPr>
            <a:r>
              <a:rPr sz="3150" b="1">
                <a:solidFill>
                  <a:srgbClr val="16304E"/>
                </a:solidFill>
                <a:latin typeface="Arial"/>
                <a:ea typeface="Arial"/>
                <a:cs typeface="Arial"/>
              </a:rPr>
              <a:t>From Half-Duplex to Full-Duplex Interaction</a:t>
            </a:r>
          </a:p>
        </p:txBody>
      </p:sp>
      <p:sp>
        <p:nvSpPr>
          <p:cNvPr id="501" name="Half-duplex timeline"/>
          <p:cNvSpPr/>
          <p:nvPr/>
        </p:nvSpPr>
        <p:spPr>
          <a:xfrm>
            <a:off x="548640" y="1828800"/>
            <a:ext cx="5321808" cy="2615184"/>
          </a:xfrm>
          <a:prstGeom prst="roundRect">
            <a:avLst>
              <a:gd name="adj" fmla="val 10000"/>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2" name="Half-duplex"/>
          <p:cNvSpPr txBox="1"/>
          <p:nvPr/>
        </p:nvSpPr>
        <p:spPr>
          <a:xfrm>
            <a:off x="841248" y="1975104"/>
            <a:ext cx="4709160" cy="338328"/>
          </a:xfrm>
          <a:prstGeom prst="rect">
            <a:avLst/>
          </a:prstGeom>
          <a:noFill/>
        </p:spPr>
        <p:txBody>
          <a:bodyPr wrap="square" lIns="0" rIns="0" tIns="0" bIns="0" anchor="t">
            <a:spAutoFit/>
          </a:bodyPr>
          <a:lstStyle/>
          <a:p>
            <a:pPr algn="l">
              <a:lnSpc>
                <a:spcPct val="110000"/>
              </a:lnSpc>
              <a:spcAft>
                <a:spcPts val="0"/>
              </a:spcAft>
            </a:pPr>
            <a:r>
              <a:rPr sz="2200" b="1">
                <a:solidFill>
                  <a:srgbClr val="FFFFFF"/>
                </a:solidFill>
                <a:latin typeface="Arial"/>
                <a:ea typeface="Arial"/>
                <a:cs typeface="Arial"/>
              </a:rPr>
              <a:t>Half-duplex</a:t>
            </a:r>
          </a:p>
        </p:txBody>
      </p:sp>
      <p:sp>
        <p:nvSpPr>
          <p:cNvPr id="503" name="Taking turns"/>
          <p:cNvSpPr txBox="1"/>
          <p:nvPr/>
        </p:nvSpPr>
        <p:spPr>
          <a:xfrm>
            <a:off x="850392" y="2368296"/>
            <a:ext cx="4681728" cy="246888"/>
          </a:xfrm>
          <a:prstGeom prst="rect">
            <a:avLst/>
          </a:prstGeom>
          <a:noFill/>
        </p:spPr>
        <p:txBody>
          <a:bodyPr wrap="square" lIns="0" rIns="0" tIns="0" bIns="0" anchor="t">
            <a:spAutoFit/>
          </a:bodyPr>
          <a:lstStyle/>
          <a:p>
            <a:pPr algn="l">
              <a:lnSpc>
                <a:spcPct val="110000"/>
              </a:lnSpc>
              <a:spcAft>
                <a:spcPts val="0"/>
              </a:spcAft>
            </a:pPr>
            <a:r>
              <a:rPr sz="1300" b="0">
                <a:solidFill>
                  <a:srgbClr val="AFCAE7"/>
                </a:solidFill>
                <a:latin typeface="Arial"/>
                <a:ea typeface="Arial"/>
                <a:cs typeface="Arial"/>
              </a:rPr>
              <a:t>Taking turns</a:t>
            </a:r>
          </a:p>
        </p:txBody>
      </p:sp>
      <p:sp>
        <p:nvSpPr>
          <p:cNvPr id="504" name="Camera"/>
          <p:cNvSpPr txBox="1"/>
          <p:nvPr/>
        </p:nvSpPr>
        <p:spPr>
          <a:xfrm>
            <a:off x="850392" y="2752344"/>
            <a:ext cx="786384" cy="219456"/>
          </a:xfrm>
          <a:prstGeom prst="rect">
            <a:avLst/>
          </a:prstGeom>
          <a:noFill/>
        </p:spPr>
        <p:txBody>
          <a:bodyPr wrap="square" lIns="0" rIns="0" tIns="0" bIns="0" anchor="t">
            <a:spAutoFit/>
          </a:bodyPr>
          <a:lstStyle/>
          <a:p>
            <a:pPr algn="l">
              <a:lnSpc>
                <a:spcPct val="110000"/>
              </a:lnSpc>
              <a:spcAft>
                <a:spcPts val="0"/>
              </a:spcAft>
            </a:pPr>
            <a:r>
              <a:rPr sz="1150" b="0">
                <a:solidFill>
                  <a:srgbClr val="AFCAE7"/>
                </a:solidFill>
                <a:latin typeface="Arial"/>
                <a:ea typeface="Arial"/>
                <a:cs typeface="Arial"/>
              </a:rPr>
              <a:t>Camera</a:t>
            </a:r>
          </a:p>
        </p:txBody>
      </p:sp>
      <p:sp>
        <p:nvSpPr>
          <p:cNvPr id="505" name="User"/>
          <p:cNvSpPr txBox="1"/>
          <p:nvPr/>
        </p:nvSpPr>
        <p:spPr>
          <a:xfrm>
            <a:off x="850392" y="3227832"/>
            <a:ext cx="786384" cy="219456"/>
          </a:xfrm>
          <a:prstGeom prst="rect">
            <a:avLst/>
          </a:prstGeom>
          <a:noFill/>
        </p:spPr>
        <p:txBody>
          <a:bodyPr wrap="square" lIns="0" rIns="0" tIns="0" bIns="0" anchor="t">
            <a:spAutoFit/>
          </a:bodyPr>
          <a:lstStyle/>
          <a:p>
            <a:pPr algn="l">
              <a:lnSpc>
                <a:spcPct val="110000"/>
              </a:lnSpc>
              <a:spcAft>
                <a:spcPts val="0"/>
              </a:spcAft>
            </a:pPr>
            <a:r>
              <a:rPr sz="1200" b="0">
                <a:solidFill>
                  <a:srgbClr val="AFCAE7"/>
                </a:solidFill>
                <a:latin typeface="Arial"/>
                <a:ea typeface="Arial"/>
                <a:cs typeface="Arial"/>
              </a:rPr>
              <a:t>User</a:t>
            </a:r>
          </a:p>
        </p:txBody>
      </p:sp>
      <p:sp>
        <p:nvSpPr>
          <p:cNvPr id="506" name="Assistant"/>
          <p:cNvSpPr txBox="1"/>
          <p:nvPr/>
        </p:nvSpPr>
        <p:spPr>
          <a:xfrm>
            <a:off x="850392" y="3822192"/>
            <a:ext cx="786384" cy="219456"/>
          </a:xfrm>
          <a:prstGeom prst="rect">
            <a:avLst/>
          </a:prstGeom>
          <a:noFill/>
        </p:spPr>
        <p:txBody>
          <a:bodyPr wrap="square" lIns="0" rIns="0" tIns="0" bIns="0" anchor="t">
            <a:spAutoFit/>
          </a:bodyPr>
          <a:lstStyle/>
          <a:p>
            <a:pPr algn="l">
              <a:lnSpc>
                <a:spcPct val="110000"/>
              </a:lnSpc>
              <a:spcAft>
                <a:spcPts val="0"/>
              </a:spcAft>
            </a:pPr>
            <a:r>
              <a:rPr sz="1150" b="0">
                <a:solidFill>
                  <a:srgbClr val="A9E5DF"/>
                </a:solidFill>
                <a:latin typeface="Arial"/>
                <a:ea typeface="Arial"/>
                <a:cs typeface="Arial"/>
              </a:rPr>
              <a:t>Assistant</a:t>
            </a:r>
          </a:p>
        </p:txBody>
      </p:sp>
      <p:cxnSp>
        <p:nvCxnSpPr>
          <p:cNvPr id="507" name="Shared time axis"/>
          <p:cNvCxnSpPr/>
          <p:nvPr/>
        </p:nvCxnSpPr>
        <p:spPr>
          <a:xfrm>
            <a:off x="1737360" y="3346704"/>
            <a:ext cx="3749040" cy="0"/>
          </a:xfrm>
          <a:prstGeom prst="line">
            <a:avLst/>
          </a:prstGeom>
          <a:ln w="12700">
            <a:solidFill>
              <a:srgbClr val="314E68"/>
            </a:solidFill>
          </a:ln>
          <a:effectLst/>
        </p:spPr>
        <p:style>
          <a:lnRef idx="2">
            <a:schemeClr val="accent1"/>
          </a:lnRef>
          <a:fillRef idx="0">
            <a:schemeClr val="accent1"/>
          </a:fillRef>
          <a:effectRef idx="0">
            <a:schemeClr val="accent1"/>
          </a:effectRef>
          <a:fontRef idx="minor">
            <a:schemeClr val="tx1"/>
          </a:fontRef>
        </p:style>
      </p:cxnSp>
      <p:cxnSp>
        <p:nvCxnSpPr>
          <p:cNvPr id="508" name="Shared time axis"/>
          <p:cNvCxnSpPr/>
          <p:nvPr/>
        </p:nvCxnSpPr>
        <p:spPr>
          <a:xfrm>
            <a:off x="1737360" y="3941064"/>
            <a:ext cx="3749040" cy="0"/>
          </a:xfrm>
          <a:prstGeom prst="line">
            <a:avLst/>
          </a:prstGeom>
          <a:ln w="12700">
            <a:solidFill>
              <a:srgbClr val="314E68"/>
            </a:solidFill>
          </a:ln>
          <a:effectLst/>
        </p:spPr>
        <p:style>
          <a:lnRef idx="2">
            <a:schemeClr val="accent1"/>
          </a:lnRef>
          <a:fillRef idx="0">
            <a:schemeClr val="accent1"/>
          </a:fillRef>
          <a:effectRef idx="0">
            <a:schemeClr val="accent1"/>
          </a:effectRef>
          <a:fontRef idx="minor">
            <a:schemeClr val="tx1"/>
          </a:fontRef>
        </p:style>
      </p:cxnSp>
      <p:sp>
        <p:nvSpPr>
          <p:cNvPr id="509" name="Full-duplex timeline"/>
          <p:cNvSpPr/>
          <p:nvPr/>
        </p:nvSpPr>
        <p:spPr>
          <a:xfrm>
            <a:off x="6309360" y="1828800"/>
            <a:ext cx="5321808" cy="2615184"/>
          </a:xfrm>
          <a:prstGeom prst="roundRect">
            <a:avLst>
              <a:gd name="adj" fmla="val 10000"/>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0" name="Full-duplex"/>
          <p:cNvSpPr txBox="1"/>
          <p:nvPr/>
        </p:nvSpPr>
        <p:spPr>
          <a:xfrm>
            <a:off x="6601968" y="1975104"/>
            <a:ext cx="4709160" cy="338328"/>
          </a:xfrm>
          <a:prstGeom prst="rect">
            <a:avLst/>
          </a:prstGeom>
          <a:noFill/>
        </p:spPr>
        <p:txBody>
          <a:bodyPr wrap="square" lIns="0" rIns="0" tIns="0" bIns="0" anchor="t">
            <a:spAutoFit/>
          </a:bodyPr>
          <a:lstStyle/>
          <a:p>
            <a:pPr algn="l">
              <a:lnSpc>
                <a:spcPct val="110000"/>
              </a:lnSpc>
              <a:spcAft>
                <a:spcPts val="0"/>
              </a:spcAft>
            </a:pPr>
            <a:r>
              <a:rPr sz="2200" b="1">
                <a:solidFill>
                  <a:srgbClr val="FFFFFF"/>
                </a:solidFill>
                <a:latin typeface="Arial"/>
                <a:ea typeface="Arial"/>
                <a:cs typeface="Arial"/>
              </a:rPr>
              <a:t>Full-duplex</a:t>
            </a:r>
          </a:p>
        </p:txBody>
      </p:sp>
      <p:sp>
        <p:nvSpPr>
          <p:cNvPr id="511" name="Listening while speaking"/>
          <p:cNvSpPr txBox="1"/>
          <p:nvPr/>
        </p:nvSpPr>
        <p:spPr>
          <a:xfrm>
            <a:off x="6611112" y="2368296"/>
            <a:ext cx="4681728" cy="246888"/>
          </a:xfrm>
          <a:prstGeom prst="rect">
            <a:avLst/>
          </a:prstGeom>
          <a:noFill/>
        </p:spPr>
        <p:txBody>
          <a:bodyPr wrap="square" lIns="0" rIns="0" tIns="0" bIns="0" anchor="t">
            <a:spAutoFit/>
          </a:bodyPr>
          <a:lstStyle/>
          <a:p>
            <a:pPr algn="l">
              <a:lnSpc>
                <a:spcPct val="110000"/>
              </a:lnSpc>
              <a:spcAft>
                <a:spcPts val="0"/>
              </a:spcAft>
            </a:pPr>
            <a:r>
              <a:rPr sz="1300" b="0">
                <a:solidFill>
                  <a:srgbClr val="AFCAE7"/>
                </a:solidFill>
                <a:latin typeface="Arial"/>
                <a:ea typeface="Arial"/>
                <a:cs typeface="Arial"/>
              </a:rPr>
              <a:t>Listening while speaking</a:t>
            </a:r>
          </a:p>
        </p:txBody>
      </p:sp>
      <p:sp>
        <p:nvSpPr>
          <p:cNvPr id="512" name="Camera"/>
          <p:cNvSpPr txBox="1"/>
          <p:nvPr/>
        </p:nvSpPr>
        <p:spPr>
          <a:xfrm>
            <a:off x="6611112" y="2752344"/>
            <a:ext cx="786384" cy="219456"/>
          </a:xfrm>
          <a:prstGeom prst="rect">
            <a:avLst/>
          </a:prstGeom>
          <a:noFill/>
        </p:spPr>
        <p:txBody>
          <a:bodyPr wrap="square" lIns="0" rIns="0" tIns="0" bIns="0" anchor="t">
            <a:spAutoFit/>
          </a:bodyPr>
          <a:lstStyle/>
          <a:p>
            <a:pPr algn="l">
              <a:lnSpc>
                <a:spcPct val="110000"/>
              </a:lnSpc>
              <a:spcAft>
                <a:spcPts val="0"/>
              </a:spcAft>
            </a:pPr>
            <a:r>
              <a:rPr sz="1150" b="0">
                <a:solidFill>
                  <a:srgbClr val="AFCAE7"/>
                </a:solidFill>
                <a:latin typeface="Arial"/>
                <a:ea typeface="Arial"/>
                <a:cs typeface="Arial"/>
              </a:rPr>
              <a:t>Camera</a:t>
            </a:r>
          </a:p>
        </p:txBody>
      </p:sp>
      <p:sp>
        <p:nvSpPr>
          <p:cNvPr id="513" name="User"/>
          <p:cNvSpPr txBox="1"/>
          <p:nvPr/>
        </p:nvSpPr>
        <p:spPr>
          <a:xfrm>
            <a:off x="6611112" y="3227832"/>
            <a:ext cx="786384" cy="219456"/>
          </a:xfrm>
          <a:prstGeom prst="rect">
            <a:avLst/>
          </a:prstGeom>
          <a:noFill/>
        </p:spPr>
        <p:txBody>
          <a:bodyPr wrap="square" lIns="0" rIns="0" tIns="0" bIns="0" anchor="t">
            <a:spAutoFit/>
          </a:bodyPr>
          <a:lstStyle/>
          <a:p>
            <a:pPr algn="l">
              <a:lnSpc>
                <a:spcPct val="110000"/>
              </a:lnSpc>
              <a:spcAft>
                <a:spcPts val="0"/>
              </a:spcAft>
            </a:pPr>
            <a:r>
              <a:rPr sz="1200" b="0">
                <a:solidFill>
                  <a:srgbClr val="AFCAE7"/>
                </a:solidFill>
                <a:latin typeface="Arial"/>
                <a:ea typeface="Arial"/>
                <a:cs typeface="Arial"/>
              </a:rPr>
              <a:t>User</a:t>
            </a:r>
          </a:p>
        </p:txBody>
      </p:sp>
      <p:sp>
        <p:nvSpPr>
          <p:cNvPr id="514" name="Assistant"/>
          <p:cNvSpPr txBox="1"/>
          <p:nvPr/>
        </p:nvSpPr>
        <p:spPr>
          <a:xfrm>
            <a:off x="6611112" y="3822192"/>
            <a:ext cx="786384" cy="219456"/>
          </a:xfrm>
          <a:prstGeom prst="rect">
            <a:avLst/>
          </a:prstGeom>
          <a:noFill/>
        </p:spPr>
        <p:txBody>
          <a:bodyPr wrap="square" lIns="0" rIns="0" tIns="0" bIns="0" anchor="t">
            <a:spAutoFit/>
          </a:bodyPr>
          <a:lstStyle/>
          <a:p>
            <a:pPr algn="l">
              <a:lnSpc>
                <a:spcPct val="110000"/>
              </a:lnSpc>
              <a:spcAft>
                <a:spcPts val="0"/>
              </a:spcAft>
            </a:pPr>
            <a:r>
              <a:rPr sz="1150" b="0">
                <a:solidFill>
                  <a:srgbClr val="A9E5DF"/>
                </a:solidFill>
                <a:latin typeface="Arial"/>
                <a:ea typeface="Arial"/>
                <a:cs typeface="Arial"/>
              </a:rPr>
              <a:t>Assistant</a:t>
            </a:r>
          </a:p>
        </p:txBody>
      </p:sp>
      <p:cxnSp>
        <p:nvCxnSpPr>
          <p:cNvPr id="515" name="Shared time axis"/>
          <p:cNvCxnSpPr/>
          <p:nvPr/>
        </p:nvCxnSpPr>
        <p:spPr>
          <a:xfrm>
            <a:off x="7498080" y="3346704"/>
            <a:ext cx="3749040" cy="0"/>
          </a:xfrm>
          <a:prstGeom prst="line">
            <a:avLst/>
          </a:prstGeom>
          <a:ln w="12700">
            <a:solidFill>
              <a:srgbClr val="314E68"/>
            </a:solidFill>
          </a:ln>
          <a:effectLst/>
        </p:spPr>
        <p:style>
          <a:lnRef idx="2">
            <a:schemeClr val="accent1"/>
          </a:lnRef>
          <a:fillRef idx="0">
            <a:schemeClr val="accent1"/>
          </a:fillRef>
          <a:effectRef idx="0">
            <a:schemeClr val="accent1"/>
          </a:effectRef>
          <a:fontRef idx="minor">
            <a:schemeClr val="tx1"/>
          </a:fontRef>
        </p:style>
      </p:cxnSp>
      <p:cxnSp>
        <p:nvCxnSpPr>
          <p:cNvPr id="516" name="Shared time axis"/>
          <p:cNvCxnSpPr/>
          <p:nvPr/>
        </p:nvCxnSpPr>
        <p:spPr>
          <a:xfrm>
            <a:off x="7498080" y="3941064"/>
            <a:ext cx="3749040" cy="0"/>
          </a:xfrm>
          <a:prstGeom prst="line">
            <a:avLst/>
          </a:prstGeom>
          <a:ln w="12700">
            <a:solidFill>
              <a:srgbClr val="314E68"/>
            </a:solidFill>
          </a:ln>
          <a:effectLst/>
        </p:spPr>
        <p:style>
          <a:lnRef idx="2">
            <a:schemeClr val="accent1"/>
          </a:lnRef>
          <a:fillRef idx="0">
            <a:schemeClr val="accent1"/>
          </a:fillRef>
          <a:effectRef idx="0">
            <a:schemeClr val="accent1"/>
          </a:effectRef>
          <a:fontRef idx="minor">
            <a:schemeClr val="tx1"/>
          </a:fontRef>
        </p:style>
      </p:cxnSp>
      <p:pic>
        <p:nvPicPr>
          <p:cNvPr id="517" name="Camera input frame" descr="Illustrative camera frame from a generated continuous conversation sequence; not a product screenshot."/>
          <p:cNvPicPr>
            <a:picLocks noChangeAspect="1"/>
          </p:cNvPicPr>
          <p:nvPr/>
        </p:nvPicPr>
        <p:blipFill>
          <a:blip r:embed="rId5"/>
          <a:srcRect l="400" r="86114" t="18000" b="39000"/>
          <a:stretch>
            <a:fillRect/>
          </a:stretch>
        </p:blipFill>
        <p:spPr>
          <a:xfrm>
            <a:off x="1810512" y="2697480"/>
            <a:ext cx="310896" cy="320040"/>
          </a:xfrm>
          <a:prstGeom prst="rect">
            <a:avLst/>
          </a:prstGeom>
        </p:spPr>
      </p:pic>
      <p:pic>
        <p:nvPicPr>
          <p:cNvPr id="518" name="Camera input frame" descr="Illustrative camera frame from a generated continuous conversation sequence; not a product screenshot."/>
          <p:cNvPicPr>
            <a:picLocks noChangeAspect="1"/>
          </p:cNvPicPr>
          <p:nvPr/>
        </p:nvPicPr>
        <p:blipFill>
          <a:blip r:embed="rId5"/>
          <a:srcRect l="14686" r="71829" t="18000" b="39000"/>
          <a:stretch>
            <a:fillRect/>
          </a:stretch>
        </p:blipFill>
        <p:spPr>
          <a:xfrm>
            <a:off x="2313432" y="2697480"/>
            <a:ext cx="310896" cy="320040"/>
          </a:xfrm>
          <a:prstGeom prst="rect">
            <a:avLst/>
          </a:prstGeom>
        </p:spPr>
      </p:pic>
      <p:pic>
        <p:nvPicPr>
          <p:cNvPr id="519" name="Camera input frame" descr="Illustrative camera frame from a generated continuous conversation sequence; not a product screenshot."/>
          <p:cNvPicPr>
            <a:picLocks noChangeAspect="1"/>
          </p:cNvPicPr>
          <p:nvPr/>
        </p:nvPicPr>
        <p:blipFill>
          <a:blip r:embed="rId5"/>
          <a:srcRect l="57543" r="28971" t="18000" b="39000"/>
          <a:stretch>
            <a:fillRect/>
          </a:stretch>
        </p:blipFill>
        <p:spPr>
          <a:xfrm>
            <a:off x="3941064" y="2697480"/>
            <a:ext cx="310896" cy="320040"/>
          </a:xfrm>
          <a:prstGeom prst="rect">
            <a:avLst/>
          </a:prstGeom>
        </p:spPr>
      </p:pic>
      <p:pic>
        <p:nvPicPr>
          <p:cNvPr id="520" name="Camera input frame" descr="Illustrative camera frame from a generated continuous conversation sequence; not a product screenshot."/>
          <p:cNvPicPr>
            <a:picLocks noChangeAspect="1"/>
          </p:cNvPicPr>
          <p:nvPr/>
        </p:nvPicPr>
        <p:blipFill>
          <a:blip r:embed="rId5"/>
          <a:srcRect l="71829" r="14686" t="18000" b="39000"/>
          <a:stretch>
            <a:fillRect/>
          </a:stretch>
        </p:blipFill>
        <p:spPr>
          <a:xfrm>
            <a:off x="4315968" y="2697480"/>
            <a:ext cx="310896" cy="320040"/>
          </a:xfrm>
          <a:prstGeom prst="rect">
            <a:avLst/>
          </a:prstGeom>
        </p:spPr>
      </p:pic>
      <p:sp>
        <p:nvSpPr>
          <p:cNvPr id="521" name="Half-duplex user turn 1"/>
          <p:cNvSpPr/>
          <p:nvPr/>
        </p:nvSpPr>
        <p:spPr>
          <a:xfrm>
            <a:off x="1810512" y="3241548"/>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2" name="Half-duplex user turn 1"/>
          <p:cNvSpPr/>
          <p:nvPr/>
        </p:nvSpPr>
        <p:spPr>
          <a:xfrm>
            <a:off x="1884426" y="3268980"/>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3" name="Half-duplex user turn 1"/>
          <p:cNvSpPr/>
          <p:nvPr/>
        </p:nvSpPr>
        <p:spPr>
          <a:xfrm>
            <a:off x="1958340" y="3214116"/>
            <a:ext cx="22860" cy="2651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4" name="Half-duplex user turn 1"/>
          <p:cNvSpPr/>
          <p:nvPr/>
        </p:nvSpPr>
        <p:spPr>
          <a:xfrm>
            <a:off x="2032254" y="3259836"/>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5" name="Half-duplex user turn 1"/>
          <p:cNvSpPr/>
          <p:nvPr/>
        </p:nvSpPr>
        <p:spPr>
          <a:xfrm>
            <a:off x="2106168" y="3287268"/>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6" name="Half-duplex user turn 1"/>
          <p:cNvSpPr/>
          <p:nvPr/>
        </p:nvSpPr>
        <p:spPr>
          <a:xfrm>
            <a:off x="2180082" y="3236976"/>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7" name="Half-duplex user turn 1"/>
          <p:cNvSpPr/>
          <p:nvPr/>
        </p:nvSpPr>
        <p:spPr>
          <a:xfrm>
            <a:off x="2253996" y="3218688"/>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8" name="Half-duplex user turn 1"/>
          <p:cNvSpPr/>
          <p:nvPr/>
        </p:nvSpPr>
        <p:spPr>
          <a:xfrm>
            <a:off x="2327910" y="3273552"/>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9" name="Half-duplex user turn 1"/>
          <p:cNvSpPr/>
          <p:nvPr/>
        </p:nvSpPr>
        <p:spPr>
          <a:xfrm>
            <a:off x="2401824" y="3246120"/>
            <a:ext cx="22860" cy="20116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0" name="Half-duplex user turn 1"/>
          <p:cNvSpPr/>
          <p:nvPr/>
        </p:nvSpPr>
        <p:spPr>
          <a:xfrm>
            <a:off x="2475738" y="3264408"/>
            <a:ext cx="22860" cy="16459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1" name="Half-duplex user turn 1"/>
          <p:cNvSpPr/>
          <p:nvPr/>
        </p:nvSpPr>
        <p:spPr>
          <a:xfrm>
            <a:off x="2549652" y="3241548"/>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2" name="Half-duplex user turn 1"/>
          <p:cNvSpPr/>
          <p:nvPr/>
        </p:nvSpPr>
        <p:spPr>
          <a:xfrm>
            <a:off x="2623566" y="3268980"/>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3" name="Half-duplex user turn 1"/>
          <p:cNvSpPr/>
          <p:nvPr/>
        </p:nvSpPr>
        <p:spPr>
          <a:xfrm>
            <a:off x="2697480" y="3214116"/>
            <a:ext cx="22860" cy="2651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4" name="Half-duplex assistant turn 1"/>
          <p:cNvSpPr/>
          <p:nvPr/>
        </p:nvSpPr>
        <p:spPr>
          <a:xfrm>
            <a:off x="2834640" y="3835908"/>
            <a:ext cx="22860" cy="21031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5" name="Half-duplex assistant turn 1"/>
          <p:cNvSpPr/>
          <p:nvPr/>
        </p:nvSpPr>
        <p:spPr>
          <a:xfrm>
            <a:off x="2909199" y="3863340"/>
            <a:ext cx="22860" cy="1554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6" name="Half-duplex assistant turn 1"/>
          <p:cNvSpPr/>
          <p:nvPr/>
        </p:nvSpPr>
        <p:spPr>
          <a:xfrm>
            <a:off x="2983758" y="3808476"/>
            <a:ext cx="22860" cy="26517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7" name="Half-duplex assistant turn 1"/>
          <p:cNvSpPr/>
          <p:nvPr/>
        </p:nvSpPr>
        <p:spPr>
          <a:xfrm>
            <a:off x="3058316" y="3854196"/>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8" name="Half-duplex assistant turn 1"/>
          <p:cNvSpPr/>
          <p:nvPr/>
        </p:nvSpPr>
        <p:spPr>
          <a:xfrm>
            <a:off x="3132875" y="3881628"/>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9" name="Half-duplex assistant turn 1"/>
          <p:cNvSpPr/>
          <p:nvPr/>
        </p:nvSpPr>
        <p:spPr>
          <a:xfrm>
            <a:off x="3207434" y="3831336"/>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0" name="Half-duplex assistant turn 1"/>
          <p:cNvSpPr/>
          <p:nvPr/>
        </p:nvSpPr>
        <p:spPr>
          <a:xfrm>
            <a:off x="3281993" y="3813048"/>
            <a:ext cx="22860" cy="25603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1" name="Half-duplex assistant turn 1"/>
          <p:cNvSpPr/>
          <p:nvPr/>
        </p:nvSpPr>
        <p:spPr>
          <a:xfrm>
            <a:off x="3356551" y="3867912"/>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2" name="Half-duplex assistant turn 1"/>
          <p:cNvSpPr/>
          <p:nvPr/>
        </p:nvSpPr>
        <p:spPr>
          <a:xfrm>
            <a:off x="3431110" y="3840480"/>
            <a:ext cx="22860" cy="20116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3" name="Half-duplex assistant turn 1"/>
          <p:cNvSpPr/>
          <p:nvPr/>
        </p:nvSpPr>
        <p:spPr>
          <a:xfrm>
            <a:off x="3505669" y="3858768"/>
            <a:ext cx="22860" cy="16459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4" name="Half-duplex assistant turn 1"/>
          <p:cNvSpPr/>
          <p:nvPr/>
        </p:nvSpPr>
        <p:spPr>
          <a:xfrm>
            <a:off x="3580228" y="3835908"/>
            <a:ext cx="22860" cy="21031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5" name="Half-duplex assistant turn 1"/>
          <p:cNvSpPr/>
          <p:nvPr/>
        </p:nvSpPr>
        <p:spPr>
          <a:xfrm>
            <a:off x="3654786" y="3863340"/>
            <a:ext cx="22860" cy="1554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6" name="Half-duplex assistant turn 1"/>
          <p:cNvSpPr/>
          <p:nvPr/>
        </p:nvSpPr>
        <p:spPr>
          <a:xfrm>
            <a:off x="3729345" y="3808476"/>
            <a:ext cx="22860" cy="26517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7" name="Half-duplex assistant turn 1"/>
          <p:cNvSpPr/>
          <p:nvPr/>
        </p:nvSpPr>
        <p:spPr>
          <a:xfrm>
            <a:off x="3803904" y="3854196"/>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8" name="Half-duplex user turn 2"/>
          <p:cNvSpPr/>
          <p:nvPr/>
        </p:nvSpPr>
        <p:spPr>
          <a:xfrm>
            <a:off x="3941064" y="3241548"/>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9" name="Half-duplex user turn 2"/>
          <p:cNvSpPr/>
          <p:nvPr/>
        </p:nvSpPr>
        <p:spPr>
          <a:xfrm>
            <a:off x="4016248" y="3268980"/>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0" name="Half-duplex user turn 2"/>
          <p:cNvSpPr/>
          <p:nvPr/>
        </p:nvSpPr>
        <p:spPr>
          <a:xfrm>
            <a:off x="4091432" y="3214116"/>
            <a:ext cx="22860" cy="2651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1" name="Half-duplex user turn 2"/>
          <p:cNvSpPr/>
          <p:nvPr/>
        </p:nvSpPr>
        <p:spPr>
          <a:xfrm>
            <a:off x="4166616" y="3259836"/>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2" name="Half-duplex user turn 2"/>
          <p:cNvSpPr/>
          <p:nvPr/>
        </p:nvSpPr>
        <p:spPr>
          <a:xfrm>
            <a:off x="4241800" y="3287268"/>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3" name="Half-duplex user turn 2"/>
          <p:cNvSpPr/>
          <p:nvPr/>
        </p:nvSpPr>
        <p:spPr>
          <a:xfrm>
            <a:off x="4316984" y="3236976"/>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4" name="Half-duplex user turn 2"/>
          <p:cNvSpPr/>
          <p:nvPr/>
        </p:nvSpPr>
        <p:spPr>
          <a:xfrm>
            <a:off x="4392168" y="3218688"/>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5" name="Half-duplex user turn 2"/>
          <p:cNvSpPr/>
          <p:nvPr/>
        </p:nvSpPr>
        <p:spPr>
          <a:xfrm>
            <a:off x="4467352" y="3273552"/>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6" name="Half-duplex user turn 2"/>
          <p:cNvSpPr/>
          <p:nvPr/>
        </p:nvSpPr>
        <p:spPr>
          <a:xfrm>
            <a:off x="4542536" y="3246120"/>
            <a:ext cx="22860" cy="20116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7" name="Half-duplex user turn 2"/>
          <p:cNvSpPr/>
          <p:nvPr/>
        </p:nvSpPr>
        <p:spPr>
          <a:xfrm>
            <a:off x="4617720" y="3264408"/>
            <a:ext cx="22860" cy="16459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8" name="Half-duplex assistant turn 2"/>
          <p:cNvSpPr/>
          <p:nvPr/>
        </p:nvSpPr>
        <p:spPr>
          <a:xfrm>
            <a:off x="4754880" y="3835908"/>
            <a:ext cx="22860" cy="21031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9" name="Half-duplex assistant turn 2"/>
          <p:cNvSpPr/>
          <p:nvPr/>
        </p:nvSpPr>
        <p:spPr>
          <a:xfrm>
            <a:off x="4834128" y="3863340"/>
            <a:ext cx="22860" cy="1554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0" name="Half-duplex assistant turn 2"/>
          <p:cNvSpPr/>
          <p:nvPr/>
        </p:nvSpPr>
        <p:spPr>
          <a:xfrm>
            <a:off x="4913376" y="3808476"/>
            <a:ext cx="22860" cy="26517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1" name="Half-duplex assistant turn 2"/>
          <p:cNvSpPr/>
          <p:nvPr/>
        </p:nvSpPr>
        <p:spPr>
          <a:xfrm>
            <a:off x="4992624" y="3854196"/>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2" name="Half-duplex assistant turn 2"/>
          <p:cNvSpPr/>
          <p:nvPr/>
        </p:nvSpPr>
        <p:spPr>
          <a:xfrm>
            <a:off x="5071872" y="3881628"/>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3" name="Half-duplex assistant turn 2"/>
          <p:cNvSpPr/>
          <p:nvPr/>
        </p:nvSpPr>
        <p:spPr>
          <a:xfrm>
            <a:off x="5151120" y="3831336"/>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4" name="Half-duplex assistant turn 2"/>
          <p:cNvSpPr/>
          <p:nvPr/>
        </p:nvSpPr>
        <p:spPr>
          <a:xfrm>
            <a:off x="5230368" y="3813048"/>
            <a:ext cx="22860" cy="25603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5" name="Half-duplex assistant turn 2"/>
          <p:cNvSpPr/>
          <p:nvPr/>
        </p:nvSpPr>
        <p:spPr>
          <a:xfrm>
            <a:off x="5309616" y="3867912"/>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6" name="Half-duplex assistant turn 2"/>
          <p:cNvSpPr/>
          <p:nvPr/>
        </p:nvSpPr>
        <p:spPr>
          <a:xfrm>
            <a:off x="5388864" y="3840480"/>
            <a:ext cx="22860" cy="20116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7" name="Half-duplex assistant turn 2"/>
          <p:cNvSpPr/>
          <p:nvPr/>
        </p:nvSpPr>
        <p:spPr>
          <a:xfrm>
            <a:off x="5468112" y="3858768"/>
            <a:ext cx="22860" cy="16459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568" name="Camera input frame" descr="Illustrative camera frame from a generated continuous conversation sequence; not a product screenshot."/>
          <p:cNvPicPr>
            <a:picLocks noChangeAspect="1"/>
          </p:cNvPicPr>
          <p:nvPr/>
        </p:nvPicPr>
        <p:blipFill>
          <a:blip r:embed="rId5"/>
          <a:srcRect l="400" r="86114" t="18000" b="39000"/>
          <a:stretch>
            <a:fillRect/>
          </a:stretch>
        </p:blipFill>
        <p:spPr>
          <a:xfrm>
            <a:off x="7516368" y="2697480"/>
            <a:ext cx="356616" cy="320040"/>
          </a:xfrm>
          <a:prstGeom prst="rect">
            <a:avLst/>
          </a:prstGeom>
        </p:spPr>
      </p:pic>
      <p:pic>
        <p:nvPicPr>
          <p:cNvPr id="569" name="Camera input frame" descr="Illustrative camera frame from a generated continuous conversation sequence; not a product screenshot."/>
          <p:cNvPicPr>
            <a:picLocks noChangeAspect="1"/>
          </p:cNvPicPr>
          <p:nvPr/>
        </p:nvPicPr>
        <p:blipFill>
          <a:blip r:embed="rId5"/>
          <a:srcRect l="14686" r="71829" t="18000" b="39000"/>
          <a:stretch>
            <a:fillRect/>
          </a:stretch>
        </p:blipFill>
        <p:spPr>
          <a:xfrm>
            <a:off x="8046720" y="2697480"/>
            <a:ext cx="356616" cy="320040"/>
          </a:xfrm>
          <a:prstGeom prst="rect">
            <a:avLst/>
          </a:prstGeom>
        </p:spPr>
      </p:pic>
      <p:pic>
        <p:nvPicPr>
          <p:cNvPr id="570" name="Camera input frame" descr="Illustrative camera frame from a generated continuous conversation sequence; not a product screenshot."/>
          <p:cNvPicPr>
            <a:picLocks noChangeAspect="1"/>
          </p:cNvPicPr>
          <p:nvPr/>
        </p:nvPicPr>
        <p:blipFill>
          <a:blip r:embed="rId5"/>
          <a:srcRect l="28971" r="57543" t="18000" b="39000"/>
          <a:stretch>
            <a:fillRect/>
          </a:stretch>
        </p:blipFill>
        <p:spPr>
          <a:xfrm>
            <a:off x="8577072" y="2697480"/>
            <a:ext cx="356616" cy="320040"/>
          </a:xfrm>
          <a:prstGeom prst="rect">
            <a:avLst/>
          </a:prstGeom>
        </p:spPr>
      </p:pic>
      <p:pic>
        <p:nvPicPr>
          <p:cNvPr id="571" name="Camera input frame" descr="Illustrative camera frame from a generated continuous conversation sequence; not a product screenshot."/>
          <p:cNvPicPr>
            <a:picLocks noChangeAspect="1"/>
          </p:cNvPicPr>
          <p:nvPr/>
        </p:nvPicPr>
        <p:blipFill>
          <a:blip r:embed="rId5"/>
          <a:srcRect l="43257" r="43257" t="18000" b="39000"/>
          <a:stretch>
            <a:fillRect/>
          </a:stretch>
        </p:blipFill>
        <p:spPr>
          <a:xfrm>
            <a:off x="9107424" y="2697480"/>
            <a:ext cx="356616" cy="320040"/>
          </a:xfrm>
          <a:prstGeom prst="rect">
            <a:avLst/>
          </a:prstGeom>
        </p:spPr>
      </p:pic>
      <p:pic>
        <p:nvPicPr>
          <p:cNvPr id="572" name="Camera input frame" descr="Illustrative camera frame from a generated continuous conversation sequence; not a product screenshot."/>
          <p:cNvPicPr>
            <a:picLocks noChangeAspect="1"/>
          </p:cNvPicPr>
          <p:nvPr/>
        </p:nvPicPr>
        <p:blipFill>
          <a:blip r:embed="rId5"/>
          <a:srcRect l="57543" r="28971" t="18000" b="39000"/>
          <a:stretch>
            <a:fillRect/>
          </a:stretch>
        </p:blipFill>
        <p:spPr>
          <a:xfrm>
            <a:off x="9637776" y="2697480"/>
            <a:ext cx="356616" cy="320040"/>
          </a:xfrm>
          <a:prstGeom prst="rect">
            <a:avLst/>
          </a:prstGeom>
        </p:spPr>
      </p:pic>
      <p:pic>
        <p:nvPicPr>
          <p:cNvPr id="573" name="Camera input frame" descr="Illustrative camera frame from a generated continuous conversation sequence; not a product screenshot."/>
          <p:cNvPicPr>
            <a:picLocks noChangeAspect="1"/>
          </p:cNvPicPr>
          <p:nvPr/>
        </p:nvPicPr>
        <p:blipFill>
          <a:blip r:embed="rId5"/>
          <a:srcRect l="71829" r="14686" t="18000" b="39000"/>
          <a:stretch>
            <a:fillRect/>
          </a:stretch>
        </p:blipFill>
        <p:spPr>
          <a:xfrm>
            <a:off x="10168128" y="2697480"/>
            <a:ext cx="356616" cy="320040"/>
          </a:xfrm>
          <a:prstGeom prst="rect">
            <a:avLst/>
          </a:prstGeom>
        </p:spPr>
      </p:pic>
      <p:pic>
        <p:nvPicPr>
          <p:cNvPr id="574" name="Camera input frame" descr="Illustrative camera frame from a generated continuous conversation sequence; not a product screenshot."/>
          <p:cNvPicPr>
            <a:picLocks noChangeAspect="1"/>
          </p:cNvPicPr>
          <p:nvPr/>
        </p:nvPicPr>
        <p:blipFill>
          <a:blip r:embed="rId5"/>
          <a:srcRect l="86114" r="400" t="18000" b="39000"/>
          <a:stretch>
            <a:fillRect/>
          </a:stretch>
        </p:blipFill>
        <p:spPr>
          <a:xfrm>
            <a:off x="10698480" y="2697480"/>
            <a:ext cx="356616" cy="320040"/>
          </a:xfrm>
          <a:prstGeom prst="rect">
            <a:avLst/>
          </a:prstGeom>
        </p:spPr>
      </p:pic>
      <p:sp>
        <p:nvSpPr>
          <p:cNvPr id="575" name="Full-duplex initial user turn"/>
          <p:cNvSpPr/>
          <p:nvPr/>
        </p:nvSpPr>
        <p:spPr>
          <a:xfrm>
            <a:off x="7571232" y="3241548"/>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6" name="Full-duplex initial user turn"/>
          <p:cNvSpPr/>
          <p:nvPr/>
        </p:nvSpPr>
        <p:spPr>
          <a:xfrm>
            <a:off x="7645146" y="3268980"/>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7" name="Full-duplex initial user turn"/>
          <p:cNvSpPr/>
          <p:nvPr/>
        </p:nvSpPr>
        <p:spPr>
          <a:xfrm>
            <a:off x="7719060" y="3214116"/>
            <a:ext cx="22860" cy="2651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8" name="Full-duplex initial user turn"/>
          <p:cNvSpPr/>
          <p:nvPr/>
        </p:nvSpPr>
        <p:spPr>
          <a:xfrm>
            <a:off x="7792974" y="3259836"/>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9" name="Full-duplex initial user turn"/>
          <p:cNvSpPr/>
          <p:nvPr/>
        </p:nvSpPr>
        <p:spPr>
          <a:xfrm>
            <a:off x="7866888" y="3287268"/>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0" name="Full-duplex initial user turn"/>
          <p:cNvSpPr/>
          <p:nvPr/>
        </p:nvSpPr>
        <p:spPr>
          <a:xfrm>
            <a:off x="7940802" y="3236976"/>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1" name="Full-duplex initial user turn"/>
          <p:cNvSpPr/>
          <p:nvPr/>
        </p:nvSpPr>
        <p:spPr>
          <a:xfrm>
            <a:off x="8014716" y="3218688"/>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2" name="Full-duplex initial user turn"/>
          <p:cNvSpPr/>
          <p:nvPr/>
        </p:nvSpPr>
        <p:spPr>
          <a:xfrm>
            <a:off x="8088630" y="3273552"/>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3" name="Full-duplex initial user turn"/>
          <p:cNvSpPr/>
          <p:nvPr/>
        </p:nvSpPr>
        <p:spPr>
          <a:xfrm>
            <a:off x="8162544" y="3246120"/>
            <a:ext cx="22860" cy="20116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4" name="Full-duplex initial user turn"/>
          <p:cNvSpPr/>
          <p:nvPr/>
        </p:nvSpPr>
        <p:spPr>
          <a:xfrm>
            <a:off x="8236458" y="3264408"/>
            <a:ext cx="22860" cy="16459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5" name="Full-duplex initial user turn"/>
          <p:cNvSpPr/>
          <p:nvPr/>
        </p:nvSpPr>
        <p:spPr>
          <a:xfrm>
            <a:off x="8310372" y="3241548"/>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6" name="Full-duplex initial user turn"/>
          <p:cNvSpPr/>
          <p:nvPr/>
        </p:nvSpPr>
        <p:spPr>
          <a:xfrm>
            <a:off x="8384286" y="3268980"/>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7" name="Full-duplex initial user turn"/>
          <p:cNvSpPr/>
          <p:nvPr/>
        </p:nvSpPr>
        <p:spPr>
          <a:xfrm>
            <a:off x="8458200" y="3214116"/>
            <a:ext cx="22860" cy="2651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8" name="Full-duplex user interjection"/>
          <p:cNvSpPr/>
          <p:nvPr/>
        </p:nvSpPr>
        <p:spPr>
          <a:xfrm>
            <a:off x="9226296" y="3241548"/>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9" name="Full-duplex user interjection"/>
          <p:cNvSpPr/>
          <p:nvPr/>
        </p:nvSpPr>
        <p:spPr>
          <a:xfrm>
            <a:off x="9303715" y="3268980"/>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0" name="Full-duplex user interjection"/>
          <p:cNvSpPr/>
          <p:nvPr/>
        </p:nvSpPr>
        <p:spPr>
          <a:xfrm>
            <a:off x="9381134" y="3214116"/>
            <a:ext cx="22860" cy="2651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1" name="Full-duplex user interjection"/>
          <p:cNvSpPr/>
          <p:nvPr/>
        </p:nvSpPr>
        <p:spPr>
          <a:xfrm>
            <a:off x="9458554" y="3259836"/>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2" name="Full-duplex user interjection"/>
          <p:cNvSpPr/>
          <p:nvPr/>
        </p:nvSpPr>
        <p:spPr>
          <a:xfrm>
            <a:off x="9535973" y="3287268"/>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3" name="Full-duplex user interjection"/>
          <p:cNvSpPr/>
          <p:nvPr/>
        </p:nvSpPr>
        <p:spPr>
          <a:xfrm>
            <a:off x="9613392" y="3236976"/>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4" name="Full-duplex user interjection"/>
          <p:cNvSpPr/>
          <p:nvPr/>
        </p:nvSpPr>
        <p:spPr>
          <a:xfrm>
            <a:off x="9690811" y="3218688"/>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5" name="Full-duplex user interjection"/>
          <p:cNvSpPr/>
          <p:nvPr/>
        </p:nvSpPr>
        <p:spPr>
          <a:xfrm>
            <a:off x="9768230" y="3273552"/>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6" name="Full-duplex user interjection"/>
          <p:cNvSpPr/>
          <p:nvPr/>
        </p:nvSpPr>
        <p:spPr>
          <a:xfrm>
            <a:off x="9845650" y="3246120"/>
            <a:ext cx="22860" cy="20116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7" name="Full-duplex user interjection"/>
          <p:cNvSpPr/>
          <p:nvPr/>
        </p:nvSpPr>
        <p:spPr>
          <a:xfrm>
            <a:off x="9923069" y="3264408"/>
            <a:ext cx="22860" cy="16459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8" name="Full-duplex user interjection"/>
          <p:cNvSpPr/>
          <p:nvPr/>
        </p:nvSpPr>
        <p:spPr>
          <a:xfrm>
            <a:off x="10000488" y="3241548"/>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9" name="Full-duplex user interjection"/>
          <p:cNvSpPr/>
          <p:nvPr/>
        </p:nvSpPr>
        <p:spPr>
          <a:xfrm>
            <a:off x="10077907" y="3268980"/>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0" name="Full-duplex user interjection"/>
          <p:cNvSpPr/>
          <p:nvPr/>
        </p:nvSpPr>
        <p:spPr>
          <a:xfrm>
            <a:off x="10155326" y="3214116"/>
            <a:ext cx="22860" cy="2651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1" name="Full-duplex user interjection"/>
          <p:cNvSpPr/>
          <p:nvPr/>
        </p:nvSpPr>
        <p:spPr>
          <a:xfrm>
            <a:off x="10232746" y="3259836"/>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2" name="Full-duplex user interjection"/>
          <p:cNvSpPr/>
          <p:nvPr/>
        </p:nvSpPr>
        <p:spPr>
          <a:xfrm>
            <a:off x="10310165" y="3287268"/>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3" name="Full-duplex user interjection"/>
          <p:cNvSpPr/>
          <p:nvPr/>
        </p:nvSpPr>
        <p:spPr>
          <a:xfrm>
            <a:off x="10387584" y="3236976"/>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4" name="Full-duplex output receives new input"/>
          <p:cNvSpPr/>
          <p:nvPr/>
        </p:nvSpPr>
        <p:spPr>
          <a:xfrm>
            <a:off x="8595360" y="3835908"/>
            <a:ext cx="22860" cy="21031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5" name="Full-duplex output receives new input"/>
          <p:cNvSpPr/>
          <p:nvPr/>
        </p:nvSpPr>
        <p:spPr>
          <a:xfrm>
            <a:off x="8669165" y="3863340"/>
            <a:ext cx="22860" cy="1554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6" name="Full-duplex output receives new input"/>
          <p:cNvSpPr/>
          <p:nvPr/>
        </p:nvSpPr>
        <p:spPr>
          <a:xfrm>
            <a:off x="8742970" y="3808476"/>
            <a:ext cx="22860" cy="26517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7" name="Full-duplex output receives new input"/>
          <p:cNvSpPr/>
          <p:nvPr/>
        </p:nvSpPr>
        <p:spPr>
          <a:xfrm>
            <a:off x="8816775" y="3854196"/>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8" name="Full-duplex output receives new input"/>
          <p:cNvSpPr/>
          <p:nvPr/>
        </p:nvSpPr>
        <p:spPr>
          <a:xfrm>
            <a:off x="8890581" y="3881628"/>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9" name="Full-duplex output receives new input"/>
          <p:cNvSpPr/>
          <p:nvPr/>
        </p:nvSpPr>
        <p:spPr>
          <a:xfrm>
            <a:off x="8964386" y="3831336"/>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0" name="Full-duplex output receives new input"/>
          <p:cNvSpPr/>
          <p:nvPr/>
        </p:nvSpPr>
        <p:spPr>
          <a:xfrm>
            <a:off x="9038191" y="3813048"/>
            <a:ext cx="22860" cy="25603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1" name="Full-duplex output receives new input"/>
          <p:cNvSpPr/>
          <p:nvPr/>
        </p:nvSpPr>
        <p:spPr>
          <a:xfrm>
            <a:off x="9111996" y="3867912"/>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2" name="Full-duplex output receives new input"/>
          <p:cNvSpPr/>
          <p:nvPr/>
        </p:nvSpPr>
        <p:spPr>
          <a:xfrm>
            <a:off x="9185801" y="3840480"/>
            <a:ext cx="22860" cy="20116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3" name="Full-duplex output receives new input"/>
          <p:cNvSpPr/>
          <p:nvPr/>
        </p:nvSpPr>
        <p:spPr>
          <a:xfrm>
            <a:off x="9259606" y="3858768"/>
            <a:ext cx="22860" cy="16459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4" name="Full-duplex output receives new input"/>
          <p:cNvSpPr/>
          <p:nvPr/>
        </p:nvSpPr>
        <p:spPr>
          <a:xfrm>
            <a:off x="9333411" y="3835908"/>
            <a:ext cx="22860" cy="21031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5" name="Full-duplex output receives new input"/>
          <p:cNvSpPr/>
          <p:nvPr/>
        </p:nvSpPr>
        <p:spPr>
          <a:xfrm>
            <a:off x="9407217" y="3863340"/>
            <a:ext cx="22860" cy="1554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6" name="Full-duplex output receives new input"/>
          <p:cNvSpPr/>
          <p:nvPr/>
        </p:nvSpPr>
        <p:spPr>
          <a:xfrm>
            <a:off x="9481022" y="3808476"/>
            <a:ext cx="22860" cy="26517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7" name="Full-duplex output receives new input"/>
          <p:cNvSpPr/>
          <p:nvPr/>
        </p:nvSpPr>
        <p:spPr>
          <a:xfrm>
            <a:off x="9554827" y="3854196"/>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8" name="Full-duplex output receives new input"/>
          <p:cNvSpPr/>
          <p:nvPr/>
        </p:nvSpPr>
        <p:spPr>
          <a:xfrm>
            <a:off x="9628632" y="3881628"/>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9" name="Full-duplex later output"/>
          <p:cNvSpPr/>
          <p:nvPr/>
        </p:nvSpPr>
        <p:spPr>
          <a:xfrm>
            <a:off x="10570464" y="3835908"/>
            <a:ext cx="22860" cy="21031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0" name="Full-duplex later output"/>
          <p:cNvSpPr/>
          <p:nvPr/>
        </p:nvSpPr>
        <p:spPr>
          <a:xfrm>
            <a:off x="10652760" y="3863340"/>
            <a:ext cx="22860" cy="1554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1" name="Full-duplex later output"/>
          <p:cNvSpPr/>
          <p:nvPr/>
        </p:nvSpPr>
        <p:spPr>
          <a:xfrm>
            <a:off x="10735056" y="3808476"/>
            <a:ext cx="22860" cy="26517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2" name="Full-duplex later output"/>
          <p:cNvSpPr/>
          <p:nvPr/>
        </p:nvSpPr>
        <p:spPr>
          <a:xfrm>
            <a:off x="10817352" y="3854196"/>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3" name="Full-duplex later output"/>
          <p:cNvSpPr/>
          <p:nvPr/>
        </p:nvSpPr>
        <p:spPr>
          <a:xfrm>
            <a:off x="10899648" y="3881628"/>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4" name="Full-duplex later output"/>
          <p:cNvSpPr/>
          <p:nvPr/>
        </p:nvSpPr>
        <p:spPr>
          <a:xfrm>
            <a:off x="10981944" y="3831336"/>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5" name="Full-duplex later output"/>
          <p:cNvSpPr/>
          <p:nvPr/>
        </p:nvSpPr>
        <p:spPr>
          <a:xfrm>
            <a:off x="11064240" y="3813048"/>
            <a:ext cx="22860" cy="25603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6" name="Full-duplex later output"/>
          <p:cNvSpPr/>
          <p:nvPr/>
        </p:nvSpPr>
        <p:spPr>
          <a:xfrm>
            <a:off x="11146536" y="3867912"/>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7" name="Full-duplex later output"/>
          <p:cNvSpPr/>
          <p:nvPr/>
        </p:nvSpPr>
        <p:spPr>
          <a:xfrm>
            <a:off x="11228832" y="3840480"/>
            <a:ext cx="22860" cy="20116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628" name="User interjects during output"/>
          <p:cNvCxnSpPr/>
          <p:nvPr/>
        </p:nvCxnSpPr>
        <p:spPr>
          <a:xfrm>
            <a:off x="9226296" y="3136392"/>
            <a:ext cx="0" cy="996696"/>
          </a:xfrm>
          <a:prstGeom prst="line">
            <a:avLst/>
          </a:prstGeom>
          <a:ln w="1651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sp>
        <p:nvSpPr>
          <p:cNvPr id="629" name="User interjects"/>
          <p:cNvSpPr txBox="1"/>
          <p:nvPr/>
        </p:nvSpPr>
        <p:spPr>
          <a:xfrm>
            <a:off x="9272016" y="4142232"/>
            <a:ext cx="1920240" cy="210312"/>
          </a:xfrm>
          <a:prstGeom prst="rect">
            <a:avLst/>
          </a:prstGeom>
          <a:noFill/>
        </p:spPr>
        <p:txBody>
          <a:bodyPr wrap="square" lIns="0" rIns="0" tIns="0" bIns="0" anchor="t">
            <a:spAutoFit/>
          </a:bodyPr>
          <a:lstStyle/>
          <a:p>
            <a:pPr algn="l">
              <a:lnSpc>
                <a:spcPct val="110000"/>
              </a:lnSpc>
              <a:spcAft>
                <a:spcPts val="0"/>
              </a:spcAft>
            </a:pPr>
            <a:r>
              <a:rPr sz="1100" b="0">
                <a:solidFill>
                  <a:srgbClr val="FFCB78"/>
                </a:solidFill>
                <a:latin typeface="Arial"/>
                <a:ea typeface="Arial"/>
                <a:cs typeface="Arial"/>
              </a:rPr>
              <a:t>User interjects</a:t>
            </a:r>
          </a:p>
        </p:txBody>
      </p:sp>
      <p:sp>
        <p:nvSpPr>
          <p:cNvPr id="630" name="→"/>
          <p:cNvSpPr txBox="1"/>
          <p:nvPr/>
        </p:nvSpPr>
        <p:spPr>
          <a:xfrm>
            <a:off x="5888736" y="3154680"/>
            <a:ext cx="365760" cy="365760"/>
          </a:xfrm>
          <a:prstGeom prst="rect">
            <a:avLst/>
          </a:prstGeom>
          <a:noFill/>
        </p:spPr>
        <p:txBody>
          <a:bodyPr wrap="square" lIns="0" rIns="0" tIns="0" bIns="0" anchor="t">
            <a:spAutoFit/>
          </a:bodyPr>
          <a:lstStyle/>
          <a:p>
            <a:pPr algn="ctr">
              <a:lnSpc>
                <a:spcPct val="110000"/>
              </a:lnSpc>
              <a:spcAft>
                <a:spcPts val="0"/>
              </a:spcAft>
            </a:pPr>
            <a:r>
              <a:rPr sz="2500" b="0">
                <a:solidFill>
                  <a:srgbClr val="526985"/>
                </a:solidFill>
                <a:latin typeface="Arial"/>
                <a:ea typeface="Arial"/>
                <a:cs typeface="Arial"/>
              </a:rPr>
              <a:t>→</a:t>
            </a:r>
          </a:p>
        </p:txBody>
      </p:sp>
      <p:sp>
        <p:nvSpPr>
          <p:cNvPr id="631" name="Shared capability"/>
          <p:cNvSpPr/>
          <p:nvPr/>
        </p:nvSpPr>
        <p:spPr>
          <a:xfrm>
            <a:off x="548640" y="4599432"/>
            <a:ext cx="11082528" cy="502920"/>
          </a:xfrm>
          <a:prstGeom prst="roundRect">
            <a:avLst>
              <a:gd name="adj" fmla="val 10000"/>
            </a:avLst>
          </a:prstGeom>
          <a:solidFill>
            <a:srgbClr val="EDF3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2" name="Shared: streamed responses"/>
          <p:cNvSpPr txBox="1"/>
          <p:nvPr/>
        </p:nvSpPr>
        <p:spPr>
          <a:xfrm>
            <a:off x="768096" y="4736592"/>
            <a:ext cx="4270248" cy="265176"/>
          </a:xfrm>
          <a:prstGeom prst="rect">
            <a:avLst/>
          </a:prstGeom>
          <a:noFill/>
        </p:spPr>
        <p:txBody>
          <a:bodyPr wrap="square" lIns="0" rIns="0" tIns="0" bIns="0" anchor="t">
            <a:spAutoFit/>
          </a:bodyPr>
          <a:lstStyle/>
          <a:p>
            <a:pPr algn="l">
              <a:lnSpc>
                <a:spcPct val="110000"/>
              </a:lnSpc>
              <a:spcAft>
                <a:spcPts val="0"/>
              </a:spcAft>
            </a:pPr>
            <a:r>
              <a:rPr sz="1700" b="1">
                <a:solidFill>
                  <a:srgbClr val="16304E"/>
                </a:solidFill>
                <a:latin typeface="Arial"/>
                <a:ea typeface="Arial"/>
                <a:cs typeface="Arial"/>
              </a:rPr>
              <a:t>Shared: streamed responses</a:t>
            </a:r>
          </a:p>
        </p:txBody>
      </p:sp>
      <p:sp>
        <p:nvSpPr>
          <p:cNvPr id="633" name="Both modes can deliver text and audio incrementally."/>
          <p:cNvSpPr txBox="1"/>
          <p:nvPr/>
        </p:nvSpPr>
        <p:spPr>
          <a:xfrm>
            <a:off x="5047488" y="4754880"/>
            <a:ext cx="6327648" cy="237744"/>
          </a:xfrm>
          <a:prstGeom prst="rect">
            <a:avLst/>
          </a:prstGeom>
          <a:noFill/>
        </p:spPr>
        <p:txBody>
          <a:bodyPr wrap="square" lIns="0" rIns="0" tIns="0" bIns="0" anchor="t">
            <a:spAutoFit/>
          </a:bodyPr>
          <a:lstStyle/>
          <a:p>
            <a:pPr algn="l">
              <a:lnSpc>
                <a:spcPct val="110000"/>
              </a:lnSpc>
              <a:spcAft>
                <a:spcPts val="0"/>
              </a:spcAft>
            </a:pPr>
            <a:r>
              <a:rPr sz="1370" b="0">
                <a:solidFill>
                  <a:srgbClr val="526985"/>
                </a:solidFill>
                <a:latin typeface="Arial"/>
                <a:ea typeface="Arial"/>
                <a:cs typeface="Arial"/>
              </a:rPr>
              <a:t>Both modes can deliver text and audio incrementally.</a:t>
            </a:r>
          </a:p>
        </p:txBody>
      </p:sp>
      <p:sp>
        <p:nvSpPr>
          <p:cNvPr id="634" name="Full-duplex capabilities"/>
          <p:cNvSpPr/>
          <p:nvPr/>
        </p:nvSpPr>
        <p:spPr>
          <a:xfrm>
            <a:off x="548640" y="5330952"/>
            <a:ext cx="11082528" cy="987552"/>
          </a:xfrm>
          <a:prstGeom prst="roundRect">
            <a:avLst>
              <a:gd name="adj" fmla="val 10000"/>
            </a:avLst>
          </a:prstGeom>
          <a:solidFill>
            <a:srgbClr val="FBF4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5" name="Full-duplex accent"/>
          <p:cNvSpPr/>
          <p:nvPr/>
        </p:nvSpPr>
        <p:spPr>
          <a:xfrm>
            <a:off x="548640" y="5330952"/>
            <a:ext cx="36576" cy="987552"/>
          </a:xfrm>
          <a:prstGeom prst="rect">
            <a:avLst/>
          </a:prstGeom>
          <a:solidFill>
            <a:srgbClr val="AD76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636" name="Feature divider"/>
          <p:cNvCxnSpPr/>
          <p:nvPr/>
        </p:nvCxnSpPr>
        <p:spPr>
          <a:xfrm>
            <a:off x="6062472" y="5495544"/>
            <a:ext cx="0" cy="640080"/>
          </a:xfrm>
          <a:prstGeom prst="line">
            <a:avLst/>
          </a:prstGeom>
          <a:ln w="10160">
            <a:solidFill>
              <a:srgbClr val="DFE7EF"/>
            </a:solidFill>
          </a:ln>
          <a:effectLst/>
        </p:spPr>
        <p:style>
          <a:lnRef idx="2">
            <a:schemeClr val="accent1"/>
          </a:lnRef>
          <a:fillRef idx="0">
            <a:schemeClr val="accent1"/>
          </a:fillRef>
          <a:effectRef idx="0">
            <a:schemeClr val="accent1"/>
          </a:effectRef>
          <a:fontRef idx="minor">
            <a:schemeClr val="tx1"/>
          </a:fontRef>
        </p:style>
      </p:cxnSp>
      <p:sp>
        <p:nvSpPr>
          <p:cNvPr id="637" name="Concurrent input &amp; output"/>
          <p:cNvSpPr txBox="1"/>
          <p:nvPr/>
        </p:nvSpPr>
        <p:spPr>
          <a:xfrm>
            <a:off x="777240" y="5477256"/>
            <a:ext cx="5020056" cy="283464"/>
          </a:xfrm>
          <a:prstGeom prst="rect">
            <a:avLst/>
          </a:prstGeom>
          <a:noFill/>
        </p:spPr>
        <p:txBody>
          <a:bodyPr wrap="square" lIns="0" rIns="0" tIns="0" bIns="0" anchor="t">
            <a:spAutoFit/>
          </a:bodyPr>
          <a:lstStyle/>
          <a:p>
            <a:pPr algn="l">
              <a:lnSpc>
                <a:spcPct val="110000"/>
              </a:lnSpc>
              <a:spcAft>
                <a:spcPts val="0"/>
              </a:spcAft>
            </a:pPr>
            <a:r>
              <a:rPr sz="1800" b="1">
                <a:solidFill>
                  <a:srgbClr val="347FF0"/>
                </a:solidFill>
                <a:latin typeface="Arial"/>
                <a:ea typeface="Arial"/>
                <a:cs typeface="Arial"/>
              </a:rPr>
              <a:t>Concurrent input &amp; output</a:t>
            </a:r>
          </a:p>
        </p:txBody>
      </p:sp>
      <p:sp>
        <p:nvSpPr>
          <p:cNvPr id="638" name="Keep receiving new input&#10;while the assistant responds."/>
          <p:cNvSpPr txBox="1"/>
          <p:nvPr/>
        </p:nvSpPr>
        <p:spPr>
          <a:xfrm>
            <a:off x="777240" y="5806440"/>
            <a:ext cx="5020056" cy="429768"/>
          </a:xfrm>
          <a:prstGeom prst="rect">
            <a:avLst/>
          </a:prstGeom>
          <a:noFill/>
        </p:spPr>
        <p:txBody>
          <a:bodyPr wrap="square" lIns="0" rIns="0" tIns="0" bIns="0" anchor="t">
            <a:spAutoFit/>
          </a:bodyPr>
          <a:lstStyle/>
          <a:p>
            <a:pPr algn="l">
              <a:lnSpc>
                <a:spcPct val="110000"/>
              </a:lnSpc>
              <a:spcAft>
                <a:spcPts val="0"/>
              </a:spcAft>
            </a:pPr>
            <a:r>
              <a:rPr sz="1400" b="0">
                <a:solidFill>
                  <a:srgbClr val="16304E"/>
                </a:solidFill>
                <a:latin typeface="Arial"/>
                <a:ea typeface="Arial"/>
                <a:cs typeface="Arial"/>
              </a:rPr>
              <a:t>Keep receiving new input</a:t>
            </a:r>
          </a:p>
          <a:p>
            <a:pPr algn="l">
              <a:lnSpc>
                <a:spcPct val="110000"/>
              </a:lnSpc>
              <a:spcAft>
                <a:spcPts val="0"/>
              </a:spcAft>
            </a:pPr>
            <a:r>
              <a:rPr sz="1400" b="0">
                <a:solidFill>
                  <a:srgbClr val="16304E"/>
                </a:solidFill>
                <a:latin typeface="Arial"/>
                <a:ea typeface="Arial"/>
                <a:cs typeface="Arial"/>
              </a:rPr>
              <a:t>while the assistant responds.</a:t>
            </a:r>
          </a:p>
        </p:txBody>
      </p:sp>
      <p:sp>
        <p:nvSpPr>
          <p:cNvPr id="639" name="Adaptive interaction"/>
          <p:cNvSpPr txBox="1"/>
          <p:nvPr/>
        </p:nvSpPr>
        <p:spPr>
          <a:xfrm>
            <a:off x="6318504" y="5477256"/>
            <a:ext cx="5029200" cy="283464"/>
          </a:xfrm>
          <a:prstGeom prst="rect">
            <a:avLst/>
          </a:prstGeom>
          <a:noFill/>
        </p:spPr>
        <p:txBody>
          <a:bodyPr wrap="square" lIns="0" rIns="0" tIns="0" bIns="0" anchor="t">
            <a:spAutoFit/>
          </a:bodyPr>
          <a:lstStyle/>
          <a:p>
            <a:pPr algn="l">
              <a:lnSpc>
                <a:spcPct val="110000"/>
              </a:lnSpc>
              <a:spcAft>
                <a:spcPts val="0"/>
              </a:spcAft>
            </a:pPr>
            <a:r>
              <a:rPr sz="1800" b="1">
                <a:solidFill>
                  <a:srgbClr val="008E96"/>
                </a:solidFill>
                <a:latin typeface="Arial"/>
                <a:ea typeface="Arial"/>
                <a:cs typeface="Arial"/>
              </a:rPr>
              <a:t>Adaptive interaction</a:t>
            </a:r>
          </a:p>
        </p:txBody>
      </p:sp>
      <p:sp>
        <p:nvSpPr>
          <p:cNvPr id="640" name="Native duplex models can use new input&#10;to shape the next output or yield."/>
          <p:cNvSpPr txBox="1"/>
          <p:nvPr/>
        </p:nvSpPr>
        <p:spPr>
          <a:xfrm>
            <a:off x="6318504" y="5806440"/>
            <a:ext cx="5029200" cy="429768"/>
          </a:xfrm>
          <a:prstGeom prst="rect">
            <a:avLst/>
          </a:prstGeom>
          <a:noFill/>
        </p:spPr>
        <p:txBody>
          <a:bodyPr wrap="square" lIns="0" rIns="0" tIns="0" bIns="0" anchor="t">
            <a:spAutoFit/>
          </a:bodyPr>
          <a:lstStyle/>
          <a:p>
            <a:pPr algn="l">
              <a:lnSpc>
                <a:spcPct val="110000"/>
              </a:lnSpc>
              <a:spcAft>
                <a:spcPts val="0"/>
              </a:spcAft>
            </a:pPr>
            <a:r>
              <a:rPr sz="1400" b="0">
                <a:solidFill>
                  <a:srgbClr val="16304E"/>
                </a:solidFill>
                <a:latin typeface="Arial"/>
                <a:ea typeface="Arial"/>
                <a:cs typeface="Arial"/>
              </a:rPr>
              <a:t>Native duplex models can use new input</a:t>
            </a:r>
          </a:p>
          <a:p>
            <a:pPr algn="l">
              <a:lnSpc>
                <a:spcPct val="110000"/>
              </a:lnSpc>
              <a:spcAft>
                <a:spcPts val="0"/>
              </a:spcAft>
            </a:pPr>
            <a:r>
              <a:rPr sz="1400" b="0">
                <a:solidFill>
                  <a:srgbClr val="16304E"/>
                </a:solidFill>
                <a:latin typeface="Arial"/>
                <a:ea typeface="Arial"/>
                <a:cs typeface="Arial"/>
              </a:rPr>
              <a:t>to shape the next output or yield.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EXPERIENCE &amp; INTERACTION</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a:solidFill>
                  <a:srgbClr val="142B45"/>
                </a:solidFill>
                <a:latin typeface="Arial"/>
                <a:ea typeface="Arial"/>
                <a:cs typeface="Arial"/>
              </a:rPr>
              <a:t>How models handle live interaction</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a:solidFill>
                  <a:srgbClr val="586B7E"/>
                </a:solidFill>
                <a:latin typeface="Arial"/>
                <a:ea typeface="Arial"/>
                <a:cs typeface="Arial"/>
              </a:rPr>
              <a:t>Interaction controls depend on the model and demo profile.</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03 / 12</a:t>
            </a:r>
          </a:p>
        </p:txBody>
      </p:sp>
      <p:sp>
        <p:nvSpPr>
          <p:cNvPr id="12" name="TextBox 11"/>
          <p:cNvSpPr txBox="1"/>
          <p:nvPr/>
        </p:nvSpPr>
        <p:spPr>
          <a:xfrm>
            <a:off x="722376" y="2103120"/>
            <a:ext cx="1874519"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MODEL</a:t>
            </a:r>
          </a:p>
        </p:txBody>
      </p:sp>
      <p:sp>
        <p:nvSpPr>
          <p:cNvPr id="13" name="TextBox 12"/>
          <p:cNvSpPr txBox="1"/>
          <p:nvPr/>
        </p:nvSpPr>
        <p:spPr>
          <a:xfrm>
            <a:off x="2807208" y="2103120"/>
            <a:ext cx="4370832"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INTERACTION</a:t>
            </a:r>
          </a:p>
        </p:txBody>
      </p:sp>
      <p:sp>
        <p:nvSpPr>
          <p:cNvPr id="14" name="TextBox 13"/>
          <p:cNvSpPr txBox="1"/>
          <p:nvPr/>
        </p:nvSpPr>
        <p:spPr>
          <a:xfrm>
            <a:off x="7406640" y="2103120"/>
            <a:ext cx="3904487"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WHAT HAPPENS</a:t>
            </a:r>
          </a:p>
        </p:txBody>
      </p:sp>
      <p:sp>
        <p:nvSpPr>
          <p:cNvPr id="15" name="Rounded Rectangle 14"/>
          <p:cNvSpPr/>
          <p:nvPr/>
        </p:nvSpPr>
        <p:spPr>
          <a:xfrm>
            <a:off x="548640" y="299923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22376" y="304952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MiniCPM-o 4.5</a:t>
            </a:r>
          </a:p>
        </p:txBody>
      </p:sp>
      <p:sp>
        <p:nvSpPr>
          <p:cNvPr id="17" name="TextBox 16"/>
          <p:cNvSpPr txBox="1"/>
          <p:nvPr/>
        </p:nvSpPr>
        <p:spPr>
          <a:xfrm>
            <a:off x="2807208" y="3049524"/>
            <a:ext cx="4370832"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Continuous speech and video input</a:t>
            </a:r>
          </a:p>
          <a:p>
            <a:pPr algn="l">
              <a:lnSpc>
                <a:spcPct val="110000"/>
              </a:lnSpc>
              <a:spcAft>
                <a:spcPts val="0"/>
              </a:spcAft>
            </a:pPr>
            <a:r>
              <a:rPr sz="1180" b="0">
                <a:solidFill>
                  <a:srgbClr val="142B45"/>
                </a:solidFill>
                <a:latin typeface="Arial"/>
                <a:ea typeface="Arial"/>
                <a:cs typeface="Arial"/>
              </a:rPr>
              <a:t>Model decides LISTEN / SPEAK</a:t>
            </a:r>
          </a:p>
        </p:txBody>
      </p:sp>
      <p:sp>
        <p:nvSpPr>
          <p:cNvPr id="18" name="TextBox 17"/>
          <p:cNvSpPr txBox="1"/>
          <p:nvPr/>
        </p:nvSpPr>
        <p:spPr>
          <a:xfrm>
            <a:off x="7406640" y="3049524"/>
            <a:ext cx="3904488"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Listen or respond within the live session</a:t>
            </a:r>
          </a:p>
          <a:p>
            <a:pPr algn="l">
              <a:lnSpc>
                <a:spcPct val="110000"/>
              </a:lnSpc>
              <a:spcAft>
                <a:spcPts val="0"/>
              </a:spcAft>
            </a:pPr>
            <a:r>
              <a:rPr sz="1180" b="0">
                <a:solidFill>
                  <a:srgbClr val="142B45"/>
                </a:solidFill>
                <a:latin typeface="Arial"/>
                <a:ea typeface="Arial"/>
                <a:cs typeface="Arial"/>
              </a:rPr>
              <a:t>No Server VAD required by default</a:t>
            </a:r>
          </a:p>
        </p:txBody>
      </p:sp>
      <p:sp>
        <p:nvSpPr>
          <p:cNvPr id="19" name="Rounded Rectangle 18"/>
          <p:cNvSpPr/>
          <p:nvPr/>
        </p:nvSpPr>
        <p:spPr>
          <a:xfrm>
            <a:off x="548640" y="359359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22376" y="364388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Qwen3-Omni</a:t>
            </a:r>
          </a:p>
        </p:txBody>
      </p:sp>
      <p:sp>
        <p:nvSpPr>
          <p:cNvPr id="21" name="TextBox 20"/>
          <p:cNvSpPr txBox="1"/>
          <p:nvPr/>
        </p:nvSpPr>
        <p:spPr>
          <a:xfrm>
            <a:off x="2807208" y="3643884"/>
            <a:ext cx="4370832"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Server VAD detects user speech</a:t>
            </a:r>
          </a:p>
          <a:p>
            <a:pPr algn="l">
              <a:lnSpc>
                <a:spcPct val="110000"/>
              </a:lnSpc>
              <a:spcAft>
                <a:spcPts val="0"/>
              </a:spcAft>
            </a:pPr>
            <a:r>
              <a:rPr sz="1180" b="0">
                <a:solidFill>
                  <a:srgbClr val="142B45"/>
                </a:solidFill>
                <a:latin typeface="Arial"/>
                <a:ea typeface="Arial"/>
                <a:cs typeface="Arial"/>
              </a:rPr>
              <a:t>Microphone input stays active</a:t>
            </a:r>
          </a:p>
        </p:txBody>
      </p:sp>
      <p:sp>
        <p:nvSpPr>
          <p:cNvPr id="22" name="TextBox 21"/>
          <p:cNvSpPr txBox="1"/>
          <p:nvPr/>
        </p:nvSpPr>
        <p:spPr>
          <a:xfrm>
            <a:off x="7406640" y="3643884"/>
            <a:ext cx="3904488"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Stop queued playback</a:t>
            </a:r>
          </a:p>
          <a:p>
            <a:pPr algn="l">
              <a:lnSpc>
                <a:spcPct val="110000"/>
              </a:lnSpc>
              <a:spcAft>
                <a:spcPts val="0"/>
              </a:spcAft>
            </a:pPr>
            <a:r>
              <a:rPr sz="1180" b="0">
                <a:solidFill>
                  <a:srgbClr val="142B45"/>
                </a:solidFill>
                <a:latin typeface="Arial"/>
                <a:ea typeface="Arial"/>
                <a:cs typeface="Arial"/>
              </a:rPr>
              <a:t>Interrupt the current response*</a:t>
            </a:r>
          </a:p>
        </p:txBody>
      </p:sp>
      <p:sp>
        <p:nvSpPr>
          <p:cNvPr id="23" name="Rounded Rectangle 22"/>
          <p:cNvSpPr/>
          <p:nvPr/>
        </p:nvSpPr>
        <p:spPr>
          <a:xfrm>
            <a:off x="548640" y="418795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22376" y="423824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AURA</a:t>
            </a:r>
          </a:p>
        </p:txBody>
      </p:sp>
      <p:sp>
        <p:nvSpPr>
          <p:cNvPr id="25" name="TextBox 24"/>
          <p:cNvSpPr txBox="1"/>
          <p:nvPr/>
        </p:nvSpPr>
        <p:spPr>
          <a:xfrm>
            <a:off x="2807208" y="4238244"/>
            <a:ext cx="4370832"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Hold to talk; release to submit</a:t>
            </a:r>
          </a:p>
          <a:p>
            <a:pPr algn="l">
              <a:lnSpc>
                <a:spcPct val="110000"/>
              </a:lnSpc>
              <a:spcAft>
                <a:spcPts val="0"/>
              </a:spcAft>
            </a:pPr>
            <a:r>
              <a:rPr sz="1180" b="0">
                <a:solidFill>
                  <a:srgbClr val="142B45"/>
                </a:solidFill>
                <a:latin typeface="Arial"/>
                <a:ea typeface="Arial"/>
                <a:cs typeface="Arial"/>
              </a:rPr>
              <a:t>new audio / video input</a:t>
            </a:r>
          </a:p>
        </p:txBody>
      </p:sp>
      <p:sp>
        <p:nvSpPr>
          <p:cNvPr id="26" name="TextBox 25"/>
          <p:cNvSpPr txBox="1"/>
          <p:nvPr/>
        </p:nvSpPr>
        <p:spPr>
          <a:xfrm>
            <a:off x="7406640" y="4238244"/>
            <a:ext cx="3904488"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Holding stops local playback</a:t>
            </a:r>
          </a:p>
          <a:p>
            <a:pPr algn="l">
              <a:lnSpc>
                <a:spcPct val="110000"/>
              </a:lnSpc>
              <a:spcAft>
                <a:spcPts val="0"/>
              </a:spcAft>
            </a:pPr>
            <a:r>
              <a:rPr sz="1180" b="0">
                <a:solidFill>
                  <a:srgbClr val="142B45"/>
                </a:solidFill>
                <a:latin typeface="Arial"/>
                <a:ea typeface="Arial"/>
                <a:cs typeface="Arial"/>
              </a:rPr>
              <a:t>Server generation can continue</a:t>
            </a:r>
          </a:p>
        </p:txBody>
      </p:sp>
      <p:sp>
        <p:nvSpPr>
          <p:cNvPr id="27" name="TextBox 26"/>
          <p:cNvSpPr txBox="1"/>
          <p:nvPr/>
        </p:nvSpPr>
        <p:spPr>
          <a:xfrm>
            <a:off x="722376" y="4882896"/>
            <a:ext cx="10744200" cy="237744"/>
          </a:xfrm>
          <a:prstGeom prst="rect">
            <a:avLst/>
          </a:prstGeom>
          <a:noFill/>
        </p:spPr>
        <p:txBody>
          <a:bodyPr wrap="square" lIns="0" rIns="0" tIns="0" bIns="0" anchor="t">
            <a:spAutoFit/>
          </a:bodyPr>
          <a:lstStyle/>
          <a:p>
            <a:pPr algn="l">
              <a:lnSpc>
                <a:spcPct val="110000"/>
              </a:lnSpc>
              <a:spcAft>
                <a:spcPts val="0"/>
              </a:spcAft>
            </a:pPr>
            <a:r>
              <a:rPr sz="1140" b="1">
                <a:solidFill>
                  <a:srgbClr val="586B7E"/>
                </a:solidFill>
                <a:latin typeface="Arial"/>
                <a:ea typeface="Arial"/>
                <a:cs typeface="Arial"/>
              </a:rPr>
              <a:t>PersonaPlex: explicit cancel restarts conversation context; disconnect requires a new session.</a:t>
            </a:r>
          </a:p>
        </p:txBody>
      </p:sp>
      <p:sp>
        <p:nvSpPr>
          <p:cNvPr id="28" name="Rounded Rectangle 27"/>
          <p:cNvSpPr/>
          <p:nvPr/>
        </p:nvSpPr>
        <p:spPr>
          <a:xfrm>
            <a:off x="548640" y="527608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85800" y="5367528"/>
            <a:ext cx="3127248" cy="219456"/>
          </a:xfrm>
          <a:prstGeom prst="rect">
            <a:avLst/>
          </a:prstGeom>
          <a:noFill/>
        </p:spPr>
        <p:txBody>
          <a:bodyPr wrap="square" lIns="0" rIns="0" tIns="0" bIns="0" anchor="t">
            <a:spAutoFit/>
          </a:bodyPr>
          <a:lstStyle/>
          <a:p>
            <a:pPr algn="l">
              <a:lnSpc>
                <a:spcPct val="110000"/>
              </a:lnSpc>
              <a:spcAft>
                <a:spcPts val="0"/>
              </a:spcAft>
            </a:pPr>
            <a:r>
              <a:rPr sz="1300" b="1">
                <a:solidFill>
                  <a:srgbClr val="327CEC"/>
                </a:solidFill>
                <a:latin typeface="Arial"/>
                <a:ea typeface="Arial"/>
                <a:cs typeface="Arial"/>
              </a:rPr>
              <a:t>MODEL-DRIVEN SPEECH</a:t>
            </a:r>
          </a:p>
        </p:txBody>
      </p:sp>
      <p:sp>
        <p:nvSpPr>
          <p:cNvPr id="30" name="TextBox 29"/>
          <p:cNvSpPr txBox="1"/>
          <p:nvPr/>
        </p:nvSpPr>
        <p:spPr>
          <a:xfrm>
            <a:off x="685800" y="5641848"/>
            <a:ext cx="3127248" cy="31089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PersonaPlex · MiniCPM-o 4.5</a:t>
            </a:r>
          </a:p>
          <a:p>
            <a:pPr algn="l">
              <a:lnSpc>
                <a:spcPct val="110000"/>
              </a:lnSpc>
              <a:spcAft>
                <a:spcPts val="0"/>
              </a:spcAft>
            </a:pPr>
            <a:r>
              <a:rPr sz="1050" b="0">
                <a:solidFill>
                  <a:srgbClr val="142B45"/>
                </a:solidFill>
                <a:latin typeface="Arial"/>
                <a:ea typeface="Arial"/>
                <a:cs typeface="Arial"/>
              </a:rPr>
              <a:t>The model controls when to speak</a:t>
            </a:r>
          </a:p>
        </p:txBody>
      </p:sp>
      <p:sp>
        <p:nvSpPr>
          <p:cNvPr id="32" name="Rounded Rectangle 31"/>
          <p:cNvSpPr/>
          <p:nvPr/>
        </p:nvSpPr>
        <p:spPr>
          <a:xfrm>
            <a:off x="4389120" y="527608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4526280" y="5367528"/>
            <a:ext cx="3127248" cy="219456"/>
          </a:xfrm>
          <a:prstGeom prst="rect">
            <a:avLst/>
          </a:prstGeom>
          <a:noFill/>
        </p:spPr>
        <p:txBody>
          <a:bodyPr wrap="square" lIns="0" rIns="0" tIns="0" bIns="0" anchor="t">
            <a:spAutoFit/>
          </a:bodyPr>
          <a:lstStyle/>
          <a:p>
            <a:pPr algn="l">
              <a:lnSpc>
                <a:spcPct val="110000"/>
              </a:lnSpc>
              <a:spcAft>
                <a:spcPts val="0"/>
              </a:spcAft>
            </a:pPr>
            <a:r>
              <a:rPr sz="1300" b="1">
                <a:solidFill>
                  <a:srgbClr val="327CEC"/>
                </a:solidFill>
                <a:latin typeface="Arial"/>
                <a:ea typeface="Arial"/>
                <a:cs typeface="Arial"/>
              </a:rPr>
              <a:t>LOCAL PLAYBACK STOP</a:t>
            </a:r>
          </a:p>
        </p:txBody>
      </p:sp>
      <p:sp>
        <p:nvSpPr>
          <p:cNvPr id="34" name="TextBox 33"/>
          <p:cNvSpPr txBox="1"/>
          <p:nvPr/>
        </p:nvSpPr>
        <p:spPr>
          <a:xfrm>
            <a:off x="4526280" y="5641848"/>
            <a:ext cx="3127248" cy="31089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AURA button · Qwen VAD demo</a:t>
            </a:r>
          </a:p>
          <a:p>
            <a:pPr algn="l">
              <a:lnSpc>
                <a:spcPct val="110000"/>
              </a:lnSpc>
              <a:spcAft>
                <a:spcPts val="0"/>
              </a:spcAft>
            </a:pPr>
            <a:r>
              <a:rPr sz="1050" b="0">
                <a:solidFill>
                  <a:srgbClr val="142B45"/>
                </a:solidFill>
                <a:latin typeface="Arial"/>
                <a:ea typeface="Arial"/>
                <a:cs typeface="Arial"/>
              </a:rPr>
              <a:t>Stops playback; inference may continue</a:t>
            </a:r>
          </a:p>
        </p:txBody>
      </p:sp>
      <p:sp>
        <p:nvSpPr>
          <p:cNvPr id="36" name="Rounded Rectangle 35"/>
          <p:cNvSpPr/>
          <p:nvPr/>
        </p:nvSpPr>
        <p:spPr>
          <a:xfrm>
            <a:off x="8229600" y="527608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8366760" y="5367528"/>
            <a:ext cx="3127248" cy="219456"/>
          </a:xfrm>
          <a:prstGeom prst="rect">
            <a:avLst/>
          </a:prstGeom>
          <a:noFill/>
        </p:spPr>
        <p:txBody>
          <a:bodyPr wrap="square" lIns="0" rIns="0" tIns="0" bIns="0" anchor="t">
            <a:spAutoFit/>
          </a:bodyPr>
          <a:lstStyle/>
          <a:p>
            <a:pPr algn="l">
              <a:lnSpc>
                <a:spcPct val="110000"/>
              </a:lnSpc>
              <a:spcAft>
                <a:spcPts val="0"/>
              </a:spcAft>
            </a:pPr>
            <a:r>
              <a:rPr sz="1300" b="1">
                <a:solidFill>
                  <a:srgbClr val="327CEC"/>
                </a:solidFill>
                <a:latin typeface="Arial"/>
                <a:ea typeface="Arial"/>
                <a:cs typeface="Arial"/>
              </a:rPr>
              <a:t>SERVER CANCELLATION</a:t>
            </a:r>
          </a:p>
        </p:txBody>
      </p:sp>
      <p:sp>
        <p:nvSpPr>
          <p:cNvPr id="38" name="TextBox 37"/>
          <p:cNvSpPr txBox="1"/>
          <p:nvPr/>
        </p:nvSpPr>
        <p:spPr>
          <a:xfrm>
            <a:off x="8366760" y="5641848"/>
            <a:ext cx="3127248" cy="31089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Qwen3-Omni + Server VAD*</a:t>
            </a:r>
          </a:p>
          <a:p>
            <a:pPr algn="l">
              <a:lnSpc>
                <a:spcPct val="110000"/>
              </a:lnSpc>
              <a:spcAft>
                <a:spcPts val="0"/>
              </a:spcAft>
            </a:pPr>
            <a:r>
              <a:rPr sz="1050" b="0">
                <a:solidFill>
                  <a:srgbClr val="142B45"/>
                </a:solidFill>
                <a:latin typeface="Arial"/>
                <a:ea typeface="Arial"/>
                <a:cs typeface="Arial"/>
              </a:rPr>
              <a:t>Cancels the active generation</a:t>
            </a:r>
          </a:p>
        </p:txBody>
      </p:sp>
      <p:sp>
        <p:nvSpPr>
          <p:cNvPr id="39" name="TextBox 38"/>
          <p:cNvSpPr txBox="1"/>
          <p:nvPr/>
        </p:nvSpPr>
        <p:spPr>
          <a:xfrm>
            <a:off x="722376" y="6153912"/>
            <a:ext cx="10744200" cy="210312"/>
          </a:xfrm>
          <a:prstGeom prst="rect">
            <a:avLst/>
          </a:prstGeom>
          <a:noFill/>
        </p:spPr>
        <p:txBody>
          <a:bodyPr wrap="square" lIns="0" rIns="0" tIns="0" bIns="0" anchor="t">
            <a:spAutoFit/>
          </a:bodyPr>
          <a:lstStyle/>
          <a:p>
            <a:pPr algn="l">
              <a:lnSpc>
                <a:spcPct val="110000"/>
              </a:lnSpc>
              <a:spcAft>
                <a:spcPts val="0"/>
              </a:spcAft>
            </a:pPr>
            <a:r>
              <a:rPr sz="1150" b="0">
                <a:solidFill>
                  <a:srgbClr val="586B7E"/>
                </a:solidFill>
                <a:latin typeface="Arial"/>
                <a:ea typeface="Arial"/>
                <a:cs typeface="Arial"/>
              </a:rPr>
              <a:t>* Demo controls vary by model. Qwen VAD cancellation requires interrupt_response.</a:t>
            </a:r>
          </a:p>
        </p:txBody>
      </p:sp>
      <p:sp>
        <p:nvSpPr>
          <p:cNvPr id="200" name="PersonaPlex 200"/>
          <p:cNvSpPr/>
          <p:nvPr/>
        </p:nvSpPr>
        <p:spPr>
          <a:xfrm>
            <a:off x="548640" y="240487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1" name="PersonaPlex 201"/>
          <p:cNvSpPr txBox="1"/>
          <p:nvPr/>
        </p:nvSpPr>
        <p:spPr>
          <a:xfrm>
            <a:off x="722376" y="245516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PersonaPlex</a:t>
            </a:r>
          </a:p>
        </p:txBody>
      </p:sp>
      <p:sp>
        <p:nvSpPr>
          <p:cNvPr id="202" name="PersonaPlex 202"/>
          <p:cNvSpPr txBox="1"/>
          <p:nvPr/>
        </p:nvSpPr>
        <p:spPr>
          <a:xfrm>
            <a:off x="2807208" y="2455164"/>
            <a:ext cx="4370832"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Continuous speech in 80 ms frames</a:t>
            </a:r>
          </a:p>
          <a:p>
            <a:pPr algn="l">
              <a:lnSpc>
                <a:spcPct val="110000"/>
              </a:lnSpc>
              <a:spcAft>
                <a:spcPts val="0"/>
              </a:spcAft>
            </a:pPr>
            <a:r>
              <a:rPr sz="1180" b="0">
                <a:solidFill>
                  <a:srgbClr val="142B45"/>
                </a:solidFill>
                <a:latin typeface="Arial"/>
                <a:ea typeface="Arial"/>
                <a:cs typeface="Arial"/>
              </a:rPr>
              <a:t>No client commit or Server VAD needed</a:t>
            </a:r>
          </a:p>
        </p:txBody>
      </p:sp>
      <p:sp>
        <p:nvSpPr>
          <p:cNvPr id="203" name="PersonaPlex 203"/>
          <p:cNvSpPr txBox="1"/>
          <p:nvPr/>
        </p:nvSpPr>
        <p:spPr>
          <a:xfrm>
            <a:off x="7406640" y="2455164"/>
            <a:ext cx="3904488"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Listens while generating speech</a:t>
            </a:r>
          </a:p>
          <a:p>
            <a:pPr algn="l">
              <a:lnSpc>
                <a:spcPct val="110000"/>
              </a:lnSpc>
              <a:spcAft>
                <a:spcPts val="0"/>
              </a:spcAft>
            </a:pPr>
            <a:r>
              <a:rPr sz="1180" b="0">
                <a:solidFill>
                  <a:srgbClr val="142B45"/>
                </a:solidFill>
                <a:latin typeface="Arial"/>
                <a:ea typeface="Arial"/>
                <a:cs typeface="Arial"/>
              </a:rPr>
              <a:t>Voice and role stay fixed during the session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EXPERIENCE &amp; INTERACTION</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000" b="1">
                <a:solidFill>
                  <a:srgbClr val="142B45"/>
                </a:solidFill>
                <a:latin typeface="Arial"/>
                <a:ea typeface="Arial"/>
                <a:cs typeface="Arial"/>
              </a:rPr>
              <a:t>Interfaces, interaction modes and model execution</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04 / 12</a:t>
            </a:r>
          </a:p>
        </p:txBody>
      </p:sp>
      <p:sp>
        <p:nvSpPr>
          <p:cNvPr id="200" name="The interface carries the conversation; the execution mode determines how the model processes input."/>
          <p:cNvSpPr txBox="1"/>
          <p:nvPr/>
        </p:nvSpPr>
        <p:spPr>
          <a:xfrm>
            <a:off x="576072" y="1645920"/>
            <a:ext cx="10972800" cy="411480"/>
          </a:xfrm>
          <a:prstGeom prst="rect">
            <a:avLst/>
          </a:prstGeom>
          <a:noFill/>
          <a:ln w="12700">
            <a:noFill/>
          </a:ln>
        </p:spPr>
        <p:txBody>
          <a:bodyPr wrap="square" lIns="0" rIns="0" tIns="0" bIns="0" anchor="t">
            <a:noAutofit/>
          </a:bodyPr>
          <a:lstStyle/>
          <a:p>
            <a:pPr algn="l">
              <a:lnSpc>
                <a:spcPct val="106000"/>
              </a:lnSpc>
              <a:spcAft>
                <a:spcPts val="0"/>
              </a:spcAft>
            </a:pPr>
            <a:r>
              <a:rPr sz="1720" b="0">
                <a:solidFill>
                  <a:srgbClr val="586B7E"/>
                </a:solidFill>
                <a:latin typeface="Arial"/>
                <a:ea typeface="Arial"/>
                <a:cs typeface="Arial"/>
              </a:rPr>
              <a:t>The interface carries the conversation; the execution mode determines how the model processes input.</a:t>
            </a:r>
          </a:p>
        </p:txBody>
      </p:sp>
      <p:sp>
        <p:nvSpPr>
          <p:cNvPr id="201" name="Interface"/>
          <p:cNvSpPr txBox="1"/>
          <p:nvPr/>
        </p:nvSpPr>
        <p:spPr>
          <a:xfrm>
            <a:off x="585216" y="2350008"/>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a:solidFill>
                  <a:srgbClr val="586B7E"/>
                </a:solidFill>
                <a:latin typeface="Arial"/>
                <a:ea typeface="Arial"/>
                <a:cs typeface="Arial"/>
              </a:rPr>
              <a:t>Interface</a:t>
            </a:r>
          </a:p>
        </p:txBody>
      </p:sp>
      <p:sp>
        <p:nvSpPr>
          <p:cNvPr id="202" name="Interaction"/>
          <p:cNvSpPr txBox="1"/>
          <p:nvPr/>
        </p:nvSpPr>
        <p:spPr>
          <a:xfrm>
            <a:off x="585216" y="3255264"/>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a:solidFill>
                  <a:srgbClr val="586B7E"/>
                </a:solidFill>
                <a:latin typeface="Arial"/>
                <a:ea typeface="Arial"/>
                <a:cs typeface="Arial"/>
              </a:rPr>
              <a:t>Interaction</a:t>
            </a:r>
          </a:p>
        </p:txBody>
      </p:sp>
      <p:sp>
        <p:nvSpPr>
          <p:cNvPr id="203" name="Execution"/>
          <p:cNvSpPr txBox="1"/>
          <p:nvPr/>
        </p:nvSpPr>
        <p:spPr>
          <a:xfrm>
            <a:off x="585216" y="4270248"/>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a:solidFill>
                  <a:srgbClr val="586B7E"/>
                </a:solidFill>
                <a:latin typeface="Arial"/>
                <a:ea typeface="Arial"/>
                <a:cs typeface="Arial"/>
              </a:rPr>
              <a:t>Execution</a:t>
            </a:r>
          </a:p>
        </p:txBody>
      </p:sp>
      <p:sp>
        <p:nvSpPr>
          <p:cNvPr id="204" name="Models"/>
          <p:cNvSpPr txBox="1"/>
          <p:nvPr/>
        </p:nvSpPr>
        <p:spPr>
          <a:xfrm>
            <a:off x="585216" y="5248656"/>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a:solidFill>
                  <a:srgbClr val="586B7E"/>
                </a:solidFill>
                <a:latin typeface="Arial"/>
                <a:ea typeface="Arial"/>
                <a:cs typeface="Arial"/>
              </a:rPr>
              <a:t>Models</a:t>
            </a:r>
          </a:p>
        </p:txBody>
      </p:sp>
      <p:cxnSp>
        <p:nvCxnSpPr>
          <p:cNvPr id="205" name="Hierarchy connector"/>
          <p:cNvCxnSpPr/>
          <p:nvPr/>
        </p:nvCxnSpPr>
        <p:spPr>
          <a:xfrm>
            <a:off x="3328416" y="3063240"/>
            <a:ext cx="0" cy="91440"/>
          </a:xfrm>
          <a:prstGeom prst="line">
            <a:avLst/>
          </a:prstGeom>
          <a:ln w="16510">
            <a:solidFill>
              <a:srgbClr val="879DB5"/>
            </a:solidFill>
            <a:tailEnd type="triangle" w="sm" len="sm"/>
          </a:ln>
        </p:spPr>
      </p:cxnSp>
      <p:cxnSp>
        <p:nvCxnSpPr>
          <p:cNvPr id="206" name="Hierarchy connector"/>
          <p:cNvCxnSpPr/>
          <p:nvPr/>
        </p:nvCxnSpPr>
        <p:spPr>
          <a:xfrm>
            <a:off x="8385048" y="3063240"/>
            <a:ext cx="0" cy="91440"/>
          </a:xfrm>
          <a:prstGeom prst="line">
            <a:avLst/>
          </a:prstGeom>
          <a:ln w="16510">
            <a:solidFill>
              <a:srgbClr val="879DB5"/>
            </a:solidFill>
            <a:tailEnd type="triangle" w="sm" len="sm"/>
          </a:ln>
        </p:spPr>
      </p:cxnSp>
      <p:cxnSp>
        <p:nvCxnSpPr>
          <p:cNvPr id="207" name="Hierarchy connector"/>
          <p:cNvCxnSpPr/>
          <p:nvPr/>
        </p:nvCxnSpPr>
        <p:spPr>
          <a:xfrm>
            <a:off x="8385048" y="3685032"/>
            <a:ext cx="0" cy="192024"/>
          </a:xfrm>
          <a:prstGeom prst="line">
            <a:avLst/>
          </a:prstGeom>
          <a:ln w="16510">
            <a:solidFill>
              <a:srgbClr val="879DB5"/>
            </a:solidFill>
          </a:ln>
        </p:spPr>
      </p:cxnSp>
      <p:cxnSp>
        <p:nvCxnSpPr>
          <p:cNvPr id="208" name="Hierarchy connector"/>
          <p:cNvCxnSpPr/>
          <p:nvPr/>
        </p:nvCxnSpPr>
        <p:spPr>
          <a:xfrm>
            <a:off x="6574536" y="3877056"/>
            <a:ext cx="3557016" cy="0"/>
          </a:xfrm>
          <a:prstGeom prst="line">
            <a:avLst/>
          </a:prstGeom>
          <a:ln w="16510">
            <a:solidFill>
              <a:srgbClr val="879DB5"/>
            </a:solidFill>
          </a:ln>
        </p:spPr>
      </p:cxnSp>
      <p:cxnSp>
        <p:nvCxnSpPr>
          <p:cNvPr id="209" name="Hierarchy connector"/>
          <p:cNvCxnSpPr/>
          <p:nvPr/>
        </p:nvCxnSpPr>
        <p:spPr>
          <a:xfrm>
            <a:off x="6574536" y="3877056"/>
            <a:ext cx="0" cy="182880"/>
          </a:xfrm>
          <a:prstGeom prst="line">
            <a:avLst/>
          </a:prstGeom>
          <a:ln w="16510">
            <a:solidFill>
              <a:srgbClr val="347BDE"/>
            </a:solidFill>
            <a:tailEnd type="triangle" w="sm" len="sm"/>
          </a:ln>
        </p:spPr>
      </p:cxnSp>
      <p:cxnSp>
        <p:nvCxnSpPr>
          <p:cNvPr id="210" name="Hierarchy connector"/>
          <p:cNvCxnSpPr/>
          <p:nvPr/>
        </p:nvCxnSpPr>
        <p:spPr>
          <a:xfrm>
            <a:off x="10131552" y="3877056"/>
            <a:ext cx="0" cy="182880"/>
          </a:xfrm>
          <a:prstGeom prst="line">
            <a:avLst/>
          </a:prstGeom>
          <a:ln w="16510">
            <a:solidFill>
              <a:srgbClr val="008E96"/>
            </a:solidFill>
            <a:tailEnd type="triangle" w="sm" len="sm"/>
          </a:ln>
        </p:spPr>
      </p:cxnSp>
      <p:cxnSp>
        <p:nvCxnSpPr>
          <p:cNvPr id="211" name="Hierarchy connector"/>
          <p:cNvCxnSpPr/>
          <p:nvPr/>
        </p:nvCxnSpPr>
        <p:spPr>
          <a:xfrm>
            <a:off x="6574536" y="4937760"/>
            <a:ext cx="0" cy="210312"/>
          </a:xfrm>
          <a:prstGeom prst="line">
            <a:avLst/>
          </a:prstGeom>
          <a:ln w="16510">
            <a:solidFill>
              <a:srgbClr val="347BDE"/>
            </a:solidFill>
            <a:tailEnd type="triangle" w="sm" len="sm"/>
          </a:ln>
        </p:spPr>
      </p:cxnSp>
      <p:cxnSp>
        <p:nvCxnSpPr>
          <p:cNvPr id="212" name="Hierarchy connector"/>
          <p:cNvCxnSpPr/>
          <p:nvPr/>
        </p:nvCxnSpPr>
        <p:spPr>
          <a:xfrm>
            <a:off x="10131552" y="4937760"/>
            <a:ext cx="0" cy="210312"/>
          </a:xfrm>
          <a:prstGeom prst="line">
            <a:avLst/>
          </a:prstGeom>
          <a:ln w="16510">
            <a:solidFill>
              <a:srgbClr val="008E96"/>
            </a:solidFill>
            <a:tailEnd type="triangle" w="sm" len="sm"/>
          </a:ln>
        </p:spPr>
      </p:cxnSp>
      <p:cxnSp>
        <p:nvCxnSpPr>
          <p:cNvPr id="213" name="Hierarchy connector"/>
          <p:cNvCxnSpPr/>
          <p:nvPr/>
        </p:nvCxnSpPr>
        <p:spPr>
          <a:xfrm>
            <a:off x="3328416" y="3685032"/>
            <a:ext cx="0" cy="338328"/>
          </a:xfrm>
          <a:prstGeom prst="line">
            <a:avLst/>
          </a:prstGeom>
          <a:ln w="16510">
            <a:solidFill>
              <a:srgbClr val="879DB5"/>
            </a:solidFill>
            <a:tailEnd type="triangle" w="sm" len="sm"/>
          </a:ln>
        </p:spPr>
      </p:cxnSp>
      <p:cxnSp>
        <p:nvCxnSpPr>
          <p:cNvPr id="214" name="Hierarchy connector"/>
          <p:cNvCxnSpPr/>
          <p:nvPr/>
        </p:nvCxnSpPr>
        <p:spPr>
          <a:xfrm>
            <a:off x="3328416" y="4681728"/>
            <a:ext cx="0" cy="466344"/>
          </a:xfrm>
          <a:prstGeom prst="line">
            <a:avLst/>
          </a:prstGeom>
          <a:ln w="16510">
            <a:solidFill>
              <a:srgbClr val="879DB5"/>
            </a:solidFill>
            <a:tailEnd type="triangle" w="sm" len="sm"/>
          </a:ln>
        </p:spPr>
      </p:cxnSp>
      <p:sp>
        <p:nvSpPr>
          <p:cNvPr id="215" name="Chat Completions interface"/>
          <p:cNvSpPr txBox="0"/>
          <p:nvPr/>
        </p:nvSpPr>
        <p:spPr>
          <a:xfrm>
            <a:off x="1938528" y="2057400"/>
            <a:ext cx="2788920" cy="1005840"/>
          </a:xfrm>
          <a:prstGeom prst="roundRect">
            <a:avLst>
              <a:gd name="adj" fmla="val 8000"/>
            </a:avLst>
          </a:prstGeom>
          <a:solidFill>
            <a:srgbClr val="F3F6FA"/>
          </a:solidFill>
          <a:ln w="12700">
            <a:solidFill>
              <a:srgbClr val="9EAFBF"/>
            </a:solidFill>
          </a:ln>
        </p:spPr>
      </p:sp>
      <p:sp>
        <p:nvSpPr>
          <p:cNvPr id="216" name="Chat Completions"/>
          <p:cNvSpPr txBox="1"/>
          <p:nvPr/>
        </p:nvSpPr>
        <p:spPr>
          <a:xfrm>
            <a:off x="2075688" y="2276856"/>
            <a:ext cx="2514600" cy="274320"/>
          </a:xfrm>
          <a:prstGeom prst="rect">
            <a:avLst/>
          </a:prstGeom>
          <a:noFill/>
          <a:ln w="12700">
            <a:noFill/>
          </a:ln>
        </p:spPr>
        <p:txBody>
          <a:bodyPr wrap="square" lIns="0" rIns="0" tIns="0" bIns="0" anchor="t">
            <a:noAutofit/>
          </a:bodyPr>
          <a:lstStyle/>
          <a:p>
            <a:pPr algn="ctr">
              <a:lnSpc>
                <a:spcPct val="106000"/>
              </a:lnSpc>
              <a:spcAft>
                <a:spcPts val="0"/>
              </a:spcAft>
            </a:pPr>
            <a:r>
              <a:rPr sz="1800" b="1">
                <a:solidFill>
                  <a:srgbClr val="16304E"/>
                </a:solidFill>
                <a:latin typeface="Arial"/>
                <a:ea typeface="Arial"/>
                <a:cs typeface="Arial"/>
              </a:rPr>
              <a:t>Chat Completions</a:t>
            </a:r>
          </a:p>
        </p:txBody>
      </p:sp>
      <p:sp>
        <p:nvSpPr>
          <p:cNvPr id="217" name="/v1/chat/completions"/>
          <p:cNvSpPr txBox="1"/>
          <p:nvPr/>
        </p:nvSpPr>
        <p:spPr>
          <a:xfrm>
            <a:off x="2066544" y="2633472"/>
            <a:ext cx="2532888" cy="192024"/>
          </a:xfrm>
          <a:prstGeom prst="rect">
            <a:avLst/>
          </a:prstGeom>
          <a:noFill/>
          <a:ln w="12700">
            <a:noFill/>
          </a:ln>
        </p:spPr>
        <p:txBody>
          <a:bodyPr wrap="square" lIns="0" rIns="0" tIns="0" bIns="0" anchor="t">
            <a:noAutofit/>
          </a:bodyPr>
          <a:lstStyle/>
          <a:p>
            <a:pPr algn="ctr">
              <a:lnSpc>
                <a:spcPct val="106000"/>
              </a:lnSpc>
              <a:spcAft>
                <a:spcPts val="0"/>
              </a:spcAft>
            </a:pPr>
            <a:r>
              <a:rPr sz="1220" b="0">
                <a:solidFill>
                  <a:srgbClr val="586B7E"/>
                </a:solidFill>
                <a:latin typeface="Arial"/>
                <a:ea typeface="Arial"/>
                <a:cs typeface="Arial"/>
              </a:rPr>
              <a:t>/v1/chat/completions</a:t>
            </a:r>
          </a:p>
        </p:txBody>
      </p:sp>
      <p:sp>
        <p:nvSpPr>
          <p:cNvPr id="218" name="Realtime Duplex interface"/>
          <p:cNvSpPr txBox="0"/>
          <p:nvPr/>
        </p:nvSpPr>
        <p:spPr>
          <a:xfrm>
            <a:off x="5138928" y="2057400"/>
            <a:ext cx="6492240" cy="1005840"/>
          </a:xfrm>
          <a:prstGeom prst="roundRect">
            <a:avLst>
              <a:gd name="adj" fmla="val 8000"/>
            </a:avLst>
          </a:prstGeom>
          <a:solidFill>
            <a:srgbClr val="EDF4FF"/>
          </a:solidFill>
          <a:ln w="12700">
            <a:solidFill>
              <a:srgbClr val="98B5DD"/>
            </a:solidFill>
          </a:ln>
        </p:spPr>
      </p:sp>
      <p:sp>
        <p:nvSpPr>
          <p:cNvPr id="219" name="Realtime Duplex"/>
          <p:cNvSpPr txBox="1"/>
          <p:nvPr/>
        </p:nvSpPr>
        <p:spPr>
          <a:xfrm>
            <a:off x="5330952" y="2103120"/>
            <a:ext cx="6108192" cy="256032"/>
          </a:xfrm>
          <a:prstGeom prst="rect">
            <a:avLst/>
          </a:prstGeom>
          <a:noFill/>
          <a:ln w="12700">
            <a:noFill/>
          </a:ln>
        </p:spPr>
        <p:txBody>
          <a:bodyPr wrap="square" lIns="0" rIns="0" tIns="0" bIns="0" anchor="t">
            <a:noAutofit/>
          </a:bodyPr>
          <a:lstStyle/>
          <a:p>
            <a:pPr algn="ctr">
              <a:lnSpc>
                <a:spcPct val="106000"/>
              </a:lnSpc>
              <a:spcAft>
                <a:spcPts val="0"/>
              </a:spcAft>
            </a:pPr>
            <a:r>
              <a:rPr sz="1800" b="1">
                <a:solidFill>
                  <a:srgbClr val="16304E"/>
                </a:solidFill>
                <a:latin typeface="Arial"/>
                <a:ea typeface="Arial"/>
                <a:cs typeface="Arial"/>
              </a:rPr>
              <a:t>Realtime Duplex</a:t>
            </a:r>
          </a:p>
        </p:txBody>
      </p:sp>
      <p:sp>
        <p:nvSpPr>
          <p:cNvPr id="220" name="/v1/duplex  or  /v1/realtime?duplex=1"/>
          <p:cNvSpPr txBox="1"/>
          <p:nvPr/>
        </p:nvSpPr>
        <p:spPr>
          <a:xfrm>
            <a:off x="5330952" y="2395728"/>
            <a:ext cx="6108192" cy="192024"/>
          </a:xfrm>
          <a:prstGeom prst="rect">
            <a:avLst/>
          </a:prstGeom>
          <a:noFill/>
          <a:ln w="12700">
            <a:noFill/>
          </a:ln>
        </p:spPr>
        <p:txBody>
          <a:bodyPr wrap="square" lIns="0" rIns="0" tIns="0" bIns="0" anchor="t">
            <a:noAutofit/>
          </a:bodyPr>
          <a:lstStyle/>
          <a:p>
            <a:pPr algn="ctr">
              <a:lnSpc>
                <a:spcPct val="106000"/>
              </a:lnSpc>
              <a:spcAft>
                <a:spcPts val="0"/>
              </a:spcAft>
            </a:pPr>
            <a:r>
              <a:rPr sz="1220" b="0">
                <a:solidFill>
                  <a:srgbClr val="586B7E"/>
                </a:solidFill>
                <a:latin typeface="Arial"/>
                <a:ea typeface="Arial"/>
                <a:cs typeface="Arial"/>
              </a:rPr>
              <a:t>/v1/duplex  or  /v1/realtime?duplex=1</a:t>
            </a:r>
          </a:p>
        </p:txBody>
      </p:sp>
      <p:sp>
        <p:nvSpPr>
          <p:cNvPr id="221" name="Request-response interaction"/>
          <p:cNvSpPr txBox="0"/>
          <p:nvPr/>
        </p:nvSpPr>
        <p:spPr>
          <a:xfrm>
            <a:off x="1938528" y="3182112"/>
            <a:ext cx="2788920" cy="502920"/>
          </a:xfrm>
          <a:prstGeom prst="roundRect">
            <a:avLst>
              <a:gd name="adj" fmla="val 8000"/>
            </a:avLst>
          </a:prstGeom>
          <a:solidFill>
            <a:srgbClr val="F3F6FA"/>
          </a:solidFill>
          <a:ln w="12700">
            <a:solidFill>
              <a:srgbClr val="9EAFBF"/>
            </a:solidFill>
          </a:ln>
        </p:spPr>
      </p:sp>
      <p:sp>
        <p:nvSpPr>
          <p:cNvPr id="222" name="Request–response"/>
          <p:cNvSpPr txBox="1"/>
          <p:nvPr/>
        </p:nvSpPr>
        <p:spPr>
          <a:xfrm>
            <a:off x="2075688" y="3291840"/>
            <a:ext cx="2514600" cy="265176"/>
          </a:xfrm>
          <a:prstGeom prst="rect">
            <a:avLst/>
          </a:prstGeom>
          <a:noFill/>
          <a:ln w="12700">
            <a:noFill/>
          </a:ln>
        </p:spPr>
        <p:txBody>
          <a:bodyPr wrap="square" lIns="0" rIns="0" tIns="0" bIns="0" anchor="t">
            <a:noAutofit/>
          </a:bodyPr>
          <a:lstStyle/>
          <a:p>
            <a:pPr algn="ctr">
              <a:lnSpc>
                <a:spcPct val="106000"/>
              </a:lnSpc>
              <a:spcAft>
                <a:spcPts val="0"/>
              </a:spcAft>
            </a:pPr>
            <a:r>
              <a:rPr sz="1700" b="1">
                <a:solidFill>
                  <a:srgbClr val="16304E"/>
                </a:solidFill>
                <a:latin typeface="Arial"/>
                <a:ea typeface="Arial"/>
                <a:cs typeface="Arial"/>
              </a:rPr>
              <a:t>Request–response</a:t>
            </a:r>
          </a:p>
        </p:txBody>
      </p:sp>
      <p:sp>
        <p:nvSpPr>
          <p:cNvPr id="223" name="Duplex session interaction"/>
          <p:cNvSpPr txBox="0"/>
          <p:nvPr/>
        </p:nvSpPr>
        <p:spPr>
          <a:xfrm>
            <a:off x="5138928" y="3182112"/>
            <a:ext cx="6492240" cy="502920"/>
          </a:xfrm>
          <a:prstGeom prst="roundRect">
            <a:avLst>
              <a:gd name="adj" fmla="val 8000"/>
            </a:avLst>
          </a:prstGeom>
          <a:solidFill>
            <a:srgbClr val="EDF4FF"/>
          </a:solidFill>
          <a:ln w="12700">
            <a:solidFill>
              <a:srgbClr val="98B5DD"/>
            </a:solidFill>
          </a:ln>
        </p:spPr>
      </p:sp>
      <p:sp>
        <p:nvSpPr>
          <p:cNvPr id="224" name="Duplex session"/>
          <p:cNvSpPr txBox="1"/>
          <p:nvPr/>
        </p:nvSpPr>
        <p:spPr>
          <a:xfrm>
            <a:off x="5330952" y="3291840"/>
            <a:ext cx="6108192" cy="265176"/>
          </a:xfrm>
          <a:prstGeom prst="rect">
            <a:avLst/>
          </a:prstGeom>
          <a:noFill/>
          <a:ln w="12700">
            <a:noFill/>
          </a:ln>
        </p:spPr>
        <p:txBody>
          <a:bodyPr wrap="square" lIns="0" rIns="0" tIns="0" bIns="0" anchor="t">
            <a:noAutofit/>
          </a:bodyPr>
          <a:lstStyle/>
          <a:p>
            <a:pPr algn="ctr">
              <a:lnSpc>
                <a:spcPct val="106000"/>
              </a:lnSpc>
              <a:spcAft>
                <a:spcPts val="0"/>
              </a:spcAft>
            </a:pPr>
            <a:r>
              <a:rPr sz="1700" b="1">
                <a:solidFill>
                  <a:srgbClr val="16304E"/>
                </a:solidFill>
                <a:latin typeface="Arial"/>
                <a:ea typeface="Arial"/>
                <a:cs typeface="Arial"/>
              </a:rPr>
              <a:t>Duplex session</a:t>
            </a:r>
          </a:p>
        </p:txBody>
      </p:sp>
      <p:sp>
        <p:nvSpPr>
          <p:cNvPr id="225" name="A request returns a response;&#10;streaming is optional."/>
          <p:cNvSpPr txBox="1"/>
          <p:nvPr/>
        </p:nvSpPr>
        <p:spPr>
          <a:xfrm>
            <a:off x="2039112" y="4133088"/>
            <a:ext cx="2587752" cy="530352"/>
          </a:xfrm>
          <a:prstGeom prst="rect">
            <a:avLst/>
          </a:prstGeom>
          <a:noFill/>
          <a:ln w="12700">
            <a:noFill/>
          </a:ln>
        </p:spPr>
        <p:txBody>
          <a:bodyPr wrap="square" lIns="0" rIns="0" tIns="0" bIns="0" anchor="t">
            <a:noAutofit/>
          </a:bodyPr>
          <a:lstStyle/>
          <a:p>
            <a:pPr algn="ctr">
              <a:lnSpc>
                <a:spcPct val="106000"/>
              </a:lnSpc>
              <a:spcAft>
                <a:spcPts val="0"/>
              </a:spcAft>
            </a:pPr>
            <a:r>
              <a:rPr sz="1400" b="0">
                <a:solidFill>
                  <a:srgbClr val="586B7E"/>
                </a:solidFill>
                <a:latin typeface="Arial"/>
                <a:ea typeface="Arial"/>
                <a:cs typeface="Arial"/>
              </a:rPr>
              <a:t>A request returns a response;</a:t>
            </a:r>
          </a:p>
          <a:p>
            <a:pPr algn="ctr">
              <a:lnSpc>
                <a:spcPct val="106000"/>
              </a:lnSpc>
              <a:spcAft>
                <a:spcPts val="0"/>
              </a:spcAft>
            </a:pPr>
            <a:r>
              <a:rPr sz="1400" b="0">
                <a:solidFill>
                  <a:srgbClr val="586B7E"/>
                </a:solidFill>
                <a:latin typeface="Arial"/>
                <a:ea typeface="Arial"/>
                <a:cs typeface="Arial"/>
              </a:rPr>
              <a:t>streaming is optional.</a:t>
            </a:r>
          </a:p>
        </p:txBody>
      </p:sp>
      <p:sp>
        <p:nvSpPr>
          <p:cNvPr id="226" name="Native duplex execution"/>
          <p:cNvSpPr txBox="0"/>
          <p:nvPr/>
        </p:nvSpPr>
        <p:spPr>
          <a:xfrm>
            <a:off x="5138928" y="4087368"/>
            <a:ext cx="2871216" cy="850392"/>
          </a:xfrm>
          <a:prstGeom prst="roundRect">
            <a:avLst>
              <a:gd name="adj" fmla="val 8000"/>
            </a:avLst>
          </a:prstGeom>
          <a:solidFill>
            <a:srgbClr val="EDF4FF"/>
          </a:solidFill>
          <a:ln w="12700">
            <a:solidFill>
              <a:srgbClr val="98B5DD"/>
            </a:solidFill>
          </a:ln>
        </p:spPr>
      </p:sp>
      <p:sp>
        <p:nvSpPr>
          <p:cNvPr id="227" name="Native duplex execution"/>
          <p:cNvSpPr txBox="1"/>
          <p:nvPr/>
        </p:nvSpPr>
        <p:spPr>
          <a:xfrm>
            <a:off x="5266944" y="4187952"/>
            <a:ext cx="2615184" cy="274320"/>
          </a:xfrm>
          <a:prstGeom prst="rect">
            <a:avLst/>
          </a:prstGeom>
          <a:noFill/>
          <a:ln w="12700">
            <a:noFill/>
          </a:ln>
        </p:spPr>
        <p:txBody>
          <a:bodyPr wrap="square" lIns="0" rIns="0" tIns="0" bIns="0" anchor="t">
            <a:noAutofit/>
          </a:bodyPr>
          <a:lstStyle/>
          <a:p>
            <a:pPr algn="ctr">
              <a:lnSpc>
                <a:spcPct val="106000"/>
              </a:lnSpc>
              <a:spcAft>
                <a:spcPts val="0"/>
              </a:spcAft>
            </a:pPr>
            <a:r>
              <a:rPr sz="1620" b="1">
                <a:solidFill>
                  <a:srgbClr val="307BDB"/>
                </a:solidFill>
                <a:latin typeface="Arial"/>
                <a:ea typeface="Arial"/>
                <a:cs typeface="Arial"/>
              </a:rPr>
              <a:t>Native duplex execution</a:t>
            </a:r>
          </a:p>
        </p:txBody>
      </p:sp>
      <p:sp>
        <p:nvSpPr>
          <p:cNvPr id="228" name="Continuous input and output&#10;within ongoing inference"/>
          <p:cNvSpPr txBox="1"/>
          <p:nvPr/>
        </p:nvSpPr>
        <p:spPr>
          <a:xfrm>
            <a:off x="5285232" y="4544568"/>
            <a:ext cx="2578608" cy="356616"/>
          </a:xfrm>
          <a:prstGeom prst="rect">
            <a:avLst/>
          </a:prstGeom>
          <a:noFill/>
          <a:ln w="12700">
            <a:noFill/>
          </a:ln>
        </p:spPr>
        <p:txBody>
          <a:bodyPr wrap="square" lIns="0" rIns="0" tIns="0" bIns="0" anchor="t">
            <a:noAutofit/>
          </a:bodyPr>
          <a:lstStyle/>
          <a:p>
            <a:pPr algn="ctr">
              <a:lnSpc>
                <a:spcPct val="106000"/>
              </a:lnSpc>
              <a:spcAft>
                <a:spcPts val="0"/>
              </a:spcAft>
            </a:pPr>
            <a:r>
              <a:rPr sz="1200" b="0">
                <a:solidFill>
                  <a:srgbClr val="586B7E"/>
                </a:solidFill>
                <a:latin typeface="Arial"/>
                <a:ea typeface="Arial"/>
                <a:cs typeface="Arial"/>
              </a:rPr>
              <a:t>Continuous input and output</a:t>
            </a:r>
          </a:p>
          <a:p>
            <a:pPr algn="ctr">
              <a:lnSpc>
                <a:spcPct val="106000"/>
              </a:lnSpc>
              <a:spcAft>
                <a:spcPts val="0"/>
              </a:spcAft>
            </a:pPr>
            <a:r>
              <a:rPr sz="1200" b="0">
                <a:solidFill>
                  <a:srgbClr val="586B7E"/>
                </a:solidFill>
                <a:latin typeface="Arial"/>
                <a:ea typeface="Arial"/>
                <a:cs typeface="Arial"/>
              </a:rPr>
              <a:t>within ongoing inference</a:t>
            </a:r>
          </a:p>
        </p:txBody>
      </p:sp>
      <p:sp>
        <p:nvSpPr>
          <p:cNvPr id="229" name="Turn-based execution"/>
          <p:cNvSpPr txBox="0"/>
          <p:nvPr/>
        </p:nvSpPr>
        <p:spPr>
          <a:xfrm>
            <a:off x="8540496" y="4087368"/>
            <a:ext cx="3090672" cy="850392"/>
          </a:xfrm>
          <a:prstGeom prst="roundRect">
            <a:avLst>
              <a:gd name="adj" fmla="val 8000"/>
            </a:avLst>
          </a:prstGeom>
          <a:solidFill>
            <a:srgbClr val="EAF7F6"/>
          </a:solidFill>
          <a:ln w="12700">
            <a:solidFill>
              <a:srgbClr val="8FBAB9"/>
            </a:solidFill>
          </a:ln>
        </p:spPr>
      </p:sp>
      <p:sp>
        <p:nvSpPr>
          <p:cNvPr id="230" name="Turn-based execution"/>
          <p:cNvSpPr txBox="1"/>
          <p:nvPr/>
        </p:nvSpPr>
        <p:spPr>
          <a:xfrm>
            <a:off x="8677656" y="4187952"/>
            <a:ext cx="2816352" cy="274320"/>
          </a:xfrm>
          <a:prstGeom prst="rect">
            <a:avLst/>
          </a:prstGeom>
          <a:noFill/>
          <a:ln w="12700">
            <a:noFill/>
          </a:ln>
        </p:spPr>
        <p:txBody>
          <a:bodyPr wrap="square" lIns="0" rIns="0" tIns="0" bIns="0" anchor="t">
            <a:noAutofit/>
          </a:bodyPr>
          <a:lstStyle/>
          <a:p>
            <a:pPr algn="ctr">
              <a:lnSpc>
                <a:spcPct val="106000"/>
              </a:lnSpc>
              <a:spcAft>
                <a:spcPts val="0"/>
              </a:spcAft>
            </a:pPr>
            <a:r>
              <a:rPr sz="1620" b="1">
                <a:solidFill>
                  <a:srgbClr val="008E96"/>
                </a:solidFill>
                <a:latin typeface="Arial"/>
                <a:ea typeface="Arial"/>
                <a:cs typeface="Arial"/>
              </a:rPr>
              <a:t>Turn-based execution</a:t>
            </a:r>
          </a:p>
        </p:txBody>
      </p:sp>
      <p:sp>
        <p:nvSpPr>
          <p:cNvPr id="231" name="A new generation request&#10;for each committed turn"/>
          <p:cNvSpPr txBox="1"/>
          <p:nvPr/>
        </p:nvSpPr>
        <p:spPr>
          <a:xfrm>
            <a:off x="8695944" y="4544568"/>
            <a:ext cx="2779776" cy="356616"/>
          </a:xfrm>
          <a:prstGeom prst="rect">
            <a:avLst/>
          </a:prstGeom>
          <a:noFill/>
          <a:ln w="12700">
            <a:noFill/>
          </a:ln>
        </p:spPr>
        <p:txBody>
          <a:bodyPr wrap="square" lIns="0" rIns="0" tIns="0" bIns="0" anchor="t">
            <a:noAutofit/>
          </a:bodyPr>
          <a:lstStyle/>
          <a:p>
            <a:pPr algn="ctr">
              <a:lnSpc>
                <a:spcPct val="106000"/>
              </a:lnSpc>
              <a:spcAft>
                <a:spcPts val="0"/>
              </a:spcAft>
            </a:pPr>
            <a:r>
              <a:rPr sz="1200" b="0">
                <a:solidFill>
                  <a:srgbClr val="586B7E"/>
                </a:solidFill>
                <a:latin typeface="Arial"/>
                <a:ea typeface="Arial"/>
                <a:cs typeface="Arial"/>
              </a:rPr>
              <a:t>A new generation request</a:t>
            </a:r>
          </a:p>
          <a:p>
            <a:pPr algn="ctr">
              <a:lnSpc>
                <a:spcPct val="106000"/>
              </a:lnSpc>
              <a:spcAft>
                <a:spcPts val="0"/>
              </a:spcAft>
            </a:pPr>
            <a:r>
              <a:rPr sz="1200" b="0">
                <a:solidFill>
                  <a:srgbClr val="586B7E"/>
                </a:solidFill>
                <a:latin typeface="Arial"/>
                <a:ea typeface="Arial"/>
                <a:cs typeface="Arial"/>
              </a:rPr>
              <a:t>for each committed turn</a:t>
            </a:r>
          </a:p>
        </p:txBody>
      </p:sp>
      <p:sp>
        <p:nvSpPr>
          <p:cNvPr id="232" name="Qwen3-Omni&#10;MiniCPM-o 4.5 (turn mode)"/>
          <p:cNvSpPr txBox="1"/>
          <p:nvPr/>
        </p:nvSpPr>
        <p:spPr>
          <a:xfrm>
            <a:off x="2002536" y="5230368"/>
            <a:ext cx="2660904" cy="621792"/>
          </a:xfrm>
          <a:prstGeom prst="rect">
            <a:avLst/>
          </a:prstGeom>
          <a:noFill/>
          <a:ln w="12700">
            <a:noFill/>
          </a:ln>
        </p:spPr>
        <p:txBody>
          <a:bodyPr wrap="square" lIns="0" rIns="0" tIns="0" bIns="0" anchor="t">
            <a:noAutofit/>
          </a:bodyPr>
          <a:lstStyle/>
          <a:p>
            <a:pPr algn="ctr">
              <a:lnSpc>
                <a:spcPct val="106000"/>
              </a:lnSpc>
              <a:spcAft>
                <a:spcPts val="0"/>
              </a:spcAft>
            </a:pPr>
            <a:r>
              <a:rPr sz="1520" b="1">
                <a:solidFill>
                  <a:srgbClr val="16304E"/>
                </a:solidFill>
                <a:latin typeface="Arial"/>
                <a:ea typeface="Arial"/>
                <a:cs typeface="Arial"/>
              </a:rPr>
              <a:t>Qwen3-Omni</a:t>
            </a:r>
          </a:p>
          <a:p>
            <a:pPr algn="ctr">
              <a:lnSpc>
                <a:spcPct val="106000"/>
              </a:lnSpc>
              <a:spcAft>
                <a:spcPts val="0"/>
              </a:spcAft>
            </a:pPr>
            <a:r>
              <a:rPr sz="1520" b="1">
                <a:solidFill>
                  <a:srgbClr val="16304E"/>
                </a:solidFill>
                <a:latin typeface="Arial"/>
                <a:ea typeface="Arial"/>
                <a:cs typeface="Arial"/>
              </a:rPr>
              <a:t>MiniCPM-o 4.5 (turn mode)</a:t>
            </a:r>
          </a:p>
        </p:txBody>
      </p:sp>
      <p:sp>
        <p:nvSpPr>
          <p:cNvPr id="233" name="MiniCPM-o 4.5&#10;PersonaPlex&#10;Nemotron VoiceChat"/>
          <p:cNvSpPr txBox="1"/>
          <p:nvPr/>
        </p:nvSpPr>
        <p:spPr>
          <a:xfrm>
            <a:off x="5138928" y="5230368"/>
            <a:ext cx="2871216" cy="713232"/>
          </a:xfrm>
          <a:prstGeom prst="rect">
            <a:avLst/>
          </a:prstGeom>
          <a:noFill/>
          <a:ln w="12700">
            <a:noFill/>
          </a:ln>
        </p:spPr>
        <p:txBody>
          <a:bodyPr wrap="square" lIns="0" rIns="0" tIns="0" bIns="0" anchor="t">
            <a:noAutofit/>
          </a:bodyPr>
          <a:lstStyle/>
          <a:p>
            <a:pPr algn="ctr">
              <a:lnSpc>
                <a:spcPct val="106000"/>
              </a:lnSpc>
              <a:spcAft>
                <a:spcPts val="0"/>
              </a:spcAft>
            </a:pPr>
            <a:r>
              <a:rPr sz="1510" b="1">
                <a:solidFill>
                  <a:srgbClr val="16304E"/>
                </a:solidFill>
                <a:latin typeface="Arial"/>
                <a:ea typeface="Arial"/>
                <a:cs typeface="Arial"/>
              </a:rPr>
              <a:t>PersonaPlex</a:t>
            </a:r>
          </a:p>
          <a:p>
            <a:pPr algn="ctr">
              <a:lnSpc>
                <a:spcPct val="106000"/>
              </a:lnSpc>
              <a:spcAft>
                <a:spcPts val="0"/>
              </a:spcAft>
            </a:pPr>
            <a:r>
              <a:rPr sz="1510" b="1">
                <a:solidFill>
                  <a:srgbClr val="16304E"/>
                </a:solidFill>
                <a:latin typeface="Arial"/>
                <a:ea typeface="Arial"/>
                <a:cs typeface="Arial"/>
              </a:rPr>
              <a:t>MiniCPM-o 4.5</a:t>
            </a:r>
          </a:p>
          <a:p>
            <a:pPr algn="ctr">
              <a:lnSpc>
                <a:spcPct val="106000"/>
              </a:lnSpc>
              <a:spcAft>
                <a:spcPts val="0"/>
              </a:spcAft>
            </a:pPr>
            <a:r>
              <a:rPr sz="1510" b="1">
                <a:solidFill>
                  <a:srgbClr val="16304E"/>
                </a:solidFill>
                <a:latin typeface="Arial"/>
                <a:ea typeface="Arial"/>
                <a:cs typeface="Arial"/>
              </a:rPr>
              <a:t>Nemotron VoiceChat</a:t>
            </a:r>
          </a:p>
        </p:txBody>
      </p:sp>
      <p:sp>
        <p:nvSpPr>
          <p:cNvPr id="234" name="Qwen3-Omni + Server VAD&#10;AURA"/>
          <p:cNvSpPr txBox="1"/>
          <p:nvPr/>
        </p:nvSpPr>
        <p:spPr>
          <a:xfrm>
            <a:off x="8540496" y="5230368"/>
            <a:ext cx="3090672" cy="621792"/>
          </a:xfrm>
          <a:prstGeom prst="rect">
            <a:avLst/>
          </a:prstGeom>
          <a:noFill/>
          <a:ln w="12700">
            <a:noFill/>
          </a:ln>
        </p:spPr>
        <p:txBody>
          <a:bodyPr wrap="square" lIns="0" rIns="0" tIns="0" bIns="0" anchor="t">
            <a:noAutofit/>
          </a:bodyPr>
          <a:lstStyle/>
          <a:p>
            <a:pPr algn="ctr">
              <a:lnSpc>
                <a:spcPct val="106000"/>
              </a:lnSpc>
              <a:spcAft>
                <a:spcPts val="0"/>
              </a:spcAft>
            </a:pPr>
            <a:r>
              <a:rPr sz="1510" b="1">
                <a:solidFill>
                  <a:srgbClr val="16304E"/>
                </a:solidFill>
                <a:latin typeface="Arial"/>
                <a:ea typeface="Arial"/>
                <a:cs typeface="Arial"/>
              </a:rPr>
              <a:t>Qwen3-Omni + Server VAD</a:t>
            </a:r>
          </a:p>
          <a:p>
            <a:pPr algn="ctr">
              <a:lnSpc>
                <a:spcPct val="106000"/>
              </a:lnSpc>
              <a:spcAft>
                <a:spcPts val="0"/>
              </a:spcAft>
            </a:pPr>
            <a:r>
              <a:rPr sz="1510" b="1">
                <a:solidFill>
                  <a:srgbClr val="16304E"/>
                </a:solidFill>
                <a:latin typeface="Arial"/>
                <a:ea typeface="Arial"/>
                <a:cs typeface="Arial"/>
              </a:rPr>
              <a:t>AURA</a:t>
            </a:r>
          </a:p>
        </p:txBody>
      </p:sp>
      <p:sp>
        <p:nvSpPr>
          <p:cNvPr id="235" name="Realtime also supports a separate turn-based path: /v1/realtime?duplex=0 (see A13)."/>
          <p:cNvSpPr txBox="1"/>
          <p:nvPr/>
        </p:nvSpPr>
        <p:spPr>
          <a:xfrm>
            <a:off x="722376" y="6126480"/>
            <a:ext cx="10744200" cy="228600"/>
          </a:xfrm>
          <a:prstGeom prst="rect">
            <a:avLst/>
          </a:prstGeom>
          <a:noFill/>
          <a:ln w="12700">
            <a:noFill/>
          </a:ln>
        </p:spPr>
        <p:txBody>
          <a:bodyPr wrap="square" lIns="0" rIns="0" tIns="0" bIns="0" anchor="t">
            <a:noAutofit/>
          </a:bodyPr>
          <a:lstStyle/>
          <a:p>
            <a:pPr algn="l">
              <a:lnSpc>
                <a:spcPct val="106000"/>
              </a:lnSpc>
              <a:spcAft>
                <a:spcPts val="0"/>
              </a:spcAft>
            </a:pPr>
            <a:r>
              <a:rPr sz="1250" b="0">
                <a:solidFill>
                  <a:srgbClr val="586B7E"/>
                </a:solidFill>
                <a:latin typeface="Arial"/>
                <a:ea typeface="Arial"/>
                <a:cs typeface="Arial"/>
              </a:rPr>
              <a:t>Realtime also supports a separate turn-based path: /v1/realtime?duplex=0.</a:t>
            </a:r>
          </a:p>
        </p:txBody>
      </p:sp>
      <p:sp>
        <p:nvSpPr>
          <p:cNvPr id="236" name="OpenAI Realtime–based message protocol with vLLM-Omni extensions"/>
          <p:cNvSpPr txBox="1"/>
          <p:nvPr/>
        </p:nvSpPr>
        <p:spPr>
          <a:xfrm>
            <a:off x="5330952" y="2615184"/>
            <a:ext cx="6108192" cy="219456"/>
          </a:xfrm>
          <a:prstGeom prst="rect">
            <a:avLst/>
          </a:prstGeom>
          <a:noFill/>
          <a:ln w="12700">
            <a:noFill/>
          </a:ln>
        </p:spPr>
        <p:txBody>
          <a:bodyPr wrap="square" lIns="0" rIns="0" tIns="0" bIns="0" anchor="t">
            <a:noAutofit/>
          </a:bodyPr>
          <a:lstStyle/>
          <a:p>
            <a:pPr algn="ctr">
              <a:lnSpc>
                <a:spcPct val="106000"/>
              </a:lnSpc>
              <a:spcAft>
                <a:spcPts val="0"/>
              </a:spcAft>
            </a:pPr>
            <a:r>
              <a:rPr sz="1200" b="0" lang="en-US">
                <a:solidFill>
                  <a:srgbClr val="16304E"/>
                </a:solidFill>
                <a:latin typeface="Arial"/>
                <a:ea typeface="Arial"/>
                <a:cs typeface="Arial"/>
              </a:rPr>
              <a:t>OpenAI Realtime–based message protocol with vLLM-Omni extensions</a:t>
            </a:r>
          </a:p>
        </p:txBody>
      </p:sp>
      <p:sp>
        <p:nvSpPr>
          <p:cNvPr id="237" name="Video input · Playback feedback · Session resume"/>
          <p:cNvSpPr txBox="1"/>
          <p:nvPr/>
        </p:nvSpPr>
        <p:spPr>
          <a:xfrm>
            <a:off x="5330952" y="2843784"/>
            <a:ext cx="6108192" cy="201168"/>
          </a:xfrm>
          <a:prstGeom prst="rect">
            <a:avLst/>
          </a:prstGeom>
          <a:noFill/>
          <a:ln w="12700">
            <a:noFill/>
          </a:ln>
        </p:spPr>
        <p:txBody>
          <a:bodyPr wrap="square" lIns="0" rIns="0" tIns="0" bIns="0" anchor="t">
            <a:noAutofit/>
          </a:bodyPr>
          <a:lstStyle/>
          <a:p>
            <a:pPr algn="ctr">
              <a:lnSpc>
                <a:spcPct val="106000"/>
              </a:lnSpc>
              <a:spcAft>
                <a:spcPts val="0"/>
              </a:spcAft>
            </a:pPr>
            <a:r>
              <a:rPr sz="900" b="0" lang="en-US">
                <a:solidFill>
                  <a:srgbClr val="008E96"/>
                </a:solidFill>
                <a:latin typeface="Arial"/>
                <a:ea typeface="Arial"/>
                <a:cs typeface="Arial"/>
              </a:rPr>
              <a:t>Model-dependent extensions: video · playback feedback · session resume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ARCHITECTURE &amp; EXECUTION</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700" b="0">
                <a:solidFill>
                  <a:srgbClr val="586B7E"/>
                </a:solidFill>
                <a:latin typeface="Arial"/>
                <a:ea typeface="Arial"/>
                <a:cs typeface="Arial"/>
              </a:rPr>
              <a:t>Duplex WebSocket and Python sessions share engine-side control, model plugins and bounded output delivery.</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05 / 12</a:t>
            </a:r>
          </a:p>
        </p:txBody>
      </p:sp>
      <p:sp>
        <p:nvSpPr>
          <p:cNvPr id="50" name="TextBox 49"/>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a:solidFill>
                  <a:srgbClr val="142B45"/>
                </a:solidFill>
                <a:latin typeface="Arial"/>
                <a:ea typeface="Arial"/>
                <a:cs typeface="Arial"/>
              </a:rPr>
              <a:t>Unified duplex architecture, with clear roles at each layer</a:t>
            </a:r>
          </a:p>
        </p:txBody>
      </p:sp>
      <p:sp>
        <p:nvSpPr>
          <p:cNvPr id="51" name="Rounded Rectangle 50"/>
          <p:cNvSpPr/>
          <p:nvPr/>
        </p:nvSpPr>
        <p:spPr>
          <a:xfrm>
            <a:off x="548640" y="2194560"/>
            <a:ext cx="11082528" cy="3154680"/>
          </a:xfrm>
          <a:prstGeom prst="roundRect">
            <a:avLst>
              <a:gd name="adj" fmla="val 10000"/>
            </a:avLst>
          </a:prstGeom>
          <a:solidFill>
            <a:srgbClr val="F3F6FA"/>
          </a:solidFill>
          <a:ln w="1460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758952" y="2313432"/>
            <a:ext cx="7315200" cy="219456"/>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APPLICATION / API PROCESS</a:t>
            </a:r>
          </a:p>
        </p:txBody>
      </p:sp>
      <p:sp>
        <p:nvSpPr>
          <p:cNvPr id="53" name="Rounded Rectangle 52"/>
          <p:cNvSpPr/>
          <p:nvPr/>
        </p:nvSpPr>
        <p:spPr>
          <a:xfrm>
            <a:off x="758952" y="2670048"/>
            <a:ext cx="3977639" cy="248716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TextBox 53"/>
          <p:cNvSpPr txBox="1"/>
          <p:nvPr/>
        </p:nvSpPr>
        <p:spPr>
          <a:xfrm>
            <a:off x="932688" y="2816352"/>
            <a:ext cx="3657600" cy="274320"/>
          </a:xfrm>
          <a:prstGeom prst="rect">
            <a:avLst/>
          </a:prstGeom>
          <a:noFill/>
        </p:spPr>
        <p:txBody>
          <a:bodyPr wrap="square" lIns="0" rIns="0" tIns="0" bIns="0" anchor="t">
            <a:spAutoFit/>
          </a:bodyPr>
          <a:lstStyle/>
          <a:p>
            <a:pPr algn="l">
              <a:lnSpc>
                <a:spcPct val="110000"/>
              </a:lnSpc>
              <a:spcAft>
                <a:spcPts val="0"/>
              </a:spcAft>
            </a:pPr>
            <a:r>
              <a:rPr sz="1700" b="1">
                <a:solidFill>
                  <a:srgbClr val="142B45"/>
                </a:solidFill>
                <a:latin typeface="Arial"/>
                <a:ea typeface="Arial"/>
                <a:cs typeface="Arial"/>
              </a:rPr>
              <a:t>API / Python event loop</a:t>
            </a:r>
          </a:p>
        </p:txBody>
      </p:sp>
      <p:sp>
        <p:nvSpPr>
          <p:cNvPr id="55" name="Rounded Rectangle 54"/>
          <p:cNvSpPr/>
          <p:nvPr/>
        </p:nvSpPr>
        <p:spPr>
          <a:xfrm>
            <a:off x="941832" y="3337560"/>
            <a:ext cx="2313432" cy="78638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1088136" y="3456432"/>
            <a:ext cx="1993392" cy="301752"/>
          </a:xfrm>
          <a:prstGeom prst="rect">
            <a:avLst/>
          </a:prstGeom>
          <a:noFill/>
        </p:spPr>
        <p:txBody>
          <a:bodyPr wrap="square" lIns="0" rIns="0" tIns="0" bIns="0" anchor="t">
            <a:spAutoFit/>
          </a:bodyPr>
          <a:lstStyle/>
          <a:p>
            <a:pPr algn="l">
              <a:lnSpc>
                <a:spcPct val="110000"/>
              </a:lnSpc>
              <a:spcAft>
                <a:spcPts val="0"/>
              </a:spcAft>
            </a:pPr>
            <a:r>
              <a:rPr sz="2000" b="1">
                <a:solidFill>
                  <a:srgbClr val="327CEC"/>
                </a:solidFill>
                <a:latin typeface="Arial"/>
                <a:ea typeface="Arial"/>
                <a:cs typeface="Arial"/>
              </a:rPr>
              <a:t>API Server</a:t>
            </a:r>
          </a:p>
        </p:txBody>
      </p:sp>
      <p:sp>
        <p:nvSpPr>
          <p:cNvPr id="57" name="TextBox 56"/>
          <p:cNvSpPr txBox="1"/>
          <p:nvPr/>
        </p:nvSpPr>
        <p:spPr>
          <a:xfrm>
            <a:off x="1088136" y="3767328"/>
            <a:ext cx="1993392" cy="338328"/>
          </a:xfrm>
          <a:prstGeom prst="rect">
            <a:avLst/>
          </a:prstGeom>
          <a:noFill/>
        </p:spPr>
        <p:txBody>
          <a:bodyPr wrap="square" lIns="0" rIns="0" tIns="0" bIns="0" anchor="t">
            <a:spAutoFit/>
          </a:bodyPr>
          <a:lstStyle/>
          <a:p>
            <a:pPr algn="l">
              <a:lnSpc>
                <a:spcPct val="110000"/>
              </a:lnSpc>
              <a:spcAft>
                <a:spcPts val="0"/>
              </a:spcAft>
            </a:pPr>
            <a:r>
              <a:rPr sz="1100" b="0">
                <a:solidFill>
                  <a:srgbClr val="586B7E"/>
                </a:solidFill>
                <a:latin typeface="Arial"/>
                <a:ea typeface="Arial"/>
                <a:cs typeface="Arial"/>
              </a:rPr>
              <a:t>Wire I/O · attach</a:t>
            </a:r>
          </a:p>
          <a:p>
            <a:pPr algn="l">
              <a:lnSpc>
                <a:spcPct val="110000"/>
              </a:lnSpc>
              <a:spcAft>
                <a:spcPts val="0"/>
              </a:spcAft>
            </a:pPr>
            <a:r>
              <a:rPr sz="1100" b="0">
                <a:solidFill>
                  <a:srgbClr val="586B7E"/>
                </a:solidFill>
                <a:latin typeface="Arial"/>
                <a:ea typeface="Arial"/>
                <a:cs typeface="Arial"/>
              </a:rPr>
              <a:t>event replay</a:t>
            </a:r>
          </a:p>
        </p:txBody>
      </p:sp>
      <p:sp>
        <p:nvSpPr>
          <p:cNvPr id="58" name="Rounded Rectangle 57"/>
          <p:cNvSpPr/>
          <p:nvPr/>
        </p:nvSpPr>
        <p:spPr>
          <a:xfrm>
            <a:off x="3456432" y="3337560"/>
            <a:ext cx="1078992" cy="78638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3502152" y="3621024"/>
            <a:ext cx="987552" cy="27432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Python</a:t>
            </a:r>
          </a:p>
        </p:txBody>
      </p:sp>
      <p:cxnSp>
        <p:nvCxnSpPr>
          <p:cNvPr id="60" name="Connector 59"/>
          <p:cNvCxnSpPr/>
          <p:nvPr/>
        </p:nvCxnSpPr>
        <p:spPr>
          <a:xfrm>
            <a:off x="2084831" y="4133087"/>
            <a:ext cx="0" cy="310897"/>
          </a:xfrm>
          <a:prstGeom prst="line">
            <a:avLst/>
          </a:prstGeom>
          <a:ln w="1397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61" name="Connector 60"/>
          <p:cNvCxnSpPr/>
          <p:nvPr/>
        </p:nvCxnSpPr>
        <p:spPr>
          <a:xfrm>
            <a:off x="3995928" y="4133087"/>
            <a:ext cx="0" cy="310897"/>
          </a:xfrm>
          <a:prstGeom prst="line">
            <a:avLst/>
          </a:prstGeom>
          <a:ln w="1397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2" name="Rounded Rectangle 61"/>
          <p:cNvSpPr/>
          <p:nvPr/>
        </p:nvSpPr>
        <p:spPr>
          <a:xfrm>
            <a:off x="941832" y="4489704"/>
            <a:ext cx="3593592" cy="42062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TextBox 62"/>
          <p:cNvSpPr txBox="1"/>
          <p:nvPr/>
        </p:nvSpPr>
        <p:spPr>
          <a:xfrm>
            <a:off x="1078992" y="4590288"/>
            <a:ext cx="1755648" cy="265176"/>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EngineClient</a:t>
            </a:r>
          </a:p>
        </p:txBody>
      </p:sp>
      <p:sp>
        <p:nvSpPr>
          <p:cNvPr id="64" name="TextBox 63"/>
          <p:cNvSpPr txBox="1"/>
          <p:nvPr/>
        </p:nvSpPr>
        <p:spPr>
          <a:xfrm>
            <a:off x="2852928" y="4535424"/>
            <a:ext cx="1600200" cy="329184"/>
          </a:xfrm>
          <a:prstGeom prst="rect">
            <a:avLst/>
          </a:prstGeom>
          <a:noFill/>
        </p:spPr>
        <p:txBody>
          <a:bodyPr wrap="square" lIns="0" rIns="0" tIns="0" bIns="0" anchor="t">
            <a:spAutoFit/>
          </a:bodyPr>
          <a:lstStyle/>
          <a:p>
            <a:pPr algn="l">
              <a:lnSpc>
                <a:spcPct val="110000"/>
              </a:lnSpc>
              <a:spcAft>
                <a:spcPts val="0"/>
              </a:spcAft>
            </a:pPr>
            <a:r>
              <a:rPr sz="969" b="0">
                <a:solidFill>
                  <a:srgbClr val="586B7E"/>
                </a:solidFill>
                <a:latin typeface="Arial"/>
                <a:ea typeface="Arial"/>
                <a:cs typeface="Arial"/>
              </a:rPr>
              <a:t>session handles</a:t>
            </a:r>
          </a:p>
          <a:p>
            <a:pPr algn="l">
              <a:lnSpc>
                <a:spcPct val="110000"/>
              </a:lnSpc>
              <a:spcAft>
                <a:spcPts val="0"/>
              </a:spcAft>
            </a:pPr>
            <a:r>
              <a:rPr sz="969" b="0">
                <a:solidFill>
                  <a:srgbClr val="586B7E"/>
                </a:solidFill>
                <a:latin typeface="Arial"/>
                <a:ea typeface="Arial"/>
                <a:cs typeface="Arial"/>
              </a:rPr>
              <a:t>command / event routing</a:t>
            </a:r>
          </a:p>
        </p:txBody>
      </p:sp>
      <p:sp>
        <p:nvSpPr>
          <p:cNvPr id="65" name="Rounded Rectangle 64"/>
          <p:cNvSpPr/>
          <p:nvPr/>
        </p:nvSpPr>
        <p:spPr>
          <a:xfrm>
            <a:off x="6281928" y="2670048"/>
            <a:ext cx="5138928" cy="248716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TextBox 65"/>
          <p:cNvSpPr txBox="1"/>
          <p:nvPr/>
        </p:nvSpPr>
        <p:spPr>
          <a:xfrm>
            <a:off x="6455664" y="2816352"/>
            <a:ext cx="4663440" cy="292608"/>
          </a:xfrm>
          <a:prstGeom prst="rect">
            <a:avLst/>
          </a:prstGeom>
          <a:noFill/>
        </p:spPr>
        <p:txBody>
          <a:bodyPr wrap="square" lIns="0" rIns="0" tIns="0" bIns="0" anchor="t">
            <a:spAutoFit/>
          </a:bodyPr>
          <a:lstStyle/>
          <a:p>
            <a:pPr algn="l">
              <a:lnSpc>
                <a:spcPct val="110000"/>
              </a:lnSpc>
              <a:spcAft>
                <a:spcPts val="0"/>
              </a:spcAft>
            </a:pPr>
            <a:r>
              <a:rPr sz="1800" b="1">
                <a:solidFill>
                  <a:srgbClr val="142B45"/>
                </a:solidFill>
                <a:latin typeface="Arial"/>
                <a:ea typeface="Arial"/>
                <a:cs typeface="Arial"/>
              </a:rPr>
              <a:t>Duplex Orchestrator</a:t>
            </a:r>
          </a:p>
        </p:txBody>
      </p:sp>
      <p:sp>
        <p:nvSpPr>
          <p:cNvPr id="67" name="Rounded Rectangle 66"/>
          <p:cNvSpPr/>
          <p:nvPr/>
        </p:nvSpPr>
        <p:spPr>
          <a:xfrm>
            <a:off x="6455664" y="3172968"/>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TextBox 67"/>
          <p:cNvSpPr txBox="1"/>
          <p:nvPr/>
        </p:nvSpPr>
        <p:spPr>
          <a:xfrm>
            <a:off x="6565392" y="3227832"/>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Session</a:t>
            </a:r>
          </a:p>
          <a:p>
            <a:pPr algn="l">
              <a:lnSpc>
                <a:spcPct val="110000"/>
              </a:lnSpc>
              <a:spcAft>
                <a:spcPts val="0"/>
              </a:spcAft>
            </a:pPr>
            <a:r>
              <a:rPr sz="1350" b="1">
                <a:solidFill>
                  <a:srgbClr val="008E96"/>
                </a:solidFill>
                <a:latin typeface="Arial"/>
                <a:ea typeface="Arial"/>
                <a:cs typeface="Arial"/>
              </a:rPr>
              <a:t>Manager</a:t>
            </a:r>
          </a:p>
        </p:txBody>
      </p:sp>
      <p:sp>
        <p:nvSpPr>
          <p:cNvPr id="69" name="TextBox 68"/>
          <p:cNvSpPr txBox="1"/>
          <p:nvPr/>
        </p:nvSpPr>
        <p:spPr>
          <a:xfrm>
            <a:off x="8028431" y="3227832"/>
            <a:ext cx="3127248" cy="49377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1. Create / close / resume; manage leases</a:t>
            </a:r>
          </a:p>
          <a:p>
            <a:pPr algn="l">
              <a:lnSpc>
                <a:spcPct val="110000"/>
              </a:lnSpc>
              <a:spcAft>
                <a:spcPts val="0"/>
              </a:spcAft>
            </a:pPr>
            <a:r>
              <a:rPr sz="1050" b="0">
                <a:solidFill>
                  <a:srgbClr val="142B45"/>
                </a:solidFill>
                <a:latin typeface="Arial"/>
                <a:ea typeface="Arial"/>
                <a:cs typeface="Arial"/>
              </a:rPr>
              <a:t>2. Check capacity / backlog; route commands</a:t>
            </a:r>
          </a:p>
          <a:p>
            <a:pPr algn="l">
              <a:lnSpc>
                <a:spcPct val="110000"/>
              </a:lnSpc>
              <a:spcAft>
                <a:spcPts val="0"/>
              </a:spcAft>
            </a:pPr>
            <a:r>
              <a:rPr sz="1050" b="0">
                <a:solidFill>
                  <a:srgbClr val="142B45"/>
                </a:solidFill>
                <a:latin typeface="Arial"/>
                <a:ea typeface="Arial"/>
                <a:cs typeface="Arial"/>
              </a:rPr>
              <a:t>3. Bound output buffers; close expired sessions</a:t>
            </a:r>
          </a:p>
        </p:txBody>
      </p:sp>
      <p:sp>
        <p:nvSpPr>
          <p:cNvPr id="70" name="Rounded Rectangle 69"/>
          <p:cNvSpPr/>
          <p:nvPr/>
        </p:nvSpPr>
        <p:spPr>
          <a:xfrm>
            <a:off x="6455664" y="3849624"/>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TextBox 70"/>
          <p:cNvSpPr txBox="1"/>
          <p:nvPr/>
        </p:nvSpPr>
        <p:spPr>
          <a:xfrm>
            <a:off x="6565392" y="3904487"/>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Session</a:t>
            </a:r>
          </a:p>
          <a:p>
            <a:pPr algn="l">
              <a:lnSpc>
                <a:spcPct val="110000"/>
              </a:lnSpc>
              <a:spcAft>
                <a:spcPts val="0"/>
              </a:spcAft>
            </a:pPr>
            <a:r>
              <a:rPr sz="1350" b="1">
                <a:solidFill>
                  <a:srgbClr val="008E96"/>
                </a:solidFill>
                <a:latin typeface="Arial"/>
                <a:ea typeface="Arial"/>
                <a:cs typeface="Arial"/>
              </a:rPr>
              <a:t>Runner</a:t>
            </a:r>
          </a:p>
        </p:txBody>
      </p:sp>
      <p:sp>
        <p:nvSpPr>
          <p:cNvPr id="72" name="TextBox 71"/>
          <p:cNvSpPr txBox="1"/>
          <p:nvPr/>
        </p:nvSpPr>
        <p:spPr>
          <a:xfrm>
            <a:off x="8028431" y="3904487"/>
            <a:ext cx="3127248" cy="49377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1. One runner per session; ordered mailbox</a:t>
            </a:r>
          </a:p>
          <a:p>
            <a:pPr algn="l">
              <a:lnSpc>
                <a:spcPct val="110000"/>
              </a:lnSpc>
              <a:spcAft>
                <a:spcPts val="0"/>
              </a:spcAft>
            </a:pPr>
            <a:r>
              <a:rPr sz="1050" b="0">
                <a:solidFill>
                  <a:srgbClr val="142B45"/>
                </a:solidFill>
                <a:latin typeface="Arial"/>
                <a:ea typeface="Arial"/>
                <a:cs typeface="Arial"/>
              </a:rPr>
              <a:t>2. Handle input, commit, cancel, Stage output</a:t>
            </a:r>
          </a:p>
          <a:p>
            <a:pPr algn="l">
              <a:lnSpc>
                <a:spcPct val="110000"/>
              </a:lnSpc>
              <a:spcAft>
                <a:spcPts val="0"/>
              </a:spcAft>
            </a:pPr>
            <a:r>
              <a:rPr sz="1050" b="0">
                <a:solidFill>
                  <a:srgbClr val="142B45"/>
                </a:solidFill>
                <a:latin typeface="Arial"/>
                <a:ea typeface="Arial"/>
                <a:cs typeface="Arial"/>
              </a:rPr>
              <a:t>3. Advance response, history and playback</a:t>
            </a:r>
          </a:p>
        </p:txBody>
      </p:sp>
      <p:sp>
        <p:nvSpPr>
          <p:cNvPr id="73" name="Rounded Rectangle 72"/>
          <p:cNvSpPr/>
          <p:nvPr/>
        </p:nvSpPr>
        <p:spPr>
          <a:xfrm>
            <a:off x="6455664" y="4526280"/>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6565392" y="4581144"/>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Model</a:t>
            </a:r>
          </a:p>
          <a:p>
            <a:pPr algn="l">
              <a:lnSpc>
                <a:spcPct val="110000"/>
              </a:lnSpc>
              <a:spcAft>
                <a:spcPts val="0"/>
              </a:spcAft>
            </a:pPr>
            <a:r>
              <a:rPr sz="1350" b="1">
                <a:solidFill>
                  <a:srgbClr val="008E96"/>
                </a:solidFill>
                <a:latin typeface="Arial"/>
                <a:ea typeface="Arial"/>
                <a:cs typeface="Arial"/>
              </a:rPr>
              <a:t>Plugin</a:t>
            </a:r>
          </a:p>
        </p:txBody>
      </p:sp>
      <p:sp>
        <p:nvSpPr>
          <p:cNvPr id="75" name="TextBox 74"/>
          <p:cNvSpPr txBox="1"/>
          <p:nvPr/>
        </p:nvSpPr>
        <p:spPr>
          <a:xfrm>
            <a:off x="8028431" y="4581144"/>
            <a:ext cx="3127248" cy="49377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1. Capabilities; runtime / sampling settings</a:t>
            </a:r>
          </a:p>
          <a:p>
            <a:pPr algn="l">
              <a:lnSpc>
                <a:spcPct val="110000"/>
              </a:lnSpc>
              <a:spcAft>
                <a:spcPts val="0"/>
              </a:spcAft>
            </a:pPr>
            <a:r>
              <a:rPr sz="1050" b="0">
                <a:solidFill>
                  <a:srgbClr val="142B45"/>
                </a:solidFill>
                <a:latin typeface="Arial"/>
                <a:ea typeface="Arial"/>
                <a:cs typeface="Arial"/>
              </a:rPr>
              <a:t>2. Session buffers; chunk / turn input</a:t>
            </a:r>
          </a:p>
          <a:p>
            <a:pPr algn="l">
              <a:lnSpc>
                <a:spcPct val="110000"/>
              </a:lnSpc>
              <a:spcAft>
                <a:spcPts val="0"/>
              </a:spcAft>
            </a:pPr>
            <a:r>
              <a:rPr sz="1050" b="0">
                <a:solidFill>
                  <a:srgbClr val="142B45"/>
                </a:solidFill>
                <a:latin typeface="Arial"/>
                <a:ea typeface="Arial"/>
                <a:cs typeface="Arial"/>
              </a:rPr>
              <a:t>3. Interpret output; set downstream Stage policy</a:t>
            </a:r>
          </a:p>
        </p:txBody>
      </p:sp>
      <p:cxnSp>
        <p:nvCxnSpPr>
          <p:cNvPr id="76" name="Connector 75"/>
          <p:cNvCxnSpPr/>
          <p:nvPr/>
        </p:nvCxnSpPr>
        <p:spPr>
          <a:xfrm>
            <a:off x="4764024" y="3493008"/>
            <a:ext cx="14813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77" name="TextBox 76"/>
          <p:cNvSpPr txBox="1"/>
          <p:nvPr/>
        </p:nvSpPr>
        <p:spPr>
          <a:xfrm>
            <a:off x="4773168" y="3246120"/>
            <a:ext cx="1463040" cy="210312"/>
          </a:xfrm>
          <a:prstGeom prst="rect">
            <a:avLst/>
          </a:prstGeom>
          <a:noFill/>
        </p:spPr>
        <p:txBody>
          <a:bodyPr wrap="square" lIns="0" rIns="0" tIns="0" bIns="0" anchor="t">
            <a:spAutoFit/>
          </a:bodyPr>
          <a:lstStyle/>
          <a:p>
            <a:pPr algn="ctr">
              <a:lnSpc>
                <a:spcPct val="110000"/>
              </a:lnSpc>
              <a:spcAft>
                <a:spcPts val="0"/>
              </a:spcAft>
            </a:pPr>
            <a:r>
              <a:rPr sz="950" b="1">
                <a:solidFill>
                  <a:srgbClr val="327CEC"/>
                </a:solidFill>
                <a:latin typeface="Arial"/>
                <a:ea typeface="Arial"/>
                <a:cs typeface="Arial"/>
              </a:rPr>
              <a:t>commands / session ops</a:t>
            </a:r>
          </a:p>
        </p:txBody>
      </p:sp>
      <p:cxnSp>
        <p:nvCxnSpPr>
          <p:cNvPr id="78" name="Connector 77"/>
          <p:cNvCxnSpPr/>
          <p:nvPr/>
        </p:nvCxnSpPr>
        <p:spPr>
          <a:xfrm flipH="1">
            <a:off x="4764024" y="4142232"/>
            <a:ext cx="1481328"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79" name="TextBox 78"/>
          <p:cNvSpPr txBox="1"/>
          <p:nvPr/>
        </p:nvSpPr>
        <p:spPr>
          <a:xfrm>
            <a:off x="4773168" y="3895344"/>
            <a:ext cx="1463040" cy="210312"/>
          </a:xfrm>
          <a:prstGeom prst="rect">
            <a:avLst/>
          </a:prstGeom>
          <a:noFill/>
        </p:spPr>
        <p:txBody>
          <a:bodyPr wrap="square" lIns="0" rIns="0" tIns="0" bIns="0" anchor="t">
            <a:spAutoFit/>
          </a:bodyPr>
          <a:lstStyle/>
          <a:p>
            <a:pPr algn="ctr">
              <a:lnSpc>
                <a:spcPct val="110000"/>
              </a:lnSpc>
              <a:spcAft>
                <a:spcPts val="0"/>
              </a:spcAft>
            </a:pPr>
            <a:r>
              <a:rPr sz="1150" b="1">
                <a:solidFill>
                  <a:srgbClr val="008E96"/>
                </a:solidFill>
                <a:latin typeface="Arial"/>
                <a:ea typeface="Arial"/>
                <a:cs typeface="Arial"/>
              </a:rPr>
              <a:t>operation result</a:t>
            </a:r>
          </a:p>
        </p:txBody>
      </p:sp>
      <p:cxnSp>
        <p:nvCxnSpPr>
          <p:cNvPr id="80" name="Connector 79"/>
          <p:cNvCxnSpPr/>
          <p:nvPr/>
        </p:nvCxnSpPr>
        <p:spPr>
          <a:xfrm flipH="1">
            <a:off x="4764024" y="4800600"/>
            <a:ext cx="1481328" cy="0"/>
          </a:xfrm>
          <a:prstGeom prst="line">
            <a:avLst/>
          </a:prstGeom>
          <a:ln w="17780">
            <a:solidFill>
              <a:srgbClr val="7855AD"/>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1" name="TextBox 80"/>
          <p:cNvSpPr txBox="1"/>
          <p:nvPr/>
        </p:nvSpPr>
        <p:spPr>
          <a:xfrm>
            <a:off x="4773168" y="4553712"/>
            <a:ext cx="1463040" cy="210312"/>
          </a:xfrm>
          <a:prstGeom prst="rect">
            <a:avLst/>
          </a:prstGeom>
          <a:noFill/>
        </p:spPr>
        <p:txBody>
          <a:bodyPr wrap="square" lIns="0" rIns="0" tIns="0" bIns="0" anchor="t">
            <a:spAutoFit/>
          </a:bodyPr>
          <a:lstStyle/>
          <a:p>
            <a:pPr algn="ctr">
              <a:lnSpc>
                <a:spcPct val="110000"/>
              </a:lnSpc>
              <a:spcAft>
                <a:spcPts val="0"/>
              </a:spcAft>
            </a:pPr>
            <a:r>
              <a:rPr sz="1200" b="1">
                <a:solidFill>
                  <a:srgbClr val="7855AD"/>
                </a:solidFill>
                <a:latin typeface="Arial"/>
                <a:ea typeface="Arial"/>
                <a:cs typeface="Arial"/>
              </a:rPr>
              <a:t>session events</a:t>
            </a:r>
          </a:p>
        </p:txBody>
      </p:sp>
      <p:sp>
        <p:nvSpPr>
          <p:cNvPr id="82" name="TextBox 81"/>
          <p:cNvSpPr txBox="1"/>
          <p:nvPr/>
        </p:nvSpPr>
        <p:spPr>
          <a:xfrm>
            <a:off x="4764024" y="5157216"/>
            <a:ext cx="1490472" cy="128016"/>
          </a:xfrm>
          <a:prstGeom prst="rect">
            <a:avLst/>
          </a:prstGeom>
          <a:noFill/>
        </p:spPr>
        <p:txBody>
          <a:bodyPr wrap="square" lIns="0" rIns="0" tIns="0" bIns="0" anchor="t">
            <a:spAutoFit/>
          </a:bodyPr>
          <a:lstStyle/>
          <a:p>
            <a:pPr algn="ctr">
              <a:lnSpc>
                <a:spcPct val="110000"/>
              </a:lnSpc>
              <a:spcAft>
                <a:spcPts val="0"/>
              </a:spcAft>
            </a:pPr>
            <a:r>
              <a:rPr sz="800" b="0">
                <a:solidFill>
                  <a:srgbClr val="586B7E"/>
                </a:solidFill>
                <a:latin typeface="Arial"/>
                <a:ea typeface="Arial"/>
                <a:cs typeface="Arial"/>
              </a:rPr>
              <a:t>same process · separate loops</a:t>
            </a:r>
          </a:p>
        </p:txBody>
      </p:sp>
      <p:sp>
        <p:nvSpPr>
          <p:cNvPr id="83" name="TextBox 82"/>
          <p:cNvSpPr txBox="1"/>
          <p:nvPr/>
        </p:nvSpPr>
        <p:spPr>
          <a:xfrm>
            <a:off x="758952" y="5559552"/>
            <a:ext cx="5513832" cy="704088"/>
          </a:xfrm>
          <a:prstGeom prst="rect">
            <a:avLst/>
          </a:prstGeom>
          <a:noFill/>
        </p:spPr>
        <p:txBody>
          <a:bodyPr wrap="square" lIns="0" rIns="0" tIns="0" bIns="0" anchor="t">
            <a:spAutoFit/>
          </a:bodyPr>
          <a:lstStyle/>
          <a:p>
            <a:pPr algn="l">
              <a:lnSpc>
                <a:spcPct val="110000"/>
              </a:lnSpc>
              <a:spcAft>
                <a:spcPts val="0"/>
              </a:spcAft>
            </a:pPr>
            <a:r>
              <a:rPr sz="1200" b="1">
                <a:solidFill>
                  <a:srgbClr val="142B45"/>
                </a:solidFill>
                <a:latin typeface="Arial"/>
                <a:ea typeface="Arial"/>
                <a:cs typeface="Arial"/>
              </a:rPr>
              <a:t>API Server: protocol, attachment and event replay</a:t>
            </a:r>
          </a:p>
          <a:p>
            <a:pPr algn="l">
              <a:lnSpc>
                <a:spcPct val="110000"/>
              </a:lnSpc>
              <a:spcAft>
                <a:spcPts val="0"/>
              </a:spcAft>
            </a:pPr>
            <a:r>
              <a:rPr sz="1200" b="1">
                <a:solidFill>
                  <a:srgbClr val="142B45"/>
                </a:solidFill>
                <a:latin typeface="Arial"/>
                <a:ea typeface="Arial"/>
                <a:cs typeface="Arial"/>
              </a:rPr>
              <a:t>EngineClient: handles, event streams and control results</a:t>
            </a:r>
          </a:p>
          <a:p>
            <a:pPr algn="l">
              <a:lnSpc>
                <a:spcPct val="110000"/>
              </a:lnSpc>
              <a:spcAft>
                <a:spcPts val="0"/>
              </a:spcAft>
            </a:pPr>
            <a:r>
              <a:rPr sz="1200" b="1">
                <a:solidFill>
                  <a:srgbClr val="142B45"/>
                </a:solidFill>
                <a:latin typeface="Arial"/>
                <a:ea typeface="Arial"/>
                <a:cs typeface="Arial"/>
              </a:rPr>
              <a:t>Duplex Orchestrator: session execution and Stage dispatch</a:t>
            </a:r>
          </a:p>
        </p:txBody>
      </p:sp>
      <p:cxnSp>
        <p:nvCxnSpPr>
          <p:cNvPr id="84" name="Connector 83"/>
          <p:cNvCxnSpPr/>
          <p:nvPr/>
        </p:nvCxnSpPr>
        <p:spPr>
          <a:xfrm>
            <a:off x="7863840" y="5367528"/>
            <a:ext cx="0" cy="292608"/>
          </a:xfrm>
          <a:prstGeom prst="line">
            <a:avLst/>
          </a:prstGeom>
          <a:ln w="1397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85" name="Connector 84"/>
          <p:cNvCxnSpPr/>
          <p:nvPr/>
        </p:nvCxnSpPr>
        <p:spPr>
          <a:xfrm flipV="1">
            <a:off x="10067544" y="5367528"/>
            <a:ext cx="0" cy="292608"/>
          </a:xfrm>
          <a:prstGeom prst="line">
            <a:avLst/>
          </a:prstGeom>
          <a:ln w="1397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6" name="TextBox 85"/>
          <p:cNvSpPr txBox="1"/>
          <p:nvPr/>
        </p:nvSpPr>
        <p:spPr>
          <a:xfrm>
            <a:off x="6501384" y="5431536"/>
            <a:ext cx="1225296" cy="182880"/>
          </a:xfrm>
          <a:prstGeom prst="rect">
            <a:avLst/>
          </a:prstGeom>
          <a:noFill/>
        </p:spPr>
        <p:txBody>
          <a:bodyPr wrap="square" lIns="0" rIns="0" tIns="0" bIns="0" anchor="t">
            <a:spAutoFit/>
          </a:bodyPr>
          <a:lstStyle/>
          <a:p>
            <a:pPr algn="l">
              <a:lnSpc>
                <a:spcPct val="110000"/>
              </a:lnSpc>
              <a:spcAft>
                <a:spcPts val="0"/>
              </a:spcAft>
            </a:pPr>
            <a:r>
              <a:rPr sz="1000" b="1">
                <a:solidFill>
                  <a:srgbClr val="008E96"/>
                </a:solidFill>
                <a:latin typeface="Arial"/>
                <a:ea typeface="Arial"/>
                <a:cs typeface="Arial"/>
              </a:rPr>
              <a:t>Stage requests</a:t>
            </a:r>
          </a:p>
        </p:txBody>
      </p:sp>
      <p:sp>
        <p:nvSpPr>
          <p:cNvPr id="87" name="TextBox 86"/>
          <p:cNvSpPr txBox="1"/>
          <p:nvPr/>
        </p:nvSpPr>
        <p:spPr>
          <a:xfrm>
            <a:off x="10204704" y="5431536"/>
            <a:ext cx="1179576" cy="182880"/>
          </a:xfrm>
          <a:prstGeom prst="rect">
            <a:avLst/>
          </a:prstGeom>
          <a:noFill/>
        </p:spPr>
        <p:txBody>
          <a:bodyPr wrap="square" lIns="0" rIns="0" tIns="0" bIns="0" anchor="t">
            <a:spAutoFit/>
          </a:bodyPr>
          <a:lstStyle/>
          <a:p>
            <a:pPr algn="l">
              <a:lnSpc>
                <a:spcPct val="110000"/>
              </a:lnSpc>
              <a:spcAft>
                <a:spcPts val="0"/>
              </a:spcAft>
            </a:pPr>
            <a:r>
              <a:rPr sz="1000" b="1">
                <a:solidFill>
                  <a:srgbClr val="008E96"/>
                </a:solidFill>
                <a:latin typeface="Arial"/>
                <a:ea typeface="Arial"/>
                <a:cs typeface="Arial"/>
              </a:rPr>
              <a:t>Stage output</a:t>
            </a:r>
          </a:p>
        </p:txBody>
      </p:sp>
      <p:sp>
        <p:nvSpPr>
          <p:cNvPr id="88" name="Rounded Rectangle 87"/>
          <p:cNvSpPr/>
          <p:nvPr/>
        </p:nvSpPr>
        <p:spPr>
          <a:xfrm>
            <a:off x="6437376" y="5678424"/>
            <a:ext cx="4983480" cy="603504"/>
          </a:xfrm>
          <a:prstGeom prst="roundRect">
            <a:avLst>
              <a:gd name="adj" fmla="val 10000"/>
            </a:avLst>
          </a:prstGeom>
          <a:solidFill>
            <a:srgbClr val="142B45"/>
          </a:solidFill>
          <a:ln w="12065">
            <a:solidFill>
              <a:srgbClr val="7692B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TextBox 88"/>
          <p:cNvSpPr txBox="1"/>
          <p:nvPr/>
        </p:nvSpPr>
        <p:spPr>
          <a:xfrm>
            <a:off x="6601968" y="5760720"/>
            <a:ext cx="4617720" cy="256032"/>
          </a:xfrm>
          <a:prstGeom prst="rect">
            <a:avLst/>
          </a:prstGeom>
          <a:noFill/>
        </p:spPr>
        <p:txBody>
          <a:bodyPr wrap="square" lIns="0" rIns="0" tIns="0" bIns="0" anchor="t">
            <a:spAutoFit/>
          </a:bodyPr>
          <a:lstStyle/>
          <a:p>
            <a:pPr algn="l">
              <a:lnSpc>
                <a:spcPct val="110000"/>
              </a:lnSpc>
              <a:spcAft>
                <a:spcPts val="0"/>
              </a:spcAft>
            </a:pPr>
            <a:r>
              <a:rPr sz="1600" b="1">
                <a:solidFill>
                  <a:srgbClr val="FFFFFF"/>
                </a:solidFill>
                <a:latin typeface="Arial"/>
                <a:ea typeface="Arial"/>
                <a:cs typeface="Arial"/>
              </a:rPr>
              <a:t>Stage execution processes</a:t>
            </a:r>
          </a:p>
        </p:txBody>
      </p:sp>
      <p:sp>
        <p:nvSpPr>
          <p:cNvPr id="90" name="TextBox 89"/>
          <p:cNvSpPr txBox="1"/>
          <p:nvPr/>
        </p:nvSpPr>
        <p:spPr>
          <a:xfrm>
            <a:off x="6601968" y="6071616"/>
            <a:ext cx="4617720" cy="164592"/>
          </a:xfrm>
          <a:prstGeom prst="rect">
            <a:avLst/>
          </a:prstGeom>
          <a:noFill/>
        </p:spPr>
        <p:txBody>
          <a:bodyPr wrap="square" lIns="0" rIns="0" tIns="0" bIns="0" anchor="t">
            <a:spAutoFit/>
          </a:bodyPr>
          <a:lstStyle/>
          <a:p>
            <a:pPr algn="l">
              <a:lnSpc>
                <a:spcPct val="110000"/>
              </a:lnSpc>
              <a:spcAft>
                <a:spcPts val="0"/>
              </a:spcAft>
            </a:pPr>
            <a:r>
              <a:rPr sz="1000" b="0">
                <a:solidFill>
                  <a:srgbClr val="B7C8D9"/>
                </a:solidFill>
                <a:latin typeface="Arial"/>
                <a:ea typeface="Arial"/>
                <a:cs typeface="Arial"/>
              </a:rPr>
              <a:t>Scheduler + workers · compute, KV and stream caches</a:t>
            </a:r>
          </a:p>
        </p:txBody>
      </p:sp>
      <p:sp>
        <p:nvSpPr>
          <p:cNvPr id="91" name="TextBox 90"/>
          <p:cNvSpPr txBox="1"/>
          <p:nvPr/>
        </p:nvSpPr>
        <p:spPr>
          <a:xfrm>
            <a:off x="4773168" y="4178808"/>
            <a:ext cx="1463040" cy="329184"/>
          </a:xfrm>
          <a:prstGeom prst="rect">
            <a:avLst/>
          </a:prstGeom>
          <a:noFill/>
        </p:spPr>
        <p:txBody>
          <a:bodyPr wrap="square" lIns="0" rIns="0" tIns="0" bIns="0" anchor="t">
            <a:spAutoFit/>
          </a:bodyPr>
          <a:lstStyle/>
          <a:p>
            <a:pPr algn="ctr">
              <a:lnSpc>
                <a:spcPct val="110000"/>
              </a:lnSpc>
              <a:spcAft>
                <a:spcPts val="0"/>
              </a:spcAft>
            </a:pPr>
            <a:r>
              <a:rPr sz="860" b="0">
                <a:solidFill>
                  <a:srgbClr val="586B7E"/>
                </a:solidFill>
                <a:latin typeface="Arial"/>
                <a:ea typeface="Arial"/>
                <a:cs typeface="Arial"/>
              </a:rPr>
              <a:t>open / close / resume</a:t>
            </a:r>
          </a:p>
          <a:p>
            <a:pPr algn="ctr">
              <a:lnSpc>
                <a:spcPct val="110000"/>
              </a:lnSpc>
              <a:spcAft>
                <a:spcPts val="0"/>
              </a:spcAft>
            </a:pPr>
            <a:r>
              <a:rPr sz="860" b="0">
                <a:solidFill>
                  <a:srgbClr val="586B7E"/>
                </a:solidFill>
                <a:latin typeface="Arial"/>
                <a:ea typeface="Arial"/>
                <a:cs typeface="Arial"/>
              </a:rPr>
              <a:t>success or error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ARCHITECTURE &amp; EXECUTION</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200" b="1">
                <a:solidFill>
                  <a:srgbClr val="142B45"/>
                </a:solidFill>
                <a:latin typeface="Arial"/>
                <a:ea typeface="Arial"/>
                <a:cs typeface="Arial"/>
              </a:rPr>
              <a:t>Full-duplex workflow</a:t>
            </a:r>
          </a:p>
        </p:txBody>
      </p:sp>
      <p:sp>
        <p:nvSpPr>
          <p:cNvPr id="7" name="TextBox 6"/>
          <p:cNvSpPr txBox="1"/>
          <p:nvPr/>
        </p:nvSpPr>
        <p:spPr>
          <a:xfrm>
            <a:off x="576072" y="1645920"/>
            <a:ext cx="10972800" cy="365760"/>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API Server handles protocol; EngineClient routes commands and events; Orchestrator coordinates execution.</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06 / 12</a:t>
            </a:r>
          </a:p>
        </p:txBody>
      </p:sp>
      <p:cxnSp>
        <p:nvCxnSpPr>
          <p:cNvPr id="12" name="Connector 11"/>
          <p:cNvCxnSpPr/>
          <p:nvPr/>
        </p:nvCxnSpPr>
        <p:spPr>
          <a:xfrm>
            <a:off x="2395728" y="2185416"/>
            <a:ext cx="4151376" cy="0"/>
          </a:xfrm>
          <a:prstGeom prst="line">
            <a:avLst/>
          </a:prstGeom>
          <a:ln w="10160">
            <a:solidFill>
              <a:srgbClr val="327CEC"/>
            </a:solidFill>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2395728" y="2011680"/>
            <a:ext cx="4151376" cy="182880"/>
          </a:xfrm>
          <a:prstGeom prst="rect">
            <a:avLst/>
          </a:prstGeom>
          <a:noFill/>
        </p:spPr>
        <p:txBody>
          <a:bodyPr wrap="square" lIns="0" rIns="0" tIns="0" bIns="0" anchor="t">
            <a:spAutoFit/>
          </a:bodyPr>
          <a:lstStyle/>
          <a:p>
            <a:pPr algn="ctr">
              <a:lnSpc>
                <a:spcPct val="110000"/>
              </a:lnSpc>
              <a:spcAft>
                <a:spcPts val="0"/>
              </a:spcAft>
            </a:pPr>
            <a:r>
              <a:rPr sz="1000" b="0">
                <a:solidFill>
                  <a:srgbClr val="586B7E"/>
                </a:solidFill>
                <a:latin typeface="Arial"/>
                <a:ea typeface="Arial"/>
                <a:cs typeface="Arial"/>
              </a:rPr>
              <a:t>API / Python event loop</a:t>
            </a:r>
          </a:p>
        </p:txBody>
      </p:sp>
      <p:sp>
        <p:nvSpPr>
          <p:cNvPr id="14" name="TextBox 13"/>
          <p:cNvSpPr txBox="1"/>
          <p:nvPr/>
        </p:nvSpPr>
        <p:spPr>
          <a:xfrm>
            <a:off x="6684264" y="2011680"/>
            <a:ext cx="2432304" cy="182880"/>
          </a:xfrm>
          <a:prstGeom prst="rect">
            <a:avLst/>
          </a:prstGeom>
          <a:noFill/>
        </p:spPr>
        <p:txBody>
          <a:bodyPr wrap="square" lIns="0" rIns="0" tIns="0" bIns="0" anchor="t">
            <a:spAutoFit/>
          </a:bodyPr>
          <a:lstStyle/>
          <a:p>
            <a:pPr algn="ctr">
              <a:lnSpc>
                <a:spcPct val="110000"/>
              </a:lnSpc>
              <a:spcAft>
                <a:spcPts val="0"/>
              </a:spcAft>
            </a:pPr>
            <a:r>
              <a:rPr sz="1000" b="0">
                <a:solidFill>
                  <a:srgbClr val="586B7E"/>
                </a:solidFill>
                <a:latin typeface="Arial"/>
                <a:ea typeface="Arial"/>
                <a:cs typeface="Arial"/>
              </a:rPr>
              <a:t>Dedicated orchestrator thread</a:t>
            </a:r>
          </a:p>
        </p:txBody>
      </p:sp>
      <p:sp>
        <p:nvSpPr>
          <p:cNvPr id="15" name="TextBox 14"/>
          <p:cNvSpPr txBox="1"/>
          <p:nvPr/>
        </p:nvSpPr>
        <p:spPr>
          <a:xfrm>
            <a:off x="9582912" y="2011680"/>
            <a:ext cx="2011680" cy="182880"/>
          </a:xfrm>
          <a:prstGeom prst="rect">
            <a:avLst/>
          </a:prstGeom>
          <a:noFill/>
        </p:spPr>
        <p:txBody>
          <a:bodyPr wrap="square" lIns="0" rIns="0" tIns="0" bIns="0" anchor="t">
            <a:spAutoFit/>
          </a:bodyPr>
          <a:lstStyle/>
          <a:p>
            <a:pPr algn="ctr">
              <a:lnSpc>
                <a:spcPct val="110000"/>
              </a:lnSpc>
              <a:spcAft>
                <a:spcPts val="0"/>
              </a:spcAft>
            </a:pPr>
            <a:r>
              <a:rPr sz="1000" b="0">
                <a:solidFill>
                  <a:srgbClr val="586B7E"/>
                </a:solidFill>
                <a:latin typeface="Arial"/>
                <a:ea typeface="Arial"/>
                <a:cs typeface="Arial"/>
              </a:rPr>
              <a:t>Stage processes</a:t>
            </a:r>
          </a:p>
        </p:txBody>
      </p:sp>
      <p:sp>
        <p:nvSpPr>
          <p:cNvPr id="16" name="Rounded Rectangle 15"/>
          <p:cNvSpPr/>
          <p:nvPr/>
        </p:nvSpPr>
        <p:spPr>
          <a:xfrm>
            <a:off x="548640" y="2286000"/>
            <a:ext cx="1426464" cy="658368"/>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594360" y="2404872"/>
            <a:ext cx="1335024" cy="228600"/>
          </a:xfrm>
          <a:prstGeom prst="rect">
            <a:avLst/>
          </a:prstGeom>
          <a:noFill/>
        </p:spPr>
        <p:txBody>
          <a:bodyPr wrap="square" lIns="0" rIns="0" tIns="0" bIns="0" anchor="t">
            <a:spAutoFit/>
          </a:bodyPr>
          <a:lstStyle/>
          <a:p>
            <a:pPr algn="ctr">
              <a:lnSpc>
                <a:spcPct val="110000"/>
              </a:lnSpc>
              <a:spcAft>
                <a:spcPts val="0"/>
              </a:spcAft>
            </a:pPr>
            <a:r>
              <a:rPr sz="1600" b="1">
                <a:solidFill>
                  <a:srgbClr val="142B45"/>
                </a:solidFill>
                <a:latin typeface="Arial"/>
                <a:ea typeface="Arial"/>
                <a:cs typeface="Arial"/>
              </a:rPr>
              <a:t>User Client</a:t>
            </a:r>
          </a:p>
        </p:txBody>
      </p:sp>
      <p:sp>
        <p:nvSpPr>
          <p:cNvPr id="18" name="TextBox 17"/>
          <p:cNvSpPr txBox="1"/>
          <p:nvPr/>
        </p:nvSpPr>
        <p:spPr>
          <a:xfrm>
            <a:off x="585216" y="2706624"/>
            <a:ext cx="1353312"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Capture · playback</a:t>
            </a:r>
          </a:p>
        </p:txBody>
      </p:sp>
      <p:cxnSp>
        <p:nvCxnSpPr>
          <p:cNvPr id="19" name="Connector 18"/>
          <p:cNvCxnSpPr/>
          <p:nvPr/>
        </p:nvCxnSpPr>
        <p:spPr>
          <a:xfrm>
            <a:off x="1261872"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0" name="Rounded Rectangle 19"/>
          <p:cNvSpPr/>
          <p:nvPr/>
        </p:nvSpPr>
        <p:spPr>
          <a:xfrm>
            <a:off x="2395728" y="2286000"/>
            <a:ext cx="2011680" cy="65836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2441448"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API Server</a:t>
            </a:r>
          </a:p>
        </p:txBody>
      </p:sp>
      <p:sp>
        <p:nvSpPr>
          <p:cNvPr id="22" name="TextBox 21"/>
          <p:cNvSpPr txBox="1"/>
          <p:nvPr/>
        </p:nvSpPr>
        <p:spPr>
          <a:xfrm>
            <a:off x="2432304" y="2706624"/>
            <a:ext cx="1938528"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WebSocket ↔ command / event</a:t>
            </a:r>
          </a:p>
        </p:txBody>
      </p:sp>
      <p:cxnSp>
        <p:nvCxnSpPr>
          <p:cNvPr id="23" name="Connector 22"/>
          <p:cNvCxnSpPr/>
          <p:nvPr/>
        </p:nvCxnSpPr>
        <p:spPr>
          <a:xfrm>
            <a:off x="3401568"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4" name="Rounded Rectangle 23"/>
          <p:cNvSpPr/>
          <p:nvPr/>
        </p:nvSpPr>
        <p:spPr>
          <a:xfrm>
            <a:off x="4535424" y="2286000"/>
            <a:ext cx="2011680" cy="65836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581144"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EngineClient</a:t>
            </a:r>
          </a:p>
        </p:txBody>
      </p:sp>
      <p:sp>
        <p:nvSpPr>
          <p:cNvPr id="26" name="TextBox 25"/>
          <p:cNvSpPr txBox="1"/>
          <p:nvPr/>
        </p:nvSpPr>
        <p:spPr>
          <a:xfrm>
            <a:off x="4572000" y="2706624"/>
            <a:ext cx="1938528"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session handle · output buffer</a:t>
            </a:r>
          </a:p>
        </p:txBody>
      </p:sp>
      <p:cxnSp>
        <p:nvCxnSpPr>
          <p:cNvPr id="27" name="Connector 26"/>
          <p:cNvCxnSpPr/>
          <p:nvPr/>
        </p:nvCxnSpPr>
        <p:spPr>
          <a:xfrm>
            <a:off x="5541264"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8" name="Rounded Rectangle 27"/>
          <p:cNvSpPr/>
          <p:nvPr/>
        </p:nvSpPr>
        <p:spPr>
          <a:xfrm>
            <a:off x="6684264" y="2286000"/>
            <a:ext cx="2432304" cy="658368"/>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729983" y="2404872"/>
            <a:ext cx="2340864" cy="228600"/>
          </a:xfrm>
          <a:prstGeom prst="rect">
            <a:avLst/>
          </a:prstGeom>
          <a:noFill/>
        </p:spPr>
        <p:txBody>
          <a:bodyPr wrap="square" lIns="0" rIns="0" tIns="0" bIns="0" anchor="t">
            <a:spAutoFit/>
          </a:bodyPr>
          <a:lstStyle/>
          <a:p>
            <a:pPr algn="ctr">
              <a:lnSpc>
                <a:spcPct val="110000"/>
              </a:lnSpc>
              <a:spcAft>
                <a:spcPts val="0"/>
              </a:spcAft>
            </a:pPr>
            <a:r>
              <a:rPr sz="1500" b="1">
                <a:solidFill>
                  <a:srgbClr val="008E96"/>
                </a:solidFill>
                <a:latin typeface="Arial"/>
                <a:ea typeface="Arial"/>
                <a:cs typeface="Arial"/>
              </a:rPr>
              <a:t>Duplex Orchestrator</a:t>
            </a:r>
          </a:p>
        </p:txBody>
      </p:sp>
      <p:sp>
        <p:nvSpPr>
          <p:cNvPr id="30" name="TextBox 29"/>
          <p:cNvSpPr txBox="1"/>
          <p:nvPr/>
        </p:nvSpPr>
        <p:spPr>
          <a:xfrm>
            <a:off x="6720840" y="2706624"/>
            <a:ext cx="2359152"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Session Manager · Runner · Plugin</a:t>
            </a:r>
          </a:p>
        </p:txBody>
      </p:sp>
      <p:cxnSp>
        <p:nvCxnSpPr>
          <p:cNvPr id="31" name="Connector 30"/>
          <p:cNvCxnSpPr/>
          <p:nvPr/>
        </p:nvCxnSpPr>
        <p:spPr>
          <a:xfrm>
            <a:off x="7900416"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32" name="Rounded Rectangle 31"/>
          <p:cNvSpPr/>
          <p:nvPr/>
        </p:nvSpPr>
        <p:spPr>
          <a:xfrm>
            <a:off x="9582912" y="2286000"/>
            <a:ext cx="2011680" cy="658368"/>
          </a:xfrm>
          <a:prstGeom prst="roundRect">
            <a:avLst>
              <a:gd name="adj" fmla="val 10000"/>
            </a:avLst>
          </a:prstGeom>
          <a:solidFill>
            <a:srgbClr val="FBF4E8"/>
          </a:solidFill>
          <a:ln w="12065">
            <a:solidFill>
              <a:srgbClr val="C7B08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9628632"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AD761E"/>
                </a:solidFill>
                <a:latin typeface="Arial"/>
                <a:ea typeface="Arial"/>
                <a:cs typeface="Arial"/>
              </a:rPr>
              <a:t>Stage engines</a:t>
            </a:r>
          </a:p>
        </p:txBody>
      </p:sp>
      <p:sp>
        <p:nvSpPr>
          <p:cNvPr id="34" name="TextBox 33"/>
          <p:cNvSpPr txBox="1"/>
          <p:nvPr/>
        </p:nvSpPr>
        <p:spPr>
          <a:xfrm>
            <a:off x="9619488" y="2706624"/>
            <a:ext cx="1938528" cy="164592"/>
          </a:xfrm>
          <a:prstGeom prst="rect">
            <a:avLst/>
          </a:prstGeom>
          <a:noFill/>
        </p:spPr>
        <p:txBody>
          <a:bodyPr wrap="square" lIns="0" rIns="0" tIns="0" bIns="0" anchor="t">
            <a:spAutoFit/>
          </a:bodyPr>
          <a:lstStyle/>
          <a:p>
            <a:pPr algn="ctr">
              <a:lnSpc>
                <a:spcPct val="110000"/>
              </a:lnSpc>
              <a:spcAft>
                <a:spcPts val="0"/>
              </a:spcAft>
            </a:pPr>
            <a:r>
              <a:rPr sz="940" b="0">
                <a:solidFill>
                  <a:srgbClr val="586B7E"/>
                </a:solidFill>
                <a:latin typeface="Arial"/>
                <a:ea typeface="Arial"/>
                <a:cs typeface="Arial"/>
              </a:rPr>
              <a:t>Scheduler · workers · KV / cache</a:t>
            </a:r>
          </a:p>
        </p:txBody>
      </p:sp>
      <p:cxnSp>
        <p:nvCxnSpPr>
          <p:cNvPr id="35" name="Connector 34"/>
          <p:cNvCxnSpPr/>
          <p:nvPr/>
        </p:nvCxnSpPr>
        <p:spPr>
          <a:xfrm>
            <a:off x="10588752"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36" name="Rounded Rectangle 35"/>
          <p:cNvSpPr/>
          <p:nvPr/>
        </p:nvSpPr>
        <p:spPr>
          <a:xfrm>
            <a:off x="548640" y="3026664"/>
            <a:ext cx="11045952" cy="274320"/>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22376" y="3076956"/>
            <a:ext cx="10698480" cy="201168"/>
          </a:xfrm>
          <a:prstGeom prst="rect">
            <a:avLst/>
          </a:prstGeom>
          <a:noFill/>
        </p:spPr>
        <p:txBody>
          <a:bodyPr wrap="square" lIns="0" rIns="0" tIns="0" bIns="0" anchor="t">
            <a:spAutoFit/>
          </a:bodyPr>
          <a:lstStyle/>
          <a:p>
            <a:pPr algn="ctr">
              <a:lnSpc>
                <a:spcPct val="110000"/>
              </a:lnSpc>
              <a:spcAft>
                <a:spcPts val="0"/>
              </a:spcAft>
            </a:pPr>
            <a:r>
              <a:rPr sz="1150" b="0">
                <a:solidFill>
                  <a:srgbClr val="586B7E"/>
                </a:solidFill>
                <a:latin typeface="Arial"/>
                <a:ea typeface="Arial"/>
                <a:cs typeface="Arial"/>
              </a:rPr>
              <a:t>Session setup: EngineClient creates handle + buffer → Manager admits the session and shares that buffer → result returns</a:t>
            </a:r>
          </a:p>
        </p:txBody>
      </p:sp>
      <p:cxnSp>
        <p:nvCxnSpPr>
          <p:cNvPr id="38" name="Connector 37"/>
          <p:cNvCxnSpPr/>
          <p:nvPr/>
        </p:nvCxnSpPr>
        <p:spPr>
          <a:xfrm>
            <a:off x="1261872" y="3602736"/>
            <a:ext cx="2139696"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39" name="TextBox 38"/>
          <p:cNvSpPr txBox="1"/>
          <p:nvPr/>
        </p:nvSpPr>
        <p:spPr>
          <a:xfrm>
            <a:off x="1316736" y="3337560"/>
            <a:ext cx="2029968" cy="210312"/>
          </a:xfrm>
          <a:prstGeom prst="rect">
            <a:avLst/>
          </a:prstGeom>
          <a:noFill/>
        </p:spPr>
        <p:txBody>
          <a:bodyPr wrap="square" lIns="0" rIns="0" tIns="0" bIns="0" anchor="t">
            <a:spAutoFit/>
          </a:bodyPr>
          <a:lstStyle/>
          <a:p>
            <a:pPr algn="ctr">
              <a:lnSpc>
                <a:spcPct val="110000"/>
              </a:lnSpc>
              <a:spcAft>
                <a:spcPts val="0"/>
              </a:spcAft>
            </a:pPr>
            <a:r>
              <a:rPr sz="1150" b="0">
                <a:solidFill>
                  <a:srgbClr val="327CEC"/>
                </a:solidFill>
                <a:latin typeface="Arial"/>
                <a:ea typeface="Arial"/>
                <a:cs typeface="Arial"/>
              </a:rPr>
              <a:t>audio / video</a:t>
            </a:r>
          </a:p>
        </p:txBody>
      </p:sp>
      <p:cxnSp>
        <p:nvCxnSpPr>
          <p:cNvPr id="40" name="Connector 39"/>
          <p:cNvCxnSpPr/>
          <p:nvPr/>
        </p:nvCxnSpPr>
        <p:spPr>
          <a:xfrm>
            <a:off x="3401568" y="3602736"/>
            <a:ext cx="2139696"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1" name="TextBox 40"/>
          <p:cNvSpPr txBox="1"/>
          <p:nvPr/>
        </p:nvSpPr>
        <p:spPr>
          <a:xfrm>
            <a:off x="3456432" y="3337560"/>
            <a:ext cx="2029967" cy="210312"/>
          </a:xfrm>
          <a:prstGeom prst="rect">
            <a:avLst/>
          </a:prstGeom>
          <a:noFill/>
        </p:spPr>
        <p:txBody>
          <a:bodyPr wrap="square" lIns="0" rIns="0" tIns="0" bIns="0" anchor="t">
            <a:spAutoFit/>
          </a:bodyPr>
          <a:lstStyle/>
          <a:p>
            <a:pPr algn="ctr">
              <a:lnSpc>
                <a:spcPct val="110000"/>
              </a:lnSpc>
              <a:spcAft>
                <a:spcPts val="0"/>
              </a:spcAft>
            </a:pPr>
            <a:r>
              <a:rPr sz="1150" b="0">
                <a:solidFill>
                  <a:srgbClr val="327CEC"/>
                </a:solidFill>
                <a:latin typeface="Arial"/>
                <a:ea typeface="Arial"/>
                <a:cs typeface="Arial"/>
              </a:rPr>
              <a:t>command</a:t>
            </a:r>
          </a:p>
        </p:txBody>
      </p:sp>
      <p:cxnSp>
        <p:nvCxnSpPr>
          <p:cNvPr id="42" name="Connector 41"/>
          <p:cNvCxnSpPr/>
          <p:nvPr/>
        </p:nvCxnSpPr>
        <p:spPr>
          <a:xfrm>
            <a:off x="5541264" y="3602736"/>
            <a:ext cx="2359152"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3" name="TextBox 42"/>
          <p:cNvSpPr txBox="1"/>
          <p:nvPr/>
        </p:nvSpPr>
        <p:spPr>
          <a:xfrm>
            <a:off x="5596127" y="3337560"/>
            <a:ext cx="2249424" cy="210312"/>
          </a:xfrm>
          <a:prstGeom prst="rect">
            <a:avLst/>
          </a:prstGeom>
          <a:noFill/>
        </p:spPr>
        <p:txBody>
          <a:bodyPr wrap="square" lIns="0" rIns="0" tIns="0" bIns="0" anchor="t">
            <a:spAutoFit/>
          </a:bodyPr>
          <a:lstStyle/>
          <a:p>
            <a:pPr algn="ctr">
              <a:lnSpc>
                <a:spcPct val="110000"/>
              </a:lnSpc>
              <a:spcAft>
                <a:spcPts val="0"/>
              </a:spcAft>
            </a:pPr>
            <a:r>
              <a:rPr sz="1100" b="0">
                <a:solidFill>
                  <a:srgbClr val="327CEC"/>
                </a:solidFill>
                <a:latin typeface="Arial"/>
                <a:ea typeface="Arial"/>
                <a:cs typeface="Arial"/>
              </a:rPr>
              <a:t>Enqueue to Runner mailbox</a:t>
            </a:r>
          </a:p>
        </p:txBody>
      </p:sp>
      <p:sp>
        <p:nvSpPr>
          <p:cNvPr id="44" name="Rounded Rectangle 43"/>
          <p:cNvSpPr/>
          <p:nvPr/>
        </p:nvSpPr>
        <p:spPr>
          <a:xfrm>
            <a:off x="7818120" y="3602736"/>
            <a:ext cx="164592" cy="365760"/>
          </a:xfrm>
          <a:prstGeom prst="roundRect">
            <a:avLst>
              <a:gd name="adj" fmla="val 10000"/>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5" name="Connector 44"/>
          <p:cNvCxnSpPr/>
          <p:nvPr/>
        </p:nvCxnSpPr>
        <p:spPr>
          <a:xfrm>
            <a:off x="7900416" y="3995928"/>
            <a:ext cx="268833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6" name="TextBox 45"/>
          <p:cNvSpPr txBox="1"/>
          <p:nvPr/>
        </p:nvSpPr>
        <p:spPr>
          <a:xfrm>
            <a:off x="7955280" y="3730752"/>
            <a:ext cx="2578607" cy="210312"/>
          </a:xfrm>
          <a:prstGeom prst="rect">
            <a:avLst/>
          </a:prstGeom>
          <a:noFill/>
        </p:spPr>
        <p:txBody>
          <a:bodyPr wrap="square" lIns="0" rIns="0" tIns="0" bIns="0" anchor="t">
            <a:spAutoFit/>
          </a:bodyPr>
          <a:lstStyle/>
          <a:p>
            <a:pPr algn="ctr">
              <a:lnSpc>
                <a:spcPct val="110000"/>
              </a:lnSpc>
              <a:spcAft>
                <a:spcPts val="0"/>
              </a:spcAft>
            </a:pPr>
            <a:r>
              <a:rPr sz="1100" b="0">
                <a:solidFill>
                  <a:srgbClr val="008E96"/>
                </a:solidFill>
                <a:latin typeface="Arial"/>
                <a:ea typeface="Arial"/>
                <a:cs typeface="Arial"/>
              </a:rPr>
              <a:t>Prepared input → Stage execution</a:t>
            </a:r>
          </a:p>
        </p:txBody>
      </p:sp>
      <p:sp>
        <p:nvSpPr>
          <p:cNvPr id="47" name="Rounded Rectangle 46"/>
          <p:cNvSpPr/>
          <p:nvPr/>
        </p:nvSpPr>
        <p:spPr>
          <a:xfrm>
            <a:off x="10506456" y="3995928"/>
            <a:ext cx="164592" cy="896112"/>
          </a:xfrm>
          <a:prstGeom prst="roundRect">
            <a:avLst>
              <a:gd name="adj" fmla="val 10000"/>
            </a:avLst>
          </a:prstGeom>
          <a:solidFill>
            <a:srgbClr val="FBF4E8"/>
          </a:solidFill>
          <a:ln w="11430">
            <a:solidFill>
              <a:srgbClr val="AD761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8" name="Connector 47"/>
          <p:cNvCxnSpPr/>
          <p:nvPr/>
        </p:nvCxnSpPr>
        <p:spPr>
          <a:xfrm>
            <a:off x="1261872" y="4334256"/>
            <a:ext cx="6638544" cy="0"/>
          </a:xfrm>
          <a:prstGeom prst="line">
            <a:avLst/>
          </a:prstGeom>
          <a:ln w="20320">
            <a:solidFill>
              <a:srgbClr val="327CEC"/>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49" name="TextBox 48"/>
          <p:cNvSpPr txBox="1"/>
          <p:nvPr/>
        </p:nvSpPr>
        <p:spPr>
          <a:xfrm>
            <a:off x="1316736" y="4059936"/>
            <a:ext cx="6528816" cy="210312"/>
          </a:xfrm>
          <a:prstGeom prst="rect">
            <a:avLst/>
          </a:prstGeom>
          <a:noFill/>
        </p:spPr>
        <p:txBody>
          <a:bodyPr wrap="square" lIns="0" rIns="0" tIns="0" bIns="0" anchor="t">
            <a:spAutoFit/>
          </a:bodyPr>
          <a:lstStyle/>
          <a:p>
            <a:pPr algn="ctr">
              <a:lnSpc>
                <a:spcPct val="110000"/>
              </a:lnSpc>
              <a:spcAft>
                <a:spcPts val="0"/>
              </a:spcAft>
            </a:pPr>
            <a:r>
              <a:rPr sz="1150" b="0">
                <a:solidFill>
                  <a:srgbClr val="327CEC"/>
                </a:solidFill>
                <a:latin typeface="Arial"/>
                <a:ea typeface="Arial"/>
                <a:cs typeface="Arial"/>
              </a:rPr>
              <a:t>Next input chunk arrives while Stage computation / output continues</a:t>
            </a:r>
          </a:p>
        </p:txBody>
      </p:sp>
      <p:cxnSp>
        <p:nvCxnSpPr>
          <p:cNvPr id="50" name="Connector 49"/>
          <p:cNvCxnSpPr/>
          <p:nvPr/>
        </p:nvCxnSpPr>
        <p:spPr>
          <a:xfrm flipH="1">
            <a:off x="7900416" y="4892040"/>
            <a:ext cx="268833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1" name="TextBox 50"/>
          <p:cNvSpPr txBox="1"/>
          <p:nvPr/>
        </p:nvSpPr>
        <p:spPr>
          <a:xfrm>
            <a:off x="7955280" y="4626864"/>
            <a:ext cx="2578607" cy="210312"/>
          </a:xfrm>
          <a:prstGeom prst="rect">
            <a:avLst/>
          </a:prstGeom>
          <a:noFill/>
        </p:spPr>
        <p:txBody>
          <a:bodyPr wrap="square" lIns="0" rIns="0" tIns="0" bIns="0" anchor="t">
            <a:spAutoFit/>
          </a:bodyPr>
          <a:lstStyle/>
          <a:p>
            <a:pPr algn="ctr">
              <a:lnSpc>
                <a:spcPct val="110000"/>
              </a:lnSpc>
              <a:spcAft>
                <a:spcPts val="0"/>
              </a:spcAft>
            </a:pPr>
            <a:r>
              <a:rPr sz="1150" b="0">
                <a:solidFill>
                  <a:srgbClr val="008E96"/>
                </a:solidFill>
                <a:latin typeface="Arial"/>
                <a:ea typeface="Arial"/>
                <a:cs typeface="Arial"/>
              </a:rPr>
              <a:t>Stage output</a:t>
            </a:r>
          </a:p>
        </p:txBody>
      </p:sp>
      <p:cxnSp>
        <p:nvCxnSpPr>
          <p:cNvPr id="52" name="Connector 51"/>
          <p:cNvCxnSpPr/>
          <p:nvPr/>
        </p:nvCxnSpPr>
        <p:spPr>
          <a:xfrm flipH="1">
            <a:off x="5541264" y="4892040"/>
            <a:ext cx="2359152"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3" name="TextBox 52"/>
          <p:cNvSpPr txBox="1"/>
          <p:nvPr/>
        </p:nvSpPr>
        <p:spPr>
          <a:xfrm>
            <a:off x="5596127" y="4626864"/>
            <a:ext cx="2249424" cy="210312"/>
          </a:xfrm>
          <a:prstGeom prst="rect">
            <a:avLst/>
          </a:prstGeom>
          <a:noFill/>
        </p:spPr>
        <p:txBody>
          <a:bodyPr wrap="square" lIns="0" rIns="0" tIns="0" bIns="0" anchor="t">
            <a:spAutoFit/>
          </a:bodyPr>
          <a:lstStyle/>
          <a:p>
            <a:pPr algn="ctr">
              <a:lnSpc>
                <a:spcPct val="110000"/>
              </a:lnSpc>
              <a:spcAft>
                <a:spcPts val="0"/>
              </a:spcAft>
            </a:pPr>
            <a:r>
              <a:rPr sz="1150" b="0">
                <a:solidFill>
                  <a:srgbClr val="008E96"/>
                </a:solidFill>
                <a:latin typeface="Arial"/>
                <a:ea typeface="Arial"/>
                <a:cs typeface="Arial"/>
              </a:rPr>
              <a:t>Per-session output buffer</a:t>
            </a:r>
          </a:p>
        </p:txBody>
      </p:sp>
      <p:cxnSp>
        <p:nvCxnSpPr>
          <p:cNvPr id="54" name="Connector 53"/>
          <p:cNvCxnSpPr/>
          <p:nvPr/>
        </p:nvCxnSpPr>
        <p:spPr>
          <a:xfrm flipH="1">
            <a:off x="3401568" y="4892040"/>
            <a:ext cx="213969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TextBox 54"/>
          <p:cNvSpPr txBox="1"/>
          <p:nvPr/>
        </p:nvSpPr>
        <p:spPr>
          <a:xfrm>
            <a:off x="3456432" y="4626864"/>
            <a:ext cx="2029967" cy="210312"/>
          </a:xfrm>
          <a:prstGeom prst="rect">
            <a:avLst/>
          </a:prstGeom>
          <a:noFill/>
        </p:spPr>
        <p:txBody>
          <a:bodyPr wrap="square" lIns="0" rIns="0" tIns="0" bIns="0" anchor="t">
            <a:spAutoFit/>
          </a:bodyPr>
          <a:lstStyle/>
          <a:p>
            <a:pPr algn="ctr">
              <a:lnSpc>
                <a:spcPct val="110000"/>
              </a:lnSpc>
              <a:spcAft>
                <a:spcPts val="0"/>
              </a:spcAft>
            </a:pPr>
            <a:r>
              <a:rPr sz="1100" b="0">
                <a:solidFill>
                  <a:srgbClr val="008E96"/>
                </a:solidFill>
                <a:latin typeface="Arial"/>
                <a:ea typeface="Arial"/>
                <a:cs typeface="Arial"/>
              </a:rPr>
              <a:t>handle.events() → API pump</a:t>
            </a:r>
          </a:p>
        </p:txBody>
      </p:sp>
      <p:cxnSp>
        <p:nvCxnSpPr>
          <p:cNvPr id="56" name="Connector 55"/>
          <p:cNvCxnSpPr/>
          <p:nvPr/>
        </p:nvCxnSpPr>
        <p:spPr>
          <a:xfrm flipH="1">
            <a:off x="1261872" y="4892040"/>
            <a:ext cx="213969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7" name="TextBox 56"/>
          <p:cNvSpPr txBox="1"/>
          <p:nvPr/>
        </p:nvSpPr>
        <p:spPr>
          <a:xfrm>
            <a:off x="1316736" y="4626864"/>
            <a:ext cx="2029968" cy="210312"/>
          </a:xfrm>
          <a:prstGeom prst="rect">
            <a:avLst/>
          </a:prstGeom>
          <a:noFill/>
        </p:spPr>
        <p:txBody>
          <a:bodyPr wrap="square" lIns="0" rIns="0" tIns="0" bIns="0" anchor="t">
            <a:spAutoFit/>
          </a:bodyPr>
          <a:lstStyle/>
          <a:p>
            <a:pPr algn="ctr">
              <a:lnSpc>
                <a:spcPct val="110000"/>
              </a:lnSpc>
              <a:spcAft>
                <a:spcPts val="0"/>
              </a:spcAft>
            </a:pPr>
            <a:r>
              <a:rPr sz="1150" b="0">
                <a:solidFill>
                  <a:srgbClr val="008E96"/>
                </a:solidFill>
                <a:latin typeface="Arial"/>
                <a:ea typeface="Arial"/>
                <a:cs typeface="Arial"/>
              </a:rPr>
              <a:t>text / audio</a:t>
            </a:r>
          </a:p>
        </p:txBody>
      </p:sp>
      <p:sp>
        <p:nvSpPr>
          <p:cNvPr id="58" name="Rounded Rectangle 57"/>
          <p:cNvSpPr/>
          <p:nvPr/>
        </p:nvSpPr>
        <p:spPr>
          <a:xfrm>
            <a:off x="1179576" y="4892040"/>
            <a:ext cx="164592" cy="448056"/>
          </a:xfrm>
          <a:prstGeom prst="roundRect">
            <a:avLst>
              <a:gd name="adj" fmla="val 10000"/>
            </a:avLst>
          </a:prstGeom>
          <a:solidFill>
            <a:srgbClr val="EAF7F6"/>
          </a:solidFill>
          <a:ln w="11430">
            <a:solidFill>
              <a:srgbClr val="008E9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1435608" y="5038344"/>
            <a:ext cx="914400" cy="210312"/>
          </a:xfrm>
          <a:prstGeom prst="rect">
            <a:avLst/>
          </a:prstGeom>
          <a:noFill/>
        </p:spPr>
        <p:txBody>
          <a:bodyPr wrap="square" lIns="0" rIns="0" tIns="0" bIns="0" anchor="t">
            <a:spAutoFit/>
          </a:bodyPr>
          <a:lstStyle/>
          <a:p>
            <a:pPr algn="l">
              <a:lnSpc>
                <a:spcPct val="110000"/>
              </a:lnSpc>
              <a:spcAft>
                <a:spcPts val="0"/>
              </a:spcAft>
            </a:pPr>
            <a:r>
              <a:rPr sz="1100" b="0">
                <a:solidFill>
                  <a:srgbClr val="008E96"/>
                </a:solidFill>
                <a:latin typeface="Arial"/>
                <a:ea typeface="Arial"/>
                <a:cs typeface="Arial"/>
              </a:rPr>
              <a:t>playback</a:t>
            </a:r>
          </a:p>
        </p:txBody>
      </p:sp>
      <p:cxnSp>
        <p:nvCxnSpPr>
          <p:cNvPr id="60" name="Connector 59"/>
          <p:cNvCxnSpPr/>
          <p:nvPr/>
        </p:nvCxnSpPr>
        <p:spPr>
          <a:xfrm>
            <a:off x="1261872" y="5550408"/>
            <a:ext cx="2139696"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1" name="TextBox 60"/>
          <p:cNvSpPr txBox="1"/>
          <p:nvPr/>
        </p:nvSpPr>
        <p:spPr>
          <a:xfrm>
            <a:off x="1316736" y="5285232"/>
            <a:ext cx="2029968" cy="210312"/>
          </a:xfrm>
          <a:prstGeom prst="rect">
            <a:avLst/>
          </a:prstGeom>
          <a:noFill/>
        </p:spPr>
        <p:txBody>
          <a:bodyPr wrap="square" lIns="0" rIns="0" tIns="0" bIns="0" anchor="t">
            <a:spAutoFit/>
          </a:bodyPr>
          <a:lstStyle/>
          <a:p>
            <a:pPr algn="ctr">
              <a:lnSpc>
                <a:spcPct val="110000"/>
              </a:lnSpc>
              <a:spcAft>
                <a:spcPts val="0"/>
              </a:spcAft>
            </a:pPr>
            <a:r>
              <a:rPr sz="1150" b="0">
                <a:solidFill>
                  <a:srgbClr val="AD761E"/>
                </a:solidFill>
                <a:latin typeface="Arial"/>
                <a:ea typeface="Arial"/>
                <a:cs typeface="Arial"/>
              </a:rPr>
              <a:t>playback ACK</a:t>
            </a:r>
          </a:p>
        </p:txBody>
      </p:sp>
      <p:cxnSp>
        <p:nvCxnSpPr>
          <p:cNvPr id="62" name="Connector 61"/>
          <p:cNvCxnSpPr/>
          <p:nvPr/>
        </p:nvCxnSpPr>
        <p:spPr>
          <a:xfrm>
            <a:off x="3401568" y="5550408"/>
            <a:ext cx="2139696"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3" name="TextBox 62"/>
          <p:cNvSpPr txBox="1"/>
          <p:nvPr/>
        </p:nvSpPr>
        <p:spPr>
          <a:xfrm>
            <a:off x="3456432" y="5285232"/>
            <a:ext cx="2029967" cy="210312"/>
          </a:xfrm>
          <a:prstGeom prst="rect">
            <a:avLst/>
          </a:prstGeom>
          <a:noFill/>
        </p:spPr>
        <p:txBody>
          <a:bodyPr wrap="square" lIns="0" rIns="0" tIns="0" bIns="0" anchor="t">
            <a:spAutoFit/>
          </a:bodyPr>
          <a:lstStyle/>
          <a:p>
            <a:pPr algn="ctr">
              <a:lnSpc>
                <a:spcPct val="110000"/>
              </a:lnSpc>
              <a:spcAft>
                <a:spcPts val="0"/>
              </a:spcAft>
            </a:pPr>
            <a:r>
              <a:rPr sz="1150" b="0">
                <a:solidFill>
                  <a:srgbClr val="AD761E"/>
                </a:solidFill>
                <a:latin typeface="Arial"/>
                <a:ea typeface="Arial"/>
                <a:cs typeface="Arial"/>
              </a:rPr>
              <a:t>command</a:t>
            </a:r>
          </a:p>
        </p:txBody>
      </p:sp>
      <p:cxnSp>
        <p:nvCxnSpPr>
          <p:cNvPr id="64" name="Connector 63"/>
          <p:cNvCxnSpPr/>
          <p:nvPr/>
        </p:nvCxnSpPr>
        <p:spPr>
          <a:xfrm>
            <a:off x="5541264" y="5550408"/>
            <a:ext cx="2359152"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5" name="TextBox 64"/>
          <p:cNvSpPr txBox="1"/>
          <p:nvPr/>
        </p:nvSpPr>
        <p:spPr>
          <a:xfrm>
            <a:off x="5596127" y="5285232"/>
            <a:ext cx="2249424" cy="210312"/>
          </a:xfrm>
          <a:prstGeom prst="rect">
            <a:avLst/>
          </a:prstGeom>
          <a:noFill/>
        </p:spPr>
        <p:txBody>
          <a:bodyPr wrap="square" lIns="0" rIns="0" tIns="0" bIns="0" anchor="t">
            <a:spAutoFit/>
          </a:bodyPr>
          <a:lstStyle/>
          <a:p>
            <a:pPr algn="ctr">
              <a:lnSpc>
                <a:spcPct val="110000"/>
              </a:lnSpc>
              <a:spcAft>
                <a:spcPts val="0"/>
              </a:spcAft>
            </a:pPr>
            <a:r>
              <a:rPr sz="1050" b="0">
                <a:solidFill>
                  <a:srgbClr val="AD761E"/>
                </a:solidFill>
                <a:latin typeface="Arial"/>
                <a:ea typeface="Arial"/>
                <a:cs typeface="Arial"/>
              </a:rPr>
              <a:t>ACK → update playback progress</a:t>
            </a:r>
          </a:p>
        </p:txBody>
      </p:sp>
      <p:sp>
        <p:nvSpPr>
          <p:cNvPr id="66" name="Rounded Rectangle 65"/>
          <p:cNvSpPr/>
          <p:nvPr/>
        </p:nvSpPr>
        <p:spPr>
          <a:xfrm>
            <a:off x="548640" y="5916168"/>
            <a:ext cx="11045952" cy="365760"/>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TextBox 66"/>
          <p:cNvSpPr txBox="1"/>
          <p:nvPr/>
        </p:nvSpPr>
        <p:spPr>
          <a:xfrm>
            <a:off x="749808" y="6007608"/>
            <a:ext cx="10643616" cy="210312"/>
          </a:xfrm>
          <a:prstGeom prst="rect">
            <a:avLst/>
          </a:prstGeom>
          <a:noFill/>
        </p:spPr>
        <p:txBody>
          <a:bodyPr wrap="square" lIns="0" rIns="0" tIns="0" bIns="0" anchor="t">
            <a:spAutoFit/>
          </a:bodyPr>
          <a:lstStyle/>
          <a:p>
            <a:pPr algn="ctr">
              <a:lnSpc>
                <a:spcPct val="110000"/>
              </a:lnSpc>
              <a:spcAft>
                <a:spcPts val="0"/>
              </a:spcAft>
            </a:pPr>
            <a:r>
              <a:rPr sz="1150" b="0">
                <a:solidFill>
                  <a:srgbClr val="142B45"/>
                </a:solidFill>
                <a:latin typeface="Arial"/>
                <a:ea typeface="Arial"/>
                <a:cs typeface="Arial"/>
              </a:rPr>
              <a:t>Native: append to a live request · Turn-based: generate after commit · Input can continue in both modes</a:t>
            </a:r>
          </a:p>
        </p:txBody>
      </p:sp>
      <p:sp>
        <p:nvSpPr>
          <p:cNvPr id="68" name="TextBox 67"/>
          <p:cNvSpPr txBox="1"/>
          <p:nvPr/>
        </p:nvSpPr>
        <p:spPr>
          <a:xfrm>
            <a:off x="594360" y="6309360"/>
            <a:ext cx="10972800" cy="128016"/>
          </a:xfrm>
          <a:prstGeom prst="rect">
            <a:avLst/>
          </a:prstGeom>
          <a:noFill/>
        </p:spPr>
        <p:txBody>
          <a:bodyPr wrap="square" lIns="0" rIns="0" tIns="0" bIns="0" anchor="t">
            <a:spAutoFit/>
          </a:bodyPr>
          <a:lstStyle/>
          <a:p>
            <a:pPr algn="ctr">
              <a:lnSpc>
                <a:spcPct val="110000"/>
              </a:lnSpc>
              <a:spcAft>
                <a:spcPts val="0"/>
              </a:spcAft>
            </a:pPr>
            <a:r>
              <a:rPr sz="850" b="0">
                <a:solidFill>
                  <a:srgbClr val="586B7E"/>
                </a:solidFill>
                <a:latin typeface="Arial"/>
                <a:ea typeface="Arial"/>
                <a:cs typeface="Arial"/>
              </a:rPr>
              <a:t>Session event ACKs stay at the API. Playback ACKs reach the Runner; history updates depend on model support.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ARCHITECTURE &amp; EXECUTION</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07 / 12</a:t>
            </a:r>
          </a:p>
        </p:txBody>
      </p:sp>
      <p:sp>
        <p:nvSpPr>
          <p:cNvPr id="501" name="From live input to speech: stages and state"/>
          <p:cNvSpPr txBox="1"/>
          <p:nvPr/>
        </p:nvSpPr>
        <p:spPr>
          <a:xfrm>
            <a:off x="548640" y="1005840"/>
            <a:ext cx="11082528" cy="539496"/>
          </a:xfrm>
          <a:prstGeom prst="rect">
            <a:avLst/>
          </a:prstGeom>
          <a:noFill/>
        </p:spPr>
        <p:txBody>
          <a:bodyPr wrap="square" lIns="0" rIns="0" tIns="0" bIns="0" anchor="t">
            <a:noAutofit/>
          </a:bodyPr>
          <a:lstStyle/>
          <a:p>
            <a:pPr algn="l">
              <a:lnSpc>
                <a:spcPct val="108000"/>
              </a:lnSpc>
              <a:spcAft>
                <a:spcPts val="0"/>
              </a:spcAft>
            </a:pPr>
            <a:r>
              <a:rPr sz="3000" b="1">
                <a:solidFill>
                  <a:srgbClr val="16304E"/>
                </a:solidFill>
                <a:latin typeface="Arial"/>
                <a:ea typeface="Arial"/>
                <a:cs typeface="Arial"/>
              </a:rPr>
              <a:t>From live input to speech: stages and state</a:t>
            </a:r>
          </a:p>
        </p:txBody>
      </p:sp>
      <p:sp>
        <p:nvSpPr>
          <p:cNvPr id="502" name="Native duplex reuses live compute state. Turn-based execution builds a new request from history."/>
          <p:cNvSpPr txBox="1"/>
          <p:nvPr/>
        </p:nvSpPr>
        <p:spPr>
          <a:xfrm>
            <a:off x="576072" y="1655064"/>
            <a:ext cx="10991088" cy="310896"/>
          </a:xfrm>
          <a:prstGeom prst="rect">
            <a:avLst/>
          </a:prstGeom>
          <a:noFill/>
        </p:spPr>
        <p:txBody>
          <a:bodyPr wrap="square" lIns="0" rIns="0" tIns="0" bIns="0" anchor="t">
            <a:noAutofit/>
          </a:bodyPr>
          <a:lstStyle/>
          <a:p>
            <a:pPr algn="l">
              <a:lnSpc>
                <a:spcPct val="108000"/>
              </a:lnSpc>
              <a:spcAft>
                <a:spcPts val="0"/>
              </a:spcAft>
            </a:pPr>
            <a:r>
              <a:rPr sz="1440" b="0">
                <a:solidFill>
                  <a:srgbClr val="526985"/>
                </a:solidFill>
                <a:latin typeface="Arial"/>
                <a:ea typeface="Arial"/>
                <a:cs typeface="Arial"/>
              </a:rPr>
              <a:t>Native duplex reuses live compute state. Turn-based execution builds a new request from history.</a:t>
            </a:r>
          </a:p>
        </p:txBody>
      </p:sp>
      <p:sp>
        <p:nvSpPr>
          <p:cNvPr id="503" name="MODEL / INPUT"/>
          <p:cNvSpPr txBox="1"/>
          <p:nvPr/>
        </p:nvSpPr>
        <p:spPr>
          <a:xfrm>
            <a:off x="694944" y="2057400"/>
            <a:ext cx="1664208" cy="210312"/>
          </a:xfrm>
          <a:prstGeom prst="rect">
            <a:avLst/>
          </a:prstGeom>
          <a:noFill/>
        </p:spPr>
        <p:txBody>
          <a:bodyPr wrap="square" lIns="0" rIns="0" tIns="0" bIns="0" anchor="t">
            <a:noAutofit/>
          </a:bodyPr>
          <a:lstStyle/>
          <a:p>
            <a:pPr algn="l">
              <a:lnSpc>
                <a:spcPct val="108000"/>
              </a:lnSpc>
              <a:spcAft>
                <a:spcPts val="0"/>
              </a:spcAft>
            </a:pPr>
            <a:r>
              <a:rPr sz="1200" b="1">
                <a:solidFill>
                  <a:srgbClr val="526985"/>
                </a:solidFill>
                <a:latin typeface="Arial"/>
                <a:ea typeface="Arial"/>
                <a:cs typeface="Arial"/>
              </a:rPr>
              <a:t>MODEL / INPUT</a:t>
            </a:r>
          </a:p>
        </p:txBody>
      </p:sp>
      <p:sp>
        <p:nvSpPr>
          <p:cNvPr id="504" name="STAGES → SPOKEN OUTPUT"/>
          <p:cNvSpPr txBox="1"/>
          <p:nvPr/>
        </p:nvSpPr>
        <p:spPr>
          <a:xfrm>
            <a:off x="2441448" y="2057400"/>
            <a:ext cx="6309360" cy="210312"/>
          </a:xfrm>
          <a:prstGeom prst="rect">
            <a:avLst/>
          </a:prstGeom>
          <a:noFill/>
        </p:spPr>
        <p:txBody>
          <a:bodyPr wrap="square" lIns="0" rIns="0" tIns="0" bIns="0" anchor="t">
            <a:noAutofit/>
          </a:bodyPr>
          <a:lstStyle/>
          <a:p>
            <a:pPr algn="l">
              <a:lnSpc>
                <a:spcPct val="108000"/>
              </a:lnSpc>
              <a:spcAft>
                <a:spcPts val="0"/>
              </a:spcAft>
            </a:pPr>
            <a:r>
              <a:rPr sz="1200" b="1">
                <a:solidFill>
                  <a:srgbClr val="526985"/>
                </a:solidFill>
                <a:latin typeface="Arial"/>
                <a:ea typeface="Arial"/>
                <a:cs typeface="Arial"/>
              </a:rPr>
              <a:t>STAGES → SPOKEN OUTPUT</a:t>
            </a:r>
          </a:p>
        </p:txBody>
      </p:sp>
      <p:sp>
        <p:nvSpPr>
          <p:cNvPr id="505" name="WHAT CARRIES FORWARD"/>
          <p:cNvSpPr txBox="1"/>
          <p:nvPr/>
        </p:nvSpPr>
        <p:spPr>
          <a:xfrm>
            <a:off x="9253728" y="2057400"/>
            <a:ext cx="2286000" cy="210312"/>
          </a:xfrm>
          <a:prstGeom prst="rect">
            <a:avLst/>
          </a:prstGeom>
          <a:noFill/>
        </p:spPr>
        <p:txBody>
          <a:bodyPr wrap="square" lIns="0" rIns="0" tIns="0" bIns="0" anchor="t">
            <a:noAutofit/>
          </a:bodyPr>
          <a:lstStyle/>
          <a:p>
            <a:pPr algn="l">
              <a:lnSpc>
                <a:spcPct val="108000"/>
              </a:lnSpc>
              <a:spcAft>
                <a:spcPts val="0"/>
              </a:spcAft>
            </a:pPr>
            <a:r>
              <a:rPr sz="1150" b="1">
                <a:solidFill>
                  <a:srgbClr val="526985"/>
                </a:solidFill>
                <a:latin typeface="Arial"/>
                <a:ea typeface="Arial"/>
                <a:cs typeface="Arial"/>
              </a:rPr>
              <a:t>WHAT CARRIES FORWARD</a:t>
            </a:r>
          </a:p>
        </p:txBody>
      </p:sp>
      <p:sp>
        <p:nvSpPr>
          <p:cNvPr id="506" name="PersonaPlex row"/>
          <p:cNvSpPr/>
          <p:nvPr/>
        </p:nvSpPr>
        <p:spPr>
          <a:xfrm>
            <a:off x="548640" y="2368296"/>
            <a:ext cx="11082528" cy="886968"/>
          </a:xfrm>
          <a:prstGeom prst="rect">
            <a:avLst/>
          </a:prstGeom>
          <a:solidFill>
            <a:srgbClr val="F3F6FA"/>
          </a:solidFill>
          <a:ln w="11430">
            <a:noFill/>
          </a:ln>
        </p:spPr>
      </p:sp>
      <p:sp>
        <p:nvSpPr>
          <p:cNvPr id="507" name="PersonaPlex mode accent"/>
          <p:cNvSpPr/>
          <p:nvPr/>
        </p:nvSpPr>
        <p:spPr>
          <a:xfrm>
            <a:off x="548640" y="2368296"/>
            <a:ext cx="32004" cy="886968"/>
          </a:xfrm>
          <a:prstGeom prst="rect">
            <a:avLst/>
          </a:prstGeom>
          <a:solidFill>
            <a:srgbClr val="347FF0"/>
          </a:solidFill>
          <a:ln w="11430">
            <a:noFill/>
          </a:ln>
        </p:spPr>
      </p:sp>
      <p:cxnSp>
        <p:nvCxnSpPr>
          <p:cNvPr id="508" name="PersonaPlex state separator"/>
          <p:cNvCxnSpPr/>
          <p:nvPr/>
        </p:nvCxnSpPr>
        <p:spPr>
          <a:xfrm>
            <a:off x="9079992" y="2496312"/>
            <a:ext cx="0" cy="658368"/>
          </a:xfrm>
          <a:prstGeom prst="line">
            <a:avLst/>
          </a:prstGeom>
          <a:ln w="10795">
            <a:solidFill>
              <a:srgbClr val="CAD5E2"/>
            </a:solidFill>
            <a:tailEnd type="none" w="sm" len="sm"/>
          </a:ln>
        </p:spPr>
      </p:cxnSp>
      <p:sp>
        <p:nvSpPr>
          <p:cNvPr id="509" name="PersonaPlex"/>
          <p:cNvSpPr txBox="1"/>
          <p:nvPr/>
        </p:nvSpPr>
        <p:spPr>
          <a:xfrm>
            <a:off x="694944" y="2478024"/>
            <a:ext cx="1691640" cy="237744"/>
          </a:xfrm>
          <a:prstGeom prst="rect">
            <a:avLst/>
          </a:prstGeom>
          <a:noFill/>
        </p:spPr>
        <p:txBody>
          <a:bodyPr wrap="square" lIns="0" rIns="0" tIns="0" bIns="0" anchor="t">
            <a:noAutofit/>
          </a:bodyPr>
          <a:lstStyle/>
          <a:p>
            <a:pPr algn="l">
              <a:lnSpc>
                <a:spcPct val="108000"/>
              </a:lnSpc>
              <a:spcAft>
                <a:spcPts val="0"/>
              </a:spcAft>
            </a:pPr>
            <a:r>
              <a:rPr sz="1500" b="1">
                <a:solidFill>
                  <a:srgbClr val="16304E"/>
                </a:solidFill>
                <a:latin typeface="Arial"/>
                <a:ea typeface="Arial"/>
                <a:cs typeface="Arial"/>
              </a:rPr>
              <a:t>PersonaPlex</a:t>
            </a:r>
          </a:p>
        </p:txBody>
      </p:sp>
      <p:sp>
        <p:nvSpPr>
          <p:cNvPr id="510" name="Native duplex"/>
          <p:cNvSpPr txBox="1"/>
          <p:nvPr/>
        </p:nvSpPr>
        <p:spPr>
          <a:xfrm>
            <a:off x="694944" y="2779776"/>
            <a:ext cx="1682496" cy="182880"/>
          </a:xfrm>
          <a:prstGeom prst="rect">
            <a:avLst/>
          </a:prstGeom>
          <a:noFill/>
        </p:spPr>
        <p:txBody>
          <a:bodyPr wrap="square" lIns="0" rIns="0" tIns="0" bIns="0" anchor="t">
            <a:noAutofit/>
          </a:bodyPr>
          <a:lstStyle/>
          <a:p>
            <a:pPr algn="l">
              <a:lnSpc>
                <a:spcPct val="108000"/>
              </a:lnSpc>
              <a:spcAft>
                <a:spcPts val="0"/>
              </a:spcAft>
            </a:pPr>
            <a:r>
              <a:rPr sz="1130" b="0">
                <a:solidFill>
                  <a:srgbClr val="347FF0"/>
                </a:solidFill>
                <a:latin typeface="Arial"/>
                <a:ea typeface="Arial"/>
                <a:cs typeface="Arial"/>
              </a:rPr>
              <a:t>Native duplex</a:t>
            </a:r>
          </a:p>
        </p:txBody>
      </p:sp>
      <p:sp>
        <p:nvSpPr>
          <p:cNvPr id="511" name="PCM audio · 80 ms frames"/>
          <p:cNvSpPr txBox="1"/>
          <p:nvPr/>
        </p:nvSpPr>
        <p:spPr>
          <a:xfrm>
            <a:off x="694944" y="3017520"/>
            <a:ext cx="1700784" cy="164592"/>
          </a:xfrm>
          <a:prstGeom prst="rect">
            <a:avLst/>
          </a:prstGeom>
          <a:noFill/>
        </p:spPr>
        <p:txBody>
          <a:bodyPr wrap="square" lIns="0" rIns="0" tIns="0" bIns="0" anchor="t">
            <a:noAutofit/>
          </a:bodyPr>
          <a:lstStyle/>
          <a:p>
            <a:pPr algn="l">
              <a:lnSpc>
                <a:spcPct val="108000"/>
              </a:lnSpc>
              <a:spcAft>
                <a:spcPts val="0"/>
              </a:spcAft>
            </a:pPr>
            <a:r>
              <a:rPr sz="1110" b="0">
                <a:solidFill>
                  <a:srgbClr val="526985"/>
                </a:solidFill>
                <a:latin typeface="Arial"/>
                <a:ea typeface="Arial"/>
                <a:cs typeface="Arial"/>
              </a:rPr>
              <a:t>PCM audio · 80 ms frames</a:t>
            </a:r>
          </a:p>
        </p:txBody>
      </p:sp>
      <p:sp>
        <p:nvSpPr>
          <p:cNvPr id="512" name="Live compute state"/>
          <p:cNvSpPr txBox="1"/>
          <p:nvPr/>
        </p:nvSpPr>
        <p:spPr>
          <a:xfrm>
            <a:off x="9253728" y="2532888"/>
            <a:ext cx="2221992" cy="210312"/>
          </a:xfrm>
          <a:prstGeom prst="rect">
            <a:avLst/>
          </a:prstGeom>
          <a:noFill/>
        </p:spPr>
        <p:txBody>
          <a:bodyPr wrap="square" lIns="0" rIns="0" tIns="0" bIns="0" anchor="t">
            <a:noAutofit/>
          </a:bodyPr>
          <a:lstStyle/>
          <a:p>
            <a:pPr algn="l">
              <a:lnSpc>
                <a:spcPct val="108000"/>
              </a:lnSpc>
              <a:spcAft>
                <a:spcPts val="0"/>
              </a:spcAft>
            </a:pPr>
            <a:r>
              <a:rPr sz="1250" b="1">
                <a:solidFill>
                  <a:srgbClr val="347FF0"/>
                </a:solidFill>
                <a:latin typeface="Arial"/>
                <a:ea typeface="Arial"/>
                <a:cs typeface="Arial"/>
              </a:rPr>
              <a:t>Live compute state</a:t>
            </a:r>
          </a:p>
        </p:txBody>
      </p:sp>
      <p:sp>
        <p:nvSpPr>
          <p:cNvPr id="513" name="S0: KV + Mimi encoder&#10;S1: Mimi decoder"/>
          <p:cNvSpPr txBox="1"/>
          <p:nvPr/>
        </p:nvSpPr>
        <p:spPr>
          <a:xfrm>
            <a:off x="9253728" y="2816352"/>
            <a:ext cx="2221992" cy="365760"/>
          </a:xfrm>
          <a:prstGeom prst="rect">
            <a:avLst/>
          </a:prstGeom>
          <a:noFill/>
        </p:spPr>
        <p:txBody>
          <a:bodyPr wrap="square" lIns="0" rIns="0" tIns="0" bIns="0" anchor="t">
            <a:noAutofit/>
          </a:bodyPr>
          <a:lstStyle/>
          <a:p>
            <a:pPr algn="l">
              <a:lnSpc>
                <a:spcPct val="108000"/>
              </a:lnSpc>
              <a:spcAft>
                <a:spcPts val="0"/>
              </a:spcAft>
            </a:pPr>
            <a:r>
              <a:rPr sz="1200" b="0">
                <a:solidFill>
                  <a:srgbClr val="16304E"/>
                </a:solidFill>
                <a:latin typeface="Arial"/>
                <a:ea typeface="Arial"/>
                <a:cs typeface="Arial"/>
              </a:rPr>
              <a:t>S0: KV + Mimi encoder</a:t>
            </a:r>
          </a:p>
          <a:p>
            <a:pPr algn="l">
              <a:lnSpc>
                <a:spcPct val="108000"/>
              </a:lnSpc>
              <a:spcAft>
                <a:spcPts val="0"/>
              </a:spcAft>
            </a:pPr>
            <a:r>
              <a:rPr sz="1200" b="0">
                <a:solidFill>
                  <a:srgbClr val="16304E"/>
                </a:solidFill>
                <a:latin typeface="Arial"/>
                <a:ea typeface="Arial"/>
                <a:cs typeface="Arial"/>
              </a:rPr>
              <a:t>S1: Mimi decoder</a:t>
            </a:r>
          </a:p>
        </p:txBody>
      </p:sp>
      <p:sp>
        <p:nvSpPr>
          <p:cNvPr id="514" name="MiniCPM-o 4.5 row"/>
          <p:cNvSpPr/>
          <p:nvPr/>
        </p:nvSpPr>
        <p:spPr>
          <a:xfrm>
            <a:off x="548640" y="3310128"/>
            <a:ext cx="11082528" cy="886968"/>
          </a:xfrm>
          <a:prstGeom prst="rect">
            <a:avLst/>
          </a:prstGeom>
          <a:solidFill>
            <a:srgbClr val="F3F6FA"/>
          </a:solidFill>
          <a:ln w="11430">
            <a:noFill/>
          </a:ln>
        </p:spPr>
      </p:sp>
      <p:sp>
        <p:nvSpPr>
          <p:cNvPr id="515" name="MiniCPM-o 4.5 mode accent"/>
          <p:cNvSpPr/>
          <p:nvPr/>
        </p:nvSpPr>
        <p:spPr>
          <a:xfrm>
            <a:off x="548640" y="3310128"/>
            <a:ext cx="32004" cy="886968"/>
          </a:xfrm>
          <a:prstGeom prst="rect">
            <a:avLst/>
          </a:prstGeom>
          <a:solidFill>
            <a:srgbClr val="347FF0"/>
          </a:solidFill>
          <a:ln w="11430">
            <a:noFill/>
          </a:ln>
        </p:spPr>
      </p:sp>
      <p:cxnSp>
        <p:nvCxnSpPr>
          <p:cNvPr id="516" name="MiniCPM-o 4.5 state separator"/>
          <p:cNvCxnSpPr/>
          <p:nvPr/>
        </p:nvCxnSpPr>
        <p:spPr>
          <a:xfrm>
            <a:off x="9079992" y="3438144"/>
            <a:ext cx="0" cy="658368"/>
          </a:xfrm>
          <a:prstGeom prst="line">
            <a:avLst/>
          </a:prstGeom>
          <a:ln w="10795">
            <a:solidFill>
              <a:srgbClr val="CAD5E2"/>
            </a:solidFill>
            <a:tailEnd type="none" w="sm" len="sm"/>
          </a:ln>
        </p:spPr>
      </p:cxnSp>
      <p:sp>
        <p:nvSpPr>
          <p:cNvPr id="517" name="MiniCPM-o 4.5"/>
          <p:cNvSpPr txBox="1"/>
          <p:nvPr/>
        </p:nvSpPr>
        <p:spPr>
          <a:xfrm>
            <a:off x="694944" y="3419856"/>
            <a:ext cx="1691640" cy="237744"/>
          </a:xfrm>
          <a:prstGeom prst="rect">
            <a:avLst/>
          </a:prstGeom>
          <a:noFill/>
        </p:spPr>
        <p:txBody>
          <a:bodyPr wrap="square" lIns="0" rIns="0" tIns="0" bIns="0" anchor="t">
            <a:noAutofit/>
          </a:bodyPr>
          <a:lstStyle/>
          <a:p>
            <a:pPr algn="l">
              <a:lnSpc>
                <a:spcPct val="108000"/>
              </a:lnSpc>
              <a:spcAft>
                <a:spcPts val="0"/>
              </a:spcAft>
            </a:pPr>
            <a:r>
              <a:rPr sz="1500" b="1">
                <a:solidFill>
                  <a:srgbClr val="16304E"/>
                </a:solidFill>
                <a:latin typeface="Arial"/>
                <a:ea typeface="Arial"/>
                <a:cs typeface="Arial"/>
              </a:rPr>
              <a:t>MiniCPM-o 4.5</a:t>
            </a:r>
          </a:p>
        </p:txBody>
      </p:sp>
      <p:sp>
        <p:nvSpPr>
          <p:cNvPr id="518" name="Native duplex"/>
          <p:cNvSpPr txBox="1"/>
          <p:nvPr/>
        </p:nvSpPr>
        <p:spPr>
          <a:xfrm>
            <a:off x="694944" y="3721608"/>
            <a:ext cx="1682496" cy="182880"/>
          </a:xfrm>
          <a:prstGeom prst="rect">
            <a:avLst/>
          </a:prstGeom>
          <a:noFill/>
        </p:spPr>
        <p:txBody>
          <a:bodyPr wrap="square" lIns="0" rIns="0" tIns="0" bIns="0" anchor="t">
            <a:noAutofit/>
          </a:bodyPr>
          <a:lstStyle/>
          <a:p>
            <a:pPr algn="l">
              <a:lnSpc>
                <a:spcPct val="108000"/>
              </a:lnSpc>
              <a:spcAft>
                <a:spcPts val="0"/>
              </a:spcAft>
            </a:pPr>
            <a:r>
              <a:rPr sz="1130" b="0">
                <a:solidFill>
                  <a:srgbClr val="347FF0"/>
                </a:solidFill>
                <a:latin typeface="Arial"/>
                <a:ea typeface="Arial"/>
                <a:cs typeface="Arial"/>
              </a:rPr>
              <a:t>Native duplex</a:t>
            </a:r>
          </a:p>
        </p:txBody>
      </p:sp>
      <p:sp>
        <p:nvSpPr>
          <p:cNvPr id="519" name="PCM audio + video"/>
          <p:cNvSpPr txBox="1"/>
          <p:nvPr/>
        </p:nvSpPr>
        <p:spPr>
          <a:xfrm>
            <a:off x="694944" y="3959352"/>
            <a:ext cx="1700784" cy="164592"/>
          </a:xfrm>
          <a:prstGeom prst="rect">
            <a:avLst/>
          </a:prstGeom>
          <a:noFill/>
        </p:spPr>
        <p:txBody>
          <a:bodyPr wrap="square" lIns="0" rIns="0" tIns="0" bIns="0" anchor="t">
            <a:noAutofit/>
          </a:bodyPr>
          <a:lstStyle/>
          <a:p>
            <a:pPr algn="l">
              <a:lnSpc>
                <a:spcPct val="108000"/>
              </a:lnSpc>
              <a:spcAft>
                <a:spcPts val="0"/>
              </a:spcAft>
            </a:pPr>
            <a:r>
              <a:rPr sz="1110" b="0">
                <a:solidFill>
                  <a:srgbClr val="526985"/>
                </a:solidFill>
                <a:latin typeface="Arial"/>
                <a:ea typeface="Arial"/>
                <a:cs typeface="Arial"/>
              </a:rPr>
              <a:t>PCM audio + video</a:t>
            </a:r>
          </a:p>
        </p:txBody>
      </p:sp>
      <p:sp>
        <p:nvSpPr>
          <p:cNvPr id="520" name="Live compute state"/>
          <p:cNvSpPr txBox="1"/>
          <p:nvPr/>
        </p:nvSpPr>
        <p:spPr>
          <a:xfrm>
            <a:off x="9253728" y="3474720"/>
            <a:ext cx="2221992" cy="210312"/>
          </a:xfrm>
          <a:prstGeom prst="rect">
            <a:avLst/>
          </a:prstGeom>
          <a:noFill/>
        </p:spPr>
        <p:txBody>
          <a:bodyPr wrap="square" lIns="0" rIns="0" tIns="0" bIns="0" anchor="t">
            <a:noAutofit/>
          </a:bodyPr>
          <a:lstStyle/>
          <a:p>
            <a:pPr algn="l">
              <a:lnSpc>
                <a:spcPct val="108000"/>
              </a:lnSpc>
              <a:spcAft>
                <a:spcPts val="0"/>
              </a:spcAft>
            </a:pPr>
            <a:r>
              <a:rPr sz="1250" b="1">
                <a:solidFill>
                  <a:srgbClr val="347FF0"/>
                </a:solidFill>
                <a:latin typeface="Arial"/>
                <a:ea typeface="Arial"/>
                <a:cs typeface="Arial"/>
              </a:rPr>
              <a:t>Live compute state</a:t>
            </a:r>
          </a:p>
        </p:txBody>
      </p:sp>
      <p:sp>
        <p:nvSpPr>
          <p:cNvPr id="521" name="S0: LLM KV + audio state&#10;LISTEN keeps request alive."/>
          <p:cNvSpPr txBox="1"/>
          <p:nvPr/>
        </p:nvSpPr>
        <p:spPr>
          <a:xfrm>
            <a:off x="9253728" y="3758184"/>
            <a:ext cx="2221992" cy="365760"/>
          </a:xfrm>
          <a:prstGeom prst="rect">
            <a:avLst/>
          </a:prstGeom>
          <a:noFill/>
        </p:spPr>
        <p:txBody>
          <a:bodyPr wrap="square" lIns="0" rIns="0" tIns="0" bIns="0" anchor="t">
            <a:noAutofit/>
          </a:bodyPr>
          <a:lstStyle/>
          <a:p>
            <a:pPr algn="l">
              <a:lnSpc>
                <a:spcPct val="108000"/>
              </a:lnSpc>
              <a:spcAft>
                <a:spcPts val="0"/>
              </a:spcAft>
            </a:pPr>
            <a:r>
              <a:rPr sz="1200" b="0">
                <a:solidFill>
                  <a:srgbClr val="16304E"/>
                </a:solidFill>
                <a:latin typeface="Arial"/>
                <a:ea typeface="Arial"/>
                <a:cs typeface="Arial"/>
              </a:rPr>
              <a:t>S0: LLM KV + audio state</a:t>
            </a:r>
          </a:p>
          <a:p>
            <a:pPr algn="l">
              <a:lnSpc>
                <a:spcPct val="108000"/>
              </a:lnSpc>
              <a:spcAft>
                <a:spcPts val="0"/>
              </a:spcAft>
            </a:pPr>
            <a:r>
              <a:rPr sz="1200" b="0">
                <a:solidFill>
                  <a:srgbClr val="16304E"/>
                </a:solidFill>
                <a:latin typeface="Arial"/>
                <a:ea typeface="Arial"/>
                <a:cs typeface="Arial"/>
              </a:rPr>
              <a:t>LISTEN keeps request alive.</a:t>
            </a:r>
          </a:p>
        </p:txBody>
      </p:sp>
      <p:sp>
        <p:nvSpPr>
          <p:cNvPr id="522" name="AURA row"/>
          <p:cNvSpPr/>
          <p:nvPr/>
        </p:nvSpPr>
        <p:spPr>
          <a:xfrm>
            <a:off x="548640" y="4251960"/>
            <a:ext cx="11082528" cy="886968"/>
          </a:xfrm>
          <a:prstGeom prst="rect">
            <a:avLst/>
          </a:prstGeom>
          <a:solidFill>
            <a:srgbClr val="F3F6FA"/>
          </a:solidFill>
          <a:ln w="11430">
            <a:noFill/>
          </a:ln>
        </p:spPr>
      </p:sp>
      <p:sp>
        <p:nvSpPr>
          <p:cNvPr id="523" name="AURA mode accent"/>
          <p:cNvSpPr/>
          <p:nvPr/>
        </p:nvSpPr>
        <p:spPr>
          <a:xfrm>
            <a:off x="548640" y="4251960"/>
            <a:ext cx="32004" cy="886968"/>
          </a:xfrm>
          <a:prstGeom prst="rect">
            <a:avLst/>
          </a:prstGeom>
          <a:solidFill>
            <a:srgbClr val="008E96"/>
          </a:solidFill>
          <a:ln w="11430">
            <a:noFill/>
          </a:ln>
        </p:spPr>
      </p:sp>
      <p:cxnSp>
        <p:nvCxnSpPr>
          <p:cNvPr id="524" name="AURA state separator"/>
          <p:cNvCxnSpPr/>
          <p:nvPr/>
        </p:nvCxnSpPr>
        <p:spPr>
          <a:xfrm>
            <a:off x="9079992" y="4379976"/>
            <a:ext cx="0" cy="658368"/>
          </a:xfrm>
          <a:prstGeom prst="line">
            <a:avLst/>
          </a:prstGeom>
          <a:ln w="10795">
            <a:solidFill>
              <a:srgbClr val="CAD5E2"/>
            </a:solidFill>
            <a:tailEnd type="none" w="sm" len="sm"/>
          </a:ln>
        </p:spPr>
      </p:cxnSp>
      <p:sp>
        <p:nvSpPr>
          <p:cNvPr id="525" name="AURA"/>
          <p:cNvSpPr txBox="1"/>
          <p:nvPr/>
        </p:nvSpPr>
        <p:spPr>
          <a:xfrm>
            <a:off x="694944" y="4361688"/>
            <a:ext cx="1691640" cy="237744"/>
          </a:xfrm>
          <a:prstGeom prst="rect">
            <a:avLst/>
          </a:prstGeom>
          <a:noFill/>
        </p:spPr>
        <p:txBody>
          <a:bodyPr wrap="square" lIns="0" rIns="0" tIns="0" bIns="0" anchor="t">
            <a:noAutofit/>
          </a:bodyPr>
          <a:lstStyle/>
          <a:p>
            <a:pPr algn="l">
              <a:lnSpc>
                <a:spcPct val="108000"/>
              </a:lnSpc>
              <a:spcAft>
                <a:spcPts val="0"/>
              </a:spcAft>
            </a:pPr>
            <a:r>
              <a:rPr sz="1500" b="1">
                <a:solidFill>
                  <a:srgbClr val="16304E"/>
                </a:solidFill>
                <a:latin typeface="Arial"/>
                <a:ea typeface="Arial"/>
                <a:cs typeface="Arial"/>
              </a:rPr>
              <a:t>AURA</a:t>
            </a:r>
          </a:p>
        </p:txBody>
      </p:sp>
      <p:sp>
        <p:nvSpPr>
          <p:cNvPr id="526" name="Turn-based · commit"/>
          <p:cNvSpPr txBox="1"/>
          <p:nvPr/>
        </p:nvSpPr>
        <p:spPr>
          <a:xfrm>
            <a:off x="694944" y="4663440"/>
            <a:ext cx="1682496" cy="182880"/>
          </a:xfrm>
          <a:prstGeom prst="rect">
            <a:avLst/>
          </a:prstGeom>
          <a:noFill/>
        </p:spPr>
        <p:txBody>
          <a:bodyPr wrap="square" lIns="0" rIns="0" tIns="0" bIns="0" anchor="t">
            <a:noAutofit/>
          </a:bodyPr>
          <a:lstStyle/>
          <a:p>
            <a:pPr algn="l">
              <a:lnSpc>
                <a:spcPct val="108000"/>
              </a:lnSpc>
              <a:spcAft>
                <a:spcPts val="0"/>
              </a:spcAft>
            </a:pPr>
            <a:r>
              <a:rPr sz="1130" b="0">
                <a:solidFill>
                  <a:srgbClr val="008E96"/>
                </a:solidFill>
                <a:latin typeface="Arial"/>
                <a:ea typeface="Arial"/>
                <a:cs typeface="Arial"/>
              </a:rPr>
              <a:t>Turn-based · commit</a:t>
            </a:r>
          </a:p>
        </p:txBody>
      </p:sp>
      <p:sp>
        <p:nvSpPr>
          <p:cNvPr id="527" name="PCM audio + video"/>
          <p:cNvSpPr txBox="1"/>
          <p:nvPr/>
        </p:nvSpPr>
        <p:spPr>
          <a:xfrm>
            <a:off x="694944" y="4901184"/>
            <a:ext cx="1700784" cy="164592"/>
          </a:xfrm>
          <a:prstGeom prst="rect">
            <a:avLst/>
          </a:prstGeom>
          <a:noFill/>
        </p:spPr>
        <p:txBody>
          <a:bodyPr wrap="square" lIns="0" rIns="0" tIns="0" bIns="0" anchor="t">
            <a:noAutofit/>
          </a:bodyPr>
          <a:lstStyle/>
          <a:p>
            <a:pPr algn="l">
              <a:lnSpc>
                <a:spcPct val="108000"/>
              </a:lnSpc>
              <a:spcAft>
                <a:spcPts val="0"/>
              </a:spcAft>
            </a:pPr>
            <a:r>
              <a:rPr sz="1110" b="0">
                <a:solidFill>
                  <a:srgbClr val="526985"/>
                </a:solidFill>
                <a:latin typeface="Arial"/>
                <a:ea typeface="Arial"/>
                <a:cs typeface="Arial"/>
              </a:rPr>
              <a:t>PCM audio + video</a:t>
            </a:r>
          </a:p>
        </p:txBody>
      </p:sp>
      <p:sp>
        <p:nvSpPr>
          <p:cNvPr id="528" name="Conversation history"/>
          <p:cNvSpPr txBox="1"/>
          <p:nvPr/>
        </p:nvSpPr>
        <p:spPr>
          <a:xfrm>
            <a:off x="9253728" y="4416552"/>
            <a:ext cx="2221992" cy="210312"/>
          </a:xfrm>
          <a:prstGeom prst="rect">
            <a:avLst/>
          </a:prstGeom>
          <a:noFill/>
        </p:spPr>
        <p:txBody>
          <a:bodyPr wrap="square" lIns="0" rIns="0" tIns="0" bIns="0" anchor="t">
            <a:noAutofit/>
          </a:bodyPr>
          <a:lstStyle/>
          <a:p>
            <a:pPr algn="l">
              <a:lnSpc>
                <a:spcPct val="108000"/>
              </a:lnSpc>
              <a:spcAft>
                <a:spcPts val="0"/>
              </a:spcAft>
            </a:pPr>
            <a:r>
              <a:rPr sz="1250" b="1">
                <a:solidFill>
                  <a:srgbClr val="008E96"/>
                </a:solidFill>
                <a:latin typeface="Arial"/>
                <a:ea typeface="Arial"/>
                <a:cs typeface="Arial"/>
              </a:rPr>
              <a:t>Conversation history</a:t>
            </a:r>
          </a:p>
        </p:txBody>
      </p:sp>
      <p:sp>
        <p:nvSpPr>
          <p:cNvPr id="529" name="ASR text + video clips&#10;+ assistant text"/>
          <p:cNvSpPr txBox="1"/>
          <p:nvPr/>
        </p:nvSpPr>
        <p:spPr>
          <a:xfrm>
            <a:off x="9253728" y="4700016"/>
            <a:ext cx="2221992" cy="365760"/>
          </a:xfrm>
          <a:prstGeom prst="rect">
            <a:avLst/>
          </a:prstGeom>
          <a:noFill/>
        </p:spPr>
        <p:txBody>
          <a:bodyPr wrap="square" lIns="0" rIns="0" tIns="0" bIns="0" anchor="t">
            <a:noAutofit/>
          </a:bodyPr>
          <a:lstStyle/>
          <a:p>
            <a:pPr algn="l">
              <a:lnSpc>
                <a:spcPct val="108000"/>
              </a:lnSpc>
              <a:spcAft>
                <a:spcPts val="0"/>
              </a:spcAft>
            </a:pPr>
            <a:r>
              <a:rPr sz="1200" b="0">
                <a:solidFill>
                  <a:srgbClr val="16304E"/>
                </a:solidFill>
                <a:latin typeface="Arial"/>
                <a:ea typeface="Arial"/>
                <a:cs typeface="Arial"/>
              </a:rPr>
              <a:t>ASR text + video clips</a:t>
            </a:r>
          </a:p>
          <a:p>
            <a:pPr algn="l">
              <a:lnSpc>
                <a:spcPct val="108000"/>
              </a:lnSpc>
              <a:spcAft>
                <a:spcPts val="0"/>
              </a:spcAft>
            </a:pPr>
            <a:r>
              <a:rPr sz="1200" b="0">
                <a:solidFill>
                  <a:srgbClr val="16304E"/>
                </a:solidFill>
                <a:latin typeface="Arial"/>
                <a:ea typeface="Arial"/>
                <a:cs typeface="Arial"/>
              </a:rPr>
              <a:t>+ assistant text</a:t>
            </a:r>
          </a:p>
        </p:txBody>
      </p:sp>
      <p:sp>
        <p:nvSpPr>
          <p:cNvPr id="530" name="Qwen3-Omni row"/>
          <p:cNvSpPr/>
          <p:nvPr/>
        </p:nvSpPr>
        <p:spPr>
          <a:xfrm>
            <a:off x="548640" y="5193792"/>
            <a:ext cx="11082528" cy="886968"/>
          </a:xfrm>
          <a:prstGeom prst="rect">
            <a:avLst/>
          </a:prstGeom>
          <a:solidFill>
            <a:srgbClr val="F3F6FA"/>
          </a:solidFill>
          <a:ln w="11430">
            <a:noFill/>
          </a:ln>
        </p:spPr>
      </p:sp>
      <p:sp>
        <p:nvSpPr>
          <p:cNvPr id="531" name="Qwen3-Omni mode accent"/>
          <p:cNvSpPr/>
          <p:nvPr/>
        </p:nvSpPr>
        <p:spPr>
          <a:xfrm>
            <a:off x="548640" y="5193792"/>
            <a:ext cx="32004" cy="886968"/>
          </a:xfrm>
          <a:prstGeom prst="rect">
            <a:avLst/>
          </a:prstGeom>
          <a:solidFill>
            <a:srgbClr val="008E96"/>
          </a:solidFill>
          <a:ln w="11430">
            <a:noFill/>
          </a:ln>
        </p:spPr>
      </p:sp>
      <p:cxnSp>
        <p:nvCxnSpPr>
          <p:cNvPr id="532" name="Qwen3-Omni state separator"/>
          <p:cNvCxnSpPr/>
          <p:nvPr/>
        </p:nvCxnSpPr>
        <p:spPr>
          <a:xfrm>
            <a:off x="9079992" y="5321808"/>
            <a:ext cx="0" cy="658368"/>
          </a:xfrm>
          <a:prstGeom prst="line">
            <a:avLst/>
          </a:prstGeom>
          <a:ln w="10795">
            <a:solidFill>
              <a:srgbClr val="CAD5E2"/>
            </a:solidFill>
            <a:tailEnd type="none" w="sm" len="sm"/>
          </a:ln>
        </p:spPr>
      </p:cxnSp>
      <p:sp>
        <p:nvSpPr>
          <p:cNvPr id="533" name="Qwen3-Omni"/>
          <p:cNvSpPr txBox="1"/>
          <p:nvPr/>
        </p:nvSpPr>
        <p:spPr>
          <a:xfrm>
            <a:off x="694944" y="5303520"/>
            <a:ext cx="1691640" cy="237744"/>
          </a:xfrm>
          <a:prstGeom prst="rect">
            <a:avLst/>
          </a:prstGeom>
          <a:noFill/>
        </p:spPr>
        <p:txBody>
          <a:bodyPr wrap="square" lIns="0" rIns="0" tIns="0" bIns="0" anchor="t">
            <a:noAutofit/>
          </a:bodyPr>
          <a:lstStyle/>
          <a:p>
            <a:pPr algn="l">
              <a:lnSpc>
                <a:spcPct val="108000"/>
              </a:lnSpc>
              <a:spcAft>
                <a:spcPts val="0"/>
              </a:spcAft>
            </a:pPr>
            <a:r>
              <a:rPr sz="1500" b="1">
                <a:solidFill>
                  <a:srgbClr val="16304E"/>
                </a:solidFill>
                <a:latin typeface="Arial"/>
                <a:ea typeface="Arial"/>
                <a:cs typeface="Arial"/>
              </a:rPr>
              <a:t>Qwen3-Omni</a:t>
            </a:r>
          </a:p>
        </p:txBody>
      </p:sp>
      <p:sp>
        <p:nvSpPr>
          <p:cNvPr id="534" name="Turn-based · commit"/>
          <p:cNvSpPr txBox="1"/>
          <p:nvPr/>
        </p:nvSpPr>
        <p:spPr>
          <a:xfrm>
            <a:off x="694944" y="5605272"/>
            <a:ext cx="1682496" cy="182880"/>
          </a:xfrm>
          <a:prstGeom prst="rect">
            <a:avLst/>
          </a:prstGeom>
          <a:noFill/>
        </p:spPr>
        <p:txBody>
          <a:bodyPr wrap="square" lIns="0" rIns="0" tIns="0" bIns="0" anchor="t">
            <a:noAutofit/>
          </a:bodyPr>
          <a:lstStyle/>
          <a:p>
            <a:pPr algn="l">
              <a:lnSpc>
                <a:spcPct val="108000"/>
              </a:lnSpc>
              <a:spcAft>
                <a:spcPts val="0"/>
              </a:spcAft>
            </a:pPr>
            <a:r>
              <a:rPr sz="1130" b="0">
                <a:solidFill>
                  <a:srgbClr val="008E96"/>
                </a:solidFill>
                <a:latin typeface="Arial"/>
                <a:ea typeface="Arial"/>
                <a:cs typeface="Arial"/>
              </a:rPr>
              <a:t>Turn-based · commit</a:t>
            </a:r>
          </a:p>
        </p:txBody>
      </p:sp>
      <p:sp>
        <p:nvSpPr>
          <p:cNvPr id="535" name="PCM audio + images"/>
          <p:cNvSpPr txBox="1"/>
          <p:nvPr/>
        </p:nvSpPr>
        <p:spPr>
          <a:xfrm>
            <a:off x="694944" y="5843016"/>
            <a:ext cx="1700784" cy="164592"/>
          </a:xfrm>
          <a:prstGeom prst="rect">
            <a:avLst/>
          </a:prstGeom>
          <a:noFill/>
        </p:spPr>
        <p:txBody>
          <a:bodyPr wrap="square" lIns="0" rIns="0" tIns="0" bIns="0" anchor="t">
            <a:noAutofit/>
          </a:bodyPr>
          <a:lstStyle/>
          <a:p>
            <a:pPr algn="l">
              <a:lnSpc>
                <a:spcPct val="108000"/>
              </a:lnSpc>
              <a:spcAft>
                <a:spcPts val="0"/>
              </a:spcAft>
            </a:pPr>
            <a:r>
              <a:rPr sz="1110" b="0">
                <a:solidFill>
                  <a:srgbClr val="526985"/>
                </a:solidFill>
                <a:latin typeface="Arial"/>
                <a:ea typeface="Arial"/>
                <a:cs typeface="Arial"/>
              </a:rPr>
              <a:t>PCM audio + images</a:t>
            </a:r>
          </a:p>
        </p:txBody>
      </p:sp>
      <p:sp>
        <p:nvSpPr>
          <p:cNvPr id="536" name="Conversation history"/>
          <p:cNvSpPr txBox="1"/>
          <p:nvPr/>
        </p:nvSpPr>
        <p:spPr>
          <a:xfrm>
            <a:off x="9253728" y="5358384"/>
            <a:ext cx="2221992" cy="210312"/>
          </a:xfrm>
          <a:prstGeom prst="rect">
            <a:avLst/>
          </a:prstGeom>
          <a:noFill/>
        </p:spPr>
        <p:txBody>
          <a:bodyPr wrap="square" lIns="0" rIns="0" tIns="0" bIns="0" anchor="t">
            <a:noAutofit/>
          </a:bodyPr>
          <a:lstStyle/>
          <a:p>
            <a:pPr algn="l">
              <a:lnSpc>
                <a:spcPct val="108000"/>
              </a:lnSpc>
              <a:spcAft>
                <a:spcPts val="0"/>
              </a:spcAft>
            </a:pPr>
            <a:r>
              <a:rPr sz="1250" b="1">
                <a:solidFill>
                  <a:srgbClr val="008E96"/>
                </a:solidFill>
                <a:latin typeface="Arial"/>
                <a:ea typeface="Arial"/>
                <a:cs typeface="Arial"/>
              </a:rPr>
              <a:t>Conversation history</a:t>
            </a:r>
          </a:p>
        </p:txBody>
      </p:sp>
      <p:sp>
        <p:nvSpPr>
          <p:cNvPr id="537" name="User audio + images&#10;+ conversation text"/>
          <p:cNvSpPr txBox="1"/>
          <p:nvPr/>
        </p:nvSpPr>
        <p:spPr>
          <a:xfrm>
            <a:off x="9253728" y="5641848"/>
            <a:ext cx="2221992" cy="365760"/>
          </a:xfrm>
          <a:prstGeom prst="rect">
            <a:avLst/>
          </a:prstGeom>
          <a:noFill/>
        </p:spPr>
        <p:txBody>
          <a:bodyPr wrap="square" lIns="0" rIns="0" tIns="0" bIns="0" anchor="t">
            <a:noAutofit/>
          </a:bodyPr>
          <a:lstStyle/>
          <a:p>
            <a:pPr algn="l">
              <a:lnSpc>
                <a:spcPct val="108000"/>
              </a:lnSpc>
              <a:spcAft>
                <a:spcPts val="0"/>
              </a:spcAft>
            </a:pPr>
            <a:r>
              <a:rPr sz="1200" b="0">
                <a:solidFill>
                  <a:srgbClr val="16304E"/>
                </a:solidFill>
                <a:latin typeface="Arial"/>
                <a:ea typeface="Arial"/>
                <a:cs typeface="Arial"/>
              </a:rPr>
              <a:t>User audio + images</a:t>
            </a:r>
          </a:p>
          <a:p>
            <a:pPr algn="l">
              <a:lnSpc>
                <a:spcPct val="108000"/>
              </a:lnSpc>
              <a:spcAft>
                <a:spcPts val="0"/>
              </a:spcAft>
            </a:pPr>
            <a:r>
              <a:rPr sz="1200" b="0">
                <a:solidFill>
                  <a:srgbClr val="16304E"/>
                </a:solidFill>
                <a:latin typeface="Arial"/>
                <a:ea typeface="Arial"/>
                <a:cs typeface="Arial"/>
              </a:rPr>
              <a:t>+ conversation text</a:t>
            </a:r>
          </a:p>
        </p:txBody>
      </p:sp>
      <p:sp>
        <p:nvSpPr>
          <p:cNvPr id="538" name="S0 · Talker Stage"/>
          <p:cNvSpPr/>
          <p:nvPr/>
        </p:nvSpPr>
        <p:spPr>
          <a:xfrm>
            <a:off x="2441448" y="2569464"/>
            <a:ext cx="3337560" cy="603504"/>
          </a:xfrm>
          <a:prstGeom prst="roundRect">
            <a:avLst>
              <a:gd name="adj" fmla="val 6000"/>
            </a:avLst>
          </a:prstGeom>
          <a:solidFill>
            <a:srgbClr val="FFFFFF"/>
          </a:solidFill>
          <a:ln w="11430">
            <a:solidFill>
              <a:srgbClr val="9EB3CB"/>
            </a:solidFill>
          </a:ln>
        </p:spPr>
      </p:sp>
      <p:sp>
        <p:nvSpPr>
          <p:cNvPr id="539" name="S0 · Talker"/>
          <p:cNvSpPr txBox="1"/>
          <p:nvPr/>
        </p:nvSpPr>
        <p:spPr>
          <a:xfrm>
            <a:off x="2482596" y="2647188"/>
            <a:ext cx="3255264" cy="219456"/>
          </a:xfrm>
          <a:prstGeom prst="rect">
            <a:avLst/>
          </a:prstGeom>
          <a:noFill/>
        </p:spPr>
        <p:txBody>
          <a:bodyPr wrap="square" lIns="0" rIns="0" tIns="0" bIns="0" anchor="t">
            <a:noAutofit/>
          </a:bodyPr>
          <a:lstStyle/>
          <a:p>
            <a:pPr algn="ctr">
              <a:lnSpc>
                <a:spcPct val="108000"/>
              </a:lnSpc>
              <a:spcAft>
                <a:spcPts val="0"/>
              </a:spcAft>
            </a:pPr>
            <a:r>
              <a:rPr sz="1400" b="1">
                <a:solidFill>
                  <a:srgbClr val="347FF0"/>
                </a:solidFill>
                <a:latin typeface="Arial"/>
                <a:ea typeface="Arial"/>
                <a:cs typeface="Arial"/>
              </a:rPr>
              <a:t>S0 · Talker</a:t>
            </a:r>
          </a:p>
        </p:txBody>
      </p:sp>
      <p:sp>
        <p:nvSpPr>
          <p:cNvPr id="540" name="Mimi encode · Temporal · Depformer"/>
          <p:cNvSpPr txBox="1"/>
          <p:nvPr/>
        </p:nvSpPr>
        <p:spPr>
          <a:xfrm>
            <a:off x="2473452" y="2926080"/>
            <a:ext cx="3273552"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Arial"/>
                <a:ea typeface="Arial"/>
                <a:cs typeface="Arial"/>
              </a:rPr>
              <a:t>Mimi encode · Temporal · Depformer</a:t>
            </a:r>
          </a:p>
        </p:txBody>
      </p:sp>
      <p:sp>
        <p:nvSpPr>
          <p:cNvPr id="541" name="S1 · Code2Wav Stage"/>
          <p:cNvSpPr/>
          <p:nvPr/>
        </p:nvSpPr>
        <p:spPr>
          <a:xfrm>
            <a:off x="6693408" y="2569464"/>
            <a:ext cx="2176272" cy="603504"/>
          </a:xfrm>
          <a:prstGeom prst="roundRect">
            <a:avLst>
              <a:gd name="adj" fmla="val 6000"/>
            </a:avLst>
          </a:prstGeom>
          <a:solidFill>
            <a:srgbClr val="FFFFFF"/>
          </a:solidFill>
          <a:ln w="11430">
            <a:solidFill>
              <a:srgbClr val="9EB3CB"/>
            </a:solidFill>
          </a:ln>
        </p:spPr>
      </p:sp>
      <p:sp>
        <p:nvSpPr>
          <p:cNvPr id="542" name="S1 · Code2Wav"/>
          <p:cNvSpPr txBox="1"/>
          <p:nvPr/>
        </p:nvSpPr>
        <p:spPr>
          <a:xfrm>
            <a:off x="6734556" y="2647188"/>
            <a:ext cx="2093976" cy="219456"/>
          </a:xfrm>
          <a:prstGeom prst="rect">
            <a:avLst/>
          </a:prstGeom>
          <a:noFill/>
        </p:spPr>
        <p:txBody>
          <a:bodyPr wrap="square" lIns="0" rIns="0" tIns="0" bIns="0" anchor="t">
            <a:noAutofit/>
          </a:bodyPr>
          <a:lstStyle/>
          <a:p>
            <a:pPr algn="ctr">
              <a:lnSpc>
                <a:spcPct val="108000"/>
              </a:lnSpc>
              <a:spcAft>
                <a:spcPts val="0"/>
              </a:spcAft>
            </a:pPr>
            <a:r>
              <a:rPr sz="1400" b="1">
                <a:solidFill>
                  <a:srgbClr val="347FF0"/>
                </a:solidFill>
                <a:latin typeface="Arial"/>
                <a:ea typeface="Arial"/>
                <a:cs typeface="Arial"/>
              </a:rPr>
              <a:t>S1 · Code2Wav</a:t>
            </a:r>
          </a:p>
        </p:txBody>
      </p:sp>
      <p:sp>
        <p:nvSpPr>
          <p:cNvPr id="543" name="Mimi → 24 kHz PCM"/>
          <p:cNvSpPr txBox="1"/>
          <p:nvPr/>
        </p:nvSpPr>
        <p:spPr>
          <a:xfrm>
            <a:off x="6725412" y="2926080"/>
            <a:ext cx="2112264"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Arial"/>
                <a:ea typeface="Arial"/>
                <a:cs typeface="Arial"/>
              </a:rPr>
              <a:t>Mimi → 24 kHz PCM</a:t>
            </a:r>
          </a:p>
        </p:txBody>
      </p:sp>
      <p:cxnSp>
        <p:nvCxnSpPr>
          <p:cNvPr id="544" name="8 audio codebooks transfer"/>
          <p:cNvCxnSpPr/>
          <p:nvPr/>
        </p:nvCxnSpPr>
        <p:spPr>
          <a:xfrm>
            <a:off x="5833872" y="2871216"/>
            <a:ext cx="795528" cy="0"/>
          </a:xfrm>
          <a:prstGeom prst="line">
            <a:avLst/>
          </a:prstGeom>
          <a:ln w="17145">
            <a:solidFill>
              <a:srgbClr val="347FF0"/>
            </a:solidFill>
            <a:tailEnd type="triangle" w="sm" len="sm"/>
          </a:ln>
        </p:spPr>
      </p:cxnSp>
      <p:sp>
        <p:nvSpPr>
          <p:cNvPr id="545" name="8 audio codebooks"/>
          <p:cNvSpPr txBox="1"/>
          <p:nvPr/>
        </p:nvSpPr>
        <p:spPr>
          <a:xfrm>
            <a:off x="5445252" y="2400300"/>
            <a:ext cx="1581912" cy="164592"/>
          </a:xfrm>
          <a:prstGeom prst="rect">
            <a:avLst/>
          </a:prstGeom>
          <a:noFill/>
        </p:spPr>
        <p:txBody>
          <a:bodyPr wrap="square" lIns="0" rIns="0" tIns="0" bIns="0" anchor="t">
            <a:noAutofit/>
          </a:bodyPr>
          <a:lstStyle/>
          <a:p>
            <a:pPr algn="ctr">
              <a:lnSpc>
                <a:spcPct val="108000"/>
              </a:lnSpc>
              <a:spcAft>
                <a:spcPts val="0"/>
              </a:spcAft>
            </a:pPr>
            <a:r>
              <a:rPr sz="1110" b="0">
                <a:solidFill>
                  <a:srgbClr val="526985"/>
                </a:solidFill>
                <a:latin typeface="Arial"/>
                <a:ea typeface="Arial"/>
                <a:cs typeface="Arial"/>
              </a:rPr>
              <a:t>8 audio codebooks</a:t>
            </a:r>
          </a:p>
        </p:txBody>
      </p:sp>
      <p:sp>
        <p:nvSpPr>
          <p:cNvPr id="546" name="S0 · LLM Stage"/>
          <p:cNvSpPr/>
          <p:nvPr/>
        </p:nvSpPr>
        <p:spPr>
          <a:xfrm>
            <a:off x="2441448" y="3511296"/>
            <a:ext cx="1719072" cy="603504"/>
          </a:xfrm>
          <a:prstGeom prst="roundRect">
            <a:avLst>
              <a:gd name="adj" fmla="val 6000"/>
            </a:avLst>
          </a:prstGeom>
          <a:solidFill>
            <a:srgbClr val="FFFFFF"/>
          </a:solidFill>
          <a:ln w="11430">
            <a:solidFill>
              <a:srgbClr val="9EB3CB"/>
            </a:solidFill>
          </a:ln>
        </p:spPr>
      </p:sp>
      <p:sp>
        <p:nvSpPr>
          <p:cNvPr id="547" name="S0 · LLM"/>
          <p:cNvSpPr txBox="1"/>
          <p:nvPr/>
        </p:nvSpPr>
        <p:spPr>
          <a:xfrm>
            <a:off x="2482596" y="3589020"/>
            <a:ext cx="1636776" cy="219456"/>
          </a:xfrm>
          <a:prstGeom prst="rect">
            <a:avLst/>
          </a:prstGeom>
          <a:noFill/>
        </p:spPr>
        <p:txBody>
          <a:bodyPr wrap="square" lIns="0" rIns="0" tIns="0" bIns="0" anchor="t">
            <a:noAutofit/>
          </a:bodyPr>
          <a:lstStyle/>
          <a:p>
            <a:pPr algn="ctr">
              <a:lnSpc>
                <a:spcPct val="108000"/>
              </a:lnSpc>
              <a:spcAft>
                <a:spcPts val="0"/>
              </a:spcAft>
            </a:pPr>
            <a:r>
              <a:rPr sz="1400" b="1">
                <a:solidFill>
                  <a:srgbClr val="347FF0"/>
                </a:solidFill>
                <a:latin typeface="Arial"/>
                <a:ea typeface="Arial"/>
                <a:cs typeface="Arial"/>
              </a:rPr>
              <a:t>S0 · LLM</a:t>
            </a:r>
          </a:p>
        </p:txBody>
      </p:sp>
      <p:sp>
        <p:nvSpPr>
          <p:cNvPr id="548" name="Audio + video"/>
          <p:cNvSpPr txBox="1"/>
          <p:nvPr/>
        </p:nvSpPr>
        <p:spPr>
          <a:xfrm>
            <a:off x="2473452" y="3867912"/>
            <a:ext cx="1655064"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Arial"/>
                <a:ea typeface="Arial"/>
                <a:cs typeface="Arial"/>
              </a:rPr>
              <a:t>Audio + video</a:t>
            </a:r>
          </a:p>
        </p:txBody>
      </p:sp>
      <p:sp>
        <p:nvSpPr>
          <p:cNvPr id="549" name="S1 · Talker Stage"/>
          <p:cNvSpPr/>
          <p:nvPr/>
        </p:nvSpPr>
        <p:spPr>
          <a:xfrm>
            <a:off x="5093208" y="3511296"/>
            <a:ext cx="1481328" cy="603504"/>
          </a:xfrm>
          <a:prstGeom prst="roundRect">
            <a:avLst>
              <a:gd name="adj" fmla="val 6000"/>
            </a:avLst>
          </a:prstGeom>
          <a:solidFill>
            <a:srgbClr val="FFFFFF"/>
          </a:solidFill>
          <a:ln w="11430">
            <a:solidFill>
              <a:srgbClr val="9EB3CB"/>
            </a:solidFill>
          </a:ln>
        </p:spPr>
      </p:sp>
      <p:sp>
        <p:nvSpPr>
          <p:cNvPr id="550" name="S1 · Talker"/>
          <p:cNvSpPr txBox="1"/>
          <p:nvPr/>
        </p:nvSpPr>
        <p:spPr>
          <a:xfrm>
            <a:off x="5134356" y="3589020"/>
            <a:ext cx="1399032" cy="219456"/>
          </a:xfrm>
          <a:prstGeom prst="rect">
            <a:avLst/>
          </a:prstGeom>
          <a:noFill/>
        </p:spPr>
        <p:txBody>
          <a:bodyPr wrap="square" lIns="0" rIns="0" tIns="0" bIns="0" anchor="t">
            <a:noAutofit/>
          </a:bodyPr>
          <a:lstStyle/>
          <a:p>
            <a:pPr algn="ctr">
              <a:lnSpc>
                <a:spcPct val="108000"/>
              </a:lnSpc>
              <a:spcAft>
                <a:spcPts val="0"/>
              </a:spcAft>
            </a:pPr>
            <a:r>
              <a:rPr sz="1400" b="1">
                <a:solidFill>
                  <a:srgbClr val="347FF0"/>
                </a:solidFill>
                <a:latin typeface="Arial"/>
                <a:ea typeface="Arial"/>
                <a:cs typeface="Arial"/>
              </a:rPr>
              <a:t>S1 · Talker</a:t>
            </a:r>
          </a:p>
        </p:txBody>
      </p:sp>
      <p:sp>
        <p:nvSpPr>
          <p:cNvPr id="551" name="Predicts audio tokens"/>
          <p:cNvSpPr txBox="1"/>
          <p:nvPr/>
        </p:nvSpPr>
        <p:spPr>
          <a:xfrm>
            <a:off x="5125212" y="3867912"/>
            <a:ext cx="1417320"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Arial"/>
                <a:ea typeface="Arial"/>
                <a:cs typeface="Arial"/>
              </a:rPr>
              <a:t>Predicts audio tokens</a:t>
            </a:r>
          </a:p>
        </p:txBody>
      </p:sp>
      <p:sp>
        <p:nvSpPr>
          <p:cNvPr id="552" name="S2 · Code2Wav Stage"/>
          <p:cNvSpPr/>
          <p:nvPr/>
        </p:nvSpPr>
        <p:spPr>
          <a:xfrm>
            <a:off x="7443216" y="3511296"/>
            <a:ext cx="1426464" cy="603504"/>
          </a:xfrm>
          <a:prstGeom prst="roundRect">
            <a:avLst>
              <a:gd name="adj" fmla="val 6000"/>
            </a:avLst>
          </a:prstGeom>
          <a:solidFill>
            <a:srgbClr val="FFFFFF"/>
          </a:solidFill>
          <a:ln w="11430">
            <a:solidFill>
              <a:srgbClr val="9EB3CB"/>
            </a:solidFill>
          </a:ln>
        </p:spPr>
      </p:sp>
      <p:sp>
        <p:nvSpPr>
          <p:cNvPr id="553" name="S2 · Code2Wav"/>
          <p:cNvSpPr txBox="1"/>
          <p:nvPr/>
        </p:nvSpPr>
        <p:spPr>
          <a:xfrm>
            <a:off x="7484364" y="3589020"/>
            <a:ext cx="1344168" cy="219456"/>
          </a:xfrm>
          <a:prstGeom prst="rect">
            <a:avLst/>
          </a:prstGeom>
          <a:noFill/>
        </p:spPr>
        <p:txBody>
          <a:bodyPr wrap="square" lIns="0" rIns="0" tIns="0" bIns="0" anchor="t">
            <a:noAutofit/>
          </a:bodyPr>
          <a:lstStyle/>
          <a:p>
            <a:pPr algn="ctr">
              <a:lnSpc>
                <a:spcPct val="108000"/>
              </a:lnSpc>
              <a:spcAft>
                <a:spcPts val="0"/>
              </a:spcAft>
            </a:pPr>
            <a:r>
              <a:rPr sz="1400" b="1">
                <a:solidFill>
                  <a:srgbClr val="347FF0"/>
                </a:solidFill>
                <a:latin typeface="Arial"/>
                <a:ea typeface="Arial"/>
                <a:cs typeface="Arial"/>
              </a:rPr>
              <a:t>S2 · Code2Wav</a:t>
            </a:r>
          </a:p>
        </p:txBody>
      </p:sp>
      <p:sp>
        <p:nvSpPr>
          <p:cNvPr id="554" name="Tokens → PCM"/>
          <p:cNvSpPr txBox="1"/>
          <p:nvPr/>
        </p:nvSpPr>
        <p:spPr>
          <a:xfrm>
            <a:off x="7475220" y="3867912"/>
            <a:ext cx="1362456"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Arial"/>
                <a:ea typeface="Arial"/>
                <a:cs typeface="Arial"/>
              </a:rPr>
              <a:t>Tokens → PCM</a:t>
            </a:r>
          </a:p>
        </p:txBody>
      </p:sp>
      <p:cxnSp>
        <p:nvCxnSpPr>
          <p:cNvPr id="555" name="SPEAK: text + features transfer"/>
          <p:cNvCxnSpPr/>
          <p:nvPr/>
        </p:nvCxnSpPr>
        <p:spPr>
          <a:xfrm>
            <a:off x="4215384" y="3813048"/>
            <a:ext cx="813816" cy="0"/>
          </a:xfrm>
          <a:prstGeom prst="line">
            <a:avLst/>
          </a:prstGeom>
          <a:ln w="17145">
            <a:solidFill>
              <a:srgbClr val="347FF0"/>
            </a:solidFill>
            <a:tailEnd type="triangle" w="sm" len="sm"/>
          </a:ln>
        </p:spPr>
      </p:cxnSp>
      <p:sp>
        <p:nvSpPr>
          <p:cNvPr id="556" name="SPEAK: text + features"/>
          <p:cNvSpPr txBox="1"/>
          <p:nvPr/>
        </p:nvSpPr>
        <p:spPr>
          <a:xfrm>
            <a:off x="3657600" y="3342132"/>
            <a:ext cx="1938528" cy="164592"/>
          </a:xfrm>
          <a:prstGeom prst="rect">
            <a:avLst/>
          </a:prstGeom>
          <a:noFill/>
        </p:spPr>
        <p:txBody>
          <a:bodyPr wrap="square" lIns="0" rIns="0" tIns="0" bIns="0" anchor="t">
            <a:noAutofit/>
          </a:bodyPr>
          <a:lstStyle/>
          <a:p>
            <a:pPr algn="ctr">
              <a:lnSpc>
                <a:spcPct val="108000"/>
              </a:lnSpc>
              <a:spcAft>
                <a:spcPts val="0"/>
              </a:spcAft>
            </a:pPr>
            <a:r>
              <a:rPr sz="1110" b="0">
                <a:solidFill>
                  <a:srgbClr val="526985"/>
                </a:solidFill>
                <a:latin typeface="Arial"/>
                <a:ea typeface="Arial"/>
                <a:cs typeface="Arial"/>
              </a:rPr>
              <a:t>SPEAK: text + features</a:t>
            </a:r>
          </a:p>
        </p:txBody>
      </p:sp>
      <p:cxnSp>
        <p:nvCxnSpPr>
          <p:cNvPr id="557" name="Audio tokens transfer"/>
          <p:cNvCxnSpPr/>
          <p:nvPr/>
        </p:nvCxnSpPr>
        <p:spPr>
          <a:xfrm>
            <a:off x="6629400" y="3813048"/>
            <a:ext cx="749808" cy="0"/>
          </a:xfrm>
          <a:prstGeom prst="line">
            <a:avLst/>
          </a:prstGeom>
          <a:ln w="17145">
            <a:solidFill>
              <a:srgbClr val="347FF0"/>
            </a:solidFill>
            <a:tailEnd type="triangle" w="sm" len="sm"/>
          </a:ln>
        </p:spPr>
      </p:cxnSp>
      <p:sp>
        <p:nvSpPr>
          <p:cNvPr id="558" name="Audio tokens"/>
          <p:cNvSpPr txBox="1"/>
          <p:nvPr/>
        </p:nvSpPr>
        <p:spPr>
          <a:xfrm>
            <a:off x="6437376" y="3342132"/>
            <a:ext cx="1143000" cy="164592"/>
          </a:xfrm>
          <a:prstGeom prst="rect">
            <a:avLst/>
          </a:prstGeom>
          <a:noFill/>
        </p:spPr>
        <p:txBody>
          <a:bodyPr wrap="square" lIns="0" rIns="0" tIns="0" bIns="0" anchor="t">
            <a:noAutofit/>
          </a:bodyPr>
          <a:lstStyle/>
          <a:p>
            <a:pPr algn="ctr">
              <a:lnSpc>
                <a:spcPct val="108000"/>
              </a:lnSpc>
              <a:spcAft>
                <a:spcPts val="0"/>
              </a:spcAft>
            </a:pPr>
            <a:r>
              <a:rPr sz="1110" b="0">
                <a:solidFill>
                  <a:srgbClr val="526985"/>
                </a:solidFill>
                <a:latin typeface="Arial"/>
                <a:ea typeface="Arial"/>
                <a:cs typeface="Arial"/>
              </a:rPr>
              <a:t>Audio tokens</a:t>
            </a:r>
          </a:p>
        </p:txBody>
      </p:sp>
      <p:sp>
        <p:nvSpPr>
          <p:cNvPr id="559" name="S0 · ASR Stage"/>
          <p:cNvSpPr/>
          <p:nvPr/>
        </p:nvSpPr>
        <p:spPr>
          <a:xfrm>
            <a:off x="2441448" y="4453128"/>
            <a:ext cx="1005840" cy="603504"/>
          </a:xfrm>
          <a:prstGeom prst="roundRect">
            <a:avLst>
              <a:gd name="adj" fmla="val 6000"/>
            </a:avLst>
          </a:prstGeom>
          <a:solidFill>
            <a:srgbClr val="FFFFFF"/>
          </a:solidFill>
          <a:ln w="11430">
            <a:solidFill>
              <a:srgbClr val="9EB3CB"/>
            </a:solidFill>
          </a:ln>
        </p:spPr>
      </p:sp>
      <p:sp>
        <p:nvSpPr>
          <p:cNvPr id="560" name="S0 · ASR"/>
          <p:cNvSpPr txBox="1"/>
          <p:nvPr/>
        </p:nvSpPr>
        <p:spPr>
          <a:xfrm>
            <a:off x="2482596" y="4530852"/>
            <a:ext cx="923544" cy="219456"/>
          </a:xfrm>
          <a:prstGeom prst="rect">
            <a:avLst/>
          </a:prstGeom>
          <a:noFill/>
        </p:spPr>
        <p:txBody>
          <a:bodyPr wrap="square" lIns="0" rIns="0" tIns="0" bIns="0" anchor="t">
            <a:noAutofit/>
          </a:bodyPr>
          <a:lstStyle/>
          <a:p>
            <a:pPr algn="ctr">
              <a:lnSpc>
                <a:spcPct val="108000"/>
              </a:lnSpc>
              <a:spcAft>
                <a:spcPts val="0"/>
              </a:spcAft>
            </a:pPr>
            <a:r>
              <a:rPr sz="1400" b="1">
                <a:solidFill>
                  <a:srgbClr val="008E96"/>
                </a:solidFill>
                <a:latin typeface="Arial"/>
                <a:ea typeface="Arial"/>
                <a:cs typeface="Arial"/>
              </a:rPr>
              <a:t>S0 · ASR</a:t>
            </a:r>
          </a:p>
        </p:txBody>
      </p:sp>
      <p:sp>
        <p:nvSpPr>
          <p:cNvPr id="561" name="Audio → text"/>
          <p:cNvSpPr txBox="1"/>
          <p:nvPr/>
        </p:nvSpPr>
        <p:spPr>
          <a:xfrm>
            <a:off x="2473452" y="4809744"/>
            <a:ext cx="941832"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Arial"/>
                <a:ea typeface="Arial"/>
                <a:cs typeface="Arial"/>
              </a:rPr>
              <a:t>Audio → text</a:t>
            </a:r>
          </a:p>
        </p:txBody>
      </p:sp>
      <p:sp>
        <p:nvSpPr>
          <p:cNvPr id="562" name="S1 · Thinker Stage"/>
          <p:cNvSpPr/>
          <p:nvPr/>
        </p:nvSpPr>
        <p:spPr>
          <a:xfrm>
            <a:off x="3959352" y="4453128"/>
            <a:ext cx="1316736" cy="603504"/>
          </a:xfrm>
          <a:prstGeom prst="roundRect">
            <a:avLst>
              <a:gd name="adj" fmla="val 6000"/>
            </a:avLst>
          </a:prstGeom>
          <a:solidFill>
            <a:srgbClr val="FFFFFF"/>
          </a:solidFill>
          <a:ln w="11430">
            <a:solidFill>
              <a:srgbClr val="9EB3CB"/>
            </a:solidFill>
          </a:ln>
        </p:spPr>
      </p:sp>
      <p:sp>
        <p:nvSpPr>
          <p:cNvPr id="563" name="S1 · Thinker"/>
          <p:cNvSpPr txBox="1"/>
          <p:nvPr/>
        </p:nvSpPr>
        <p:spPr>
          <a:xfrm>
            <a:off x="4000500" y="4530852"/>
            <a:ext cx="1234440" cy="219456"/>
          </a:xfrm>
          <a:prstGeom prst="rect">
            <a:avLst/>
          </a:prstGeom>
          <a:noFill/>
        </p:spPr>
        <p:txBody>
          <a:bodyPr wrap="square" lIns="0" rIns="0" tIns="0" bIns="0" anchor="t">
            <a:noAutofit/>
          </a:bodyPr>
          <a:lstStyle/>
          <a:p>
            <a:pPr algn="ctr">
              <a:lnSpc>
                <a:spcPct val="108000"/>
              </a:lnSpc>
              <a:spcAft>
                <a:spcPts val="0"/>
              </a:spcAft>
            </a:pPr>
            <a:r>
              <a:rPr sz="1400" b="1">
                <a:solidFill>
                  <a:srgbClr val="008E96"/>
                </a:solidFill>
                <a:latin typeface="Arial"/>
                <a:ea typeface="Arial"/>
                <a:cs typeface="Arial"/>
              </a:rPr>
              <a:t>S1 · Thinker</a:t>
            </a:r>
          </a:p>
        </p:txBody>
      </p:sp>
      <p:sp>
        <p:nvSpPr>
          <p:cNvPr id="564" name="Text + video"/>
          <p:cNvSpPr txBox="1"/>
          <p:nvPr/>
        </p:nvSpPr>
        <p:spPr>
          <a:xfrm>
            <a:off x="3991356" y="4809744"/>
            <a:ext cx="1252728"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Arial"/>
                <a:ea typeface="Arial"/>
                <a:cs typeface="Arial"/>
              </a:rPr>
              <a:t>Text + video</a:t>
            </a:r>
          </a:p>
        </p:txBody>
      </p:sp>
      <p:sp>
        <p:nvSpPr>
          <p:cNvPr id="565" name="S2 · Talker Stage"/>
          <p:cNvSpPr/>
          <p:nvPr/>
        </p:nvSpPr>
        <p:spPr>
          <a:xfrm>
            <a:off x="5788152" y="4453128"/>
            <a:ext cx="1280160" cy="603504"/>
          </a:xfrm>
          <a:prstGeom prst="roundRect">
            <a:avLst>
              <a:gd name="adj" fmla="val 6000"/>
            </a:avLst>
          </a:prstGeom>
          <a:solidFill>
            <a:srgbClr val="FFFFFF"/>
          </a:solidFill>
          <a:ln w="11430">
            <a:solidFill>
              <a:srgbClr val="9EB3CB"/>
            </a:solidFill>
          </a:ln>
        </p:spPr>
      </p:sp>
      <p:sp>
        <p:nvSpPr>
          <p:cNvPr id="566" name="S2 · Talker"/>
          <p:cNvSpPr txBox="1"/>
          <p:nvPr/>
        </p:nvSpPr>
        <p:spPr>
          <a:xfrm>
            <a:off x="5829300" y="4530852"/>
            <a:ext cx="1197864" cy="219456"/>
          </a:xfrm>
          <a:prstGeom prst="rect">
            <a:avLst/>
          </a:prstGeom>
          <a:noFill/>
        </p:spPr>
        <p:txBody>
          <a:bodyPr wrap="square" lIns="0" rIns="0" tIns="0" bIns="0" anchor="t">
            <a:noAutofit/>
          </a:bodyPr>
          <a:lstStyle/>
          <a:p>
            <a:pPr algn="ctr">
              <a:lnSpc>
                <a:spcPct val="108000"/>
              </a:lnSpc>
              <a:spcAft>
                <a:spcPts val="0"/>
              </a:spcAft>
            </a:pPr>
            <a:r>
              <a:rPr sz="1400" b="1">
                <a:solidFill>
                  <a:srgbClr val="008E96"/>
                </a:solidFill>
                <a:latin typeface="Arial"/>
                <a:ea typeface="Arial"/>
                <a:cs typeface="Arial"/>
              </a:rPr>
              <a:t>S2 · Talker</a:t>
            </a:r>
          </a:p>
        </p:txBody>
      </p:sp>
      <p:sp>
        <p:nvSpPr>
          <p:cNvPr id="567" name="Text → tokens"/>
          <p:cNvSpPr txBox="1"/>
          <p:nvPr/>
        </p:nvSpPr>
        <p:spPr>
          <a:xfrm>
            <a:off x="5820156" y="4809744"/>
            <a:ext cx="1216152"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Arial"/>
                <a:ea typeface="Arial"/>
                <a:cs typeface="Arial"/>
              </a:rPr>
              <a:t>Text → tokens</a:t>
            </a:r>
          </a:p>
        </p:txBody>
      </p:sp>
      <p:sp>
        <p:nvSpPr>
          <p:cNvPr id="568" name="S3 · Code2Wav Stage"/>
          <p:cNvSpPr/>
          <p:nvPr/>
        </p:nvSpPr>
        <p:spPr>
          <a:xfrm>
            <a:off x="7543800" y="4453128"/>
            <a:ext cx="1325880" cy="603504"/>
          </a:xfrm>
          <a:prstGeom prst="roundRect">
            <a:avLst>
              <a:gd name="adj" fmla="val 6000"/>
            </a:avLst>
          </a:prstGeom>
          <a:solidFill>
            <a:srgbClr val="FFFFFF"/>
          </a:solidFill>
          <a:ln w="11430">
            <a:solidFill>
              <a:srgbClr val="9EB3CB"/>
            </a:solidFill>
          </a:ln>
        </p:spPr>
      </p:sp>
      <p:sp>
        <p:nvSpPr>
          <p:cNvPr id="569" name="S3 · Code2Wav"/>
          <p:cNvSpPr txBox="1"/>
          <p:nvPr/>
        </p:nvSpPr>
        <p:spPr>
          <a:xfrm>
            <a:off x="7584948" y="4530852"/>
            <a:ext cx="1243584" cy="219456"/>
          </a:xfrm>
          <a:prstGeom prst="rect">
            <a:avLst/>
          </a:prstGeom>
          <a:noFill/>
        </p:spPr>
        <p:txBody>
          <a:bodyPr wrap="square" lIns="0" rIns="0" tIns="0" bIns="0" anchor="t">
            <a:noAutofit/>
          </a:bodyPr>
          <a:lstStyle/>
          <a:p>
            <a:pPr algn="ctr">
              <a:lnSpc>
                <a:spcPct val="108000"/>
              </a:lnSpc>
              <a:spcAft>
                <a:spcPts val="0"/>
              </a:spcAft>
            </a:pPr>
            <a:r>
              <a:rPr sz="1300" b="1">
                <a:solidFill>
                  <a:srgbClr val="008E96"/>
                </a:solidFill>
                <a:latin typeface="Arial"/>
                <a:ea typeface="Arial"/>
                <a:cs typeface="Arial"/>
              </a:rPr>
              <a:t>S3 · Code2Wav</a:t>
            </a:r>
          </a:p>
        </p:txBody>
      </p:sp>
      <p:sp>
        <p:nvSpPr>
          <p:cNvPr id="570" name="Tokens → PCM"/>
          <p:cNvSpPr txBox="1"/>
          <p:nvPr/>
        </p:nvSpPr>
        <p:spPr>
          <a:xfrm>
            <a:off x="7575804" y="4809744"/>
            <a:ext cx="1261872"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Arial"/>
                <a:ea typeface="Arial"/>
                <a:cs typeface="Arial"/>
              </a:rPr>
              <a:t>Tokens → PCM</a:t>
            </a:r>
          </a:p>
        </p:txBody>
      </p:sp>
      <p:cxnSp>
        <p:nvCxnSpPr>
          <p:cNvPr id="571" name="Text transfer"/>
          <p:cNvCxnSpPr/>
          <p:nvPr/>
        </p:nvCxnSpPr>
        <p:spPr>
          <a:xfrm>
            <a:off x="3502152" y="4754880"/>
            <a:ext cx="393192" cy="0"/>
          </a:xfrm>
          <a:prstGeom prst="line">
            <a:avLst/>
          </a:prstGeom>
          <a:ln w="17145">
            <a:solidFill>
              <a:srgbClr val="008E96"/>
            </a:solidFill>
            <a:tailEnd type="triangle" w="sm" len="sm"/>
          </a:ln>
        </p:spPr>
      </p:cxnSp>
      <p:sp>
        <p:nvSpPr>
          <p:cNvPr id="572" name="Text"/>
          <p:cNvSpPr txBox="1"/>
          <p:nvPr/>
        </p:nvSpPr>
        <p:spPr>
          <a:xfrm>
            <a:off x="3360420" y="4283964"/>
            <a:ext cx="685800" cy="164592"/>
          </a:xfrm>
          <a:prstGeom prst="rect">
            <a:avLst/>
          </a:prstGeom>
          <a:noFill/>
        </p:spPr>
        <p:txBody>
          <a:bodyPr wrap="square" lIns="0" rIns="0" tIns="0" bIns="0" anchor="t">
            <a:noAutofit/>
          </a:bodyPr>
          <a:lstStyle/>
          <a:p>
            <a:pPr algn="ctr">
              <a:lnSpc>
                <a:spcPct val="108000"/>
              </a:lnSpc>
              <a:spcAft>
                <a:spcPts val="0"/>
              </a:spcAft>
            </a:pPr>
            <a:r>
              <a:rPr sz="1110" b="0">
                <a:solidFill>
                  <a:srgbClr val="526985"/>
                </a:solidFill>
                <a:latin typeface="Arial"/>
                <a:ea typeface="Arial"/>
                <a:cs typeface="Arial"/>
              </a:rPr>
              <a:t>Text</a:t>
            </a:r>
          </a:p>
        </p:txBody>
      </p:sp>
      <p:cxnSp>
        <p:nvCxnSpPr>
          <p:cNvPr id="573" name="Text transfer"/>
          <p:cNvCxnSpPr/>
          <p:nvPr/>
        </p:nvCxnSpPr>
        <p:spPr>
          <a:xfrm>
            <a:off x="5330952" y="4754880"/>
            <a:ext cx="393192" cy="0"/>
          </a:xfrm>
          <a:prstGeom prst="line">
            <a:avLst/>
          </a:prstGeom>
          <a:ln w="17145">
            <a:solidFill>
              <a:srgbClr val="008E96"/>
            </a:solidFill>
            <a:tailEnd type="triangle" w="sm" len="sm"/>
          </a:ln>
        </p:spPr>
      </p:cxnSp>
      <p:sp>
        <p:nvSpPr>
          <p:cNvPr id="574" name="Text"/>
          <p:cNvSpPr txBox="1"/>
          <p:nvPr/>
        </p:nvSpPr>
        <p:spPr>
          <a:xfrm>
            <a:off x="5189220" y="4283964"/>
            <a:ext cx="685800" cy="164592"/>
          </a:xfrm>
          <a:prstGeom prst="rect">
            <a:avLst/>
          </a:prstGeom>
          <a:noFill/>
        </p:spPr>
        <p:txBody>
          <a:bodyPr wrap="square" lIns="0" rIns="0" tIns="0" bIns="0" anchor="t">
            <a:noAutofit/>
          </a:bodyPr>
          <a:lstStyle/>
          <a:p>
            <a:pPr algn="ctr">
              <a:lnSpc>
                <a:spcPct val="108000"/>
              </a:lnSpc>
              <a:spcAft>
                <a:spcPts val="0"/>
              </a:spcAft>
            </a:pPr>
            <a:r>
              <a:rPr sz="1110" b="0">
                <a:solidFill>
                  <a:srgbClr val="526985"/>
                </a:solidFill>
                <a:latin typeface="Arial"/>
                <a:ea typeface="Arial"/>
                <a:cs typeface="Arial"/>
              </a:rPr>
              <a:t>Text</a:t>
            </a:r>
          </a:p>
        </p:txBody>
      </p:sp>
      <p:cxnSp>
        <p:nvCxnSpPr>
          <p:cNvPr id="575" name="Audio tokens transfer"/>
          <p:cNvCxnSpPr/>
          <p:nvPr/>
        </p:nvCxnSpPr>
        <p:spPr>
          <a:xfrm>
            <a:off x="7123176" y="4754880"/>
            <a:ext cx="356616" cy="0"/>
          </a:xfrm>
          <a:prstGeom prst="line">
            <a:avLst/>
          </a:prstGeom>
          <a:ln w="17145">
            <a:solidFill>
              <a:srgbClr val="008E96"/>
            </a:solidFill>
            <a:tailEnd type="triangle" w="sm" len="sm"/>
          </a:ln>
        </p:spPr>
      </p:cxnSp>
      <p:sp>
        <p:nvSpPr>
          <p:cNvPr id="576" name="Audio tokens"/>
          <p:cNvSpPr txBox="1"/>
          <p:nvPr/>
        </p:nvSpPr>
        <p:spPr>
          <a:xfrm>
            <a:off x="6748272" y="4283964"/>
            <a:ext cx="1115568" cy="164592"/>
          </a:xfrm>
          <a:prstGeom prst="rect">
            <a:avLst/>
          </a:prstGeom>
          <a:noFill/>
        </p:spPr>
        <p:txBody>
          <a:bodyPr wrap="square" lIns="0" rIns="0" tIns="0" bIns="0" anchor="t">
            <a:noAutofit/>
          </a:bodyPr>
          <a:lstStyle/>
          <a:p>
            <a:pPr algn="ctr">
              <a:lnSpc>
                <a:spcPct val="108000"/>
              </a:lnSpc>
              <a:spcAft>
                <a:spcPts val="0"/>
              </a:spcAft>
            </a:pPr>
            <a:r>
              <a:rPr sz="1110" b="0">
                <a:solidFill>
                  <a:srgbClr val="526985"/>
                </a:solidFill>
                <a:latin typeface="Arial"/>
                <a:ea typeface="Arial"/>
                <a:cs typeface="Arial"/>
              </a:rPr>
              <a:t>Audio tokens</a:t>
            </a:r>
          </a:p>
        </p:txBody>
      </p:sp>
      <p:sp>
        <p:nvSpPr>
          <p:cNvPr id="577" name="S0 · Thinker Stage"/>
          <p:cNvSpPr/>
          <p:nvPr/>
        </p:nvSpPr>
        <p:spPr>
          <a:xfrm>
            <a:off x="2441448" y="5394960"/>
            <a:ext cx="1719072" cy="603504"/>
          </a:xfrm>
          <a:prstGeom prst="roundRect">
            <a:avLst>
              <a:gd name="adj" fmla="val 6000"/>
            </a:avLst>
          </a:prstGeom>
          <a:solidFill>
            <a:srgbClr val="FFFFFF"/>
          </a:solidFill>
          <a:ln w="11430">
            <a:solidFill>
              <a:srgbClr val="9EB3CB"/>
            </a:solidFill>
          </a:ln>
        </p:spPr>
      </p:sp>
      <p:sp>
        <p:nvSpPr>
          <p:cNvPr id="578" name="S0 · Thinker"/>
          <p:cNvSpPr txBox="1"/>
          <p:nvPr/>
        </p:nvSpPr>
        <p:spPr>
          <a:xfrm>
            <a:off x="2482596" y="5472684"/>
            <a:ext cx="1636776" cy="219456"/>
          </a:xfrm>
          <a:prstGeom prst="rect">
            <a:avLst/>
          </a:prstGeom>
          <a:noFill/>
        </p:spPr>
        <p:txBody>
          <a:bodyPr wrap="square" lIns="0" rIns="0" tIns="0" bIns="0" anchor="t">
            <a:noAutofit/>
          </a:bodyPr>
          <a:lstStyle/>
          <a:p>
            <a:pPr algn="ctr">
              <a:lnSpc>
                <a:spcPct val="108000"/>
              </a:lnSpc>
              <a:spcAft>
                <a:spcPts val="0"/>
              </a:spcAft>
            </a:pPr>
            <a:r>
              <a:rPr sz="1400" b="1">
                <a:solidFill>
                  <a:srgbClr val="008E96"/>
                </a:solidFill>
                <a:latin typeface="Arial"/>
                <a:ea typeface="Arial"/>
                <a:cs typeface="Arial"/>
              </a:rPr>
              <a:t>S0 · Thinker</a:t>
            </a:r>
          </a:p>
        </p:txBody>
      </p:sp>
      <p:sp>
        <p:nvSpPr>
          <p:cNvPr id="579" name="Audio + images"/>
          <p:cNvSpPr txBox="1"/>
          <p:nvPr/>
        </p:nvSpPr>
        <p:spPr>
          <a:xfrm>
            <a:off x="2473452" y="5751576"/>
            <a:ext cx="1655064"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Arial"/>
                <a:ea typeface="Arial"/>
                <a:cs typeface="Arial"/>
              </a:rPr>
              <a:t>Audio + images</a:t>
            </a:r>
          </a:p>
        </p:txBody>
      </p:sp>
      <p:sp>
        <p:nvSpPr>
          <p:cNvPr id="580" name="S1 · Talker Stage"/>
          <p:cNvSpPr/>
          <p:nvPr/>
        </p:nvSpPr>
        <p:spPr>
          <a:xfrm>
            <a:off x="5093208" y="5394960"/>
            <a:ext cx="1481328" cy="603504"/>
          </a:xfrm>
          <a:prstGeom prst="roundRect">
            <a:avLst>
              <a:gd name="adj" fmla="val 6000"/>
            </a:avLst>
          </a:prstGeom>
          <a:solidFill>
            <a:srgbClr val="FFFFFF"/>
          </a:solidFill>
          <a:ln w="11430">
            <a:solidFill>
              <a:srgbClr val="9EB3CB"/>
            </a:solidFill>
          </a:ln>
        </p:spPr>
      </p:sp>
      <p:sp>
        <p:nvSpPr>
          <p:cNvPr id="581" name="S1 · Talker"/>
          <p:cNvSpPr txBox="1"/>
          <p:nvPr/>
        </p:nvSpPr>
        <p:spPr>
          <a:xfrm>
            <a:off x="5134356" y="5472684"/>
            <a:ext cx="1399032" cy="219456"/>
          </a:xfrm>
          <a:prstGeom prst="rect">
            <a:avLst/>
          </a:prstGeom>
          <a:noFill/>
        </p:spPr>
        <p:txBody>
          <a:bodyPr wrap="square" lIns="0" rIns="0" tIns="0" bIns="0" anchor="t">
            <a:noAutofit/>
          </a:bodyPr>
          <a:lstStyle/>
          <a:p>
            <a:pPr algn="ctr">
              <a:lnSpc>
                <a:spcPct val="108000"/>
              </a:lnSpc>
              <a:spcAft>
                <a:spcPts val="0"/>
              </a:spcAft>
            </a:pPr>
            <a:r>
              <a:rPr sz="1400" b="1">
                <a:solidFill>
                  <a:srgbClr val="008E96"/>
                </a:solidFill>
                <a:latin typeface="Arial"/>
                <a:ea typeface="Arial"/>
                <a:cs typeface="Arial"/>
              </a:rPr>
              <a:t>S1 · Talker</a:t>
            </a:r>
          </a:p>
        </p:txBody>
      </p:sp>
      <p:sp>
        <p:nvSpPr>
          <p:cNvPr id="582" name="Predicts audio tokens"/>
          <p:cNvSpPr txBox="1"/>
          <p:nvPr/>
        </p:nvSpPr>
        <p:spPr>
          <a:xfrm>
            <a:off x="5125212" y="5751576"/>
            <a:ext cx="1417320"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Arial"/>
                <a:ea typeface="Arial"/>
                <a:cs typeface="Arial"/>
              </a:rPr>
              <a:t>Predicts audio tokens</a:t>
            </a:r>
          </a:p>
        </p:txBody>
      </p:sp>
      <p:sp>
        <p:nvSpPr>
          <p:cNvPr id="583" name="S2 · Code2Wav Stage"/>
          <p:cNvSpPr/>
          <p:nvPr/>
        </p:nvSpPr>
        <p:spPr>
          <a:xfrm>
            <a:off x="7443216" y="5394960"/>
            <a:ext cx="1426464" cy="603504"/>
          </a:xfrm>
          <a:prstGeom prst="roundRect">
            <a:avLst>
              <a:gd name="adj" fmla="val 6000"/>
            </a:avLst>
          </a:prstGeom>
          <a:solidFill>
            <a:srgbClr val="FFFFFF"/>
          </a:solidFill>
          <a:ln w="11430">
            <a:solidFill>
              <a:srgbClr val="9EB3CB"/>
            </a:solidFill>
          </a:ln>
        </p:spPr>
      </p:sp>
      <p:sp>
        <p:nvSpPr>
          <p:cNvPr id="584" name="S2 · Code2Wav"/>
          <p:cNvSpPr txBox="1"/>
          <p:nvPr/>
        </p:nvSpPr>
        <p:spPr>
          <a:xfrm>
            <a:off x="7484364" y="5472684"/>
            <a:ext cx="1344168" cy="219456"/>
          </a:xfrm>
          <a:prstGeom prst="rect">
            <a:avLst/>
          </a:prstGeom>
          <a:noFill/>
        </p:spPr>
        <p:txBody>
          <a:bodyPr wrap="square" lIns="0" rIns="0" tIns="0" bIns="0" anchor="t">
            <a:noAutofit/>
          </a:bodyPr>
          <a:lstStyle/>
          <a:p>
            <a:pPr algn="ctr">
              <a:lnSpc>
                <a:spcPct val="108000"/>
              </a:lnSpc>
              <a:spcAft>
                <a:spcPts val="0"/>
              </a:spcAft>
            </a:pPr>
            <a:r>
              <a:rPr sz="1400" b="1">
                <a:solidFill>
                  <a:srgbClr val="008E96"/>
                </a:solidFill>
                <a:latin typeface="Arial"/>
                <a:ea typeface="Arial"/>
                <a:cs typeface="Arial"/>
              </a:rPr>
              <a:t>S2 · Code2Wav</a:t>
            </a:r>
          </a:p>
        </p:txBody>
      </p:sp>
      <p:sp>
        <p:nvSpPr>
          <p:cNvPr id="585" name="Tokens → PCM"/>
          <p:cNvSpPr txBox="1"/>
          <p:nvPr/>
        </p:nvSpPr>
        <p:spPr>
          <a:xfrm>
            <a:off x="7475220" y="5751576"/>
            <a:ext cx="1362456"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Arial"/>
                <a:ea typeface="Arial"/>
                <a:cs typeface="Arial"/>
              </a:rPr>
              <a:t>Tokens → PCM</a:t>
            </a:r>
          </a:p>
        </p:txBody>
      </p:sp>
      <p:cxnSp>
        <p:nvCxnSpPr>
          <p:cNvPr id="586" name="Text + features transfer"/>
          <p:cNvCxnSpPr/>
          <p:nvPr/>
        </p:nvCxnSpPr>
        <p:spPr>
          <a:xfrm>
            <a:off x="4215384" y="5696712"/>
            <a:ext cx="813816" cy="0"/>
          </a:xfrm>
          <a:prstGeom prst="line">
            <a:avLst/>
          </a:prstGeom>
          <a:ln w="17145">
            <a:solidFill>
              <a:srgbClr val="008E96"/>
            </a:solidFill>
            <a:tailEnd type="triangle" w="sm" len="sm"/>
          </a:ln>
        </p:spPr>
      </p:cxnSp>
      <p:sp>
        <p:nvSpPr>
          <p:cNvPr id="587" name="Text + features"/>
          <p:cNvSpPr txBox="1"/>
          <p:nvPr/>
        </p:nvSpPr>
        <p:spPr>
          <a:xfrm>
            <a:off x="3918204" y="5225796"/>
            <a:ext cx="1417320" cy="164592"/>
          </a:xfrm>
          <a:prstGeom prst="rect">
            <a:avLst/>
          </a:prstGeom>
          <a:noFill/>
        </p:spPr>
        <p:txBody>
          <a:bodyPr wrap="square" lIns="0" rIns="0" tIns="0" bIns="0" anchor="t">
            <a:noAutofit/>
          </a:bodyPr>
          <a:lstStyle/>
          <a:p>
            <a:pPr algn="ctr">
              <a:lnSpc>
                <a:spcPct val="108000"/>
              </a:lnSpc>
              <a:spcAft>
                <a:spcPts val="0"/>
              </a:spcAft>
            </a:pPr>
            <a:r>
              <a:rPr sz="1110" b="0">
                <a:solidFill>
                  <a:srgbClr val="526985"/>
                </a:solidFill>
                <a:latin typeface="Arial"/>
                <a:ea typeface="Arial"/>
                <a:cs typeface="Arial"/>
              </a:rPr>
              <a:t>Text + features</a:t>
            </a:r>
          </a:p>
        </p:txBody>
      </p:sp>
      <p:cxnSp>
        <p:nvCxnSpPr>
          <p:cNvPr id="588" name="Audio tokens transfer"/>
          <p:cNvCxnSpPr/>
          <p:nvPr/>
        </p:nvCxnSpPr>
        <p:spPr>
          <a:xfrm>
            <a:off x="6629400" y="5696712"/>
            <a:ext cx="749808" cy="0"/>
          </a:xfrm>
          <a:prstGeom prst="line">
            <a:avLst/>
          </a:prstGeom>
          <a:ln w="17145">
            <a:solidFill>
              <a:srgbClr val="008E96"/>
            </a:solidFill>
            <a:tailEnd type="triangle" w="sm" len="sm"/>
          </a:ln>
        </p:spPr>
      </p:cxnSp>
      <p:sp>
        <p:nvSpPr>
          <p:cNvPr id="589" name="Audio tokens"/>
          <p:cNvSpPr txBox="1"/>
          <p:nvPr/>
        </p:nvSpPr>
        <p:spPr>
          <a:xfrm>
            <a:off x="6437376" y="5225796"/>
            <a:ext cx="1143000" cy="164592"/>
          </a:xfrm>
          <a:prstGeom prst="rect">
            <a:avLst/>
          </a:prstGeom>
          <a:noFill/>
        </p:spPr>
        <p:txBody>
          <a:bodyPr wrap="square" lIns="0" rIns="0" tIns="0" bIns="0" anchor="t">
            <a:noAutofit/>
          </a:bodyPr>
          <a:lstStyle/>
          <a:p>
            <a:pPr algn="ctr">
              <a:lnSpc>
                <a:spcPct val="108000"/>
              </a:lnSpc>
              <a:spcAft>
                <a:spcPts val="0"/>
              </a:spcAft>
            </a:pPr>
            <a:r>
              <a:rPr sz="1110" b="0">
                <a:solidFill>
                  <a:srgbClr val="526985"/>
                </a:solidFill>
                <a:latin typeface="Arial"/>
                <a:ea typeface="Arial"/>
                <a:cs typeface="Arial"/>
              </a:rPr>
              <a:t>Audio tokens</a:t>
            </a:r>
          </a:p>
        </p:txBody>
      </p:sp>
      <p:sp>
        <p:nvSpPr>
          <p:cNvPr id="590" name="PCM = audio waveform   ·   Audio tokens = codec codes   ·   KV = model attention cache"/>
          <p:cNvSpPr txBox="1"/>
          <p:nvPr/>
        </p:nvSpPr>
        <p:spPr>
          <a:xfrm>
            <a:off x="713232" y="6217920"/>
            <a:ext cx="10835640" cy="201168"/>
          </a:xfrm>
          <a:prstGeom prst="rect">
            <a:avLst/>
          </a:prstGeom>
          <a:noFill/>
        </p:spPr>
        <p:txBody>
          <a:bodyPr wrap="square" lIns="0" rIns="0" tIns="0" bIns="0" anchor="t">
            <a:noAutofit/>
          </a:bodyPr>
          <a:lstStyle/>
          <a:p>
            <a:pPr algn="l">
              <a:lnSpc>
                <a:spcPct val="108000"/>
              </a:lnSpc>
              <a:spcAft>
                <a:spcPts val="0"/>
              </a:spcAft>
            </a:pPr>
            <a:r>
              <a:rPr sz="1180" b="0">
                <a:solidFill>
                  <a:srgbClr val="526985"/>
                </a:solidFill>
                <a:latin typeface="Arial"/>
                <a:ea typeface="Arial"/>
                <a:cs typeface="Arial"/>
              </a:rPr>
              <a:t>PCM = audio waveform   ·   Audio tokens = codec codes   ·   KV = model attention cache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ARCHITECTURE &amp; EXECUTION</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800" b="1">
                <a:solidFill>
                  <a:srgbClr val="142B45"/>
                </a:solidFill>
                <a:latin typeface="Arial"/>
                <a:ea typeface="Arial"/>
                <a:cs typeface="Arial"/>
              </a:rPr>
              <a:t>Connection recovery across models</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08 / 12</a:t>
            </a:r>
          </a:p>
        </p:txBody>
      </p:sp>
      <p:sp>
        <p:nvSpPr>
          <p:cNvPr id="12" name="TextBox 11"/>
          <p:cNvSpPr txBox="1"/>
          <p:nvPr/>
        </p:nvSpPr>
        <p:spPr>
          <a:xfrm>
            <a:off x="576072" y="1645920"/>
            <a:ext cx="10972800" cy="329184"/>
          </a:xfrm>
          <a:prstGeom prst="rect">
            <a:avLst/>
          </a:prstGeom>
          <a:noFill/>
        </p:spPr>
        <p:txBody>
          <a:bodyPr wrap="square" lIns="0" rIns="0" tIns="0" bIns="0" anchor="t">
            <a:spAutoFit/>
          </a:bodyPr>
          <a:lstStyle/>
          <a:p>
            <a:pPr algn="l">
              <a:lnSpc>
                <a:spcPct val="110000"/>
              </a:lnSpc>
              <a:spcAft>
                <a:spcPts val="0"/>
              </a:spcAft>
            </a:pPr>
            <a:r>
              <a:rPr sz="1500" b="0">
                <a:solidFill>
                  <a:srgbClr val="586B7E"/>
                </a:solidFill>
                <a:latin typeface="Arial"/>
                <a:ea typeface="Arial"/>
                <a:cs typeface="Arial"/>
              </a:rPr>
              <a:t>Session resume: MiniCPM-o 4.5, AURA, Qwen3-Omni and Nemotron VoiceChat.</a:t>
            </a:r>
          </a:p>
        </p:txBody>
      </p:sp>
      <p:sp>
        <p:nvSpPr>
          <p:cNvPr id="13" name="Rounded Rectangle 12"/>
          <p:cNvSpPr/>
          <p:nvPr/>
        </p:nvSpPr>
        <p:spPr>
          <a:xfrm>
            <a:off x="548640" y="2194560"/>
            <a:ext cx="3200400" cy="93268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704088" y="2313432"/>
            <a:ext cx="2889504" cy="246888"/>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User Client</a:t>
            </a:r>
          </a:p>
        </p:txBody>
      </p:sp>
      <p:sp>
        <p:nvSpPr>
          <p:cNvPr id="15" name="TextBox 14"/>
          <p:cNvSpPr txBox="1"/>
          <p:nvPr/>
        </p:nvSpPr>
        <p:spPr>
          <a:xfrm>
            <a:off x="704088" y="2670048"/>
            <a:ext cx="2889504" cy="347472"/>
          </a:xfrm>
          <a:prstGeom prst="rect">
            <a:avLst/>
          </a:prstGeom>
          <a:noFill/>
        </p:spPr>
        <p:txBody>
          <a:bodyPr wrap="square" lIns="0" rIns="0" tIns="0" bIns="0" anchor="t">
            <a:spAutoFit/>
          </a:bodyPr>
          <a:lstStyle/>
          <a:p>
            <a:pPr algn="l">
              <a:lnSpc>
                <a:spcPct val="110000"/>
              </a:lnSpc>
              <a:spcAft>
                <a:spcPts val="0"/>
              </a:spcAft>
            </a:pPr>
            <a:r>
              <a:rPr sz="1080" b="0">
                <a:solidFill>
                  <a:srgbClr val="142B45"/>
                </a:solidFill>
                <a:latin typeface="Arial"/>
                <a:ea typeface="Arial"/>
                <a:cs typeface="Arial"/>
              </a:rPr>
              <a:t>Present session credentials</a:t>
            </a:r>
          </a:p>
          <a:p>
            <a:pPr algn="l">
              <a:lnSpc>
                <a:spcPct val="110000"/>
              </a:lnSpc>
              <a:spcAft>
                <a:spcPts val="0"/>
              </a:spcAft>
            </a:pPr>
            <a:r>
              <a:rPr sz="1080" b="0">
                <a:solidFill>
                  <a:srgbClr val="142B45"/>
                </a:solidFill>
                <a:latin typeface="Arial"/>
                <a:ea typeface="Arial"/>
                <a:cs typeface="Arial"/>
              </a:rPr>
              <a:t>Resume from the last received event position</a:t>
            </a:r>
          </a:p>
        </p:txBody>
      </p:sp>
      <p:cxnSp>
        <p:nvCxnSpPr>
          <p:cNvPr id="16" name="Connector 15"/>
          <p:cNvCxnSpPr/>
          <p:nvPr/>
        </p:nvCxnSpPr>
        <p:spPr>
          <a:xfrm>
            <a:off x="3803903" y="2660904"/>
            <a:ext cx="466345"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7" name="Rounded Rectangle 16"/>
          <p:cNvSpPr/>
          <p:nvPr/>
        </p:nvSpPr>
        <p:spPr>
          <a:xfrm>
            <a:off x="4343400" y="2194560"/>
            <a:ext cx="3227832" cy="93268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498848" y="2313432"/>
            <a:ext cx="2916936" cy="246888"/>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API Server</a:t>
            </a:r>
          </a:p>
        </p:txBody>
      </p:sp>
      <p:sp>
        <p:nvSpPr>
          <p:cNvPr id="19" name="TextBox 18"/>
          <p:cNvSpPr txBox="1"/>
          <p:nvPr/>
        </p:nvSpPr>
        <p:spPr>
          <a:xfrm>
            <a:off x="4498848" y="2670048"/>
            <a:ext cx="2916936" cy="347472"/>
          </a:xfrm>
          <a:prstGeom prst="rect">
            <a:avLst/>
          </a:prstGeom>
          <a:noFill/>
        </p:spPr>
        <p:txBody>
          <a:bodyPr wrap="square" lIns="0" rIns="0" tIns="0" bIns="0" anchor="t">
            <a:spAutoFit/>
          </a:bodyPr>
          <a:lstStyle/>
          <a:p>
            <a:pPr algn="l">
              <a:lnSpc>
                <a:spcPct val="110000"/>
              </a:lnSpc>
              <a:spcAft>
                <a:spcPts val="0"/>
              </a:spcAft>
            </a:pPr>
            <a:r>
              <a:rPr sz="1080" b="0">
                <a:solidFill>
                  <a:srgbClr val="142B45"/>
                </a:solidFill>
                <a:latin typeface="Arial"/>
                <a:ea typeface="Arial"/>
                <a:cs typeface="Arial"/>
              </a:rPr>
              <a:t>Validate credentials; bind the new connection</a:t>
            </a:r>
          </a:p>
          <a:p>
            <a:pPr algn="l">
              <a:lnSpc>
                <a:spcPct val="110000"/>
              </a:lnSpc>
              <a:spcAft>
                <a:spcPts val="0"/>
              </a:spcAft>
            </a:pPr>
            <a:r>
              <a:rPr sz="1080" b="0">
                <a:solidFill>
                  <a:srgbClr val="142B45"/>
                </a:solidFill>
                <a:latin typeface="Arial"/>
                <a:ea typeface="Arial"/>
                <a:cs typeface="Arial"/>
              </a:rPr>
              <a:t>Replay retained events</a:t>
            </a:r>
          </a:p>
        </p:txBody>
      </p:sp>
      <p:cxnSp>
        <p:nvCxnSpPr>
          <p:cNvPr id="20" name="Connector 19"/>
          <p:cNvCxnSpPr/>
          <p:nvPr/>
        </p:nvCxnSpPr>
        <p:spPr>
          <a:xfrm>
            <a:off x="7626096" y="2660904"/>
            <a:ext cx="466344"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1" name="Rounded Rectangle 20"/>
          <p:cNvSpPr/>
          <p:nvPr/>
        </p:nvSpPr>
        <p:spPr>
          <a:xfrm>
            <a:off x="8165592" y="2194560"/>
            <a:ext cx="3465576" cy="932688"/>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8321040" y="2313432"/>
            <a:ext cx="3154680" cy="246888"/>
          </a:xfrm>
          <a:prstGeom prst="rect">
            <a:avLst/>
          </a:prstGeom>
          <a:noFill/>
        </p:spPr>
        <p:txBody>
          <a:bodyPr wrap="square" lIns="0" rIns="0" tIns="0" bIns="0" anchor="t">
            <a:spAutoFit/>
          </a:bodyPr>
          <a:lstStyle/>
          <a:p>
            <a:pPr algn="l">
              <a:lnSpc>
                <a:spcPct val="110000"/>
              </a:lnSpc>
              <a:spcAft>
                <a:spcPts val="0"/>
              </a:spcAft>
            </a:pPr>
            <a:r>
              <a:rPr sz="1700" b="1">
                <a:solidFill>
                  <a:srgbClr val="008E96"/>
                </a:solidFill>
                <a:latin typeface="Arial"/>
                <a:ea typeface="Arial"/>
                <a:cs typeface="Arial"/>
              </a:rPr>
              <a:t>Engine session</a:t>
            </a:r>
          </a:p>
        </p:txBody>
      </p:sp>
      <p:sp>
        <p:nvSpPr>
          <p:cNvPr id="23" name="TextBox 22"/>
          <p:cNvSpPr txBox="1"/>
          <p:nvPr/>
        </p:nvSpPr>
        <p:spPr>
          <a:xfrm>
            <a:off x="8321040" y="2670048"/>
            <a:ext cx="3154680" cy="347472"/>
          </a:xfrm>
          <a:prstGeom prst="rect">
            <a:avLst/>
          </a:prstGeom>
          <a:noFill/>
        </p:spPr>
        <p:txBody>
          <a:bodyPr wrap="square" lIns="0" rIns="0" tIns="0" bIns="0" anchor="t">
            <a:spAutoFit/>
          </a:bodyPr>
          <a:lstStyle/>
          <a:p>
            <a:pPr algn="l">
              <a:lnSpc>
                <a:spcPct val="110000"/>
              </a:lnSpc>
              <a:spcAft>
                <a:spcPts val="0"/>
              </a:spcAft>
            </a:pPr>
            <a:r>
              <a:rPr sz="1080" b="0">
                <a:solidFill>
                  <a:srgbClr val="142B45"/>
                </a:solidFill>
                <a:latin typeface="Arial"/>
                <a:ea typeface="Arial"/>
                <a:cs typeface="Arial"/>
              </a:rPr>
              <a:t>Continue with existing session state</a:t>
            </a:r>
          </a:p>
          <a:p>
            <a:pPr algn="l">
              <a:lnSpc>
                <a:spcPct val="110000"/>
              </a:lnSpc>
              <a:spcAft>
                <a:spcPts val="0"/>
              </a:spcAft>
            </a:pPr>
            <a:r>
              <a:rPr sz="1080" b="0">
                <a:solidFill>
                  <a:srgbClr val="142B45"/>
                </a:solidFill>
                <a:latin typeface="Arial"/>
                <a:ea typeface="Arial"/>
                <a:cs typeface="Arial"/>
              </a:rPr>
              <a:t>Reattach input and output to the same session</a:t>
            </a:r>
          </a:p>
        </p:txBody>
      </p:sp>
      <p:sp>
        <p:nvSpPr>
          <p:cNvPr id="24" name="TextBox 23"/>
          <p:cNvSpPr txBox="1"/>
          <p:nvPr/>
        </p:nvSpPr>
        <p:spPr>
          <a:xfrm>
            <a:off x="722376" y="3264408"/>
            <a:ext cx="10744200" cy="402336"/>
          </a:xfrm>
          <a:prstGeom prst="rect">
            <a:avLst/>
          </a:prstGeom>
          <a:noFill/>
        </p:spPr>
        <p:txBody>
          <a:bodyPr wrap="square" lIns="0" rIns="0" tIns="0" bIns="0" anchor="t">
            <a:spAutoFit/>
          </a:bodyPr>
          <a:lstStyle/>
          <a:p>
            <a:pPr algn="l">
              <a:lnSpc>
                <a:spcPct val="110000"/>
              </a:lnSpc>
              <a:spcAft>
                <a:spcPts val="0"/>
              </a:spcAft>
            </a:pPr>
            <a:r>
              <a:rPr sz="1150" b="0">
                <a:solidFill>
                  <a:srgbClr val="586B7E"/>
                </a:solidFill>
                <a:latin typeface="Arial"/>
                <a:ea typeface="Arial"/>
                <a:cs typeface="Arial"/>
              </a:rPr>
              <a:t>Reconnect to the same live API process while the session is valid.</a:t>
            </a:r>
          </a:p>
          <a:p>
            <a:pPr algn="l">
              <a:lnSpc>
                <a:spcPct val="110000"/>
              </a:lnSpc>
              <a:spcAft>
                <a:spcPts val="0"/>
              </a:spcAft>
            </a:pPr>
            <a:r>
              <a:rPr sz="1150" b="0">
                <a:solidFill>
                  <a:srgbClr val="586B7E"/>
                </a:solidFill>
                <a:latin typeface="Arial"/>
                <a:ea typeface="Arial"/>
                <a:cs typeface="Arial"/>
              </a:rPr>
              <a:t>Replay requires retained events; process restarts require a new session.</a:t>
            </a:r>
          </a:p>
        </p:txBody>
      </p:sp>
      <p:sp>
        <p:nvSpPr>
          <p:cNvPr id="25" name="TextBox 24"/>
          <p:cNvSpPr txBox="1"/>
          <p:nvPr/>
        </p:nvSpPr>
        <p:spPr>
          <a:xfrm>
            <a:off x="722376" y="3785615"/>
            <a:ext cx="2048256" cy="210312"/>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RESUME STEP</a:t>
            </a:r>
          </a:p>
        </p:txBody>
      </p:sp>
      <p:sp>
        <p:nvSpPr>
          <p:cNvPr id="26" name="TextBox 25"/>
          <p:cNvSpPr txBox="1"/>
          <p:nvPr/>
        </p:nvSpPr>
        <p:spPr>
          <a:xfrm>
            <a:off x="2953512" y="3785615"/>
            <a:ext cx="2386584" cy="210312"/>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FRAMEWORK ACTION</a:t>
            </a:r>
          </a:p>
        </p:txBody>
      </p:sp>
      <p:sp>
        <p:nvSpPr>
          <p:cNvPr id="27" name="TextBox 26"/>
          <p:cNvSpPr txBox="1"/>
          <p:nvPr/>
        </p:nvSpPr>
        <p:spPr>
          <a:xfrm>
            <a:off x="5541264" y="3785615"/>
            <a:ext cx="5696712" cy="210312"/>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USER CLIENT INTEGRATION</a:t>
            </a:r>
          </a:p>
        </p:txBody>
      </p:sp>
      <p:sp>
        <p:nvSpPr>
          <p:cNvPr id="28" name="Rounded Rectangle 27"/>
          <p:cNvSpPr/>
          <p:nvPr/>
        </p:nvSpPr>
        <p:spPr>
          <a:xfrm>
            <a:off x="548640" y="4096511"/>
            <a:ext cx="11082528" cy="39319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22376" y="4169663"/>
            <a:ext cx="2048256" cy="356616"/>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Session identity</a:t>
            </a:r>
          </a:p>
        </p:txBody>
      </p:sp>
      <p:sp>
        <p:nvSpPr>
          <p:cNvPr id="30" name="TextBox 29"/>
          <p:cNvSpPr txBox="1"/>
          <p:nvPr/>
        </p:nvSpPr>
        <p:spPr>
          <a:xfrm>
            <a:off x="2953512" y="4169663"/>
            <a:ext cx="2386584" cy="356616"/>
          </a:xfrm>
          <a:prstGeom prst="rect">
            <a:avLst/>
          </a:prstGeom>
          <a:noFill/>
        </p:spPr>
        <p:txBody>
          <a:bodyPr wrap="square" lIns="0" rIns="0" tIns="0" bIns="0" anchor="t">
            <a:spAutoFit/>
          </a:bodyPr>
          <a:lstStyle/>
          <a:p>
            <a:pPr algn="l">
              <a:lnSpc>
                <a:spcPct val="110000"/>
              </a:lnSpc>
              <a:spcAft>
                <a:spcPts val="0"/>
              </a:spcAft>
            </a:pPr>
            <a:r>
              <a:rPr sz="1150" b="0">
                <a:solidFill>
                  <a:srgbClr val="142B45"/>
                </a:solidFill>
                <a:latin typeface="Arial"/>
                <a:ea typeface="Arial"/>
                <a:cs typeface="Arial"/>
              </a:rPr>
              <a:t>Keep the same session</a:t>
            </a:r>
          </a:p>
        </p:txBody>
      </p:sp>
      <p:sp>
        <p:nvSpPr>
          <p:cNvPr id="31" name="TextBox 30"/>
          <p:cNvSpPr txBox="1"/>
          <p:nvPr/>
        </p:nvSpPr>
        <p:spPr>
          <a:xfrm>
            <a:off x="5541264" y="4105656"/>
            <a:ext cx="5696712" cy="42062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Store session ID and the latest resume token;</a:t>
            </a:r>
          </a:p>
          <a:p>
            <a:pPr algn="l">
              <a:lnSpc>
                <a:spcPct val="110000"/>
              </a:lnSpc>
              <a:spcAft>
                <a:spcPts val="0"/>
              </a:spcAft>
            </a:pPr>
            <a:r>
              <a:rPr sz="1180" b="0">
                <a:solidFill>
                  <a:srgbClr val="142B45"/>
                </a:solidFill>
                <a:latin typeface="Arial"/>
                <a:ea typeface="Arial"/>
                <a:cs typeface="Arial"/>
              </a:rPr>
              <a:t>the Python WebSocket SDK manages both.</a:t>
            </a:r>
          </a:p>
        </p:txBody>
      </p:sp>
      <p:sp>
        <p:nvSpPr>
          <p:cNvPr id="32" name="Rounded Rectangle 31"/>
          <p:cNvSpPr/>
          <p:nvPr/>
        </p:nvSpPr>
        <p:spPr>
          <a:xfrm>
            <a:off x="548640" y="4599432"/>
            <a:ext cx="11082528" cy="39319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722376" y="4672584"/>
            <a:ext cx="2048256" cy="356616"/>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Connection binding</a:t>
            </a:r>
          </a:p>
        </p:txBody>
      </p:sp>
      <p:sp>
        <p:nvSpPr>
          <p:cNvPr id="34" name="TextBox 33"/>
          <p:cNvSpPr txBox="1"/>
          <p:nvPr/>
        </p:nvSpPr>
        <p:spPr>
          <a:xfrm>
            <a:off x="2953512" y="4672584"/>
            <a:ext cx="2386584" cy="356616"/>
          </a:xfrm>
          <a:prstGeom prst="rect">
            <a:avLst/>
          </a:prstGeom>
          <a:noFill/>
        </p:spPr>
        <p:txBody>
          <a:bodyPr wrap="square" lIns="0" rIns="0" tIns="0" bIns="0" anchor="t">
            <a:spAutoFit/>
          </a:bodyPr>
          <a:lstStyle/>
          <a:p>
            <a:pPr algn="l">
              <a:lnSpc>
                <a:spcPct val="110000"/>
              </a:lnSpc>
              <a:spcAft>
                <a:spcPts val="0"/>
              </a:spcAft>
            </a:pPr>
            <a:r>
              <a:rPr sz="1150" b="0">
                <a:solidFill>
                  <a:srgbClr val="142B45"/>
                </a:solidFill>
                <a:latin typeface="Arial"/>
                <a:ea typeface="Arial"/>
                <a:cs typeface="Arial"/>
              </a:rPr>
              <a:t>Rebind the existing session</a:t>
            </a:r>
          </a:p>
        </p:txBody>
      </p:sp>
      <p:sp>
        <p:nvSpPr>
          <p:cNvPr id="35" name="TextBox 34"/>
          <p:cNvSpPr txBox="1"/>
          <p:nvPr/>
        </p:nvSpPr>
        <p:spPr>
          <a:xfrm>
            <a:off x="5541264" y="4626864"/>
            <a:ext cx="5696712" cy="429768"/>
          </a:xfrm>
          <a:prstGeom prst="rect">
            <a:avLst/>
          </a:prstGeom>
          <a:noFill/>
        </p:spPr>
        <p:txBody>
          <a:bodyPr wrap="square" lIns="0" rIns="0" tIns="0" bIns="0" anchor="t">
            <a:spAutoFit/>
          </a:bodyPr>
          <a:lstStyle/>
          <a:p>
            <a:pPr algn="l">
              <a:lnSpc>
                <a:spcPct val="110000"/>
              </a:lnSpc>
              <a:spcAft>
                <a:spcPts val="0"/>
              </a:spcAft>
            </a:pPr>
            <a:r>
              <a:rPr sz="1150" b="0">
                <a:solidFill>
                  <a:srgbClr val="142B45"/>
                </a:solidFill>
                <a:latin typeface="Arial"/>
                <a:ea typeface="Arial"/>
                <a:cs typeface="Arial"/>
              </a:rPr>
              <a:t>Send session.resume first on the new connection;</a:t>
            </a:r>
          </a:p>
          <a:p>
            <a:pPr algn="l">
              <a:lnSpc>
                <a:spcPct val="110000"/>
              </a:lnSpc>
              <a:spcAft>
                <a:spcPts val="0"/>
              </a:spcAft>
            </a:pPr>
            <a:r>
              <a:rPr sz="1150" b="0">
                <a:solidFill>
                  <a:srgbClr val="142B45"/>
                </a:solidFill>
                <a:latin typeface="Arial"/>
                <a:ea typeface="Arial"/>
                <a:cs typeface="Arial"/>
              </a:rPr>
              <a:t>save the new token returned in session.resumed.</a:t>
            </a:r>
          </a:p>
        </p:txBody>
      </p:sp>
      <p:sp>
        <p:nvSpPr>
          <p:cNvPr id="36" name="Rounded Rectangle 35"/>
          <p:cNvSpPr/>
          <p:nvPr/>
        </p:nvSpPr>
        <p:spPr>
          <a:xfrm>
            <a:off x="548640" y="5102352"/>
            <a:ext cx="11082528" cy="6126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22376" y="5175504"/>
            <a:ext cx="2048256" cy="576072"/>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Event replay</a:t>
            </a:r>
          </a:p>
        </p:txBody>
      </p:sp>
      <p:sp>
        <p:nvSpPr>
          <p:cNvPr id="38" name="TextBox 37"/>
          <p:cNvSpPr txBox="1"/>
          <p:nvPr/>
        </p:nvSpPr>
        <p:spPr>
          <a:xfrm>
            <a:off x="2953512" y="5175504"/>
            <a:ext cx="2386584" cy="576072"/>
          </a:xfrm>
          <a:prstGeom prst="rect">
            <a:avLst/>
          </a:prstGeom>
          <a:noFill/>
        </p:spPr>
        <p:txBody>
          <a:bodyPr wrap="square" lIns="0" rIns="0" tIns="0" bIns="0" anchor="t">
            <a:spAutoFit/>
          </a:bodyPr>
          <a:lstStyle/>
          <a:p>
            <a:pPr algn="l">
              <a:lnSpc>
                <a:spcPct val="110000"/>
              </a:lnSpc>
              <a:spcAft>
                <a:spcPts val="0"/>
              </a:spcAft>
            </a:pPr>
            <a:r>
              <a:rPr sz="1150" b="0">
                <a:solidFill>
                  <a:srgbClr val="142B45"/>
                </a:solidFill>
                <a:latin typeface="Arial"/>
                <a:ea typeface="Arial"/>
                <a:cs typeface="Arial"/>
              </a:rPr>
              <a:t>Replay retained events</a:t>
            </a:r>
          </a:p>
        </p:txBody>
      </p:sp>
      <p:sp>
        <p:nvSpPr>
          <p:cNvPr id="39" name="TextBox 38"/>
          <p:cNvSpPr txBox="1"/>
          <p:nvPr/>
        </p:nvSpPr>
        <p:spPr>
          <a:xfrm>
            <a:off x="5541264" y="5175504"/>
            <a:ext cx="5696712" cy="576072"/>
          </a:xfrm>
          <a:prstGeom prst="rect">
            <a:avLst/>
          </a:prstGeom>
          <a:noFill/>
        </p:spPr>
        <p:txBody>
          <a:bodyPr wrap="square" lIns="0" rIns="0" tIns="0" bIns="0" anchor="t">
            <a:spAutoFit/>
          </a:bodyPr>
          <a:lstStyle/>
          <a:p>
            <a:pPr algn="l">
              <a:lnSpc>
                <a:spcPct val="110000"/>
              </a:lnSpc>
              <a:spcAft>
                <a:spcPts val="0"/>
              </a:spcAft>
            </a:pPr>
            <a:r>
              <a:rPr sz="1150" b="0">
                <a:solidFill>
                  <a:srgbClr val="142B45"/>
                </a:solidFill>
                <a:latin typeface="Arial"/>
                <a:ea typeface="Arial"/>
                <a:cs typeface="Arial"/>
              </a:rPr>
              <a:t>Send the last received event sequence.</a:t>
            </a:r>
          </a:p>
          <a:p>
            <a:pPr algn="l">
              <a:lnSpc>
                <a:spcPct val="110000"/>
              </a:lnSpc>
              <a:spcAft>
                <a:spcPts val="0"/>
              </a:spcAft>
            </a:pPr>
            <a:r>
              <a:rPr sz="1150" b="0">
                <a:solidFill>
                  <a:srgbClr val="142B45"/>
                </a:solidFill>
                <a:latin typeface="Arial"/>
                <a:ea typeface="Arial"/>
                <a:cs typeface="Arial"/>
              </a:rPr>
              <a:t>If replay has a gap, start a new session.</a:t>
            </a:r>
          </a:p>
        </p:txBody>
      </p:sp>
      <p:sp>
        <p:nvSpPr>
          <p:cNvPr id="40" name="Rounded Rectangle 39"/>
          <p:cNvSpPr/>
          <p:nvPr/>
        </p:nvSpPr>
        <p:spPr>
          <a:xfrm>
            <a:off x="548640" y="5961888"/>
            <a:ext cx="11082528" cy="33832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731520" y="6035040"/>
            <a:ext cx="10716768" cy="210312"/>
          </a:xfrm>
          <a:prstGeom prst="rect">
            <a:avLst/>
          </a:prstGeom>
          <a:noFill/>
        </p:spPr>
        <p:txBody>
          <a:bodyPr wrap="square" lIns="0" rIns="0" tIns="0" bIns="0" anchor="t">
            <a:spAutoFit/>
          </a:bodyPr>
          <a:lstStyle/>
          <a:p>
            <a:pPr algn="ctr">
              <a:lnSpc>
                <a:spcPct val="110000"/>
              </a:lnSpc>
              <a:spcAft>
                <a:spcPts val="0"/>
              </a:spcAft>
            </a:pPr>
            <a:r>
              <a:rPr sz="1150" b="0">
                <a:solidFill>
                  <a:srgbClr val="526985"/>
                </a:solidFill>
                <a:latin typeface="Arial"/>
                <a:ea typeface="Arial"/>
                <a:cs typeface="Arial"/>
              </a:rPr>
              <a:t>PersonaPlex demo: reconnect with a new session and reapply the same voice + persona.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EVALUATION &amp; PERFORMANCE</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a:solidFill>
                  <a:srgbClr val="142B45"/>
                </a:solidFill>
                <a:latin typeface="Arial"/>
                <a:ea typeface="Arial"/>
                <a:cs typeface="Arial"/>
              </a:rPr>
              <a:t>Performance optimizations and steady progress</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a:solidFill>
                  <a:srgbClr val="586B7E"/>
                </a:solidFill>
                <a:latin typeface="Arial"/>
                <a:ea typeface="Arial"/>
                <a:cs typeface="Arial"/>
              </a:rPr>
              <a:t>Four methods reduce repeated work and make better use of the GPU.</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09 / 12</a:t>
            </a:r>
          </a:p>
        </p:txBody>
      </p:sp>
      <p:sp>
        <p:nvSpPr>
          <p:cNvPr id="210" name="Optimization method"/>
          <p:cNvSpPr txBox="1"/>
          <p:nvPr/>
        </p:nvSpPr>
        <p:spPr>
          <a:xfrm>
            <a:off x="594360" y="2084832"/>
            <a:ext cx="5852160" cy="274320"/>
          </a:xfrm>
          <a:prstGeom prst="rect">
            <a:avLst/>
          </a:prstGeom>
          <a:noFill/>
        </p:spPr>
        <p:txBody>
          <a:bodyPr wrap="square" lIns="0" rIns="0" tIns="0" bIns="0" anchor="t">
            <a:spAutoFit/>
          </a:bodyPr>
          <a:lstStyle/>
          <a:p>
            <a:pPr algn="l">
              <a:lnSpc>
                <a:spcPct val="110000"/>
              </a:lnSpc>
              <a:spcAft>
                <a:spcPts val="0"/>
              </a:spcAft>
            </a:pPr>
            <a:r>
              <a:rPr sz="1550" b="1">
                <a:solidFill>
                  <a:srgbClr val="16304E"/>
                </a:solidFill>
                <a:latin typeface="Arial"/>
                <a:ea typeface="Arial"/>
                <a:cs typeface="Arial"/>
              </a:rPr>
              <a:t>CUDA Graphs: reuse prepared execution</a:t>
            </a:r>
          </a:p>
        </p:txBody>
      </p:sp>
      <p:sp>
        <p:nvSpPr>
          <p:cNvPr id="211" name="How it reduces work"/>
          <p:cNvSpPr txBox="1"/>
          <p:nvPr/>
        </p:nvSpPr>
        <p:spPr>
          <a:xfrm>
            <a:off x="594360" y="2395728"/>
            <a:ext cx="5833872" cy="246888"/>
          </a:xfrm>
          <a:prstGeom prst="rect">
            <a:avLst/>
          </a:prstGeom>
          <a:noFill/>
        </p:spPr>
        <p:txBody>
          <a:bodyPr wrap="square" lIns="0" rIns="0" tIns="0" bIns="0" anchor="t">
            <a:spAutoFit/>
          </a:bodyPr>
          <a:lstStyle/>
          <a:p>
            <a:pPr algn="l">
              <a:lnSpc>
                <a:spcPct val="110000"/>
              </a:lnSpc>
              <a:spcAft>
                <a:spcPts val="0"/>
              </a:spcAft>
            </a:pPr>
            <a:r>
              <a:rPr sz="1250" b="0">
                <a:solidFill>
                  <a:srgbClr val="526985"/>
                </a:solidFill>
                <a:latin typeface="Arial"/>
                <a:ea typeface="Arial"/>
                <a:cs typeface="Arial"/>
              </a:rPr>
              <a:t>Replay GPU work with less CPU launch overhead.</a:t>
            </a:r>
          </a:p>
        </p:txBody>
      </p:sp>
      <p:sp>
        <p:nvSpPr>
          <p:cNvPr id="212" name="Model examples"/>
          <p:cNvSpPr txBox="1"/>
          <p:nvPr/>
        </p:nvSpPr>
        <p:spPr>
          <a:xfrm>
            <a:off x="594360" y="2670048"/>
            <a:ext cx="5833872" cy="219456"/>
          </a:xfrm>
          <a:prstGeom prst="rect">
            <a:avLst/>
          </a:prstGeom>
          <a:noFill/>
        </p:spPr>
        <p:txBody>
          <a:bodyPr wrap="square" lIns="0" rIns="0" tIns="0" bIns="0" anchor="t">
            <a:spAutoFit/>
          </a:bodyPr>
          <a:lstStyle/>
          <a:p>
            <a:pPr algn="l">
              <a:lnSpc>
                <a:spcPct val="110000"/>
              </a:lnSpc>
              <a:spcAft>
                <a:spcPts val="0"/>
              </a:spcAft>
            </a:pPr>
            <a:r>
              <a:rPr sz="1150" b="0">
                <a:solidFill>
                  <a:srgbClr val="008E96"/>
                </a:solidFill>
                <a:latin typeface="Arial"/>
                <a:ea typeface="Arial"/>
                <a:cs typeface="Arial"/>
              </a:rPr>
              <a:t>MiniCPM-o 4.5 · Qwen3-Omni (images) · PersonaPlex</a:t>
            </a:r>
          </a:p>
        </p:txBody>
      </p:sp>
      <p:sp>
        <p:nvSpPr>
          <p:cNvPr id="213" name="Optimization method"/>
          <p:cNvSpPr txBox="1"/>
          <p:nvPr/>
        </p:nvSpPr>
        <p:spPr>
          <a:xfrm>
            <a:off x="594360" y="3017520"/>
            <a:ext cx="5852160" cy="274320"/>
          </a:xfrm>
          <a:prstGeom prst="rect">
            <a:avLst/>
          </a:prstGeom>
          <a:noFill/>
        </p:spPr>
        <p:txBody>
          <a:bodyPr wrap="square" lIns="0" rIns="0" tIns="0" bIns="0" anchor="t">
            <a:spAutoFit/>
          </a:bodyPr>
          <a:lstStyle/>
          <a:p>
            <a:pPr algn="l">
              <a:lnSpc>
                <a:spcPct val="110000"/>
              </a:lnSpc>
              <a:spcAft>
                <a:spcPts val="0"/>
              </a:spcAft>
            </a:pPr>
            <a:r>
              <a:rPr sz="1550" b="1">
                <a:solidFill>
                  <a:srgbClr val="16304E"/>
                </a:solidFill>
                <a:latin typeface="Arial"/>
                <a:ea typeface="Arial"/>
                <a:cs typeface="Arial"/>
              </a:rPr>
              <a:t>Kernel fusion: combine small operations</a:t>
            </a:r>
          </a:p>
        </p:txBody>
      </p:sp>
      <p:sp>
        <p:nvSpPr>
          <p:cNvPr id="214" name="How it reduces work"/>
          <p:cNvSpPr txBox="1"/>
          <p:nvPr/>
        </p:nvSpPr>
        <p:spPr>
          <a:xfrm>
            <a:off x="594360" y="3328416"/>
            <a:ext cx="5833872" cy="246888"/>
          </a:xfrm>
          <a:prstGeom prst="rect">
            <a:avLst/>
          </a:prstGeom>
          <a:noFill/>
        </p:spPr>
        <p:txBody>
          <a:bodyPr wrap="square" lIns="0" rIns="0" tIns="0" bIns="0" anchor="t">
            <a:spAutoFit/>
          </a:bodyPr>
          <a:lstStyle/>
          <a:p>
            <a:pPr algn="l">
              <a:lnSpc>
                <a:spcPct val="110000"/>
              </a:lnSpc>
              <a:spcAft>
                <a:spcPts val="0"/>
              </a:spcAft>
            </a:pPr>
            <a:r>
              <a:rPr sz="1250" b="0">
                <a:solidFill>
                  <a:srgbClr val="526985"/>
                </a:solidFill>
                <a:latin typeface="Arial"/>
                <a:ea typeface="Arial"/>
                <a:cs typeface="Arial"/>
              </a:rPr>
              <a:t>Reduce GPU launches and intermediate data movement.</a:t>
            </a:r>
          </a:p>
        </p:txBody>
      </p:sp>
      <p:sp>
        <p:nvSpPr>
          <p:cNvPr id="215" name="Model examples"/>
          <p:cNvSpPr txBox="1"/>
          <p:nvPr/>
        </p:nvSpPr>
        <p:spPr>
          <a:xfrm>
            <a:off x="594360" y="3602736"/>
            <a:ext cx="5833872" cy="219456"/>
          </a:xfrm>
          <a:prstGeom prst="rect">
            <a:avLst/>
          </a:prstGeom>
          <a:noFill/>
        </p:spPr>
        <p:txBody>
          <a:bodyPr wrap="square" lIns="0" rIns="0" tIns="0" bIns="0" anchor="t">
            <a:spAutoFit/>
          </a:bodyPr>
          <a:lstStyle/>
          <a:p>
            <a:pPr algn="l">
              <a:lnSpc>
                <a:spcPct val="110000"/>
              </a:lnSpc>
              <a:spcAft>
                <a:spcPts val="0"/>
              </a:spcAft>
            </a:pPr>
            <a:r>
              <a:rPr sz="1150" b="0">
                <a:solidFill>
                  <a:srgbClr val="008E96"/>
                </a:solidFill>
                <a:latin typeface="Arial"/>
                <a:ea typeface="Arial"/>
                <a:cs typeface="Arial"/>
              </a:rPr>
              <a:t>MiniCPM-o 4.5</a:t>
            </a:r>
          </a:p>
        </p:txBody>
      </p:sp>
      <p:sp>
        <p:nvSpPr>
          <p:cNvPr id="216" name="Optimization method"/>
          <p:cNvSpPr txBox="1"/>
          <p:nvPr/>
        </p:nvSpPr>
        <p:spPr>
          <a:xfrm>
            <a:off x="594360" y="3950208"/>
            <a:ext cx="5852160" cy="274320"/>
          </a:xfrm>
          <a:prstGeom prst="rect">
            <a:avLst/>
          </a:prstGeom>
          <a:noFill/>
        </p:spPr>
        <p:txBody>
          <a:bodyPr wrap="square" lIns="0" rIns="0" tIns="0" bIns="0" anchor="t">
            <a:spAutoFit/>
          </a:bodyPr>
          <a:lstStyle/>
          <a:p>
            <a:pPr algn="l">
              <a:lnSpc>
                <a:spcPct val="110000"/>
              </a:lnSpc>
              <a:spcAft>
                <a:spcPts val="0"/>
              </a:spcAft>
            </a:pPr>
            <a:r>
              <a:rPr sz="1550" b="1">
                <a:solidFill>
                  <a:srgbClr val="16304E"/>
                </a:solidFill>
                <a:latin typeface="Arial"/>
                <a:ea typeface="Arial"/>
                <a:cs typeface="Arial"/>
              </a:rPr>
              <a:t>Session batching: process streams together</a:t>
            </a:r>
          </a:p>
        </p:txBody>
      </p:sp>
      <p:sp>
        <p:nvSpPr>
          <p:cNvPr id="217" name="How it reduces work"/>
          <p:cNvSpPr txBox="1"/>
          <p:nvPr/>
        </p:nvSpPr>
        <p:spPr>
          <a:xfrm>
            <a:off x="594360" y="4261104"/>
            <a:ext cx="5833872" cy="246888"/>
          </a:xfrm>
          <a:prstGeom prst="rect">
            <a:avLst/>
          </a:prstGeom>
          <a:noFill/>
        </p:spPr>
        <p:txBody>
          <a:bodyPr wrap="square" lIns="0" rIns="0" tIns="0" bIns="0" anchor="t">
            <a:spAutoFit/>
          </a:bodyPr>
          <a:lstStyle/>
          <a:p>
            <a:pPr algn="l">
              <a:lnSpc>
                <a:spcPct val="110000"/>
              </a:lnSpc>
              <a:spcAft>
                <a:spcPts val="0"/>
              </a:spcAft>
            </a:pPr>
            <a:r>
              <a:rPr sz="1250" b="0">
                <a:solidFill>
                  <a:srgbClr val="526985"/>
                </a:solidFill>
                <a:latin typeface="Arial"/>
                <a:ea typeface="Arial"/>
                <a:cs typeface="Arial"/>
              </a:rPr>
              <a:t>Run new frames from several sessions in one batch.</a:t>
            </a:r>
          </a:p>
        </p:txBody>
      </p:sp>
      <p:sp>
        <p:nvSpPr>
          <p:cNvPr id="218" name="Model examples"/>
          <p:cNvSpPr txBox="1"/>
          <p:nvPr/>
        </p:nvSpPr>
        <p:spPr>
          <a:xfrm>
            <a:off x="594360" y="4535424"/>
            <a:ext cx="5833872" cy="219456"/>
          </a:xfrm>
          <a:prstGeom prst="rect">
            <a:avLst/>
          </a:prstGeom>
          <a:noFill/>
        </p:spPr>
        <p:txBody>
          <a:bodyPr wrap="square" lIns="0" rIns="0" tIns="0" bIns="0" anchor="t">
            <a:spAutoFit/>
          </a:bodyPr>
          <a:lstStyle/>
          <a:p>
            <a:pPr algn="l">
              <a:lnSpc>
                <a:spcPct val="110000"/>
              </a:lnSpc>
              <a:spcAft>
                <a:spcPts val="0"/>
              </a:spcAft>
            </a:pPr>
            <a:r>
              <a:rPr sz="1150" b="0">
                <a:solidFill>
                  <a:srgbClr val="008E96"/>
                </a:solidFill>
                <a:latin typeface="Arial"/>
                <a:ea typeface="Arial"/>
                <a:cs typeface="Arial"/>
              </a:rPr>
              <a:t>PersonaPlex</a:t>
            </a:r>
          </a:p>
        </p:txBody>
      </p:sp>
      <p:sp>
        <p:nvSpPr>
          <p:cNvPr id="219" name="Optimization method"/>
          <p:cNvSpPr txBox="1"/>
          <p:nvPr/>
        </p:nvSpPr>
        <p:spPr>
          <a:xfrm>
            <a:off x="594360" y="4882896"/>
            <a:ext cx="5852160" cy="274320"/>
          </a:xfrm>
          <a:prstGeom prst="rect">
            <a:avLst/>
          </a:prstGeom>
          <a:noFill/>
        </p:spPr>
        <p:txBody>
          <a:bodyPr wrap="square" lIns="0" rIns="0" tIns="0" bIns="0" anchor="t">
            <a:spAutoFit/>
          </a:bodyPr>
          <a:lstStyle/>
          <a:p>
            <a:pPr algn="l">
              <a:lnSpc>
                <a:spcPct val="110000"/>
              </a:lnSpc>
              <a:spcAft>
                <a:spcPts val="0"/>
              </a:spcAft>
            </a:pPr>
            <a:r>
              <a:rPr sz="1550" b="1">
                <a:solidFill>
                  <a:srgbClr val="16304E"/>
                </a:solidFill>
                <a:latin typeface="Arial"/>
                <a:ea typeface="Arial"/>
                <a:cs typeface="Arial"/>
              </a:rPr>
              <a:t>Incremental decoding: handle new audio only</a:t>
            </a:r>
          </a:p>
        </p:txBody>
      </p:sp>
      <p:sp>
        <p:nvSpPr>
          <p:cNvPr id="220" name="How it reduces work"/>
          <p:cNvSpPr txBox="1"/>
          <p:nvPr/>
        </p:nvSpPr>
        <p:spPr>
          <a:xfrm>
            <a:off x="594360" y="5193792"/>
            <a:ext cx="5833872" cy="246888"/>
          </a:xfrm>
          <a:prstGeom prst="rect">
            <a:avLst/>
          </a:prstGeom>
          <a:noFill/>
        </p:spPr>
        <p:txBody>
          <a:bodyPr wrap="square" lIns="0" rIns="0" tIns="0" bIns="0" anchor="t">
            <a:spAutoFit/>
          </a:bodyPr>
          <a:lstStyle/>
          <a:p>
            <a:pPr algn="l">
              <a:lnSpc>
                <a:spcPct val="110000"/>
              </a:lnSpc>
              <a:spcAft>
                <a:spcPts val="0"/>
              </a:spcAft>
            </a:pPr>
            <a:r>
              <a:rPr sz="1250" b="0">
                <a:solidFill>
                  <a:srgbClr val="526985"/>
                </a:solidFill>
                <a:latin typeface="Arial"/>
                <a:ea typeface="Arial"/>
                <a:cs typeface="Arial"/>
              </a:rPr>
              <a:t>Keep decoder state; decode only new chunks.</a:t>
            </a:r>
          </a:p>
        </p:txBody>
      </p:sp>
      <p:sp>
        <p:nvSpPr>
          <p:cNvPr id="221" name="Model examples"/>
          <p:cNvSpPr txBox="1"/>
          <p:nvPr/>
        </p:nvSpPr>
        <p:spPr>
          <a:xfrm>
            <a:off x="594360" y="5468112"/>
            <a:ext cx="5833872" cy="219456"/>
          </a:xfrm>
          <a:prstGeom prst="rect">
            <a:avLst/>
          </a:prstGeom>
          <a:noFill/>
        </p:spPr>
        <p:txBody>
          <a:bodyPr wrap="square" lIns="0" rIns="0" tIns="0" bIns="0" anchor="t">
            <a:spAutoFit/>
          </a:bodyPr>
          <a:lstStyle/>
          <a:p>
            <a:pPr algn="l">
              <a:lnSpc>
                <a:spcPct val="110000"/>
              </a:lnSpc>
              <a:spcAft>
                <a:spcPts val="0"/>
              </a:spcAft>
            </a:pPr>
            <a:r>
              <a:rPr sz="1150" b="0">
                <a:solidFill>
                  <a:srgbClr val="008E96"/>
                </a:solidFill>
                <a:latin typeface="Arial"/>
                <a:ea typeface="Arial"/>
                <a:cs typeface="Arial"/>
              </a:rPr>
              <a:t>PersonaPlex</a:t>
            </a:r>
          </a:p>
        </p:txBody>
      </p:sp>
      <p:sp>
        <p:nvSpPr>
          <p:cNvPr id="230" name="Chart test configuration"/>
          <p:cNvSpPr txBox="1"/>
          <p:nvPr/>
        </p:nvSpPr>
        <p:spPr>
          <a:xfrm>
            <a:off x="6766560" y="2020824"/>
            <a:ext cx="4690872" cy="237744"/>
          </a:xfrm>
          <a:prstGeom prst="rect">
            <a:avLst/>
          </a:prstGeom>
          <a:noFill/>
        </p:spPr>
        <p:txBody>
          <a:bodyPr wrap="square" lIns="0" rIns="0" tIns="0" bIns="0" anchor="t">
            <a:spAutoFit/>
          </a:bodyPr>
          <a:lstStyle/>
          <a:p>
            <a:pPr algn="l">
              <a:lnSpc>
                <a:spcPct val="110000"/>
              </a:lnSpc>
              <a:spcAft>
                <a:spcPts val="0"/>
              </a:spcAft>
            </a:pPr>
            <a:r>
              <a:rPr sz="1200" b="0">
                <a:solidFill>
                  <a:srgbClr val="526985"/>
                </a:solidFill>
                <a:latin typeface="Arial"/>
                <a:ea typeface="Arial"/>
                <a:cs typeface="Arial"/>
              </a:rPr>
              <a:t>H100 · Chat Completions</a:t>
            </a:r>
          </a:p>
        </p:txBody>
      </p:sp>
      <p:graphicFrame>
        <p:nvGraphicFramePr>
          <p:cNvPr id="231" name="MiniCPM Audio RTF trend"/>
          <p:cNvGraphicFramePr/>
          <p:nvPr/>
        </p:nvGraphicFramePr>
        <p:xfrm>
          <a:off x="6601968" y="2304288"/>
          <a:ext cx="5047488" cy="3447288"/>
        </p:xfrm>
        <a:graphic>
          <a:graphicData uri="http://schemas.openxmlformats.org/drawingml/2006/chart">
            <ns0:chart xmlns:ns0="http://schemas.openxmlformats.org/drawingml/2006/chart" r:id="rIdRtfTrend"/>
          </a:graphicData>
        </a:graphic>
      </p:graphicFrame>
      <p:sp>
        <p:nvSpPr>
          <p:cNvPr id="232" name="Metric direction"/>
          <p:cNvSpPr txBox="1"/>
          <p:nvPr/>
        </p:nvSpPr>
        <p:spPr>
          <a:xfrm>
            <a:off x="7772400" y="5705856"/>
            <a:ext cx="3703320" cy="219456"/>
          </a:xfrm>
          <a:prstGeom prst="rect">
            <a:avLst/>
          </a:prstGeom>
          <a:noFill/>
        </p:spPr>
        <p:txBody>
          <a:bodyPr wrap="square" lIns="0" rIns="0" tIns="0" bIns="0" anchor="t">
            <a:spAutoFit/>
          </a:bodyPr>
          <a:lstStyle/>
          <a:p>
            <a:pPr algn="l">
              <a:lnSpc>
                <a:spcPct val="110000"/>
              </a:lnSpc>
              <a:spcAft>
                <a:spcPts val="0"/>
              </a:spcAft>
            </a:pPr>
            <a:r>
              <a:rPr sz="1150" b="0">
                <a:solidFill>
                  <a:srgbClr val="008E96"/>
                </a:solidFill>
                <a:latin typeface="Arial"/>
                <a:ea typeface="Arial"/>
                <a:cs typeface="Arial"/>
              </a:rPr>
              <a:t>Lower Audio RTF is better</a:t>
            </a:r>
          </a:p>
        </p:txBody>
      </p:sp>
      <p:sp>
        <p:nvSpPr>
          <p:cNvPr id="233" name="Benchmark scope and metric"/>
          <p:cNvSpPr txBox="1"/>
          <p:nvPr/>
        </p:nvSpPr>
        <p:spPr>
          <a:xfrm>
            <a:off x="594360" y="6071616"/>
            <a:ext cx="10972800" cy="320040"/>
          </a:xfrm>
          <a:prstGeom prst="rect">
            <a:avLst/>
          </a:prstGeom>
          <a:noFill/>
          <a:ln>
            <a:noFill/>
          </a:ln>
        </p:spPr>
        <p:txBody>
          <a:bodyPr wrap="square" lIns="0" rIns="0" tIns="0" bIns="0" anchor="t">
            <a:noAutofit/>
          </a:bodyPr>
          <a:lstStyle/>
          <a:p>
            <a:pPr algn="l">
              <a:lnSpc>
                <a:spcPct val="106000"/>
              </a:lnSpc>
              <a:spcAft>
                <a:spcPts val="0"/>
              </a:spcAft>
            </a:pPr>
            <a:r>
              <a:rPr sz="1050" b="0">
                <a:solidFill>
                  <a:srgbClr val="526985"/>
                </a:solidFill>
                <a:latin typeface="Arial"/>
                <a:ea typeface="Arial"/>
                <a:cs typeface="Arial"/>
              </a:rPr>
              <a:t>Seed-TTS · Sep 9–Oct 8, 2026. Dashed segments bridge dates without matching runs.</a:t>
            </a:r>
          </a:p>
          <a:p>
            <a:pPr algn="l">
              <a:lnSpc>
                <a:spcPct val="106000"/>
              </a:lnSpc>
              <a:spcAft>
                <a:spcPts val="0"/>
              </a:spcAft>
            </a:pPr>
            <a:r>
              <a:rPr sz="1050" b="0">
                <a:solidFill>
                  <a:srgbClr val="526985"/>
                </a:solidFill>
                <a:latin typeface="Arial"/>
                <a:ea typeface="Arial"/>
                <a:cs typeface="Arial"/>
              </a:rPr>
              <a:t>Audio RTF = audio generation time / output audio duration, averaged per request.</a:t>
            </a:r>
          </a:p>
        </p:txBody>
      </p:sp>
      <p:cxnSp>
        <p:nvCxnSpPr>
          <p:cNvPr id="234" name="Dashed gap bridge: 1 concurrent request" descr="Visual connection between measured Sep 15 and Sep 18 values; Sep 16–17 have no matching measurements."/>
          <p:cNvCxnSpPr/>
          <p:nvPr/>
        </p:nvCxnSpPr>
        <p:spPr>
          <a:xfrm>
            <a:off x="8333779" y="4880283"/>
            <a:ext cx="386394" cy="39517"/>
          </a:xfrm>
          <a:prstGeom prst="line">
            <a:avLst/>
          </a:prstGeom>
          <a:ln w="25400" cap="flat">
            <a:solidFill>
              <a:srgbClr val="347FF0"/>
            </a:solidFill>
            <a:prstDash val="sysDash"/>
            <a:headEnd type="none" w="med" len="med"/>
            <a:tailEnd type="none" w="med" len="med"/>
          </a:ln>
        </p:spPr>
      </p:cxnSp>
      <p:cxnSp>
        <p:nvCxnSpPr>
          <p:cNvPr id="235" name="Dashed gap bridge: 8 concurrent requests" descr="Visual connection between measured Sep 15 and Sep 18 values; Sep 16–17 have no matching measurements."/>
          <p:cNvCxnSpPr/>
          <p:nvPr/>
        </p:nvCxnSpPr>
        <p:spPr>
          <a:xfrm>
            <a:off x="8333779" y="3624102"/>
            <a:ext cx="386394" cy="240571"/>
          </a:xfrm>
          <a:prstGeom prst="line">
            <a:avLst/>
          </a:prstGeom>
          <a:ln w="25400" cap="flat">
            <a:solidFill>
              <a:srgbClr val="008E96"/>
            </a:solidFill>
            <a:prstDash val="sysDash"/>
            <a:headEnd type="none" w="med" len="med"/>
            <a:tailEnd type="none" w="med" len="med"/>
          </a:ln>
        </p:spPr>
      </p:cxn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EVALUATION &amp; PERFORMANCE</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900" b="1">
                <a:solidFill>
                  <a:srgbClr val="142B45"/>
                </a:solidFill>
                <a:latin typeface="Arial"/>
                <a:ea typeface="Arial"/>
                <a:cs typeface="Arial"/>
              </a:rPr>
              <a:t>From first audio to sustained conversation quality</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a:solidFill>
                  <a:srgbClr val="586B7E"/>
                </a:solidFill>
                <a:latin typeface="Arial"/>
                <a:ea typeface="Arial"/>
                <a:cs typeface="Arial"/>
              </a:rPr>
              <a:t>OmniInteract and Omni-DuplexEval evaluate live interaction alongside latency and streaming metrics.</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10 / 12</a:t>
            </a:r>
          </a:p>
        </p:txBody>
      </p:sp>
      <p:sp>
        <p:nvSpPr>
          <p:cNvPr id="12" name="TextBox 11"/>
          <p:cNvSpPr txBox="1"/>
          <p:nvPr/>
        </p:nvSpPr>
        <p:spPr>
          <a:xfrm>
            <a:off x="9966960" y="2157984"/>
            <a:ext cx="1645920" cy="192024"/>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Timing schematic</a:t>
            </a:r>
          </a:p>
        </p:txBody>
      </p:sp>
      <p:sp>
        <p:nvSpPr>
          <p:cNvPr id="13" name="TextBox 12"/>
          <p:cNvSpPr txBox="1"/>
          <p:nvPr/>
        </p:nvSpPr>
        <p:spPr>
          <a:xfrm>
            <a:off x="1764792" y="2221992"/>
            <a:ext cx="1508760" cy="201168"/>
          </a:xfrm>
          <a:prstGeom prst="rect">
            <a:avLst/>
          </a:prstGeom>
          <a:noFill/>
        </p:spPr>
        <p:txBody>
          <a:bodyPr wrap="square" lIns="0" rIns="0" tIns="0" bIns="0" anchor="t">
            <a:spAutoFit/>
          </a:bodyPr>
          <a:lstStyle/>
          <a:p>
            <a:pPr algn="l">
              <a:lnSpc>
                <a:spcPct val="110000"/>
              </a:lnSpc>
              <a:spcAft>
                <a:spcPts val="0"/>
              </a:spcAft>
            </a:pPr>
            <a:r>
              <a:rPr sz="1100" b="1">
                <a:solidFill>
                  <a:srgbClr val="142B45"/>
                </a:solidFill>
                <a:latin typeface="Arial"/>
                <a:ea typeface="Arial"/>
                <a:cs typeface="Arial"/>
              </a:rPr>
              <a:t>Input stream starts</a:t>
            </a:r>
          </a:p>
        </p:txBody>
      </p:sp>
      <p:sp>
        <p:nvSpPr>
          <p:cNvPr id="14" name="TextBox 13"/>
          <p:cNvSpPr txBox="1"/>
          <p:nvPr/>
        </p:nvSpPr>
        <p:spPr>
          <a:xfrm>
            <a:off x="5166360" y="2221992"/>
            <a:ext cx="3291840" cy="201168"/>
          </a:xfrm>
          <a:prstGeom prst="rect">
            <a:avLst/>
          </a:prstGeom>
          <a:noFill/>
        </p:spPr>
        <p:txBody>
          <a:bodyPr wrap="square" lIns="0" rIns="0" tIns="0" bIns="0" anchor="t">
            <a:spAutoFit/>
          </a:bodyPr>
          <a:lstStyle/>
          <a:p>
            <a:pPr algn="l">
              <a:lnSpc>
                <a:spcPct val="110000"/>
              </a:lnSpc>
              <a:spcAft>
                <a:spcPts val="0"/>
              </a:spcAft>
            </a:pPr>
            <a:r>
              <a:rPr sz="1100" b="1">
                <a:solidFill>
                  <a:srgbClr val="327CEC"/>
                </a:solidFill>
                <a:latin typeface="Arial"/>
                <a:ea typeface="Arial"/>
                <a:cs typeface="Arial"/>
              </a:rPr>
              <a:t>First audio packet received</a:t>
            </a:r>
          </a:p>
        </p:txBody>
      </p:sp>
      <p:cxnSp>
        <p:nvCxnSpPr>
          <p:cNvPr id="15" name="Connector 14"/>
          <p:cNvCxnSpPr/>
          <p:nvPr/>
        </p:nvCxnSpPr>
        <p:spPr>
          <a:xfrm>
            <a:off x="1773936" y="2670048"/>
            <a:ext cx="3758184" cy="0"/>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a:off x="1773936" y="2596896"/>
            <a:ext cx="0" cy="164592"/>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17" name="Connector 16"/>
          <p:cNvCxnSpPr/>
          <p:nvPr/>
        </p:nvCxnSpPr>
        <p:spPr>
          <a:xfrm>
            <a:off x="5532120" y="2596896"/>
            <a:ext cx="0" cy="164592"/>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3200400" y="2423160"/>
            <a:ext cx="1005840" cy="201168"/>
          </a:xfrm>
          <a:prstGeom prst="rect">
            <a:avLst/>
          </a:prstGeom>
          <a:noFill/>
        </p:spPr>
        <p:txBody>
          <a:bodyPr wrap="square" lIns="0" rIns="0" tIns="0" bIns="0" anchor="t">
            <a:spAutoFit/>
          </a:bodyPr>
          <a:lstStyle/>
          <a:p>
            <a:pPr algn="ctr">
              <a:lnSpc>
                <a:spcPct val="110000"/>
              </a:lnSpc>
              <a:spcAft>
                <a:spcPts val="0"/>
              </a:spcAft>
            </a:pPr>
            <a:r>
              <a:rPr sz="1200" b="1">
                <a:solidFill>
                  <a:srgbClr val="327CEC"/>
                </a:solidFill>
                <a:latin typeface="Arial"/>
                <a:ea typeface="Arial"/>
                <a:cs typeface="Arial"/>
              </a:rPr>
              <a:t>Stream TTFP</a:t>
            </a:r>
          </a:p>
        </p:txBody>
      </p:sp>
      <p:sp>
        <p:nvSpPr>
          <p:cNvPr id="19" name="TextBox 18"/>
          <p:cNvSpPr txBox="1"/>
          <p:nvPr/>
        </p:nvSpPr>
        <p:spPr>
          <a:xfrm>
            <a:off x="594360" y="2953512"/>
            <a:ext cx="1097280" cy="356616"/>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Input / output</a:t>
            </a:r>
          </a:p>
        </p:txBody>
      </p:sp>
      <p:sp>
        <p:nvSpPr>
          <p:cNvPr id="20" name="Rectangle 19"/>
          <p:cNvSpPr/>
          <p:nvPr/>
        </p:nvSpPr>
        <p:spPr>
          <a:xfrm>
            <a:off x="1773936" y="2898648"/>
            <a:ext cx="978408"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1819656" y="3008376"/>
            <a:ext cx="886968" cy="192024"/>
          </a:xfrm>
          <a:prstGeom prst="rect">
            <a:avLst/>
          </a:prstGeom>
          <a:noFill/>
        </p:spPr>
        <p:txBody>
          <a:bodyPr wrap="square" lIns="0" rIns="0" tIns="0" bIns="0" anchor="t">
            <a:spAutoFit/>
          </a:bodyPr>
          <a:lstStyle/>
          <a:p>
            <a:pPr algn="ctr">
              <a:lnSpc>
                <a:spcPct val="110000"/>
              </a:lnSpc>
              <a:spcAft>
                <a:spcPts val="0"/>
              </a:spcAft>
            </a:pPr>
            <a:r>
              <a:rPr sz="1050" b="1">
                <a:solidFill>
                  <a:srgbClr val="327CEC"/>
                </a:solidFill>
                <a:latin typeface="Arial"/>
                <a:ea typeface="Arial"/>
                <a:cs typeface="Arial"/>
              </a:rPr>
              <a:t>Input / queue</a:t>
            </a:r>
          </a:p>
        </p:txBody>
      </p:sp>
      <p:sp>
        <p:nvSpPr>
          <p:cNvPr id="22" name="Rectangle 21"/>
          <p:cNvSpPr/>
          <p:nvPr/>
        </p:nvSpPr>
        <p:spPr>
          <a:xfrm>
            <a:off x="2807208" y="2898648"/>
            <a:ext cx="1591056"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2852927" y="3008376"/>
            <a:ext cx="1499616" cy="192024"/>
          </a:xfrm>
          <a:prstGeom prst="rect">
            <a:avLst/>
          </a:prstGeom>
          <a:noFill/>
        </p:spPr>
        <p:txBody>
          <a:bodyPr wrap="square" lIns="0" rIns="0" tIns="0" bIns="0" anchor="t">
            <a:spAutoFit/>
          </a:bodyPr>
          <a:lstStyle/>
          <a:p>
            <a:pPr algn="ctr">
              <a:lnSpc>
                <a:spcPct val="110000"/>
              </a:lnSpc>
              <a:spcAft>
                <a:spcPts val="0"/>
              </a:spcAft>
            </a:pPr>
            <a:r>
              <a:rPr sz="1050" b="1">
                <a:solidFill>
                  <a:srgbClr val="327CEC"/>
                </a:solidFill>
                <a:latin typeface="Arial"/>
                <a:ea typeface="Arial"/>
                <a:cs typeface="Arial"/>
              </a:rPr>
              <a:t>Stage compute</a:t>
            </a:r>
          </a:p>
        </p:txBody>
      </p:sp>
      <p:sp>
        <p:nvSpPr>
          <p:cNvPr id="24" name="Rectangle 23"/>
          <p:cNvSpPr/>
          <p:nvPr/>
        </p:nvSpPr>
        <p:spPr>
          <a:xfrm>
            <a:off x="4453128" y="2898648"/>
            <a:ext cx="1014984"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498848" y="3008376"/>
            <a:ext cx="923544" cy="192024"/>
          </a:xfrm>
          <a:prstGeom prst="rect">
            <a:avLst/>
          </a:prstGeom>
          <a:noFill/>
        </p:spPr>
        <p:txBody>
          <a:bodyPr wrap="square" lIns="0" rIns="0" tIns="0" bIns="0" anchor="t">
            <a:spAutoFit/>
          </a:bodyPr>
          <a:lstStyle/>
          <a:p>
            <a:pPr algn="ctr">
              <a:lnSpc>
                <a:spcPct val="110000"/>
              </a:lnSpc>
              <a:spcAft>
                <a:spcPts val="0"/>
              </a:spcAft>
            </a:pPr>
            <a:r>
              <a:rPr sz="1050" b="1">
                <a:solidFill>
                  <a:srgbClr val="327CEC"/>
                </a:solidFill>
                <a:latin typeface="Arial"/>
                <a:ea typeface="Arial"/>
                <a:cs typeface="Arial"/>
              </a:rPr>
              <a:t>Transfer</a:t>
            </a:r>
          </a:p>
        </p:txBody>
      </p:sp>
      <p:sp>
        <p:nvSpPr>
          <p:cNvPr id="26" name="Rectangle 25"/>
          <p:cNvSpPr/>
          <p:nvPr/>
        </p:nvSpPr>
        <p:spPr>
          <a:xfrm>
            <a:off x="5532120" y="2898648"/>
            <a:ext cx="475488"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ectangle 26"/>
          <p:cNvSpPr/>
          <p:nvPr/>
        </p:nvSpPr>
        <p:spPr>
          <a:xfrm>
            <a:off x="6153912" y="2898648"/>
            <a:ext cx="685800"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6995160" y="2898648"/>
            <a:ext cx="749808"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7918704" y="2898648"/>
            <a:ext cx="868680"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ectangle 29"/>
          <p:cNvSpPr/>
          <p:nvPr/>
        </p:nvSpPr>
        <p:spPr>
          <a:xfrm>
            <a:off x="8961120" y="2898648"/>
            <a:ext cx="987552"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10104120" y="2898648"/>
            <a:ext cx="1078992"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6510528" y="3374136"/>
            <a:ext cx="4535424" cy="201168"/>
          </a:xfrm>
          <a:prstGeom prst="rect">
            <a:avLst/>
          </a:prstGeom>
          <a:noFill/>
        </p:spPr>
        <p:txBody>
          <a:bodyPr wrap="square" lIns="0" rIns="0" tIns="0" bIns="0" anchor="t">
            <a:spAutoFit/>
          </a:bodyPr>
          <a:lstStyle/>
          <a:p>
            <a:pPr algn="ctr">
              <a:lnSpc>
                <a:spcPct val="110000"/>
              </a:lnSpc>
              <a:spcAft>
                <a:spcPts val="0"/>
              </a:spcAft>
            </a:pPr>
            <a:r>
              <a:rPr sz="1100" b="0">
                <a:solidFill>
                  <a:srgbClr val="327CEC"/>
                </a:solidFill>
                <a:latin typeface="Arial"/>
                <a:ea typeface="Arial"/>
                <a:cs typeface="Arial"/>
              </a:rPr>
              <a:t>Incremental audio generation and delivery</a:t>
            </a:r>
          </a:p>
        </p:txBody>
      </p:sp>
      <p:sp>
        <p:nvSpPr>
          <p:cNvPr id="33" name="TextBox 32"/>
          <p:cNvSpPr txBox="1"/>
          <p:nvPr/>
        </p:nvSpPr>
        <p:spPr>
          <a:xfrm>
            <a:off x="594360" y="3785615"/>
            <a:ext cx="1115568" cy="320040"/>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Client playback</a:t>
            </a:r>
          </a:p>
        </p:txBody>
      </p:sp>
      <p:cxnSp>
        <p:nvCxnSpPr>
          <p:cNvPr id="34" name="Connector 33"/>
          <p:cNvCxnSpPr/>
          <p:nvPr/>
        </p:nvCxnSpPr>
        <p:spPr>
          <a:xfrm>
            <a:off x="5532120" y="3319272"/>
            <a:ext cx="0" cy="566928"/>
          </a:xfrm>
          <a:prstGeom prst="line">
            <a:avLst/>
          </a:prstGeom>
          <a:ln w="15240">
            <a:solidFill>
              <a:srgbClr val="008E96"/>
            </a:solidFill>
            <a:prstDash val="dash"/>
          </a:ln>
          <a:effectLst/>
        </p:spPr>
        <p:style>
          <a:lnRef idx="2">
            <a:schemeClr val="accent1"/>
          </a:lnRef>
          <a:fillRef idx="0">
            <a:schemeClr val="accent1"/>
          </a:fillRef>
          <a:effectRef idx="0">
            <a:schemeClr val="accent1"/>
          </a:effectRef>
          <a:fontRef idx="minor">
            <a:schemeClr val="tx1"/>
          </a:fontRef>
        </p:style>
      </p:cxnSp>
      <p:cxnSp>
        <p:nvCxnSpPr>
          <p:cNvPr id="35" name="Connector 34"/>
          <p:cNvCxnSpPr/>
          <p:nvPr/>
        </p:nvCxnSpPr>
        <p:spPr>
          <a:xfrm>
            <a:off x="5532120" y="3886200"/>
            <a:ext cx="621792" cy="0"/>
          </a:xfrm>
          <a:prstGeom prst="line">
            <a:avLst/>
          </a:prstGeom>
          <a:ln w="15240">
            <a:solidFill>
              <a:srgbClr val="008E96"/>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36" name="TextBox 35"/>
          <p:cNvSpPr txBox="1"/>
          <p:nvPr/>
        </p:nvSpPr>
        <p:spPr>
          <a:xfrm>
            <a:off x="6053328" y="3648456"/>
            <a:ext cx="2240280" cy="192024"/>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Playback starts</a:t>
            </a:r>
          </a:p>
        </p:txBody>
      </p:sp>
      <p:sp>
        <p:nvSpPr>
          <p:cNvPr id="37" name="Rectangle 36"/>
          <p:cNvSpPr/>
          <p:nvPr/>
        </p:nvSpPr>
        <p:spPr>
          <a:xfrm>
            <a:off x="6181344" y="3922776"/>
            <a:ext cx="5001768" cy="292608"/>
          </a:xfrm>
          <a:prstGeom prst="rect">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6565392" y="3968496"/>
            <a:ext cx="4224528" cy="182880"/>
          </a:xfrm>
          <a:prstGeom prst="rect">
            <a:avLst/>
          </a:prstGeom>
          <a:noFill/>
        </p:spPr>
        <p:txBody>
          <a:bodyPr wrap="square" lIns="0" rIns="0" tIns="0" bIns="0" anchor="t">
            <a:spAutoFit/>
          </a:bodyPr>
          <a:lstStyle/>
          <a:p>
            <a:pPr algn="ctr">
              <a:lnSpc>
                <a:spcPct val="110000"/>
              </a:lnSpc>
              <a:spcAft>
                <a:spcPts val="0"/>
              </a:spcAft>
            </a:pPr>
            <a:r>
              <a:rPr sz="1050" b="1">
                <a:solidFill>
                  <a:srgbClr val="FFFFFF"/>
                </a:solidFill>
                <a:latin typeface="Arial"/>
                <a:ea typeface="Arial"/>
                <a:cs typeface="Arial"/>
              </a:rPr>
              <a:t>Playback overlaps subsequent generation</a:t>
            </a:r>
          </a:p>
        </p:txBody>
      </p:sp>
      <p:sp>
        <p:nvSpPr>
          <p:cNvPr id="39" name="Rounded Rectangle 38"/>
          <p:cNvSpPr/>
          <p:nvPr/>
        </p:nvSpPr>
        <p:spPr>
          <a:xfrm>
            <a:off x="594360"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Rectangle 39"/>
          <p:cNvSpPr/>
          <p:nvPr/>
        </p:nvSpPr>
        <p:spPr>
          <a:xfrm>
            <a:off x="594360" y="4553712"/>
            <a:ext cx="2615184" cy="41148"/>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740664" y="4745736"/>
            <a:ext cx="2322576" cy="274320"/>
          </a:xfrm>
          <a:prstGeom prst="rect">
            <a:avLst/>
          </a:prstGeom>
          <a:noFill/>
        </p:spPr>
        <p:txBody>
          <a:bodyPr wrap="square" lIns="0" rIns="0" tIns="0" bIns="0" anchor="t">
            <a:spAutoFit/>
          </a:bodyPr>
          <a:lstStyle/>
          <a:p>
            <a:pPr algn="l">
              <a:lnSpc>
                <a:spcPct val="110000"/>
              </a:lnSpc>
              <a:spcAft>
                <a:spcPts val="0"/>
              </a:spcAft>
            </a:pPr>
            <a:r>
              <a:rPr sz="1340" b="1">
                <a:solidFill>
                  <a:srgbClr val="327CEC"/>
                </a:solidFill>
                <a:latin typeface="Arial"/>
                <a:ea typeface="Arial"/>
                <a:cs typeface="Arial"/>
              </a:rPr>
              <a:t>First-audio latency</a:t>
            </a:r>
          </a:p>
        </p:txBody>
      </p:sp>
      <p:sp>
        <p:nvSpPr>
          <p:cNvPr id="42" name="TextBox 41"/>
          <p:cNvSpPr txBox="1"/>
          <p:nvPr/>
        </p:nvSpPr>
        <p:spPr>
          <a:xfrm>
            <a:off x="740664" y="5257800"/>
            <a:ext cx="2322576" cy="457200"/>
          </a:xfrm>
          <a:prstGeom prst="rect">
            <a:avLst/>
          </a:prstGeom>
          <a:noFill/>
        </p:spPr>
        <p:txBody>
          <a:bodyPr wrap="square" lIns="0" rIns="0" tIns="0" bIns="0" anchor="t">
            <a:spAutoFit/>
          </a:bodyPr>
          <a:lstStyle/>
          <a:p>
            <a:pPr algn="l">
              <a:lnSpc>
                <a:spcPct val="110000"/>
              </a:lnSpc>
              <a:spcAft>
                <a:spcPts val="0"/>
              </a:spcAft>
            </a:pPr>
            <a:r>
              <a:rPr sz="1030" b="0">
                <a:solidFill>
                  <a:srgbClr val="21364E"/>
                </a:solidFill>
                <a:latin typeface="Arial"/>
                <a:ea typeface="Arial"/>
                <a:cs typeface="Arial"/>
              </a:rPr>
              <a:t>Stream TTFP · p50 / p95</a:t>
            </a:r>
          </a:p>
          <a:p>
            <a:pPr algn="l">
              <a:lnSpc>
                <a:spcPct val="110000"/>
              </a:lnSpc>
              <a:spcAft>
                <a:spcPts val="0"/>
              </a:spcAft>
            </a:pPr>
            <a:r>
              <a:rPr sz="1030" b="0">
                <a:solidFill>
                  <a:srgbClr val="21364E"/>
                </a:solidFill>
                <a:latin typeface="Arial"/>
                <a:ea typeface="Arial"/>
                <a:cs typeface="Arial"/>
              </a:rPr>
              <a:t>Input start → first audio received</a:t>
            </a:r>
          </a:p>
        </p:txBody>
      </p:sp>
      <p:sp>
        <p:nvSpPr>
          <p:cNvPr id="43" name="Rounded Rectangle 42"/>
          <p:cNvSpPr/>
          <p:nvPr/>
        </p:nvSpPr>
        <p:spPr>
          <a:xfrm>
            <a:off x="3438144"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Rectangle 43"/>
          <p:cNvSpPr/>
          <p:nvPr/>
        </p:nvSpPr>
        <p:spPr>
          <a:xfrm>
            <a:off x="3438144" y="4553712"/>
            <a:ext cx="2615184" cy="41148"/>
          </a:xfrm>
          <a:prstGeom prst="rect">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3584448" y="4745736"/>
            <a:ext cx="2322576" cy="274320"/>
          </a:xfrm>
          <a:prstGeom prst="rect">
            <a:avLst/>
          </a:prstGeom>
          <a:noFill/>
        </p:spPr>
        <p:txBody>
          <a:bodyPr wrap="square" lIns="0" rIns="0" tIns="0" bIns="0" anchor="t">
            <a:spAutoFit/>
          </a:bodyPr>
          <a:lstStyle/>
          <a:p>
            <a:pPr algn="l">
              <a:lnSpc>
                <a:spcPct val="110000"/>
              </a:lnSpc>
              <a:spcAft>
                <a:spcPts val="0"/>
              </a:spcAft>
            </a:pPr>
            <a:r>
              <a:rPr sz="1340" b="1">
                <a:solidFill>
                  <a:srgbClr val="008E96"/>
                </a:solidFill>
                <a:latin typeface="Arial"/>
                <a:ea typeface="Arial"/>
                <a:cs typeface="Arial"/>
              </a:rPr>
              <a:t>Output cadence</a:t>
            </a:r>
          </a:p>
        </p:txBody>
      </p:sp>
      <p:sp>
        <p:nvSpPr>
          <p:cNvPr id="46" name="TextBox 45"/>
          <p:cNvSpPr txBox="1"/>
          <p:nvPr/>
        </p:nvSpPr>
        <p:spPr>
          <a:xfrm>
            <a:off x="3584448" y="5257800"/>
            <a:ext cx="2322576" cy="457200"/>
          </a:xfrm>
          <a:prstGeom prst="rect">
            <a:avLst/>
          </a:prstGeom>
          <a:noFill/>
        </p:spPr>
        <p:txBody>
          <a:bodyPr wrap="square" lIns="0" rIns="0" tIns="0" bIns="0" anchor="t">
            <a:spAutoFit/>
          </a:bodyPr>
          <a:lstStyle/>
          <a:p>
            <a:pPr algn="l">
              <a:lnSpc>
                <a:spcPct val="110000"/>
              </a:lnSpc>
              <a:spcAft>
                <a:spcPts val="0"/>
              </a:spcAft>
            </a:pPr>
            <a:r>
              <a:rPr sz="1030" b="0">
                <a:solidFill>
                  <a:srgbClr val="21364E"/>
                </a:solidFill>
                <a:latin typeface="Arial"/>
                <a:ea typeface="Arial"/>
                <a:cs typeface="Arial"/>
              </a:rPr>
              <a:t>Response RTF · chunk intervals</a:t>
            </a:r>
          </a:p>
          <a:p>
            <a:pPr algn="l">
              <a:lnSpc>
                <a:spcPct val="110000"/>
              </a:lnSpc>
              <a:spcAft>
                <a:spcPts val="0"/>
              </a:spcAft>
            </a:pPr>
            <a:r>
              <a:rPr sz="1030" b="0">
                <a:solidFill>
                  <a:srgbClr val="21364E"/>
                </a:solidFill>
                <a:latin typeface="Arial"/>
                <a:ea typeface="Arial"/>
                <a:cs typeface="Arial"/>
              </a:rPr>
              <a:t>Pauses and playback buffering</a:t>
            </a:r>
          </a:p>
        </p:txBody>
      </p:sp>
      <p:sp>
        <p:nvSpPr>
          <p:cNvPr id="47" name="Rounded Rectangle 46"/>
          <p:cNvSpPr/>
          <p:nvPr/>
        </p:nvSpPr>
        <p:spPr>
          <a:xfrm>
            <a:off x="6281928"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Rectangle 47"/>
          <p:cNvSpPr/>
          <p:nvPr/>
        </p:nvSpPr>
        <p:spPr>
          <a:xfrm>
            <a:off x="6281928" y="4553712"/>
            <a:ext cx="2615184" cy="41148"/>
          </a:xfrm>
          <a:prstGeom prst="rect">
            <a:avLst/>
          </a:prstGeom>
          <a:solidFill>
            <a:srgbClr val="7855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6428232" y="4745736"/>
            <a:ext cx="2322576" cy="274320"/>
          </a:xfrm>
          <a:prstGeom prst="rect">
            <a:avLst/>
          </a:prstGeom>
          <a:noFill/>
        </p:spPr>
        <p:txBody>
          <a:bodyPr wrap="square" lIns="0" rIns="0" tIns="0" bIns="0" anchor="t">
            <a:spAutoFit/>
          </a:bodyPr>
          <a:lstStyle/>
          <a:p>
            <a:pPr algn="l">
              <a:lnSpc>
                <a:spcPct val="110000"/>
              </a:lnSpc>
              <a:spcAft>
                <a:spcPts val="0"/>
              </a:spcAft>
            </a:pPr>
            <a:r>
              <a:rPr sz="1340" b="1">
                <a:solidFill>
                  <a:srgbClr val="7855AD"/>
                </a:solidFill>
                <a:latin typeface="Arial"/>
                <a:ea typeface="Arial"/>
                <a:cs typeface="Arial"/>
              </a:rPr>
              <a:t>Duration and concurrency</a:t>
            </a:r>
          </a:p>
        </p:txBody>
      </p:sp>
      <p:sp>
        <p:nvSpPr>
          <p:cNvPr id="50" name="TextBox 49"/>
          <p:cNvSpPr txBox="1"/>
          <p:nvPr/>
        </p:nvSpPr>
        <p:spPr>
          <a:xfrm>
            <a:off x="6428232" y="5257800"/>
            <a:ext cx="2322576" cy="457200"/>
          </a:xfrm>
          <a:prstGeom prst="rect">
            <a:avLst/>
          </a:prstGeom>
          <a:noFill/>
        </p:spPr>
        <p:txBody>
          <a:bodyPr wrap="square" lIns="0" rIns="0" tIns="0" bIns="0" anchor="t">
            <a:spAutoFit/>
          </a:bodyPr>
          <a:lstStyle/>
          <a:p>
            <a:pPr algn="l">
              <a:lnSpc>
                <a:spcPct val="110000"/>
              </a:lnSpc>
              <a:spcAft>
                <a:spcPts val="0"/>
              </a:spcAft>
            </a:pPr>
            <a:r>
              <a:rPr sz="1090" b="0">
                <a:solidFill>
                  <a:srgbClr val="21364E"/>
                </a:solidFill>
                <a:latin typeface="Arial"/>
                <a:ea typeface="Arial"/>
                <a:cs typeface="Arial"/>
              </a:rPr>
              <a:t>Duration · session count</a:t>
            </a:r>
          </a:p>
          <a:p>
            <a:pPr algn="l">
              <a:lnSpc>
                <a:spcPct val="110000"/>
              </a:lnSpc>
              <a:spcAft>
                <a:spcPts val="0"/>
              </a:spcAft>
            </a:pPr>
            <a:r>
              <a:rPr sz="1090" b="0">
                <a:solidFill>
                  <a:srgbClr val="21364E"/>
                </a:solidFill>
                <a:latin typeface="Arial"/>
                <a:ea typeface="Arial"/>
                <a:cs typeface="Arial"/>
              </a:rPr>
              <a:t>Peak memory · reclamation</a:t>
            </a:r>
          </a:p>
        </p:txBody>
      </p:sp>
      <p:sp>
        <p:nvSpPr>
          <p:cNvPr id="51" name="Rounded Rectangle 50"/>
          <p:cNvSpPr/>
          <p:nvPr/>
        </p:nvSpPr>
        <p:spPr>
          <a:xfrm>
            <a:off x="9125712"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ectangle 51"/>
          <p:cNvSpPr/>
          <p:nvPr/>
        </p:nvSpPr>
        <p:spPr>
          <a:xfrm>
            <a:off x="9125712" y="4553712"/>
            <a:ext cx="2615184" cy="41148"/>
          </a:xfrm>
          <a:prstGeom prst="rect">
            <a:avLst/>
          </a:prstGeom>
          <a:solidFill>
            <a:srgbClr val="AD76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272016" y="4745736"/>
            <a:ext cx="2322576" cy="274320"/>
          </a:xfrm>
          <a:prstGeom prst="rect">
            <a:avLst/>
          </a:prstGeom>
          <a:noFill/>
        </p:spPr>
        <p:txBody>
          <a:bodyPr wrap="square" lIns="0" rIns="0" tIns="0" bIns="0" anchor="t">
            <a:spAutoFit/>
          </a:bodyPr>
          <a:lstStyle/>
          <a:p>
            <a:pPr algn="l">
              <a:lnSpc>
                <a:spcPct val="110000"/>
              </a:lnSpc>
              <a:spcAft>
                <a:spcPts val="0"/>
              </a:spcAft>
            </a:pPr>
            <a:r>
              <a:rPr sz="1340" b="1">
                <a:solidFill>
                  <a:srgbClr val="AD761E"/>
                </a:solidFill>
                <a:latin typeface="Arial"/>
                <a:ea typeface="Arial"/>
                <a:cs typeface="Arial"/>
              </a:rPr>
              <a:t>Interaction quality</a:t>
            </a:r>
          </a:p>
        </p:txBody>
      </p:sp>
      <p:sp>
        <p:nvSpPr>
          <p:cNvPr id="54" name="TextBox 53"/>
          <p:cNvSpPr txBox="1"/>
          <p:nvPr/>
        </p:nvSpPr>
        <p:spPr>
          <a:xfrm>
            <a:off x="9272016" y="5257800"/>
            <a:ext cx="2322576" cy="457200"/>
          </a:xfrm>
          <a:prstGeom prst="rect">
            <a:avLst/>
          </a:prstGeom>
          <a:noFill/>
        </p:spPr>
        <p:txBody>
          <a:bodyPr wrap="square" lIns="0" rIns="0" tIns="0" bIns="0" anchor="t">
            <a:spAutoFit/>
          </a:bodyPr>
          <a:lstStyle/>
          <a:p>
            <a:pPr algn="l">
              <a:lnSpc>
                <a:spcPct val="110000"/>
              </a:lnSpc>
              <a:spcAft>
                <a:spcPts val="0"/>
              </a:spcAft>
            </a:pPr>
            <a:r>
              <a:rPr sz="1030" b="0">
                <a:solidFill>
                  <a:srgbClr val="21364E"/>
                </a:solidFill>
                <a:latin typeface="Arial"/>
                <a:ea typeface="Arial"/>
                <a:cs typeface="Arial"/>
              </a:rPr>
              <a:t>When to speak · what to answer</a:t>
            </a:r>
          </a:p>
          <a:p>
            <a:pPr algn="l">
              <a:lnSpc>
                <a:spcPct val="110000"/>
              </a:lnSpc>
              <a:spcAft>
                <a:spcPts val="0"/>
              </a:spcAft>
            </a:pPr>
            <a:r>
              <a:rPr sz="1030" b="0">
                <a:solidFill>
                  <a:srgbClr val="21364E"/>
                </a:solidFill>
                <a:latin typeface="Arial"/>
                <a:ea typeface="Arial"/>
                <a:cs typeface="Arial"/>
              </a:rPr>
              <a:t>Audio / video understanding</a:t>
            </a:r>
          </a:p>
        </p:txBody>
      </p:sp>
      <p:sp>
        <p:nvSpPr>
          <p:cNvPr id="55" name="TextBox 54"/>
          <p:cNvSpPr txBox="1"/>
          <p:nvPr/>
        </p:nvSpPr>
        <p:spPr>
          <a:xfrm>
            <a:off x="658368" y="6025896"/>
            <a:ext cx="10936224" cy="356616"/>
          </a:xfrm>
          <a:prstGeom prst="rect">
            <a:avLst/>
          </a:prstGeom>
          <a:noFill/>
        </p:spPr>
        <p:txBody>
          <a:bodyPr wrap="square" lIns="0" rIns="0" tIns="0" bIns="0" anchor="t">
            <a:spAutoFit/>
          </a:bodyPr>
          <a:lstStyle/>
          <a:p>
            <a:pPr algn="l">
              <a:lnSpc>
                <a:spcPct val="110000"/>
              </a:lnSpc>
              <a:spcAft>
                <a:spcPts val="0"/>
              </a:spcAft>
            </a:pPr>
            <a:r>
              <a:rPr sz="1050" b="0">
                <a:solidFill>
                  <a:srgbClr val="586B7E"/>
                </a:solidFill>
                <a:latin typeface="Arial"/>
                <a:ea typeface="Arial"/>
                <a:cs typeface="Arial"/>
              </a:rPr>
              <a:t>TTFP measures first-packet arrival; conversational response timing is evaluated separately.</a:t>
            </a:r>
          </a:p>
          <a:p>
            <a:pPr algn="l">
              <a:lnSpc>
                <a:spcPct val="110000"/>
              </a:lnSpc>
              <a:spcAft>
                <a:spcPts val="0"/>
              </a:spcAft>
            </a:pPr>
            <a:r>
              <a:rPr sz="1050" b="0">
                <a:solidFill>
                  <a:srgbClr val="586B7E"/>
                </a:solidFill>
                <a:latin typeface="Arial"/>
                <a:ea typeface="Arial"/>
                <a:cs typeface="Arial"/>
              </a:rPr>
              <a:t>Compare matching timing windows. Benchmark coverage varies by model.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TOOL CALLING</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a:solidFill>
                  <a:srgbClr val="142B45"/>
                </a:solidFill>
                <a:latin typeface="Arial"/>
                <a:ea typeface="Arial"/>
                <a:cs typeface="Arial"/>
              </a:rPr>
              <a:t>Tool calling across duplex models</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Existing tool paths provide a foundation for broader support across duplex models.</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11 / 12</a:t>
            </a:r>
          </a:p>
        </p:txBody>
      </p:sp>
      <p:sp>
        <p:nvSpPr>
          <p:cNvPr id="200" name="AVAILABLE TODAY"/>
          <p:cNvSpPr txBox="1"/>
          <p:nvPr/>
        </p:nvSpPr>
        <p:spPr>
          <a:xfrm>
            <a:off x="594360" y="2084832"/>
            <a:ext cx="10881360" cy="237744"/>
          </a:xfrm>
          <a:prstGeom prst="rect">
            <a:avLst/>
          </a:prstGeom>
          <a:noFill/>
          <a:ln>
            <a:noFill/>
          </a:ln>
        </p:spPr>
        <p:txBody>
          <a:bodyPr wrap="square" lIns="0" rIns="0" tIns="0" bIns="0" anchor="t">
            <a:noAutofit/>
          </a:bodyPr>
          <a:lstStyle/>
          <a:p>
            <a:pPr algn="l">
              <a:lnSpc>
                <a:spcPct val="106000"/>
              </a:lnSpc>
              <a:spcAft>
                <a:spcPts val="0"/>
              </a:spcAft>
            </a:pPr>
            <a:r>
              <a:rPr sz="1200" b="1">
                <a:solidFill>
                  <a:srgbClr val="307BDB"/>
                </a:solidFill>
                <a:latin typeface="Arial"/>
                <a:ea typeface="Arial"/>
                <a:cs typeface="Arial"/>
              </a:rPr>
              <a:t>AVAILABLE TODAY</a:t>
            </a:r>
          </a:p>
        </p:txBody>
      </p:sp>
      <p:sp>
        <p:nvSpPr>
          <p:cNvPr id="201" name="Qwen3-Omni Realtime"/>
          <p:cNvSpPr txBox="1"/>
          <p:nvPr/>
        </p:nvSpPr>
        <p:spPr>
          <a:xfrm>
            <a:off x="731520" y="2432304"/>
            <a:ext cx="5212080" cy="292608"/>
          </a:xfrm>
          <a:prstGeom prst="rect">
            <a:avLst/>
          </a:prstGeom>
          <a:noFill/>
          <a:ln>
            <a:noFill/>
          </a:ln>
        </p:spPr>
        <p:txBody>
          <a:bodyPr wrap="square" lIns="0" rIns="0" tIns="0" bIns="0" anchor="t">
            <a:noAutofit/>
          </a:bodyPr>
          <a:lstStyle/>
          <a:p>
            <a:pPr algn="l">
              <a:lnSpc>
                <a:spcPct val="106000"/>
              </a:lnSpc>
              <a:spcAft>
                <a:spcPts val="0"/>
              </a:spcAft>
            </a:pPr>
            <a:r>
              <a:rPr sz="1750" b="1">
                <a:solidFill>
                  <a:srgbClr val="16304E"/>
                </a:solidFill>
                <a:latin typeface="Arial"/>
                <a:ea typeface="Arial"/>
                <a:cs typeface="Arial"/>
              </a:rPr>
              <a:t>Qwen3-Omni Realtime</a:t>
            </a:r>
          </a:p>
        </p:txBody>
      </p:sp>
      <p:sp>
        <p:nvSpPr>
          <p:cNvPr id="202" name="Tool parser in the turn-based Realtime path"/>
          <p:cNvSpPr txBox="1"/>
          <p:nvPr/>
        </p:nvSpPr>
        <p:spPr>
          <a:xfrm>
            <a:off x="731520" y="2770632"/>
            <a:ext cx="5212080" cy="292608"/>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Tool-call parsing · /v1/realtime?duplex=0</a:t>
            </a:r>
          </a:p>
        </p:txBody>
      </p:sp>
      <p:sp>
        <p:nvSpPr>
          <p:cNvPr id="203" name="Nemotron VoiceChat"/>
          <p:cNvSpPr txBox="1"/>
          <p:nvPr/>
        </p:nvSpPr>
        <p:spPr>
          <a:xfrm>
            <a:off x="6400800" y="2432304"/>
            <a:ext cx="5120640" cy="292608"/>
          </a:xfrm>
          <a:prstGeom prst="rect">
            <a:avLst/>
          </a:prstGeom>
          <a:noFill/>
          <a:ln>
            <a:noFill/>
          </a:ln>
        </p:spPr>
        <p:txBody>
          <a:bodyPr wrap="square" lIns="0" rIns="0" tIns="0" bIns="0" anchor="t">
            <a:noAutofit/>
          </a:bodyPr>
          <a:lstStyle/>
          <a:p>
            <a:pPr algn="l">
              <a:lnSpc>
                <a:spcPct val="106000"/>
              </a:lnSpc>
              <a:spcAft>
                <a:spcPts val="0"/>
              </a:spcAft>
            </a:pPr>
            <a:r>
              <a:rPr sz="1750" b="1">
                <a:solidFill>
                  <a:srgbClr val="16304E"/>
                </a:solidFill>
                <a:latin typeface="Arial"/>
                <a:ea typeface="Arial"/>
                <a:cs typeface="Arial"/>
              </a:rPr>
              <a:t>Nemotron VoiceChat</a:t>
            </a:r>
          </a:p>
        </p:txBody>
      </p:sp>
      <p:sp>
        <p:nvSpPr>
          <p:cNvPr id="204" name="Tool-result round trip in native duplex"/>
          <p:cNvSpPr txBox="1"/>
          <p:nvPr/>
        </p:nvSpPr>
        <p:spPr>
          <a:xfrm>
            <a:off x="6400800" y="2770632"/>
            <a:ext cx="5120640" cy="292608"/>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Tool calls + results in unified native duplex</a:t>
            </a:r>
          </a:p>
        </p:txBody>
      </p:sp>
      <p:cxnSp>
        <p:nvCxnSpPr>
          <p:cNvPr id="205" name="Current support / roadmap boundary"/>
          <p:cNvCxnSpPr/>
          <p:nvPr/>
        </p:nvCxnSpPr>
        <p:spPr>
          <a:xfrm>
            <a:off x="594360" y="3200400"/>
            <a:ext cx="11018520" cy="0"/>
          </a:xfrm>
          <a:prstGeom prst="line">
            <a:avLst/>
          </a:prstGeom>
          <a:ln w="12700">
            <a:solidFill>
              <a:srgbClr val="D1DDE9"/>
            </a:solidFill>
          </a:ln>
        </p:spPr>
      </p:cxnSp>
      <p:sp>
        <p:nvSpPr>
          <p:cNvPr id="206" name="UNIFIED DUPLEX ROADMAP"/>
          <p:cNvSpPr txBox="1"/>
          <p:nvPr/>
        </p:nvSpPr>
        <p:spPr>
          <a:xfrm>
            <a:off x="594360" y="3355848"/>
            <a:ext cx="10881360" cy="237744"/>
          </a:xfrm>
          <a:prstGeom prst="rect">
            <a:avLst/>
          </a:prstGeom>
          <a:noFill/>
          <a:ln>
            <a:noFill/>
          </a:ln>
        </p:spPr>
        <p:txBody>
          <a:bodyPr wrap="square" lIns="0" rIns="0" tIns="0" bIns="0" anchor="t">
            <a:noAutofit/>
          </a:bodyPr>
          <a:lstStyle/>
          <a:p>
            <a:pPr algn="l">
              <a:lnSpc>
                <a:spcPct val="106000"/>
              </a:lnSpc>
              <a:spcAft>
                <a:spcPts val="0"/>
              </a:spcAft>
            </a:pPr>
            <a:r>
              <a:rPr sz="1200" b="1">
                <a:solidFill>
                  <a:srgbClr val="95620B"/>
                </a:solidFill>
                <a:latin typeface="Arial"/>
                <a:ea typeface="Arial"/>
                <a:cs typeface="Arial"/>
              </a:rPr>
              <a:t>NEXT: BROADER UNIFIED DUPLEX SUPPORT</a:t>
            </a:r>
          </a:p>
        </p:txBody>
      </p:sp>
      <p:sp>
        <p:nvSpPr>
          <p:cNvPr id="207" name="Model emits"/>
          <p:cNvSpPr txBox="1"/>
          <p:nvPr/>
        </p:nvSpPr>
        <p:spPr>
          <a:xfrm>
            <a:off x="731520" y="3730752"/>
            <a:ext cx="2377440" cy="274320"/>
          </a:xfrm>
          <a:prstGeom prst="rect">
            <a:avLst/>
          </a:prstGeom>
          <a:noFill/>
          <a:ln>
            <a:noFill/>
          </a:ln>
        </p:spPr>
        <p:txBody>
          <a:bodyPr wrap="square" lIns="0" rIns="0" tIns="0" bIns="0" anchor="t">
            <a:noAutofit/>
          </a:bodyPr>
          <a:lstStyle/>
          <a:p>
            <a:pPr algn="l">
              <a:lnSpc>
                <a:spcPct val="106000"/>
              </a:lnSpc>
              <a:spcAft>
                <a:spcPts val="0"/>
              </a:spcAft>
            </a:pPr>
            <a:r>
              <a:rPr sz="1500" b="1">
                <a:solidFill>
                  <a:srgbClr val="16304E"/>
                </a:solidFill>
                <a:latin typeface="Arial"/>
                <a:ea typeface="Arial"/>
                <a:cs typeface="Arial"/>
              </a:rPr>
              <a:t>Model emits</a:t>
            </a:r>
          </a:p>
        </p:txBody>
      </p:sp>
      <p:sp>
        <p:nvSpPr>
          <p:cNvPr id="208" name="Tool name + arguments"/>
          <p:cNvSpPr txBox="1"/>
          <p:nvPr/>
        </p:nvSpPr>
        <p:spPr>
          <a:xfrm>
            <a:off x="731520" y="4041648"/>
            <a:ext cx="2377440" cy="246888"/>
          </a:xfrm>
          <a:prstGeom prst="rect">
            <a:avLst/>
          </a:prstGeom>
          <a:noFill/>
          <a:ln>
            <a:noFill/>
          </a:ln>
        </p:spPr>
        <p:txBody>
          <a:bodyPr wrap="square" lIns="0" rIns="0" tIns="0" bIns="0" anchor="t">
            <a:noAutofit/>
          </a:bodyPr>
          <a:lstStyle/>
          <a:p>
            <a:pPr algn="l">
              <a:lnSpc>
                <a:spcPct val="106000"/>
              </a:lnSpc>
              <a:spcAft>
                <a:spcPts val="0"/>
              </a:spcAft>
            </a:pPr>
            <a:r>
              <a:rPr sz="1240" b="0">
                <a:solidFill>
                  <a:srgbClr val="586B7E"/>
                </a:solidFill>
                <a:latin typeface="Arial"/>
                <a:ea typeface="Arial"/>
                <a:cs typeface="Arial"/>
              </a:rPr>
              <a:t>Tool name + arguments</a:t>
            </a:r>
          </a:p>
        </p:txBody>
      </p:sp>
      <p:sp>
        <p:nvSpPr>
          <p:cNvPr id="209" name="Application executes"/>
          <p:cNvSpPr txBox="1"/>
          <p:nvPr/>
        </p:nvSpPr>
        <p:spPr>
          <a:xfrm>
            <a:off x="3675888" y="3730752"/>
            <a:ext cx="2286000" cy="274320"/>
          </a:xfrm>
          <a:prstGeom prst="rect">
            <a:avLst/>
          </a:prstGeom>
          <a:noFill/>
          <a:ln>
            <a:noFill/>
          </a:ln>
        </p:spPr>
        <p:txBody>
          <a:bodyPr wrap="square" lIns="0" rIns="0" tIns="0" bIns="0" anchor="t">
            <a:noAutofit/>
          </a:bodyPr>
          <a:lstStyle/>
          <a:p>
            <a:pPr algn="l">
              <a:lnSpc>
                <a:spcPct val="106000"/>
              </a:lnSpc>
              <a:spcAft>
                <a:spcPts val="0"/>
              </a:spcAft>
            </a:pPr>
            <a:r>
              <a:rPr sz="1500" b="1">
                <a:solidFill>
                  <a:srgbClr val="16304E"/>
                </a:solidFill>
                <a:latin typeface="Arial"/>
                <a:ea typeface="Arial"/>
                <a:cs typeface="Arial"/>
              </a:rPr>
              <a:t>Application executes</a:t>
            </a:r>
          </a:p>
        </p:txBody>
      </p:sp>
      <p:sp>
        <p:nvSpPr>
          <p:cNvPr id="210" name="External function"/>
          <p:cNvSpPr txBox="1"/>
          <p:nvPr/>
        </p:nvSpPr>
        <p:spPr>
          <a:xfrm>
            <a:off x="3675888" y="4041648"/>
            <a:ext cx="2286000" cy="246888"/>
          </a:xfrm>
          <a:prstGeom prst="rect">
            <a:avLst/>
          </a:prstGeom>
          <a:noFill/>
          <a:ln>
            <a:noFill/>
          </a:ln>
        </p:spPr>
        <p:txBody>
          <a:bodyPr wrap="square" lIns="0" rIns="0" tIns="0" bIns="0" anchor="t">
            <a:noAutofit/>
          </a:bodyPr>
          <a:lstStyle/>
          <a:p>
            <a:pPr algn="l">
              <a:lnSpc>
                <a:spcPct val="106000"/>
              </a:lnSpc>
              <a:spcAft>
                <a:spcPts val="0"/>
              </a:spcAft>
            </a:pPr>
            <a:r>
              <a:rPr sz="1240" b="0">
                <a:solidFill>
                  <a:srgbClr val="586B7E"/>
                </a:solidFill>
                <a:latin typeface="Arial"/>
                <a:ea typeface="Arial"/>
                <a:cs typeface="Arial"/>
              </a:rPr>
              <a:t>External function</a:t>
            </a:r>
          </a:p>
        </p:txBody>
      </p:sp>
      <p:sp>
        <p:nvSpPr>
          <p:cNvPr id="211" name="Result returns"/>
          <p:cNvSpPr txBox="1"/>
          <p:nvPr/>
        </p:nvSpPr>
        <p:spPr>
          <a:xfrm>
            <a:off x="6492240" y="3730752"/>
            <a:ext cx="2148840" cy="274320"/>
          </a:xfrm>
          <a:prstGeom prst="rect">
            <a:avLst/>
          </a:prstGeom>
          <a:noFill/>
          <a:ln>
            <a:noFill/>
          </a:ln>
        </p:spPr>
        <p:txBody>
          <a:bodyPr wrap="square" lIns="0" rIns="0" tIns="0" bIns="0" anchor="t">
            <a:noAutofit/>
          </a:bodyPr>
          <a:lstStyle/>
          <a:p>
            <a:pPr algn="l">
              <a:lnSpc>
                <a:spcPct val="106000"/>
              </a:lnSpc>
              <a:spcAft>
                <a:spcPts val="0"/>
              </a:spcAft>
            </a:pPr>
            <a:r>
              <a:rPr sz="1500" b="1">
                <a:solidFill>
                  <a:srgbClr val="16304E"/>
                </a:solidFill>
                <a:latin typeface="Arial"/>
                <a:ea typeface="Arial"/>
                <a:cs typeface="Arial"/>
              </a:rPr>
              <a:t>Result returns</a:t>
            </a:r>
          </a:p>
        </p:txBody>
      </p:sp>
      <p:sp>
        <p:nvSpPr>
          <p:cNvPr id="212" name="Match the call_id"/>
          <p:cNvSpPr txBox="1"/>
          <p:nvPr/>
        </p:nvSpPr>
        <p:spPr>
          <a:xfrm>
            <a:off x="6492240" y="4041648"/>
            <a:ext cx="2148840" cy="246888"/>
          </a:xfrm>
          <a:prstGeom prst="rect">
            <a:avLst/>
          </a:prstGeom>
          <a:noFill/>
          <a:ln>
            <a:noFill/>
          </a:ln>
        </p:spPr>
        <p:txBody>
          <a:bodyPr wrap="square" lIns="0" rIns="0" tIns="0" bIns="0" anchor="t">
            <a:noAutofit/>
          </a:bodyPr>
          <a:lstStyle/>
          <a:p>
            <a:pPr algn="l">
              <a:lnSpc>
                <a:spcPct val="106000"/>
              </a:lnSpc>
              <a:spcAft>
                <a:spcPts val="0"/>
              </a:spcAft>
            </a:pPr>
            <a:r>
              <a:rPr sz="1240" b="0">
                <a:solidFill>
                  <a:srgbClr val="586B7E"/>
                </a:solidFill>
                <a:latin typeface="Arial"/>
                <a:ea typeface="Arial"/>
                <a:cs typeface="Arial"/>
              </a:rPr>
              <a:t>Match the call_id</a:t>
            </a:r>
          </a:p>
        </p:txBody>
      </p:sp>
      <p:sp>
        <p:nvSpPr>
          <p:cNvPr id="213" name="Model continues"/>
          <p:cNvSpPr txBox="1"/>
          <p:nvPr/>
        </p:nvSpPr>
        <p:spPr>
          <a:xfrm>
            <a:off x="9189720" y="3730752"/>
            <a:ext cx="2404872" cy="274320"/>
          </a:xfrm>
          <a:prstGeom prst="rect">
            <a:avLst/>
          </a:prstGeom>
          <a:noFill/>
          <a:ln>
            <a:noFill/>
          </a:ln>
        </p:spPr>
        <p:txBody>
          <a:bodyPr wrap="square" lIns="0" rIns="0" tIns="0" bIns="0" anchor="t">
            <a:noAutofit/>
          </a:bodyPr>
          <a:lstStyle/>
          <a:p>
            <a:pPr algn="l">
              <a:lnSpc>
                <a:spcPct val="106000"/>
              </a:lnSpc>
              <a:spcAft>
                <a:spcPts val="0"/>
              </a:spcAft>
            </a:pPr>
            <a:r>
              <a:rPr sz="1500" b="1">
                <a:solidFill>
                  <a:srgbClr val="16304E"/>
                </a:solidFill>
                <a:latin typeface="Arial"/>
                <a:ea typeface="Arial"/>
                <a:cs typeface="Arial"/>
              </a:rPr>
              <a:t>Model continues</a:t>
            </a:r>
          </a:p>
        </p:txBody>
      </p:sp>
      <p:sp>
        <p:nvSpPr>
          <p:cNvPr id="214" name="Generate the reply"/>
          <p:cNvSpPr txBox="1"/>
          <p:nvPr/>
        </p:nvSpPr>
        <p:spPr>
          <a:xfrm>
            <a:off x="9189720" y="4041648"/>
            <a:ext cx="2404872" cy="246888"/>
          </a:xfrm>
          <a:prstGeom prst="rect">
            <a:avLst/>
          </a:prstGeom>
          <a:noFill/>
          <a:ln>
            <a:noFill/>
          </a:ln>
        </p:spPr>
        <p:txBody>
          <a:bodyPr wrap="square" lIns="0" rIns="0" tIns="0" bIns="0" anchor="t">
            <a:noAutofit/>
          </a:bodyPr>
          <a:lstStyle/>
          <a:p>
            <a:pPr algn="l">
              <a:lnSpc>
                <a:spcPct val="106000"/>
              </a:lnSpc>
              <a:spcAft>
                <a:spcPts val="0"/>
              </a:spcAft>
            </a:pPr>
            <a:r>
              <a:rPr sz="1240" b="0">
                <a:solidFill>
                  <a:srgbClr val="586B7E"/>
                </a:solidFill>
                <a:latin typeface="Arial"/>
                <a:ea typeface="Arial"/>
                <a:cs typeface="Arial"/>
              </a:rPr>
              <a:t>Generate the reply</a:t>
            </a:r>
          </a:p>
        </p:txBody>
      </p:sp>
      <p:cxnSp>
        <p:nvCxnSpPr>
          <p:cNvPr id="215" name="Shared call loop"/>
          <p:cNvCxnSpPr/>
          <p:nvPr/>
        </p:nvCxnSpPr>
        <p:spPr>
          <a:xfrm>
            <a:off x="3218688" y="3877056"/>
            <a:ext cx="356616" cy="0"/>
          </a:xfrm>
          <a:prstGeom prst="line">
            <a:avLst/>
          </a:prstGeom>
          <a:ln w="22860">
            <a:solidFill>
              <a:srgbClr val="008E96"/>
            </a:solidFill>
            <a:tailEnd type="triangle" w="med" len="med"/>
          </a:ln>
        </p:spPr>
      </p:cxnSp>
      <p:cxnSp>
        <p:nvCxnSpPr>
          <p:cNvPr id="216" name="Shared call loop"/>
          <p:cNvCxnSpPr/>
          <p:nvPr/>
        </p:nvCxnSpPr>
        <p:spPr>
          <a:xfrm>
            <a:off x="6044184" y="3877056"/>
            <a:ext cx="356616" cy="0"/>
          </a:xfrm>
          <a:prstGeom prst="line">
            <a:avLst/>
          </a:prstGeom>
          <a:ln w="22860">
            <a:solidFill>
              <a:srgbClr val="008E96"/>
            </a:solidFill>
            <a:tailEnd type="triangle" w="med" len="med"/>
          </a:ln>
        </p:spPr>
      </p:cxnSp>
      <p:cxnSp>
        <p:nvCxnSpPr>
          <p:cNvPr id="217" name="Shared call loop"/>
          <p:cNvCxnSpPr/>
          <p:nvPr/>
        </p:nvCxnSpPr>
        <p:spPr>
          <a:xfrm>
            <a:off x="8686800" y="3877056"/>
            <a:ext cx="402336" cy="0"/>
          </a:xfrm>
          <a:prstGeom prst="line">
            <a:avLst/>
          </a:prstGeom>
          <a:ln w="22860">
            <a:solidFill>
              <a:srgbClr val="008E96"/>
            </a:solidFill>
            <a:tailEnd type="triangle" w="med" len="med"/>
          </a:ln>
        </p:spPr>
      </p:cxnSp>
      <p:graphicFrame>
        <p:nvGraphicFramePr>
          <p:cNvPr id="218" name="Unified duplex tool calling roadmap"/>
          <p:cNvGraphicFramePr/>
          <p:nvPr/>
        </p:nvGraphicFramePr>
        <p:xfrm>
          <a:off x="594360" y="4443984"/>
          <a:ext cx="11018520" cy="1865376"/>
        </p:xfrm>
        <a:graphic>
          <a:graphicData uri="http://schemas.openxmlformats.org/drawingml/2006/table">
            <a:tbl>
              <a:tblPr firstRow="0" bandRow="0"/>
              <a:tblGrid>
                <a:gridCol w="1993392"/>
                <a:gridCol w="9025128"/>
              </a:tblGrid>
              <a:tr h="493776">
                <a:tc>
                  <a:txBody>
                    <a:bodyPr wrap="square">
                      <a:noAutofit/>
                    </a:bodyPr>
                    <a:lstStyle/>
                    <a:p>
                      <a:pPr>
                        <a:lnSpc>
                          <a:spcPct val="108000"/>
                        </a:lnSpc>
                        <a:spcAft>
                          <a:spcPts val="0"/>
                        </a:spcAft>
                      </a:pPr>
                      <a:r>
                        <a:rPr sz="1400" b="1">
                          <a:solidFill>
                            <a:srgbClr val="16304E"/>
                          </a:solidFill>
                          <a:latin typeface="Arial"/>
                          <a:ea typeface="Arial"/>
                          <a:cs typeface="Arial"/>
                        </a:rPr>
                        <a:t>During execution</a:t>
                      </a:r>
                    </a:p>
                  </a:txBody>
                  <a:tcPr marL="137160" marR="100584" marT="54864" marB="50292" anchor="ctr">
                    <a:lnL w="0">
                      <a:noFill/>
                    </a:lnL>
                    <a:lnR w="0">
                      <a:noFill/>
                    </a:lnR>
                    <a:lnT w="0">
                      <a:noFill/>
                    </a:lnT>
                    <a:lnB w="25400">
                      <a:solidFill>
                        <a:srgbClr val="FFFFFF"/>
                      </a:solidFill>
                    </a:lnB>
                    <a:solidFill>
                      <a:srgbClr val="F2F5F9"/>
                    </a:solidFill>
                  </a:tcPr>
                </a:tc>
                <a:tc>
                  <a:txBody>
                    <a:bodyPr wrap="square">
                      <a:noAutofit/>
                    </a:bodyPr>
                    <a:lstStyle/>
                    <a:p>
                      <a:pPr>
                        <a:lnSpc>
                          <a:spcPct val="108000"/>
                        </a:lnSpc>
                        <a:spcAft>
                          <a:spcPts val="0"/>
                        </a:spcAft>
                      </a:pPr>
                      <a:r>
                        <a:rPr sz="1400" b="0">
                          <a:solidFill>
                            <a:srgbClr val="16304E"/>
                          </a:solidFill>
                          <a:latin typeface="Arial"/>
                          <a:ea typeface="Arial"/>
                          <a:cs typeface="Arial"/>
                        </a:rPr>
                        <a:t>Define whether user input and speech output continue while the tool runs.</a:t>
                      </a:r>
                    </a:p>
                  </a:txBody>
                  <a:tcPr marL="137160" marR="100584" marT="54864" marB="50292" anchor="ctr">
                    <a:lnL w="0">
                      <a:noFill/>
                    </a:lnL>
                    <a:lnR w="0">
                      <a:noFill/>
                    </a:lnR>
                    <a:lnT w="0">
                      <a:noFill/>
                    </a:lnT>
                    <a:lnB w="25400">
                      <a:solidFill>
                        <a:srgbClr val="FFFFFF"/>
                      </a:solidFill>
                    </a:lnB>
                    <a:solidFill>
                      <a:srgbClr val="F2F5F9"/>
                    </a:solidFill>
                  </a:tcPr>
                </a:tc>
              </a:tr>
              <a:tr h="658368">
                <a:tc>
                  <a:txBody>
                    <a:bodyPr wrap="square">
                      <a:noAutofit/>
                    </a:bodyPr>
                    <a:lstStyle/>
                    <a:p>
                      <a:pPr>
                        <a:lnSpc>
                          <a:spcPct val="108000"/>
                        </a:lnSpc>
                        <a:spcAft>
                          <a:spcPts val="0"/>
                        </a:spcAft>
                      </a:pPr>
                      <a:r>
                        <a:rPr sz="1400" b="1">
                          <a:solidFill>
                            <a:srgbClr val="16304E"/>
                          </a:solidFill>
                          <a:latin typeface="Arial"/>
                          <a:ea typeface="Arial"/>
                          <a:cs typeface="Arial"/>
                        </a:rPr>
                        <a:t>Turn safety</a:t>
                      </a:r>
                    </a:p>
                  </a:txBody>
                  <a:tcPr marL="137160" marR="100584" marT="54864" marB="50292" anchor="ctr">
                    <a:lnL w="0">
                      <a:noFill/>
                    </a:lnL>
                    <a:lnR w="0">
                      <a:noFill/>
                    </a:lnR>
                    <a:lnT w="0">
                      <a:noFill/>
                    </a:lnT>
                    <a:lnB w="25400">
                      <a:solidFill>
                        <a:srgbClr val="FFFFFF"/>
                      </a:solidFill>
                    </a:lnB>
                    <a:solidFill>
                      <a:srgbClr val="FFFFFF"/>
                    </a:solidFill>
                  </a:tcPr>
                </a:tc>
                <a:tc>
                  <a:txBody>
                    <a:bodyPr wrap="square">
                      <a:noAutofit/>
                    </a:bodyPr>
                    <a:lstStyle/>
                    <a:p>
                      <a:pPr>
                        <a:lnSpc>
                          <a:spcPct val="108000"/>
                        </a:lnSpc>
                        <a:spcAft>
                          <a:spcPts val="0"/>
                        </a:spcAft>
                      </a:pPr>
                      <a:r>
                        <a:rPr sz="1400" b="0">
                          <a:solidFill>
                            <a:srgbClr val="16304E"/>
                          </a:solidFill>
                          <a:latin typeface="Arial"/>
                          <a:ea typeface="Arial"/>
                          <a:cs typeface="Arial"/>
                        </a:rPr>
                        <a:t>Handle interruption, timeouts, duplicate and late results;</a:t>
                      </a:r>
                    </a:p>
                    <a:p>
                      <a:pPr>
                        <a:lnSpc>
                          <a:spcPct val="108000"/>
                        </a:lnSpc>
                        <a:spcAft>
                          <a:spcPts val="0"/>
                        </a:spcAft>
                      </a:pPr>
                      <a:r>
                        <a:rPr sz="1400" b="0">
                          <a:solidFill>
                            <a:srgbClr val="16304E"/>
                          </a:solidFill>
                          <a:latin typeface="Arial"/>
                          <a:ea typeface="Arial"/>
                          <a:cs typeface="Arial"/>
                        </a:rPr>
                        <a:t>keep old calls from affecting a new turn.</a:t>
                      </a:r>
                    </a:p>
                  </a:txBody>
                  <a:tcPr marL="137160" marR="100584" marT="54864" marB="50292" anchor="ctr">
                    <a:lnL w="0">
                      <a:noFill/>
                    </a:lnL>
                    <a:lnR w="0">
                      <a:noFill/>
                    </a:lnR>
                    <a:lnT w="0">
                      <a:noFill/>
                    </a:lnT>
                    <a:lnB w="25400">
                      <a:solidFill>
                        <a:srgbClr val="FFFFFF"/>
                      </a:solidFill>
                    </a:lnB>
                    <a:solidFill>
                      <a:srgbClr val="FFFFFF"/>
                    </a:solidFill>
                  </a:tcPr>
                </a:tc>
              </a:tr>
              <a:tr h="713232">
                <a:tc>
                  <a:txBody>
                    <a:bodyPr wrap="square">
                      <a:noAutofit/>
                    </a:bodyPr>
                    <a:lstStyle/>
                    <a:p>
                      <a:pPr>
                        <a:lnSpc>
                          <a:spcPct val="108000"/>
                        </a:lnSpc>
                        <a:spcAft>
                          <a:spcPts val="0"/>
                        </a:spcAft>
                      </a:pPr>
                      <a:r>
                        <a:rPr sz="1400" b="1">
                          <a:solidFill>
                            <a:srgbClr val="16304E"/>
                          </a:solidFill>
                          <a:latin typeface="Arial"/>
                          <a:ea typeface="Arial"/>
                          <a:cs typeface="Arial"/>
                        </a:rPr>
                        <a:t>Framework + plugins</a:t>
                      </a:r>
                    </a:p>
                  </a:txBody>
                  <a:tcPr marL="137160" marR="100584" marT="54864" marB="50292" anchor="ctr">
                    <a:lnL w="0">
                      <a:noFill/>
                    </a:lnL>
                    <a:lnR w="0">
                      <a:noFill/>
                    </a:lnR>
                    <a:lnT w="0">
                      <a:noFill/>
                    </a:lnT>
                    <a:lnB w="25400">
                      <a:solidFill>
                        <a:srgbClr val="FFFFFF"/>
                      </a:solidFill>
                    </a:lnB>
                    <a:solidFill>
                      <a:srgbClr val="F2F5F9"/>
                    </a:solidFill>
                  </a:tcPr>
                </a:tc>
                <a:tc>
                  <a:txBody>
                    <a:bodyPr wrap="square">
                      <a:noAutofit/>
                    </a:bodyPr>
                    <a:lstStyle/>
                    <a:p>
                      <a:pPr>
                        <a:lnSpc>
                          <a:spcPct val="108000"/>
                        </a:lnSpc>
                        <a:spcAft>
                          <a:spcPts val="0"/>
                        </a:spcAft>
                      </a:pPr>
                      <a:r>
                        <a:rPr sz="1400" b="0">
                          <a:solidFill>
                            <a:srgbClr val="16304E"/>
                          </a:solidFill>
                          <a:latin typeface="Arial"/>
                          <a:ea typeface="Arial"/>
                          <a:cs typeface="Arial"/>
                        </a:rPr>
                        <a:t>Shared framework handling, with model-specific adapters.</a:t>
                      </a:r>
                    </a:p>
                    <a:p>
                      <a:pPr>
                        <a:lnSpc>
                          <a:spcPct val="108000"/>
                        </a:lnSpc>
                        <a:spcAft>
                          <a:spcPts val="0"/>
                        </a:spcAft>
                      </a:pPr>
                      <a:r>
                        <a:rPr sz="1400" b="0">
                          <a:solidFill>
                            <a:srgbClr val="16304E"/>
                          </a:solidFill>
                          <a:latin typeface="Arial"/>
                          <a:ea typeface="Arial"/>
                          <a:cs typeface="Arial"/>
                        </a:rPr>
                        <a:t>Extend support to Qwen3-Omni unified duplex, AURA and JoyAI.</a:t>
                      </a:r>
                    </a:p>
                  </a:txBody>
                  <a:tcPr marL="137160" marR="100584" marT="54864" marB="50292" anchor="ctr">
                    <a:lnL w="0">
                      <a:noFill/>
                    </a:lnL>
                    <a:lnR w="0">
                      <a:noFill/>
                    </a:lnR>
                    <a:lnT w="0">
                      <a:noFill/>
                    </a:lnT>
                    <a:lnB w="25400">
                      <a:solidFill>
                        <a:srgbClr val="FFFFFF"/>
                      </a:solidFill>
                    </a:lnB>
                    <a:solidFill>
                      <a:srgbClr val="F2F5F9"/>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ROADMAP</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a:solidFill>
                  <a:srgbClr val="142B45"/>
                </a:solidFill>
                <a:latin typeface="Arial"/>
                <a:ea typeface="Arial"/>
                <a:cs typeface="Arial"/>
              </a:rPr>
              <a:t>Full-duplex roadmap</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a:solidFill>
                  <a:srgbClr val="586B7E"/>
                </a:solidFill>
                <a:latin typeface="Arial"/>
                <a:ea typeface="Arial"/>
                <a:cs typeface="Arial"/>
              </a:rPr>
              <a:t>Near-term model integration, interaction and evaluation; longer-term session duration and serving scale.</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12 / 12</a:t>
            </a:r>
          </a:p>
        </p:txBody>
      </p:sp>
      <p:sp>
        <p:nvSpPr>
          <p:cNvPr id="200" name="NEAR TERM"/>
          <p:cNvSpPr txBox="1"/>
          <p:nvPr/>
        </p:nvSpPr>
        <p:spPr>
          <a:xfrm>
            <a:off x="731520" y="2185416"/>
            <a:ext cx="5029200" cy="320040"/>
          </a:xfrm>
          <a:prstGeom prst="rect">
            <a:avLst/>
          </a:prstGeom>
          <a:noFill/>
          <a:ln>
            <a:noFill/>
          </a:ln>
        </p:spPr>
        <p:txBody>
          <a:bodyPr wrap="square" lIns="0" rIns="0" tIns="0" bIns="0" anchor="t">
            <a:noAutofit/>
          </a:bodyPr>
          <a:lstStyle/>
          <a:p>
            <a:pPr algn="l">
              <a:lnSpc>
                <a:spcPct val="106000"/>
              </a:lnSpc>
              <a:spcAft>
                <a:spcPts val="0"/>
              </a:spcAft>
            </a:pPr>
            <a:r>
              <a:rPr sz="1650" b="1">
                <a:solidFill>
                  <a:srgbClr val="307BDB"/>
                </a:solidFill>
                <a:latin typeface="Arial"/>
                <a:ea typeface="Arial"/>
                <a:cs typeface="Arial"/>
              </a:rPr>
              <a:t>NEAR TERM</a:t>
            </a:r>
          </a:p>
        </p:txBody>
      </p:sp>
      <p:sp>
        <p:nvSpPr>
          <p:cNvPr id="201" name="LONGER TERM"/>
          <p:cNvSpPr txBox="1"/>
          <p:nvPr/>
        </p:nvSpPr>
        <p:spPr>
          <a:xfrm>
            <a:off x="6419088" y="2185416"/>
            <a:ext cx="5074920" cy="320040"/>
          </a:xfrm>
          <a:prstGeom prst="rect">
            <a:avLst/>
          </a:prstGeom>
          <a:noFill/>
          <a:ln>
            <a:noFill/>
          </a:ln>
        </p:spPr>
        <p:txBody>
          <a:bodyPr wrap="square" lIns="0" rIns="0" tIns="0" bIns="0" anchor="t">
            <a:noAutofit/>
          </a:bodyPr>
          <a:lstStyle/>
          <a:p>
            <a:pPr algn="l">
              <a:lnSpc>
                <a:spcPct val="106000"/>
              </a:lnSpc>
              <a:spcAft>
                <a:spcPts val="0"/>
              </a:spcAft>
            </a:pPr>
            <a:r>
              <a:rPr sz="1650" b="1">
                <a:solidFill>
                  <a:srgbClr val="008E96"/>
                </a:solidFill>
                <a:latin typeface="Arial"/>
                <a:ea typeface="Arial"/>
                <a:cs typeface="Arial"/>
              </a:rPr>
              <a:t>LONGER TERM</a:t>
            </a:r>
          </a:p>
        </p:txBody>
      </p:sp>
      <p:cxnSp>
        <p:nvCxnSpPr>
          <p:cNvPr id="202" name="Near-term section"/>
          <p:cNvCxnSpPr/>
          <p:nvPr/>
        </p:nvCxnSpPr>
        <p:spPr>
          <a:xfrm>
            <a:off x="731520" y="2596896"/>
            <a:ext cx="4983480" cy="0"/>
          </a:xfrm>
          <a:prstGeom prst="line">
            <a:avLst/>
          </a:prstGeom>
          <a:ln w="19050">
            <a:solidFill>
              <a:srgbClr val="96B4D9"/>
            </a:solidFill>
          </a:ln>
        </p:spPr>
      </p:cxnSp>
      <p:cxnSp>
        <p:nvCxnSpPr>
          <p:cNvPr id="203" name="Longer-term section"/>
          <p:cNvCxnSpPr/>
          <p:nvPr/>
        </p:nvCxnSpPr>
        <p:spPr>
          <a:xfrm>
            <a:off x="6419088" y="2596896"/>
            <a:ext cx="5056632" cy="0"/>
          </a:xfrm>
          <a:prstGeom prst="line">
            <a:avLst/>
          </a:prstGeom>
          <a:ln w="19050">
            <a:solidFill>
              <a:srgbClr val="8DB8B7"/>
            </a:solidFill>
          </a:ln>
        </p:spPr>
      </p:cxnSp>
      <p:cxnSp>
        <p:nvCxnSpPr>
          <p:cNvPr id="204" name="Phase boundary"/>
          <p:cNvCxnSpPr/>
          <p:nvPr/>
        </p:nvCxnSpPr>
        <p:spPr>
          <a:xfrm>
            <a:off x="6089904" y="2185416"/>
            <a:ext cx="0" cy="3895344"/>
          </a:xfrm>
          <a:prstGeom prst="line">
            <a:avLst/>
          </a:prstGeom>
          <a:ln w="12700">
            <a:solidFill>
              <a:srgbClr val="D1DDE9"/>
            </a:solidFill>
          </a:ln>
        </p:spPr>
      </p:cxnSp>
      <p:sp>
        <p:nvSpPr>
          <p:cNvPr id="205" name="JoyAI integration"/>
          <p:cNvSpPr txBox="1"/>
          <p:nvPr/>
        </p:nvSpPr>
        <p:spPr>
          <a:xfrm>
            <a:off x="731520" y="277063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JoyAI integration</a:t>
            </a:r>
          </a:p>
        </p:txBody>
      </p:sp>
      <p:sp>
        <p:nvSpPr>
          <p:cNvPr id="206" name="Bring JoyAI into the unified duplex framework&#10;with model-specific input/output adapters"/>
          <p:cNvSpPr txBox="1"/>
          <p:nvPr/>
        </p:nvSpPr>
        <p:spPr>
          <a:xfrm>
            <a:off x="731520" y="312724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Bring JoyAI into the unified duplex framework</a:t>
            </a:r>
          </a:p>
          <a:p>
            <a:pPr algn="l">
              <a:lnSpc>
                <a:spcPct val="106000"/>
              </a:lnSpc>
              <a:spcAft>
                <a:spcPts val="0"/>
              </a:spcAft>
            </a:pPr>
            <a:r>
              <a:rPr sz="1400" b="0">
                <a:solidFill>
                  <a:srgbClr val="586B7E"/>
                </a:solidFill>
                <a:latin typeface="Arial"/>
                <a:ea typeface="Arial"/>
                <a:cs typeface="Arial"/>
              </a:rPr>
              <a:t>with model-specific input/output adapters</a:t>
            </a:r>
          </a:p>
        </p:txBody>
      </p:sp>
      <p:sp>
        <p:nvSpPr>
          <p:cNvPr id="207" name="Unified tool calling"/>
          <p:cNvSpPr txBox="1"/>
          <p:nvPr/>
        </p:nvSpPr>
        <p:spPr>
          <a:xfrm>
            <a:off x="731520" y="363931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Unified tool calling</a:t>
            </a:r>
          </a:p>
        </p:txBody>
      </p:sp>
      <p:sp>
        <p:nvSpPr>
          <p:cNvPr id="208" name="Shared call/result handling and model adapters&#10;Interruption, timeout and stale-result handling"/>
          <p:cNvSpPr txBox="1"/>
          <p:nvPr/>
        </p:nvSpPr>
        <p:spPr>
          <a:xfrm>
            <a:off x="731520" y="399592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Extend tool-call support across models</a:t>
            </a:r>
          </a:p>
          <a:p>
            <a:pPr algn="l">
              <a:lnSpc>
                <a:spcPct val="106000"/>
              </a:lnSpc>
              <a:spcAft>
                <a:spcPts val="0"/>
              </a:spcAft>
            </a:pPr>
            <a:r>
              <a:rPr sz="1400" b="0">
                <a:solidFill>
                  <a:srgbClr val="586B7E"/>
                </a:solidFill>
                <a:latin typeface="Arial"/>
                <a:ea typeface="Arial"/>
                <a:cs typeface="Arial"/>
              </a:rPr>
              <a:t>Handle interruption, timeout and late results</a:t>
            </a:r>
          </a:p>
        </p:txBody>
      </p:sp>
      <p:sp>
        <p:nvSpPr>
          <p:cNvPr id="209" name="Semantic VAD"/>
          <p:cNvSpPr txBox="1"/>
          <p:nvPr/>
        </p:nvSpPr>
        <p:spPr>
          <a:xfrm>
            <a:off x="731520" y="450799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Semantic VAD</a:t>
            </a:r>
          </a:p>
        </p:txBody>
      </p:sp>
      <p:sp>
        <p:nvSpPr>
          <p:cNvPr id="210" name="Turn completion based on meaning and context&#10;Integration with commit and response policies"/>
          <p:cNvSpPr txBox="1"/>
          <p:nvPr/>
        </p:nvSpPr>
        <p:spPr>
          <a:xfrm>
            <a:off x="731520" y="486460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Turn completion based on meaning and context</a:t>
            </a:r>
          </a:p>
          <a:p>
            <a:pPr algn="l">
              <a:lnSpc>
                <a:spcPct val="106000"/>
              </a:lnSpc>
              <a:spcAft>
                <a:spcPts val="0"/>
              </a:spcAft>
            </a:pPr>
            <a:r>
              <a:rPr sz="1400" b="0">
                <a:solidFill>
                  <a:srgbClr val="586B7E"/>
                </a:solidFill>
                <a:latin typeface="Arial"/>
                <a:ea typeface="Arial"/>
                <a:cs typeface="Arial"/>
              </a:rPr>
              <a:t>Integration with commit and response policies</a:t>
            </a:r>
          </a:p>
        </p:txBody>
      </p:sp>
      <p:sp>
        <p:nvSpPr>
          <p:cNvPr id="211" name="Broader realtime evaluation"/>
          <p:cNvSpPr txBox="1"/>
          <p:nvPr/>
        </p:nvSpPr>
        <p:spPr>
          <a:xfrm>
            <a:off x="731520" y="537667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Broader realtime evaluation</a:t>
            </a:r>
          </a:p>
        </p:txBody>
      </p:sp>
      <p:sp>
        <p:nvSpPr>
          <p:cNvPr id="212" name="Broader OmniInteract and Omni-DuplexEval coverage&#10;More models, interaction tasks and regression checks"/>
          <p:cNvSpPr txBox="1"/>
          <p:nvPr/>
        </p:nvSpPr>
        <p:spPr>
          <a:xfrm>
            <a:off x="731520" y="573328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Broader OmniInteract and Omni-DuplexEval coverage</a:t>
            </a:r>
          </a:p>
          <a:p>
            <a:pPr algn="l">
              <a:lnSpc>
                <a:spcPct val="106000"/>
              </a:lnSpc>
              <a:spcAft>
                <a:spcPts val="0"/>
              </a:spcAft>
            </a:pPr>
            <a:r>
              <a:rPr sz="1400" b="0">
                <a:solidFill>
                  <a:srgbClr val="586B7E"/>
                </a:solidFill>
                <a:latin typeface="Arial"/>
                <a:ea typeface="Arial"/>
                <a:cs typeface="Arial"/>
              </a:rPr>
              <a:t>More models, interaction tasks and regression checks</a:t>
            </a:r>
          </a:p>
        </p:txBody>
      </p:sp>
      <p:sp>
        <p:nvSpPr>
          <p:cNvPr id="213" name="Longer sustained conversations"/>
          <p:cNvSpPr txBox="1"/>
          <p:nvPr/>
        </p:nvSpPr>
        <p:spPr>
          <a:xfrm>
            <a:off x="6419088" y="2816352"/>
            <a:ext cx="5074920" cy="338328"/>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Longer sustained conversations</a:t>
            </a:r>
          </a:p>
        </p:txBody>
      </p:sp>
      <p:sp>
        <p:nvSpPr>
          <p:cNvPr id="214" name="Bound context and history for extended audio/video&#10;Maintain stable latency and memory as sessions grow"/>
          <p:cNvSpPr txBox="1"/>
          <p:nvPr/>
        </p:nvSpPr>
        <p:spPr>
          <a:xfrm>
            <a:off x="6419088" y="3200400"/>
            <a:ext cx="5074920" cy="640080"/>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Bound context and history for extended audio/video</a:t>
            </a:r>
          </a:p>
          <a:p>
            <a:pPr algn="l">
              <a:lnSpc>
                <a:spcPct val="106000"/>
              </a:lnSpc>
              <a:spcAft>
                <a:spcPts val="0"/>
              </a:spcAft>
            </a:pPr>
            <a:r>
              <a:rPr sz="1400" b="0">
                <a:solidFill>
                  <a:srgbClr val="586B7E"/>
                </a:solidFill>
                <a:latin typeface="Arial"/>
                <a:ea typeface="Arial"/>
                <a:cs typeface="Arial"/>
              </a:rPr>
              <a:t>Maintain stable latency and memory as sessions grow</a:t>
            </a:r>
          </a:p>
        </p:txBody>
      </p:sp>
      <p:sp>
        <p:nvSpPr>
          <p:cNvPr id="215" name="Scaled multi-replica serving"/>
          <p:cNvSpPr txBox="1"/>
          <p:nvPr/>
        </p:nvSpPr>
        <p:spPr>
          <a:xfrm>
            <a:off x="6419088" y="4544568"/>
            <a:ext cx="5074920" cy="338328"/>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Scale beyond one API worker</a:t>
            </a:r>
          </a:p>
        </p:txBody>
      </p:sp>
      <p:sp>
        <p:nvSpPr>
          <p:cNvPr id="216" name="Higher session concurrency across Stage replicas&#10;Session routing and ownership across API frontends"/>
          <p:cNvSpPr txBox="1"/>
          <p:nvPr/>
        </p:nvSpPr>
        <p:spPr>
          <a:xfrm>
            <a:off x="6419088" y="4928616"/>
            <a:ext cx="5074920" cy="640080"/>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Build on existing Stage replicas</a:t>
            </a:r>
          </a:p>
          <a:p>
            <a:pPr algn="l">
              <a:lnSpc>
                <a:spcPct val="106000"/>
              </a:lnSpc>
              <a:spcAft>
                <a:spcPts val="0"/>
              </a:spcAft>
            </a:pPr>
            <a:r>
              <a:rPr sz="1400" b="0">
                <a:solidFill>
                  <a:srgbClr val="586B7E"/>
                </a:solidFill>
                <a:latin typeface="Arial"/>
                <a:ea typeface="Arial"/>
                <a:cs typeface="Arial"/>
              </a:rPr>
              <a:t>Route sessions across API frontends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ARCHITECTURE</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800" b="1">
                <a:solidFill>
                  <a:srgbClr val="142B45"/>
                </a:solidFill>
                <a:latin typeface="Arial"/>
                <a:ea typeface="Arial"/>
                <a:cs typeface="Arial"/>
              </a:rPr>
              <a:t>Duplex execution: input, model computation and output</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Normal output uses a bounded per-session buffer shared by the API and Orchestrator threads.</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A1</a:t>
            </a:r>
          </a:p>
        </p:txBody>
      </p:sp>
      <p:sp>
        <p:nvSpPr>
          <p:cNvPr id="12" name="Rounded Rectangle 11"/>
          <p:cNvSpPr/>
          <p:nvPr/>
        </p:nvSpPr>
        <p:spPr>
          <a:xfrm>
            <a:off x="548640" y="2670048"/>
            <a:ext cx="7680960" cy="3090672"/>
          </a:xfrm>
          <a:prstGeom prst="roundRect">
            <a:avLst>
              <a:gd name="adj" fmla="val 10000"/>
            </a:avLst>
          </a:prstGeom>
          <a:solidFill>
            <a:srgbClr val="F3F6FA"/>
          </a:solidFill>
          <a:ln w="1460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846320" y="2157984"/>
            <a:ext cx="3154680" cy="182880"/>
          </a:xfrm>
          <a:prstGeom prst="rect">
            <a:avLst/>
          </a:prstGeom>
          <a:noFill/>
        </p:spPr>
        <p:txBody>
          <a:bodyPr wrap="square" lIns="0" rIns="0" tIns="0" bIns="0" anchor="t">
            <a:spAutoFit/>
          </a:bodyPr>
          <a:lstStyle/>
          <a:p>
            <a:pPr algn="l">
              <a:lnSpc>
                <a:spcPct val="110000"/>
              </a:lnSpc>
              <a:spcAft>
                <a:spcPts val="0"/>
              </a:spcAft>
            </a:pPr>
            <a:r>
              <a:rPr sz="1050" b="1">
                <a:solidFill>
                  <a:srgbClr val="586B7E"/>
                </a:solidFill>
                <a:latin typeface="Arial"/>
                <a:ea typeface="Arial"/>
                <a:cs typeface="Arial"/>
              </a:rPr>
              <a:t>SAME API PROCESS</a:t>
            </a:r>
          </a:p>
        </p:txBody>
      </p:sp>
      <p:cxnSp>
        <p:nvCxnSpPr>
          <p:cNvPr id="15" name="Connector 14"/>
          <p:cNvCxnSpPr/>
          <p:nvPr/>
        </p:nvCxnSpPr>
        <p:spPr>
          <a:xfrm>
            <a:off x="4480560" y="3017520"/>
            <a:ext cx="0" cy="2560320"/>
          </a:xfrm>
          <a:prstGeom prst="line">
            <a:avLst/>
          </a:prstGeom>
          <a:ln w="1270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786384" y="2816352"/>
            <a:ext cx="2395728" cy="219456"/>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API event loop</a:t>
            </a:r>
          </a:p>
        </p:txBody>
      </p:sp>
      <p:sp>
        <p:nvSpPr>
          <p:cNvPr id="17" name="TextBox 16"/>
          <p:cNvSpPr txBox="1"/>
          <p:nvPr/>
        </p:nvSpPr>
        <p:spPr>
          <a:xfrm>
            <a:off x="4828032" y="2816352"/>
            <a:ext cx="3172968" cy="219456"/>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Duplex Orchestrator thread</a:t>
            </a:r>
          </a:p>
        </p:txBody>
      </p:sp>
      <p:sp>
        <p:nvSpPr>
          <p:cNvPr id="19" name="Rounded Rectangle 18"/>
          <p:cNvSpPr/>
          <p:nvPr/>
        </p:nvSpPr>
        <p:spPr>
          <a:xfrm>
            <a:off x="768096" y="2185416"/>
            <a:ext cx="2761488" cy="39319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877824" y="2267712"/>
            <a:ext cx="2542032" cy="201168"/>
          </a:xfrm>
          <a:prstGeom prst="rect">
            <a:avLst/>
          </a:prstGeom>
          <a:noFill/>
        </p:spPr>
        <p:txBody>
          <a:bodyPr wrap="square" lIns="0" rIns="0" tIns="0" bIns="0" anchor="t">
            <a:spAutoFit/>
          </a:bodyPr>
          <a:lstStyle/>
          <a:p>
            <a:pPr algn="l">
              <a:lnSpc>
                <a:spcPct val="110000"/>
              </a:lnSpc>
              <a:spcAft>
                <a:spcPts val="0"/>
              </a:spcAft>
            </a:pPr>
            <a:r>
              <a:rPr sz="1220" b="1">
                <a:solidFill>
                  <a:srgbClr val="327CEC"/>
                </a:solidFill>
                <a:latin typeface="Arial"/>
                <a:ea typeface="Arial"/>
                <a:cs typeface="Arial"/>
              </a:rPr>
              <a:t>User Client · WebSocket</a:t>
            </a:r>
          </a:p>
        </p:txBody>
      </p:sp>
      <p:cxnSp>
        <p:nvCxnSpPr>
          <p:cNvPr id="21" name="Connector 20"/>
          <p:cNvCxnSpPr/>
          <p:nvPr/>
        </p:nvCxnSpPr>
        <p:spPr>
          <a:xfrm>
            <a:off x="3374136" y="2587752"/>
            <a:ext cx="0" cy="539496"/>
          </a:xfrm>
          <a:prstGeom prst="line">
            <a:avLst/>
          </a:prstGeom>
          <a:ln w="17145">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2" name="Connector 21"/>
          <p:cNvCxnSpPr/>
          <p:nvPr/>
        </p:nvCxnSpPr>
        <p:spPr>
          <a:xfrm flipH="1">
            <a:off x="438912" y="5212080"/>
            <a:ext cx="329184" cy="0"/>
          </a:xfrm>
          <a:prstGeom prst="line">
            <a:avLst/>
          </a:prstGeom>
          <a:ln w="1651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flipV="1">
            <a:off x="438912" y="2386584"/>
            <a:ext cx="0" cy="2825496"/>
          </a:xfrm>
          <a:prstGeom prst="line">
            <a:avLst/>
          </a:prstGeom>
          <a:ln w="1651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24" name="Connector 23"/>
          <p:cNvCxnSpPr/>
          <p:nvPr/>
        </p:nvCxnSpPr>
        <p:spPr>
          <a:xfrm>
            <a:off x="438912" y="2386584"/>
            <a:ext cx="320040" cy="0"/>
          </a:xfrm>
          <a:prstGeom prst="line">
            <a:avLst/>
          </a:prstGeom>
          <a:ln w="1651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5" name="Connector 24"/>
          <p:cNvCxnSpPr/>
          <p:nvPr/>
        </p:nvCxnSpPr>
        <p:spPr>
          <a:xfrm>
            <a:off x="8668512" y="2231136"/>
            <a:ext cx="29260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9052560" y="2130552"/>
            <a:ext cx="2368296" cy="210312"/>
          </a:xfrm>
          <a:prstGeom prst="rect">
            <a:avLst/>
          </a:prstGeom>
          <a:noFill/>
        </p:spPr>
        <p:txBody>
          <a:bodyPr wrap="square" lIns="0" rIns="0" tIns="0" bIns="0" anchor="t">
            <a:spAutoFit/>
          </a:bodyPr>
          <a:lstStyle/>
          <a:p>
            <a:pPr algn="l">
              <a:lnSpc>
                <a:spcPct val="110000"/>
              </a:lnSpc>
              <a:spcAft>
                <a:spcPts val="0"/>
              </a:spcAft>
            </a:pPr>
            <a:r>
              <a:rPr sz="1050" b="0">
                <a:solidFill>
                  <a:srgbClr val="327CEC"/>
                </a:solidFill>
                <a:latin typeface="Arial"/>
                <a:ea typeface="Arial"/>
                <a:cs typeface="Arial"/>
              </a:rPr>
              <a:t>Input / requests</a:t>
            </a:r>
          </a:p>
        </p:txBody>
      </p:sp>
      <p:cxnSp>
        <p:nvCxnSpPr>
          <p:cNvPr id="27" name="Connector 26"/>
          <p:cNvCxnSpPr/>
          <p:nvPr/>
        </p:nvCxnSpPr>
        <p:spPr>
          <a:xfrm>
            <a:off x="8668512" y="2505456"/>
            <a:ext cx="292608"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8" name="TextBox 27"/>
          <p:cNvSpPr txBox="1"/>
          <p:nvPr/>
        </p:nvSpPr>
        <p:spPr>
          <a:xfrm>
            <a:off x="9052560" y="2404872"/>
            <a:ext cx="2368296" cy="210312"/>
          </a:xfrm>
          <a:prstGeom prst="rect">
            <a:avLst/>
          </a:prstGeom>
          <a:noFill/>
        </p:spPr>
        <p:txBody>
          <a:bodyPr wrap="square" lIns="0" rIns="0" tIns="0" bIns="0" anchor="t">
            <a:spAutoFit/>
          </a:bodyPr>
          <a:lstStyle/>
          <a:p>
            <a:pPr algn="l">
              <a:lnSpc>
                <a:spcPct val="110000"/>
              </a:lnSpc>
              <a:spcAft>
                <a:spcPts val="0"/>
              </a:spcAft>
            </a:pPr>
            <a:r>
              <a:rPr sz="1050" b="0">
                <a:solidFill>
                  <a:srgbClr val="008E96"/>
                </a:solidFill>
                <a:latin typeface="Arial"/>
                <a:ea typeface="Arial"/>
                <a:cs typeface="Arial"/>
              </a:rPr>
              <a:t>Output / events</a:t>
            </a:r>
          </a:p>
        </p:txBody>
      </p:sp>
      <p:sp>
        <p:nvSpPr>
          <p:cNvPr id="29" name="Rounded Rectangle 28"/>
          <p:cNvSpPr/>
          <p:nvPr/>
        </p:nvSpPr>
        <p:spPr>
          <a:xfrm>
            <a:off x="768096" y="3136392"/>
            <a:ext cx="2761488" cy="152704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ounded Rectangle 29"/>
          <p:cNvSpPr/>
          <p:nvPr/>
        </p:nvSpPr>
        <p:spPr>
          <a:xfrm>
            <a:off x="768096" y="4882896"/>
            <a:ext cx="2761488"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ounded Rectangle 30"/>
          <p:cNvSpPr/>
          <p:nvPr/>
        </p:nvSpPr>
        <p:spPr>
          <a:xfrm>
            <a:off x="4809744" y="3136392"/>
            <a:ext cx="3182112" cy="152704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ounded Rectangle 31"/>
          <p:cNvSpPr/>
          <p:nvPr/>
        </p:nvSpPr>
        <p:spPr>
          <a:xfrm>
            <a:off x="4809744" y="4882896"/>
            <a:ext cx="3182112"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914400" y="3273552"/>
            <a:ext cx="2468880" cy="246888"/>
          </a:xfrm>
          <a:prstGeom prst="rect">
            <a:avLst/>
          </a:prstGeom>
          <a:noFill/>
        </p:spPr>
        <p:txBody>
          <a:bodyPr wrap="square" lIns="0" rIns="0" tIns="0" bIns="0" anchor="t">
            <a:spAutoFit/>
          </a:bodyPr>
          <a:lstStyle/>
          <a:p>
            <a:pPr algn="l">
              <a:lnSpc>
                <a:spcPct val="110000"/>
              </a:lnSpc>
              <a:spcAft>
                <a:spcPts val="0"/>
              </a:spcAft>
            </a:pPr>
            <a:r>
              <a:rPr sz="1500" b="1">
                <a:solidFill>
                  <a:srgbClr val="327CEC"/>
                </a:solidFill>
                <a:latin typeface="Arial"/>
                <a:ea typeface="Arial"/>
                <a:cs typeface="Arial"/>
              </a:rPr>
              <a:t>API Server</a:t>
            </a:r>
          </a:p>
        </p:txBody>
      </p:sp>
      <p:sp>
        <p:nvSpPr>
          <p:cNvPr id="36" name="TextBox 35"/>
          <p:cNvSpPr txBox="1"/>
          <p:nvPr/>
        </p:nvSpPr>
        <p:spPr>
          <a:xfrm>
            <a:off x="914400" y="3621024"/>
            <a:ext cx="2468880" cy="228600"/>
          </a:xfrm>
          <a:prstGeom prst="rect">
            <a:avLst/>
          </a:prstGeom>
          <a:noFill/>
        </p:spPr>
        <p:txBody>
          <a:bodyPr wrap="square" lIns="0" rIns="0" tIns="0" bIns="0" anchor="t">
            <a:spAutoFit/>
          </a:bodyPr>
          <a:lstStyle/>
          <a:p>
            <a:pPr algn="l">
              <a:lnSpc>
                <a:spcPct val="110000"/>
              </a:lnSpc>
              <a:spcAft>
                <a:spcPts val="0"/>
              </a:spcAft>
            </a:pPr>
            <a:r>
              <a:rPr sz="1200" b="0">
                <a:solidFill>
                  <a:srgbClr val="142B45"/>
                </a:solidFill>
                <a:latin typeface="Arial"/>
                <a:ea typeface="Arial"/>
                <a:cs typeface="Arial"/>
              </a:rPr>
              <a:t>↓ EngineClient · DuplexOmni</a:t>
            </a:r>
          </a:p>
        </p:txBody>
      </p:sp>
      <p:sp>
        <p:nvSpPr>
          <p:cNvPr id="37" name="TextBox 36"/>
          <p:cNvSpPr txBox="1"/>
          <p:nvPr/>
        </p:nvSpPr>
        <p:spPr>
          <a:xfrm>
            <a:off x="914400" y="3968496"/>
            <a:ext cx="2468880" cy="228600"/>
          </a:xfrm>
          <a:prstGeom prst="rect">
            <a:avLst/>
          </a:prstGeom>
          <a:noFill/>
        </p:spPr>
        <p:txBody>
          <a:bodyPr wrap="square" lIns="0" rIns="0" tIns="0" bIns="0" anchor="t">
            <a:spAutoFit/>
          </a:bodyPr>
          <a:lstStyle/>
          <a:p>
            <a:pPr algn="l">
              <a:lnSpc>
                <a:spcPct val="110000"/>
              </a:lnSpc>
              <a:spcAft>
                <a:spcPts val="0"/>
              </a:spcAft>
            </a:pPr>
            <a:r>
              <a:rPr sz="1280" b="0">
                <a:solidFill>
                  <a:srgbClr val="142B45"/>
                </a:solidFill>
                <a:latin typeface="Arial"/>
                <a:ea typeface="Arial"/>
                <a:cs typeface="Arial"/>
              </a:rPr>
              <a:t>↓ DuplexOmniEngine</a:t>
            </a:r>
          </a:p>
        </p:txBody>
      </p:sp>
      <p:sp>
        <p:nvSpPr>
          <p:cNvPr id="38" name="TextBox 37"/>
          <p:cNvSpPr txBox="1"/>
          <p:nvPr/>
        </p:nvSpPr>
        <p:spPr>
          <a:xfrm>
            <a:off x="914400" y="4398264"/>
            <a:ext cx="2468880" cy="192024"/>
          </a:xfrm>
          <a:prstGeom prst="rect">
            <a:avLst/>
          </a:prstGeom>
          <a:noFill/>
        </p:spPr>
        <p:txBody>
          <a:bodyPr wrap="square" lIns="0" rIns="0" tIns="0" bIns="0" anchor="t">
            <a:spAutoFit/>
          </a:bodyPr>
          <a:lstStyle/>
          <a:p>
            <a:pPr algn="l">
              <a:lnSpc>
                <a:spcPct val="110000"/>
              </a:lnSpc>
              <a:spcAft>
                <a:spcPts val="0"/>
              </a:spcAft>
            </a:pPr>
            <a:r>
              <a:rPr sz="1019" b="0">
                <a:solidFill>
                  <a:srgbClr val="586B7E"/>
                </a:solidFill>
                <a:latin typeface="Arial"/>
                <a:ea typeface="Arial"/>
                <a:cs typeface="Arial"/>
              </a:rPr>
              <a:t>Protocol → handle → command / control</a:t>
            </a:r>
          </a:p>
        </p:txBody>
      </p:sp>
      <p:sp>
        <p:nvSpPr>
          <p:cNvPr id="39" name="TextBox 38"/>
          <p:cNvSpPr txBox="1"/>
          <p:nvPr/>
        </p:nvSpPr>
        <p:spPr>
          <a:xfrm>
            <a:off x="905256" y="5001768"/>
            <a:ext cx="2496312" cy="219456"/>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EngineClient → API Server</a:t>
            </a:r>
          </a:p>
        </p:txBody>
      </p:sp>
      <p:sp>
        <p:nvSpPr>
          <p:cNvPr id="40" name="TextBox 39"/>
          <p:cNvSpPr txBox="1"/>
          <p:nvPr/>
        </p:nvSpPr>
        <p:spPr>
          <a:xfrm>
            <a:off x="905256" y="5312664"/>
            <a:ext cx="2496312" cy="192024"/>
          </a:xfrm>
          <a:prstGeom prst="rect">
            <a:avLst/>
          </a:prstGeom>
          <a:noFill/>
        </p:spPr>
        <p:txBody>
          <a:bodyPr wrap="square" lIns="0" rIns="0" tIns="0" bIns="0" anchor="t">
            <a:spAutoFit/>
          </a:bodyPr>
          <a:lstStyle/>
          <a:p>
            <a:pPr algn="l">
              <a:lnSpc>
                <a:spcPct val="110000"/>
              </a:lnSpc>
              <a:spcAft>
                <a:spcPts val="0"/>
              </a:spcAft>
            </a:pPr>
            <a:r>
              <a:rPr sz="1040" b="0">
                <a:solidFill>
                  <a:srgbClr val="586B7E"/>
                </a:solidFill>
                <a:latin typeface="Arial"/>
                <a:ea typeface="Arial"/>
                <a:cs typeface="Arial"/>
              </a:rPr>
              <a:t>handle.events() → WebSocket</a:t>
            </a:r>
          </a:p>
        </p:txBody>
      </p:sp>
      <p:sp>
        <p:nvSpPr>
          <p:cNvPr id="41" name="TextBox 40"/>
          <p:cNvSpPr txBox="1"/>
          <p:nvPr/>
        </p:nvSpPr>
        <p:spPr>
          <a:xfrm>
            <a:off x="4956048" y="3273552"/>
            <a:ext cx="2880360" cy="237744"/>
          </a:xfrm>
          <a:prstGeom prst="rect">
            <a:avLst/>
          </a:prstGeom>
          <a:noFill/>
        </p:spPr>
        <p:txBody>
          <a:bodyPr wrap="square" lIns="0" rIns="0" tIns="0" bIns="0" anchor="t">
            <a:spAutoFit/>
          </a:bodyPr>
          <a:lstStyle/>
          <a:p>
            <a:pPr algn="l">
              <a:lnSpc>
                <a:spcPct val="110000"/>
              </a:lnSpc>
              <a:spcAft>
                <a:spcPts val="0"/>
              </a:spcAft>
            </a:pPr>
            <a:r>
              <a:rPr sz="1300" b="1">
                <a:solidFill>
                  <a:srgbClr val="327CEC"/>
                </a:solidFill>
                <a:latin typeface="Arial"/>
                <a:ea typeface="Arial"/>
                <a:cs typeface="Arial"/>
              </a:rPr>
              <a:t>Session Manager → Runner</a:t>
            </a:r>
          </a:p>
        </p:txBody>
      </p:sp>
      <p:sp>
        <p:nvSpPr>
          <p:cNvPr id="42" name="TextBox 41"/>
          <p:cNvSpPr txBox="1"/>
          <p:nvPr/>
        </p:nvSpPr>
        <p:spPr>
          <a:xfrm>
            <a:off x="4956048" y="3584448"/>
            <a:ext cx="2880360" cy="219456"/>
          </a:xfrm>
          <a:prstGeom prst="rect">
            <a:avLst/>
          </a:prstGeom>
          <a:noFill/>
        </p:spPr>
        <p:txBody>
          <a:bodyPr wrap="square" lIns="0" rIns="0" tIns="0" bIns="0" anchor="t">
            <a:spAutoFit/>
          </a:bodyPr>
          <a:lstStyle/>
          <a:p>
            <a:pPr algn="l">
              <a:lnSpc>
                <a:spcPct val="110000"/>
              </a:lnSpc>
              <a:spcAft>
                <a:spcPts val="0"/>
              </a:spcAft>
            </a:pPr>
            <a:r>
              <a:rPr sz="1110" b="0">
                <a:solidFill>
                  <a:srgbClr val="586B7E"/>
                </a:solidFill>
                <a:latin typeface="Arial"/>
                <a:ea typeface="Arial"/>
                <a:cs typeface="Arial"/>
              </a:rPr>
              <a:t>Ordered mailbox · session state</a:t>
            </a:r>
          </a:p>
        </p:txBody>
      </p:sp>
      <p:sp>
        <p:nvSpPr>
          <p:cNvPr id="43" name="TextBox 42"/>
          <p:cNvSpPr txBox="1"/>
          <p:nvPr/>
        </p:nvSpPr>
        <p:spPr>
          <a:xfrm>
            <a:off x="4956048" y="3941063"/>
            <a:ext cx="2880360" cy="228600"/>
          </a:xfrm>
          <a:prstGeom prst="rect">
            <a:avLst/>
          </a:prstGeom>
          <a:noFill/>
        </p:spPr>
        <p:txBody>
          <a:bodyPr wrap="square" lIns="0" rIns="0" tIns="0" bIns="0" anchor="t">
            <a:spAutoFit/>
          </a:bodyPr>
          <a:lstStyle/>
          <a:p>
            <a:pPr algn="l">
              <a:lnSpc>
                <a:spcPct val="110000"/>
              </a:lnSpc>
              <a:spcAft>
                <a:spcPts val="0"/>
              </a:spcAft>
            </a:pPr>
            <a:r>
              <a:rPr sz="1230" b="0">
                <a:solidFill>
                  <a:srgbClr val="142B45"/>
                </a:solidFill>
                <a:latin typeface="Arial"/>
                <a:ea typeface="Arial"/>
                <a:cs typeface="Arial"/>
              </a:rPr>
              <a:t>Model Plugin / ModelChannel</a:t>
            </a:r>
          </a:p>
        </p:txBody>
      </p:sp>
      <p:sp>
        <p:nvSpPr>
          <p:cNvPr id="44" name="TextBox 43"/>
          <p:cNvSpPr txBox="1"/>
          <p:nvPr/>
        </p:nvSpPr>
        <p:spPr>
          <a:xfrm>
            <a:off x="4956048" y="4361688"/>
            <a:ext cx="2880360" cy="219456"/>
          </a:xfrm>
          <a:prstGeom prst="rect">
            <a:avLst/>
          </a:prstGeom>
          <a:noFill/>
        </p:spPr>
        <p:txBody>
          <a:bodyPr wrap="square" lIns="0" rIns="0" tIns="0" bIns="0" anchor="t">
            <a:spAutoFit/>
          </a:bodyPr>
          <a:lstStyle/>
          <a:p>
            <a:pPr algn="l">
              <a:lnSpc>
                <a:spcPct val="110000"/>
              </a:lnSpc>
              <a:spcAft>
                <a:spcPts val="0"/>
              </a:spcAft>
            </a:pPr>
            <a:r>
              <a:rPr sz="1230" b="1">
                <a:solidFill>
                  <a:srgbClr val="142B45"/>
                </a:solidFill>
                <a:latin typeface="Arial"/>
                <a:ea typeface="Arial"/>
                <a:cs typeface="Arial"/>
              </a:rPr>
              <a:t>↓ StagePool → Stage client</a:t>
            </a:r>
          </a:p>
        </p:txBody>
      </p:sp>
      <p:sp>
        <p:nvSpPr>
          <p:cNvPr id="45" name="TextBox 44"/>
          <p:cNvSpPr txBox="1"/>
          <p:nvPr/>
        </p:nvSpPr>
        <p:spPr>
          <a:xfrm>
            <a:off x="4956048" y="5001768"/>
            <a:ext cx="2880360" cy="219456"/>
          </a:xfrm>
          <a:prstGeom prst="rect">
            <a:avLst/>
          </a:prstGeom>
          <a:noFill/>
        </p:spPr>
        <p:txBody>
          <a:bodyPr wrap="square" lIns="0" rIns="0" tIns="0" bIns="0" anchor="t">
            <a:spAutoFit/>
          </a:bodyPr>
          <a:lstStyle/>
          <a:p>
            <a:pPr algn="l">
              <a:lnSpc>
                <a:spcPct val="110000"/>
              </a:lnSpc>
              <a:spcAft>
                <a:spcPts val="0"/>
              </a:spcAft>
            </a:pPr>
            <a:r>
              <a:rPr sz="1190" b="1">
                <a:solidFill>
                  <a:srgbClr val="008E96"/>
                </a:solidFill>
                <a:latin typeface="Arial"/>
                <a:ea typeface="Arial"/>
                <a:cs typeface="Arial"/>
              </a:rPr>
              <a:t>StagePool → Runner / Plugin</a:t>
            </a:r>
          </a:p>
        </p:txBody>
      </p:sp>
      <p:sp>
        <p:nvSpPr>
          <p:cNvPr id="46" name="TextBox 45"/>
          <p:cNvSpPr txBox="1"/>
          <p:nvPr/>
        </p:nvSpPr>
        <p:spPr>
          <a:xfrm>
            <a:off x="4956048" y="5312664"/>
            <a:ext cx="2880360" cy="192024"/>
          </a:xfrm>
          <a:prstGeom prst="rect">
            <a:avLst/>
          </a:prstGeom>
          <a:noFill/>
        </p:spPr>
        <p:txBody>
          <a:bodyPr wrap="square" lIns="0" rIns="0" tIns="0" bIns="0" anchor="t">
            <a:spAutoFit/>
          </a:bodyPr>
          <a:lstStyle/>
          <a:p>
            <a:pPr algn="l">
              <a:lnSpc>
                <a:spcPct val="110000"/>
              </a:lnSpc>
              <a:spcAft>
                <a:spcPts val="0"/>
              </a:spcAft>
            </a:pPr>
            <a:r>
              <a:rPr sz="1050" b="0">
                <a:solidFill>
                  <a:srgbClr val="586B7E"/>
                </a:solidFill>
                <a:latin typeface="Arial"/>
                <a:ea typeface="Arial"/>
                <a:cs typeface="Arial"/>
              </a:rPr>
              <a:t>Manager.emit → shared session buffer</a:t>
            </a:r>
          </a:p>
        </p:txBody>
      </p:sp>
      <p:cxnSp>
        <p:nvCxnSpPr>
          <p:cNvPr id="54" name="Connector 53"/>
          <p:cNvCxnSpPr/>
          <p:nvPr/>
        </p:nvCxnSpPr>
        <p:spPr>
          <a:xfrm>
            <a:off x="3547872" y="3886200"/>
            <a:ext cx="1234440"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TextBox 54"/>
          <p:cNvSpPr txBox="1"/>
          <p:nvPr/>
        </p:nvSpPr>
        <p:spPr>
          <a:xfrm>
            <a:off x="3602736" y="3575304"/>
            <a:ext cx="1133856" cy="182880"/>
          </a:xfrm>
          <a:prstGeom prst="rect">
            <a:avLst/>
          </a:prstGeom>
          <a:noFill/>
        </p:spPr>
        <p:txBody>
          <a:bodyPr wrap="square" lIns="0" rIns="0" tIns="0" bIns="0" anchor="t">
            <a:spAutoFit/>
          </a:bodyPr>
          <a:lstStyle/>
          <a:p>
            <a:pPr algn="ctr">
              <a:lnSpc>
                <a:spcPct val="110000"/>
              </a:lnSpc>
              <a:spcAft>
                <a:spcPts val="0"/>
              </a:spcAft>
            </a:pPr>
            <a:r>
              <a:rPr sz="960" b="1">
                <a:solidFill>
                  <a:srgbClr val="327CEC"/>
                </a:solidFill>
                <a:latin typeface="Arial"/>
                <a:ea typeface="Arial"/>
                <a:cs typeface="Arial"/>
              </a:rPr>
              <a:t>request_queue</a:t>
            </a:r>
          </a:p>
        </p:txBody>
      </p:sp>
      <p:sp>
        <p:nvSpPr>
          <p:cNvPr id="56" name="TextBox 55"/>
          <p:cNvSpPr txBox="1"/>
          <p:nvPr/>
        </p:nvSpPr>
        <p:spPr>
          <a:xfrm>
            <a:off x="3602736" y="4014215"/>
            <a:ext cx="1133856" cy="182880"/>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Janus · requests</a:t>
            </a:r>
          </a:p>
        </p:txBody>
      </p:sp>
      <p:cxnSp>
        <p:nvCxnSpPr>
          <p:cNvPr id="57" name="Connector 56"/>
          <p:cNvCxnSpPr/>
          <p:nvPr/>
        </p:nvCxnSpPr>
        <p:spPr>
          <a:xfrm flipH="1">
            <a:off x="3547872" y="5212080"/>
            <a:ext cx="1234440"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8" name="TextBox 57"/>
          <p:cNvSpPr txBox="1"/>
          <p:nvPr/>
        </p:nvSpPr>
        <p:spPr>
          <a:xfrm>
            <a:off x="3602736" y="4910328"/>
            <a:ext cx="1133856" cy="182880"/>
          </a:xfrm>
          <a:prstGeom prst="rect">
            <a:avLst/>
          </a:prstGeom>
          <a:noFill/>
        </p:spPr>
        <p:txBody>
          <a:bodyPr wrap="square" lIns="0" rIns="0" tIns="0" bIns="0" anchor="t">
            <a:spAutoFit/>
          </a:bodyPr>
          <a:lstStyle/>
          <a:p>
            <a:pPr algn="ctr">
              <a:lnSpc>
                <a:spcPct val="110000"/>
              </a:lnSpc>
              <a:spcAft>
                <a:spcPts val="0"/>
              </a:spcAft>
            </a:pPr>
            <a:r>
              <a:rPr sz="960" b="1">
                <a:solidFill>
                  <a:srgbClr val="008E96"/>
                </a:solidFill>
                <a:latin typeface="Arial"/>
                <a:ea typeface="Arial"/>
                <a:cs typeface="Arial"/>
              </a:rPr>
              <a:t>session buffer</a:t>
            </a:r>
          </a:p>
        </p:txBody>
      </p:sp>
      <p:sp>
        <p:nvSpPr>
          <p:cNvPr id="59" name="TextBox 58"/>
          <p:cNvSpPr txBox="1"/>
          <p:nvPr/>
        </p:nvSpPr>
        <p:spPr>
          <a:xfrm>
            <a:off x="3602736" y="5330952"/>
            <a:ext cx="1133856" cy="182880"/>
          </a:xfrm>
          <a:prstGeom prst="rect">
            <a:avLst/>
          </a:prstGeom>
          <a:noFill/>
        </p:spPr>
        <p:txBody>
          <a:bodyPr wrap="square" lIns="0" rIns="0" tIns="0" bIns="0" anchor="t">
            <a:spAutoFit/>
          </a:bodyPr>
          <a:lstStyle/>
          <a:p>
            <a:pPr algn="ctr">
              <a:lnSpc>
                <a:spcPct val="110000"/>
              </a:lnSpc>
              <a:spcAft>
                <a:spcPts val="0"/>
              </a:spcAft>
            </a:pPr>
            <a:r>
              <a:rPr sz="869" b="0">
                <a:solidFill>
                  <a:srgbClr val="586B7E"/>
                </a:solidFill>
                <a:latin typeface="Arial"/>
                <a:ea typeface="Arial"/>
                <a:cs typeface="Arial"/>
              </a:rPr>
              <a:t>bounded · direct</a:t>
            </a:r>
          </a:p>
        </p:txBody>
      </p:sp>
      <p:sp>
        <p:nvSpPr>
          <p:cNvPr id="64" name="TextBox 63"/>
          <p:cNvSpPr txBox="1"/>
          <p:nvPr/>
        </p:nvSpPr>
        <p:spPr>
          <a:xfrm>
            <a:off x="777240" y="5952744"/>
            <a:ext cx="2432304" cy="256032"/>
          </a:xfrm>
          <a:prstGeom prst="rect">
            <a:avLst/>
          </a:prstGeom>
          <a:noFill/>
        </p:spPr>
        <p:txBody>
          <a:bodyPr wrap="square" lIns="0" rIns="0" tIns="0" bIns="0" anchor="t">
            <a:spAutoFit/>
          </a:bodyPr>
          <a:lstStyle/>
          <a:p>
            <a:pPr algn="l">
              <a:lnSpc>
                <a:spcPct val="110000"/>
              </a:lnSpc>
              <a:spcAft>
                <a:spcPts val="0"/>
              </a:spcAft>
            </a:pPr>
            <a:r>
              <a:rPr sz="1250" b="1">
                <a:solidFill>
                  <a:srgbClr val="142B45"/>
                </a:solidFill>
                <a:latin typeface="Arial"/>
                <a:ea typeface="Arial"/>
                <a:cs typeface="Arial"/>
              </a:rPr>
              <a:t>PersonaPlex example</a:t>
            </a:r>
          </a:p>
        </p:txBody>
      </p:sp>
      <p:sp>
        <p:nvSpPr>
          <p:cNvPr id="65" name="TextBox 64"/>
          <p:cNvSpPr txBox="1"/>
          <p:nvPr/>
        </p:nvSpPr>
        <p:spPr>
          <a:xfrm>
            <a:off x="3300984" y="5925312"/>
            <a:ext cx="2286000" cy="274320"/>
          </a:xfrm>
          <a:prstGeom prst="rect">
            <a:avLst/>
          </a:prstGeom>
          <a:noFill/>
        </p:spPr>
        <p:txBody>
          <a:bodyPr wrap="square" lIns="0" rIns="0" tIns="0" bIns="0" anchor="t">
            <a:spAutoFit/>
          </a:bodyPr>
          <a:lstStyle/>
          <a:p>
            <a:pPr algn="ctr">
              <a:lnSpc>
                <a:spcPct val="110000"/>
              </a:lnSpc>
              <a:spcAft>
                <a:spcPts val="0"/>
              </a:spcAft>
            </a:pPr>
            <a:r>
              <a:rPr sz="1400" b="1">
                <a:solidFill>
                  <a:srgbClr val="142B45"/>
                </a:solidFill>
                <a:latin typeface="Arial"/>
                <a:ea typeface="Arial"/>
                <a:cs typeface="Arial"/>
              </a:rPr>
              <a:t>Talker · Stage 0</a:t>
            </a:r>
          </a:p>
        </p:txBody>
      </p:sp>
      <p:sp>
        <p:nvSpPr>
          <p:cNvPr id="67" name="TextBox 66"/>
          <p:cNvSpPr txBox="1"/>
          <p:nvPr/>
        </p:nvSpPr>
        <p:spPr>
          <a:xfrm>
            <a:off x="9052560" y="5925312"/>
            <a:ext cx="2286000" cy="274320"/>
          </a:xfrm>
          <a:prstGeom prst="rect">
            <a:avLst/>
          </a:prstGeom>
          <a:noFill/>
        </p:spPr>
        <p:txBody>
          <a:bodyPr wrap="square" lIns="0" rIns="0" tIns="0" bIns="0" anchor="t">
            <a:spAutoFit/>
          </a:bodyPr>
          <a:lstStyle/>
          <a:p>
            <a:pPr algn="ctr">
              <a:lnSpc>
                <a:spcPct val="110000"/>
              </a:lnSpc>
              <a:spcAft>
                <a:spcPts val="0"/>
              </a:spcAft>
            </a:pPr>
            <a:r>
              <a:rPr sz="1400" b="1">
                <a:solidFill>
                  <a:srgbClr val="142B45"/>
                </a:solidFill>
                <a:latin typeface="Arial"/>
                <a:ea typeface="Arial"/>
                <a:cs typeface="Arial"/>
              </a:rPr>
              <a:t>Mimi Code2Wav · Stage 1</a:t>
            </a:r>
          </a:p>
        </p:txBody>
      </p:sp>
      <p:cxnSp>
        <p:nvCxnSpPr>
          <p:cNvPr id="68" name="Connector 67"/>
          <p:cNvCxnSpPr/>
          <p:nvPr/>
        </p:nvCxnSpPr>
        <p:spPr>
          <a:xfrm>
            <a:off x="5742432" y="6080760"/>
            <a:ext cx="3081528" cy="0"/>
          </a:xfrm>
          <a:prstGeom prst="line">
            <a:avLst/>
          </a:prstGeom>
          <a:ln w="16510">
            <a:solidFill>
              <a:srgbClr val="327CEC"/>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71" name="TextBox 70"/>
          <p:cNvSpPr txBox="1"/>
          <p:nvPr/>
        </p:nvSpPr>
        <p:spPr>
          <a:xfrm>
            <a:off x="5577840" y="6236208"/>
            <a:ext cx="3383280" cy="155448"/>
          </a:xfrm>
          <a:prstGeom prst="rect">
            <a:avLst/>
          </a:prstGeom>
          <a:noFill/>
        </p:spPr>
        <p:txBody>
          <a:bodyPr wrap="square" lIns="0" rIns="0" tIns="0" bIns="0" anchor="t">
            <a:spAutoFit/>
          </a:bodyPr>
          <a:lstStyle/>
          <a:p>
            <a:pPr algn="ctr">
              <a:lnSpc>
                <a:spcPct val="110000"/>
              </a:lnSpc>
              <a:spcAft>
                <a:spcPts val="0"/>
              </a:spcAft>
            </a:pPr>
            <a:r>
              <a:rPr sz="840" b="0">
                <a:solidFill>
                  <a:srgbClr val="7855AD"/>
                </a:solidFill>
                <a:latin typeface="Arial"/>
                <a:ea typeface="Arial"/>
                <a:cs typeface="Arial"/>
              </a:rPr>
              <a:t>Local shared-memory audio codes</a:t>
            </a:r>
          </a:p>
        </p:txBody>
      </p:sp>
      <p:sp>
        <p:nvSpPr>
          <p:cNvPr id="72" name="TextBox 71"/>
          <p:cNvSpPr txBox="1"/>
          <p:nvPr/>
        </p:nvSpPr>
        <p:spPr>
          <a:xfrm>
            <a:off x="4846320" y="2450592"/>
            <a:ext cx="333756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StagePool: select one · request affinity</a:t>
            </a:r>
          </a:p>
        </p:txBody>
      </p:sp>
      <p:sp>
        <p:nvSpPr>
          <p:cNvPr id="73" name="Rounded Rectangle 72"/>
          <p:cNvSpPr/>
          <p:nvPr/>
        </p:nvSpPr>
        <p:spPr>
          <a:xfrm>
            <a:off x="8503920" y="2670048"/>
            <a:ext cx="3127248" cy="3090672"/>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8659368" y="2816352"/>
            <a:ext cx="2807208" cy="228600"/>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One stage · replica processes</a:t>
            </a:r>
          </a:p>
        </p:txBody>
      </p:sp>
      <p:sp>
        <p:nvSpPr>
          <p:cNvPr id="75" name="Rounded Rectangle 74"/>
          <p:cNvSpPr/>
          <p:nvPr/>
        </p:nvSpPr>
        <p:spPr>
          <a:xfrm>
            <a:off x="8668512" y="3136392"/>
            <a:ext cx="2578608" cy="676656"/>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TextBox 75"/>
          <p:cNvSpPr txBox="1"/>
          <p:nvPr/>
        </p:nvSpPr>
        <p:spPr>
          <a:xfrm>
            <a:off x="8787384" y="3236976"/>
            <a:ext cx="2368296" cy="228600"/>
          </a:xfrm>
          <a:prstGeom prst="rect">
            <a:avLst/>
          </a:prstGeom>
          <a:noFill/>
        </p:spPr>
        <p:txBody>
          <a:bodyPr wrap="square" lIns="0" rIns="0" tIns="0" bIns="0" anchor="t">
            <a:spAutoFit/>
          </a:bodyPr>
          <a:lstStyle/>
          <a:p>
            <a:pPr algn="l">
              <a:lnSpc>
                <a:spcPct val="110000"/>
              </a:lnSpc>
              <a:spcAft>
                <a:spcPts val="0"/>
              </a:spcAft>
            </a:pPr>
            <a:r>
              <a:rPr sz="1230" b="1">
                <a:solidFill>
                  <a:srgbClr val="327CEC"/>
                </a:solidFill>
                <a:latin typeface="Arial"/>
                <a:ea typeface="Arial"/>
                <a:cs typeface="Arial"/>
              </a:rPr>
              <a:t>Replica 0 · EngineCore</a:t>
            </a:r>
          </a:p>
        </p:txBody>
      </p:sp>
      <p:sp>
        <p:nvSpPr>
          <p:cNvPr id="77" name="TextBox 76"/>
          <p:cNvSpPr txBox="1"/>
          <p:nvPr/>
        </p:nvSpPr>
        <p:spPr>
          <a:xfrm>
            <a:off x="8787384" y="3547872"/>
            <a:ext cx="2368296" cy="182880"/>
          </a:xfrm>
          <a:prstGeom prst="rect">
            <a:avLst/>
          </a:prstGeom>
          <a:noFill/>
        </p:spPr>
        <p:txBody>
          <a:bodyPr wrap="square" lIns="0" rIns="0" tIns="0" bIns="0" anchor="t">
            <a:spAutoFit/>
          </a:bodyPr>
          <a:lstStyle/>
          <a:p>
            <a:pPr algn="l">
              <a:lnSpc>
                <a:spcPct val="110000"/>
              </a:lnSpc>
              <a:spcAft>
                <a:spcPts val="0"/>
              </a:spcAft>
            </a:pPr>
            <a:r>
              <a:rPr sz="1030" b="0">
                <a:solidFill>
                  <a:srgbClr val="586B7E"/>
                </a:solidFill>
                <a:latin typeface="Arial"/>
                <a:ea typeface="Arial"/>
                <a:cs typeface="Arial"/>
              </a:rPr>
              <a:t>Scheduler → GPU Worker</a:t>
            </a:r>
          </a:p>
        </p:txBody>
      </p:sp>
      <p:cxnSp>
        <p:nvCxnSpPr>
          <p:cNvPr id="78" name="Connector 77"/>
          <p:cNvCxnSpPr/>
          <p:nvPr/>
        </p:nvCxnSpPr>
        <p:spPr>
          <a:xfrm>
            <a:off x="11256264" y="3474720"/>
            <a:ext cx="256032"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sp>
        <p:nvSpPr>
          <p:cNvPr id="79" name="Rounded Rectangle 78"/>
          <p:cNvSpPr/>
          <p:nvPr/>
        </p:nvSpPr>
        <p:spPr>
          <a:xfrm>
            <a:off x="8668512" y="3931920"/>
            <a:ext cx="2578608" cy="676656"/>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TextBox 79"/>
          <p:cNvSpPr txBox="1"/>
          <p:nvPr/>
        </p:nvSpPr>
        <p:spPr>
          <a:xfrm>
            <a:off x="8787384" y="4032504"/>
            <a:ext cx="2368296" cy="228600"/>
          </a:xfrm>
          <a:prstGeom prst="rect">
            <a:avLst/>
          </a:prstGeom>
          <a:noFill/>
        </p:spPr>
        <p:txBody>
          <a:bodyPr wrap="square" lIns="0" rIns="0" tIns="0" bIns="0" anchor="t">
            <a:spAutoFit/>
          </a:bodyPr>
          <a:lstStyle/>
          <a:p>
            <a:pPr algn="l">
              <a:lnSpc>
                <a:spcPct val="110000"/>
              </a:lnSpc>
              <a:spcAft>
                <a:spcPts val="0"/>
              </a:spcAft>
            </a:pPr>
            <a:r>
              <a:rPr sz="1230" b="1">
                <a:solidFill>
                  <a:srgbClr val="327CEC"/>
                </a:solidFill>
                <a:latin typeface="Arial"/>
                <a:ea typeface="Arial"/>
                <a:cs typeface="Arial"/>
              </a:rPr>
              <a:t>Replica 1 · EngineCore</a:t>
            </a:r>
          </a:p>
        </p:txBody>
      </p:sp>
      <p:sp>
        <p:nvSpPr>
          <p:cNvPr id="81" name="TextBox 80"/>
          <p:cNvSpPr txBox="1"/>
          <p:nvPr/>
        </p:nvSpPr>
        <p:spPr>
          <a:xfrm>
            <a:off x="8787384" y="4343400"/>
            <a:ext cx="2368296" cy="182880"/>
          </a:xfrm>
          <a:prstGeom prst="rect">
            <a:avLst/>
          </a:prstGeom>
          <a:noFill/>
        </p:spPr>
        <p:txBody>
          <a:bodyPr wrap="square" lIns="0" rIns="0" tIns="0" bIns="0" anchor="t">
            <a:spAutoFit/>
          </a:bodyPr>
          <a:lstStyle/>
          <a:p>
            <a:pPr algn="l">
              <a:lnSpc>
                <a:spcPct val="110000"/>
              </a:lnSpc>
              <a:spcAft>
                <a:spcPts val="0"/>
              </a:spcAft>
            </a:pPr>
            <a:r>
              <a:rPr sz="1030" b="0">
                <a:solidFill>
                  <a:srgbClr val="586B7E"/>
                </a:solidFill>
                <a:latin typeface="Arial"/>
                <a:ea typeface="Arial"/>
                <a:cs typeface="Arial"/>
              </a:rPr>
              <a:t>Scheduler → GPU Worker</a:t>
            </a:r>
          </a:p>
        </p:txBody>
      </p:sp>
      <p:cxnSp>
        <p:nvCxnSpPr>
          <p:cNvPr id="82" name="Connector 81"/>
          <p:cNvCxnSpPr/>
          <p:nvPr/>
        </p:nvCxnSpPr>
        <p:spPr>
          <a:xfrm>
            <a:off x="11256264" y="4270248"/>
            <a:ext cx="256032"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3" name="Connector 82"/>
          <p:cNvCxnSpPr/>
          <p:nvPr/>
        </p:nvCxnSpPr>
        <p:spPr>
          <a:xfrm>
            <a:off x="11512296" y="3474720"/>
            <a:ext cx="0" cy="128016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4" name="Connector 83"/>
          <p:cNvCxnSpPr/>
          <p:nvPr/>
        </p:nvCxnSpPr>
        <p:spPr>
          <a:xfrm flipH="1">
            <a:off x="10076688" y="4754880"/>
            <a:ext cx="1435608"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5" name="Connector 84"/>
          <p:cNvCxnSpPr/>
          <p:nvPr/>
        </p:nvCxnSpPr>
        <p:spPr>
          <a:xfrm>
            <a:off x="10076688" y="4754880"/>
            <a:ext cx="0" cy="109728"/>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6" name="Rounded Rectangle 85"/>
          <p:cNvSpPr/>
          <p:nvPr/>
        </p:nvSpPr>
        <p:spPr>
          <a:xfrm>
            <a:off x="8668512" y="4882896"/>
            <a:ext cx="2798064"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TextBox 86"/>
          <p:cNvSpPr txBox="1"/>
          <p:nvPr/>
        </p:nvSpPr>
        <p:spPr>
          <a:xfrm>
            <a:off x="8814816" y="5001768"/>
            <a:ext cx="2514600" cy="219456"/>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EngineCoreOutputs</a:t>
            </a:r>
          </a:p>
        </p:txBody>
      </p:sp>
      <p:sp>
        <p:nvSpPr>
          <p:cNvPr id="88" name="TextBox 87"/>
          <p:cNvSpPr txBox="1"/>
          <p:nvPr/>
        </p:nvSpPr>
        <p:spPr>
          <a:xfrm>
            <a:off x="8814816" y="5312664"/>
            <a:ext cx="2514600" cy="192024"/>
          </a:xfrm>
          <a:prstGeom prst="rect">
            <a:avLst/>
          </a:prstGeom>
          <a:noFill/>
        </p:spPr>
        <p:txBody>
          <a:bodyPr wrap="square" lIns="0" rIns="0" tIns="0" bIns="0" anchor="t">
            <a:spAutoFit/>
          </a:bodyPr>
          <a:lstStyle/>
          <a:p>
            <a:pPr algn="l">
              <a:lnSpc>
                <a:spcPct val="110000"/>
              </a:lnSpc>
              <a:spcAft>
                <a:spcPts val="0"/>
              </a:spcAft>
            </a:pPr>
            <a:r>
              <a:rPr sz="940" b="0">
                <a:solidFill>
                  <a:srgbClr val="586B7E"/>
                </a:solidFill>
                <a:latin typeface="Arial"/>
                <a:ea typeface="Arial"/>
                <a:cs typeface="Arial"/>
              </a:rPr>
              <a:t>Replicas can run on local or remote nodes</a:t>
            </a:r>
          </a:p>
        </p:txBody>
      </p:sp>
      <p:cxnSp>
        <p:nvCxnSpPr>
          <p:cNvPr id="89" name="Connector 88"/>
          <p:cNvCxnSpPr/>
          <p:nvPr/>
        </p:nvCxnSpPr>
        <p:spPr>
          <a:xfrm>
            <a:off x="8019288" y="3886200"/>
            <a:ext cx="393192" cy="0"/>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90" name="Connector 89"/>
          <p:cNvCxnSpPr/>
          <p:nvPr/>
        </p:nvCxnSpPr>
        <p:spPr>
          <a:xfrm>
            <a:off x="8412480" y="3474720"/>
            <a:ext cx="0" cy="795528"/>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91" name="Connector 90"/>
          <p:cNvCxnSpPr/>
          <p:nvPr/>
        </p:nvCxnSpPr>
        <p:spPr>
          <a:xfrm>
            <a:off x="8412480" y="3474720"/>
            <a:ext cx="237744"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92" name="Connector 91"/>
          <p:cNvCxnSpPr/>
          <p:nvPr/>
        </p:nvCxnSpPr>
        <p:spPr>
          <a:xfrm>
            <a:off x="8412480" y="4270248"/>
            <a:ext cx="237744"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93" name="TextBox 92"/>
          <p:cNvSpPr txBox="1"/>
          <p:nvPr/>
        </p:nvSpPr>
        <p:spPr>
          <a:xfrm>
            <a:off x="8037575" y="3621024"/>
            <a:ext cx="466344" cy="182880"/>
          </a:xfrm>
          <a:prstGeom prst="rect">
            <a:avLst/>
          </a:prstGeom>
          <a:noFill/>
        </p:spPr>
        <p:txBody>
          <a:bodyPr wrap="square" lIns="0" rIns="0" tIns="0" bIns="0" anchor="t">
            <a:spAutoFit/>
          </a:bodyPr>
          <a:lstStyle/>
          <a:p>
            <a:pPr algn="ctr">
              <a:lnSpc>
                <a:spcPct val="110000"/>
              </a:lnSpc>
              <a:spcAft>
                <a:spcPts val="0"/>
              </a:spcAft>
            </a:pPr>
            <a:r>
              <a:rPr sz="900" b="1">
                <a:solidFill>
                  <a:srgbClr val="327CEC"/>
                </a:solidFill>
                <a:latin typeface="Arial"/>
                <a:ea typeface="Arial"/>
                <a:cs typeface="Arial"/>
              </a:rPr>
              <a:t>ZMQ</a:t>
            </a:r>
          </a:p>
        </p:txBody>
      </p:sp>
      <p:cxnSp>
        <p:nvCxnSpPr>
          <p:cNvPr id="94" name="Connector 93"/>
          <p:cNvCxnSpPr/>
          <p:nvPr/>
        </p:nvCxnSpPr>
        <p:spPr>
          <a:xfrm flipH="1">
            <a:off x="8019288" y="5212080"/>
            <a:ext cx="621792"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95" name="TextBox 94"/>
          <p:cNvSpPr txBox="1"/>
          <p:nvPr/>
        </p:nvSpPr>
        <p:spPr>
          <a:xfrm>
            <a:off x="8083296" y="5340096"/>
            <a:ext cx="493776" cy="182880"/>
          </a:xfrm>
          <a:prstGeom prst="rect">
            <a:avLst/>
          </a:prstGeom>
          <a:noFill/>
        </p:spPr>
        <p:txBody>
          <a:bodyPr wrap="square" lIns="0" rIns="0" tIns="0" bIns="0" anchor="t">
            <a:spAutoFit/>
          </a:bodyPr>
          <a:lstStyle/>
          <a:p>
            <a:pPr algn="ctr">
              <a:lnSpc>
                <a:spcPct val="110000"/>
              </a:lnSpc>
              <a:spcAft>
                <a:spcPts val="0"/>
              </a:spcAft>
            </a:pPr>
            <a:r>
              <a:rPr sz="950" b="1">
                <a:solidFill>
                  <a:srgbClr val="008E96"/>
                </a:solidFill>
                <a:latin typeface="Arial"/>
                <a:ea typeface="Arial"/>
                <a:cs typeface="Arial"/>
              </a:rPr>
              <a:t>ZMQ</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SESSION CONTROL</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a:solidFill>
                  <a:srgbClr val="142B45"/>
                </a:solidFill>
                <a:latin typeface="Arial"/>
                <a:ea typeface="Arial"/>
                <a:cs typeface="Arial"/>
              </a:rPr>
              <a:t>Acoustic VAD vs. Semantic VAD</a:t>
            </a:r>
          </a:p>
        </p:txBody>
      </p:sp>
      <p:sp>
        <p:nvSpPr>
          <p:cNvPr id="7" name="TextBox 6"/>
          <p:cNvSpPr txBox="1"/>
          <p:nvPr/>
        </p:nvSpPr>
        <p:spPr>
          <a:xfrm>
            <a:off x="576072" y="1627632"/>
            <a:ext cx="10972800" cy="265176"/>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Often combined: acoustic VAD finds a pause; a turn-end detector checks whether the user has finished.</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A3</a:t>
            </a:r>
          </a:p>
        </p:txBody>
      </p:sp>
      <p:graphicFrame>
        <p:nvGraphicFramePr>
          <p:cNvPr id="200" name="Acoustic and Semantic VAD comparison"/>
          <p:cNvGraphicFramePr/>
          <p:nvPr/>
        </p:nvGraphicFramePr>
        <p:xfrm>
          <a:off x="548640" y="2057400"/>
          <a:ext cx="11082528" cy="3044952"/>
        </p:xfrm>
        <a:graphic>
          <a:graphicData uri="http://schemas.openxmlformats.org/drawingml/2006/table">
            <a:tbl>
              <a:tblPr firstRow="0" bandRow="0"/>
              <a:tblGrid>
                <a:gridCol w="1920240"/>
                <a:gridCol w="4581144"/>
                <a:gridCol w="4581144"/>
              </a:tblGrid>
              <a:tr h="493776">
                <a:tc>
                  <a:txBody>
                    <a:bodyPr wrap="square">
                      <a:noAutofit/>
                    </a:bodyPr>
                    <a:lstStyle/>
                    <a:p>
                      <a:pPr algn="l">
                        <a:lnSpc>
                          <a:spcPct val="106000"/>
                        </a:lnSpc>
                        <a:spcAft>
                          <a:spcPts val="0"/>
                        </a:spcAft>
                      </a:pPr>
                      <a:r>
                        <a:rPr sz="1350" b="1">
                          <a:solidFill>
                            <a:srgbClr val="FFFFFF"/>
                          </a:solidFill>
                          <a:latin typeface="Arial"/>
                          <a:ea typeface="Arial"/>
                          <a:cs typeface="Arial"/>
                        </a:rPr>
                        <a:t>COMPARISON</a:t>
                      </a:r>
                    </a:p>
                  </a:txBody>
                  <a:tcPr marL="164592" marR="128016" marT="50292" marB="50292" anchor="ctr">
                    <a:lnL w="0">
                      <a:noFill/>
                    </a:lnL>
                    <a:lnR w="0">
                      <a:noFill/>
                    </a:lnR>
                    <a:lnT w="0">
                      <a:noFill/>
                    </a:lnT>
                    <a:lnB w="25400">
                      <a:solidFill>
                        <a:srgbClr val="FFFFFF"/>
                      </a:solidFill>
                    </a:lnB>
                    <a:solidFill>
                      <a:srgbClr val="16304E"/>
                    </a:solidFill>
                  </a:tcPr>
                </a:tc>
                <a:tc>
                  <a:txBody>
                    <a:bodyPr wrap="square">
                      <a:noAutofit/>
                    </a:bodyPr>
                    <a:lstStyle/>
                    <a:p>
                      <a:pPr algn="l">
                        <a:lnSpc>
                          <a:spcPct val="106000"/>
                        </a:lnSpc>
                        <a:spcAft>
                          <a:spcPts val="0"/>
                        </a:spcAft>
                      </a:pPr>
                      <a:r>
                        <a:rPr sz="1350" b="1">
                          <a:solidFill>
                            <a:srgbClr val="FFFFFF"/>
                          </a:solidFill>
                          <a:latin typeface="Arial"/>
                          <a:ea typeface="Arial"/>
                          <a:cs typeface="Arial"/>
                        </a:rPr>
                        <a:t>Acoustic VAD</a:t>
                      </a:r>
                    </a:p>
                  </a:txBody>
                  <a:tcPr marL="164592" marR="128016" marT="50292" marB="50292" anchor="ctr">
                    <a:lnL w="0">
                      <a:noFill/>
                    </a:lnL>
                    <a:lnR w="0">
                      <a:noFill/>
                    </a:lnR>
                    <a:lnT w="0">
                      <a:noFill/>
                    </a:lnT>
                    <a:lnB w="25400">
                      <a:solidFill>
                        <a:srgbClr val="FFFFFF"/>
                      </a:solidFill>
                    </a:lnB>
                    <a:solidFill>
                      <a:srgbClr val="16304E"/>
                    </a:solidFill>
                  </a:tcPr>
                </a:tc>
                <a:tc>
                  <a:txBody>
                    <a:bodyPr wrap="square">
                      <a:noAutofit/>
                    </a:bodyPr>
                    <a:lstStyle/>
                    <a:p>
                      <a:pPr algn="l">
                        <a:lnSpc>
                          <a:spcPct val="106000"/>
                        </a:lnSpc>
                        <a:spcAft>
                          <a:spcPts val="0"/>
                        </a:spcAft>
                      </a:pPr>
                      <a:r>
                        <a:rPr sz="1350" b="1">
                          <a:solidFill>
                            <a:srgbClr val="FFFFFF"/>
                          </a:solidFill>
                          <a:latin typeface="Arial"/>
                          <a:ea typeface="Arial"/>
                          <a:cs typeface="Arial"/>
                        </a:rPr>
                        <a:t>Semantic VAD</a:t>
                      </a:r>
                    </a:p>
                    <a:p>
                      <a:pPr algn="l">
                        <a:lnSpc>
                          <a:spcPct val="106000"/>
                        </a:lnSpc>
                        <a:spcAft>
                          <a:spcPts val="0"/>
                        </a:spcAft>
                      </a:pPr>
                      <a:r>
                        <a:rPr sz="900" b="1">
                          <a:solidFill>
                            <a:srgbClr val="F4CF91"/>
                          </a:solidFill>
                          <a:latin typeface="Arial"/>
                          <a:ea typeface="Arial"/>
                          <a:cs typeface="Arial"/>
                        </a:rPr>
                        <a:t>PROPOSED EXTENSION</a:t>
                      </a:r>
                    </a:p>
                  </a:txBody>
                  <a:tcPr marL="164592" marR="128016" marT="50292" marB="50292" anchor="ctr">
                    <a:lnL w="0">
                      <a:noFill/>
                    </a:lnL>
                    <a:lnR w="0">
                      <a:noFill/>
                    </a:lnR>
                    <a:lnT w="0">
                      <a:noFill/>
                    </a:lnT>
                    <a:lnB w="25400">
                      <a:solidFill>
                        <a:srgbClr val="FFFFFF"/>
                      </a:solidFill>
                    </a:lnB>
                    <a:solidFill>
                      <a:srgbClr val="16304E"/>
                    </a:solidFill>
                  </a:tcPr>
                </a:tc>
              </a:tr>
              <a:tr h="630936">
                <a:tc>
                  <a:txBody>
                    <a:bodyPr wrap="square">
                      <a:noAutofit/>
                    </a:bodyPr>
                    <a:lstStyle/>
                    <a:p>
                      <a:pPr algn="l">
                        <a:lnSpc>
                          <a:spcPct val="106000"/>
                        </a:lnSpc>
                        <a:spcAft>
                          <a:spcPts val="0"/>
                        </a:spcAft>
                      </a:pPr>
                      <a:r>
                        <a:rPr sz="1350" b="1">
                          <a:solidFill>
                            <a:srgbClr val="16304E"/>
                          </a:solidFill>
                          <a:latin typeface="Arial"/>
                          <a:ea typeface="Arial"/>
                          <a:cs typeface="Arial"/>
                        </a:rPr>
                        <a:t>Decision signal</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Speech activity + a configured</a:t>
                      </a:r>
                    </a:p>
                    <a:p>
                      <a:pPr algn="l">
                        <a:lnSpc>
                          <a:spcPct val="106000"/>
                        </a:lnSpc>
                        <a:spcAft>
                          <a:spcPts val="0"/>
                        </a:spcAft>
                      </a:pPr>
                      <a:r>
                        <a:rPr sz="1420" b="0">
                          <a:solidFill>
                            <a:srgbClr val="16304E"/>
                          </a:solidFill>
                          <a:latin typeface="Arial"/>
                          <a:ea typeface="Arial"/>
                          <a:cs typeface="Arial"/>
                        </a:rPr>
                        <a:t>silence duration</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Meaning and context</a:t>
                      </a:r>
                    </a:p>
                    <a:p>
                      <a:pPr algn="l">
                        <a:lnSpc>
                          <a:spcPct val="106000"/>
                        </a:lnSpc>
                        <a:spcAft>
                          <a:spcPts val="0"/>
                        </a:spcAft>
                      </a:pPr>
                      <a:r>
                        <a:rPr sz="1420" b="0">
                          <a:solidFill>
                            <a:srgbClr val="16304E"/>
                          </a:solidFill>
                          <a:latin typeface="Arial"/>
                          <a:ea typeface="Arial"/>
                          <a:cs typeface="Arial"/>
                        </a:rPr>
                        <a:t>Audio models can also use prosody</a:t>
                      </a:r>
                    </a:p>
                  </a:txBody>
                  <a:tcPr marL="164592" marR="128016" marT="50292" marB="50292" anchor="ctr">
                    <a:lnL w="0">
                      <a:noFill/>
                    </a:lnL>
                    <a:lnR w="0">
                      <a:noFill/>
                    </a:lnR>
                    <a:lnT w="0">
                      <a:noFill/>
                    </a:lnT>
                    <a:lnB w="25400">
                      <a:solidFill>
                        <a:srgbClr val="FFFFFF"/>
                      </a:solidFill>
                    </a:lnB>
                    <a:solidFill>
                      <a:srgbClr val="F3F6FA"/>
                    </a:solidFill>
                  </a:tcPr>
                </a:tc>
              </a:tr>
              <a:tr h="630936">
                <a:tc>
                  <a:txBody>
                    <a:bodyPr wrap="square">
                      <a:noAutofit/>
                    </a:bodyPr>
                    <a:lstStyle/>
                    <a:p>
                      <a:pPr algn="l">
                        <a:lnSpc>
                          <a:spcPct val="106000"/>
                        </a:lnSpc>
                        <a:spcAft>
                          <a:spcPts val="0"/>
                        </a:spcAft>
                      </a:pPr>
                      <a:r>
                        <a:rPr sz="1350" b="1">
                          <a:solidFill>
                            <a:srgbClr val="16304E"/>
                          </a:solidFill>
                          <a:latin typeface="Arial"/>
                          <a:ea typeface="Arial"/>
                          <a:cs typeface="Arial"/>
                        </a:rPr>
                        <a:t>Pause handling</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May commit after enough silence,</a:t>
                      </a:r>
                    </a:p>
                    <a:p>
                      <a:pPr algn="l">
                        <a:lnSpc>
                          <a:spcPct val="106000"/>
                        </a:lnSpc>
                        <a:spcAft>
                          <a:spcPts val="0"/>
                        </a:spcAft>
                      </a:pPr>
                      <a:r>
                        <a:rPr sz="1420" b="0">
                          <a:solidFill>
                            <a:srgbClr val="16304E"/>
                          </a:solidFill>
                          <a:latin typeface="Arial"/>
                          <a:ea typeface="Arial"/>
                          <a:cs typeface="Arial"/>
                        </a:rPr>
                        <a:t>even if the sentence is unfinished</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Can wait longer when the utterance</a:t>
                      </a:r>
                    </a:p>
                    <a:p>
                      <a:pPr algn="l">
                        <a:lnSpc>
                          <a:spcPct val="106000"/>
                        </a:lnSpc>
                        <a:spcAft>
                          <a:spcPts val="0"/>
                        </a:spcAft>
                      </a:pPr>
                      <a:r>
                        <a:rPr sz="1420" b="0">
                          <a:solidFill>
                            <a:srgbClr val="16304E"/>
                          </a:solidFill>
                          <a:latin typeface="Arial"/>
                          <a:ea typeface="Arial"/>
                          <a:cs typeface="Arial"/>
                        </a:rPr>
                        <a:t>appears incomplete</a:t>
                      </a:r>
                    </a:p>
                  </a:txBody>
                  <a:tcPr marL="164592" marR="128016" marT="50292" marB="50292" anchor="ctr">
                    <a:lnL w="0">
                      <a:noFill/>
                    </a:lnL>
                    <a:lnR w="0">
                      <a:noFill/>
                    </a:lnR>
                    <a:lnT w="0">
                      <a:noFill/>
                    </a:lnT>
                    <a:lnB w="25400">
                      <a:solidFill>
                        <a:srgbClr val="FFFFFF"/>
                      </a:solidFill>
                    </a:lnB>
                    <a:solidFill>
                      <a:srgbClr val="FFFFFF"/>
                    </a:solidFill>
                  </a:tcPr>
                </a:tc>
              </a:tr>
              <a:tr h="630936">
                <a:tc>
                  <a:txBody>
                    <a:bodyPr wrap="square">
                      <a:noAutofit/>
                    </a:bodyPr>
                    <a:lstStyle/>
                    <a:p>
                      <a:pPr algn="l">
                        <a:lnSpc>
                          <a:spcPct val="106000"/>
                        </a:lnSpc>
                        <a:spcAft>
                          <a:spcPts val="0"/>
                        </a:spcAft>
                      </a:pPr>
                      <a:r>
                        <a:rPr sz="1350" b="1">
                          <a:solidFill>
                            <a:srgbClr val="16304E"/>
                          </a:solidFill>
                          <a:latin typeface="Arial"/>
                          <a:ea typeface="Arial"/>
                          <a:cs typeface="Arial"/>
                        </a:rPr>
                        <a:t>System action</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May auto-commit after silence.</a:t>
                      </a:r>
                    </a:p>
                    <a:p>
                      <a:pPr algn="l">
                        <a:lnSpc>
                          <a:spcPct val="106000"/>
                        </a:lnSpc>
                        <a:spcAft>
                          <a:spcPts val="0"/>
                        </a:spcAft>
                      </a:pPr>
                      <a:r>
                        <a:rPr sz="1420" b="0">
                          <a:solidFill>
                            <a:srgbClr val="16304E"/>
                          </a:solidFill>
                          <a:latin typeface="Arial"/>
                          <a:ea typeface="Arial"/>
                          <a:cs typeface="Arial"/>
                        </a:rPr>
                        <a:t>Start a response if enabled.</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Commit when the turn is judged complete.</a:t>
                      </a:r>
                    </a:p>
                    <a:p>
                      <a:pPr algn="l">
                        <a:lnSpc>
                          <a:spcPct val="106000"/>
                        </a:lnSpc>
                        <a:spcAft>
                          <a:spcPts val="0"/>
                        </a:spcAft>
                      </a:pPr>
                      <a:r>
                        <a:rPr sz="1420" b="0">
                          <a:solidFill>
                            <a:srgbClr val="16304E"/>
                          </a:solidFill>
                          <a:latin typeface="Arial"/>
                          <a:ea typeface="Arial"/>
                          <a:cs typeface="Arial"/>
                        </a:rPr>
                        <a:t>Start a response if enabled.</a:t>
                      </a:r>
                    </a:p>
                  </a:txBody>
                  <a:tcPr marL="164592" marR="128016" marT="50292" marB="50292" anchor="ctr">
                    <a:lnL w="0">
                      <a:noFill/>
                    </a:lnL>
                    <a:lnR w="0">
                      <a:noFill/>
                    </a:lnR>
                    <a:lnT w="0">
                      <a:noFill/>
                    </a:lnT>
                    <a:lnB w="25400">
                      <a:solidFill>
                        <a:srgbClr val="FFFFFF"/>
                      </a:solidFill>
                    </a:lnB>
                    <a:solidFill>
                      <a:srgbClr val="F3F6FA"/>
                    </a:solidFill>
                  </a:tcPr>
                </a:tc>
              </a:tr>
              <a:tr h="658368">
                <a:tc>
                  <a:txBody>
                    <a:bodyPr wrap="square">
                      <a:noAutofit/>
                    </a:bodyPr>
                    <a:lstStyle/>
                    <a:p>
                      <a:pPr algn="l">
                        <a:lnSpc>
                          <a:spcPct val="106000"/>
                        </a:lnSpc>
                        <a:spcAft>
                          <a:spcPts val="0"/>
                        </a:spcAft>
                      </a:pPr>
                      <a:r>
                        <a:rPr sz="1350" b="1">
                          <a:solidFill>
                            <a:srgbClr val="16304E"/>
                          </a:solidFill>
                          <a:latin typeface="Arial"/>
                          <a:ea typeface="Arial"/>
                          <a:cs typeface="Arial"/>
                        </a:rPr>
                        <a:t>Compute &amp;</a:t>
                      </a:r>
                    </a:p>
                    <a:p>
                      <a:pPr algn="l">
                        <a:lnSpc>
                          <a:spcPct val="106000"/>
                        </a:lnSpc>
                        <a:spcAft>
                          <a:spcPts val="0"/>
                        </a:spcAft>
                      </a:pPr>
                      <a:r>
                        <a:rPr sz="1350" b="1">
                          <a:solidFill>
                            <a:srgbClr val="16304E"/>
                          </a:solidFill>
                          <a:latin typeface="Arial"/>
                          <a:ea typeface="Arial"/>
                          <a:cs typeface="Arial"/>
                        </a:rPr>
                        <a:t>placement</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Low-latency CPU inference</a:t>
                      </a:r>
                    </a:p>
                    <a:p>
                      <a:pPr algn="l">
                        <a:lnSpc>
                          <a:spcPct val="106000"/>
                        </a:lnSpc>
                        <a:spcAft>
                          <a:spcPts val="0"/>
                        </a:spcAft>
                      </a:pPr>
                      <a:r>
                        <a:rPr sz="1420" b="0">
                          <a:solidFill>
                            <a:srgbClr val="16304E"/>
                          </a:solidFill>
                          <a:latin typeface="Arial"/>
                          <a:ea typeface="Arial"/>
                          <a:cs typeface="Arial"/>
                        </a:rPr>
                        <a:t>Current: CPU thread pool</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Small models can run on CPU</a:t>
                      </a:r>
                    </a:p>
                    <a:p>
                      <a:pPr algn="l">
                        <a:lnSpc>
                          <a:spcPct val="106000"/>
                        </a:lnSpc>
                        <a:spcAft>
                          <a:spcPts val="0"/>
                        </a:spcAft>
                      </a:pPr>
                      <a:r>
                        <a:rPr sz="1420" b="0">
                          <a:solidFill>
                            <a:srgbClr val="16304E"/>
                          </a:solidFill>
                          <a:latin typeface="Arial"/>
                          <a:ea typeface="Arial"/>
                          <a:cs typeface="Arial"/>
                        </a:rPr>
                        <a:t>Heavier models: proposed Omni Stage</a:t>
                      </a:r>
                    </a:p>
                  </a:txBody>
                  <a:tcPr marL="164592" marR="128016" marT="50292" marB="50292" anchor="ctr">
                    <a:lnL w="0">
                      <a:noFill/>
                    </a:lnL>
                    <a:lnR w="0">
                      <a:noFill/>
                    </a:lnR>
                    <a:lnT w="0">
                      <a:noFill/>
                    </a:lnT>
                    <a:lnB w="25400">
                      <a:solidFill>
                        <a:srgbClr val="FFFFFF"/>
                      </a:solidFill>
                    </a:lnB>
                    <a:solidFill>
                      <a:srgbClr val="FFFFFF"/>
                    </a:solidFill>
                  </a:tcPr>
                </a:tc>
              </a:tr>
            </a:tbl>
          </a:graphicData>
        </a:graphic>
      </p:graphicFrame>
      <p:sp>
        <p:nvSpPr>
          <p:cNvPr id="201" name="A PAUSE INSIDE AN UNFINISHED REQUEST"/>
          <p:cNvSpPr txBox="1"/>
          <p:nvPr/>
        </p:nvSpPr>
        <p:spPr>
          <a:xfrm>
            <a:off x="731520" y="5157216"/>
            <a:ext cx="10698480" cy="201168"/>
          </a:xfrm>
          <a:prstGeom prst="rect">
            <a:avLst/>
          </a:prstGeom>
          <a:noFill/>
          <a:ln>
            <a:noFill/>
          </a:ln>
        </p:spPr>
        <p:txBody>
          <a:bodyPr wrap="square" lIns="0" rIns="0" tIns="0" bIns="0" anchor="t">
            <a:noAutofit/>
          </a:bodyPr>
          <a:lstStyle/>
          <a:p>
            <a:pPr algn="l">
              <a:lnSpc>
                <a:spcPct val="106000"/>
              </a:lnSpc>
              <a:spcAft>
                <a:spcPts val="0"/>
              </a:spcAft>
            </a:pPr>
            <a:r>
              <a:rPr sz="1150" b="1">
                <a:solidFill>
                  <a:srgbClr val="586B7E"/>
                </a:solidFill>
                <a:latin typeface="Arial"/>
                <a:ea typeface="Arial"/>
                <a:cs typeface="Arial"/>
              </a:rPr>
              <a:t>OPEN-SOURCE EXAMPLE: SILERO VAD + PIPECAT SMART TURN v3.2</a:t>
            </a:r>
          </a:p>
        </p:txBody>
      </p:sp>
      <p:sp>
        <p:nvSpPr>
          <p:cNvPr id="202" name="“Book me a flight for tomorrow to … [pause] … Beijing.”"/>
          <p:cNvSpPr txBox="1"/>
          <p:nvPr/>
        </p:nvSpPr>
        <p:spPr>
          <a:xfrm>
            <a:off x="731520" y="5404104"/>
            <a:ext cx="10698480" cy="310896"/>
          </a:xfrm>
          <a:prstGeom prst="rect">
            <a:avLst/>
          </a:prstGeom>
          <a:noFill/>
          <a:ln>
            <a:noFill/>
          </a:ln>
        </p:spPr>
        <p:txBody>
          <a:bodyPr wrap="square" lIns="0" rIns="0" tIns="0" bIns="0" anchor="t">
            <a:noAutofit/>
          </a:bodyPr>
          <a:lstStyle/>
          <a:p>
            <a:pPr algn="l">
              <a:lnSpc>
                <a:spcPct val="106000"/>
              </a:lnSpc>
              <a:spcAft>
                <a:spcPts val="0"/>
              </a:spcAft>
            </a:pPr>
            <a:r>
              <a:rPr sz="1800" b="1">
                <a:solidFill>
                  <a:srgbClr val="16304E"/>
                </a:solidFill>
                <a:latin typeface="Arial"/>
                <a:ea typeface="Arial"/>
                <a:cs typeface="Arial"/>
              </a:rPr>
              <a:t>“Book me a flight for tomorrow to … [pause] … Beijing.”</a:t>
            </a:r>
          </a:p>
        </p:txBody>
      </p:sp>
      <p:sp>
        <p:nvSpPr>
          <p:cNvPr id="203" name="Acoustic: may commit during the pause"/>
          <p:cNvSpPr txBox="1"/>
          <p:nvPr/>
        </p:nvSpPr>
        <p:spPr>
          <a:xfrm>
            <a:off x="731520" y="5760720"/>
            <a:ext cx="5303520" cy="228600"/>
          </a:xfrm>
          <a:prstGeom prst="rect">
            <a:avLst/>
          </a:prstGeom>
          <a:noFill/>
          <a:ln>
            <a:noFill/>
          </a:ln>
        </p:spPr>
        <p:txBody>
          <a:bodyPr wrap="square" lIns="0" rIns="0" tIns="0" bIns="0" anchor="t">
            <a:noAutofit/>
          </a:bodyPr>
          <a:lstStyle/>
          <a:p>
            <a:pPr algn="l">
              <a:lnSpc>
                <a:spcPct val="106000"/>
              </a:lnSpc>
              <a:spcAft>
                <a:spcPts val="0"/>
              </a:spcAft>
            </a:pPr>
            <a:r>
              <a:rPr sz="1300" b="0">
                <a:solidFill>
                  <a:srgbClr val="307BDB"/>
                </a:solidFill>
                <a:latin typeface="Arial"/>
                <a:ea typeface="Arial"/>
                <a:cs typeface="Arial"/>
              </a:rPr>
              <a:t>1. Silero: speech / non-speech and pauses</a:t>
            </a:r>
          </a:p>
        </p:txBody>
      </p:sp>
      <p:sp>
        <p:nvSpPr>
          <p:cNvPr id="204" name="Semantic: can wait for the destination"/>
          <p:cNvSpPr txBox="1"/>
          <p:nvPr/>
        </p:nvSpPr>
        <p:spPr>
          <a:xfrm>
            <a:off x="6263640" y="5760720"/>
            <a:ext cx="5074920" cy="228600"/>
          </a:xfrm>
          <a:prstGeom prst="rect">
            <a:avLst/>
          </a:prstGeom>
          <a:noFill/>
          <a:ln>
            <a:noFill/>
          </a:ln>
        </p:spPr>
        <p:txBody>
          <a:bodyPr wrap="square" lIns="0" rIns="0" tIns="0" bIns="0" anchor="t">
            <a:noAutofit/>
          </a:bodyPr>
          <a:lstStyle/>
          <a:p>
            <a:pPr algn="l">
              <a:lnSpc>
                <a:spcPct val="106000"/>
              </a:lnSpc>
              <a:spcAft>
                <a:spcPts val="0"/>
              </a:spcAft>
            </a:pPr>
            <a:r>
              <a:rPr sz="1300" b="0">
                <a:solidFill>
                  <a:srgbClr val="008E96"/>
                </a:solidFill>
                <a:latin typeface="Arial"/>
                <a:ea typeface="Arial"/>
                <a:cs typeface="Arial"/>
              </a:rPr>
              <a:t>2. Smart Turn: complete / incomplete</a:t>
            </a:r>
          </a:p>
        </p:txBody>
      </p:sp>
      <p:sp>
        <p:nvSpPr>
          <p:cNvPr id="205" name="Interruption intent recognition is a separate capability."/>
          <p:cNvSpPr txBox="1"/>
          <p:nvPr/>
        </p:nvSpPr>
        <p:spPr>
          <a:xfrm>
            <a:off x="731520" y="6272784"/>
            <a:ext cx="10698480" cy="164592"/>
          </a:xfrm>
          <a:prstGeom prst="rect">
            <a:avLst/>
          </a:prstGeom>
          <a:noFill/>
          <a:ln>
            <a:noFill/>
          </a:ln>
        </p:spPr>
        <p:txBody>
          <a:bodyPr wrap="square" lIns="0" rIns="0" tIns="0" bIns="0" anchor="t">
            <a:noAutofit/>
          </a:bodyPr>
          <a:lstStyle/>
          <a:p>
            <a:pPr algn="l">
              <a:lnSpc>
                <a:spcPct val="106000"/>
              </a:lnSpc>
              <a:spcAft>
                <a:spcPts val="0"/>
              </a:spcAft>
            </a:pPr>
            <a:r>
              <a:rPr sz="1150" b="0">
                <a:solidFill>
                  <a:srgbClr val="586B7E"/>
                </a:solidFill>
                <a:latin typeface="Arial"/>
                <a:ea typeface="Arial"/>
                <a:cs typeface="Arial"/>
              </a:rPr>
              <a:t>VAD can reduce noise-triggered events. Denoising and interruption intent detection are separate.</a:t>
            </a:r>
          </a:p>
        </p:txBody>
      </p:sp>
      <p:sp>
        <p:nvSpPr>
          <p:cNvPr id="206" name="Session policy and asynchronous inference"/>
          <p:cNvSpPr txBox="1"/>
          <p:nvPr/>
        </p:nvSpPr>
        <p:spPr>
          <a:xfrm>
            <a:off x="731520" y="6053328"/>
            <a:ext cx="10698480" cy="192024"/>
          </a:xfrm>
          <a:prstGeom prst="rect">
            <a:avLst/>
          </a:prstGeom>
          <a:noFill/>
          <a:ln>
            <a:noFill/>
          </a:ln>
        </p:spPr>
        <p:txBody>
          <a:bodyPr wrap="square" lIns="0" rIns="0" tIns="0" bIns="0" anchor="t">
            <a:noAutofit/>
          </a:bodyPr>
          <a:lstStyle/>
          <a:p>
            <a:pPr algn="l">
              <a:lnSpc>
                <a:spcPct val="106000"/>
              </a:lnSpc>
              <a:spcAft>
                <a:spcPts val="0"/>
              </a:spcAft>
            </a:pPr>
            <a:r>
              <a:rPr sz="1150" b="0">
                <a:solidFill>
                  <a:srgbClr val="16304E"/>
                </a:solidFill>
                <a:latin typeface="Arial"/>
                <a:ea typeface="Arial"/>
                <a:cs typeface="Arial"/>
              </a:rPr>
              <a:t>Server VAD: Runner applies commit / cancel policies; inference runs outside its event loop.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SESSION CONTROL</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a:solidFill>
                  <a:srgbClr val="142B45"/>
                </a:solidFill>
                <a:latin typeface="Arial"/>
                <a:ea typeface="Arial"/>
                <a:cs typeface="Arial"/>
              </a:rPr>
              <a:t>Disconnect, cancel and close have different effects</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MiniCPM, AURA, Qwen3-Omni and Nemotron support live-session resume; PersonaPlex closes on disconnect.</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A4</a:t>
            </a:r>
          </a:p>
        </p:txBody>
      </p:sp>
      <p:sp>
        <p:nvSpPr>
          <p:cNvPr id="12" name="TextBox 11"/>
          <p:cNvSpPr txBox="1"/>
          <p:nvPr/>
        </p:nvSpPr>
        <p:spPr>
          <a:xfrm>
            <a:off x="694944" y="2148840"/>
            <a:ext cx="2240280"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TRIGGER</a:t>
            </a:r>
          </a:p>
        </p:txBody>
      </p:sp>
      <p:sp>
        <p:nvSpPr>
          <p:cNvPr id="13" name="TextBox 12"/>
          <p:cNvSpPr txBox="1"/>
          <p:nvPr/>
        </p:nvSpPr>
        <p:spPr>
          <a:xfrm>
            <a:off x="3227832" y="2148840"/>
            <a:ext cx="3959352"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IN-FLIGHT WORK</a:t>
            </a:r>
          </a:p>
        </p:txBody>
      </p:sp>
      <p:sp>
        <p:nvSpPr>
          <p:cNvPr id="14" name="TextBox 13"/>
          <p:cNvSpPr txBox="1"/>
          <p:nvPr/>
        </p:nvSpPr>
        <p:spPr>
          <a:xfrm>
            <a:off x="7479792" y="2148840"/>
            <a:ext cx="4005072"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SESSION / RESUME</a:t>
            </a:r>
          </a:p>
        </p:txBody>
      </p:sp>
      <p:sp>
        <p:nvSpPr>
          <p:cNvPr id="15" name="Rounded Rectangle 14"/>
          <p:cNvSpPr/>
          <p:nvPr/>
        </p:nvSpPr>
        <p:spPr>
          <a:xfrm>
            <a:off x="548640" y="2505456"/>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94944" y="2624328"/>
            <a:ext cx="2240280" cy="356615"/>
          </a:xfrm>
          <a:prstGeom prst="rect">
            <a:avLst/>
          </a:prstGeom>
          <a:noFill/>
        </p:spPr>
        <p:txBody>
          <a:bodyPr wrap="square" lIns="0" rIns="0" tIns="0" bIns="0" anchor="t">
            <a:spAutoFit/>
          </a:bodyPr>
          <a:lstStyle/>
          <a:p>
            <a:pPr algn="l">
              <a:lnSpc>
                <a:spcPct val="110000"/>
              </a:lnSpc>
              <a:spcAft>
                <a:spcPts val="0"/>
              </a:spcAft>
            </a:pPr>
            <a:r>
              <a:rPr sz="1220" b="1">
                <a:solidFill>
                  <a:srgbClr val="142B45"/>
                </a:solidFill>
                <a:latin typeface="Arial"/>
                <a:ea typeface="Arial"/>
                <a:cs typeface="Arial"/>
              </a:rPr>
              <a:t>Disconnect · resumable model</a:t>
            </a:r>
          </a:p>
        </p:txBody>
      </p:sp>
      <p:sp>
        <p:nvSpPr>
          <p:cNvPr id="17" name="TextBox 16"/>
          <p:cNvSpPr txBox="1"/>
          <p:nvPr/>
        </p:nvSpPr>
        <p:spPr>
          <a:xfrm>
            <a:off x="3227832" y="2624328"/>
            <a:ext cx="3959352" cy="356615"/>
          </a:xfrm>
          <a:prstGeom prst="rect">
            <a:avLst/>
          </a:prstGeom>
          <a:noFill/>
        </p:spPr>
        <p:txBody>
          <a:bodyPr wrap="square" lIns="0" rIns="0" tIns="0" bIns="0" anchor="t">
            <a:spAutoFit/>
          </a:bodyPr>
          <a:lstStyle/>
          <a:p>
            <a:pPr algn="l">
              <a:lnSpc>
                <a:spcPct val="110000"/>
              </a:lnSpc>
              <a:spcAft>
                <a:spcPts val="0"/>
              </a:spcAft>
            </a:pPr>
            <a:r>
              <a:rPr sz="1220" b="0">
                <a:solidFill>
                  <a:srgbClr val="142B45"/>
                </a:solidFill>
                <a:latin typeface="Arial"/>
                <a:ea typeface="Arial"/>
                <a:cs typeface="Arial"/>
              </a:rPr>
              <a:t>May keep generating; journal later events</a:t>
            </a:r>
          </a:p>
        </p:txBody>
      </p:sp>
      <p:sp>
        <p:nvSpPr>
          <p:cNvPr id="18" name="TextBox 17"/>
          <p:cNvSpPr txBox="1"/>
          <p:nvPr/>
        </p:nvSpPr>
        <p:spPr>
          <a:xfrm>
            <a:off x="7479792" y="2624328"/>
            <a:ext cx="4005072" cy="356615"/>
          </a:xfrm>
          <a:prstGeom prst="rect">
            <a:avLst/>
          </a:prstGeom>
          <a:noFill/>
        </p:spPr>
        <p:txBody>
          <a:bodyPr wrap="square" lIns="0" rIns="0" tIns="0" bIns="0" anchor="t">
            <a:spAutoFit/>
          </a:bodyPr>
          <a:lstStyle/>
          <a:p>
            <a:pPr algn="l">
              <a:lnSpc>
                <a:spcPct val="110000"/>
              </a:lnSpc>
              <a:spcAft>
                <a:spcPts val="0"/>
              </a:spcAft>
            </a:pPr>
            <a:r>
              <a:rPr sz="1220" b="0">
                <a:solidFill>
                  <a:srgbClr val="142B45"/>
                </a:solidFill>
                <a:latin typeface="Arial"/>
                <a:ea typeface="Arial"/>
                <a:cs typeface="Arial"/>
              </a:rPr>
              <a:t>Disconnect grace; resume while the session lives</a:t>
            </a:r>
          </a:p>
        </p:txBody>
      </p:sp>
      <p:sp>
        <p:nvSpPr>
          <p:cNvPr id="19" name="Rounded Rectangle 18"/>
          <p:cNvSpPr/>
          <p:nvPr/>
        </p:nvSpPr>
        <p:spPr>
          <a:xfrm>
            <a:off x="548640" y="3127248"/>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94944" y="3246120"/>
            <a:ext cx="2240280" cy="356615"/>
          </a:xfrm>
          <a:prstGeom prst="rect">
            <a:avLst/>
          </a:prstGeom>
          <a:noFill/>
        </p:spPr>
        <p:txBody>
          <a:bodyPr wrap="square" lIns="0" rIns="0" tIns="0" bIns="0" anchor="t">
            <a:spAutoFit/>
          </a:bodyPr>
          <a:lstStyle/>
          <a:p>
            <a:pPr algn="l">
              <a:lnSpc>
                <a:spcPct val="110000"/>
              </a:lnSpc>
              <a:spcAft>
                <a:spcPts val="0"/>
              </a:spcAft>
            </a:pPr>
            <a:r>
              <a:rPr sz="1220" b="1">
                <a:solidFill>
                  <a:srgbClr val="142B45"/>
                </a:solidFill>
                <a:latin typeface="Arial"/>
                <a:ea typeface="Arial"/>
                <a:cs typeface="Arial"/>
              </a:rPr>
              <a:t>response.cancel</a:t>
            </a:r>
          </a:p>
        </p:txBody>
      </p:sp>
      <p:sp>
        <p:nvSpPr>
          <p:cNvPr id="21" name="TextBox 20"/>
          <p:cNvSpPr txBox="1"/>
          <p:nvPr/>
        </p:nvSpPr>
        <p:spPr>
          <a:xfrm>
            <a:off x="3227832" y="3246120"/>
            <a:ext cx="3959352" cy="356615"/>
          </a:xfrm>
          <a:prstGeom prst="rect">
            <a:avLst/>
          </a:prstGeom>
          <a:noFill/>
        </p:spPr>
        <p:txBody>
          <a:bodyPr wrap="square" lIns="0" rIns="0" tIns="0" bIns="0" anchor="t">
            <a:spAutoFit/>
          </a:bodyPr>
          <a:lstStyle/>
          <a:p>
            <a:pPr algn="l">
              <a:lnSpc>
                <a:spcPct val="110000"/>
              </a:lnSpc>
              <a:spcAft>
                <a:spcPts val="0"/>
              </a:spcAft>
            </a:pPr>
            <a:r>
              <a:rPr sz="1220" b="0">
                <a:solidFill>
                  <a:srgbClr val="142B45"/>
                </a:solidFill>
                <a:latin typeface="Arial"/>
                <a:ea typeface="Arial"/>
                <a:cs typeface="Arial"/>
              </a:rPr>
              <a:t>Abort generation; discard unsent output</a:t>
            </a:r>
          </a:p>
        </p:txBody>
      </p:sp>
      <p:sp>
        <p:nvSpPr>
          <p:cNvPr id="22" name="TextBox 21"/>
          <p:cNvSpPr txBox="1"/>
          <p:nvPr/>
        </p:nvSpPr>
        <p:spPr>
          <a:xfrm>
            <a:off x="7479792" y="3246120"/>
            <a:ext cx="4005072" cy="356615"/>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Session stays open; PersonaPlex resets model context</a:t>
            </a:r>
          </a:p>
        </p:txBody>
      </p:sp>
      <p:sp>
        <p:nvSpPr>
          <p:cNvPr id="23" name="Rounded Rectangle 22"/>
          <p:cNvSpPr/>
          <p:nvPr/>
        </p:nvSpPr>
        <p:spPr>
          <a:xfrm>
            <a:off x="548640" y="3749039"/>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694944" y="3867911"/>
            <a:ext cx="2240280" cy="356615"/>
          </a:xfrm>
          <a:prstGeom prst="rect">
            <a:avLst/>
          </a:prstGeom>
          <a:noFill/>
        </p:spPr>
        <p:txBody>
          <a:bodyPr wrap="square" lIns="0" rIns="0" tIns="0" bIns="0" anchor="t">
            <a:spAutoFit/>
          </a:bodyPr>
          <a:lstStyle/>
          <a:p>
            <a:pPr algn="l">
              <a:lnSpc>
                <a:spcPct val="110000"/>
              </a:lnSpc>
              <a:spcAft>
                <a:spcPts val="0"/>
              </a:spcAft>
            </a:pPr>
            <a:r>
              <a:rPr sz="1220" b="1">
                <a:solidFill>
                  <a:srgbClr val="142B45"/>
                </a:solidFill>
                <a:latin typeface="Arial"/>
                <a:ea typeface="Arial"/>
                <a:cs typeface="Arial"/>
              </a:rPr>
              <a:t>session.close / lease expiry</a:t>
            </a:r>
          </a:p>
        </p:txBody>
      </p:sp>
      <p:sp>
        <p:nvSpPr>
          <p:cNvPr id="25" name="TextBox 24"/>
          <p:cNvSpPr txBox="1"/>
          <p:nvPr/>
        </p:nvSpPr>
        <p:spPr>
          <a:xfrm>
            <a:off x="3227832" y="3867911"/>
            <a:ext cx="3959352" cy="356615"/>
          </a:xfrm>
          <a:prstGeom prst="rect">
            <a:avLst/>
          </a:prstGeom>
          <a:noFill/>
        </p:spPr>
        <p:txBody>
          <a:bodyPr wrap="square" lIns="0" rIns="0" tIns="0" bIns="0" anchor="t">
            <a:spAutoFit/>
          </a:bodyPr>
          <a:lstStyle/>
          <a:p>
            <a:pPr algn="l">
              <a:lnSpc>
                <a:spcPct val="110000"/>
              </a:lnSpc>
              <a:spcAft>
                <a:spcPts val="0"/>
              </a:spcAft>
            </a:pPr>
            <a:r>
              <a:rPr sz="1220" b="0">
                <a:solidFill>
                  <a:srgbClr val="142B45"/>
                </a:solidFill>
                <a:latin typeface="Arial"/>
                <a:ea typeface="Arial"/>
                <a:cs typeface="Arial"/>
              </a:rPr>
              <a:t>Terminate and clean up associated work</a:t>
            </a:r>
          </a:p>
        </p:txBody>
      </p:sp>
      <p:sp>
        <p:nvSpPr>
          <p:cNvPr id="26" name="TextBox 25"/>
          <p:cNvSpPr txBox="1"/>
          <p:nvPr/>
        </p:nvSpPr>
        <p:spPr>
          <a:xfrm>
            <a:off x="7479792" y="3867911"/>
            <a:ext cx="4005072" cy="356615"/>
          </a:xfrm>
          <a:prstGeom prst="rect">
            <a:avLst/>
          </a:prstGeom>
          <a:noFill/>
        </p:spPr>
        <p:txBody>
          <a:bodyPr wrap="square" lIns="0" rIns="0" tIns="0" bIns="0" anchor="t">
            <a:spAutoFit/>
          </a:bodyPr>
          <a:lstStyle/>
          <a:p>
            <a:pPr algn="l">
              <a:lnSpc>
                <a:spcPct val="110000"/>
              </a:lnSpc>
              <a:spcAft>
                <a:spcPts val="0"/>
              </a:spcAft>
            </a:pPr>
            <a:r>
              <a:rPr sz="1220" b="0">
                <a:solidFill>
                  <a:srgbClr val="142B45"/>
                </a:solidFill>
                <a:latin typeface="Arial"/>
                <a:ea typeface="Arial"/>
                <a:cs typeface="Arial"/>
              </a:rPr>
              <a:t>Session ends; create a new session</a:t>
            </a:r>
          </a:p>
        </p:txBody>
      </p:sp>
      <p:sp>
        <p:nvSpPr>
          <p:cNvPr id="27" name="Rounded Rectangle 26"/>
          <p:cNvSpPr/>
          <p:nvPr/>
        </p:nvSpPr>
        <p:spPr>
          <a:xfrm>
            <a:off x="548640" y="4645152"/>
            <a:ext cx="3547872" cy="1188720"/>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694944" y="4764024"/>
            <a:ext cx="3255264" cy="256032"/>
          </a:xfrm>
          <a:prstGeom prst="rect">
            <a:avLst/>
          </a:prstGeom>
          <a:noFill/>
        </p:spPr>
        <p:txBody>
          <a:bodyPr wrap="square" lIns="0" rIns="0" tIns="0" bIns="0" anchor="t">
            <a:spAutoFit/>
          </a:bodyPr>
          <a:lstStyle/>
          <a:p>
            <a:pPr algn="l">
              <a:lnSpc>
                <a:spcPct val="110000"/>
              </a:lnSpc>
              <a:spcAft>
                <a:spcPts val="0"/>
              </a:spcAft>
            </a:pPr>
            <a:r>
              <a:rPr sz="1250" b="1">
                <a:solidFill>
                  <a:srgbClr val="142B45"/>
                </a:solidFill>
                <a:latin typeface="Arial"/>
                <a:ea typeface="Arial"/>
                <a:cs typeface="Arial"/>
              </a:rPr>
              <a:t>SESSION LIFETIME</a:t>
            </a:r>
          </a:p>
        </p:txBody>
      </p:sp>
      <p:sp>
        <p:nvSpPr>
          <p:cNvPr id="29" name="TextBox 28"/>
          <p:cNvSpPr txBox="1"/>
          <p:nvPr/>
        </p:nvSpPr>
        <p:spPr>
          <a:xfrm>
            <a:off x="694944" y="5120640"/>
            <a:ext cx="3255264" cy="640080"/>
          </a:xfrm>
          <a:prstGeom prst="rect">
            <a:avLst/>
          </a:prstGeom>
          <a:noFill/>
        </p:spPr>
        <p:txBody>
          <a:bodyPr wrap="square" lIns="0" rIns="0" tIns="0" bIns="0" anchor="t">
            <a:spAutoFit/>
          </a:bodyPr>
          <a:lstStyle/>
          <a:p>
            <a:pPr algn="l">
              <a:lnSpc>
                <a:spcPct val="110000"/>
              </a:lnSpc>
              <a:spcAft>
                <a:spcPts val="0"/>
              </a:spcAft>
            </a:pPr>
            <a:r>
              <a:rPr sz="1250" b="0">
                <a:solidFill>
                  <a:srgbClr val="21364E"/>
                </a:solidFill>
                <a:latin typeface="Arial"/>
                <a:ea typeface="Arial"/>
                <a:cs typeface="Arial"/>
              </a:rPr>
              <a:t>Resume within the disconnect grace</a:t>
            </a:r>
          </a:p>
          <a:p>
            <a:pPr algn="l">
              <a:lnSpc>
                <a:spcPct val="110000"/>
              </a:lnSpc>
              <a:spcAft>
                <a:spcPts val="0"/>
              </a:spcAft>
            </a:pPr>
            <a:r>
              <a:rPr sz="1250" b="0">
                <a:solidFill>
                  <a:srgbClr val="21364E"/>
                </a:solidFill>
                <a:latin typeface="Arial"/>
                <a:ea typeface="Arial"/>
                <a:cs typeface="Arial"/>
              </a:rPr>
              <a:t>Session remains on its live owner</a:t>
            </a:r>
          </a:p>
        </p:txBody>
      </p:sp>
      <p:sp>
        <p:nvSpPr>
          <p:cNvPr id="30" name="Rounded Rectangle 29"/>
          <p:cNvSpPr/>
          <p:nvPr/>
        </p:nvSpPr>
        <p:spPr>
          <a:xfrm>
            <a:off x="4315968" y="4645152"/>
            <a:ext cx="3547872" cy="1188720"/>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4462272" y="4764024"/>
            <a:ext cx="3255264" cy="256032"/>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VALID CREDENTIALS</a:t>
            </a:r>
          </a:p>
        </p:txBody>
      </p:sp>
      <p:sp>
        <p:nvSpPr>
          <p:cNvPr id="32" name="TextBox 31"/>
          <p:cNvSpPr txBox="1"/>
          <p:nvPr/>
        </p:nvSpPr>
        <p:spPr>
          <a:xfrm>
            <a:off x="4462272" y="5120640"/>
            <a:ext cx="3255264" cy="640080"/>
          </a:xfrm>
          <a:prstGeom prst="rect">
            <a:avLst/>
          </a:prstGeom>
          <a:noFill/>
        </p:spPr>
        <p:txBody>
          <a:bodyPr wrap="square" lIns="0" rIns="0" tIns="0" bIns="0" anchor="t">
            <a:spAutoFit/>
          </a:bodyPr>
          <a:lstStyle/>
          <a:p>
            <a:pPr algn="l">
              <a:lnSpc>
                <a:spcPct val="110000"/>
              </a:lnSpc>
              <a:spcAft>
                <a:spcPts val="0"/>
              </a:spcAft>
            </a:pPr>
            <a:r>
              <a:rPr sz="1200" b="0">
                <a:solidFill>
                  <a:srgbClr val="21364E"/>
                </a:solidFill>
                <a:latin typeface="Arial"/>
                <a:ea typeface="Arial"/>
                <a:cs typeface="Arial"/>
              </a:rPr>
              <a:t>Session ID + latest resume token</a:t>
            </a:r>
          </a:p>
          <a:p>
            <a:pPr algn="l">
              <a:lnSpc>
                <a:spcPct val="110000"/>
              </a:lnSpc>
              <a:spcAft>
                <a:spcPts val="0"/>
              </a:spcAft>
            </a:pPr>
            <a:r>
              <a:rPr sz="1200" b="0">
                <a:solidFill>
                  <a:srgbClr val="21364E"/>
                </a:solidFill>
                <a:latin typeface="Arial"/>
                <a:ea typeface="Arial"/>
                <a:cs typeface="Arial"/>
              </a:rPr>
              <a:t>Tokens rotate after successful resume</a:t>
            </a:r>
          </a:p>
        </p:txBody>
      </p:sp>
      <p:sp>
        <p:nvSpPr>
          <p:cNvPr id="33" name="Rounded Rectangle 32"/>
          <p:cNvSpPr/>
          <p:nvPr/>
        </p:nvSpPr>
        <p:spPr>
          <a:xfrm>
            <a:off x="8083296" y="4645152"/>
            <a:ext cx="3547872" cy="1188720"/>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8229600" y="4764024"/>
            <a:ext cx="3255264" cy="256032"/>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REPLAY COVERAGE</a:t>
            </a:r>
          </a:p>
        </p:txBody>
      </p:sp>
      <p:sp>
        <p:nvSpPr>
          <p:cNvPr id="35" name="TextBox 34"/>
          <p:cNvSpPr txBox="1"/>
          <p:nvPr/>
        </p:nvSpPr>
        <p:spPr>
          <a:xfrm>
            <a:off x="8229600" y="5120640"/>
            <a:ext cx="3255264" cy="640080"/>
          </a:xfrm>
          <a:prstGeom prst="rect">
            <a:avLst/>
          </a:prstGeom>
          <a:noFill/>
        </p:spPr>
        <p:txBody>
          <a:bodyPr wrap="square" lIns="0" rIns="0" tIns="0" bIns="0" anchor="t">
            <a:spAutoFit/>
          </a:bodyPr>
          <a:lstStyle/>
          <a:p>
            <a:pPr algn="l">
              <a:lnSpc>
                <a:spcPct val="110000"/>
              </a:lnSpc>
              <a:spcAft>
                <a:spcPts val="0"/>
              </a:spcAft>
            </a:pPr>
            <a:r>
              <a:rPr sz="1250" b="0">
                <a:solidFill>
                  <a:srgbClr val="21364E"/>
                </a:solidFill>
                <a:latin typeface="Arial"/>
                <a:ea typeface="Arial"/>
                <a:cs typeface="Arial"/>
              </a:rPr>
              <a:t>Last received event sequence</a:t>
            </a:r>
          </a:p>
          <a:p>
            <a:pPr algn="l">
              <a:lnSpc>
                <a:spcPct val="110000"/>
              </a:lnSpc>
              <a:spcAft>
                <a:spcPts val="0"/>
              </a:spcAft>
            </a:pPr>
            <a:r>
              <a:rPr sz="1250" b="0">
                <a:solidFill>
                  <a:srgbClr val="21364E"/>
                </a:solidFill>
                <a:latin typeface="Arial"/>
                <a:ea typeface="Arial"/>
                <a:cs typeface="Arial"/>
              </a:rPr>
              <a:t>A replay gap requires a new session</a:t>
            </a:r>
          </a:p>
        </p:txBody>
      </p:sp>
      <p:sp>
        <p:nvSpPr>
          <p:cNvPr id="36" name="TextBox 35"/>
          <p:cNvSpPr txBox="1"/>
          <p:nvPr/>
        </p:nvSpPr>
        <p:spPr>
          <a:xfrm>
            <a:off x="722376" y="5971032"/>
            <a:ext cx="10744200" cy="393192"/>
          </a:xfrm>
          <a:prstGeom prst="rect">
            <a:avLst/>
          </a:prstGeom>
          <a:noFill/>
        </p:spPr>
        <p:txBody>
          <a:bodyPr wrap="square" lIns="0" rIns="0" tIns="0" bIns="0" anchor="t">
            <a:spAutoFit/>
          </a:bodyPr>
          <a:lstStyle/>
          <a:p>
            <a:pPr algn="l">
              <a:lnSpc>
                <a:spcPct val="110000"/>
              </a:lnSpc>
              <a:spcAft>
                <a:spcPts val="0"/>
              </a:spcAft>
            </a:pPr>
            <a:r>
              <a:rPr sz="1050" b="0">
                <a:solidFill>
                  <a:srgbClr val="586B7E"/>
                </a:solidFill>
                <a:latin typeface="Arial"/>
                <a:ea typeface="Arial"/>
                <a:cs typeface="Arial"/>
              </a:rPr>
              <a:t>Defaults: disconnect grace 30s · idle TTL 300s · replay 60s / 8 MiB.</a:t>
            </a:r>
          </a:p>
          <a:p>
            <a:pPr algn="l">
              <a:lnSpc>
                <a:spcPct val="110000"/>
              </a:lnSpc>
              <a:spcAft>
                <a:spcPts val="0"/>
              </a:spcAft>
            </a:pPr>
            <a:r>
              <a:rPr sz="1050" b="0">
                <a:solidFill>
                  <a:srgbClr val="586B7E"/>
                </a:solidFill>
                <a:latin typeface="Arial"/>
                <a:ea typeface="Arial"/>
                <a:cs typeface="Arial"/>
              </a:rPr>
              <a:t>Clients must stop buffered playback separately; resume stays on the same live API process.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DEPLOYMENT</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a:solidFill>
                  <a:srgbClr val="142B45"/>
                </a:solidFill>
                <a:latin typeface="Arial"/>
                <a:ea typeface="Arial"/>
                <a:cs typeface="Arial"/>
              </a:rPr>
              <a:t>Cross-node stages share the entrypoint Orchestrator</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One API worker owns duplex sessions; the Head connects local and registered headless Stage processes.</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A5</a:t>
            </a:r>
          </a:p>
        </p:txBody>
      </p:sp>
      <p:sp>
        <p:nvSpPr>
          <p:cNvPr id="12" name="Rounded Rectangle 11"/>
          <p:cNvSpPr/>
          <p:nvPr/>
        </p:nvSpPr>
        <p:spPr>
          <a:xfrm>
            <a:off x="548640" y="2221992"/>
            <a:ext cx="5522976" cy="218541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31520" y="2368296"/>
            <a:ext cx="5120640" cy="237744"/>
          </a:xfrm>
          <a:prstGeom prst="rect">
            <a:avLst/>
          </a:prstGeom>
          <a:noFill/>
        </p:spPr>
        <p:txBody>
          <a:bodyPr wrap="square" lIns="0" rIns="0" tIns="0" bIns="0" anchor="t">
            <a:spAutoFit/>
          </a:bodyPr>
          <a:lstStyle/>
          <a:p>
            <a:pPr algn="l">
              <a:lnSpc>
                <a:spcPct val="110000"/>
              </a:lnSpc>
              <a:spcAft>
                <a:spcPts val="0"/>
              </a:spcAft>
            </a:pPr>
            <a:r>
              <a:rPr sz="1300" b="1">
                <a:solidFill>
                  <a:srgbClr val="008E96"/>
                </a:solidFill>
                <a:latin typeface="Arial"/>
                <a:ea typeface="Arial"/>
                <a:cs typeface="Arial"/>
              </a:rPr>
              <a:t>HEAD NODE</a:t>
            </a:r>
          </a:p>
        </p:txBody>
      </p:sp>
      <p:sp>
        <p:nvSpPr>
          <p:cNvPr id="14" name="Rounded Rectangle 13"/>
          <p:cNvSpPr/>
          <p:nvPr/>
        </p:nvSpPr>
        <p:spPr>
          <a:xfrm>
            <a:off x="740664" y="2798064"/>
            <a:ext cx="5111496" cy="585216"/>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96112" y="2971800"/>
            <a:ext cx="4800600" cy="228600"/>
          </a:xfrm>
          <a:prstGeom prst="rect">
            <a:avLst/>
          </a:prstGeom>
          <a:noFill/>
        </p:spPr>
        <p:txBody>
          <a:bodyPr wrap="square" lIns="0" rIns="0" tIns="0" bIns="0" anchor="t">
            <a:spAutoFit/>
          </a:bodyPr>
          <a:lstStyle/>
          <a:p>
            <a:pPr algn="l">
              <a:lnSpc>
                <a:spcPct val="110000"/>
              </a:lnSpc>
              <a:spcAft>
                <a:spcPts val="0"/>
              </a:spcAft>
            </a:pPr>
            <a:r>
              <a:rPr sz="1350" b="1">
                <a:solidFill>
                  <a:srgbClr val="142B45"/>
                </a:solidFill>
                <a:latin typeface="Arial"/>
                <a:ea typeface="Arial"/>
                <a:cs typeface="Arial"/>
              </a:rPr>
              <a:t>API / EngineClient / Duplex Orchestrator</a:t>
            </a:r>
          </a:p>
        </p:txBody>
      </p:sp>
      <p:sp>
        <p:nvSpPr>
          <p:cNvPr id="16" name="Rounded Rectangle 15"/>
          <p:cNvSpPr/>
          <p:nvPr/>
        </p:nvSpPr>
        <p:spPr>
          <a:xfrm>
            <a:off x="740664" y="3666744"/>
            <a:ext cx="5111496" cy="521207"/>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96112" y="3822191"/>
            <a:ext cx="4800600" cy="219456"/>
          </a:xfrm>
          <a:prstGeom prst="rect">
            <a:avLst/>
          </a:prstGeom>
          <a:noFill/>
        </p:spPr>
        <p:txBody>
          <a:bodyPr wrap="square" lIns="0" rIns="0" tIns="0" bIns="0" anchor="t">
            <a:spAutoFit/>
          </a:bodyPr>
          <a:lstStyle/>
          <a:p>
            <a:pPr algn="l">
              <a:lnSpc>
                <a:spcPct val="110000"/>
              </a:lnSpc>
              <a:spcAft>
                <a:spcPts val="0"/>
              </a:spcAft>
            </a:pPr>
            <a:r>
              <a:rPr sz="1300" b="0">
                <a:solidFill>
                  <a:srgbClr val="142B45"/>
                </a:solidFill>
                <a:latin typeface="Arial"/>
                <a:ea typeface="Arial"/>
                <a:cs typeface="Arial"/>
              </a:rPr>
              <a:t>Local Stage 0 · EngineCore / Worker</a:t>
            </a:r>
          </a:p>
        </p:txBody>
      </p:sp>
      <p:cxnSp>
        <p:nvCxnSpPr>
          <p:cNvPr id="18" name="Connector 17"/>
          <p:cNvCxnSpPr/>
          <p:nvPr/>
        </p:nvCxnSpPr>
        <p:spPr>
          <a:xfrm>
            <a:off x="3291840" y="3419856"/>
            <a:ext cx="0" cy="210312"/>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9" name="Rounded Rectangle 18"/>
          <p:cNvSpPr/>
          <p:nvPr/>
        </p:nvSpPr>
        <p:spPr>
          <a:xfrm>
            <a:off x="7434072" y="2221992"/>
            <a:ext cx="4197096" cy="98755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580376" y="2340864"/>
            <a:ext cx="3904487" cy="256032"/>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NODE B · headless</a:t>
            </a:r>
          </a:p>
        </p:txBody>
      </p:sp>
      <p:sp>
        <p:nvSpPr>
          <p:cNvPr id="21" name="TextBox 20"/>
          <p:cNvSpPr txBox="1"/>
          <p:nvPr/>
        </p:nvSpPr>
        <p:spPr>
          <a:xfrm>
            <a:off x="7580376" y="2697480"/>
            <a:ext cx="3904487" cy="438912"/>
          </a:xfrm>
          <a:prstGeom prst="rect">
            <a:avLst/>
          </a:prstGeom>
          <a:noFill/>
        </p:spPr>
        <p:txBody>
          <a:bodyPr wrap="square" lIns="0" rIns="0" tIns="0" bIns="0" anchor="t">
            <a:spAutoFit/>
          </a:bodyPr>
          <a:lstStyle/>
          <a:p>
            <a:pPr algn="l">
              <a:lnSpc>
                <a:spcPct val="110000"/>
              </a:lnSpc>
              <a:spcAft>
                <a:spcPts val="0"/>
              </a:spcAft>
            </a:pPr>
            <a:r>
              <a:rPr sz="1300" b="0">
                <a:solidFill>
                  <a:srgbClr val="21364E"/>
                </a:solidFill>
                <a:latin typeface="Arial"/>
                <a:ea typeface="Arial"/>
                <a:cs typeface="Arial"/>
              </a:rPr>
              <a:t>Stage 1 · EngineCore / Worker</a:t>
            </a:r>
          </a:p>
        </p:txBody>
      </p:sp>
      <p:sp>
        <p:nvSpPr>
          <p:cNvPr id="22" name="Rounded Rectangle 21"/>
          <p:cNvSpPr/>
          <p:nvPr/>
        </p:nvSpPr>
        <p:spPr>
          <a:xfrm>
            <a:off x="7434072" y="3429000"/>
            <a:ext cx="4197096" cy="98755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7580376" y="3547872"/>
            <a:ext cx="3904487" cy="256032"/>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NODE C · headless</a:t>
            </a:r>
          </a:p>
        </p:txBody>
      </p:sp>
      <p:sp>
        <p:nvSpPr>
          <p:cNvPr id="24" name="TextBox 23"/>
          <p:cNvSpPr txBox="1"/>
          <p:nvPr/>
        </p:nvSpPr>
        <p:spPr>
          <a:xfrm>
            <a:off x="7580376" y="3904487"/>
            <a:ext cx="3904487" cy="438912"/>
          </a:xfrm>
          <a:prstGeom prst="rect">
            <a:avLst/>
          </a:prstGeom>
          <a:noFill/>
        </p:spPr>
        <p:txBody>
          <a:bodyPr wrap="square" lIns="0" rIns="0" tIns="0" bIns="0" anchor="t">
            <a:spAutoFit/>
          </a:bodyPr>
          <a:lstStyle/>
          <a:p>
            <a:pPr algn="l">
              <a:lnSpc>
                <a:spcPct val="110000"/>
              </a:lnSpc>
              <a:spcAft>
                <a:spcPts val="0"/>
              </a:spcAft>
            </a:pPr>
            <a:r>
              <a:rPr sz="1300" b="0">
                <a:solidFill>
                  <a:srgbClr val="21364E"/>
                </a:solidFill>
                <a:latin typeface="Arial"/>
                <a:ea typeface="Arial"/>
                <a:cs typeface="Arial"/>
              </a:rPr>
              <a:t>Stage 2 · EngineCore / Worker</a:t>
            </a:r>
          </a:p>
        </p:txBody>
      </p:sp>
      <p:cxnSp>
        <p:nvCxnSpPr>
          <p:cNvPr id="25" name="Connector 24"/>
          <p:cNvCxnSpPr/>
          <p:nvPr/>
        </p:nvCxnSpPr>
        <p:spPr>
          <a:xfrm>
            <a:off x="6126480" y="3054096"/>
            <a:ext cx="685800" cy="0"/>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26" name="Connector 25"/>
          <p:cNvCxnSpPr/>
          <p:nvPr/>
        </p:nvCxnSpPr>
        <p:spPr>
          <a:xfrm>
            <a:off x="6812280" y="2715768"/>
            <a:ext cx="0" cy="1207008"/>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27" name="Connector 26"/>
          <p:cNvCxnSpPr/>
          <p:nvPr/>
        </p:nvCxnSpPr>
        <p:spPr>
          <a:xfrm>
            <a:off x="6812280" y="2715768"/>
            <a:ext cx="5669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8" name="Connector 27"/>
          <p:cNvCxnSpPr/>
          <p:nvPr/>
        </p:nvCxnSpPr>
        <p:spPr>
          <a:xfrm>
            <a:off x="6812280" y="3922776"/>
            <a:ext cx="5669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9" name="TextBox 28"/>
          <p:cNvSpPr txBox="1"/>
          <p:nvPr/>
        </p:nvSpPr>
        <p:spPr>
          <a:xfrm>
            <a:off x="6153912" y="4023360"/>
            <a:ext cx="1088136" cy="393192"/>
          </a:xfrm>
          <a:prstGeom prst="rect">
            <a:avLst/>
          </a:prstGeom>
          <a:noFill/>
        </p:spPr>
        <p:txBody>
          <a:bodyPr wrap="square" lIns="0" rIns="0" tIns="0" bIns="0" anchor="t">
            <a:spAutoFit/>
          </a:bodyPr>
          <a:lstStyle/>
          <a:p>
            <a:pPr algn="l">
              <a:lnSpc>
                <a:spcPct val="110000"/>
              </a:lnSpc>
              <a:spcAft>
                <a:spcPts val="0"/>
              </a:spcAft>
            </a:pPr>
            <a:r>
              <a:rPr sz="1050" b="0">
                <a:solidFill>
                  <a:srgbClr val="586B7E"/>
                </a:solidFill>
                <a:latin typeface="Arial"/>
                <a:ea typeface="Arial"/>
                <a:cs typeface="Arial"/>
              </a:rPr>
              <a:t>Requests / outputs</a:t>
            </a:r>
          </a:p>
        </p:txBody>
      </p:sp>
      <p:sp>
        <p:nvSpPr>
          <p:cNvPr id="30" name="Rounded Rectangle 29"/>
          <p:cNvSpPr/>
          <p:nvPr/>
        </p:nvSpPr>
        <p:spPr>
          <a:xfrm>
            <a:off x="548640"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694944" y="4837176"/>
            <a:ext cx="3255264" cy="256032"/>
          </a:xfrm>
          <a:prstGeom prst="rect">
            <a:avLst/>
          </a:prstGeom>
          <a:noFill/>
        </p:spPr>
        <p:txBody>
          <a:bodyPr wrap="square" lIns="0" rIns="0" tIns="0" bIns="0" anchor="t">
            <a:spAutoFit/>
          </a:bodyPr>
          <a:lstStyle/>
          <a:p>
            <a:pPr algn="l">
              <a:lnSpc>
                <a:spcPct val="110000"/>
              </a:lnSpc>
              <a:spcAft>
                <a:spcPts val="0"/>
              </a:spcAft>
            </a:pPr>
            <a:r>
              <a:rPr sz="1250" b="1">
                <a:solidFill>
                  <a:srgbClr val="142B45"/>
                </a:solidFill>
                <a:latin typeface="Arial"/>
                <a:ea typeface="Arial"/>
                <a:cs typeface="Arial"/>
              </a:rPr>
              <a:t>1  SHARED DEPLOY CONFIG</a:t>
            </a:r>
          </a:p>
        </p:txBody>
      </p:sp>
      <p:sp>
        <p:nvSpPr>
          <p:cNvPr id="32" name="TextBox 31"/>
          <p:cNvSpPr txBox="1"/>
          <p:nvPr/>
        </p:nvSpPr>
        <p:spPr>
          <a:xfrm>
            <a:off x="694944" y="5193792"/>
            <a:ext cx="3255264" cy="448056"/>
          </a:xfrm>
          <a:prstGeom prst="rect">
            <a:avLst/>
          </a:prstGeom>
          <a:noFill/>
        </p:spPr>
        <p:txBody>
          <a:bodyPr wrap="square" lIns="0" rIns="0" tIns="0" bIns="0" anchor="t">
            <a:spAutoFit/>
          </a:bodyPr>
          <a:lstStyle/>
          <a:p>
            <a:pPr algn="l">
              <a:lnSpc>
                <a:spcPct val="110000"/>
              </a:lnSpc>
              <a:spcAft>
                <a:spcPts val="0"/>
              </a:spcAft>
            </a:pPr>
            <a:r>
              <a:rPr sz="1180" b="0">
                <a:solidFill>
                  <a:srgbClr val="21364E"/>
                </a:solidFill>
                <a:latin typeface="Arial"/>
                <a:ea typeface="Arial"/>
                <a:cs typeface="Arial"/>
              </a:rPr>
              <a:t>Same topology; session_mode: duplex</a:t>
            </a:r>
          </a:p>
          <a:p>
            <a:pPr algn="l">
              <a:lnSpc>
                <a:spcPct val="110000"/>
              </a:lnSpc>
              <a:spcAft>
                <a:spcPts val="0"/>
              </a:spcAft>
            </a:pPr>
            <a:r>
              <a:rPr sz="1180" b="0">
                <a:solidFill>
                  <a:srgbClr val="21364E"/>
                </a:solidFill>
                <a:latin typeface="Arial"/>
                <a:ea typeface="Arial"/>
                <a:cs typeface="Arial"/>
              </a:rPr>
              <a:t>Configure devices and network connectors</a:t>
            </a:r>
          </a:p>
        </p:txBody>
      </p:sp>
      <p:sp>
        <p:nvSpPr>
          <p:cNvPr id="33" name="Rounded Rectangle 32"/>
          <p:cNvSpPr/>
          <p:nvPr/>
        </p:nvSpPr>
        <p:spPr>
          <a:xfrm>
            <a:off x="4315968"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4462272" y="4837176"/>
            <a:ext cx="3255264" cy="256032"/>
          </a:xfrm>
          <a:prstGeom prst="rect">
            <a:avLst/>
          </a:prstGeom>
          <a:noFill/>
        </p:spPr>
        <p:txBody>
          <a:bodyPr wrap="square" lIns="0" rIns="0" tIns="0" bIns="0" anchor="t">
            <a:spAutoFit/>
          </a:bodyPr>
          <a:lstStyle/>
          <a:p>
            <a:pPr algn="l">
              <a:lnSpc>
                <a:spcPct val="110000"/>
              </a:lnSpc>
              <a:spcAft>
                <a:spcPts val="0"/>
              </a:spcAft>
            </a:pPr>
            <a:r>
              <a:rPr sz="1250" b="1">
                <a:solidFill>
                  <a:srgbClr val="142B45"/>
                </a:solidFill>
                <a:latin typeface="Arial"/>
                <a:ea typeface="Arial"/>
                <a:cs typeface="Arial"/>
              </a:rPr>
              <a:t>2  START THE HEAD</a:t>
            </a:r>
          </a:p>
        </p:txBody>
      </p:sp>
      <p:sp>
        <p:nvSpPr>
          <p:cNvPr id="35" name="TextBox 34"/>
          <p:cNvSpPr txBox="1"/>
          <p:nvPr/>
        </p:nvSpPr>
        <p:spPr>
          <a:xfrm>
            <a:off x="4462272" y="5193792"/>
            <a:ext cx="3255264" cy="448056"/>
          </a:xfrm>
          <a:prstGeom prst="rect">
            <a:avLst/>
          </a:prstGeom>
          <a:noFill/>
        </p:spPr>
        <p:txBody>
          <a:bodyPr wrap="square" lIns="0" rIns="0" tIns="0" bIns="0" anchor="t">
            <a:spAutoFit/>
          </a:bodyPr>
          <a:lstStyle/>
          <a:p>
            <a:pPr algn="l">
              <a:lnSpc>
                <a:spcPct val="110000"/>
              </a:lnSpc>
              <a:spcAft>
                <a:spcPts val="0"/>
              </a:spcAft>
            </a:pPr>
            <a:r>
              <a:rPr sz="1180" b="0">
                <a:solidFill>
                  <a:srgbClr val="21364E"/>
                </a:solidFill>
                <a:latin typeface="Arial"/>
                <a:ea typeface="Arial"/>
                <a:cs typeface="Arial"/>
              </a:rPr>
              <a:t>stage-id 0 starts one API worker + local stage</a:t>
            </a:r>
          </a:p>
          <a:p>
            <a:pPr algn="l">
              <a:lnSpc>
                <a:spcPct val="110000"/>
              </a:lnSpc>
              <a:spcAft>
                <a:spcPts val="0"/>
              </a:spcAft>
            </a:pPr>
            <a:r>
              <a:rPr sz="1180" b="0">
                <a:solidFill>
                  <a:srgbClr val="21364E"/>
                </a:solidFill>
                <a:latin typeface="Arial"/>
                <a:ea typeface="Arial"/>
                <a:cs typeface="Arial"/>
              </a:rPr>
              <a:t>Publish a reachable master address / port</a:t>
            </a:r>
          </a:p>
        </p:txBody>
      </p:sp>
      <p:sp>
        <p:nvSpPr>
          <p:cNvPr id="36" name="Rounded Rectangle 35"/>
          <p:cNvSpPr/>
          <p:nvPr/>
        </p:nvSpPr>
        <p:spPr>
          <a:xfrm>
            <a:off x="8083296"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8229600" y="4837176"/>
            <a:ext cx="3255264" cy="256032"/>
          </a:xfrm>
          <a:prstGeom prst="rect">
            <a:avLst/>
          </a:prstGeom>
          <a:noFill/>
        </p:spPr>
        <p:txBody>
          <a:bodyPr wrap="square" lIns="0" rIns="0" tIns="0" bIns="0" anchor="t">
            <a:spAutoFit/>
          </a:bodyPr>
          <a:lstStyle/>
          <a:p>
            <a:pPr algn="l">
              <a:lnSpc>
                <a:spcPct val="110000"/>
              </a:lnSpc>
              <a:spcAft>
                <a:spcPts val="0"/>
              </a:spcAft>
            </a:pPr>
            <a:r>
              <a:rPr sz="1250" b="1">
                <a:solidFill>
                  <a:srgbClr val="142B45"/>
                </a:solidFill>
                <a:latin typeface="Arial"/>
                <a:ea typeface="Arial"/>
                <a:cs typeface="Arial"/>
              </a:rPr>
              <a:t>3  LAUNCH HEADLESS PROCESSES</a:t>
            </a:r>
          </a:p>
        </p:txBody>
      </p:sp>
      <p:sp>
        <p:nvSpPr>
          <p:cNvPr id="38" name="TextBox 37"/>
          <p:cNvSpPr txBox="1"/>
          <p:nvPr/>
        </p:nvSpPr>
        <p:spPr>
          <a:xfrm>
            <a:off x="8229600" y="5193792"/>
            <a:ext cx="3255264" cy="448056"/>
          </a:xfrm>
          <a:prstGeom prst="rect">
            <a:avLst/>
          </a:prstGeom>
          <a:noFill/>
        </p:spPr>
        <p:txBody>
          <a:bodyPr wrap="square" lIns="0" rIns="0" tIns="0" bIns="0" anchor="t">
            <a:spAutoFit/>
          </a:bodyPr>
          <a:lstStyle/>
          <a:p>
            <a:pPr algn="l">
              <a:lnSpc>
                <a:spcPct val="110000"/>
              </a:lnSpc>
              <a:spcAft>
                <a:spcPts val="0"/>
              </a:spcAft>
            </a:pPr>
            <a:r>
              <a:rPr sz="1180" b="0">
                <a:solidFill>
                  <a:srgbClr val="21364E"/>
                </a:solidFill>
                <a:latin typeface="Arial"/>
                <a:ea typeface="Arial"/>
                <a:cs typeface="Arial"/>
              </a:rPr>
              <a:t>Set stage-id and the same master</a:t>
            </a:r>
          </a:p>
          <a:p>
            <a:pPr algn="l">
              <a:lnSpc>
                <a:spcPct val="110000"/>
              </a:lnSpc>
              <a:spcAft>
                <a:spcPts val="0"/>
              </a:spcAft>
            </a:pPr>
            <a:r>
              <a:rPr sz="1180" b="0">
                <a:solidFill>
                  <a:srgbClr val="21364E"/>
                </a:solidFill>
                <a:latin typeface="Arial"/>
                <a:ea typeface="Arial"/>
                <a:cs typeface="Arial"/>
              </a:rPr>
              <a:t>Register with OmniMaster; launch local stage</a:t>
            </a:r>
          </a:p>
        </p:txBody>
      </p:sp>
      <p:sp>
        <p:nvSpPr>
          <p:cNvPr id="39" name="TextBox 38"/>
          <p:cNvSpPr txBox="1"/>
          <p:nvPr/>
        </p:nvSpPr>
        <p:spPr>
          <a:xfrm>
            <a:off x="722376" y="6089904"/>
            <a:ext cx="10744200" cy="292608"/>
          </a:xfrm>
          <a:prstGeom prst="rect">
            <a:avLst/>
          </a:prstGeom>
          <a:noFill/>
        </p:spPr>
        <p:txBody>
          <a:bodyPr wrap="square" lIns="0" rIns="0" tIns="0" bIns="0" anchor="t">
            <a:spAutoFit/>
          </a:bodyPr>
          <a:lstStyle/>
          <a:p>
            <a:pPr algn="l">
              <a:lnSpc>
                <a:spcPct val="110000"/>
              </a:lnSpc>
              <a:spcAft>
                <a:spcPts val="0"/>
              </a:spcAft>
            </a:pPr>
            <a:r>
              <a:rPr sz="1150" b="0">
                <a:solidFill>
                  <a:srgbClr val="586B7E"/>
                </a:solidFill>
                <a:latin typeface="Arial"/>
                <a:ea typeface="Arial"/>
                <a:cs typeface="Arial"/>
              </a:rPr>
              <a:t>Headless stages share the Head Orchestrator. Duplex rejects multiple API workers; cross-node data needs a network connector.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CODE REFERENCES</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100" b="1">
                <a:solidFill>
                  <a:srgbClr val="142B45"/>
                </a:solidFill>
                <a:latin typeface="Arial"/>
                <a:ea typeface="Arial"/>
                <a:cs typeface="Arial"/>
              </a:rPr>
              <a:t>Code references</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A6</a:t>
            </a:r>
          </a:p>
        </p:txBody>
      </p:sp>
      <p:sp>
        <p:nvSpPr>
          <p:cNvPr id="12" name="Rounded Rectangle 11"/>
          <p:cNvSpPr/>
          <p:nvPr/>
        </p:nvSpPr>
        <p:spPr>
          <a:xfrm>
            <a:off x="548640" y="2221992"/>
            <a:ext cx="11082528" cy="384048"/>
          </a:xfrm>
          <a:prstGeom prst="roundRect">
            <a:avLst>
              <a:gd name="adj" fmla="val 10000"/>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49808" y="2313432"/>
            <a:ext cx="2130552" cy="256032"/>
          </a:xfrm>
          <a:prstGeom prst="rect">
            <a:avLst/>
          </a:prstGeom>
          <a:noFill/>
        </p:spPr>
        <p:txBody>
          <a:bodyPr wrap="square" lIns="0" rIns="0" tIns="0" bIns="0" anchor="t">
            <a:spAutoFit/>
          </a:bodyPr>
          <a:lstStyle/>
          <a:p>
            <a:pPr algn="l">
              <a:lnSpc>
                <a:spcPct val="110000"/>
              </a:lnSpc>
              <a:spcAft>
                <a:spcPts val="0"/>
              </a:spcAft>
            </a:pPr>
            <a:r>
              <a:rPr sz="1200" b="1">
                <a:solidFill>
                  <a:srgbClr val="FFFFFF"/>
                </a:solidFill>
                <a:latin typeface="Arial"/>
                <a:ea typeface="Arial"/>
                <a:cs typeface="Arial"/>
              </a:rPr>
              <a:t>LAYER</a:t>
            </a:r>
          </a:p>
        </p:txBody>
      </p:sp>
      <p:sp>
        <p:nvSpPr>
          <p:cNvPr id="14" name="TextBox 13"/>
          <p:cNvSpPr txBox="1"/>
          <p:nvPr/>
        </p:nvSpPr>
        <p:spPr>
          <a:xfrm>
            <a:off x="3044952" y="2313432"/>
            <a:ext cx="4672584" cy="256032"/>
          </a:xfrm>
          <a:prstGeom prst="rect">
            <a:avLst/>
          </a:prstGeom>
          <a:noFill/>
        </p:spPr>
        <p:txBody>
          <a:bodyPr wrap="square" lIns="0" rIns="0" tIns="0" bIns="0" anchor="t">
            <a:spAutoFit/>
          </a:bodyPr>
          <a:lstStyle/>
          <a:p>
            <a:pPr algn="l">
              <a:lnSpc>
                <a:spcPct val="110000"/>
              </a:lnSpc>
              <a:spcAft>
                <a:spcPts val="0"/>
              </a:spcAft>
            </a:pPr>
            <a:r>
              <a:rPr sz="1200" b="1">
                <a:solidFill>
                  <a:srgbClr val="FFFFFF"/>
                </a:solidFill>
                <a:latin typeface="Arial"/>
                <a:ea typeface="Arial"/>
                <a:cs typeface="Arial"/>
              </a:rPr>
              <a:t>IMPLEMENTATION ENTRY</a:t>
            </a:r>
          </a:p>
        </p:txBody>
      </p:sp>
      <p:sp>
        <p:nvSpPr>
          <p:cNvPr id="15" name="TextBox 14"/>
          <p:cNvSpPr txBox="1"/>
          <p:nvPr/>
        </p:nvSpPr>
        <p:spPr>
          <a:xfrm>
            <a:off x="8147304" y="2313432"/>
            <a:ext cx="3236976" cy="256032"/>
          </a:xfrm>
          <a:prstGeom prst="rect">
            <a:avLst/>
          </a:prstGeom>
          <a:noFill/>
        </p:spPr>
        <p:txBody>
          <a:bodyPr wrap="square" lIns="0" rIns="0" tIns="0" bIns="0" anchor="t">
            <a:spAutoFit/>
          </a:bodyPr>
          <a:lstStyle/>
          <a:p>
            <a:pPr algn="l">
              <a:lnSpc>
                <a:spcPct val="110000"/>
              </a:lnSpc>
              <a:spcAft>
                <a:spcPts val="0"/>
              </a:spcAft>
            </a:pPr>
            <a:r>
              <a:rPr sz="1200" b="1">
                <a:solidFill>
                  <a:srgbClr val="FFFFFF"/>
                </a:solidFill>
                <a:latin typeface="Arial"/>
                <a:ea typeface="Arial"/>
                <a:cs typeface="Arial"/>
              </a:rPr>
              <a:t>READ FOR</a:t>
            </a:r>
          </a:p>
        </p:txBody>
      </p:sp>
      <p:sp>
        <p:nvSpPr>
          <p:cNvPr id="16" name="Rounded Rectangle 15"/>
          <p:cNvSpPr/>
          <p:nvPr/>
        </p:nvSpPr>
        <p:spPr>
          <a:xfrm>
            <a:off x="548640" y="2660904"/>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749808" y="2752344"/>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API adapter</a:t>
            </a:r>
          </a:p>
        </p:txBody>
      </p:sp>
      <p:sp>
        <p:nvSpPr>
          <p:cNvPr id="18" name="TextBox 17"/>
          <p:cNvSpPr txBox="1"/>
          <p:nvPr/>
        </p:nvSpPr>
        <p:spPr>
          <a:xfrm>
            <a:off x="3044952" y="2752344"/>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4"/>
              </a:rPr>
              <a:t>OmniDuplexSessionHandler</a:t>
            </a:r>
          </a:p>
        </p:txBody>
      </p:sp>
      <p:sp>
        <p:nvSpPr>
          <p:cNvPr id="19" name="TextBox 18"/>
          <p:cNvSpPr txBox="1"/>
          <p:nvPr/>
        </p:nvSpPr>
        <p:spPr>
          <a:xfrm>
            <a:off x="8147304" y="2761488"/>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Wire events, attachment, replay</a:t>
            </a:r>
          </a:p>
        </p:txBody>
      </p:sp>
      <p:sp>
        <p:nvSpPr>
          <p:cNvPr id="20" name="Rounded Rectangle 19"/>
          <p:cNvSpPr/>
          <p:nvPr/>
        </p:nvSpPr>
        <p:spPr>
          <a:xfrm>
            <a:off x="548640" y="3136392"/>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749808" y="3227832"/>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EngineClient</a:t>
            </a:r>
          </a:p>
        </p:txBody>
      </p:sp>
      <p:sp>
        <p:nvSpPr>
          <p:cNvPr id="22" name="TextBox 21"/>
          <p:cNvSpPr txBox="1"/>
          <p:nvPr/>
        </p:nvSpPr>
        <p:spPr>
          <a:xfrm>
            <a:off x="3044952" y="3227832"/>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5"/>
              </a:rPr>
              <a:t>DuplexOmni / DuplexSessionHandle</a:t>
            </a:r>
          </a:p>
        </p:txBody>
      </p:sp>
      <p:sp>
        <p:nvSpPr>
          <p:cNvPr id="23" name="TextBox 22"/>
          <p:cNvSpPr txBox="1"/>
          <p:nvPr/>
        </p:nvSpPr>
        <p:spPr>
          <a:xfrm>
            <a:off x="8147304" y="3236976"/>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Handles, shared output buffer, events</a:t>
            </a:r>
          </a:p>
        </p:txBody>
      </p:sp>
      <p:sp>
        <p:nvSpPr>
          <p:cNvPr id="24" name="Rounded Rectangle 23"/>
          <p:cNvSpPr/>
          <p:nvPr/>
        </p:nvSpPr>
        <p:spPr>
          <a:xfrm>
            <a:off x="548640" y="3611880"/>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749808" y="3703320"/>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Transport</a:t>
            </a:r>
          </a:p>
        </p:txBody>
      </p:sp>
      <p:sp>
        <p:nvSpPr>
          <p:cNvPr id="26" name="TextBox 25"/>
          <p:cNvSpPr txBox="1"/>
          <p:nvPr/>
        </p:nvSpPr>
        <p:spPr>
          <a:xfrm>
            <a:off x="3044952" y="3703320"/>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6"/>
              </a:rPr>
              <a:t>DuplexOmniEngine</a:t>
            </a:r>
            <a:r>
              <a:rPr sz="1450" b="0">
                <a:solidFill>
                  <a:srgbClr val="327CEC"/>
                </a:solidFill>
                <a:latin typeface="Arial"/>
                <a:ea typeface="Arial"/>
                <a:cs typeface="Arial"/>
              </a:rPr>
              <a:t> / </a:t>
            </a:r>
            <a:r>
              <a:rPr sz="1450" b="0">
                <a:solidFill>
                  <a:srgbClr val="327CEC"/>
                </a:solidFill>
                <a:latin typeface="Arial"/>
                <a:ea typeface="Arial"/>
                <a:cs typeface="Arial"/>
                <a:hlinkClick r:id="rId11"/>
              </a:rPr>
              <a:t>DuplexOutputBuffer</a:t>
            </a:r>
          </a:p>
        </p:txBody>
      </p:sp>
      <p:sp>
        <p:nvSpPr>
          <p:cNvPr id="27" name="TextBox 26"/>
          <p:cNvSpPr txBox="1"/>
          <p:nvPr/>
        </p:nvSpPr>
        <p:spPr>
          <a:xfrm>
            <a:off x="8147304" y="3712464"/>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Control queues; bounded session output</a:t>
            </a:r>
          </a:p>
        </p:txBody>
      </p:sp>
      <p:sp>
        <p:nvSpPr>
          <p:cNvPr id="28" name="Rounded Rectangle 27"/>
          <p:cNvSpPr/>
          <p:nvPr/>
        </p:nvSpPr>
        <p:spPr>
          <a:xfrm>
            <a:off x="548640" y="4087368"/>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49808" y="4178808"/>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Session runtime</a:t>
            </a:r>
          </a:p>
        </p:txBody>
      </p:sp>
      <p:sp>
        <p:nvSpPr>
          <p:cNvPr id="30" name="TextBox 29"/>
          <p:cNvSpPr txBox="1"/>
          <p:nvPr/>
        </p:nvSpPr>
        <p:spPr>
          <a:xfrm>
            <a:off x="3044952" y="4178808"/>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7"/>
              </a:rPr>
              <a:t>DuplexSessionManager / DuplexSessionRunner</a:t>
            </a:r>
          </a:p>
        </p:txBody>
      </p:sp>
      <p:sp>
        <p:nvSpPr>
          <p:cNvPr id="31" name="TextBox 30"/>
          <p:cNvSpPr txBox="1"/>
          <p:nvPr/>
        </p:nvSpPr>
        <p:spPr>
          <a:xfrm>
            <a:off x="8147304" y="4187952"/>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Leases, state, mailbox, model policy</a:t>
            </a:r>
          </a:p>
        </p:txBody>
      </p:sp>
      <p:sp>
        <p:nvSpPr>
          <p:cNvPr id="32" name="Rounded Rectangle 31"/>
          <p:cNvSpPr/>
          <p:nvPr/>
        </p:nvSpPr>
        <p:spPr>
          <a:xfrm>
            <a:off x="548640" y="4562856"/>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749808" y="4654296"/>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Stage orchestration</a:t>
            </a:r>
          </a:p>
        </p:txBody>
      </p:sp>
      <p:sp>
        <p:nvSpPr>
          <p:cNvPr id="34" name="TextBox 33"/>
          <p:cNvSpPr txBox="1"/>
          <p:nvPr/>
        </p:nvSpPr>
        <p:spPr>
          <a:xfrm>
            <a:off x="3044952" y="4654296"/>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8"/>
              </a:rPr>
              <a:t>DuplexOrchestrator / StagePool</a:t>
            </a:r>
          </a:p>
        </p:txBody>
      </p:sp>
      <p:sp>
        <p:nvSpPr>
          <p:cNvPr id="35" name="TextBox 34"/>
          <p:cNvSpPr txBox="1"/>
          <p:nvPr/>
        </p:nvSpPr>
        <p:spPr>
          <a:xfrm>
            <a:off x="8147304" y="4663440"/>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Initial / update, replica affinity</a:t>
            </a:r>
          </a:p>
        </p:txBody>
      </p:sp>
      <p:sp>
        <p:nvSpPr>
          <p:cNvPr id="36" name="Rounded Rectangle 35"/>
          <p:cNvSpPr/>
          <p:nvPr/>
        </p:nvSpPr>
        <p:spPr>
          <a:xfrm>
            <a:off x="548640" y="5038344"/>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49808" y="5129783"/>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Model execution</a:t>
            </a:r>
          </a:p>
        </p:txBody>
      </p:sp>
      <p:sp>
        <p:nvSpPr>
          <p:cNvPr id="38" name="TextBox 37"/>
          <p:cNvSpPr txBox="1"/>
          <p:nvPr/>
        </p:nvSpPr>
        <p:spPr>
          <a:xfrm>
            <a:off x="3044952" y="5129783"/>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9"/>
              </a:rPr>
              <a:t>Scheduler / Model Worker</a:t>
            </a:r>
          </a:p>
        </p:txBody>
      </p:sp>
      <p:sp>
        <p:nvSpPr>
          <p:cNvPr id="39" name="TextBox 38"/>
          <p:cNvSpPr txBox="1"/>
          <p:nvPr/>
        </p:nvSpPr>
        <p:spPr>
          <a:xfrm>
            <a:off x="8147304" y="5138928"/>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Batching, compute, model caches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SESSION CONTROL</a:t>
            </a:r>
          </a:p>
        </p:txBody>
      </p:sp>
      <p:cxnSp>
        <p:nvCxnSpPr>
          <p:cNvPr id="6" name="Connector 5"/>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8" name="TextBox 7"/>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9" name="TextBox 8"/>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A2</a:t>
            </a:r>
          </a:p>
        </p:txBody>
      </p:sp>
      <p:sp>
        <p:nvSpPr>
          <p:cNvPr id="10" name="TextBox 9"/>
          <p:cNvSpPr txBox="1"/>
          <p:nvPr/>
        </p:nvSpPr>
        <p:spPr>
          <a:xfrm>
            <a:off x="548640" y="1234440"/>
            <a:ext cx="5486400" cy="1417320"/>
          </a:xfrm>
          <a:prstGeom prst="rect">
            <a:avLst/>
          </a:prstGeom>
          <a:noFill/>
        </p:spPr>
        <p:txBody>
          <a:bodyPr wrap="square" lIns="0" rIns="0" tIns="0" bIns="0" anchor="t">
            <a:spAutoFit/>
          </a:bodyPr>
          <a:lstStyle/>
          <a:p>
            <a:pPr algn="l">
              <a:lnSpc>
                <a:spcPct val="110000"/>
              </a:lnSpc>
              <a:spcAft>
                <a:spcPts val="0"/>
              </a:spcAft>
            </a:pPr>
            <a:r>
              <a:rPr sz="3100" b="1">
                <a:solidFill>
                  <a:srgbClr val="142B45"/>
                </a:solidFill>
                <a:latin typeface="Arial"/>
                <a:ea typeface="Arial"/>
                <a:cs typeface="Arial"/>
              </a:rPr>
              <a:t>Model decisions</a:t>
            </a:r>
          </a:p>
          <a:p>
            <a:pPr algn="l">
              <a:lnSpc>
                <a:spcPct val="110000"/>
              </a:lnSpc>
              <a:spcAft>
                <a:spcPts val="0"/>
              </a:spcAft>
            </a:pPr>
            <a:r>
              <a:rPr sz="3100" b="1">
                <a:solidFill>
                  <a:srgbClr val="142B45"/>
                </a:solidFill>
                <a:latin typeface="Arial"/>
                <a:ea typeface="Arial"/>
                <a:cs typeface="Arial"/>
              </a:rPr>
              <a:t>and VAD interruption</a:t>
            </a:r>
          </a:p>
        </p:txBody>
      </p:sp>
      <p:sp>
        <p:nvSpPr>
          <p:cNvPr id="15" name="Rounded Rectangle 14"/>
          <p:cNvSpPr/>
          <p:nvPr/>
        </p:nvSpPr>
        <p:spPr>
          <a:xfrm>
            <a:off x="6236208" y="1170432"/>
            <a:ext cx="5394960" cy="3694176"/>
          </a:xfrm>
          <a:prstGeom prst="roundRect">
            <a:avLst>
              <a:gd name="adj" fmla="val 10000"/>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519672" y="1395831"/>
            <a:ext cx="4754880" cy="347472"/>
          </a:xfrm>
          <a:prstGeom prst="rect">
            <a:avLst/>
          </a:prstGeom>
          <a:noFill/>
        </p:spPr>
        <p:txBody>
          <a:bodyPr wrap="square" lIns="0" rIns="0" tIns="0" bIns="0" anchor="t">
            <a:spAutoFit/>
          </a:bodyPr>
          <a:lstStyle/>
          <a:p>
            <a:pPr algn="l">
              <a:lnSpc>
                <a:spcPct val="110000"/>
              </a:lnSpc>
              <a:spcAft>
                <a:spcPts val="0"/>
              </a:spcAft>
            </a:pPr>
            <a:r>
              <a:rPr sz="2200" b="1">
                <a:solidFill>
                  <a:srgbClr val="FFFFFF"/>
                </a:solidFill>
                <a:latin typeface="Arial"/>
                <a:ea typeface="Arial"/>
                <a:cs typeface="Arial"/>
              </a:rPr>
              <a:t>One live conversation</a:t>
            </a:r>
          </a:p>
        </p:txBody>
      </p:sp>
      <p:sp>
        <p:nvSpPr>
          <p:cNvPr id="100" name="TextBox 99"/>
          <p:cNvSpPr txBox="1"/>
          <p:nvPr/>
        </p:nvSpPr>
        <p:spPr>
          <a:xfrm>
            <a:off x="594360" y="2884932"/>
            <a:ext cx="365760" cy="265176"/>
          </a:xfrm>
          <a:prstGeom prst="rect">
            <a:avLst/>
          </a:prstGeom>
          <a:noFill/>
        </p:spPr>
        <p:txBody>
          <a:bodyPr wrap="square" lIns="0" rIns="0" tIns="0" bIns="0" anchor="t">
            <a:spAutoFit/>
          </a:bodyPr>
          <a:lstStyle/>
          <a:p>
            <a:pPr algn="l">
              <a:lnSpc>
                <a:spcPct val="110000"/>
              </a:lnSpc>
              <a:spcAft>
                <a:spcPts val="0"/>
              </a:spcAft>
            </a:pPr>
            <a:r>
              <a:rPr sz="1500" b="1">
                <a:solidFill>
                  <a:srgbClr val="327CEC"/>
                </a:solidFill>
                <a:latin typeface="Arial"/>
                <a:ea typeface="Arial"/>
                <a:cs typeface="Arial"/>
              </a:rPr>
              <a:t>01</a:t>
            </a:r>
          </a:p>
        </p:txBody>
      </p:sp>
      <p:sp>
        <p:nvSpPr>
          <p:cNvPr id="101" name="TextBox 100"/>
          <p:cNvSpPr txBox="1"/>
          <p:nvPr/>
        </p:nvSpPr>
        <p:spPr>
          <a:xfrm>
            <a:off x="1033271" y="2852928"/>
            <a:ext cx="5010912" cy="365760"/>
          </a:xfrm>
          <a:prstGeom prst="rect">
            <a:avLst/>
          </a:prstGeom>
          <a:noFill/>
        </p:spPr>
        <p:txBody>
          <a:bodyPr wrap="square" lIns="0" rIns="0" tIns="0" bIns="0" anchor="t">
            <a:spAutoFit/>
          </a:bodyPr>
          <a:lstStyle/>
          <a:p>
            <a:pPr algn="l">
              <a:lnSpc>
                <a:spcPct val="110000"/>
              </a:lnSpc>
              <a:spcAft>
                <a:spcPts val="0"/>
              </a:spcAft>
            </a:pPr>
            <a:r>
              <a:rPr sz="1900" b="1">
                <a:solidFill>
                  <a:srgbClr val="142B45"/>
                </a:solidFill>
                <a:latin typeface="Arial"/>
                <a:ea typeface="Arial"/>
                <a:cs typeface="Arial"/>
              </a:rPr>
              <a:t>Model-driven speech</a:t>
            </a:r>
          </a:p>
        </p:txBody>
      </p:sp>
      <p:sp>
        <p:nvSpPr>
          <p:cNvPr id="102" name="TextBox 101"/>
          <p:cNvSpPr txBox="1"/>
          <p:nvPr/>
        </p:nvSpPr>
        <p:spPr>
          <a:xfrm>
            <a:off x="1033271" y="3246120"/>
            <a:ext cx="4937760" cy="557784"/>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New input reaches ongoing model execution.</a:t>
            </a:r>
          </a:p>
          <a:p>
            <a:pPr algn="l">
              <a:lnSpc>
                <a:spcPct val="110000"/>
              </a:lnSpc>
              <a:spcAft>
                <a:spcPts val="0"/>
              </a:spcAft>
            </a:pPr>
            <a:r>
              <a:rPr sz="1400" b="0">
                <a:solidFill>
                  <a:srgbClr val="586B7E"/>
                </a:solidFill>
                <a:latin typeface="Arial"/>
                <a:ea typeface="Arial"/>
                <a:cs typeface="Arial"/>
              </a:rPr>
              <a:t>The model chooses whether to keep speaking.</a:t>
            </a:r>
          </a:p>
        </p:txBody>
      </p:sp>
      <p:sp>
        <p:nvSpPr>
          <p:cNvPr id="103" name="TextBox 102"/>
          <p:cNvSpPr txBox="1"/>
          <p:nvPr/>
        </p:nvSpPr>
        <p:spPr>
          <a:xfrm>
            <a:off x="594360" y="3835908"/>
            <a:ext cx="365760" cy="265176"/>
          </a:xfrm>
          <a:prstGeom prst="rect">
            <a:avLst/>
          </a:prstGeom>
          <a:noFill/>
        </p:spPr>
        <p:txBody>
          <a:bodyPr wrap="square" lIns="0" rIns="0" tIns="0" bIns="0" anchor="t">
            <a:spAutoFit/>
          </a:bodyPr>
          <a:lstStyle/>
          <a:p>
            <a:pPr algn="l">
              <a:lnSpc>
                <a:spcPct val="110000"/>
              </a:lnSpc>
              <a:spcAft>
                <a:spcPts val="0"/>
              </a:spcAft>
            </a:pPr>
            <a:r>
              <a:rPr sz="1500" b="1">
                <a:solidFill>
                  <a:srgbClr val="008E96"/>
                </a:solidFill>
                <a:latin typeface="Arial"/>
                <a:ea typeface="Arial"/>
                <a:cs typeface="Arial"/>
              </a:rPr>
              <a:t>02</a:t>
            </a:r>
          </a:p>
        </p:txBody>
      </p:sp>
      <p:sp>
        <p:nvSpPr>
          <p:cNvPr id="104" name="TextBox 103"/>
          <p:cNvSpPr txBox="1"/>
          <p:nvPr/>
        </p:nvSpPr>
        <p:spPr>
          <a:xfrm>
            <a:off x="1033271" y="3803904"/>
            <a:ext cx="5010912" cy="365760"/>
          </a:xfrm>
          <a:prstGeom prst="rect">
            <a:avLst/>
          </a:prstGeom>
          <a:noFill/>
        </p:spPr>
        <p:txBody>
          <a:bodyPr wrap="square" lIns="0" rIns="0" tIns="0" bIns="0" anchor="t">
            <a:spAutoFit/>
          </a:bodyPr>
          <a:lstStyle/>
          <a:p>
            <a:pPr algn="l">
              <a:lnSpc>
                <a:spcPct val="110000"/>
              </a:lnSpc>
              <a:spcAft>
                <a:spcPts val="0"/>
              </a:spcAft>
            </a:pPr>
            <a:r>
              <a:rPr sz="1900" b="1">
                <a:solidFill>
                  <a:srgbClr val="142B45"/>
                </a:solidFill>
                <a:latin typeface="Arial"/>
                <a:ea typeface="Arial"/>
                <a:cs typeface="Arial"/>
              </a:rPr>
              <a:t>VAD-driven turn-taking</a:t>
            </a:r>
          </a:p>
        </p:txBody>
      </p:sp>
      <p:sp>
        <p:nvSpPr>
          <p:cNvPr id="105" name="TextBox 104"/>
          <p:cNvSpPr txBox="1"/>
          <p:nvPr/>
        </p:nvSpPr>
        <p:spPr>
          <a:xfrm>
            <a:off x="1033271" y="4197096"/>
            <a:ext cx="4937760" cy="557784"/>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Speech onset interrupts the active reply.</a:t>
            </a:r>
          </a:p>
          <a:p>
            <a:pPr algn="l">
              <a:lnSpc>
                <a:spcPct val="110000"/>
              </a:lnSpc>
              <a:spcAft>
                <a:spcPts val="0"/>
              </a:spcAft>
            </a:pPr>
            <a:r>
              <a:rPr sz="1400" b="0">
                <a:solidFill>
                  <a:srgbClr val="586B7E"/>
                </a:solidFill>
                <a:latin typeface="Arial"/>
                <a:ea typeface="Arial"/>
                <a:cs typeface="Arial"/>
              </a:rPr>
              <a:t>Silence triggers commit and a fresh request.</a:t>
            </a:r>
          </a:p>
        </p:txBody>
      </p:sp>
      <p:sp>
        <p:nvSpPr>
          <p:cNvPr id="106" name="Rounded Rectangle 105"/>
          <p:cNvSpPr/>
          <p:nvPr/>
        </p:nvSpPr>
        <p:spPr>
          <a:xfrm>
            <a:off x="548640" y="5020056"/>
            <a:ext cx="11082528" cy="1298448"/>
          </a:xfrm>
          <a:prstGeom prst="roundRect">
            <a:avLst>
              <a:gd name="adj" fmla="val 10000"/>
            </a:avLst>
          </a:prstGeom>
          <a:solidFill>
            <a:srgbClr val="FBF4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7" name="Rectangle 106"/>
          <p:cNvSpPr/>
          <p:nvPr/>
        </p:nvSpPr>
        <p:spPr>
          <a:xfrm>
            <a:off x="548640" y="5020056"/>
            <a:ext cx="41148" cy="1298448"/>
          </a:xfrm>
          <a:prstGeom prst="rect">
            <a:avLst/>
          </a:prstGeom>
          <a:solidFill>
            <a:srgbClr val="AD76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8" name="TextBox 107"/>
          <p:cNvSpPr txBox="1"/>
          <p:nvPr/>
        </p:nvSpPr>
        <p:spPr>
          <a:xfrm>
            <a:off x="731520" y="5166360"/>
            <a:ext cx="365760" cy="256032"/>
          </a:xfrm>
          <a:prstGeom prst="rect">
            <a:avLst/>
          </a:prstGeom>
          <a:noFill/>
        </p:spPr>
        <p:txBody>
          <a:bodyPr wrap="square" lIns="0" rIns="0" tIns="0" bIns="0" anchor="t">
            <a:spAutoFit/>
          </a:bodyPr>
          <a:lstStyle/>
          <a:p>
            <a:pPr algn="l">
              <a:lnSpc>
                <a:spcPct val="110000"/>
              </a:lnSpc>
              <a:spcAft>
                <a:spcPts val="0"/>
              </a:spcAft>
            </a:pPr>
            <a:r>
              <a:rPr sz="1500" b="1">
                <a:solidFill>
                  <a:srgbClr val="AD761E"/>
                </a:solidFill>
                <a:latin typeface="Arial"/>
                <a:ea typeface="Arial"/>
                <a:cs typeface="Arial"/>
              </a:rPr>
              <a:t/>
            </a:r>
          </a:p>
        </p:txBody>
      </p:sp>
      <p:sp>
        <p:nvSpPr>
          <p:cNvPr id="109" name="TextBox 108"/>
          <p:cNvSpPr txBox="1"/>
          <p:nvPr/>
        </p:nvSpPr>
        <p:spPr>
          <a:xfrm>
            <a:off x="786384" y="5166360"/>
            <a:ext cx="5166360" cy="283464"/>
          </a:xfrm>
          <a:prstGeom prst="rect">
            <a:avLst/>
          </a:prstGeom>
          <a:noFill/>
        </p:spPr>
        <p:txBody>
          <a:bodyPr wrap="square" lIns="0" rIns="0" tIns="0" bIns="0" anchor="t">
            <a:spAutoFit/>
          </a:bodyPr>
          <a:lstStyle/>
          <a:p>
            <a:pPr algn="l">
              <a:lnSpc>
                <a:spcPct val="110000"/>
              </a:lnSpc>
              <a:spcAft>
                <a:spcPts val="0"/>
              </a:spcAft>
            </a:pPr>
            <a:r>
              <a:rPr sz="1700" b="1">
                <a:solidFill>
                  <a:srgbClr val="142B45"/>
                </a:solidFill>
                <a:latin typeface="Arial"/>
                <a:ea typeface="Arial"/>
                <a:cs typeface="Arial"/>
              </a:rPr>
              <a:t>Two cancellation entry points</a:t>
            </a:r>
          </a:p>
        </p:txBody>
      </p:sp>
      <p:sp>
        <p:nvSpPr>
          <p:cNvPr id="110" name="TextBox 109"/>
          <p:cNvSpPr txBox="1"/>
          <p:nvPr/>
        </p:nvSpPr>
        <p:spPr>
          <a:xfrm>
            <a:off x="6318504" y="5202936"/>
            <a:ext cx="5029200" cy="228600"/>
          </a:xfrm>
          <a:prstGeom prst="rect">
            <a:avLst/>
          </a:prstGeom>
          <a:noFill/>
        </p:spPr>
        <p:txBody>
          <a:bodyPr wrap="square" lIns="0" rIns="0" tIns="0" bIns="0" anchor="t">
            <a:spAutoFit/>
          </a:bodyPr>
          <a:lstStyle/>
          <a:p>
            <a:pPr algn="l">
              <a:lnSpc>
                <a:spcPct val="110000"/>
              </a:lnSpc>
              <a:spcAft>
                <a:spcPts val="0"/>
              </a:spcAft>
            </a:pPr>
            <a:r>
              <a:rPr sz="1140" b="0">
                <a:solidFill>
                  <a:srgbClr val="586B7E"/>
                </a:solidFill>
                <a:latin typeface="Arial"/>
                <a:ea typeface="Arial"/>
                <a:cs typeface="Arial"/>
              </a:rPr>
              <a:t>LISTEN is a model decision, separate from these paths.</a:t>
            </a:r>
          </a:p>
        </p:txBody>
      </p:sp>
      <p:cxnSp>
        <p:nvCxnSpPr>
          <p:cNvPr id="111" name="Connector 110"/>
          <p:cNvCxnSpPr/>
          <p:nvPr/>
        </p:nvCxnSpPr>
        <p:spPr>
          <a:xfrm>
            <a:off x="777240" y="5495544"/>
            <a:ext cx="10625328" cy="0"/>
          </a:xfrm>
          <a:prstGeom prst="line">
            <a:avLst/>
          </a:prstGeom>
          <a:ln w="10160">
            <a:solidFill>
              <a:srgbClr val="DEE6EF"/>
            </a:solidFill>
          </a:ln>
          <a:effectLst/>
        </p:spPr>
        <p:style>
          <a:lnRef idx="2">
            <a:schemeClr val="accent1"/>
          </a:lnRef>
          <a:fillRef idx="0">
            <a:schemeClr val="accent1"/>
          </a:fillRef>
          <a:effectRef idx="0">
            <a:schemeClr val="accent1"/>
          </a:effectRef>
          <a:fontRef idx="minor">
            <a:schemeClr val="tx1"/>
          </a:fontRef>
        </p:style>
      </p:cxnSp>
      <p:cxnSp>
        <p:nvCxnSpPr>
          <p:cNvPr id="112" name="Connector 111"/>
          <p:cNvCxnSpPr/>
          <p:nvPr/>
        </p:nvCxnSpPr>
        <p:spPr>
          <a:xfrm>
            <a:off x="6071616" y="5605272"/>
            <a:ext cx="0" cy="530352"/>
          </a:xfrm>
          <a:prstGeom prst="line">
            <a:avLst/>
          </a:prstGeom>
          <a:ln w="1016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113" name="TextBox 112"/>
          <p:cNvSpPr txBox="1"/>
          <p:nvPr/>
        </p:nvSpPr>
        <p:spPr>
          <a:xfrm>
            <a:off x="786384" y="5568696"/>
            <a:ext cx="5038344" cy="283464"/>
          </a:xfrm>
          <a:prstGeom prst="rect">
            <a:avLst/>
          </a:prstGeom>
          <a:noFill/>
        </p:spPr>
        <p:txBody>
          <a:bodyPr wrap="square" lIns="0" rIns="0" tIns="0" bIns="0" anchor="t">
            <a:spAutoFit/>
          </a:bodyPr>
          <a:lstStyle/>
          <a:p>
            <a:pPr algn="l">
              <a:lnSpc>
                <a:spcPct val="110000"/>
              </a:lnSpc>
              <a:spcAft>
                <a:spcPts val="0"/>
              </a:spcAft>
            </a:pPr>
            <a:r>
              <a:rPr sz="1500" b="1">
                <a:solidFill>
                  <a:srgbClr val="327CEC"/>
                </a:solidFill>
                <a:latin typeface="Arial"/>
                <a:ea typeface="Arial"/>
                <a:cs typeface="Arial"/>
              </a:rPr>
              <a:t>Explicit response.cancel</a:t>
            </a:r>
          </a:p>
        </p:txBody>
      </p:sp>
      <p:sp>
        <p:nvSpPr>
          <p:cNvPr id="114" name="TextBox 113"/>
          <p:cNvSpPr txBox="1"/>
          <p:nvPr/>
        </p:nvSpPr>
        <p:spPr>
          <a:xfrm>
            <a:off x="786384" y="5843016"/>
            <a:ext cx="5038344" cy="393192"/>
          </a:xfrm>
          <a:prstGeom prst="rect">
            <a:avLst/>
          </a:prstGeom>
          <a:noFill/>
        </p:spPr>
        <p:txBody>
          <a:bodyPr wrap="square" lIns="0" rIns="0" tIns="0" bIns="0" anchor="t">
            <a:spAutoFit/>
          </a:bodyPr>
          <a:lstStyle/>
          <a:p>
            <a:pPr algn="l">
              <a:lnSpc>
                <a:spcPct val="110000"/>
              </a:lnSpc>
              <a:spcAft>
                <a:spcPts val="0"/>
              </a:spcAft>
            </a:pPr>
            <a:r>
              <a:rPr sz="1200" b="0">
                <a:solidFill>
                  <a:srgbClr val="142B45"/>
                </a:solidFill>
                <a:latin typeface="Arial"/>
                <a:ea typeface="Arial"/>
                <a:cs typeface="Arial"/>
              </a:rPr>
              <a:t>Client command enters the session cancellation handler.</a:t>
            </a:r>
          </a:p>
          <a:p>
            <a:pPr algn="l">
              <a:lnSpc>
                <a:spcPct val="110000"/>
              </a:lnSpc>
              <a:spcAft>
                <a:spcPts val="0"/>
              </a:spcAft>
            </a:pPr>
            <a:r>
              <a:rPr sz="1200" b="0">
                <a:solidFill>
                  <a:srgbClr val="142B45"/>
                </a:solidFill>
                <a:latin typeface="Arial"/>
                <a:ea typeface="Arial"/>
                <a:cs typeface="Arial"/>
              </a:rPr>
              <a:t>Core cancellation stops the active generation.</a:t>
            </a:r>
          </a:p>
        </p:txBody>
      </p:sp>
      <p:sp>
        <p:nvSpPr>
          <p:cNvPr id="115" name="TextBox 114"/>
          <p:cNvSpPr txBox="1"/>
          <p:nvPr/>
        </p:nvSpPr>
        <p:spPr>
          <a:xfrm>
            <a:off x="6318504" y="5568696"/>
            <a:ext cx="5065776" cy="283464"/>
          </a:xfrm>
          <a:prstGeom prst="rect">
            <a:avLst/>
          </a:prstGeom>
          <a:noFill/>
        </p:spPr>
        <p:txBody>
          <a:bodyPr wrap="square" lIns="0" rIns="0" tIns="0" bIns="0" anchor="t">
            <a:spAutoFit/>
          </a:bodyPr>
          <a:lstStyle/>
          <a:p>
            <a:pPr algn="l">
              <a:lnSpc>
                <a:spcPct val="110000"/>
              </a:lnSpc>
              <a:spcAft>
                <a:spcPts val="0"/>
              </a:spcAft>
            </a:pPr>
            <a:r>
              <a:rPr sz="1500" b="1">
                <a:solidFill>
                  <a:srgbClr val="008E96"/>
                </a:solidFill>
                <a:latin typeface="Arial"/>
                <a:ea typeface="Arial"/>
                <a:cs typeface="Arial"/>
              </a:rPr>
              <a:t>VAD-triggered interruption</a:t>
            </a:r>
          </a:p>
        </p:txBody>
      </p:sp>
      <p:sp>
        <p:nvSpPr>
          <p:cNvPr id="116" name="TextBox 115"/>
          <p:cNvSpPr txBox="1"/>
          <p:nvPr/>
        </p:nvSpPr>
        <p:spPr>
          <a:xfrm>
            <a:off x="6318504" y="5843016"/>
            <a:ext cx="5065776" cy="393192"/>
          </a:xfrm>
          <a:prstGeom prst="rect">
            <a:avLst/>
          </a:prstGeom>
          <a:noFill/>
        </p:spPr>
        <p:txBody>
          <a:bodyPr wrap="square" lIns="0" rIns="0" tIns="0" bIns="0" anchor="t">
            <a:spAutoFit/>
          </a:bodyPr>
          <a:lstStyle/>
          <a:p>
            <a:pPr algn="l">
              <a:lnSpc>
                <a:spcPct val="110000"/>
              </a:lnSpc>
              <a:spcAft>
                <a:spcPts val="0"/>
              </a:spcAft>
            </a:pPr>
            <a:r>
              <a:rPr sz="1200" b="0">
                <a:solidFill>
                  <a:srgbClr val="142B45"/>
                </a:solidFill>
                <a:latin typeface="Arial"/>
                <a:ea typeface="Arial"/>
                <a:cs typeface="Arial"/>
              </a:rPr>
              <a:t>Speech onset activates the overlap policy.</a:t>
            </a:r>
          </a:p>
          <a:p>
            <a:pPr algn="l">
              <a:lnSpc>
                <a:spcPct val="110000"/>
              </a:lnSpc>
              <a:spcAft>
                <a:spcPts val="0"/>
              </a:spcAft>
            </a:pPr>
            <a:r>
              <a:rPr sz="1200" b="0">
                <a:solidFill>
                  <a:srgbClr val="142B45"/>
                </a:solidFill>
                <a:latin typeface="Arial"/>
                <a:ea typeface="Arial"/>
                <a:cs typeface="Arial"/>
              </a:rPr>
              <a:t>It reuses core cancellation; the client stops playback.</a:t>
            </a:r>
          </a:p>
        </p:txBody>
      </p:sp>
      <p:pic>
        <p:nvPicPr>
          <p:cNvPr id="117" name="Picture 116" descr="Illustrative camera frame from a generated continuous conversation sequence; not a product screenshot."/>
          <p:cNvPicPr>
            <a:picLocks noChangeAspect="1"/>
          </p:cNvPicPr>
          <p:nvPr/>
        </p:nvPicPr>
        <p:blipFill>
          <a:blip r:embed="rId5"/>
          <a:srcRect l="400" r="86114" t="18000" b="39000"/>
          <a:stretch>
            <a:fillRect/>
          </a:stretch>
        </p:blipFill>
        <p:spPr>
          <a:xfrm>
            <a:off x="7744968" y="1773936"/>
            <a:ext cx="438912" cy="384048"/>
          </a:xfrm>
          <a:prstGeom prst="rect">
            <a:avLst/>
          </a:prstGeom>
        </p:spPr>
      </p:pic>
      <p:pic>
        <p:nvPicPr>
          <p:cNvPr id="118" name="Picture 117" descr="Illustrative camera frame from a generated continuous conversation sequence; not a product screenshot."/>
          <p:cNvPicPr>
            <a:picLocks noChangeAspect="1"/>
          </p:cNvPicPr>
          <p:nvPr/>
        </p:nvPicPr>
        <p:blipFill>
          <a:blip r:embed="rId5"/>
          <a:srcRect l="14686" r="71829" t="18000" b="39000"/>
          <a:stretch>
            <a:fillRect/>
          </a:stretch>
        </p:blipFill>
        <p:spPr>
          <a:xfrm>
            <a:off x="8247888" y="1773936"/>
            <a:ext cx="438912" cy="384048"/>
          </a:xfrm>
          <a:prstGeom prst="rect">
            <a:avLst/>
          </a:prstGeom>
        </p:spPr>
      </p:pic>
      <p:pic>
        <p:nvPicPr>
          <p:cNvPr id="119" name="Picture 118" descr="Illustrative camera frame from a generated continuous conversation sequence; not a product screenshot."/>
          <p:cNvPicPr>
            <a:picLocks noChangeAspect="1"/>
          </p:cNvPicPr>
          <p:nvPr/>
        </p:nvPicPr>
        <p:blipFill>
          <a:blip r:embed="rId5"/>
          <a:srcRect l="28971" r="57543" t="18000" b="39000"/>
          <a:stretch>
            <a:fillRect/>
          </a:stretch>
        </p:blipFill>
        <p:spPr>
          <a:xfrm>
            <a:off x="8750808" y="1773936"/>
            <a:ext cx="438912" cy="384048"/>
          </a:xfrm>
          <a:prstGeom prst="rect">
            <a:avLst/>
          </a:prstGeom>
        </p:spPr>
      </p:pic>
      <p:pic>
        <p:nvPicPr>
          <p:cNvPr id="120" name="Picture 119" descr="Illustrative camera frame from a generated continuous conversation sequence; not a product screenshot."/>
          <p:cNvPicPr>
            <a:picLocks noChangeAspect="1"/>
          </p:cNvPicPr>
          <p:nvPr/>
        </p:nvPicPr>
        <p:blipFill>
          <a:blip r:embed="rId5"/>
          <a:srcRect l="43257" r="43257" t="18000" b="39000"/>
          <a:stretch>
            <a:fillRect/>
          </a:stretch>
        </p:blipFill>
        <p:spPr>
          <a:xfrm>
            <a:off x="9253728" y="1773936"/>
            <a:ext cx="438912" cy="384048"/>
          </a:xfrm>
          <a:prstGeom prst="rect">
            <a:avLst/>
          </a:prstGeom>
        </p:spPr>
      </p:pic>
      <p:pic>
        <p:nvPicPr>
          <p:cNvPr id="121" name="Picture 120" descr="Illustrative camera frame from a generated continuous conversation sequence; not a product screenshot."/>
          <p:cNvPicPr>
            <a:picLocks noChangeAspect="1"/>
          </p:cNvPicPr>
          <p:nvPr/>
        </p:nvPicPr>
        <p:blipFill>
          <a:blip r:embed="rId5"/>
          <a:srcRect l="57543" r="28971" t="18000" b="39000"/>
          <a:stretch>
            <a:fillRect/>
          </a:stretch>
        </p:blipFill>
        <p:spPr>
          <a:xfrm>
            <a:off x="9756648" y="1773936"/>
            <a:ext cx="438912" cy="384048"/>
          </a:xfrm>
          <a:prstGeom prst="rect">
            <a:avLst/>
          </a:prstGeom>
        </p:spPr>
      </p:pic>
      <p:pic>
        <p:nvPicPr>
          <p:cNvPr id="122" name="Picture 121" descr="Illustrative camera frame from a generated continuous conversation sequence; not a product screenshot."/>
          <p:cNvPicPr>
            <a:picLocks noChangeAspect="1"/>
          </p:cNvPicPr>
          <p:nvPr/>
        </p:nvPicPr>
        <p:blipFill>
          <a:blip r:embed="rId5"/>
          <a:srcRect l="71829" r="14686" t="18000" b="39000"/>
          <a:stretch>
            <a:fillRect/>
          </a:stretch>
        </p:blipFill>
        <p:spPr>
          <a:xfrm>
            <a:off x="10259568" y="1773936"/>
            <a:ext cx="438912" cy="384048"/>
          </a:xfrm>
          <a:prstGeom prst="rect">
            <a:avLst/>
          </a:prstGeom>
        </p:spPr>
      </p:pic>
      <p:pic>
        <p:nvPicPr>
          <p:cNvPr id="123" name="Picture 122" descr="Illustrative camera frame from a generated continuous conversation sequence; not a product screenshot."/>
          <p:cNvPicPr>
            <a:picLocks noChangeAspect="1"/>
          </p:cNvPicPr>
          <p:nvPr/>
        </p:nvPicPr>
        <p:blipFill>
          <a:blip r:embed="rId5"/>
          <a:srcRect l="86114" r="400" t="18000" b="39000"/>
          <a:stretch>
            <a:fillRect/>
          </a:stretch>
        </p:blipFill>
        <p:spPr>
          <a:xfrm>
            <a:off x="10762488" y="1773936"/>
            <a:ext cx="438912" cy="384048"/>
          </a:xfrm>
          <a:prstGeom prst="rect">
            <a:avLst/>
          </a:prstGeom>
        </p:spPr>
      </p:pic>
      <p:sp>
        <p:nvSpPr>
          <p:cNvPr id="200" name="Camera"/>
          <p:cNvSpPr txBox="1"/>
          <p:nvPr/>
        </p:nvSpPr>
        <p:spPr>
          <a:xfrm>
            <a:off x="6537960" y="1847088"/>
            <a:ext cx="1115568" cy="228600"/>
          </a:xfrm>
          <a:prstGeom prst="rect">
            <a:avLst/>
          </a:prstGeom>
          <a:noFill/>
        </p:spPr>
        <p:txBody>
          <a:bodyPr wrap="square" lIns="0" rIns="0" tIns="0" bIns="0" anchor="t">
            <a:spAutoFit/>
          </a:bodyPr>
          <a:lstStyle/>
          <a:p>
            <a:pPr algn="l">
              <a:lnSpc>
                <a:spcPct val="110000"/>
              </a:lnSpc>
              <a:spcAft>
                <a:spcPts val="0"/>
              </a:spcAft>
            </a:pPr>
            <a:r>
              <a:rPr sz="1250" b="0">
                <a:solidFill>
                  <a:srgbClr val="AFCAE7"/>
                </a:solidFill>
                <a:latin typeface="Arial"/>
                <a:ea typeface="Arial"/>
                <a:cs typeface="Arial"/>
              </a:rPr>
              <a:t>Camera</a:t>
            </a:r>
          </a:p>
        </p:txBody>
      </p:sp>
      <p:sp>
        <p:nvSpPr>
          <p:cNvPr id="201" name="User speech"/>
          <p:cNvSpPr txBox="1"/>
          <p:nvPr/>
        </p:nvSpPr>
        <p:spPr>
          <a:xfrm>
            <a:off x="6537960" y="2267712"/>
            <a:ext cx="2377440" cy="228600"/>
          </a:xfrm>
          <a:prstGeom prst="rect">
            <a:avLst/>
          </a:prstGeom>
          <a:noFill/>
        </p:spPr>
        <p:txBody>
          <a:bodyPr wrap="square" lIns="0" rIns="0" tIns="0" bIns="0" anchor="t">
            <a:spAutoFit/>
          </a:bodyPr>
          <a:lstStyle/>
          <a:p>
            <a:pPr algn="l">
              <a:lnSpc>
                <a:spcPct val="110000"/>
              </a:lnSpc>
              <a:spcAft>
                <a:spcPts val="0"/>
              </a:spcAft>
            </a:pPr>
            <a:r>
              <a:rPr sz="1200" b="0">
                <a:solidFill>
                  <a:srgbClr val="AFCAE7"/>
                </a:solidFill>
                <a:latin typeface="Arial"/>
                <a:ea typeface="Arial"/>
                <a:cs typeface="Arial"/>
              </a:rPr>
              <a:t>User speech</a:t>
            </a:r>
          </a:p>
        </p:txBody>
      </p:sp>
      <p:sp>
        <p:nvSpPr>
          <p:cNvPr id="202" name="New speech"/>
          <p:cNvSpPr txBox="1"/>
          <p:nvPr/>
        </p:nvSpPr>
        <p:spPr>
          <a:xfrm>
            <a:off x="9171432" y="2267712"/>
            <a:ext cx="2103120" cy="228600"/>
          </a:xfrm>
          <a:prstGeom prst="rect">
            <a:avLst/>
          </a:prstGeom>
          <a:noFill/>
        </p:spPr>
        <p:txBody>
          <a:bodyPr wrap="square" lIns="0" rIns="0" tIns="0" bIns="0" anchor="t">
            <a:spAutoFit/>
          </a:bodyPr>
          <a:lstStyle/>
          <a:p>
            <a:pPr algn="l">
              <a:lnSpc>
                <a:spcPct val="110000"/>
              </a:lnSpc>
              <a:spcAft>
                <a:spcPts val="0"/>
              </a:spcAft>
            </a:pPr>
            <a:r>
              <a:rPr sz="1120" b="0">
                <a:solidFill>
                  <a:srgbClr val="FFCB78"/>
                </a:solidFill>
                <a:latin typeface="Arial"/>
                <a:ea typeface="Arial"/>
                <a:cs typeface="Arial"/>
              </a:rPr>
              <a:t>Barge-in: user speaks</a:t>
            </a:r>
          </a:p>
        </p:txBody>
      </p:sp>
      <p:sp>
        <p:nvSpPr>
          <p:cNvPr id="203" name="MiniCPM-o 4.5 · Native duplex"/>
          <p:cNvSpPr txBox="1"/>
          <p:nvPr/>
        </p:nvSpPr>
        <p:spPr>
          <a:xfrm>
            <a:off x="6537960" y="2871216"/>
            <a:ext cx="4736592" cy="237744"/>
          </a:xfrm>
          <a:prstGeom prst="rect">
            <a:avLst/>
          </a:prstGeom>
          <a:noFill/>
        </p:spPr>
        <p:txBody>
          <a:bodyPr wrap="square" lIns="0" rIns="0" tIns="0" bIns="0" anchor="t">
            <a:spAutoFit/>
          </a:bodyPr>
          <a:lstStyle/>
          <a:p>
            <a:pPr algn="l">
              <a:lnSpc>
                <a:spcPct val="110000"/>
              </a:lnSpc>
              <a:spcAft>
                <a:spcPts val="0"/>
              </a:spcAft>
            </a:pPr>
            <a:r>
              <a:rPr sz="1250" b="1">
                <a:solidFill>
                  <a:srgbClr val="A9E5DF"/>
                </a:solidFill>
                <a:latin typeface="Arial"/>
                <a:ea typeface="Arial"/>
                <a:cs typeface="Arial"/>
              </a:rPr>
              <a:t>MiniCPM-o 4.5 · Native duplex</a:t>
            </a:r>
          </a:p>
        </p:txBody>
      </p:sp>
      <p:sp>
        <p:nvSpPr>
          <p:cNvPr id="204" name="New input can change the ongoing reply."/>
          <p:cNvSpPr txBox="1"/>
          <p:nvPr/>
        </p:nvSpPr>
        <p:spPr>
          <a:xfrm>
            <a:off x="6537960" y="3447288"/>
            <a:ext cx="4736592" cy="219456"/>
          </a:xfrm>
          <a:prstGeom prst="rect">
            <a:avLst/>
          </a:prstGeom>
          <a:noFill/>
        </p:spPr>
        <p:txBody>
          <a:bodyPr wrap="square" lIns="0" rIns="0" tIns="0" bIns="0" anchor="t">
            <a:spAutoFit/>
          </a:bodyPr>
          <a:lstStyle/>
          <a:p>
            <a:pPr algn="l">
              <a:lnSpc>
                <a:spcPct val="110000"/>
              </a:lnSpc>
              <a:spcAft>
                <a:spcPts val="0"/>
              </a:spcAft>
            </a:pPr>
            <a:r>
              <a:rPr sz="1050" b="0">
                <a:solidFill>
                  <a:srgbClr val="AFCAE7"/>
                </a:solidFill>
                <a:latin typeface="Arial"/>
                <a:ea typeface="Arial"/>
                <a:cs typeface="Arial"/>
              </a:rPr>
              <a:t>Model chooses LISTEN / SPEAK; queued audio can finish.</a:t>
            </a:r>
          </a:p>
        </p:txBody>
      </p:sp>
      <p:sp>
        <p:nvSpPr>
          <p:cNvPr id="205" name="Qwen3-Omni + VAD · Turn-based"/>
          <p:cNvSpPr txBox="1"/>
          <p:nvPr/>
        </p:nvSpPr>
        <p:spPr>
          <a:xfrm>
            <a:off x="6537960" y="3721608"/>
            <a:ext cx="4736592" cy="237744"/>
          </a:xfrm>
          <a:prstGeom prst="rect">
            <a:avLst/>
          </a:prstGeom>
          <a:noFill/>
        </p:spPr>
        <p:txBody>
          <a:bodyPr wrap="square" lIns="0" rIns="0" tIns="0" bIns="0" anchor="t">
            <a:spAutoFit/>
          </a:bodyPr>
          <a:lstStyle/>
          <a:p>
            <a:pPr algn="l">
              <a:lnSpc>
                <a:spcPct val="110000"/>
              </a:lnSpc>
              <a:spcAft>
                <a:spcPts val="0"/>
              </a:spcAft>
            </a:pPr>
            <a:r>
              <a:rPr sz="1250" b="1">
                <a:solidFill>
                  <a:srgbClr val="A9E5DF"/>
                </a:solidFill>
                <a:latin typeface="Arial"/>
                <a:ea typeface="Arial"/>
                <a:cs typeface="Arial"/>
              </a:rPr>
              <a:t>Qwen3-Omni + VAD · Turn-based</a:t>
            </a:r>
          </a:p>
        </p:txBody>
      </p:sp>
      <p:sp>
        <p:nvSpPr>
          <p:cNvPr id="206" name="VAD stops the reply. Commit starts a new request."/>
          <p:cNvSpPr txBox="1"/>
          <p:nvPr/>
        </p:nvSpPr>
        <p:spPr>
          <a:xfrm>
            <a:off x="6537960" y="4489704"/>
            <a:ext cx="4773168" cy="210312"/>
          </a:xfrm>
          <a:prstGeom prst="rect">
            <a:avLst/>
          </a:prstGeom>
          <a:noFill/>
        </p:spPr>
        <p:txBody>
          <a:bodyPr wrap="square" lIns="0" rIns="0" tIns="0" bIns="0" anchor="t">
            <a:spAutoFit/>
          </a:bodyPr>
          <a:lstStyle/>
          <a:p>
            <a:pPr algn="l">
              <a:lnSpc>
                <a:spcPct val="110000"/>
              </a:lnSpc>
              <a:spcAft>
                <a:spcPts val="0"/>
              </a:spcAft>
            </a:pPr>
            <a:r>
              <a:rPr sz="1020" b="0">
                <a:solidFill>
                  <a:srgbClr val="AFCAE7"/>
                </a:solidFill>
                <a:latin typeface="Arial"/>
                <a:ea typeface="Arial"/>
                <a:cs typeface="Arial"/>
              </a:rPr>
              <a:t>Speech onset stops generation and playback. Silence triggers commit.</a:t>
            </a:r>
          </a:p>
        </p:txBody>
      </p:sp>
      <p:sp>
        <p:nvSpPr>
          <p:cNvPr id="207" name="VAD stop"/>
          <p:cNvSpPr txBox="1"/>
          <p:nvPr/>
        </p:nvSpPr>
        <p:spPr>
          <a:xfrm>
            <a:off x="8549640" y="4215384"/>
            <a:ext cx="1554480" cy="201168"/>
          </a:xfrm>
          <a:prstGeom prst="rect">
            <a:avLst/>
          </a:prstGeom>
          <a:noFill/>
        </p:spPr>
        <p:txBody>
          <a:bodyPr wrap="square" lIns="0" rIns="0" tIns="0" bIns="0" anchor="t">
            <a:spAutoFit/>
          </a:bodyPr>
          <a:lstStyle/>
          <a:p>
            <a:pPr algn="ctr">
              <a:lnSpc>
                <a:spcPct val="110000"/>
              </a:lnSpc>
              <a:spcAft>
                <a:spcPts val="0"/>
              </a:spcAft>
            </a:pPr>
            <a:r>
              <a:rPr sz="1000" b="0">
                <a:solidFill>
                  <a:srgbClr val="FFCB78"/>
                </a:solidFill>
                <a:latin typeface="Arial"/>
                <a:ea typeface="Arial"/>
                <a:cs typeface="Arial"/>
              </a:rPr>
              <a:t>VAD-triggered interruption</a:t>
            </a:r>
          </a:p>
        </p:txBody>
      </p:sp>
      <p:sp>
        <p:nvSpPr>
          <p:cNvPr id="208" name="commit"/>
          <p:cNvSpPr txBox="1"/>
          <p:nvPr/>
        </p:nvSpPr>
        <p:spPr>
          <a:xfrm>
            <a:off x="10131552" y="4215384"/>
            <a:ext cx="950976" cy="201168"/>
          </a:xfrm>
          <a:prstGeom prst="rect">
            <a:avLst/>
          </a:prstGeom>
          <a:noFill/>
        </p:spPr>
        <p:txBody>
          <a:bodyPr wrap="square" lIns="0" rIns="0" tIns="0" bIns="0" anchor="t">
            <a:spAutoFit/>
          </a:bodyPr>
          <a:lstStyle/>
          <a:p>
            <a:pPr algn="ctr">
              <a:lnSpc>
                <a:spcPct val="110000"/>
              </a:lnSpc>
              <a:spcAft>
                <a:spcPts val="0"/>
              </a:spcAft>
            </a:pPr>
            <a:r>
              <a:rPr sz="1000" b="0">
                <a:solidFill>
                  <a:srgbClr val="FFCB78"/>
                </a:solidFill>
                <a:latin typeface="Arial"/>
                <a:ea typeface="Arial"/>
                <a:cs typeface="Arial"/>
              </a:rPr>
              <a:t>VAD commit</a:t>
            </a:r>
          </a:p>
        </p:txBody>
      </p:sp>
      <p:cxnSp>
        <p:nvCxnSpPr>
          <p:cNvPr id="300" name="Audio timeline"/>
          <p:cNvCxnSpPr/>
          <p:nvPr/>
        </p:nvCxnSpPr>
        <p:spPr>
          <a:xfrm>
            <a:off x="6547104" y="2642616"/>
            <a:ext cx="4718304" cy="0"/>
          </a:xfrm>
          <a:prstGeom prst="line">
            <a:avLst/>
          </a:prstGeom>
          <a:ln w="12700">
            <a:solidFill>
              <a:srgbClr val="314E68"/>
            </a:solidFill>
          </a:ln>
          <a:effectLst/>
        </p:spPr>
        <p:style>
          <a:lnRef idx="2">
            <a:schemeClr val="accent1"/>
          </a:lnRef>
          <a:fillRef idx="0">
            <a:schemeClr val="accent1"/>
          </a:fillRef>
          <a:effectRef idx="0">
            <a:schemeClr val="accent1"/>
          </a:effectRef>
          <a:fontRef idx="minor">
            <a:schemeClr val="tx1"/>
          </a:fontRef>
        </p:style>
      </p:cxnSp>
      <p:cxnSp>
        <p:nvCxnSpPr>
          <p:cNvPr id="301" name="Audio timeline"/>
          <p:cNvCxnSpPr/>
          <p:nvPr/>
        </p:nvCxnSpPr>
        <p:spPr>
          <a:xfrm>
            <a:off x="6547104" y="3246120"/>
            <a:ext cx="4718304" cy="0"/>
          </a:xfrm>
          <a:prstGeom prst="line">
            <a:avLst/>
          </a:prstGeom>
          <a:ln w="12700">
            <a:solidFill>
              <a:srgbClr val="314E68"/>
            </a:solidFill>
          </a:ln>
          <a:effectLst/>
        </p:spPr>
        <p:style>
          <a:lnRef idx="2">
            <a:schemeClr val="accent1"/>
          </a:lnRef>
          <a:fillRef idx="0">
            <a:schemeClr val="accent1"/>
          </a:fillRef>
          <a:effectRef idx="0">
            <a:schemeClr val="accent1"/>
          </a:effectRef>
          <a:fontRef idx="minor">
            <a:schemeClr val="tx1"/>
          </a:fontRef>
        </p:style>
      </p:cxnSp>
      <p:cxnSp>
        <p:nvCxnSpPr>
          <p:cNvPr id="302" name="Audio timeline"/>
          <p:cNvCxnSpPr/>
          <p:nvPr/>
        </p:nvCxnSpPr>
        <p:spPr>
          <a:xfrm>
            <a:off x="6547104" y="4096512"/>
            <a:ext cx="4718304" cy="0"/>
          </a:xfrm>
          <a:prstGeom prst="line">
            <a:avLst/>
          </a:prstGeom>
          <a:ln w="12700">
            <a:solidFill>
              <a:srgbClr val="314E68"/>
            </a:solidFill>
          </a:ln>
          <a:effectLst/>
        </p:spPr>
        <p:style>
          <a:lnRef idx="2">
            <a:schemeClr val="accent1"/>
          </a:lnRef>
          <a:fillRef idx="0">
            <a:schemeClr val="accent1"/>
          </a:fillRef>
          <a:effectRef idx="0">
            <a:schemeClr val="accent1"/>
          </a:effectRef>
          <a:fontRef idx="minor">
            <a:schemeClr val="tx1"/>
          </a:fontRef>
        </p:style>
      </p:cxnSp>
      <p:sp>
        <p:nvSpPr>
          <p:cNvPr id="303" name="Initial user utterance"/>
          <p:cNvSpPr/>
          <p:nvPr/>
        </p:nvSpPr>
        <p:spPr>
          <a:xfrm>
            <a:off x="6611112" y="2532888"/>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4" name="Initial user utterance"/>
          <p:cNvSpPr/>
          <p:nvPr/>
        </p:nvSpPr>
        <p:spPr>
          <a:xfrm>
            <a:off x="6688029" y="2569464"/>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5" name="Initial user utterance"/>
          <p:cNvSpPr/>
          <p:nvPr/>
        </p:nvSpPr>
        <p:spPr>
          <a:xfrm>
            <a:off x="6764946" y="2519172"/>
            <a:ext cx="22860" cy="24688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6" name="Initial user utterance"/>
          <p:cNvSpPr/>
          <p:nvPr/>
        </p:nvSpPr>
        <p:spPr>
          <a:xfrm>
            <a:off x="6841864" y="2555748"/>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7" name="Initial user utterance"/>
          <p:cNvSpPr/>
          <p:nvPr/>
        </p:nvSpPr>
        <p:spPr>
          <a:xfrm>
            <a:off x="6918781" y="2583180"/>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8" name="Initial user utterance"/>
          <p:cNvSpPr/>
          <p:nvPr/>
        </p:nvSpPr>
        <p:spPr>
          <a:xfrm>
            <a:off x="6995698" y="2546604"/>
            <a:ext cx="22860" cy="19202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9" name="Initial user utterance"/>
          <p:cNvSpPr/>
          <p:nvPr/>
        </p:nvSpPr>
        <p:spPr>
          <a:xfrm>
            <a:off x="7072615" y="2514600"/>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0" name="Initial user utterance"/>
          <p:cNvSpPr/>
          <p:nvPr/>
        </p:nvSpPr>
        <p:spPr>
          <a:xfrm>
            <a:off x="7149532" y="2564892"/>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1" name="Initial user utterance"/>
          <p:cNvSpPr/>
          <p:nvPr/>
        </p:nvSpPr>
        <p:spPr>
          <a:xfrm>
            <a:off x="7226449" y="2537460"/>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2" name="Initial user utterance"/>
          <p:cNvSpPr/>
          <p:nvPr/>
        </p:nvSpPr>
        <p:spPr>
          <a:xfrm>
            <a:off x="7303367" y="2574036"/>
            <a:ext cx="22860" cy="137160"/>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3" name="Initial user utterance"/>
          <p:cNvSpPr/>
          <p:nvPr/>
        </p:nvSpPr>
        <p:spPr>
          <a:xfrm>
            <a:off x="7380284" y="2532888"/>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4" name="Initial user utterance"/>
          <p:cNvSpPr/>
          <p:nvPr/>
        </p:nvSpPr>
        <p:spPr>
          <a:xfrm>
            <a:off x="7457201" y="2569464"/>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5" name="Initial user utterance"/>
          <p:cNvSpPr/>
          <p:nvPr/>
        </p:nvSpPr>
        <p:spPr>
          <a:xfrm>
            <a:off x="7534118" y="2519172"/>
            <a:ext cx="22860" cy="24688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6" name="Initial user utterance"/>
          <p:cNvSpPr/>
          <p:nvPr/>
        </p:nvSpPr>
        <p:spPr>
          <a:xfrm>
            <a:off x="7611035" y="2555748"/>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7" name="Initial user utterance"/>
          <p:cNvSpPr/>
          <p:nvPr/>
        </p:nvSpPr>
        <p:spPr>
          <a:xfrm>
            <a:off x="7687952" y="2583180"/>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8" name="Initial user utterance"/>
          <p:cNvSpPr/>
          <p:nvPr/>
        </p:nvSpPr>
        <p:spPr>
          <a:xfrm>
            <a:off x="7764870" y="2546604"/>
            <a:ext cx="22860" cy="19202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9" name="Initial user utterance"/>
          <p:cNvSpPr/>
          <p:nvPr/>
        </p:nvSpPr>
        <p:spPr>
          <a:xfrm>
            <a:off x="7841787" y="2514600"/>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0" name="Initial user utterance"/>
          <p:cNvSpPr/>
          <p:nvPr/>
        </p:nvSpPr>
        <p:spPr>
          <a:xfrm>
            <a:off x="7918704" y="2564892"/>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1" name="User adds information"/>
          <p:cNvSpPr/>
          <p:nvPr/>
        </p:nvSpPr>
        <p:spPr>
          <a:xfrm>
            <a:off x="9180576" y="2532888"/>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2" name="User adds information"/>
          <p:cNvSpPr/>
          <p:nvPr/>
        </p:nvSpPr>
        <p:spPr>
          <a:xfrm>
            <a:off x="9255442" y="2569464"/>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3" name="User adds information"/>
          <p:cNvSpPr/>
          <p:nvPr/>
        </p:nvSpPr>
        <p:spPr>
          <a:xfrm>
            <a:off x="9330309" y="2519172"/>
            <a:ext cx="22860" cy="24688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4" name="User adds information"/>
          <p:cNvSpPr/>
          <p:nvPr/>
        </p:nvSpPr>
        <p:spPr>
          <a:xfrm>
            <a:off x="9405176" y="2555748"/>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5" name="User adds information"/>
          <p:cNvSpPr/>
          <p:nvPr/>
        </p:nvSpPr>
        <p:spPr>
          <a:xfrm>
            <a:off x="9480042" y="2583180"/>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6" name="User adds information"/>
          <p:cNvSpPr/>
          <p:nvPr/>
        </p:nvSpPr>
        <p:spPr>
          <a:xfrm>
            <a:off x="9554908" y="2546604"/>
            <a:ext cx="22860" cy="19202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7" name="User adds information"/>
          <p:cNvSpPr/>
          <p:nvPr/>
        </p:nvSpPr>
        <p:spPr>
          <a:xfrm>
            <a:off x="9629775" y="2514600"/>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8" name="User adds information"/>
          <p:cNvSpPr/>
          <p:nvPr/>
        </p:nvSpPr>
        <p:spPr>
          <a:xfrm>
            <a:off x="9704642" y="2564892"/>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9" name="User adds information"/>
          <p:cNvSpPr/>
          <p:nvPr/>
        </p:nvSpPr>
        <p:spPr>
          <a:xfrm>
            <a:off x="9779508" y="2537460"/>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0" name="User adds information"/>
          <p:cNvSpPr/>
          <p:nvPr/>
        </p:nvSpPr>
        <p:spPr>
          <a:xfrm>
            <a:off x="9854374" y="2574036"/>
            <a:ext cx="22860" cy="137160"/>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1" name="User adds information"/>
          <p:cNvSpPr/>
          <p:nvPr/>
        </p:nvSpPr>
        <p:spPr>
          <a:xfrm>
            <a:off x="9929241" y="2532888"/>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2" name="User adds information"/>
          <p:cNvSpPr/>
          <p:nvPr/>
        </p:nvSpPr>
        <p:spPr>
          <a:xfrm>
            <a:off x="10004107" y="2569464"/>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3" name="User adds information"/>
          <p:cNvSpPr/>
          <p:nvPr/>
        </p:nvSpPr>
        <p:spPr>
          <a:xfrm>
            <a:off x="10078974" y="2519172"/>
            <a:ext cx="22860" cy="24688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4" name="User adds information"/>
          <p:cNvSpPr/>
          <p:nvPr/>
        </p:nvSpPr>
        <p:spPr>
          <a:xfrm>
            <a:off x="10153840" y="2555748"/>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5" name="User adds information"/>
          <p:cNvSpPr/>
          <p:nvPr/>
        </p:nvSpPr>
        <p:spPr>
          <a:xfrm>
            <a:off x="10228707" y="2583180"/>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6" name="User adds information"/>
          <p:cNvSpPr/>
          <p:nvPr/>
        </p:nvSpPr>
        <p:spPr>
          <a:xfrm>
            <a:off x="10303574" y="2546604"/>
            <a:ext cx="22860" cy="19202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7" name="User adds information"/>
          <p:cNvSpPr/>
          <p:nvPr/>
        </p:nvSpPr>
        <p:spPr>
          <a:xfrm>
            <a:off x="10378440" y="2514600"/>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3" name="Turn response before VAD cancellation"/>
          <p:cNvSpPr/>
          <p:nvPr/>
        </p:nvSpPr>
        <p:spPr>
          <a:xfrm>
            <a:off x="8174736" y="3986784"/>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4" name="Turn response before VAD cancellation"/>
          <p:cNvSpPr/>
          <p:nvPr/>
        </p:nvSpPr>
        <p:spPr>
          <a:xfrm>
            <a:off x="8250501" y="4023360"/>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5" name="Turn response before VAD cancellation"/>
          <p:cNvSpPr/>
          <p:nvPr/>
        </p:nvSpPr>
        <p:spPr>
          <a:xfrm>
            <a:off x="8326265" y="3973068"/>
            <a:ext cx="22860" cy="24688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6" name="Turn response before VAD cancellation"/>
          <p:cNvSpPr/>
          <p:nvPr/>
        </p:nvSpPr>
        <p:spPr>
          <a:xfrm>
            <a:off x="8402030" y="4009644"/>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7" name="Turn response before VAD cancellation"/>
          <p:cNvSpPr/>
          <p:nvPr/>
        </p:nvSpPr>
        <p:spPr>
          <a:xfrm>
            <a:off x="8477794" y="4037076"/>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8" name="Turn response before VAD cancellation"/>
          <p:cNvSpPr/>
          <p:nvPr/>
        </p:nvSpPr>
        <p:spPr>
          <a:xfrm>
            <a:off x="8553559" y="4000500"/>
            <a:ext cx="22860" cy="19202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9" name="Turn response before VAD cancellation"/>
          <p:cNvSpPr/>
          <p:nvPr/>
        </p:nvSpPr>
        <p:spPr>
          <a:xfrm>
            <a:off x="8629323" y="3968496"/>
            <a:ext cx="22860" cy="25603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0" name="Turn response before VAD cancellation"/>
          <p:cNvSpPr/>
          <p:nvPr/>
        </p:nvSpPr>
        <p:spPr>
          <a:xfrm>
            <a:off x="8705088" y="4018788"/>
            <a:ext cx="22860" cy="1554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1" name="Turn response before VAD cancellation"/>
          <p:cNvSpPr/>
          <p:nvPr/>
        </p:nvSpPr>
        <p:spPr>
          <a:xfrm>
            <a:off x="8780853" y="3991356"/>
            <a:ext cx="22860" cy="21031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2" name="Turn response before VAD cancellation"/>
          <p:cNvSpPr/>
          <p:nvPr/>
        </p:nvSpPr>
        <p:spPr>
          <a:xfrm>
            <a:off x="8856617" y="4027932"/>
            <a:ext cx="22860" cy="137160"/>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3" name="Turn response before VAD cancellation"/>
          <p:cNvSpPr/>
          <p:nvPr/>
        </p:nvSpPr>
        <p:spPr>
          <a:xfrm>
            <a:off x="8932382" y="3986784"/>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4" name="Turn response before VAD cancellation"/>
          <p:cNvSpPr/>
          <p:nvPr/>
        </p:nvSpPr>
        <p:spPr>
          <a:xfrm>
            <a:off x="9008146" y="4023360"/>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5" name="Turn response before VAD cancellation"/>
          <p:cNvSpPr/>
          <p:nvPr/>
        </p:nvSpPr>
        <p:spPr>
          <a:xfrm>
            <a:off x="9083911" y="3973068"/>
            <a:ext cx="22860" cy="24688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6" name="Turn response before VAD cancellation"/>
          <p:cNvSpPr/>
          <p:nvPr/>
        </p:nvSpPr>
        <p:spPr>
          <a:xfrm>
            <a:off x="9159675" y="4009644"/>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7" name="Turn response before VAD cancellation"/>
          <p:cNvSpPr/>
          <p:nvPr/>
        </p:nvSpPr>
        <p:spPr>
          <a:xfrm>
            <a:off x="9235440" y="4037076"/>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8" name="New request after commit"/>
          <p:cNvSpPr/>
          <p:nvPr/>
        </p:nvSpPr>
        <p:spPr>
          <a:xfrm>
            <a:off x="10808208" y="3986784"/>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9" name="New request after commit"/>
          <p:cNvSpPr/>
          <p:nvPr/>
        </p:nvSpPr>
        <p:spPr>
          <a:xfrm>
            <a:off x="10901934" y="4023360"/>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0" name="New request after commit"/>
          <p:cNvSpPr/>
          <p:nvPr/>
        </p:nvSpPr>
        <p:spPr>
          <a:xfrm>
            <a:off x="10995660" y="3973068"/>
            <a:ext cx="22860" cy="24688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1" name="New request after commit"/>
          <p:cNvSpPr/>
          <p:nvPr/>
        </p:nvSpPr>
        <p:spPr>
          <a:xfrm>
            <a:off x="11089386" y="4009644"/>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2" name="New request after commit"/>
          <p:cNvSpPr/>
          <p:nvPr/>
        </p:nvSpPr>
        <p:spPr>
          <a:xfrm>
            <a:off x="11183112" y="4037076"/>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83" name="New user speech alignment"/>
          <p:cNvCxnSpPr/>
          <p:nvPr/>
        </p:nvCxnSpPr>
        <p:spPr>
          <a:xfrm>
            <a:off x="9171432" y="2487168"/>
            <a:ext cx="0" cy="310896"/>
          </a:xfrm>
          <a:prstGeom prst="line">
            <a:avLst/>
          </a:prstGeom>
          <a:ln w="1524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cxnSp>
        <p:nvCxnSpPr>
          <p:cNvPr id="384" name="New user speech alignment"/>
          <p:cNvCxnSpPr/>
          <p:nvPr/>
        </p:nvCxnSpPr>
        <p:spPr>
          <a:xfrm>
            <a:off x="9171432" y="3090672"/>
            <a:ext cx="0" cy="310896"/>
          </a:xfrm>
          <a:prstGeom prst="line">
            <a:avLst/>
          </a:prstGeom>
          <a:ln w="1524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cxnSp>
        <p:nvCxnSpPr>
          <p:cNvPr id="385" name="New user speech alignment"/>
          <p:cNvCxnSpPr/>
          <p:nvPr/>
        </p:nvCxnSpPr>
        <p:spPr>
          <a:xfrm>
            <a:off x="9171432" y="3941064"/>
            <a:ext cx="0" cy="310896"/>
          </a:xfrm>
          <a:prstGeom prst="line">
            <a:avLst/>
          </a:prstGeom>
          <a:ln w="1524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cxnSp>
        <p:nvCxnSpPr>
          <p:cNvPr id="386" name="VAD cancels the old reply"/>
          <p:cNvCxnSpPr/>
          <p:nvPr/>
        </p:nvCxnSpPr>
        <p:spPr>
          <a:xfrm>
            <a:off x="9281160" y="3977640"/>
            <a:ext cx="0" cy="237744"/>
          </a:xfrm>
          <a:prstGeom prst="line">
            <a:avLst/>
          </a:prstGeom>
          <a:ln w="21590">
            <a:solidFill>
              <a:srgbClr val="FFCB78"/>
            </a:solidFill>
          </a:ln>
          <a:effectLst/>
        </p:spPr>
        <p:style>
          <a:lnRef idx="2">
            <a:schemeClr val="accent1"/>
          </a:lnRef>
          <a:fillRef idx="0">
            <a:schemeClr val="accent1"/>
          </a:fillRef>
          <a:effectRef idx="0">
            <a:schemeClr val="accent1"/>
          </a:effectRef>
          <a:fontRef idx="minor">
            <a:schemeClr val="tx1"/>
          </a:fontRef>
        </p:style>
      </p:cxnSp>
      <p:cxnSp>
        <p:nvCxnSpPr>
          <p:cNvPr id="387" name="Commit after user speech and silence"/>
          <p:cNvCxnSpPr/>
          <p:nvPr/>
        </p:nvCxnSpPr>
        <p:spPr>
          <a:xfrm>
            <a:off x="10597896" y="3977640"/>
            <a:ext cx="0" cy="237744"/>
          </a:xfrm>
          <a:prstGeom prst="line">
            <a:avLst/>
          </a:prstGeom>
          <a:ln w="1524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sp>
        <p:nvSpPr>
          <p:cNvPr id="450" name="Native model audio output"/>
          <p:cNvSpPr/>
          <p:nvPr/>
        </p:nvSpPr>
        <p:spPr>
          <a:xfrm>
            <a:off x="8174736" y="3136392"/>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1" name="Native model audio output"/>
          <p:cNvSpPr/>
          <p:nvPr/>
        </p:nvSpPr>
        <p:spPr>
          <a:xfrm>
            <a:off x="8250501" y="3172968"/>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2" name="Native model audio output"/>
          <p:cNvSpPr/>
          <p:nvPr/>
        </p:nvSpPr>
        <p:spPr>
          <a:xfrm>
            <a:off x="8326265" y="3122676"/>
            <a:ext cx="22860" cy="24688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3" name="Native model audio output"/>
          <p:cNvSpPr/>
          <p:nvPr/>
        </p:nvSpPr>
        <p:spPr>
          <a:xfrm>
            <a:off x="8402030" y="3159252"/>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4" name="Native model audio output"/>
          <p:cNvSpPr/>
          <p:nvPr/>
        </p:nvSpPr>
        <p:spPr>
          <a:xfrm>
            <a:off x="8477794" y="3186684"/>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5" name="Native model audio output"/>
          <p:cNvSpPr/>
          <p:nvPr/>
        </p:nvSpPr>
        <p:spPr>
          <a:xfrm>
            <a:off x="8553559" y="3150108"/>
            <a:ext cx="22860" cy="19202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6" name="Native model audio output"/>
          <p:cNvSpPr/>
          <p:nvPr/>
        </p:nvSpPr>
        <p:spPr>
          <a:xfrm>
            <a:off x="8629323" y="3118104"/>
            <a:ext cx="22860" cy="25603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7" name="Native model audio output"/>
          <p:cNvSpPr/>
          <p:nvPr/>
        </p:nvSpPr>
        <p:spPr>
          <a:xfrm>
            <a:off x="8705088" y="3168396"/>
            <a:ext cx="22860" cy="1554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8" name="Native model audio output"/>
          <p:cNvSpPr/>
          <p:nvPr/>
        </p:nvSpPr>
        <p:spPr>
          <a:xfrm>
            <a:off x="8780853" y="3140964"/>
            <a:ext cx="22860" cy="21031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9" name="Native model audio output"/>
          <p:cNvSpPr/>
          <p:nvPr/>
        </p:nvSpPr>
        <p:spPr>
          <a:xfrm>
            <a:off x="8856617" y="3177540"/>
            <a:ext cx="22860" cy="137160"/>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0" name="Native model audio output"/>
          <p:cNvSpPr/>
          <p:nvPr/>
        </p:nvSpPr>
        <p:spPr>
          <a:xfrm>
            <a:off x="8932382" y="3136392"/>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1" name="Native model audio output"/>
          <p:cNvSpPr/>
          <p:nvPr/>
        </p:nvSpPr>
        <p:spPr>
          <a:xfrm>
            <a:off x="9008146" y="3172968"/>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2" name="Native model audio output"/>
          <p:cNvSpPr/>
          <p:nvPr/>
        </p:nvSpPr>
        <p:spPr>
          <a:xfrm>
            <a:off x="9083911" y="3122676"/>
            <a:ext cx="22860" cy="24688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3" name="Native model audio output"/>
          <p:cNvSpPr/>
          <p:nvPr/>
        </p:nvSpPr>
        <p:spPr>
          <a:xfrm>
            <a:off x="9159675" y="3159252"/>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4" name="Native model audio output"/>
          <p:cNvSpPr/>
          <p:nvPr/>
        </p:nvSpPr>
        <p:spPr>
          <a:xfrm>
            <a:off x="9235440" y="3186684"/>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5" name="Native model audio output"/>
          <p:cNvSpPr/>
          <p:nvPr/>
        </p:nvSpPr>
        <p:spPr>
          <a:xfrm>
            <a:off x="10808208" y="3136392"/>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6" name="Native model audio output"/>
          <p:cNvSpPr/>
          <p:nvPr/>
        </p:nvSpPr>
        <p:spPr>
          <a:xfrm>
            <a:off x="10901934" y="3172968"/>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7" name="Native model audio output"/>
          <p:cNvSpPr/>
          <p:nvPr/>
        </p:nvSpPr>
        <p:spPr>
          <a:xfrm>
            <a:off x="10995660" y="3122676"/>
            <a:ext cx="22860" cy="24688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8" name="Native model audio output"/>
          <p:cNvSpPr/>
          <p:nvPr/>
        </p:nvSpPr>
        <p:spPr>
          <a:xfrm>
            <a:off x="11089386" y="3159252"/>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9" name="Native model audio output"/>
          <p:cNvSpPr/>
          <p:nvPr/>
        </p:nvSpPr>
        <p:spPr>
          <a:xfrm>
            <a:off x="11183112" y="3186684"/>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90" name="Model chooses LISTEN"/>
          <p:cNvCxnSpPr/>
          <p:nvPr/>
        </p:nvCxnSpPr>
        <p:spPr>
          <a:xfrm>
            <a:off x="9281160" y="3127248"/>
            <a:ext cx="0" cy="237744"/>
          </a:xfrm>
          <a:prstGeom prst="line">
            <a:avLst/>
          </a:prstGeom>
          <a:ln w="21590">
            <a:solidFill>
              <a:srgbClr val="FFCB78"/>
            </a:solidFill>
          </a:ln>
          <a:effectLst/>
        </p:spPr>
        <p:style>
          <a:lnRef idx="2">
            <a:schemeClr val="accent1"/>
          </a:lnRef>
          <a:fillRef idx="0">
            <a:schemeClr val="accent1"/>
          </a:fillRef>
          <a:effectRef idx="0">
            <a:schemeClr val="accent1"/>
          </a:effectRef>
          <a:fontRef idx="minor">
            <a:schemeClr val="tx1"/>
          </a:fontRef>
        </p:style>
      </p:cxnSp>
      <p:sp>
        <p:nvSpPr>
          <p:cNvPr id="491" name="Model LISTEN decision"/>
          <p:cNvSpPr txBox="1"/>
          <p:nvPr/>
        </p:nvSpPr>
        <p:spPr>
          <a:xfrm>
            <a:off x="9400032" y="3127248"/>
            <a:ext cx="1325880" cy="210312"/>
          </a:xfrm>
          <a:prstGeom prst="rect">
            <a:avLst/>
          </a:prstGeom>
          <a:noFill/>
        </p:spPr>
        <p:txBody>
          <a:bodyPr wrap="square" lIns="0" rIns="0" tIns="0" bIns="0" anchor="t">
            <a:spAutoFit/>
          </a:bodyPr>
          <a:lstStyle/>
          <a:p>
            <a:pPr algn="l">
              <a:lnSpc>
                <a:spcPct val="110000"/>
              </a:lnSpc>
              <a:spcAft>
                <a:spcPts val="0"/>
              </a:spcAft>
            </a:pPr>
            <a:r>
              <a:rPr sz="1050" b="0">
                <a:solidFill>
                  <a:srgbClr val="FFCB78"/>
                </a:solidFill>
                <a:latin typeface="Arial"/>
                <a:ea typeface="Arial"/>
                <a:cs typeface="Arial"/>
              </a:rPr>
              <a:t>Model: LISTEN</a:t>
            </a:r>
          </a:p>
        </p:txBody>
      </p:sp>
      <p:cxnSp>
        <p:nvCxnSpPr>
          <p:cNvPr id="492" name="First VAD commit after user speech and silence"/>
          <p:cNvCxnSpPr/>
          <p:nvPr/>
        </p:nvCxnSpPr>
        <p:spPr>
          <a:xfrm>
            <a:off x="8046720" y="3977640"/>
            <a:ext cx="0" cy="237744"/>
          </a:xfrm>
          <a:prstGeom prst="line">
            <a:avLst/>
          </a:prstGeom>
          <a:ln w="1524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sp>
        <p:nvSpPr>
          <p:cNvPr id="493" name="First VAD commit label"/>
          <p:cNvSpPr txBox="1"/>
          <p:nvPr/>
        </p:nvSpPr>
        <p:spPr>
          <a:xfrm>
            <a:off x="7571232" y="4215384"/>
            <a:ext cx="950976" cy="201168"/>
          </a:xfrm>
          <a:prstGeom prst="rect">
            <a:avLst/>
          </a:prstGeom>
          <a:noFill/>
        </p:spPr>
        <p:txBody>
          <a:bodyPr wrap="square" lIns="0" rIns="0" tIns="0" bIns="0" anchor="t">
            <a:spAutoFit/>
          </a:bodyPr>
          <a:lstStyle/>
          <a:p>
            <a:pPr algn="ctr">
              <a:lnSpc>
                <a:spcPct val="110000"/>
              </a:lnSpc>
              <a:spcAft>
                <a:spcPts val="0"/>
              </a:spcAft>
            </a:pPr>
            <a:r>
              <a:rPr sz="1000" b="0">
                <a:solidFill>
                  <a:srgbClr val="FFCB78"/>
                </a:solidFill>
                <a:latin typeface="Arial"/>
                <a:ea typeface="Arial"/>
                <a:cs typeface="Arial"/>
              </a:rPr>
              <a:t>VAD commit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(16:9)</PresentationFormat>
  <Paragraphs>0</Paragraphs>
  <Slides>19</Slides>
  <Notes>19</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Next Inflection Point in AI Interaction</dc:title>
  <dc:subject>How vLLM-Omni Enables Models to Listen and Speak Simultaneously</dc:subject>
  <dc:creator/>
  <cp:keywords/>
  <dc:description>generated using python-pptx</dc:description>
  <cp:lastModifiedBy>Steve Canny</cp:lastModifiedBy>
  <cp:revision>1</cp:revision>
  <dcterms:created xsi:type="dcterms:W3CDTF">2013-01-27T09:14:16Z</dcterms:created>
  <dcterms:modified xsi:type="dcterms:W3CDTF">2026-10-09T18:09:52Z</dcterms:modified>
  <cp:category/>
</cp:coreProperties>
</file>