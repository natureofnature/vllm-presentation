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3.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14.xml" ContentType="application/vnd.openxmlformats-officedocument.presentationml.notesSlide+xml"/>
  <Override PartName="/ppt/notesSlides/notesSlide11.xml" ContentType="application/vnd.openxmlformats-officedocument.presentationml.notesSlide+xml"/>
  <Override PartName="/ppt/notesSlides/notesSlide17.xml" ContentType="application/vnd.openxmlformats-officedocument.presentationml.notesSlide+xml"/>
  <Override PartName="/ppt/notesSlides/notesSlide5.xml" ContentType="application/vnd.openxmlformats-officedocument.presentationml.notesSlide+xml"/>
  <Override PartName="/ppt/notesSlides/notesSlide1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4.xml" ContentType="application/vnd.openxmlformats-officedocument.presentationml.notesSlide+xml"/>
  <Override PartName="/ppt/notesSlides/notesSlide9.xml" ContentType="application/vnd.openxmlformats-officedocument.presentationml.notesSlide+xml"/>
  <Override PartName="/ppt/notesSlides/notesSlide1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2.xml" ContentType="application/vnd.openxmlformats-officedocument.presentationml.slide+xml"/>
  <Override PartName="/ppt/slides/slide13.xml" ContentType="application/vnd.openxmlformats-officedocument.presentationml.slide+xml"/>
  <Override PartName="/ppt/slides/slide18.xml" ContentType="application/vnd.openxmlformats-officedocument.presentationml.slide+xml"/>
  <Override PartName="/ppt/slides/slide14.xml" ContentType="application/vnd.openxmlformats-officedocument.presentationml.slide+xml"/>
  <Override PartName="/ppt/slides/slide11.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0.xml" ContentType="application/vnd.openxmlformats-officedocument.presentationml.slide+xml"/>
  <Override PartName="/ppt/notesSlides/notesSlide10.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xml" ContentType="application/vnd.openxmlformats-officedocument.presentationml.slide+xml"/>
  <Override PartName="/ppt/notesSlides/notesSlide1.xml" ContentType="application/vnd.openxmlformats-officedocument.presentationml.notesSlide+xml"/>
  <Override PartName="/ppt/charts/chart1.xml" ContentType="application/vnd.openxmlformats-officedocument.drawingml.chart+xml"/>
  <Default Extension="xlsx" ContentType="application/vnd.openxmlformats-officedocument.spreadsheetml.sheet"/>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83" r:id="rIdDuplexCover"/>
    <p:sldId id="266" r:id="rId18"/>
    <p:sldId id="256" r:id="rId7"/>
    <p:sldId id="261" r:id="rId12"/>
    <p:sldId id="257" r:id="rId8"/>
    <p:sldId id="258" r:id="rId9"/>
    <p:sldId id="259" r:id="rId10"/>
    <p:sldId id="260" r:id="rId11"/>
    <p:sldId id="262" r:id="rId13"/>
    <p:sldId id="280" r:id="rId30"/>
    <p:sldId id="271" r:id="rId21"/>
    <p:sldId id="282" r:id="rId32"/>
    <p:sldId id="268" r:id="rId20"/>
    <p:sldId id="269" r:id="rId15"/>
    <p:sldId id="281" r:id="rId31"/>
    <p:sldId id="277" r:id="rId27"/>
    <p:sldId id="275" r:id="rId25"/>
    <p:sldId id="265" r:id="rId1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3.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4.xml"/><Relationship Id="rId13" Type="http://schemas.openxmlformats.org/officeDocument/2006/relationships/slide" Target="slides/slide9.xml"/><Relationship Id="rId15" Type="http://schemas.openxmlformats.org/officeDocument/2006/relationships/slide" Target="slides/slide14.xml"/><Relationship Id="rId16" Type="http://schemas.openxmlformats.org/officeDocument/2006/relationships/slide" Target="slides/slide18.xml"/><Relationship Id="rId17" Type="http://schemas.openxmlformats.org/officeDocument/2006/relationships/notesMaster" Target="notesMasters/notesMaster1.xml"/><Relationship Id="rId18" Type="http://schemas.openxmlformats.org/officeDocument/2006/relationships/slide" Target="slides/slide2.xml"/><Relationship Id="rId20" Type="http://schemas.openxmlformats.org/officeDocument/2006/relationships/slide" Target="slides/slide13.xml"/><Relationship Id="rId21" Type="http://schemas.openxmlformats.org/officeDocument/2006/relationships/slide" Target="slides/slide11.xml"/><Relationship Id="rId25" Type="http://schemas.openxmlformats.org/officeDocument/2006/relationships/slide" Target="slides/slide17.xml"/><Relationship Id="rId27" Type="http://schemas.openxmlformats.org/officeDocument/2006/relationships/slide" Target="slides/slide16.xml"/><Relationship Id="rId30" Type="http://schemas.openxmlformats.org/officeDocument/2006/relationships/slide" Target="slides/slide10.xml"/><Relationship Id="rId31" Type="http://schemas.openxmlformats.org/officeDocument/2006/relationships/slide" Target="slides/slide15.xml"/><Relationship Id="rId32" Type="http://schemas.openxmlformats.org/officeDocument/2006/relationships/slide" Target="slides/slide12.xml"/><Relationship Id="rIdDuplexCover" Type="http://schemas.openxmlformats.org/officeDocument/2006/relationships/slide" Target="slides/slid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niCPM_RTF.xlsx"/></Relationships>
</file>

<file path=ppt/charts/chart1.xml><?xml version="1.0" encoding="utf-8"?>
<c:chartSpace xmlns:c="http://schemas.openxmlformats.org/drawingml/2006/chart" xmlns:a="http://schemas.openxmlformats.org/drawingml/2006/main" xmlns:r="http://schemas.openxmlformats.org/officeDocument/2006/relationships">
  <c:lang val="en-US"/>
  <c:chart>
    <c:title>
      <c:tx>
        <c:rich>
          <a:bodyPr/>
          <a:lstStyle/>
          <a:p>
            <a:pPr>
              <a:defRPr sz="1600" b="1" baseline="0">
                <a:solidFill>
                  <a:srgbClr val="16304E"/>
                </a:solidFill>
                <a:latin typeface="Noto Sans CJK SC"/>
              </a:defRPr>
            </a:pPr>
            <a:r>
              <a:rPr lang="en-US" sz="1600" b="1" baseline="0">
                <a:solidFill>
                  <a:srgbClr val="16304E"/>
                </a:solidFill>
                <a:latin typeface="Noto Sans CJK SC"/>
              </a:rPr>
              <a:t>MiniCPM-o 4.5</a:t>
            </a:r>
          </a:p>
        </c:rich>
      </c:tx>
      <c:layout/>
    </c:title>
    <c:plotArea>
      <c:layout>
        <c:manualLayout>
          <c:layoutTarget val="inner"/>
          <c:xMode val="edge"/>
          <c:yMode val="edge"/>
          <c:x val="0.19"/>
          <c:y val="0.22"/>
          <c:w val="0.72999999999999998"/>
          <c:h val="0.60999999999999999"/>
        </c:manualLayout>
      </c:layout>
      <c:lineChart>
        <c:grouping val="standard"/>
        <c:ser>
          <c:idx val="0"/>
          <c:order val="0"/>
          <c:tx>
            <c:v>Mean Audio RTF</c:v>
          </c:tx>
          <c:spPr>
            <a:ln w="38100">
              <a:solidFill>
                <a:srgbClr val="008E96"/>
              </a:solidFill>
            </a:ln>
          </c:spPr>
          <c:marker>
            <c:symbol val="circle"/>
            <c:size val="8"/>
            <c:spPr>
              <a:solidFill>
                <a:srgbClr val="FFFFFF"/>
              </a:solidFill>
              <a:ln>
                <a:solidFill>
                  <a:srgbClr val="008E96"/>
                </a:solidFill>
              </a:ln>
            </c:spPr>
          </c:marker>
          <c:dLbls>
            <c:numFmt formatCode="0.00" sourceLinked="0"/>
            <c:txPr>
              <a:bodyPr/>
              <a:lstStyle/>
              <a:p>
                <a:pPr>
                  <a:defRPr sz="1600" b="1" baseline="0">
                    <a:solidFill>
                      <a:srgbClr val="16304E"/>
                    </a:solidFill>
                    <a:latin typeface="Noto Sans CJK SC"/>
                  </a:defRPr>
                </a:pPr>
                <a:endParaRPr lang="en-US"/>
              </a:p>
            </c:txPr>
            <c:dLblPos val="t"/>
            <c:showLegendKey val="0"/>
            <c:showVal val="1"/>
            <c:showCatName val="0"/>
            <c:showSerName val="0"/>
            <c:showPercent val="0"/>
            <c:showBubbleSize val="0"/>
          </c:dLbls>
          <c:cat>
            <c:strRef>
              <c:f>Data!$A$2:$A$5</c:f>
              <c:strCache>
                <c:ptCount val="4"/>
                <c:pt idx="0">
                  <c:v>10 月 5 日</c:v>
                </c:pt>
                <c:pt idx="1">
                  <c:v>10 月 6 日</c:v>
                </c:pt>
                <c:pt idx="2">
                  <c:v>10 月 7 日</c:v>
                </c:pt>
                <c:pt idx="3">
                  <c:v>10 月 8 日</c:v>
                </c:pt>
              </c:strCache>
            </c:strRef>
          </c:cat>
          <c:val>
            <c:numRef>
              <c:f>Data!$B$2:$B$5</c:f>
              <c:numCache>
                <c:formatCode>General</c:formatCode>
                <c:ptCount val="4"/>
                <c:pt idx="0">
                  <c:v>0.9844461966498954</c:v>
                </c:pt>
                <c:pt idx="1">
                  <c:v>0.7430039011861929</c:v>
                </c:pt>
                <c:pt idx="2">
                  <c:v>0.5597075615335489</c:v>
                </c:pt>
                <c:pt idx="3">
                  <c:v>0.4902875810555307</c:v>
                </c:pt>
              </c:numCache>
            </c:numRef>
          </c:val>
        </c:ser>
        <c:marker val="1"/>
        <c:axId val="50010001"/>
        <c:axId val="50010002"/>
      </c:lineChart>
      <c:catAx>
        <c:axId val="50010001"/>
        <c:scaling>
          <c:orientation val="minMax"/>
        </c:scaling>
        <c:axPos val="b"/>
        <c:majorTickMark val="none"/>
        <c:minorTickMark val="none"/>
        <c:tickLblPos val="low"/>
        <c:spPr>
          <a:ln>
            <a:solidFill>
              <a:srgbClr val="BAC9D7"/>
            </a:solidFill>
          </a:ln>
        </c:spPr>
        <c:txPr>
          <a:bodyPr/>
          <a:lstStyle/>
          <a:p>
            <a:pPr>
              <a:defRPr sz="1100" baseline="0">
                <a:solidFill>
                  <a:srgbClr val="526985"/>
                </a:solidFill>
                <a:latin typeface="Noto Sans CJK SC"/>
              </a:defRPr>
            </a:pPr>
            <a:endParaRPr lang="en-US"/>
          </a:p>
        </c:txPr>
        <c:crossAx val="50010002"/>
        <c:crosses val="autoZero"/>
        <c:auto val="1"/>
        <c:lblAlgn val="ctr"/>
        <c:lblOffset val="100"/>
      </c:catAx>
      <c:valAx>
        <c:axId val="50010002"/>
        <c:scaling>
          <c:orientation val="minMax"/>
          <c:max val="1.2"/>
          <c:min val="0"/>
        </c:scaling>
        <c:axPos val="l"/>
        <c:majorGridlines>
          <c:spPr>
            <a:ln w="9525">
              <a:solidFill>
                <a:srgbClr val="DFE7EF"/>
              </a:solidFill>
            </a:ln>
          </c:spPr>
        </c:majorGridlines>
        <c:title>
          <c:tx>
            <c:rich>
              <a:bodyPr rot="-5400000" vert="horz"/>
              <a:lstStyle/>
              <a:p>
                <a:pPr>
                  <a:defRPr sz="1100" baseline="0">
                    <a:solidFill>
                      <a:srgbClr val="526985"/>
                    </a:solidFill>
                    <a:latin typeface="Noto Sans CJK SC"/>
                  </a:defRPr>
                </a:pPr>
                <a:r>
                  <a:rPr lang="en-US" sz="1100" baseline="0">
                    <a:solidFill>
                      <a:srgbClr val="526985"/>
                    </a:solidFill>
                    <a:latin typeface="Noto Sans CJK SC"/>
                  </a:rPr>
                  <a:t>平均 Audio RTF</a:t>
                </a:r>
              </a:p>
            </c:rich>
          </c:tx>
          <c:layout/>
        </c:title>
        <c:numFmt formatCode="0.0" sourceLinked="0"/>
        <c:majorTickMark val="none"/>
        <c:tickLblPos val="nextTo"/>
        <c:spPr>
          <a:ln>
            <a:noFill/>
          </a:ln>
        </c:spPr>
        <c:txPr>
          <a:bodyPr/>
          <a:lstStyle/>
          <a:p>
            <a:pPr>
              <a:defRPr sz="1100" baseline="0">
                <a:solidFill>
                  <a:srgbClr val="526985"/>
                </a:solidFill>
                <a:latin typeface="Noto Sans CJK SC"/>
              </a:defRPr>
            </a:pPr>
            <a:endParaRPr lang="en-US"/>
          </a:p>
        </c:txPr>
        <c:crossAx val="50010001"/>
        <c:crosses val="autoZero"/>
        <c:crossBetween val="midCat"/>
        <c:majorUnit val="0.4"/>
      </c:valAx>
      <c:spPr>
        <a:solidFill>
          <a:srgbClr val="FFFFFF"/>
        </a:solidFill>
        <a:ln>
          <a:noFill/>
        </a:ln>
      </c:spPr>
    </c:plotArea>
    <c:plotVisOnly val="1"/>
  </c:chart>
  <c:spPr>
    <a:solidFill>
      <a:srgbClr val="FFFFFF"/>
    </a:solidFill>
    <a:ln>
      <a:noFill/>
    </a:ln>
  </c:spPr>
  <c:externalData r:id="rId1">
    <c:autoUpdate val="0"/>
  </c:externalData>
  <c:printSettings>
    <c:headerFooter/>
    <c:pageMargins b="0.75" l="0.7" r="0.7" t="0.75" header="0.3" footer="0.3"/>
    <c:pageSetup/>
  </c:printSettings>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The Next Inflection Point in SI Interaction</a:t>
            </a:r>
          </a:p>
          <a:p>
            <a:r>
              <a:rPr lang="zh-CN">
                <a:latin typeface="Noto Sans CJK SC"/>
                <a:ea typeface="Noto Sans CJK SC"/>
                <a:cs typeface="Noto Sans CJK SC"/>
              </a:rPr>
              <a:t>How vLLM-Omni Enables Models to Listen and Speak Simultaneously</a:t>
            </a:r>
          </a:p>
          <a:p>
            <a:r>
              <a:rPr lang="zh-CN">
                <a:latin typeface="Noto Sans CJK SC"/>
                <a:ea typeface="Noto Sans CJK SC"/>
                <a:cs typeface="Noto Sans CJK SC"/>
              </a:rPr>
              <a:t/>
            </a:r>
          </a:p>
          <a:p>
            <a:r>
              <a:rPr lang="zh-CN">
                <a:latin typeface="Noto Sans CJK SC"/>
                <a:ea typeface="Noto Sans CJK SC"/>
                <a:cs typeface="Noto Sans CJK SC"/>
              </a:rPr>
              <a:t>全双工让模型在说话时仍能持续接收用户输入。本次分享介绍 vLLM-Omni 的交互方式、统一运行时架构与性能表现。具体能力随模型和执行模式而异。</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这里的双工指整个社区建设的服务能力，覆盖 native duplex 模型以及通过 duplex session 服务的 turn-based 模型，并不表示每个模型都具备原生全双工能力。</a:t>
            </a:r>
          </a:p>
          <a:p>
            <a:r>
              <a:rPr lang="zh-CN">
                <a:latin typeface="Noto Sans CJK SC"/>
                <a:ea typeface="Noto Sans CJK SC"/>
                <a:cs typeface="Noto Sans CJK SC"/>
              </a:rPr>
              <a:t/>
            </a:r>
          </a:p>
          <a:p>
            <a:r>
              <a:rPr lang="zh-CN">
                <a:latin typeface="Noto Sans CJK SC"/>
                <a:ea typeface="Noto Sans CJK SC"/>
                <a:cs typeface="Noto Sans CJK SC"/>
              </a:rPr>
              <a:t>全双工能力来自社区持续协作。此页以截至 2026 年 10 月 7 日的社区贡献统计与代表性已合入 PR，展示模型接入、统一框架、Realtime API 和输出传输的共同演进。头像对应社区贡献者，PR 卡片保留可点击链接。</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Full duplex is built with the vLLM-Omni community. This edition recognizes 62 GitHub-linked human contributors across 166 related pull requests merged to main through 7 October 2026. The slide uses rounded lower bounds of 60+ contributors and 160+ PRs.</a:t>
            </a:r>
          </a:p>
          <a:p>
            <a:r>
              <a:rPr lang="zh-CN">
                <a:latin typeface="Noto Sans CJK SC"/>
                <a:ea typeface="Noto Sans CJK SC"/>
                <a:cs typeface="Noto Sans CJK SC"/>
              </a:rPr>
              <a:t/>
            </a:r>
          </a:p>
          <a:p>
            <a:r>
              <a:rPr lang="zh-CN">
                <a:latin typeface="Noto Sans CJK SC"/>
                <a:ea typeface="Noto Sans CJK SC"/>
                <a:cs typeface="Noto Sans CJK SC"/>
              </a:rPr>
              <a:t>The portraits credit PR authors and GitHub-linked coauthors on merged commits, in alphabetical order with equal visual weight. Scope includes duplex runtimes, associated model integration and execution, Realtime control, and direct benchmark / validation tooling. Review-only contributions are not included in this count; unlinked signatures are recorded separately without assigning an identity or portrait. Original public GitHub profile avatars link to their respective profiles.</a:t>
            </a:r>
          </a:p>
          <a:p>
            <a:r>
              <a:rPr lang="zh-CN">
                <a:latin typeface="Noto Sans CJK SC"/>
                <a:ea typeface="Noto Sans CJK SC"/>
                <a:cs typeface="Noto Sans CJK SC"/>
              </a:rPr>
              <a:t/>
            </a:r>
          </a:p>
          <a:p>
            <a:r>
              <a:rPr lang="zh-CN">
                <a:latin typeface="Noto Sans CJK SC"/>
                <a:ea typeface="Noto Sans CJK SC"/>
                <a:cs typeface="Noto Sans CJK SC"/>
              </a:rPr>
              <a:t>Selected milestones connect native duplex, the unified framework, Realtime interoperability, model integrations and bounded output delivery. The complete attribution is in the companion Community Credits document.</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https://github.com/vllm-project/vllm-omni/pull/3907</a:t>
            </a:r>
          </a:p>
          <a:p>
            <a:r>
              <a:rPr lang="zh-CN">
                <a:latin typeface="Noto Sans CJK SC"/>
                <a:ea typeface="Noto Sans CJK SC"/>
                <a:cs typeface="Noto Sans CJK SC"/>
              </a:rPr>
              <a:t>- https://github.com/vllm-project/vllm-omni/pull/7413</a:t>
            </a:r>
          </a:p>
          <a:p>
            <a:r>
              <a:rPr lang="zh-CN">
                <a:latin typeface="Noto Sans CJK SC"/>
                <a:ea typeface="Noto Sans CJK SC"/>
                <a:cs typeface="Noto Sans CJK SC"/>
              </a:rPr>
              <a:t>- https://github.com/vllm-project/vllm-omni/pull/7285</a:t>
            </a:r>
          </a:p>
          <a:p>
            <a:r>
              <a:rPr lang="zh-CN">
                <a:latin typeface="Noto Sans CJK SC"/>
                <a:ea typeface="Noto Sans CJK SC"/>
                <a:cs typeface="Noto Sans CJK SC"/>
              </a:rPr>
              <a:t>- https://github.com/vllm-project/vllm-omni/pull/7585</a:t>
            </a:r>
          </a:p>
          <a:p>
            <a:r>
              <a:rPr lang="zh-CN">
                <a:latin typeface="Noto Sans CJK SC"/>
                <a:ea typeface="Noto Sans CJK SC"/>
                <a:cs typeface="Noto Sans CJK SC"/>
              </a:rPr>
              <a:t>- https://github.com/vllm-project/vllm-omni/pull/7695</a:t>
            </a:r>
          </a:p>
          <a:p>
            <a:r>
              <a:rPr lang="zh-CN">
                <a:latin typeface="Noto Sans CJK SC"/>
                <a:ea typeface="Noto Sans CJK SC"/>
                <a:cs typeface="Noto Sans CJK SC"/>
              </a:rPr>
              <a:t>- https://github.com/vllm-project/vllm-omni/pull/6089</a:t>
            </a:r>
          </a:p>
          <a:p>
            <a:r>
              <a:rPr lang="zh-CN">
                <a:latin typeface="Noto Sans CJK SC"/>
                <a:ea typeface="Noto Sans CJK SC"/>
                <a:cs typeface="Noto Sans CJK SC"/>
              </a:rPr>
              <a:t>- https://github.com/vllm-project/vllm-omni/pull/7633</a:t>
            </a:r>
          </a:p>
          <a:p>
            <a:r>
              <a:rPr lang="zh-CN">
                <a:latin typeface="Noto Sans CJK SC"/>
                <a:ea typeface="Noto Sans CJK SC"/>
                <a:cs typeface="Noto Sans CJK SC"/>
              </a:rPr>
              <a:t>- https://github.com/vllm-project/vllm-omni/pull/7644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PersonaPlex demonstration and model-specific behavior</a:t>
            </a:r>
          </a:p>
          <a:p>
            <a:r>
              <a:rPr lang="zh-CN">
                <a:latin typeface="Noto Sans CJK SC"/>
                <a:ea typeface="Noto Sans CJK SC"/>
                <a:cs typeface="Noto Sans CJK SC"/>
              </a:rPr>
              <a:t/>
            </a:r>
          </a:p>
          <a:p>
            <a:r>
              <a:rPr lang="zh-CN">
                <a:latin typeface="Noto Sans CJK SC"/>
                <a:ea typeface="Noto Sans CJK SC"/>
                <a:cs typeface="Noto Sans CJK SC"/>
              </a:rP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rPr lang="zh-CN">
                <a:latin typeface="Noto Sans CJK SC"/>
                <a:ea typeface="Noto Sans CJK SC"/>
                <a:cs typeface="Noto Sans CJK SC"/>
              </a:rPr>
              <a:t/>
            </a:r>
          </a:p>
          <a:p>
            <a:r>
              <a:rPr lang="zh-CN">
                <a:latin typeface="Noto Sans CJK SC"/>
                <a:ea typeface="Noto Sans CJK SC"/>
                <a:cs typeface="Noto Sans CJK SC"/>
              </a:rP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rPr lang="zh-CN">
                <a:latin typeface="Noto Sans CJK SC"/>
                <a:ea typeface="Noto Sans CJK SC"/>
                <a:cs typeface="Noto Sans CJK SC"/>
              </a:rPr>
              <a:t/>
            </a:r>
          </a:p>
          <a:p>
            <a:r>
              <a:rPr lang="zh-CN">
                <a:latin typeface="Noto Sans CJK SC"/>
                <a:ea typeface="Noto Sans CJK SC"/>
                <a:cs typeface="Noto Sans CJK SC"/>
              </a:rP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rPr lang="zh-CN">
                <a:latin typeface="Noto Sans CJK SC"/>
                <a:ea typeface="Noto Sans CJK SC"/>
                <a:cs typeface="Noto Sans CJK SC"/>
              </a:rPr>
              <a:t/>
            </a:r>
          </a:p>
          <a:p>
            <a:r>
              <a:rPr lang="zh-CN">
                <a:latin typeface="Noto Sans CJK SC"/>
                <a:ea typeface="Noto Sans CJK SC"/>
                <a:cs typeface="Noto Sans CJK SC"/>
              </a:rP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rPr lang="zh-CN">
                <a:latin typeface="Noto Sans CJK SC"/>
                <a:ea typeface="Noto Sans CJK SC"/>
                <a:cs typeface="Noto Sans CJK SC"/>
              </a:rPr>
              <a:t/>
            </a:r>
          </a:p>
          <a:p>
            <a:r>
              <a:rPr lang="zh-CN">
                <a:latin typeface="Noto Sans CJK SC"/>
                <a:ea typeface="Noto Sans CJK SC"/>
                <a:cs typeface="Noto Sans CJK SC"/>
              </a:rP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rPr lang="zh-CN">
                <a:latin typeface="Noto Sans CJK SC"/>
                <a:ea typeface="Noto Sans CJK SC"/>
                <a:cs typeface="Noto Sans CJK SC"/>
              </a:rPr>
              <a:t/>
            </a:r>
          </a:p>
          <a:p>
            <a:r>
              <a:rPr lang="zh-CN">
                <a:latin typeface="Noto Sans CJK SC"/>
                <a:ea typeface="Noto Sans CJK SC"/>
                <a:cs typeface="Noto Sans CJK SC"/>
              </a:rPr>
              <a:t>全双工体验包括输入输出并行、流式响应，以及结合持续输入调整交互。硬打断由客户端或服务端控制逻辑触发；软打断由具备相应能力的模型结合持续输入与上下文决定何时让出话语权。这里描述体验与能力边界，不表示每个模型都具备相同的自主决策能力。</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Full duplex keeps input and output active within the same session. Responses stream incrementally, while new input can affect what happens next. How that input affects generation depends on the model. MiniCPM's native policy can choose LISTEN or SPEAK; a turn-based model instead starts a new model request from committed input. The timeline is illustrative, not a latency benchmark.</a:t>
            </a:r>
          </a:p>
          <a:p>
            <a:r>
              <a:rPr lang="zh-CN">
                <a:latin typeface="Noto Sans CJK SC"/>
                <a:ea typeface="Noto Sans CJK SC"/>
                <a:cs typeface="Noto Sans CJK SC"/>
              </a:rPr>
              <a:t/>
            </a:r>
          </a:p>
          <a:p>
            <a:r>
              <a:rPr lang="zh-CN">
                <a:latin typeface="Noto Sans CJK SC"/>
                <a:ea typeface="Noto Sans CJK SC"/>
                <a:cs typeface="Noto Sans CJK SC"/>
              </a:rPr>
              <a:t>Hard interruption is explicit application/server control, including configured VAD policy. Soft interruption here means model-driven yielding; semantic endpointing alone does not create native LISTEN/SPEAK capability. The client must stop and clear local playback when the protocol signals an interruption.</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capabilities.py: https://github.com/vllm-project/vllm-omni/blob/712b90de9c7bc14c595b363401588a713a87c02d/vllm_omni/model_executor/models/minicpmo_4_5/duplex/capabilities.py</a:t>
            </a:r>
          </a:p>
          <a:p>
            <a:r>
              <a:rPr lang="zh-CN">
                <a:latin typeface="Noto Sans CJK SC"/>
                <a:ea typeface="Noto Sans CJK SC"/>
                <a:cs typeface="Noto Sans CJK SC"/>
              </a:rPr>
              <a:t>- runner.py: https://github.com/vllm-project/vllm-omni/blob/712b90de9c7bc14c595b363401588a713a87c02d/vllm_omni/engine/duplex/session/runner.py</a:t>
            </a:r>
          </a:p>
          <a:p>
            <a:r>
              <a:rPr lang="zh-CN">
                <a:latin typeface="Noto Sans CJK SC"/>
                <a:ea typeface="Noto Sans CJK SC"/>
                <a:cs typeface="Noto Sans CJK SC"/>
              </a:rPr>
              <a:t>PersonaPlex source references:</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a:p>
            <a:r>
              <a:rPr lang="zh-CN">
                <a:latin typeface="Noto Sans CJK SC"/>
                <a:ea typeface="Noto Sans CJK SC"/>
                <a:cs typeface="Noto Sans CJK SC"/>
              </a:rPr>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The three bottom cards describe mechanisms at different layers, not a capability set shared by all models. Names are examples from the current demos, not an exhaustive support matrix.</a:t>
            </a:r>
          </a:p>
          <a:p>
            <a:r>
              <a:rPr lang="zh-CN">
                <a:latin typeface="Noto Sans CJK SC"/>
                <a:ea typeface="Noto Sans CJK SC"/>
                <a:cs typeface="Noto Sans CJK SC"/>
              </a:rPr>
              <a:t>PersonaPlex processes incoming user speech while generating outgoing speech. "Overlapping speech" means concurrent user and assistant audio streams; it is not a claim about separating multiple speakers in a mixed recording. Voice (the chosen sound of the assistant) and persona (its role/instructions) are selected when the session opens. The current plugin rejects changes to voice or instructions within the session.</a:t>
            </a:r>
          </a:p>
          <a:p>
            <a:r>
              <a:rPr lang="zh-CN">
                <a:latin typeface="Noto Sans CJK SC"/>
                <a:ea typeface="Noto Sans CJK SC"/>
                <a:cs typeface="Noto Sans CJK SC"/>
              </a:rPr>
              <a:t>Model-driven speech here illustrates native execution in PersonaPlex and MiniCPM-o 4.5. PersonaPlex generates clocked audio; MiniCPM uses LISTEN/SPEAK. AURA can choose silent for a committed turn, which is a separate per-turn decision, not native continuous input appended to the same running generation.</a:t>
            </a:r>
          </a:p>
          <a:p>
            <a:r>
              <a:rPr lang="zh-CN">
                <a:latin typeface="Noto Sans CJK SC"/>
                <a:ea typeface="Noto Sans CJK SC"/>
                <a:cs typeface="Noto Sans CJK SC"/>
              </a:rPr>
              <a:t>AURA holding the talk button stops local playback without issuing server cancellation. Qwen VAD also stops local queued playback; its server-side cancellation is a separate action enabled by interrupt_response. Local playback stop alone never proves inference was cancelled. Other explicit cancel paths are model-specific; PersonaPlex cancellation resets context.</a:t>
            </a:r>
          </a:p>
          <a:p>
            <a:r>
              <a:rPr lang="zh-CN">
                <a:latin typeface="Noto Sans CJK SC"/>
                <a:ea typeface="Noto Sans CJK SC"/>
                <a:cs typeface="Noto Sans CJK SC"/>
              </a:rPr>
              <a:t>Qwen3-Omni and AURA use turn-based execution in duplex sessions. AURA can start the next committed turn after the prior Thinker completes while prior TTS drains.</a:t>
            </a:r>
          </a:p>
          <a:p>
            <a:r>
              <a:rPr lang="zh-CN">
                <a:latin typeface="Noto Sans CJK SC"/>
                <a:ea typeface="Noto Sans CJK SC"/>
                <a:cs typeface="Noto Sans CJK SC"/>
              </a:rPr>
              <a:t/>
            </a:r>
          </a:p>
          <a:p>
            <a:r>
              <a:rPr lang="zh-CN">
                <a:latin typeface="Noto Sans CJK SC"/>
                <a:ea typeface="Noto Sans CJK SC"/>
                <a:cs typeface="Noto Sans CJK SC"/>
              </a:rPr>
              <a:t>https://github.com/vllm-project/vllm-omni/blob/ee81f33001922f8d91dd09da0a57ee1531a8df82/vllm_omni/model_executor/models/personaplex/duplex/plugin.py#L236-L258</a:t>
            </a:r>
          </a:p>
          <a:p>
            <a:r>
              <a:rPr lang="zh-CN">
                <a:latin typeface="Noto Sans CJK SC"/>
                <a:ea typeface="Noto Sans CJK SC"/>
                <a:cs typeface="Noto Sans CJK SC"/>
              </a:rPr>
              <a:t>https://github.com/vllm-project/vllm-omni/blob/ee81f33001922f8d91dd09da0a57ee1531a8df82/examples/online_serving/realtime_web/app/static/profiles/qwen3_turn.js#L14-L20</a:t>
            </a:r>
          </a:p>
          <a:p>
            <a:r>
              <a:rPr lang="zh-CN">
                <a:latin typeface="Noto Sans CJK SC"/>
                <a:ea typeface="Noto Sans CJK SC"/>
                <a:cs typeface="Noto Sans CJK SC"/>
              </a:rPr>
              <a:t>https://github.com/vllm-project/vllm-omni/blob/ee81f33001922f8d91dd09da0a57ee1531a8df82/examples/online_serving/realtime_web/app/static/profiles/aura_ptt.js#L8-L29</a:t>
            </a:r>
          </a:p>
          <a:p>
            <a:r>
              <a:rPr lang="zh-CN">
                <a:latin typeface="Noto Sans CJK SC"/>
                <a:ea typeface="Noto Sans CJK SC"/>
                <a:cs typeface="Noto Sans CJK SC"/>
              </a:rPr>
              <a:t>https://github.com/vllm-project/vllm-omni/blob/ee81f33001922f8d91dd09da0a57ee1531a8df82/vllm_omni/model_executor/models/aura_omni/duplex/plugin.py#L374-L388</a:t>
            </a:r>
          </a:p>
          <a:p>
            <a:r>
              <a:rPr lang="zh-CN">
                <a:latin typeface="Noto Sans CJK SC"/>
                <a:ea typeface="Noto Sans CJK SC"/>
                <a:cs typeface="Noto Sans CJK SC"/>
              </a:rPr>
              <a:t/>
            </a:r>
          </a:p>
          <a:p>
            <a:r>
              <a:rPr lang="zh-CN">
                <a:latin typeface="Noto Sans CJK SC"/>
                <a:ea typeface="Noto Sans CJK SC"/>
                <a:cs typeface="Noto Sans CJK SC"/>
              </a:rPr>
              <a:t>PersonaPlex demonstration and model-specific behavior</a:t>
            </a:r>
          </a:p>
          <a:p>
            <a:r>
              <a:rPr lang="zh-CN">
                <a:latin typeface="Noto Sans CJK SC"/>
                <a:ea typeface="Noto Sans CJK SC"/>
                <a:cs typeface="Noto Sans CJK SC"/>
              </a:rPr>
              <a:t/>
            </a:r>
          </a:p>
          <a:p>
            <a:r>
              <a:rPr lang="zh-CN">
                <a:latin typeface="Noto Sans CJK SC"/>
                <a:ea typeface="Noto Sans CJK SC"/>
                <a:cs typeface="Noto Sans CJK SC"/>
              </a:rP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rPr lang="zh-CN">
                <a:latin typeface="Noto Sans CJK SC"/>
                <a:ea typeface="Noto Sans CJK SC"/>
                <a:cs typeface="Noto Sans CJK SC"/>
              </a:rPr>
              <a:t/>
            </a:r>
          </a:p>
          <a:p>
            <a:r>
              <a:rPr lang="zh-CN">
                <a:latin typeface="Noto Sans CJK SC"/>
                <a:ea typeface="Noto Sans CJK SC"/>
                <a:cs typeface="Noto Sans CJK SC"/>
              </a:rP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rPr lang="zh-CN">
                <a:latin typeface="Noto Sans CJK SC"/>
                <a:ea typeface="Noto Sans CJK SC"/>
                <a:cs typeface="Noto Sans CJK SC"/>
              </a:rPr>
              <a:t/>
            </a:r>
          </a:p>
          <a:p>
            <a:r>
              <a:rPr lang="zh-CN">
                <a:latin typeface="Noto Sans CJK SC"/>
                <a:ea typeface="Noto Sans CJK SC"/>
                <a:cs typeface="Noto Sans CJK SC"/>
              </a:rP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rPr lang="zh-CN">
                <a:latin typeface="Noto Sans CJK SC"/>
                <a:ea typeface="Noto Sans CJK SC"/>
                <a:cs typeface="Noto Sans CJK SC"/>
              </a:rPr>
              <a:t/>
            </a:r>
          </a:p>
          <a:p>
            <a:r>
              <a:rPr lang="zh-CN">
                <a:latin typeface="Noto Sans CJK SC"/>
                <a:ea typeface="Noto Sans CJK SC"/>
                <a:cs typeface="Noto Sans CJK SC"/>
              </a:rP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rPr lang="zh-CN">
                <a:latin typeface="Noto Sans CJK SC"/>
                <a:ea typeface="Noto Sans CJK SC"/>
                <a:cs typeface="Noto Sans CJK SC"/>
              </a:rPr>
              <a:t/>
            </a:r>
          </a:p>
          <a:p>
            <a:r>
              <a:rPr lang="zh-CN">
                <a:latin typeface="Noto Sans CJK SC"/>
                <a:ea typeface="Noto Sans CJK SC"/>
                <a:cs typeface="Noto Sans CJK SC"/>
              </a:rP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rPr lang="zh-CN">
                <a:latin typeface="Noto Sans CJK SC"/>
                <a:ea typeface="Noto Sans CJK SC"/>
                <a:cs typeface="Noto Sans CJK SC"/>
              </a:rPr>
              <a:t/>
            </a:r>
          </a:p>
          <a:p>
            <a:r>
              <a:rPr lang="zh-CN">
                <a:latin typeface="Noto Sans CJK SC"/>
                <a:ea typeface="Noto Sans CJK SC"/>
                <a:cs typeface="Noto Sans CJK SC"/>
              </a:rPr>
              <a:t>此页以 MiniCPM、Qwen3-Omni 与 AURA 的 Web demo 为例，区分模型让出话语权、本地停播和服务端取消三种行为。</a:t>
            </a:r>
          </a:p>
          <a:p>
            <a:r>
              <a:rPr lang="zh-CN">
                <a:latin typeface="Noto Sans CJK SC"/>
                <a:ea typeface="Noto Sans CJK SC"/>
                <a:cs typeface="Noto Sans CJK SC"/>
              </a:rPr>
              <a:t/>
            </a:r>
          </a:p>
          <a:p>
            <a:r>
              <a:rPr lang="zh-CN">
                <a:latin typeface="Noto Sans CJK SC"/>
                <a:ea typeface="Noto Sans CJK SC"/>
                <a:cs typeface="Noto Sans CJK SC"/>
              </a:rPr>
              <a:t>MiniCPM 持续接收音视频输入，默认由模型自主决定 LISTEN / SPEAK，不依赖 Server VAD。LISTEN 是模型交互决策，不等于显式 cancel。</a:t>
            </a:r>
          </a:p>
          <a:p>
            <a:r>
              <a:rPr lang="zh-CN">
                <a:latin typeface="Noto Sans CJK SC"/>
                <a:ea typeface="Noto Sans CJK SC"/>
                <a:cs typeface="Noto Sans CJK SC"/>
              </a:rPr>
              <a:t/>
            </a:r>
          </a:p>
          <a:p>
            <a:r>
              <a:rPr lang="zh-CN">
                <a:latin typeface="Noto Sans CJK SC"/>
                <a:ea typeface="Noto Sans CJK SC"/>
                <a:cs typeface="Noto Sans CJK SC"/>
              </a:rPr>
              <a:t>Qwen3-Omni 的 Server VAD profile 持续接收麦克风输入，收到 speech_started 时停止待播音频，并通过 interrupt_response 启用服务端打断。独立的手动 Realtime profile 使用 duplex=0，回答期间暂停上传，按 input_audio_buffer.commit + response.create 发起生成；它与表中 VAD profile 是不同路径。</a:t>
            </a:r>
          </a:p>
          <a:p>
            <a:r>
              <a:rPr lang="zh-CN">
                <a:latin typeface="Noto Sans CJK SC"/>
                <a:ea typeface="Noto Sans CJK SC"/>
                <a:cs typeface="Noto Sans CJK SC"/>
              </a:rPr>
              <a:t/>
            </a:r>
          </a:p>
          <a:p>
            <a:r>
              <a:rPr lang="zh-CN">
                <a:latin typeface="Noto Sans CJK SC"/>
                <a:ea typeface="Noto Sans CJK SC"/>
                <a:cs typeface="Noto Sans CJK SC"/>
              </a:rPr>
              <a:t>AURA 按住说话时停止本地播放，服务端仍可继续生成，松开后 commit 新输入。上述 demo profile 不直接发送 response.cancel；应用可通过公共协议自行接入。取消生成与清理已到达客户端的待播音频是两项不同职责。</a:t>
            </a:r>
          </a:p>
          <a:p>
            <a:r>
              <a:rPr lang="zh-CN">
                <a:latin typeface="Noto Sans CJK SC"/>
                <a:ea typeface="Noto Sans CJK SC"/>
                <a:cs typeface="Noto Sans CJK SC"/>
              </a:rPr>
              <a:t/>
            </a:r>
          </a:p>
          <a:p>
            <a:r>
              <a:rPr lang="zh-CN">
                <a:latin typeface="Noto Sans CJK SC"/>
                <a:ea typeface="Noto Sans CJK SC"/>
                <a:cs typeface="Noto Sans CJK SC"/>
              </a:rPr>
              <a:t>参考：</a:t>
            </a:r>
          </a:p>
          <a:p>
            <a:r>
              <a:rPr lang="zh-CN">
                <a:latin typeface="Noto Sans CJK SC"/>
                <a:ea typeface="Noto Sans CJK SC"/>
                <a:cs typeface="Noto Sans CJK SC"/>
              </a:rPr>
              <a:t>- qwen3_turn.js: https://github.com/vllm-project/vllm-omni/blob/712b90de9c7bc14c595b363401588a713a87c02d/examples/online_serving/realtime_web/app/static/profiles/qwen3_turn.js</a:t>
            </a:r>
          </a:p>
          <a:p>
            <a:r>
              <a:rPr lang="zh-CN">
                <a:latin typeface="Noto Sans CJK SC"/>
                <a:ea typeface="Noto Sans CJK SC"/>
                <a:cs typeface="Noto Sans CJK SC"/>
              </a:rPr>
              <a:t>- aura_ptt.js: https://github.com/vllm-project/vllm-omni/blob/712b90de9c7bc14c595b363401588a713a87c02d/examples/online_serving/realtime_web/app/static/profiles/aura_ptt.js</a:t>
            </a:r>
          </a:p>
          <a:p>
            <a:r>
              <a:rPr lang="zh-CN">
                <a:latin typeface="Noto Sans CJK SC"/>
                <a:ea typeface="Noto Sans CJK SC"/>
                <a:cs typeface="Noto Sans CJK SC"/>
              </a:rPr>
              <a:t>- runner.py: https://github.com/vllm-project/vllm-omni/blob/712b90de9c7bc14c595b363401588a713a87c02d/vllm_omni/engine/duplex/session/runner.py</a:t>
            </a:r>
          </a:p>
          <a:p>
            <a:r>
              <a:rPr lang="zh-CN">
                <a:latin typeface="Noto Sans CJK SC"/>
                <a:ea typeface="Noto Sans CJK SC"/>
                <a:cs typeface="Noto Sans CJK SC"/>
              </a:rPr>
              <a:t>- delivery.py: https://github.com/vllm-project/vllm-omni/blob/712b90de9c7bc14c595b363401588a713a87c02d/vllm_omni/engine/duplex/delivery.py</a:t>
            </a:r>
          </a:p>
          <a:p>
            <a:r>
              <a:rPr lang="zh-CN">
                <a:latin typeface="Noto Sans CJK SC"/>
                <a:ea typeface="Noto Sans CJK SC"/>
                <a:cs typeface="Noto Sans CJK SC"/>
              </a:rPr>
              <a:t>- session_attachment.py: https://github.com/vllm-project/vllm-omni/blob/712b90de9c7bc14c595b363401588a713a87c02d/vllm_omni/entrypoints/duplex/session_attachment.py</a:t>
            </a:r>
          </a:p>
          <a:p>
            <a:r>
              <a:rPr lang="zh-CN">
                <a:latin typeface="Noto Sans CJK SC"/>
                <a:ea typeface="Noto Sans CJK SC"/>
                <a:cs typeface="Noto Sans CJK SC"/>
              </a:rPr>
              <a:t>PersonaPlex source references:</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a:p>
            <a:r>
              <a:rPr lang="zh-CN">
                <a:latin typeface="Noto Sans CJK SC"/>
                <a:ea typeface="Noto Sans CJK SC"/>
                <a:cs typeface="Noto Sans CJK SC"/>
              </a:rPr>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PersonaPlex demonstration and model-specific behavior</a:t>
            </a:r>
          </a:p>
          <a:p>
            <a:r>
              <a:rPr lang="zh-CN">
                <a:latin typeface="Noto Sans CJK SC"/>
                <a:ea typeface="Noto Sans CJK SC"/>
                <a:cs typeface="Noto Sans CJK SC"/>
              </a:rPr>
              <a:t/>
            </a:r>
          </a:p>
          <a:p>
            <a:r>
              <a:rPr lang="zh-CN">
                <a:latin typeface="Noto Sans CJK SC"/>
                <a:ea typeface="Noto Sans CJK SC"/>
                <a:cs typeface="Noto Sans CJK SC"/>
              </a:rP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rPr lang="zh-CN">
                <a:latin typeface="Noto Sans CJK SC"/>
                <a:ea typeface="Noto Sans CJK SC"/>
                <a:cs typeface="Noto Sans CJK SC"/>
              </a:rPr>
              <a:t/>
            </a:r>
          </a:p>
          <a:p>
            <a:r>
              <a:rPr lang="zh-CN">
                <a:latin typeface="Noto Sans CJK SC"/>
                <a:ea typeface="Noto Sans CJK SC"/>
                <a:cs typeface="Noto Sans CJK SC"/>
              </a:rP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rPr lang="zh-CN">
                <a:latin typeface="Noto Sans CJK SC"/>
                <a:ea typeface="Noto Sans CJK SC"/>
                <a:cs typeface="Noto Sans CJK SC"/>
              </a:rPr>
              <a:t/>
            </a:r>
          </a:p>
          <a:p>
            <a:r>
              <a:rPr lang="zh-CN">
                <a:latin typeface="Noto Sans CJK SC"/>
                <a:ea typeface="Noto Sans CJK SC"/>
                <a:cs typeface="Noto Sans CJK SC"/>
              </a:rP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rPr lang="zh-CN">
                <a:latin typeface="Noto Sans CJK SC"/>
                <a:ea typeface="Noto Sans CJK SC"/>
                <a:cs typeface="Noto Sans CJK SC"/>
              </a:rPr>
              <a:t/>
            </a:r>
          </a:p>
          <a:p>
            <a:r>
              <a:rPr lang="zh-CN">
                <a:latin typeface="Noto Sans CJK SC"/>
                <a:ea typeface="Noto Sans CJK SC"/>
                <a:cs typeface="Noto Sans CJK SC"/>
              </a:rP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rPr lang="zh-CN">
                <a:latin typeface="Noto Sans CJK SC"/>
                <a:ea typeface="Noto Sans CJK SC"/>
                <a:cs typeface="Noto Sans CJK SC"/>
              </a:rPr>
              <a:t/>
            </a:r>
          </a:p>
          <a:p>
            <a:r>
              <a:rPr lang="zh-CN">
                <a:latin typeface="Noto Sans CJK SC"/>
                <a:ea typeface="Noto Sans CJK SC"/>
                <a:cs typeface="Noto Sans CJK SC"/>
              </a:rP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rPr lang="zh-CN">
                <a:latin typeface="Noto Sans CJK SC"/>
                <a:ea typeface="Noto Sans CJK SC"/>
                <a:cs typeface="Noto Sans CJK SC"/>
              </a:rPr>
              <a:t/>
            </a:r>
          </a:p>
          <a:p>
            <a:r>
              <a:rPr lang="zh-CN">
                <a:latin typeface="Noto Sans CJK SC"/>
                <a:ea typeface="Noto Sans CJK SC"/>
                <a:cs typeface="Noto Sans CJK SC"/>
              </a:rPr>
              <a:t>Duplex 消息协议沿用 OpenAI Realtime 的事件体系与消息结构，并扩展视频输入、播放反馈和会话续接能力。/v1/duplex 是 /v1/realtime?duplex=1 的别名，两者使用相同 handler 与消息协议。这里说明协议来源及扩展方向，不表示每个模型都支持全部协议能力，也不承诺所有语义完全等价。</a:t>
            </a:r>
          </a:p>
          <a:p>
            <a:r>
              <a:rPr lang="zh-CN">
                <a:latin typeface="Noto Sans CJK SC"/>
                <a:ea typeface="Noto Sans CJK SC"/>
                <a:cs typeface="Noto Sans CJK SC"/>
              </a:rPr>
              <a:t/>
            </a:r>
          </a:p>
          <a:p>
            <a:r>
              <a:rPr lang="zh-CN">
                <a:latin typeface="Noto Sans CJK SC"/>
                <a:ea typeface="Noto Sans CJK SC"/>
                <a:cs typeface="Noto Sans CJK SC"/>
              </a:rPr>
              <a:t>参考：https://github.com/vllm-project/vllm-omni/blob/d5a3380103df2fc827f095c60dbfb6e1c5655fd3/docs/serving/realtime_duplex_api.md#compatibility-with-the-openai-realtime-protocol</a:t>
            </a:r>
          </a:p>
          <a:p>
            <a:r>
              <a:rPr lang="zh-CN">
                <a:latin typeface="Noto Sans CJK SC"/>
                <a:ea typeface="Noto Sans CJK SC"/>
                <a:cs typeface="Noto Sans CJK SC"/>
              </a:rPr>
              <a:t/>
            </a:r>
          </a:p>
          <a:p>
            <a:r>
              <a:rPr lang="zh-CN">
                <a:latin typeface="Noto Sans CJK SC"/>
                <a:ea typeface="Noto Sans CJK SC"/>
                <a:cs typeface="Noto Sans CJK SC"/>
              </a:rPr>
              <a:t>区分三个层次：接口、会话交互方式和模型执行方式。Chat Completions 承载 Request–response；Realtime Duplex 承载持续的 Duplex session。在同一个 Duplex session 中，Qwen3-Omni + Server VAD 与 AURA 按 turn 执行，MiniCPM-o 4.5、PersonaPlex 和 Nemotron VoiceChat 采用 native duplex execution。Realtime 还保留独立的 turn-based 路径 /v1/realtime?duplex=0；不能仅凭 Realtime 接口名称判断底层执行方式。</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Distinguish three layers: the interface, the conversation interaction, and the model execution inside a session. Chat Completions carries request–response interactions, optionally streamed. Qwen3-Omni and MiniCPM-o 4.5 in turn mode are representative examples; the list is not exhaustive.</a:t>
            </a:r>
          </a:p>
          <a:p>
            <a:r>
              <a:rPr lang="zh-CN">
                <a:latin typeface="Noto Sans CJK SC"/>
                <a:ea typeface="Noto Sans CJK SC"/>
                <a:cs typeface="Noto Sans CJK SC"/>
              </a:rPr>
              <a:t/>
            </a:r>
          </a:p>
          <a:p>
            <a:r>
              <a:rPr lang="zh-CN">
                <a:latin typeface="Noto Sans CJK SC"/>
                <a:ea typeface="Noto Sans CJK SC"/>
                <a:cs typeface="Noto Sans CJK SC"/>
              </a:rPr>
              <a:t>Realtime Duplex opens an engine-owned Duplex session. Use /v1/duplex, or select the Duplex backend explicitly with /v1/realtime?duplex=1. Native duplex execution consumes ongoing input while producing output: MiniCPM-o 4.5, PersonaPlex and Nemotron VoiceChat follow this model-specific path. Turn-based execution buffers a turn and submits a new generation request when it is committed: Qwen3-Omni with Server VAD and AURA are examples. Qwen also supports explicit commit. AURA controls its turns through its model/session policy. The interface remains a streaming session for both execution modes.</a:t>
            </a:r>
          </a:p>
          <a:p>
            <a:r>
              <a:rPr lang="zh-CN">
                <a:latin typeface="Noto Sans CJK SC"/>
                <a:ea typeface="Noto Sans CJK SC"/>
                <a:cs typeface="Noto Sans CJK SC"/>
              </a:rPr>
              <a:t/>
            </a:r>
          </a:p>
          <a:p>
            <a:r>
              <a:rPr lang="zh-CN">
                <a:latin typeface="Noto Sans CJK SC"/>
                <a:ea typeface="Noto Sans CJK SC"/>
                <a:cs typeface="Noto Sans CJK SC"/>
              </a:rPr>
              <a:t>Execution mode does not imply identical capabilities. Video input, cancellation, yielding, resume and concurrency vary by model. In particular, MiniCPM LISTEN/SPEAK decisions must not be generalized to every native duplex model. The same model can appear on multiple serving paths when configured accordingly.</a:t>
            </a:r>
          </a:p>
          <a:p>
            <a:r>
              <a:rPr lang="zh-CN">
                <a:latin typeface="Noto Sans CJK SC"/>
                <a:ea typeface="Noto Sans CJK SC"/>
                <a:cs typeface="Noto Sans CJK SC"/>
              </a:rPr>
              <a:t/>
            </a:r>
          </a:p>
          <a:p>
            <a:r>
              <a:rPr lang="zh-CN">
                <a:latin typeface="Noto Sans CJK SC"/>
                <a:ea typeface="Noto Sans CJK SC"/>
                <a:cs typeface="Noto Sans CJK SC"/>
              </a:rPr>
              <a:t>/v1/realtime?duplex=0 uses a separate generic turn-based Realtime connection with connection-owned history and a new generation request per committed turn. It does not allocate a Unified Duplex engine session. The unqualified /v1/realtime route selects the backend according to server configuration. The explicit interface labels on this slide avoid equating every WebSocket Realtime connection with Unified Duplex.</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https://github.com/vllm-project/vllm-omni/blob/712b90de9c7bc14c595b363401588a713a87c02d/vllm_omni/entrypoints/openai/api_server.py</a:t>
            </a:r>
          </a:p>
          <a:p>
            <a:r>
              <a:rPr lang="zh-CN">
                <a:latin typeface="Noto Sans CJK SC"/>
                <a:ea typeface="Noto Sans CJK SC"/>
                <a:cs typeface="Noto Sans CJK SC"/>
              </a:rPr>
              <a:t>- https://github.com/vllm-project/vllm-omni/blob/712b90de9c7bc14c595b363401588a713a87c02d/vllm_omni/entrypoints/duplex/openai.py</a:t>
            </a:r>
          </a:p>
          <a:p>
            <a:r>
              <a:rPr lang="zh-CN">
                <a:latin typeface="Noto Sans CJK SC"/>
                <a:ea typeface="Noto Sans CJK SC"/>
                <a:cs typeface="Noto Sans CJK SC"/>
              </a:rPr>
              <a:t>- https://github.com/vllm-project/vllm-omni/blob/712b90de9c7bc14c595b363401588a713a87c02d/vllm_omni/entrypoints/openai/realtime/connection.py</a:t>
            </a:r>
          </a:p>
          <a:p>
            <a:r>
              <a:rPr lang="zh-CN">
                <a:latin typeface="Noto Sans CJK SC"/>
                <a:ea typeface="Noto Sans CJK SC"/>
                <a:cs typeface="Noto Sans CJK SC"/>
              </a:rPr>
              <a:t>- https://github.com/vllm-project/vllm-omni/blob/712b90de9c7bc14c595b363401588a713a87c02d/vllm_omni/model_executor/models/minicpmo_4_5/duplex/capabilities.py</a:t>
            </a:r>
          </a:p>
          <a:p>
            <a:r>
              <a:rPr lang="zh-CN">
                <a:latin typeface="Noto Sans CJK SC"/>
                <a:ea typeface="Noto Sans CJK SC"/>
                <a:cs typeface="Noto Sans CJK SC"/>
              </a:rPr>
              <a:t>- https://github.com/vllm-project/vllm-omni/blob/712b90de9c7bc14c595b363401588a713a87c02d/vllm_omni/model_executor/models/qwen3_omni/duplex/plugin.py</a:t>
            </a:r>
          </a:p>
          <a:p>
            <a:r>
              <a:rPr lang="zh-CN">
                <a:latin typeface="Noto Sans CJK SC"/>
                <a:ea typeface="Noto Sans CJK SC"/>
                <a:cs typeface="Noto Sans CJK SC"/>
              </a:rPr>
              <a:t>- https://github.com/vllm-project/vllm-omni/blob/712b90de9c7bc14c595b363401588a713a87c02d/vllm_omni/model_executor/models/aura_omni/duplex/plugin.py</a:t>
            </a:r>
          </a:p>
          <a:p>
            <a:r>
              <a:rPr lang="zh-CN">
                <a:latin typeface="Noto Sans CJK SC"/>
                <a:ea typeface="Noto Sans CJK SC"/>
                <a:cs typeface="Noto Sans CJK SC"/>
              </a:rPr>
              <a:t>- https://github.com/vllm-project/vllm-omni/blob/712b90de9c7bc14c595b363401588a713a87c02d/vllm_omni/model_executor/models/personaplex/duplex/plugin.py</a:t>
            </a:r>
          </a:p>
          <a:p>
            <a:r>
              <a:rPr lang="zh-CN">
                <a:latin typeface="Noto Sans CJK SC"/>
                <a:ea typeface="Noto Sans CJK SC"/>
                <a:cs typeface="Noto Sans CJK SC"/>
              </a:rPr>
              <a:t>- https://github.com/vllm-project/vllm-omni/blob/712b90de9c7bc14c595b363401588a713a87c02d/vllm_omni/model_executor/models/nemotron_voicechat/duplex/plugin.py</a:t>
            </a:r>
          </a:p>
          <a:p>
            <a:r>
              <a:rPr lang="zh-CN">
                <a:latin typeface="Noto Sans CJK SC"/>
                <a:ea typeface="Noto Sans CJK SC"/>
                <a:cs typeface="Noto Sans CJK SC"/>
              </a:rPr>
              <a:t>- https://github.com/vllm-project/vllm-omni/blob/712b90de9c7bc14c595b363401588a713a87c02d/examples/online_serving/realtime_web/app/static/profiles/qwen3_turn.js</a:t>
            </a:r>
          </a:p>
          <a:p>
            <a:r>
              <a:rPr lang="zh-CN">
                <a:latin typeface="Noto Sans CJK SC"/>
                <a:ea typeface="Noto Sans CJK SC"/>
                <a:cs typeface="Noto Sans CJK SC"/>
              </a:rPr>
              <a:t>PersonaPlex source references:</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a:p>
            <a:r>
              <a:rPr lang="zh-CN">
                <a:latin typeface="Noto Sans CJK SC"/>
                <a:ea typeface="Noto Sans CJK SC"/>
                <a:cs typeface="Noto Sans CJK SC"/>
              </a:rPr>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API Server 处理协议、连接绑定与 event replay；EngineClient 提供 session handle、event stream 和控制操作结果。Duplex Orchestrator 驱动会话执行与 Stage 调度：Session Manager 管理准入、lease、路由和输出限制；Session Runner 按 mailbox 顺序处理输入、commit、cancel 和 Stage output；Model Plugin 提供模型特有的能力、输入构造与输出解释。API 和 Orchestrator 位于同一进程，运行在不同事件循环；Stage 计算由独立进程执行。</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This diagram covers the engine-owned Unified Duplex path. API and Orchestrator run in the same process, on separate event loops/threads; Stage engines and workers run in separate processes. The generic turn-based Realtime handler has a different connection-owned control path.</a:t>
            </a:r>
          </a:p>
          <a:p>
            <a:r>
              <a:rPr lang="zh-CN">
                <a:latin typeface="Noto Sans CJK SC"/>
                <a:ea typeface="Noto Sans CJK SC"/>
                <a:cs typeface="Noto Sans CJK SC"/>
              </a:rPr>
              <a:t/>
            </a:r>
          </a:p>
          <a:p>
            <a:r>
              <a:rPr lang="zh-CN">
                <a:latin typeface="Noto Sans CJK SC"/>
                <a:ea typeface="Noto Sans CJK SC"/>
                <a:cs typeface="Noto Sans CJK SC"/>
              </a:rPr>
              <a:t>API Server handles wire events, attachments, replay and event acknowledgements. EngineClient owns typed session handles and event iteration, passes each handle's bounded output buffer to the engine, and routes lifecycle results and exceptional notifications. Manager admits sessions, owns runner/request mappings, checks input and output limits, routes commands and reaps expired sessions. Each Runner consumes its ordered mailbox and coordinates input, response, playback and model work. Plugin supplies capabilities, model state, input construction, output interpretation and stage policies.</a:t>
            </a:r>
          </a:p>
          <a:p>
            <a:r>
              <a:rPr lang="zh-CN">
                <a:latin typeface="Noto Sans CJK SC"/>
                <a:ea typeface="Noto Sans CJK SC"/>
                <a:cs typeface="Noto Sans CJK SC"/>
              </a:rPr>
              <a:t/>
            </a:r>
          </a:p>
          <a:p>
            <a:r>
              <a:rPr lang="zh-CN">
                <a:latin typeface="Noto Sans CJK SC"/>
                <a:ea typeface="Noto Sans CJK SC"/>
                <a:cs typeface="Noto Sans CJK SC"/>
              </a:rPr>
              <a:t>Open/close/resume/touch controls and ordinary commands share request_queue, but controls wait for a correlated result while commands return after enqueue. Ordinary text/audio events go directly to the registered per-session DuplexOutputBuffer shared with handle._outbox. Lifecycle results, close notifications and errors without a live output buffer use the global output queue. GPU KV and streaming compute caches belong to Stage workers.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duplex_omni.py: https://github.com/vllm-project/vllm-omni/blob/712b90de9c7bc14c595b363401588a713a87c02d/vllm_omni/entrypoints/duplex_omni.py</a:t>
            </a:r>
          </a:p>
          <a:p>
            <a:r>
              <a:rPr lang="zh-CN">
                <a:latin typeface="Noto Sans CJK SC"/>
                <a:ea typeface="Noto Sans CJK SC"/>
                <a:cs typeface="Noto Sans CJK SC"/>
              </a:rPr>
              <a:t>- duplex_omni_engine.py: https://github.com/vllm-project/vllm-omni/blob/712b90de9c7bc14c595b363401588a713a87c02d/vllm_omni/engine/duplex_omni_engine.py</a:t>
            </a:r>
          </a:p>
          <a:p>
            <a:r>
              <a:rPr lang="zh-CN">
                <a:latin typeface="Noto Sans CJK SC"/>
                <a:ea typeface="Noto Sans CJK SC"/>
                <a:cs typeface="Noto Sans CJK SC"/>
              </a:rPr>
              <a:t>- manager.py: https://github.com/vllm-project/vllm-omni/blob/712b90de9c7bc14c595b363401588a713a87c02d/vllm_omni/engine/duplex/session/manager.py</a:t>
            </a:r>
          </a:p>
          <a:p>
            <a:r>
              <a:rPr lang="zh-CN">
                <a:latin typeface="Noto Sans CJK SC"/>
                <a:ea typeface="Noto Sans CJK SC"/>
                <a:cs typeface="Noto Sans CJK SC"/>
              </a:rPr>
              <a:t>- runner.py: https://github.com/vllm-project/vllm-omni/blob/712b90de9c7bc14c595b363401588a713a87c02d/vllm_omni/engine/duplex/session/runner.py</a:t>
            </a:r>
          </a:p>
          <a:p>
            <a:r>
              <a:rPr lang="zh-CN">
                <a:latin typeface="Noto Sans CJK SC"/>
                <a:ea typeface="Noto Sans CJK SC"/>
                <a:cs typeface="Noto Sans CJK SC"/>
              </a:rPr>
              <a:t>- delivery.py: https://github.com/vllm-project/vllm-omni/blob/712b90de9c7bc14c595b363401588a713a87c02d/vllm_omni/engine/duplex/delivery.py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建立会话时，EngineClient 创建 handle 和输出 buffer，Manager 完成准入并共用该 buffer。输入 command 进入 Runner mailbox，由 Plugin 形成 Stage 请求。普通输出经 Manager.emit 直接进入有界的 per-session buffer，再由 handle.events() 和 API pump 发往客户端。新输入可与已有计算和输出交叠。Session event ACK 留在 API 层，playback ACK 进入 Runner；播放进度和 history 的更新规则由模型决定。</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At open, EngineClient creates a handle and its output buffer; Manager admits the session and registers the same buffer object. API input is translated into commands, enqueued through DuplexOmniEngine and dispatched to the Runner mailbox. The Runner and Plugin prepare Stage requests while new input can continue to arrive.</a:t>
            </a:r>
          </a:p>
          <a:p>
            <a:r>
              <a:rPr lang="zh-CN">
                <a:latin typeface="Noto Sans CJK SC"/>
                <a:ea typeface="Noto Sans CJK SC"/>
                <a:cs typeface="Noto Sans CJK SC"/>
              </a:rPr>
              <a:t/>
            </a:r>
          </a:p>
          <a:p>
            <a:r>
              <a:rPr lang="zh-CN">
                <a:latin typeface="Noto Sans CJK SC"/>
                <a:ea typeface="Noto Sans CJK SC"/>
                <a:cs typeface="Noto Sans CJK SC"/>
              </a:rPr>
              <a:t>Normal output follows Stage result → Runner/Plugin → Manager.emit → per-session buffer → handle.events() → API event pump → WebSocket. It does not pass through the global output queue first. Buffer limits are 2 MiB and 512 pending ordinary events per session by default. Output overflow fails and closes the affected session; it does not merely pause generation.</a:t>
            </a:r>
          </a:p>
          <a:p>
            <a:r>
              <a:rPr lang="zh-CN">
                <a:latin typeface="Noto Sans CJK SC"/>
                <a:ea typeface="Noto Sans CJK SC"/>
                <a:cs typeface="Noto Sans CJK SC"/>
              </a:rPr>
              <a:t/>
            </a:r>
          </a:p>
          <a:p>
            <a:r>
              <a:rPr lang="zh-CN">
                <a:latin typeface="Noto Sans CJK SC"/>
                <a:ea typeface="Noto Sans CJK SC"/>
                <a:cs typeface="Noto Sans CJK SC"/>
              </a:rPr>
              <a:t>Session event ACKs update API-side replay state without entering the Runner. Playback ACKs are commands and update engine playback state according to model rules. Enqueue success is not execution completion: an engine-dead or queue-full error can be returned immediately by the API, while later command rejection is a session event.</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serving.py: https://github.com/vllm-project/vllm-omni/blob/712b90de9c7bc14c595b363401588a713a87c02d/vllm_omni/entrypoints/duplex/serving.py</a:t>
            </a:r>
          </a:p>
          <a:p>
            <a:r>
              <a:rPr lang="zh-CN">
                <a:latin typeface="Noto Sans CJK SC"/>
                <a:ea typeface="Noto Sans CJK SC"/>
                <a:cs typeface="Noto Sans CJK SC"/>
              </a:rPr>
              <a:t>- duplex_omni.py: https://github.com/vllm-project/vllm-omni/blob/712b90de9c7bc14c595b363401588a713a87c02d/vllm_omni/entrypoints/duplex_omni.py</a:t>
            </a:r>
          </a:p>
          <a:p>
            <a:r>
              <a:rPr lang="zh-CN">
                <a:latin typeface="Noto Sans CJK SC"/>
                <a:ea typeface="Noto Sans CJK SC"/>
                <a:cs typeface="Noto Sans CJK SC"/>
              </a:rPr>
              <a:t>- manager.py: https://github.com/vllm-project/vllm-omni/blob/712b90de9c7bc14c595b363401588a713a87c02d/vllm_omni/engine/duplex/session/manager.py</a:t>
            </a:r>
          </a:p>
          <a:p>
            <a:r>
              <a:rPr lang="zh-CN">
                <a:latin typeface="Noto Sans CJK SC"/>
                <a:ea typeface="Noto Sans CJK SC"/>
                <a:cs typeface="Noto Sans CJK SC"/>
              </a:rPr>
              <a:t>- delivery.py: https://github.com/vllm-project/vllm-omni/blob/712b90de9c7bc14c595b363401588a713a87c02d/vllm_omni/engine/duplex/delivery.py</a:t>
            </a:r>
          </a:p>
          <a:p>
            <a:r>
              <a:rPr lang="zh-CN">
                <a:latin typeface="Noto Sans CJK SC"/>
                <a:ea typeface="Noto Sans CJK SC"/>
                <a:cs typeface="Noto Sans CJK SC"/>
              </a:rPr>
              <a:t>- stage_config.py: https://github.com/vllm-project/vllm-omni/blob/712b90de9c7bc14c595b363401588a713a87c02d/vllm_omni/config/stage_config.py</a:t>
            </a:r>
          </a:p>
          <a:p>
            <a:r>
              <a:rPr lang="zh-CN">
                <a:latin typeface="Noto Sans CJK SC"/>
                <a:ea typeface="Noto Sans CJK SC"/>
                <a:cs typeface="Noto Sans CJK SC"/>
              </a:rPr>
              <a:t/>
            </a:r>
          </a:p>
          <a:p>
            <a:r>
              <a:rPr lang="zh-CN">
                <a:latin typeface="Noto Sans CJK SC"/>
                <a:ea typeface="Noto Sans CJK SC"/>
                <a:cs typeface="Noto Sans CJK SC"/>
              </a:rPr>
              <a:t>Workflow 中的交互控制：引擎取消会推进 response epoch，使排队和暂存的旧音频失效，并 abort 关联的 Stage 请求。API 在提交输出传输时再次检查音频有效性。已经到达客户端的音频仍需客户端清理待播队列。模型 LISTEN 决策与这条强制取消路径分开处理。</a:t>
            </a:r>
          </a:p>
          <a:p>
            <a:r>
              <a:rPr lang="zh-CN">
                <a:latin typeface="Noto Sans CJK SC"/>
                <a:ea typeface="Noto Sans CJK SC"/>
                <a:cs typeface="Noto Sans CJK SC"/>
              </a:rPr>
              <a:t/>
            </a:r>
          </a:p>
          <a:p>
            <a:r>
              <a:rPr lang="zh-CN">
                <a:latin typeface="Noto Sans CJK SC"/>
                <a:ea typeface="Noto Sans CJK SC"/>
                <a:cs typeface="Noto Sans CJK SC"/>
              </a:rPr>
              <a:t>- qwen3_turn.js: https://github.com/vllm-project/vllm-omni/blob/712b90de9c7bc14c595b363401588a713a87c02d/examples/online_serving/realtime_web/app/static/profiles/qwen3_turn.js</a:t>
            </a:r>
          </a:p>
          <a:p>
            <a:r>
              <a:rPr lang="zh-CN">
                <a:latin typeface="Noto Sans CJK SC"/>
                <a:ea typeface="Noto Sans CJK SC"/>
                <a:cs typeface="Noto Sans CJK SC"/>
              </a:rPr>
              <a:t>- aura_ptt.js: https://github.com/vllm-project/vllm-omni/blob/712b90de9c7bc14c595b363401588a713a87c02d/examples/online_serving/realtime_web/app/static/profiles/aura_ptt.js</a:t>
            </a:r>
          </a:p>
          <a:p>
            <a:r>
              <a:rPr lang="zh-CN">
                <a:latin typeface="Noto Sans CJK SC"/>
                <a:ea typeface="Noto Sans CJK SC"/>
                <a:cs typeface="Noto Sans CJK SC"/>
              </a:rPr>
              <a:t>- runner.py: https://github.com/vllm-project/vllm-omni/blob/712b90de9c7bc14c595b363401588a713a87c02d/vllm_omni/engine/duplex/session/runner.py</a:t>
            </a:r>
          </a:p>
          <a:p>
            <a:r>
              <a:rPr lang="zh-CN">
                <a:latin typeface="Noto Sans CJK SC"/>
                <a:ea typeface="Noto Sans CJK SC"/>
                <a:cs typeface="Noto Sans CJK SC"/>
              </a:rPr>
              <a:t>- delivery.py: https://github.com/vllm-project/vllm-omni/blob/712b90de9c7bc14c595b363401588a713a87c02d/vllm_omni/engine/duplex/delivery.py</a:t>
            </a:r>
          </a:p>
          <a:p>
            <a:r>
              <a:rPr lang="zh-CN">
                <a:latin typeface="Noto Sans CJK SC"/>
                <a:ea typeface="Noto Sans CJK SC"/>
                <a:cs typeface="Noto Sans CJK SC"/>
              </a:rPr>
              <a:t>- session_attachment.py: https://github.com/vllm-project/vllm-omni/blob/712b90de9c7bc14c595b363401588a713a87c02d/vllm_omni/entrypoints/duplex/session_attachment.py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Three parallel model paths are shown: PersonaPlex Talker → Mimi Code2Wav; MiniCPM-o 4.5 Multimodal LLM → Talker → Code2Wav; AURA ASR → Thinker → Talker → Code2Wav. The boxes identify compute stages; the retained state and speech timing remain model-specific.</a:t>
            </a:r>
          </a:p>
          <a:p>
            <a:r>
              <a:rPr lang="zh-CN">
                <a:latin typeface="Noto Sans CJK SC"/>
                <a:ea typeface="Noto Sans CJK SC"/>
                <a:cs typeface="Noto Sans CJK SC"/>
              </a:rPr>
              <a:t/>
            </a:r>
          </a:p>
          <a:p>
            <a:r>
              <a:rPr lang="zh-CN">
                <a:latin typeface="Noto Sans CJK SC"/>
                <a:ea typeface="Noto Sans CJK SC"/>
                <a:cs typeface="Noto Sans CJK SC"/>
              </a:rPr>
              <a:t>PersonaPlex demonstration and model-specific behavior</a:t>
            </a:r>
          </a:p>
          <a:p>
            <a:r>
              <a:rPr lang="zh-CN">
                <a:latin typeface="Noto Sans CJK SC"/>
                <a:ea typeface="Noto Sans CJK SC"/>
                <a:cs typeface="Noto Sans CJK SC"/>
              </a:rPr>
              <a:t/>
            </a:r>
          </a:p>
          <a:p>
            <a:r>
              <a:rPr lang="zh-CN">
                <a:latin typeface="Noto Sans CJK SC"/>
                <a:ea typeface="Noto Sans CJK SC"/>
                <a:cs typeface="Noto Sans CJK SC"/>
              </a:rP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rPr lang="zh-CN">
                <a:latin typeface="Noto Sans CJK SC"/>
                <a:ea typeface="Noto Sans CJK SC"/>
                <a:cs typeface="Noto Sans CJK SC"/>
              </a:rPr>
              <a:t/>
            </a:r>
          </a:p>
          <a:p>
            <a:r>
              <a:rPr lang="zh-CN">
                <a:latin typeface="Noto Sans CJK SC"/>
                <a:ea typeface="Noto Sans CJK SC"/>
                <a:cs typeface="Noto Sans CJK SC"/>
              </a:rP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rPr lang="zh-CN">
                <a:latin typeface="Noto Sans CJK SC"/>
                <a:ea typeface="Noto Sans CJK SC"/>
                <a:cs typeface="Noto Sans CJK SC"/>
              </a:rPr>
              <a:t/>
            </a:r>
          </a:p>
          <a:p>
            <a:r>
              <a:rPr lang="zh-CN">
                <a:latin typeface="Noto Sans CJK SC"/>
                <a:ea typeface="Noto Sans CJK SC"/>
                <a:cs typeface="Noto Sans CJK SC"/>
              </a:rP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rPr lang="zh-CN">
                <a:latin typeface="Noto Sans CJK SC"/>
                <a:ea typeface="Noto Sans CJK SC"/>
                <a:cs typeface="Noto Sans CJK SC"/>
              </a:rPr>
              <a:t/>
            </a:r>
          </a:p>
          <a:p>
            <a:r>
              <a:rPr lang="zh-CN">
                <a:latin typeface="Noto Sans CJK SC"/>
                <a:ea typeface="Noto Sans CJK SC"/>
                <a:cs typeface="Noto Sans CJK SC"/>
              </a:rP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rPr lang="zh-CN">
                <a:latin typeface="Noto Sans CJK SC"/>
                <a:ea typeface="Noto Sans CJK SC"/>
                <a:cs typeface="Noto Sans CJK SC"/>
              </a:rPr>
              <a:t/>
            </a:r>
          </a:p>
          <a:p>
            <a:r>
              <a:rPr lang="zh-CN">
                <a:latin typeface="Noto Sans CJK SC"/>
                <a:ea typeface="Noto Sans CJK SC"/>
                <a:cs typeface="Noto Sans CJK SC"/>
              </a:rP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rPr lang="zh-CN">
                <a:latin typeface="Noto Sans CJK SC"/>
                <a:ea typeface="Noto Sans CJK SC"/>
                <a:cs typeface="Noto Sans CJK SC"/>
              </a:rPr>
              <a:t/>
            </a:r>
          </a:p>
          <a:p>
            <a:r>
              <a:rPr lang="zh-CN">
                <a:latin typeface="Noto Sans CJK SC"/>
                <a:ea typeface="Noto Sans CJK SC"/>
                <a:cs typeface="Noto Sans CJK SC"/>
              </a:rPr>
              <a:t>MiniCPM 对活跃请求持续追加 chunk，复用绑定 Replica 上的 KV 和流式音频状态；LISTEN 保留该活跃请求。AURA 与 Qwen3-Omni 每轮 commit 后提交新的生成请求，并按各自规则重建 prompt。AURA 保留 ASR 文本、视频片段与助手文本；Qwen3-Omni 保留用户音频、图像帧和文本。Stage 指一个模型计算环节，Replica 指同一 Stage 的执行实例；这些计算资源与会话 history 是不同的状态层次。</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MiniCPM appends input to a live resumable Stage-0 request on its bound replica. It retains model KV and streaming audio state. With basic sliding-window mode enabled, its block-aligned path bounds retained context and adjusts positions using in-place Re-RoPE, rather than copying the retained KV window. The retained window is not an unlimited memory of the whole conversation. Talker/Code2Wav state follows the speech request and decoder execution.</a:t>
            </a:r>
          </a:p>
          <a:p>
            <a:r>
              <a:rPr lang="zh-CN">
                <a:latin typeface="Noto Sans CJK SC"/>
                <a:ea typeface="Noto Sans CJK SC"/>
                <a:cs typeface="Noto Sans CJK SC"/>
              </a:rPr>
              <a:t/>
            </a:r>
          </a:p>
          <a:p>
            <a:r>
              <a:rPr lang="zh-CN">
                <a:latin typeface="Noto Sans CJK SC"/>
                <a:ea typeface="Noto Sans CJK SC"/>
                <a:cs typeface="Noto Sans CJK SC"/>
              </a:rPr>
              <a:t>AURA commits each turn and rebuilds its Thinker prompt from retained ASR text, video clips and assistant text. Its ASR → Thinker → Talker → Code2Wav path can continue sentence TTS within a turn; a next Thinker turn can overlap draining speech from the prior turn. Qwen similarly submits a new request for committed input, using retained audio, images and text. It has no separate ASR Stage. A commit and cancelling the current response are distinct operations.</a:t>
            </a:r>
          </a:p>
          <a:p>
            <a:r>
              <a:rPr lang="zh-CN">
                <a:latin typeface="Noto Sans CJK SC"/>
                <a:ea typeface="Noto Sans CJK SC"/>
                <a:cs typeface="Noto Sans CJK SC"/>
              </a:rPr>
              <a:t/>
            </a:r>
          </a:p>
          <a:p>
            <a:r>
              <a:rPr lang="zh-CN">
                <a:latin typeface="Noto Sans CJK SC"/>
                <a:ea typeface="Noto Sans CJK SC"/>
                <a:cs typeface="Noto Sans CJK SC"/>
              </a:rPr>
              <a:t>A Stage is a compute step. A replica is an execution instance of that Stage, not a duplicate conversation history. The Session Manager and StagePool preserve request affinity needed by resident model state.</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stage0.py: https://github.com/vllm-project/vllm-omni/blob/712b90de9c7bc14c595b363401588a713a87c02d/vllm_omni/model_executor/models/minicpmo_4_5/duplex/stage0.py</a:t>
            </a:r>
          </a:p>
          <a:p>
            <a:r>
              <a:rPr lang="zh-CN">
                <a:latin typeface="Noto Sans CJK SC"/>
                <a:ea typeface="Noto Sans CJK SC"/>
                <a:cs typeface="Noto Sans CJK SC"/>
              </a:rPr>
              <a:t>- window_kv.py: https://github.com/vllm-project/vllm-omni/blob/712b90de9c7bc14c595b363401588a713a87c02d/vllm_omni/model_executor/models/minicpmo_4_5/duplex/window_kv.py</a:t>
            </a:r>
          </a:p>
          <a:p>
            <a:r>
              <a:rPr lang="zh-CN">
                <a:latin typeface="Noto Sans CJK SC"/>
                <a:ea typeface="Noto Sans CJK SC"/>
                <a:cs typeface="Noto Sans CJK SC"/>
              </a:rPr>
              <a:t>- window_plan.py: https://github.com/vllm-project/vllm-omni/blob/712b90de9c7bc14c595b363401588a713a87c02d/vllm_omni/model_executor/models/minicpmo_4_5/duplex/window_plan.py</a:t>
            </a:r>
          </a:p>
          <a:p>
            <a:r>
              <a:rPr lang="zh-CN">
                <a:latin typeface="Noto Sans CJK SC"/>
                <a:ea typeface="Noto Sans CJK SC"/>
                <a:cs typeface="Noto Sans CJK SC"/>
              </a:rPr>
              <a:t>- plugin.py: https://github.com/vllm-project/vllm-omni/blob/712b90de9c7bc14c595b363401588a713a87c02d/vllm_omni/model_executor/models/aura_omni/duplex/plugin.py</a:t>
            </a:r>
          </a:p>
          <a:p>
            <a:r>
              <a:rPr lang="zh-CN">
                <a:latin typeface="Noto Sans CJK SC"/>
                <a:ea typeface="Noto Sans CJK SC"/>
                <a:cs typeface="Noto Sans CJK SC"/>
              </a:rPr>
              <a:t>- plugin.py: https://github.com/vllm-project/vllm-omni/blob/712b90de9c7bc14c595b363401588a713a87c02d/vllm_omni/model_executor/models/qwen3_omni/duplex/plugin.py</a:t>
            </a:r>
          </a:p>
          <a:p>
            <a:r>
              <a:rPr lang="zh-CN">
                <a:latin typeface="Noto Sans CJK SC"/>
                <a:ea typeface="Noto Sans CJK SC"/>
                <a:cs typeface="Noto Sans CJK SC"/>
              </a:rPr>
              <a:t/>
            </a:r>
          </a:p>
          <a:p>
            <a:r>
              <a:rPr lang="zh-CN">
                <a:latin typeface="Noto Sans CJK SC"/>
                <a:ea typeface="Noto Sans CJK SC"/>
                <a:cs typeface="Noto Sans CJK SC"/>
              </a:rPr>
              <a:t>播放与 history 的边界：MiniCPM 的 playback ACK 更新播放记录，但不回滚模型 KV。Qwen3-Omni 需要音频完成及完整 playback ACK，才能确认无对齐输出文本已经完整播放。AURA 在 Thinker 完成时提交文本 history，playback ACK 不截断这段 history。</a:t>
            </a:r>
          </a:p>
          <a:p>
            <a:r>
              <a:rPr lang="zh-CN">
                <a:latin typeface="Noto Sans CJK SC"/>
                <a:ea typeface="Noto Sans CJK SC"/>
                <a:cs typeface="Noto Sans CJK SC"/>
              </a:rPr>
              <a:t/>
            </a:r>
          </a:p>
          <a:p>
            <a:r>
              <a:rPr lang="zh-CN">
                <a:latin typeface="Noto Sans CJK SC"/>
                <a:ea typeface="Noto Sans CJK SC"/>
                <a:cs typeface="Noto Sans CJK SC"/>
              </a:rPr>
              <a:t>- qwen3_turn.js: https://github.com/vllm-project/vllm-omni/blob/712b90de9c7bc14c595b363401588a713a87c02d/examples/online_serving/realtime_web/app/static/profiles/qwen3_turn.js</a:t>
            </a:r>
          </a:p>
          <a:p>
            <a:r>
              <a:rPr lang="zh-CN">
                <a:latin typeface="Noto Sans CJK SC"/>
                <a:ea typeface="Noto Sans CJK SC"/>
                <a:cs typeface="Noto Sans CJK SC"/>
              </a:rPr>
              <a:t>- aura_ptt.js: https://github.com/vllm-project/vllm-omni/blob/712b90de9c7bc14c595b363401588a713a87c02d/examples/online_serving/realtime_web/app/static/profiles/aura_ptt.js</a:t>
            </a:r>
          </a:p>
          <a:p>
            <a:r>
              <a:rPr lang="zh-CN">
                <a:latin typeface="Noto Sans CJK SC"/>
                <a:ea typeface="Noto Sans CJK SC"/>
                <a:cs typeface="Noto Sans CJK SC"/>
              </a:rPr>
              <a:t>- runner.py: https://github.com/vllm-project/vllm-omni/blob/712b90de9c7bc14c595b363401588a713a87c02d/vllm_omni/engine/duplex/session/runner.py</a:t>
            </a:r>
          </a:p>
          <a:p>
            <a:r>
              <a:rPr lang="zh-CN">
                <a:latin typeface="Noto Sans CJK SC"/>
                <a:ea typeface="Noto Sans CJK SC"/>
                <a:cs typeface="Noto Sans CJK SC"/>
              </a:rPr>
              <a:t>- delivery.py: https://github.com/vllm-project/vllm-omni/blob/712b90de9c7bc14c595b363401588a713a87c02d/vllm_omni/engine/duplex/delivery.py</a:t>
            </a:r>
          </a:p>
          <a:p>
            <a:r>
              <a:rPr lang="zh-CN">
                <a:latin typeface="Noto Sans CJK SC"/>
                <a:ea typeface="Noto Sans CJK SC"/>
                <a:cs typeface="Noto Sans CJK SC"/>
              </a:rPr>
              <a:t>- session_attachment.py: https://github.com/vllm-project/vllm-omni/blob/712b90de9c7bc14c595b363401588a713a87c02d/vllm_omni/entrypoints/duplex/session_attachment.py</a:t>
            </a:r>
          </a:p>
          <a:p>
            <a:r>
              <a:rPr lang="zh-CN">
                <a:latin typeface="Noto Sans CJK SC"/>
                <a:ea typeface="Noto Sans CJK SC"/>
                <a:cs typeface="Noto Sans CJK SC"/>
              </a:rPr>
              <a:t>PersonaPlex source references:</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a:p>
            <a:r>
              <a:rPr lang="zh-CN">
                <a:latin typeface="Noto Sans CJK SC"/>
                <a:ea typeface="Noto Sans CJK SC"/>
                <a:cs typeface="Noto Sans CJK SC"/>
              </a:rPr>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PersonaPlex demonstration and model-specific behavior</a:t>
            </a:r>
          </a:p>
          <a:p>
            <a:r>
              <a:rPr lang="zh-CN">
                <a:latin typeface="Noto Sans CJK SC"/>
                <a:ea typeface="Noto Sans CJK SC"/>
                <a:cs typeface="Noto Sans CJK SC"/>
              </a:rPr>
              <a:t/>
            </a:r>
          </a:p>
          <a:p>
            <a:r>
              <a:rPr lang="zh-CN">
                <a:latin typeface="Noto Sans CJK SC"/>
                <a:ea typeface="Noto Sans CJK SC"/>
                <a:cs typeface="Noto Sans CJK SC"/>
              </a:rP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rPr lang="zh-CN">
                <a:latin typeface="Noto Sans CJK SC"/>
                <a:ea typeface="Noto Sans CJK SC"/>
                <a:cs typeface="Noto Sans CJK SC"/>
              </a:rPr>
              <a:t/>
            </a:r>
          </a:p>
          <a:p>
            <a:r>
              <a:rPr lang="zh-CN">
                <a:latin typeface="Noto Sans CJK SC"/>
                <a:ea typeface="Noto Sans CJK SC"/>
                <a:cs typeface="Noto Sans CJK SC"/>
              </a:rP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rPr lang="zh-CN">
                <a:latin typeface="Noto Sans CJK SC"/>
                <a:ea typeface="Noto Sans CJK SC"/>
                <a:cs typeface="Noto Sans CJK SC"/>
              </a:rPr>
              <a:t/>
            </a:r>
          </a:p>
          <a:p>
            <a:r>
              <a:rPr lang="zh-CN">
                <a:latin typeface="Noto Sans CJK SC"/>
                <a:ea typeface="Noto Sans CJK SC"/>
                <a:cs typeface="Noto Sans CJK SC"/>
              </a:rP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rPr lang="zh-CN">
                <a:latin typeface="Noto Sans CJK SC"/>
                <a:ea typeface="Noto Sans CJK SC"/>
                <a:cs typeface="Noto Sans CJK SC"/>
              </a:rPr>
              <a:t/>
            </a:r>
          </a:p>
          <a:p>
            <a:r>
              <a:rPr lang="zh-CN">
                <a:latin typeface="Noto Sans CJK SC"/>
                <a:ea typeface="Noto Sans CJK SC"/>
                <a:cs typeface="Noto Sans CJK SC"/>
              </a:rP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rPr lang="zh-CN">
                <a:latin typeface="Noto Sans CJK SC"/>
                <a:ea typeface="Noto Sans CJK SC"/>
                <a:cs typeface="Noto Sans CJK SC"/>
              </a:rPr>
              <a:t/>
            </a:r>
          </a:p>
          <a:p>
            <a:r>
              <a:rPr lang="zh-CN">
                <a:latin typeface="Noto Sans CJK SC"/>
                <a:ea typeface="Noto Sans CJK SC"/>
                <a:cs typeface="Noto Sans CJK SC"/>
              </a:rP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rPr lang="zh-CN">
                <a:latin typeface="Noto Sans CJK SC"/>
                <a:ea typeface="Noto Sans CJK SC"/>
                <a:cs typeface="Noto Sans CJK SC"/>
              </a:rPr>
              <a:t/>
            </a:r>
          </a:p>
          <a:p>
            <a:r>
              <a:rPr lang="zh-CN">
                <a:latin typeface="Noto Sans CJK SC"/>
                <a:ea typeface="Noto Sans CJK SC"/>
                <a:cs typeface="Noto Sans CJK SC"/>
              </a:rPr>
              <a:t>Session resume 将新连接重新绑定到仍存活的 engine session，并从最后接收的 event position 续传保留事件。Python SDK 自动维护会话凭据，自定义客户端需要保存 session ID、resume token 和接收位置。恢复依赖原 owner 仍存活、lease 有效，以及所需事件仍在 replay window 内，不提供进程故障切换。MiniCPM、AURA、Qwen3-Omni 和 Nemotron 支持活跃会话续接；PersonaPlex 断连后需新建会话。</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Live-session resume is available for MiniCPM-o 4.5, AURA, Qwen3-Omni and Nemotron in their Unified Duplex paths. The client reconnects to the same live owner, sends session.resume as its first message, and supplies session ID, resume token and last received server event sequence. The server validates the lease and replay window, binds the new attachment, rotates credentials and replays retained events.</a:t>
            </a:r>
          </a:p>
          <a:p>
            <a:r>
              <a:rPr lang="zh-CN">
                <a:latin typeface="Noto Sans CJK SC"/>
                <a:ea typeface="Noto Sans CJK SC"/>
                <a:cs typeface="Noto Sans CJK SC"/>
              </a:rPr>
              <a:t/>
            </a:r>
          </a:p>
          <a:p>
            <a:r>
              <a:rPr lang="zh-CN">
                <a:latin typeface="Noto Sans CJK SC"/>
                <a:ea typeface="Noto Sans CJK SC"/>
                <a:cs typeface="Noto Sans CJK SC"/>
              </a:rPr>
              <a:t>PersonaPlex currently advertises supports_session_resume=false; disconnect closes that session. Reconnect therefore opens a new one. Generic turn-based Realtime connection history is also a different path and does not use the engine-owned resume protocol.</a:t>
            </a:r>
          </a:p>
          <a:p>
            <a:r>
              <a:rPr lang="zh-CN">
                <a:latin typeface="Noto Sans CJK SC"/>
                <a:ea typeface="Noto Sans CJK SC"/>
                <a:cs typeface="Noto Sans CJK SC"/>
              </a:rPr>
              <a:t/>
            </a:r>
          </a:p>
          <a:p>
            <a:r>
              <a:rPr lang="zh-CN">
                <a:latin typeface="Noto Sans CJK SC"/>
                <a:ea typeface="Noto Sans CJK SC"/>
                <a:cs typeface="Noto Sans CJK SC"/>
              </a:rPr>
              <a:t>Resume depends on the API and engine remaining alive, a valid lease and retained replay events. It is not cross-process failover. A slow or absent consumer can exhaust bounded output/replay capacity, so reconnect does not guarantee that a session will remain available indefinitely. The Python duplex client retains credentials and tracks event position for its reconnect policy.</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serving.py: https://github.com/vllm-project/vllm-omni/blob/712b90de9c7bc14c595b363401588a713a87c02d/vllm_omni/entrypoints/duplex/serving.py</a:t>
            </a:r>
          </a:p>
          <a:p>
            <a:r>
              <a:rPr lang="zh-CN">
                <a:latin typeface="Noto Sans CJK SC"/>
                <a:ea typeface="Noto Sans CJK SC"/>
                <a:cs typeface="Noto Sans CJK SC"/>
              </a:rPr>
              <a:t>- session_attachment.py: https://github.com/vllm-project/vllm-omni/blob/712b90de9c7bc14c595b363401588a713a87c02d/vllm_omni/entrypoints/duplex/session_attachment.py</a:t>
            </a:r>
          </a:p>
          <a:p>
            <a:r>
              <a:rPr lang="zh-CN">
                <a:latin typeface="Noto Sans CJK SC"/>
                <a:ea typeface="Noto Sans CJK SC"/>
                <a:cs typeface="Noto Sans CJK SC"/>
              </a:rPr>
              <a:t>- capabilities.py: https://github.com/vllm-project/vllm-omni/blob/712b90de9c7bc14c595b363401588a713a87c02d/vllm_omni/model_executor/models/personaplex/duplex/capabilities.py</a:t>
            </a:r>
          </a:p>
          <a:p>
            <a:r>
              <a:rPr lang="zh-CN">
                <a:latin typeface="Noto Sans CJK SC"/>
                <a:ea typeface="Noto Sans CJK SC"/>
                <a:cs typeface="Noto Sans CJK SC"/>
              </a:rPr>
              <a:t>- capabilities.py: https://github.com/vllm-project/vllm-omni/blob/712b90de9c7bc14c595b363401588a713a87c02d/vllm_omni/model_executor/models/nemotron_voicechat/duplex/capabilities.py</a:t>
            </a:r>
          </a:p>
          <a:p>
            <a:r>
              <a:rPr lang="zh-CN">
                <a:latin typeface="Noto Sans CJK SC"/>
                <a:ea typeface="Noto Sans CJK SC"/>
                <a:cs typeface="Noto Sans CJK SC"/>
              </a:rPr>
              <a:t>- duplex.py: https://github.com/vllm-project/vllm-omni/blob/712b90de9c7bc14c595b363401588a713a87c02d/vllm_omni/clients/duplex.py</a:t>
            </a:r>
          </a:p>
          <a:p>
            <a:r>
              <a:rPr lang="zh-CN">
                <a:latin typeface="Noto Sans CJK SC"/>
                <a:ea typeface="Noto Sans CJK SC"/>
                <a:cs typeface="Noto Sans CJK SC"/>
              </a:rPr>
              <a:t>PersonaPlex source references:</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a:p>
            <a:r>
              <a:rPr lang="zh-CN">
                <a:latin typeface="Noto Sans CJK SC"/>
                <a:ea typeface="Noto Sans CJK SC"/>
                <a:cs typeface="Noto Sans CJK SC"/>
              </a:rPr>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本页用可直接理解的行为介绍最新主仓中的代表性优化：减少每个输入片段的启动开销、合并语音合成小操作，以及跨 session 处理新音频帧。它们是针对具体模型的执行路径，不表示所有模型都支持或默认启用所有优化。</a:t>
            </a:r>
          </a:p>
          <a:p>
            <a:r>
              <a:rPr lang="zh-CN">
                <a:latin typeface="Noto Sans CJK SC"/>
                <a:ea typeface="Noto Sans CJK SC"/>
                <a:cs typeface="Noto Sans CJK SC"/>
              </a:rPr>
              <a:t/>
            </a:r>
          </a:p>
          <a:p>
            <a:r>
              <a:rPr lang="zh-CN">
                <a:latin typeface="Noto Sans CJK SC"/>
                <a:ea typeface="Noto Sans CJK SC"/>
                <a:cs typeface="Noto Sans CJK SC"/>
              </a:rPr>
              <a:t>MiniCPM-o 4.5 对符合条件的流式音频与视觉 encoder 使用 CUDA graph；Qwen3-Omni 本页涉及的是图像 encoder，不能扩展成其视频和音频也使用该路径。CUDA graph 主要减少 CPU 调度和启动开销，不代表省略模型运算。路径受输入 shape、attention 配置及部署 profile 限制，并保留 eager fallback。</a:t>
            </a:r>
          </a:p>
          <a:p>
            <a:r>
              <a:rPr lang="zh-CN">
                <a:latin typeface="Noto Sans CJK SC"/>
                <a:ea typeface="Noto Sans CJK SC"/>
                <a:cs typeface="Noto Sans CJK SC"/>
              </a:rPr>
              <a:t/>
            </a:r>
          </a:p>
          <a:p>
            <a:r>
              <a:rPr lang="zh-CN">
                <a:latin typeface="Noto Sans CJK SC"/>
                <a:ea typeface="Noto Sans CJK SC"/>
                <a:cs typeface="Noto Sans CJK SC"/>
              </a:rPr>
              <a:t>MiniCPM-o 4.5 的 Code2Wav 在支持的 CUDA 路径、TF32 开启时默认使用 fused CFM/DiT body，以合并小操作、降低任务启动和中间内存处理开销。关闭 TF32、未支持的结构或缓存类型会改变默认选择或触发 fallback。Resident slot pooling 仍是可选项，浮点融合也不保证波形逐位相同。主仓近期另有输出拷贝异步化改动，本页不展开这层实现细节。</a:t>
            </a:r>
          </a:p>
          <a:p>
            <a:r>
              <a:rPr lang="zh-CN">
                <a:latin typeface="Noto Sans CJK SC"/>
                <a:ea typeface="Noto Sans CJK SC"/>
                <a:cs typeface="Noto Sans CJK SC"/>
              </a:rPr>
              <a:t/>
            </a:r>
          </a:p>
          <a:p>
            <a:r>
              <a:rPr lang="zh-CN">
                <a:latin typeface="Noto Sans CJK SC"/>
                <a:ea typeface="Noto Sans CJK SC"/>
                <a:cs typeface="Noto Sans CJK SC"/>
              </a:rPr>
              <a:t>PersonaPlex 将符合条件的多 session 单帧实时追加合并处理，首个携带 persona prefill 的追加仍走原路径。异步 Code2Wav 输入只包含新生成的 codec 帧，同步完整输入每个请求只消费一次，避免重复解码旧内容。这不是对所有并发组合的量化性能承诺。</a:t>
            </a:r>
          </a:p>
          <a:p>
            <a:r>
              <a:rPr lang="zh-CN">
                <a:latin typeface="Noto Sans CJK SC"/>
                <a:ea typeface="Noto Sans CJK SC"/>
                <a:cs typeface="Noto Sans CJK SC"/>
              </a:rPr>
              <a:t/>
            </a:r>
          </a:p>
          <a:p>
            <a:r>
              <a:rPr lang="zh-CN">
                <a:latin typeface="Noto Sans CJK SC"/>
                <a:ea typeface="Noto Sans CJK SC"/>
                <a:cs typeface="Noto Sans CJK SC"/>
              </a:rPr>
              <a:t>性能表选取给定数据源中最新的连续四次 H100 每日记录：2026 年 10 月 5–8 日，MiniCPM-o 4.5、Seed-TTS、openai-chat-omni、配置并发 8、128 prompts，导出的 config_key 相同。mean_audio_rtf 分别为 0.9844461966498954、0.7430039011861929、0.559707561533549、0.4902875810555307，表格保留两位小数。每次均完成 128 个请求。该趋势体现近期整体运行结果，不将下降归因于某一个 PR，也不能仅凭导出记录断定部署参数或代码提交完全相同。硬件字段仅写 H100，本页不推断卡数。</a:t>
            </a:r>
          </a:p>
          <a:p>
            <a:r>
              <a:rPr lang="zh-CN">
                <a:latin typeface="Noto Sans CJK SC"/>
                <a:ea typeface="Noto Sans CJK SC"/>
                <a:cs typeface="Noto Sans CJK SC"/>
              </a:rPr>
              <a:t/>
            </a:r>
          </a:p>
          <a:p>
            <a:r>
              <a:rPr lang="zh-CN">
                <a:latin typeface="Noto Sans CJK SC"/>
                <a:ea typeface="Noto Sans CJK SC"/>
                <a:cs typeface="Noto Sans CJK SC"/>
              </a:rPr>
              <a:t>这些数据来自 Chat Completions 语音生成测试，不是 8 路 native duplex 实时音视频会话。该 chat benchmark 用请求发出至最后一个音频片段到达的时间作为音频生成耗时，以返回音频解码得到时长，再按请求计算 RTF 并取平均。它不直接证明首播延迟、打断体验或各负载下均无播放卡顿。本次仅核对现有记录，没有重新运行 GPU 测试。数据源链接仅放讲解备注。</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https://github.com/vllm-project/vllm-omni/blob/06afa310c942c0506f0ed9bdd189fa331c46bb97/vllm_omni/model_executor/models/minicpmo_4_5/streaming_audio_encoder_graph.py</a:t>
            </a:r>
          </a:p>
          <a:p>
            <a:r>
              <a:rPr lang="zh-CN">
                <a:latin typeface="Noto Sans CJK SC"/>
                <a:ea typeface="Noto Sans CJK SC"/>
                <a:cs typeface="Noto Sans CJK SC"/>
              </a:rPr>
              <a:t>- https://github.com/vllm-project/vllm-omni/blob/06afa310c942c0506f0ed9bdd189fa331c46bb97/vllm_omni/model_executor/models/minicpmo_4_5/encoder_cuda_graph.py</a:t>
            </a:r>
          </a:p>
          <a:p>
            <a:r>
              <a:rPr lang="zh-CN">
                <a:latin typeface="Noto Sans CJK SC"/>
                <a:ea typeface="Noto Sans CJK SC"/>
                <a:cs typeface="Noto Sans CJK SC"/>
              </a:rPr>
              <a:t>- https://github.com/vllm-project/vllm-omni/blob/06afa310c942c0506f0ed9bdd189fa331c46bb97/vllm_omni/model_executor/models/minicpmo_4_5/minicpmo_4_5_code2wav.py</a:t>
            </a:r>
          </a:p>
          <a:p>
            <a:r>
              <a:rPr lang="zh-CN">
                <a:latin typeface="Noto Sans CJK SC"/>
                <a:ea typeface="Noto Sans CJK SC"/>
                <a:cs typeface="Noto Sans CJK SC"/>
              </a:rPr>
              <a:t>- https://github.com/vllm-project/vllm-omni/blob/06afa310c942c0506f0ed9bdd189fa331c46bb97/vllm_omni/model_executor/models/minicpmo_4_5/dit_fused.py</a:t>
            </a:r>
          </a:p>
          <a:p>
            <a:r>
              <a:rPr lang="zh-CN">
                <a:latin typeface="Noto Sans CJK SC"/>
                <a:ea typeface="Noto Sans CJK SC"/>
                <a:cs typeface="Noto Sans CJK SC"/>
              </a:rPr>
              <a:t>- https://github.com/vllm-project/vllm-omni/blob/06afa310c942c0506f0ed9bdd189fa331c46bb97/vllm_omni/model_executor/models/qwen3_omni/vision_encoder_cudagraph.py</a:t>
            </a:r>
          </a:p>
          <a:p>
            <a:r>
              <a:rPr lang="zh-CN">
                <a:latin typeface="Noto Sans CJK SC"/>
                <a:ea typeface="Noto Sans CJK SC"/>
                <a:cs typeface="Noto Sans CJK SC"/>
              </a:rPr>
              <a:t>- https://github.com/vllm-project/vllm-omni/blob/06afa310c942c0506f0ed9bdd189fa331c46bb97/vllm_omni/model_executor/models/personaplex/duplex/stage0.py</a:t>
            </a:r>
          </a:p>
          <a:p>
            <a:r>
              <a:rPr lang="zh-CN">
                <a:latin typeface="Noto Sans CJK SC"/>
                <a:ea typeface="Noto Sans CJK SC"/>
                <a:cs typeface="Noto Sans CJK SC"/>
              </a:rPr>
              <a:t>- https://github.com/vllm-project/vllm-omni/blob/06afa310c942c0506f0ed9bdd189fa331c46bb97/vllm_omni/model_executor/models/personaplex/personaplex_code2wav.py</a:t>
            </a:r>
          </a:p>
          <a:p>
            <a:r>
              <a:rPr lang="zh-CN">
                <a:latin typeface="Noto Sans CJK SC"/>
                <a:ea typeface="Noto Sans CJK SC"/>
                <a:cs typeface="Noto Sans CJK SC"/>
              </a:rPr>
              <a:t>- https://github.com/vllm-project/vllm-omni/blob/06afa310c942c0506f0ed9bdd189fa331c46bb97/vllm_omni/worker/gpu_generation_model_runner.py</a:t>
            </a:r>
          </a:p>
          <a:p>
            <a:r>
              <a:rPr lang="zh-CN">
                <a:latin typeface="Noto Sans CJK SC"/>
                <a:ea typeface="Noto Sans CJK SC"/>
                <a:cs typeface="Noto Sans CJK SC"/>
              </a:rPr>
              <a:t>- https://github.com/vllm-project/vllm-omni/blob/06afa310c942c0506f0ed9bdd189fa331c46bb97/vllm_omni/benchmarks/patch/patch.py</a:t>
            </a:r>
          </a:p>
          <a:p>
            <a:r>
              <a:rPr lang="zh-CN">
                <a:latin typeface="Noto Sans CJK SC"/>
                <a:ea typeface="Noto Sans CJK SC"/>
                <a:cs typeface="Noto Sans CJK SC"/>
              </a:rPr>
              <a:t>- https://github.com/vllm-project/vllm-omni/blob/06afa310c942c0506f0ed9bdd189fa331c46bb97/docs/design/minicpm_o45_mrv2_performance.md</a:t>
            </a:r>
          </a:p>
          <a:p>
            <a:r>
              <a:rPr lang="zh-CN">
                <a:latin typeface="Noto Sans CJK SC"/>
                <a:ea typeface="Noto Sans CJK SC"/>
                <a:cs typeface="Noto Sans CJK SC"/>
              </a:rPr>
              <a:t>- https://github.com/vllm-project/vllm-omni/pull/8430</a:t>
            </a:r>
          </a:p>
          <a:p>
            <a:r>
              <a:rPr lang="zh-CN">
                <a:latin typeface="Noto Sans CJK SC"/>
                <a:ea typeface="Noto Sans CJK SC"/>
                <a:cs typeface="Noto Sans CJK SC"/>
              </a:rPr>
              <a:t>- https://github.com/vllm-project/vllm-omni/pull/8215</a:t>
            </a:r>
          </a:p>
          <a:p>
            <a:r>
              <a:rPr lang="zh-CN">
                <a:latin typeface="Noto Sans CJK SC"/>
                <a:ea typeface="Noto Sans CJK SC"/>
                <a:cs typeface="Noto Sans CJK SC"/>
              </a:rPr>
              <a:t>- https://github.com/vllm-project/vllm-omni/pull/8557</a:t>
            </a:r>
          </a:p>
          <a:p>
            <a:r>
              <a:rPr lang="zh-CN">
                <a:latin typeface="Noto Sans CJK SC"/>
                <a:ea typeface="Noto Sans CJK SC"/>
                <a:cs typeface="Noto Sans CJK SC"/>
              </a:rPr>
              <a:t>- https://github.com/vllm-project/vllm-omni/pull/8356</a:t>
            </a:r>
          </a:p>
          <a:p>
            <a:r>
              <a:rPr lang="zh-CN">
                <a:latin typeface="Noto Sans CJK SC"/>
                <a:ea typeface="Noto Sans CJK SC"/>
                <a:cs typeface="Noto Sans CJK SC"/>
              </a:rPr>
              <a:t>- https://github.com/vllm-project/vllm-omni/pull/7480</a:t>
            </a:r>
          </a:p>
          <a:p>
            <a:r>
              <a:rPr lang="zh-CN">
                <a:latin typeface="Noto Sans CJK SC"/>
                <a:ea typeface="Noto Sans CJK SC"/>
                <a:cs typeface="Noto Sans CJK SC"/>
              </a:rPr>
              <a:t>- https://github.com/vllm-project/vllm-omni/pull/8540</a:t>
            </a:r>
          </a:p>
          <a:p>
            <a:r>
              <a:rPr lang="zh-CN">
                <a:latin typeface="Noto Sans CJK SC"/>
                <a:ea typeface="Noto Sans CJK SC"/>
                <a:cs typeface="Noto Sans CJK SC"/>
              </a:rPr>
              <a:t>- https://hsliuustc0106.github.io/vllm-omni-kanban/pages/assets/charts/minicpmo_4_5_history.json</a:t>
            </a:r>
          </a:p>
          <a:p>
            <a:r>
              <a:rPr lang="zh-CN">
                <a:latin typeface="Noto Sans CJK SC"/>
                <a:ea typeface="Noto Sans CJK SC"/>
                <a:cs typeface="Noto Sans CJK SC"/>
              </a:rPr>
              <a:t/>
            </a:r>
          </a:p>
          <a:p>
            <a:r>
              <a:rPr lang="zh-CN">
                <a:latin typeface="Noto Sans CJK SC"/>
                <a:ea typeface="Noto Sans CJK SC"/>
                <a:cs typeface="Noto Sans CJK SC"/>
              </a:rPr>
              <a:t/>
            </a:r>
          </a:p>
          <a:p>
            <a:r>
              <a:rPr lang="zh-CN">
                <a:latin typeface="Noto Sans CJK SC"/>
                <a:ea typeface="Noto Sans CJK SC"/>
                <a:cs typeface="Noto Sans CJK SC"/>
              </a:rPr>
              <a:t>The four visible categories are optimization methods, with model examples listed beneath each method. CUDA Graphs reduce host launch overhead, kernel fusion reduces launches and intermediate traffic, session batching processes eligible live frames together, and incremental decoding skips already decoded audio. These categories apply to distinct paths and should not be read as four universally enabled features for every model.</a:t>
            </a:r>
          </a:p>
          <a:p>
            <a:r>
              <a:rPr lang="zh-CN">
                <a:latin typeface="Noto Sans CJK SC"/>
                <a:ea typeface="Noto Sans CJK SC"/>
                <a:cs typeface="Noto Sans CJK SC"/>
              </a:rPr>
              <a:t/>
            </a:r>
          </a:p>
          <a:p>
            <a:r>
              <a:rPr lang="zh-CN">
                <a:latin typeface="Noto Sans CJK SC"/>
                <a:ea typeface="Noto Sans CJK SC"/>
                <a:cs typeface="Noto Sans CJK SC"/>
              </a:rPr>
              <a:t>PersonaPlex also has optional Mimi encode/decode CUDA graph capture: see duplex/stage0.py and personaplex_code2wav.py in the pinned mainline above. Supported capture shapes and codec graph configuration apply. Its batching example refers to eligible live frame encoding/embedding, rather than arbitrary complete conversations. Its incremental decoding example refers to async new-frame Code2Wav input.</a:t>
            </a:r>
          </a:p>
          <a:p>
            <a:r>
              <a:rPr lang="zh-CN">
                <a:latin typeface="Noto Sans CJK SC"/>
                <a:ea typeface="Noto Sans CJK SC"/>
                <a:cs typeface="Noto Sans CJK SC"/>
              </a:rPr>
              <a:t/>
            </a:r>
          </a:p>
          <a:p>
            <a:r>
              <a:rPr lang="zh-CN">
                <a:latin typeface="Noto Sans CJK SC"/>
                <a:ea typeface="Noto Sans CJK SC"/>
                <a:cs typeface="Noto Sans CJK SC"/>
              </a:rPr>
              <a:t>The MiniCPM-o chart is the same four measured daily records as v57, now shown as an editable line chart with the original unrounded values embedded. It illustrates a benchmark trend; it does not attribute the observed decrease to these four methods collectively or to any single PR. PersonaPlex-only changes are not an explanation of MiniCPM-o benchmark improvements.</a:t>
            </a:r>
          </a:p>
          <a:p>
            <a:r>
              <a:rPr lang="zh-CN">
                <a:latin typeface="Noto Sans CJK SC"/>
                <a:ea typeface="Noto Sans CJK SC"/>
                <a:cs typeface="Noto Sans CJK SC"/>
              </a:rPr>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实时交互测评需要同时关注响应速度、持续输出、会话时长与并发、语音质量。TTFP 之外，还要观察 RTF、chunk 间隔、播放 buffer、峰值内存与资源回收，以及 WER / CER 和听感。OmniInteract 与 Omni-DuplexEval 已提供执行和测评路径；模型与任务支持范围仍有差异。图中的时间线为关系示意，不是新的实测结果。</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TTFP measures the first received audio packet from a declared timing origin. It differs from audible playback, which includes client buffering and device scheduling. RTF is generation time divided by generated audio duration, so lower is better; audio duration per second is the inverse rate and should be labeled separately. Measure latency distributions, inter-chunk gaps, memory, session duration and speech quality together.</a:t>
            </a:r>
          </a:p>
          <a:p>
            <a:r>
              <a:rPr lang="zh-CN">
                <a:latin typeface="Noto Sans CJK SC"/>
                <a:ea typeface="Noto Sans CJK SC"/>
                <a:cs typeface="Noto Sans CJK SC"/>
              </a:rPr>
              <a:t/>
            </a:r>
          </a:p>
          <a:p>
            <a:r>
              <a:rPr lang="zh-CN">
                <a:latin typeface="Noto Sans CJK SC"/>
                <a:ea typeface="Noto Sans CJK SC"/>
                <a:cs typeface="Noto Sans CJK SC"/>
              </a:rPr>
              <a:t>OmniInteract supplies audio/video session execution and timing/evaluation artifacts. Omni-DuplexEval supplies task-oriented native-duplex generation, timing metrics and judging, with a MiniCPM-focused runner and CI guard. Availability of benchmark code does not imply every integrated model supports every task or interaction. Keep hardware, concurrency, input timing and scoring settings fixed when comparing results.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omniinteract.py: https://github.com/vllm-project/vllm-omni/blob/712b90de9c7bc14c595b363401588a713a87c02d/vllm_omni/benchmarks/omniinteract.py</a:t>
            </a:r>
          </a:p>
          <a:p>
            <a:r>
              <a:rPr lang="zh-CN">
                <a:latin typeface="Noto Sans CJK SC"/>
                <a:ea typeface="Noto Sans CJK SC"/>
                <a:cs typeface="Noto Sans CJK SC"/>
              </a:rPr>
              <a:t>- omniinteract_eval.py: https://github.com/vllm-project/vllm-omni/blob/712b90de9c7bc14c595b363401588a713a87c02d/vllm_omni/benchmarks/omniinteract_eval.py</a:t>
            </a:r>
          </a:p>
          <a:p>
            <a:r>
              <a:rPr lang="zh-CN">
                <a:latin typeface="Noto Sans CJK SC"/>
                <a:ea typeface="Noto Sans CJK SC"/>
                <a:cs typeface="Noto Sans CJK SC"/>
              </a:rPr>
              <a:t>- omni_duplex_eval_runner.py: https://github.com/vllm-project/vllm-omni/blob/712b90de9c7bc14c595b363401588a713a87c02d/vllm_omni/benchmarks/duplex/omni_duplex_eval_runner.py</a:t>
            </a:r>
          </a:p>
          <a:p>
            <a:r>
              <a:rPr lang="zh-CN">
                <a:latin typeface="Noto Sans CJK SC"/>
                <a:ea typeface="Noto Sans CJK SC"/>
                <a:cs typeface="Noto Sans CJK SC"/>
              </a:rPr>
              <a:t>- omni_duplex_eval_metrics.py: https://github.com/vllm-project/vllm-omni/blob/712b90de9c7bc14c595b363401588a713a87c02d/vllm_omni/benchmarks/duplex/omni_duplex_eval_metrics.py</a:t>
            </a:r>
          </a:p>
          <a:p>
            <a:r>
              <a:rPr lang="zh-CN">
                <a:latin typeface="Noto Sans CJK SC"/>
                <a:ea typeface="Noto Sans CJK SC"/>
                <a:cs typeface="Noto Sans CJK SC"/>
              </a:rPr>
              <a:t>- README.md: https://github.com/vllm-project/vllm-omni/blob/712b90de9c7bc14c595b363401588a713a87c02d/tests/e2e/accuracy/omni_duplex_eval/README.md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当前 Qwen3-Omni 的 turn-based Realtime 路径已有 tool parser，Nemotron VoiceChat 的 native duplex 支持工具结果回填与续生成。统一 duplex 的演进范围包括工具名称和参数输出、应用执行、按 call_id 回填结果、模型继续生成，并明确工具执行时输入和语音是否继续。框架负责公共调用与状态规则，插件负责模型格式和行为适配；打断、超时、重复及迟到结果需要与当前 turn 隔离。</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Tool calling already exists in selected vLLM-Omni Realtime serving paths. This slide separates those integrations from the work to provide consistent tool behavior and broader model coverage in the unified duplex framework.</a:t>
            </a:r>
          </a:p>
          <a:p>
            <a:r>
              <a:rPr lang="zh-CN">
                <a:latin typeface="Noto Sans CJK SC"/>
                <a:ea typeface="Noto Sans CJK SC"/>
                <a:cs typeface="Noto Sans CJK SC"/>
              </a:rPr>
              <a:t/>
            </a:r>
          </a:p>
          <a:p>
            <a:r>
              <a:rPr lang="zh-CN">
                <a:latin typeface="Noto Sans CJK SC"/>
                <a:ea typeface="Noto Sans CJK SC"/>
                <a:cs typeface="Noto Sans CJK SC"/>
              </a:rPr>
              <a:t>CURRENT SUPPORT</a:t>
            </a:r>
          </a:p>
          <a:p>
            <a:r>
              <a:rPr lang="zh-CN">
                <a:latin typeface="Noto Sans CJK SC"/>
                <a:ea typeface="Noto Sans CJK SC"/>
                <a:cs typeface="Noto Sans CJK SC"/>
              </a:rPr>
              <a:t>Qwen3-Omni can use the turn-based Realtime handler's tool-parser integration. The handler requires --enable-auto-tool-choice and --tool-call-parser when function tools are active, emits function-call names and argument events, includes function-call results in conversation history, and can generate a subsequent response from that history. This is a separate path from the Qwen3-Omni unified-duplex plugin, which currently raises “Qwen duplex tool calls are not implemented” when realtime_tools is configured. Do not infer that a successful Qwen Realtime tool integration demonstrates support in its unified-duplex deployment.</a:t>
            </a:r>
          </a:p>
          <a:p>
            <a:r>
              <a:rPr lang="zh-CN">
                <a:latin typeface="Noto Sans CJK SC"/>
                <a:ea typeface="Noto Sans CJK SC"/>
                <a:cs typeface="Noto Sans CJK SC"/>
              </a:rPr>
              <a:t/>
            </a:r>
          </a:p>
          <a:p>
            <a:r>
              <a:rPr lang="zh-CN">
                <a:latin typeface="Noto Sans CJK SC"/>
                <a:ea typeface="Noto Sans CJK SC"/>
                <a:cs typeface="Noto Sans CJK SC"/>
              </a:rPr>
              <a:t>Nemotron VoiceChat already implements a native-duplex tool-result round trip through the unified framework. It emits function calls, accepts conversation.item.create containing function_call_output with a matching call_id, and queues the tokenized result into its function channel so that the model can continue in the live session. External tools run in the application. The current plugin accepts up to five tools and fixes tools/instructions once the system prompt is resident in model state.</a:t>
            </a:r>
          </a:p>
          <a:p>
            <a:r>
              <a:rPr lang="zh-CN">
                <a:latin typeface="Noto Sans CJK SC"/>
                <a:ea typeface="Noto Sans CJK SC"/>
                <a:cs typeface="Noto Sans CJK SC"/>
              </a:rPr>
              <a:t/>
            </a:r>
          </a:p>
          <a:p>
            <a:r>
              <a:rPr lang="zh-CN">
                <a:latin typeface="Noto Sans CJK SC"/>
                <a:ea typeface="Noto Sans CJK SC"/>
                <a:cs typeface="Noto Sans CJK SC"/>
              </a:rPr>
              <a:t>UNIFIED DUPLEX ROADMAP</a:t>
            </a:r>
          </a:p>
          <a:p>
            <a:r>
              <a:rPr lang="zh-CN">
                <a:latin typeface="Noto Sans CJK SC"/>
                <a:ea typeface="Noto Sans CJK SC"/>
                <a:cs typeface="Noto Sans CJK SC"/>
              </a:rPr>
              <a:t>The common loop covers function names and arguments, application execution, correlated result return, and model continuation. Existing common function-call projection and a plugin hook provide a base. Extending this path requires complete model adapters and consistent behavior across supported models; the framework does not start from zero.</a:t>
            </a:r>
          </a:p>
          <a:p>
            <a:r>
              <a:rPr lang="zh-CN">
                <a:latin typeface="Noto Sans CJK SC"/>
                <a:ea typeface="Noto Sans CJK SC"/>
                <a:cs typeface="Noto Sans CJK SC"/>
              </a:rPr>
              <a:t/>
            </a:r>
          </a:p>
          <a:p>
            <a:r>
              <a:rPr lang="zh-CN">
                <a:latin typeface="Noto Sans CJK SC"/>
                <a:ea typeface="Noto Sans CJK SC"/>
                <a:cs typeface="Noto Sans CJK SC"/>
              </a:rPr>
              <a:t>During execution: define independently whether the session continues receiving user input and whether it produces speech while an external tool runs. These are model/policy choices and must not be advertised as a universal behavior. For example, the turn-based Realtime handler suppresses further audio after it observes a tool call; this does not establish a common duplex policy for every model.</a:t>
            </a:r>
          </a:p>
          <a:p>
            <a:r>
              <a:rPr lang="zh-CN">
                <a:latin typeface="Noto Sans CJK SC"/>
                <a:ea typeface="Noto Sans CJK SC"/>
                <a:cs typeface="Noto Sans CJK SC"/>
              </a:rPr>
              <a:t/>
            </a:r>
          </a:p>
          <a:p>
            <a:r>
              <a:rPr lang="zh-CN">
                <a:latin typeface="Noto Sans CJK SC"/>
                <a:ea typeface="Noto Sans CJK SC"/>
                <a:cs typeface="Noto Sans CJK SC"/>
              </a:rPr>
              <a:t>Turn safety: associate an outstanding call with its originating session/turn/response generation, define invalidation when a user interrupts or the turn is superseded, handle timeouts, suppress duplicate completion, and prevent late results from entering a newer turn. Common realtime projection already checks a matching completed call_id and rejects duplicate outputs. Those checks should be extended and applied consistently with interruption and timeout rules; this roadmap is not a claim that duplicate protection is entirely missing today. A historical matching call_id alone is not a complete specification of whether a result is still valid for the active turn.</a:t>
            </a:r>
          </a:p>
          <a:p>
            <a:r>
              <a:rPr lang="zh-CN">
                <a:latin typeface="Noto Sans CJK SC"/>
                <a:ea typeface="Noto Sans CJK SC"/>
                <a:cs typeface="Noto Sans CJK SC"/>
              </a:rPr>
              <a:t/>
            </a:r>
          </a:p>
          <a:p>
            <a:r>
              <a:rPr lang="zh-CN">
                <a:latin typeface="Noto Sans CJK SC"/>
                <a:ea typeface="Noto Sans CJK SC"/>
                <a:cs typeface="Noto Sans CJK SC"/>
              </a:rPr>
              <a:t>Ownership: the framework should own shared call tracking, result validation, timeout/interruption processing, and stale-result handling. Model plugins should handle model-specific output formats, result encoding and continuation/listen/speak behavior. AURA, JoyAI and the Qwen3-Omni unified-duplex path are adaptation targets, not an assertion that their tool loops are already complete. Application code owns execution of the external function and reports its outcome.</a:t>
            </a:r>
          </a:p>
          <a:p>
            <a:r>
              <a:rPr lang="zh-CN">
                <a:latin typeface="Noto Sans CJK SC"/>
                <a:ea typeface="Noto Sans CJK SC"/>
                <a:cs typeface="Noto Sans CJK SC"/>
              </a:rPr>
              <a:t/>
            </a:r>
          </a:p>
          <a:p>
            <a:r>
              <a:rPr lang="zh-CN">
                <a:latin typeface="Noto Sans CJK SC"/>
                <a:ea typeface="Noto Sans CJK SC"/>
                <a:cs typeface="Noto Sans CJK SC"/>
              </a:rPr>
              <a:t>Implementation references (snapshot d5a3380103df2fc827f095c60dbfb6e1c5655fd3):</a:t>
            </a:r>
          </a:p>
          <a:p>
            <a:r>
              <a:rPr lang="zh-CN">
                <a:latin typeface="Noto Sans CJK SC"/>
                <a:ea typeface="Noto Sans CJK SC"/>
                <a:cs typeface="Noto Sans CJK SC"/>
              </a:rPr>
              <a:t>- https://github.com/vllm-project/vllm-omni/blob/d5a3380103df2fc827f095c60dbfb6e1c5655fd3/vllm_omni/entrypoints/openai/realtime/connection.py#L386-L425</a:t>
            </a:r>
          </a:p>
          <a:p>
            <a:r>
              <a:rPr lang="zh-CN">
                <a:latin typeface="Noto Sans CJK SC"/>
                <a:ea typeface="Noto Sans CJK SC"/>
                <a:cs typeface="Noto Sans CJK SC"/>
              </a:rPr>
              <a:t>- https://github.com/vllm-project/vllm-omni/blob/d5a3380103df2fc827f095c60dbfb6e1c5655fd3/vllm_omni/entrypoints/openai/realtime/connection.py#L870-L940</a:t>
            </a:r>
          </a:p>
          <a:p>
            <a:r>
              <a:rPr lang="zh-CN">
                <a:latin typeface="Noto Sans CJK SC"/>
                <a:ea typeface="Noto Sans CJK SC"/>
                <a:cs typeface="Noto Sans CJK SC"/>
              </a:rPr>
              <a:t>- https://github.com/vllm-project/vllm-omni/blob/d5a3380103df2fc827f095c60dbfb6e1c5655fd3/vllm_omni/entrypoints/openai/realtime/connection.py#L1655-L1678</a:t>
            </a:r>
          </a:p>
          <a:p>
            <a:r>
              <a:rPr lang="zh-CN">
                <a:latin typeface="Noto Sans CJK SC"/>
                <a:ea typeface="Noto Sans CJK SC"/>
                <a:cs typeface="Noto Sans CJK SC"/>
              </a:rPr>
              <a:t>- https://github.com/vllm-project/vllm-omni/blob/d5a3380103df2fc827f095c60dbfb6e1c5655fd3/vllm_omni/model_executor/models/qwen3_omni/duplex/plugin.py#L160-L169</a:t>
            </a:r>
          </a:p>
          <a:p>
            <a:r>
              <a:rPr lang="zh-CN">
                <a:latin typeface="Noto Sans CJK SC"/>
                <a:ea typeface="Noto Sans CJK SC"/>
                <a:cs typeface="Noto Sans CJK SC"/>
              </a:rPr>
              <a:t>- https://github.com/vllm-project/vllm-omni/blob/d5a3380103df2fc827f095c60dbfb6e1c5655fd3/vllm_omni/model_executor/models/nemotron_voicechat/duplex/plugin.py#L108-L147</a:t>
            </a:r>
          </a:p>
          <a:p>
            <a:r>
              <a:rPr lang="zh-CN">
                <a:latin typeface="Noto Sans CJK SC"/>
                <a:ea typeface="Noto Sans CJK SC"/>
                <a:cs typeface="Noto Sans CJK SC"/>
              </a:rPr>
              <a:t>- https://github.com/vllm-project/vllm-omni/blob/d5a3380103df2fc827f095c60dbfb6e1c5655fd3/vllm_omni/model_executor/models/nemotron_voicechat/duplex/plugin.py#L430-L501</a:t>
            </a:r>
          </a:p>
          <a:p>
            <a:r>
              <a:rPr lang="zh-CN">
                <a:latin typeface="Noto Sans CJK SC"/>
                <a:ea typeface="Noto Sans CJK SC"/>
                <a:cs typeface="Noto Sans CJK SC"/>
              </a:rPr>
              <a:t>- https://github.com/vllm-project/vllm-omni/blob/d5a3380103df2fc827f095c60dbfb6e1c5655fd3/vllm_omni/engine/duplex/realtime_events.py#L1080-L1126</a:t>
            </a:r>
          </a:p>
          <a:p>
            <a:r>
              <a:rPr lang="zh-CN">
                <a:latin typeface="Noto Sans CJK SC"/>
                <a:ea typeface="Noto Sans CJK SC"/>
                <a:cs typeface="Noto Sans CJK SC"/>
              </a:rPr>
              <a:t>- https://github.com/vllm-project/vllm-omni/blob/d5a3380103df2fc827f095c60dbfb6e1c5655fd3/vllm_omni/engine/duplex/realtime_events.py#L1430-L1487</a:t>
            </a:r>
          </a:p>
          <a:p>
            <a:r>
              <a:rPr lang="zh-CN">
                <a:latin typeface="Noto Sans CJK SC"/>
                <a:ea typeface="Noto Sans CJK SC"/>
                <a:cs typeface="Noto Sans CJK SC"/>
              </a:rPr>
              <a:t>- https://github.com/vllm-project/vllm-omni/blob/d5a3380103df2fc827f095c60dbfb6e1c5655fd3/vllm_omni/engine/duplex/plugin.py#L513-L523</a:t>
            </a:r>
          </a:p>
          <a:p>
            <a:r>
              <a:rPr lang="zh-CN">
                <a:latin typeface="Noto Sans CJK SC"/>
                <a:ea typeface="Noto Sans CJK SC"/>
                <a:cs typeface="Noto Sans CJK SC"/>
              </a:rPr>
              <a:t>- https://github.com/vllm-project/vllm-omni/blob/d5a3380103df2fc827f095c60dbfb6e1c5655fd3/vllm_omni/engine/duplex/session/control.py#L290-L327</a:t>
            </a:r>
          </a:p>
          <a:p>
            <a:r>
              <a:rPr lang="zh-CN">
                <a:latin typeface="Noto Sans CJK SC"/>
                <a:ea typeface="Noto Sans CJK SC"/>
                <a:cs typeface="Noto Sans CJK SC"/>
              </a:rPr>
              <a:t>- https://github.com/vllm-project/vllm-omni/blob/d5a3380103df2fc827f095c60dbfb6e1c5655fd3/tests/e2e/online_serving/nemotron_voicechat_realtime_duplex.py#L245-L273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近期方向：将 JoyAI 接入 unified duplex 框架；完善通用工具调用与模型适配；增加 Semantic VAD；扩展 OmniInteract 和 Omni-DuplexEval 的模型、交互任务和回归覆盖。远期方向：管理更长音视频会话中的 context 与 history，保持延迟和内存稳定；扩大多副本服务规模，完善跨 API frontend 的会话路由与归属管理。当前已有测评路径、MiniCPM sliding window 及 StagePool replica 选择与 affinity，因此后两项强调持续能力和规模扩展。</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Near-term priorities center on model integration, richer interaction and broader evaluation. Longer-term priorities center on sustained conversation duration and serving scale. These priorities build on existing model integrations, evaluation runners and Stage replica infrastructure.</a:t>
            </a:r>
          </a:p>
          <a:p>
            <a:r>
              <a:rPr lang="zh-CN">
                <a:latin typeface="Noto Sans CJK SC"/>
                <a:ea typeface="Noto Sans CJK SC"/>
                <a:cs typeface="Noto Sans CJK SC"/>
              </a:rPr>
              <a:t/>
            </a:r>
          </a:p>
          <a:p>
            <a:r>
              <a:rPr lang="zh-CN">
                <a:latin typeface="Noto Sans CJK SC"/>
                <a:ea typeface="Noto Sans CJK SC"/>
                <a:cs typeface="Noto Sans CJK SC"/>
              </a:rPr>
              <a:t>NEAR TERM</a:t>
            </a:r>
          </a:p>
          <a:p>
            <a:r>
              <a:rPr lang="zh-CN">
                <a:latin typeface="Noto Sans CJK SC"/>
                <a:ea typeface="Noto Sans CJK SC"/>
                <a:cs typeface="Noto Sans CJK SC"/>
              </a:rPr>
              <a:t>JoyAI integration: bring JoyAI into the unified duplex framework through model-specific input/output adapters and shared session orchestration. JoyAI already has model and pipeline code, along with an experimental full-duplex serving path; this priority is integration with the shared runtime rather than first-time model support. Integration does not imply that every model supports native LISTEN/SPEAK or every optional framework capability.</a:t>
            </a:r>
          </a:p>
          <a:p>
            <a:r>
              <a:rPr lang="zh-CN">
                <a:latin typeface="Noto Sans CJK SC"/>
                <a:ea typeface="Noto Sans CJK SC"/>
                <a:cs typeface="Noto Sans CJK SC"/>
              </a:rPr>
              <a:t/>
            </a:r>
          </a:p>
          <a:p>
            <a:r>
              <a:rPr lang="zh-CN">
                <a:latin typeface="Noto Sans CJK SC"/>
                <a:ea typeface="Noto Sans CJK SC"/>
                <a:cs typeface="Noto Sans CJK SC"/>
              </a:rPr>
              <a:t>Unified tool calling: standardize function-name/argument output, application-executed functions, correlated result return and model continuation through the shared duplex runtime. Complete model adapters and consistent input/speech behavior, interruption, timeout, duplicate and stale-result handling. The framework already projects function calls and checks matching call IDs and duplicate results; Nemotron VoiceChat supplies a native-duplex function-result hook. The turn-based Realtime handler has tool-parser integration used by Qwen3-Omni, while the Qwen3-Omni unified-duplex plugin explicitly rejects realtime_tools. The priority is shared behavior and broader model coverage, including AURA and JoyAI adapters. The preceding tool-calling slide provides the detailed scope.</a:t>
            </a:r>
          </a:p>
          <a:p>
            <a:r>
              <a:rPr lang="zh-CN">
                <a:latin typeface="Noto Sans CJK SC"/>
                <a:ea typeface="Noto Sans CJK SC"/>
                <a:cs typeface="Noto Sans CJK SC"/>
              </a:rPr>
              <a:t/>
            </a:r>
          </a:p>
          <a:p>
            <a:r>
              <a:rPr lang="zh-CN">
                <a:latin typeface="Noto Sans CJK SC"/>
                <a:ea typeface="Noto Sans CJK SC"/>
                <a:cs typeface="Noto Sans CJK SC"/>
              </a:rPr>
              <a:t>Semantic VAD: add meaning-aware turn-completion decisions to the session's commit and response policy. The current validator accepts server_vad only, the acoustic backend uses Silero, and a regression test explicitly rejects semantic_vad. Semantic endpointing is distinct from interruption-intent recognition and from native models' LISTEN/SPEAK decisions. Its inference should stay off the control loop and return ordered, session-scoped decisions, as described in the VAD appendix.</a:t>
            </a:r>
          </a:p>
          <a:p>
            <a:r>
              <a:rPr lang="zh-CN">
                <a:latin typeface="Noto Sans CJK SC"/>
                <a:ea typeface="Noto Sans CJK SC"/>
                <a:cs typeface="Noto Sans CJK SC"/>
              </a:rPr>
              <a:t/>
            </a:r>
          </a:p>
          <a:p>
            <a:r>
              <a:rPr lang="zh-CN">
                <a:latin typeface="Noto Sans CJK SC"/>
                <a:ea typeface="Noto Sans CJK SC"/>
                <a:cs typeface="Noto Sans CJK SC"/>
              </a:rPr>
              <a:t>Broader realtime evaluation: extend model, interaction-task, duration, concurrency and regression coverage in OmniInteract and Omni-DuplexEval. Both evaluation paths are already present. Omni-DuplexEval includes generation, scoring and a MiniCPM-focused nightly CI guard. This priority expands and standardizes coverage; it does not introduce evaluation for the first time. Near-term coverage can also establish baselines for the longer-term duration and scaling work.</a:t>
            </a:r>
          </a:p>
          <a:p>
            <a:r>
              <a:rPr lang="zh-CN">
                <a:latin typeface="Noto Sans CJK SC"/>
                <a:ea typeface="Noto Sans CJK SC"/>
                <a:cs typeface="Noto Sans CJK SC"/>
              </a:rPr>
              <a:t/>
            </a:r>
          </a:p>
          <a:p>
            <a:r>
              <a:rPr lang="zh-CN">
                <a:latin typeface="Noto Sans CJK SC"/>
                <a:ea typeface="Noto Sans CJK SC"/>
                <a:cs typeface="Noto Sans CJK SC"/>
              </a:rPr>
              <a:t>LONGER TERM</a:t>
            </a:r>
          </a:p>
          <a:p>
            <a:r>
              <a:rPr lang="zh-CN">
                <a:latin typeface="Noto Sans CJK SC"/>
                <a:ea typeface="Noto Sans CJK SC"/>
                <a:cs typeface="Noto Sans CJK SC"/>
              </a:rPr>
              <a:t>Longer sustained conversations: extend the duration and model coverage of real-time audio/video sessions while managing context, history, memory and latency. MiniCPM-o 4.5 already has model-specific paged-KV/sliding-window infrastructure. The roadmap concerns sustained behavior across growing conversations and more model paths, not an assertion of unlimited context or universal long-session guarantees.</a:t>
            </a:r>
          </a:p>
          <a:p>
            <a:r>
              <a:rPr lang="zh-CN">
                <a:latin typeface="Noto Sans CJK SC"/>
                <a:ea typeface="Noto Sans CJK SC"/>
                <a:cs typeface="Noto Sans CJK SC"/>
              </a:rPr>
              <a:t/>
            </a:r>
          </a:p>
          <a:p>
            <a:r>
              <a:rPr lang="zh-CN">
                <a:latin typeface="Noto Sans CJK SC"/>
                <a:ea typeface="Noto Sans CJK SC"/>
                <a:cs typeface="Noto Sans CJK SC"/>
              </a:rPr>
              <a:t>Scaled multi-replica serving: raise concurrent-session capacity across Stage replicas and nodes, then extend session routing and ownership across API frontends. StagePool already chooses available replicas, binds requests and honors affinity; DuplexOrchestrator submits initial and update requests through it. Current duplex endpoints reject multiple API workers because session credentials and replay state remain local to the owning frontend. The concrete remaining direction is scalable session-aware routing, ownership and reliable cleanup while preserving model state affinity. Replica selection alone does not imply that a live model session can migrate its KV state to a different worker.</a:t>
            </a:r>
          </a:p>
          <a:p>
            <a:r>
              <a:rPr lang="zh-CN">
                <a:latin typeface="Noto Sans CJK SC"/>
                <a:ea typeface="Noto Sans CJK SC"/>
                <a:cs typeface="Noto Sans CJK SC"/>
              </a:rPr>
              <a:t/>
            </a:r>
          </a:p>
          <a:p>
            <a:r>
              <a:rPr lang="zh-CN">
                <a:latin typeface="Noto Sans CJK SC"/>
                <a:ea typeface="Noto Sans CJK SC"/>
                <a:cs typeface="Noto Sans CJK SC"/>
              </a:rPr>
              <a:t>Implementation references (latest fetched mainline d5a3380103df2fc827f095c60dbfb6e1c5655fd3):</a:t>
            </a:r>
          </a:p>
          <a:p>
            <a:r>
              <a:rPr lang="zh-CN">
                <a:latin typeface="Noto Sans CJK SC"/>
                <a:ea typeface="Noto Sans CJK SC"/>
                <a:cs typeface="Noto Sans CJK SC"/>
              </a:rPr>
              <a:t>- https://github.com/vllm-project/vllm-omni/blob/d5a3380103df2fc827f095c60dbfb6e1c5655fd3/vllm_omni/model_executor/models/qwen3_omni/duplex/plugin.py#L160-L169</a:t>
            </a:r>
          </a:p>
          <a:p>
            <a:r>
              <a:rPr lang="zh-CN">
                <a:latin typeface="Noto Sans CJK SC"/>
                <a:ea typeface="Noto Sans CJK SC"/>
                <a:cs typeface="Noto Sans CJK SC"/>
              </a:rPr>
              <a:t>- https://github.com/vllm-project/vllm-omni/blob/d5a3380103df2fc827f095c60dbfb6e1c5655fd3/vllm_omni/model_executor/models/nemotron_voicechat/duplex/plugin.py#L444-L501</a:t>
            </a:r>
          </a:p>
          <a:p>
            <a:r>
              <a:rPr lang="zh-CN">
                <a:latin typeface="Noto Sans CJK SC"/>
                <a:ea typeface="Noto Sans CJK SC"/>
                <a:cs typeface="Noto Sans CJK SC"/>
              </a:rPr>
              <a:t>- https://github.com/vllm-project/vllm-omni/blob/d5a3380103df2fc827f095c60dbfb6e1c5655fd3/vllm_omni/entrypoints/openai/realtime/connection.py#L386-L425</a:t>
            </a:r>
          </a:p>
          <a:p>
            <a:r>
              <a:rPr lang="zh-CN">
                <a:latin typeface="Noto Sans CJK SC"/>
                <a:ea typeface="Noto Sans CJK SC"/>
                <a:cs typeface="Noto Sans CJK SC"/>
              </a:rPr>
              <a:t>- https://github.com/vllm-project/vllm-omni/blob/d5a3380103df2fc827f095c60dbfb6e1c5655fd3/vllm_omni/engine/duplex/realtime_events.py#L1430-L1487</a:t>
            </a:r>
          </a:p>
          <a:p>
            <a:r>
              <a:rPr lang="zh-CN">
                <a:latin typeface="Noto Sans CJK SC"/>
                <a:ea typeface="Noto Sans CJK SC"/>
                <a:cs typeface="Noto Sans CJK SC"/>
              </a:rPr>
              <a:t>- https://github.com/vllm-project/vllm-omni/blob/d5a3380103df2fc827f095c60dbfb6e1c5655fd3/vllm_omni/engine/duplex/turn_detection.py#L82-L99</a:t>
            </a:r>
          </a:p>
          <a:p>
            <a:r>
              <a:rPr lang="zh-CN">
                <a:latin typeface="Noto Sans CJK SC"/>
                <a:ea typeface="Noto Sans CJK SC"/>
                <a:cs typeface="Noto Sans CJK SC"/>
              </a:rPr>
              <a:t>- https://github.com/vllm-project/vllm-omni/blob/d5a3380103df2fc827f095c60dbfb6e1c5655fd3/vllm_omni/engine/duplex/vad.py#L100-L108</a:t>
            </a:r>
          </a:p>
          <a:p>
            <a:r>
              <a:rPr lang="zh-CN">
                <a:latin typeface="Noto Sans CJK SC"/>
                <a:ea typeface="Noto Sans CJK SC"/>
                <a:cs typeface="Noto Sans CJK SC"/>
              </a:rPr>
              <a:t>- https://github.com/vllm-project/vllm-omni/blob/d5a3380103df2fc827f095c60dbfb6e1c5655fd3/tests/engine/duplex/test_engine_session.py#L598-L608</a:t>
            </a:r>
          </a:p>
          <a:p>
            <a:r>
              <a:rPr lang="zh-CN">
                <a:latin typeface="Noto Sans CJK SC"/>
                <a:ea typeface="Noto Sans CJK SC"/>
                <a:cs typeface="Noto Sans CJK SC"/>
              </a:rPr>
              <a:t>- https://github.com/vllm-project/vllm-omni/blob/d5a3380103df2fc827f095c60dbfb6e1c5655fd3/vllm_omni/benchmarks/omniinteract.py</a:t>
            </a:r>
          </a:p>
          <a:p>
            <a:r>
              <a:rPr lang="zh-CN">
                <a:latin typeface="Noto Sans CJK SC"/>
                <a:ea typeface="Noto Sans CJK SC"/>
                <a:cs typeface="Noto Sans CJK SC"/>
              </a:rPr>
              <a:t>- https://github.com/vllm-project/vllm-omni/blob/d5a3380103df2fc827f095c60dbfb6e1c5655fd3/vllm_omni/benchmarks/omniinteract_eval.py</a:t>
            </a:r>
          </a:p>
          <a:p>
            <a:r>
              <a:rPr lang="zh-CN">
                <a:latin typeface="Noto Sans CJK SC"/>
                <a:ea typeface="Noto Sans CJK SC"/>
                <a:cs typeface="Noto Sans CJK SC"/>
              </a:rPr>
              <a:t>- https://github.com/vllm-project/vllm-omni/blob/d5a3380103df2fc827f095c60dbfb6e1c5655fd3/vllm_omni/benchmarks/duplex/omni_duplex_eval_runner.py</a:t>
            </a:r>
          </a:p>
          <a:p>
            <a:r>
              <a:rPr lang="zh-CN">
                <a:latin typeface="Noto Sans CJK SC"/>
                <a:ea typeface="Noto Sans CJK SC"/>
                <a:cs typeface="Noto Sans CJK SC"/>
              </a:rPr>
              <a:t>- https://github.com/vllm-project/vllm-omni/blob/d5a3380103df2fc827f095c60dbfb6e1c5655fd3/tests/e2e/accuracy/omni_duplex_eval/README.md</a:t>
            </a:r>
          </a:p>
          <a:p>
            <a:r>
              <a:rPr lang="zh-CN">
                <a:latin typeface="Noto Sans CJK SC"/>
                <a:ea typeface="Noto Sans CJK SC"/>
                <a:cs typeface="Noto Sans CJK SC"/>
              </a:rPr>
              <a:t>- https://github.com/vllm-project/vllm-omni/blob/d5a3380103df2fc827f095c60dbfb6e1c5655fd3/vllm_omni/model_executor/models/minicpmo_4_5/duplex/window_kv.py</a:t>
            </a:r>
          </a:p>
          <a:p>
            <a:r>
              <a:rPr lang="zh-CN">
                <a:latin typeface="Noto Sans CJK SC"/>
                <a:ea typeface="Noto Sans CJK SC"/>
                <a:cs typeface="Noto Sans CJK SC"/>
              </a:rPr>
              <a:t>- https://github.com/vllm-project/vllm-omni/blob/d5a3380103df2fc827f095c60dbfb6e1c5655fd3/vllm_omni/engine/stage_pool.py#L574-L609</a:t>
            </a:r>
          </a:p>
          <a:p>
            <a:r>
              <a:rPr lang="zh-CN">
                <a:latin typeface="Noto Sans CJK SC"/>
                <a:ea typeface="Noto Sans CJK SC"/>
                <a:cs typeface="Noto Sans CJK SC"/>
              </a:rPr>
              <a:t>- https://github.com/vllm-project/vllm-omni/blob/d5a3380103df2fc827f095c60dbfb6e1c5655fd3/vllm_omni/engine/duplex_orchestrator.py#L393-L424</a:t>
            </a:r>
          </a:p>
          <a:p>
            <a:r>
              <a:rPr lang="zh-CN">
                <a:latin typeface="Noto Sans CJK SC"/>
                <a:ea typeface="Noto Sans CJK SC"/>
                <a:cs typeface="Noto Sans CJK SC"/>
              </a:rPr>
              <a:t>- https://github.com/vllm-project/vllm-omni/blob/d5a3380103df2fc827f095c60dbfb6e1c5655fd3/vllm_omni/entrypoints/openai/api_server.py#L1880-L1895</a:t>
            </a:r>
          </a:p>
          <a:p>
            <a:r>
              <a:rPr lang="zh-CN">
                <a:latin typeface="Noto Sans CJK SC"/>
                <a:ea typeface="Noto Sans CJK SC"/>
                <a:cs typeface="Noto Sans CJK SC"/>
              </a:rPr>
              <a:t>- https://github.com/vllm-project/vllm-omni/blob/d5a3380103df2fc827f095c60dbfb6e1c5655fd3/vllm_omni/model_executor/models/joyai_vl_interaction/pipeline.py</a:t>
            </a:r>
          </a:p>
          <a:p>
            <a:r>
              <a:rPr lang="zh-CN">
                <a:latin typeface="Noto Sans CJK SC"/>
                <a:ea typeface="Noto Sans CJK SC"/>
                <a:cs typeface="Noto Sans CJK SC"/>
              </a:rPr>
              <a:t>- https://github.com/vllm-project/vllm-omni/blob/d5a3380103df2fc827f095c60dbfb6e1c5655fd3/vllm_omni/experimental/fullduplex/joyvl/serving/server.py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PersonaPlex demonstration and model-specific behavior</a:t>
            </a:r>
          </a:p>
          <a:p>
            <a:r>
              <a:rPr lang="zh-CN">
                <a:latin typeface="Noto Sans CJK SC"/>
                <a:ea typeface="Noto Sans CJK SC"/>
                <a:cs typeface="Noto Sans CJK SC"/>
              </a:rPr>
              <a:t/>
            </a:r>
          </a:p>
          <a:p>
            <a:r>
              <a:rPr lang="zh-CN">
                <a:latin typeface="Noto Sans CJK SC"/>
                <a:ea typeface="Noto Sans CJK SC"/>
                <a:cs typeface="Noto Sans CJK SC"/>
              </a:rP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rPr lang="zh-CN">
                <a:latin typeface="Noto Sans CJK SC"/>
                <a:ea typeface="Noto Sans CJK SC"/>
                <a:cs typeface="Noto Sans CJK SC"/>
              </a:rPr>
              <a:t/>
            </a:r>
          </a:p>
          <a:p>
            <a:r>
              <a:rPr lang="zh-CN">
                <a:latin typeface="Noto Sans CJK SC"/>
                <a:ea typeface="Noto Sans CJK SC"/>
                <a:cs typeface="Noto Sans CJK SC"/>
              </a:rP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rPr lang="zh-CN">
                <a:latin typeface="Noto Sans CJK SC"/>
                <a:ea typeface="Noto Sans CJK SC"/>
                <a:cs typeface="Noto Sans CJK SC"/>
              </a:rPr>
              <a:t/>
            </a:r>
          </a:p>
          <a:p>
            <a:r>
              <a:rPr lang="zh-CN">
                <a:latin typeface="Noto Sans CJK SC"/>
                <a:ea typeface="Noto Sans CJK SC"/>
                <a:cs typeface="Noto Sans CJK SC"/>
              </a:rP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rPr lang="zh-CN">
                <a:latin typeface="Noto Sans CJK SC"/>
                <a:ea typeface="Noto Sans CJK SC"/>
                <a:cs typeface="Noto Sans CJK SC"/>
              </a:rPr>
              <a:t/>
            </a:r>
          </a:p>
          <a:p>
            <a:r>
              <a:rPr lang="zh-CN">
                <a:latin typeface="Noto Sans CJK SC"/>
                <a:ea typeface="Noto Sans CJK SC"/>
                <a:cs typeface="Noto Sans CJK SC"/>
              </a:rP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rPr lang="zh-CN">
                <a:latin typeface="Noto Sans CJK SC"/>
                <a:ea typeface="Noto Sans CJK SC"/>
                <a:cs typeface="Noto Sans CJK SC"/>
              </a:rPr>
              <a:t/>
            </a:r>
          </a:p>
          <a:p>
            <a:r>
              <a:rPr lang="zh-CN">
                <a:latin typeface="Noto Sans CJK SC"/>
                <a:ea typeface="Noto Sans CJK SC"/>
                <a:cs typeface="Noto Sans CJK SC"/>
              </a:rP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rPr lang="zh-CN">
                <a:latin typeface="Noto Sans CJK SC"/>
                <a:ea typeface="Noto Sans CJK SC"/>
                <a:cs typeface="Noto Sans CJK SC"/>
              </a:rPr>
              <a:t/>
            </a:r>
          </a:p>
          <a:p>
            <a:r>
              <a:rPr lang="zh-CN">
                <a:latin typeface="Noto Sans CJK SC"/>
                <a:ea typeface="Noto Sans CJK SC"/>
                <a:cs typeface="Noto Sans CJK SC"/>
              </a:rPr>
              <a:t>这一页展开端到端执行链路。API 事件循环与 Duplex Orchestrator 线程处于同一 API 进程，通过 request_queue 传入 command 和控制操作。普通输出直接进入双方共用的有界 session buffer，API 通过 handle.events() 消费。StagePool 选择可用 Replica，并维持请求 affinity；Replica 内由 EngineCore、Scheduler 和 GPU Worker 完成计算。Replica 可部署于本机或远端；下方以 PersonaPlex 的 Talker → Mimi Code2Wav 两个 Stage 举例。</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Read clockwise: API translates a wire event, EngineClient submits it through DuplexOmniEngine, and request_queue delivers commands or lifecycle controls to the Orchestrator. Manager selects the Runner. Plugin and ModelChannel prepare input; StagePool chooses the bound replica and submits to its EngineCore. Scheduler and workers execute the model and return Stage output.</a:t>
            </a:r>
          </a:p>
          <a:p>
            <a:r>
              <a:rPr lang="zh-CN">
                <a:latin typeface="Noto Sans CJK SC"/>
                <a:ea typeface="Noto Sans CJK SC"/>
                <a:cs typeface="Noto Sans CJK SC"/>
              </a:rPr>
              <a:t/>
            </a:r>
          </a:p>
          <a:p>
            <a:r>
              <a:rPr lang="zh-CN">
                <a:latin typeface="Noto Sans CJK SC"/>
                <a:ea typeface="Noto Sans CJK SC"/>
                <a:cs typeface="Noto Sans CJK SC"/>
              </a:rPr>
              <a:t>For normal text/audio output, Manager writes directly into the registered per-session buffer. The same object is handle._outbox. handle.events() consumes it and the API pumps events to the WebSocket. The global output queue is a separate path for lifecycle results, close/expiry notifications and errors with no live registered buffer; ordinary audio does not accumulate there.</a:t>
            </a:r>
          </a:p>
          <a:p>
            <a:r>
              <a:rPr lang="zh-CN">
                <a:latin typeface="Noto Sans CJK SC"/>
                <a:ea typeface="Noto Sans CJK SC"/>
                <a:cs typeface="Noto Sans CJK SC"/>
              </a:rPr>
              <a:t/>
            </a:r>
          </a:p>
          <a:p>
            <a:r>
              <a:rPr lang="zh-CN">
                <a:latin typeface="Noto Sans CJK SC"/>
                <a:ea typeface="Noto Sans CJK SC"/>
                <a:cs typeface="Noto Sans CJK SC"/>
              </a:rPr>
              <a:t>Session event ACKs are handled at the API attachment layer. Playback ACKs enter the command path. Queue-full and engine-dead errors can return immediately; later rejection arrives as an event. The PersonaPlex Talker → Mimi Code2Wav pipeline at the bottom separates model stages from the process/replica diagram above. Network connectors are required when stages are placed on different nodes.</a:t>
            </a:r>
          </a:p>
          <a:p>
            <a:r>
              <a:rPr lang="zh-CN">
                <a:latin typeface="Noto Sans CJK SC"/>
                <a:ea typeface="Noto Sans CJK SC"/>
                <a:cs typeface="Noto Sans CJK SC"/>
              </a:rPr>
              <a:t/>
            </a:r>
          </a:p>
          <a:p>
            <a:r>
              <a:rPr lang="zh-CN">
                <a:latin typeface="Noto Sans CJK SC"/>
                <a:ea typeface="Noto Sans CJK SC"/>
                <a:cs typeface="Noto Sans CJK SC"/>
              </a:rPr>
              <a:t>Session state ownership: SessionManager manages session-to-runner and request-to-session mappings, admission, leases, output bounds and cleanup. Each SessionRunner serializes operations through its mailbox and drives model submission. DuplexEngineSession holds the engine-side turn, response, epoch/fence, request-resource, history and playback state and implements the corresponding update rules. The model plugin creates model-specific session state and supplies buffering, input construction, output interpretation and downstream Stage policy. Worker processes own model KV and streaming caches.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manager.py: https://github.com/vllm-project/vllm-omni/blob/712b90de9c7bc14c595b363401588a713a87c02d/vllm_omni/engine/duplex/session/manager.py</a:t>
            </a:r>
          </a:p>
          <a:p>
            <a:r>
              <a:rPr lang="zh-CN">
                <a:latin typeface="Noto Sans CJK SC"/>
                <a:ea typeface="Noto Sans CJK SC"/>
                <a:cs typeface="Noto Sans CJK SC"/>
              </a:rPr>
              <a:t>- duplex_omni.py: https://github.com/vllm-project/vllm-omni/blob/712b90de9c7bc14c595b363401588a713a87c02d/vllm_omni/entrypoints/duplex_omni.py</a:t>
            </a:r>
          </a:p>
          <a:p>
            <a:r>
              <a:rPr lang="zh-CN">
                <a:latin typeface="Noto Sans CJK SC"/>
                <a:ea typeface="Noto Sans CJK SC"/>
                <a:cs typeface="Noto Sans CJK SC"/>
              </a:rPr>
              <a:t>- serving.py: https://github.com/vllm-project/vllm-omni/blob/712b90de9c7bc14c595b363401588a713a87c02d/vllm_omni/entrypoints/duplex/serving.py</a:t>
            </a:r>
          </a:p>
          <a:p>
            <a:r>
              <a:rPr lang="zh-CN">
                <a:latin typeface="Noto Sans CJK SC"/>
                <a:ea typeface="Noto Sans CJK SC"/>
                <a:cs typeface="Noto Sans CJK SC"/>
              </a:rPr>
              <a:t>- duplex_omni_engine.py: https://github.com/vllm-project/vllm-omni/blob/712b90de9c7bc14c595b363401588a713a87c02d/vllm_omni/engine/duplex_omni_engine.py</a:t>
            </a:r>
          </a:p>
          <a:p>
            <a:r>
              <a:rPr lang="zh-CN">
                <a:latin typeface="Noto Sans CJK SC"/>
                <a:ea typeface="Noto Sans CJK SC"/>
                <a:cs typeface="Noto Sans CJK SC"/>
              </a:rPr>
              <a:t/>
            </a:r>
          </a:p>
          <a:p>
            <a:r>
              <a:rPr lang="zh-CN">
                <a:latin typeface="Noto Sans CJK SC"/>
                <a:ea typeface="Noto Sans CJK SC"/>
                <a:cs typeface="Noto Sans CJK SC"/>
              </a:rPr>
              <a:t>Session-state implementation references:</a:t>
            </a:r>
          </a:p>
          <a:p>
            <a:r>
              <a:rPr lang="zh-CN">
                <a:latin typeface="Noto Sans CJK SC"/>
                <a:ea typeface="Noto Sans CJK SC"/>
                <a:cs typeface="Noto Sans CJK SC"/>
              </a:rPr>
              <a:t>- manager.py: https://github.com/vllm-project/vllm-omni/blob/712b90de9c7bc14c595b363401588a713a87c02d/vllm_omni/engine/duplex/session/manager.py</a:t>
            </a:r>
          </a:p>
          <a:p>
            <a:r>
              <a:rPr lang="zh-CN">
                <a:latin typeface="Noto Sans CJK SC"/>
                <a:ea typeface="Noto Sans CJK SC"/>
                <a:cs typeface="Noto Sans CJK SC"/>
              </a:rPr>
              <a:t>- runner.py: https://github.com/vllm-project/vllm-omni/blob/712b90de9c7bc14c595b363401588a713a87c02d/vllm_omni/engine/duplex/session/runner.py</a:t>
            </a:r>
          </a:p>
          <a:p>
            <a:r>
              <a:rPr lang="zh-CN">
                <a:latin typeface="Noto Sans CJK SC"/>
                <a:ea typeface="Noto Sans CJK SC"/>
                <a:cs typeface="Noto Sans CJK SC"/>
              </a:rPr>
              <a:t>- engine_session.py: https://github.com/vllm-project/vllm-omni/blob/712b90de9c7bc14c595b363401588a713a87c02d/vllm_omni/engine/duplex/session/engine_session.py</a:t>
            </a:r>
          </a:p>
          <a:p>
            <a:r>
              <a:rPr lang="zh-CN">
                <a:latin typeface="Noto Sans CJK SC"/>
                <a:ea typeface="Noto Sans CJK SC"/>
                <a:cs typeface="Noto Sans CJK SC"/>
              </a:rPr>
              <a:t>- plugin.py: https://github.com/vllm-project/vllm-omni/blob/712b90de9c7bc14c595b363401588a713a87c02d/vllm_omni/engine/duplex/plugin.py</a:t>
            </a:r>
          </a:p>
          <a:p>
            <a:r>
              <a:rPr lang="zh-CN">
                <a:latin typeface="Noto Sans CJK SC"/>
                <a:ea typeface="Noto Sans CJK SC"/>
                <a:cs typeface="Noto Sans CJK SC"/>
              </a:rPr>
              <a:t>- delivery.py: https://github.com/vllm-project/vllm-omni/blob/712b90de9c7bc14c595b363401588a713a87c02d/vllm_omni/engine/duplex/delivery.py</a:t>
            </a:r>
          </a:p>
          <a:p>
            <a:r>
              <a:rPr lang="zh-CN">
                <a:latin typeface="Noto Sans CJK SC"/>
                <a:ea typeface="Noto Sans CJK SC"/>
                <a:cs typeface="Noto Sans CJK SC"/>
              </a:rPr>
              <a:t>PersonaPlex source references:</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a:p>
            <a:r>
              <a:rPr lang="zh-CN">
                <a:latin typeface="Noto Sans CJK SC"/>
                <a:ea typeface="Noto Sans CJK SC"/>
                <a:cs typeface="Noto Sans CJK SC"/>
              </a:rPr>
              <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Acoustic VAD 判断当前是否存在语音；endpointing 策略再依据静音持续时间决定何时结束话轮。VAD 模型本身不执行 commit，也不直接启动模型生成。</a:t>
            </a:r>
          </a:p>
          <a:p>
            <a:r>
              <a:rPr lang="zh-CN">
                <a:latin typeface="Noto Sans CJK SC"/>
                <a:ea typeface="Noto Sans CJK SC"/>
                <a:cs typeface="Noto Sans CJK SC"/>
              </a:rPr>
              <a:t/>
            </a:r>
          </a:p>
          <a:p>
            <a:r>
              <a:rPr lang="zh-CN">
                <a:latin typeface="Noto Sans CJK SC"/>
                <a:ea typeface="Noto Sans CJK SC"/>
                <a:cs typeface="Noto Sans CJK SC"/>
              </a:rPr>
              <a:t>本页的 Semantic VAD 泛指基于语义的 end-of-turn detection。它判断用户当前话语是否完整，可以使用文本上下文，也可以直接从音频中结合语调、节奏等线索判断。</a:t>
            </a:r>
          </a:p>
          <a:p>
            <a:r>
              <a:rPr lang="zh-CN">
                <a:latin typeface="Noto Sans CJK SC"/>
                <a:ea typeface="Noto Sans CJK SC"/>
                <a:cs typeface="Noto Sans CJK SC"/>
              </a:rPr>
              <a:t/>
            </a:r>
          </a:p>
          <a:p>
            <a:r>
              <a:rPr lang="zh-CN">
                <a:latin typeface="Noto Sans CJK SC"/>
                <a:ea typeface="Noto Sans CJK SC"/>
                <a:cs typeface="Noto Sans CJK SC"/>
              </a:rPr>
              <a:t>开源例子 Pipecat Smart Turn v3.2 直接接收音频并预测 complete / incomplete。官方推荐与 Silero 等轻量 VAD 配合：VAD 发现停顿后，再把当前话轮累积的音频交给 Smart Turn 判断，无需单独转写。订机票的例子用来说明句中停顿，并非该模型的实测输出。这里展示的是可借鉴的模型组合，不表示它已经接入 vLLM-Omni。</a:t>
            </a:r>
          </a:p>
          <a:p>
            <a:r>
              <a:rPr lang="zh-CN">
                <a:latin typeface="Noto Sans CJK SC"/>
                <a:ea typeface="Noto Sans CJK SC"/>
                <a:cs typeface="Noto Sans CJK SC"/>
              </a:rPr>
              <a:t/>
            </a:r>
          </a:p>
          <a:p>
            <a:r>
              <a:rPr lang="zh-CN">
                <a:latin typeface="Noto Sans CJK SC"/>
                <a:ea typeface="Noto Sans CJK SC"/>
                <a:cs typeface="Noto Sans CJK SC"/>
              </a:rPr>
              <a:t>LiveKit 的官方方案同样在 VAD 上叠加 turn detector；其当前音频模型需要 VAD，并结合语义和韵律线索。因此，声学活动检测和语义话轮判断可以作为不同组件组合使用。</a:t>
            </a:r>
          </a:p>
          <a:p>
            <a:r>
              <a:rPr lang="zh-CN">
                <a:latin typeface="Noto Sans CJK SC"/>
                <a:ea typeface="Noto Sans CJK SC"/>
                <a:cs typeface="Noto Sans CJK SC"/>
              </a:rPr>
              <a:t/>
            </a:r>
          </a:p>
          <a:p>
            <a:r>
              <a:rPr lang="zh-CN">
                <a:latin typeface="Noto Sans CJK SC"/>
                <a:ea typeface="Noto Sans CJK SC"/>
                <a:cs typeface="Noto Sans CJK SC"/>
              </a:rPr>
              <a:t>API 配置可以要求选择一种模式。例如 OpenAI Realtime 的 turn_detection.type 选择 server_vad 或 semantic_vad。这是 API 策略选择，不能据此推断供应商内部的声学与语义检测组件互斥。</a:t>
            </a:r>
          </a:p>
          <a:p>
            <a:r>
              <a:rPr lang="zh-CN">
                <a:latin typeface="Noto Sans CJK SC"/>
                <a:ea typeface="Noto Sans CJK SC"/>
                <a:cs typeface="Noto Sans CJK SC"/>
              </a:rPr>
              <a:t/>
            </a:r>
          </a:p>
          <a:p>
            <a:r>
              <a:rPr lang="zh-CN">
                <a:latin typeface="Noto Sans CJK SC"/>
                <a:ea typeface="Noto Sans CJK SC"/>
                <a:cs typeface="Noto Sans CJK SC"/>
              </a:rPr>
              <a:t>判定话轮结束后，session 才提交输入，并按配置启动 response。判断尚未完整时可继续等待，同时保留系统规定的超时策略。用户开始讲话、是否有意打断助手，以及 native duplex 模型自身的 LISTEN / SPEAK 决策，都不是同一个问题。</a:t>
            </a:r>
          </a:p>
          <a:p>
            <a:r>
              <a:rPr lang="zh-CN">
                <a:latin typeface="Noto Sans CJK SC"/>
                <a:ea typeface="Noto Sans CJK SC"/>
                <a:cs typeface="Noto Sans CJK SC"/>
              </a:rPr>
              <a:t/>
            </a:r>
          </a:p>
          <a:p>
            <a:r>
              <a:rPr lang="zh-CN">
                <a:latin typeface="Noto Sans CJK SC"/>
                <a:ea typeface="Noto Sans CJK SC"/>
                <a:cs typeface="Noto Sans CJK SC"/>
              </a:rPr>
              <a:t>本套 vLLM-Omni PPT 中，Semantic VAD 仍为规划扩展。核对的统一 runtime 配置仅接受 server_vad。</a:t>
            </a:r>
          </a:p>
          <a:p>
            <a:r>
              <a:rPr lang="zh-CN">
                <a:latin typeface="Noto Sans CJK SC"/>
                <a:ea typeface="Noto Sans CJK SC"/>
                <a:cs typeface="Noto Sans CJK SC"/>
              </a:rPr>
              <a:t/>
            </a:r>
          </a:p>
          <a:p>
            <a:r>
              <a:rPr lang="zh-CN">
                <a:latin typeface="Noto Sans CJK SC"/>
                <a:ea typeface="Noto Sans CJK SC"/>
                <a:cs typeface="Noto Sans CJK SC"/>
              </a:rPr>
              <a:t>References:</a:t>
            </a:r>
          </a:p>
          <a:p>
            <a:r>
              <a:rPr lang="zh-CN">
                <a:latin typeface="Noto Sans CJK SC"/>
                <a:ea typeface="Noto Sans CJK SC"/>
                <a:cs typeface="Noto Sans CJK SC"/>
              </a:rPr>
              <a:t>- https://github.com/pipecat-ai/smart-turn</a:t>
            </a:r>
          </a:p>
          <a:p>
            <a:r>
              <a:rPr lang="zh-CN">
                <a:latin typeface="Noto Sans CJK SC"/>
                <a:ea typeface="Noto Sans CJK SC"/>
                <a:cs typeface="Noto Sans CJK SC"/>
              </a:rPr>
              <a:t>- https://huggingface.co/pipecat-ai/smart-turn-v3.2</a:t>
            </a:r>
          </a:p>
          <a:p>
            <a:r>
              <a:rPr lang="zh-CN">
                <a:latin typeface="Noto Sans CJK SC"/>
                <a:ea typeface="Noto Sans CJK SC"/>
                <a:cs typeface="Noto Sans CJK SC"/>
              </a:rPr>
              <a:t>- https://docs.livekit.io/agents/logic/turns/turn-detector/</a:t>
            </a:r>
          </a:p>
          <a:p>
            <a:r>
              <a:rPr lang="zh-CN">
                <a:latin typeface="Noto Sans CJK SC"/>
                <a:ea typeface="Noto Sans CJK SC"/>
                <a:cs typeface="Noto Sans CJK SC"/>
              </a:rPr>
              <a:t>- https://developers.openai.com/api/docs/guides/realtime-vad</a:t>
            </a:r>
          </a:p>
          <a:p>
            <a:r>
              <a:rPr lang="zh-CN">
                <a:latin typeface="Noto Sans CJK SC"/>
                <a:ea typeface="Noto Sans CJK SC"/>
                <a:cs typeface="Noto Sans CJK SC"/>
              </a:rPr>
              <a:t/>
            </a:r>
          </a:p>
          <a:p>
            <a:r>
              <a:rPr lang="zh-CN">
                <a:latin typeface="Noto Sans CJK SC"/>
                <a:ea typeface="Noto Sans CJK SC"/>
                <a:cs typeface="Noto Sans CJK SC"/>
              </a:rPr>
              <a:t>vLLM-Omni implementation:</a:t>
            </a:r>
          </a:p>
          <a:p>
            <a:r>
              <a:rPr lang="zh-CN">
                <a:latin typeface="Noto Sans CJK SC"/>
                <a:ea typeface="Noto Sans CJK SC"/>
                <a:cs typeface="Noto Sans CJK SC"/>
              </a:rPr>
              <a:t>- https://github.com/vllm-project/vllm-omni/blob/712b90de9c7bc14c595b363401588a713a87c02d/vllm_omni/engine/duplex/turn_detection.py</a:t>
            </a:r>
          </a:p>
          <a:p>
            <a:r>
              <a:rPr lang="zh-CN">
                <a:latin typeface="Noto Sans CJK SC"/>
                <a:ea typeface="Noto Sans CJK SC"/>
                <a:cs typeface="Noto Sans CJK SC"/>
              </a:rPr>
              <a:t>- https://github.com/vllm-project/vllm-omni/blob/712b90de9c7bc14c595b363401588a713a87c02d/vllm_omni/engine/duplex/vad.py</a:t>
            </a:r>
          </a:p>
          <a:p>
            <a:r>
              <a:rPr lang="zh-CN">
                <a:latin typeface="Noto Sans CJK SC"/>
                <a:ea typeface="Noto Sans CJK SC"/>
                <a:cs typeface="Noto Sans CJK SC"/>
              </a:rPr>
              <a:t>- https://github.com/vllm-project/vllm-omni/blob/712b90de9c7bc14c595b363401588a713a87c02d/vllm_omni/engine/duplex/session/runner.py</a:t>
            </a:r>
          </a:p>
          <a:p>
            <a:r>
              <a:rPr lang="zh-CN">
                <a:latin typeface="Noto Sans CJK SC"/>
                <a:ea typeface="Noto Sans CJK SC"/>
                <a:cs typeface="Noto Sans CJK SC"/>
              </a:rPr>
              <a:t/>
            </a:r>
          </a:p>
          <a:p>
            <a:r>
              <a:rPr lang="zh-CN">
                <a:latin typeface="Noto Sans CJK SC"/>
                <a:ea typeface="Noto Sans CJK SC"/>
                <a:cs typeface="Noto Sans CJK SC"/>
              </a:rPr>
              <a:t>计算与部署：轻量 Acoustic VAD 的逐帧推理开销低。Silero 官方参考说明中，30 ms 以上的音频 chunk 可在单 CPU 线程上以不到 1 ms 的时间完成处理。该数值是模型推理时间，不是话轮结束延迟；输入缓冲、排队和配置的静音等待也会影响 commit 时刻。这不是 vLLM-Omni 的实测数据。</a:t>
            </a:r>
          </a:p>
          <a:p>
            <a:r>
              <a:rPr lang="zh-CN">
                <a:latin typeface="Noto Sans CJK SC"/>
                <a:ea typeface="Noto Sans CJK SC"/>
                <a:cs typeface="Noto Sans CJK SC"/>
              </a:rPr>
              <a:t/>
            </a:r>
          </a:p>
          <a:p>
            <a:r>
              <a:rPr lang="zh-CN">
                <a:latin typeface="Noto Sans CJK SC"/>
                <a:ea typeface="Noto Sans CJK SC"/>
                <a:cs typeface="Noto Sans CJK SC"/>
              </a:rPr>
              <a:t>Semantic turn detection 通常每次分析更多上下文，但开销取决于模型、硬件和调用频率。Smart Turn 提供 CPU 实现，其项目给出的推理时间为部分 CPU 约 10 ms、多数云实例低于 100 ms。这与 Silero 使用的输入和环境不同，不能直接计算同负载加速比。先用 VAD 检测停顿，再调用语义模型，可以降低语义判断的调用频率。</a:t>
            </a:r>
          </a:p>
          <a:p>
            <a:r>
              <a:rPr lang="zh-CN">
                <a:latin typeface="Noto Sans CJK SC"/>
                <a:ea typeface="Noto Sans CJK SC"/>
                <a:cs typeface="Noto Sans CJK SC"/>
              </a:rPr>
              <a:t/>
            </a:r>
          </a:p>
          <a:p>
            <a:r>
              <a:rPr lang="zh-CN">
                <a:latin typeface="Noto Sans CJK SC"/>
                <a:ea typeface="Noto Sans CJK SC"/>
                <a:cs typeface="Noto Sans CJK SC"/>
              </a:rPr>
              <a:t>vLLM-Omni 的规划方向是通过 Omni Stage 执行较重的语义模型，同时保留轻量模型的异步 CPU 执行路径。Omni Stage 是规划设计，不能表述为已经实现的 Semantic VAD 接入，也不保证总延迟一定更低。调度、数据传输、排队和 batching 都需要纳入交互延迟预算。Session Runner 仍负责决定继续等待、commit 或启动 response。</a:t>
            </a:r>
          </a:p>
          <a:p>
            <a:r>
              <a:rPr lang="zh-CN">
                <a:latin typeface="Noto Sans CJK SC"/>
                <a:ea typeface="Noto Sans CJK SC"/>
                <a:cs typeface="Noto Sans CJK SC"/>
              </a:rPr>
              <a:t/>
            </a:r>
          </a:p>
          <a:p>
            <a:r>
              <a:rPr lang="zh-CN">
                <a:latin typeface="Noto Sans CJK SC"/>
                <a:ea typeface="Noto Sans CJK SC"/>
                <a:cs typeface="Noto Sans CJK SC"/>
              </a:rPr>
              <a:t>噪声处理：VAD 判断语音活动，可以减少非语音噪声导致的语音事件误触发；它不会输出降噪后的波形，不会去掉混在人声中的噪声，也不能可靠排除背景中的其他人声。音频降噪、回声消除和目标说话人过滤是独立处理能力。示例也不表示 native duplex 路径应该丢弃所有非语音音频 chunk。</a:t>
            </a:r>
          </a:p>
          <a:p>
            <a:r>
              <a:rPr lang="zh-CN">
                <a:latin typeface="Noto Sans CJK SC"/>
                <a:ea typeface="Noto Sans CJK SC"/>
                <a:cs typeface="Noto Sans CJK SC"/>
              </a:rPr>
              <a:t/>
            </a:r>
          </a:p>
          <a:p>
            <a:r>
              <a:rPr lang="zh-CN">
                <a:latin typeface="Noto Sans CJK SC"/>
                <a:ea typeface="Noto Sans CJK SC"/>
                <a:cs typeface="Noto Sans CJK SC"/>
              </a:rPr>
              <a:t>Additional references:</a:t>
            </a:r>
          </a:p>
          <a:p>
            <a:r>
              <a:rPr lang="zh-CN">
                <a:latin typeface="Noto Sans CJK SC"/>
                <a:ea typeface="Noto Sans CJK SC"/>
                <a:cs typeface="Noto Sans CJK SC"/>
              </a:rPr>
              <a:t>- https://github.com/snakers4/silero-vad</a:t>
            </a:r>
          </a:p>
          <a:p>
            <a:r>
              <a:rPr lang="zh-CN">
                <a:latin typeface="Noto Sans CJK SC"/>
                <a:ea typeface="Noto Sans CJK SC"/>
                <a:cs typeface="Noto Sans CJK SC"/>
              </a:rPr>
              <a:t>- https://github.com/pipecat-ai/smart-turn</a:t>
            </a:r>
          </a:p>
          <a:p>
            <a:r>
              <a:rPr lang="zh-CN">
                <a:latin typeface="Noto Sans CJK SC"/>
                <a:ea typeface="Noto Sans CJK SC"/>
                <a:cs typeface="Noto Sans CJK SC"/>
              </a:rPr>
              <a:t/>
            </a:r>
          </a:p>
          <a:p>
            <a:r>
              <a:rPr lang="zh-CN">
                <a:latin typeface="Noto Sans CJK SC"/>
                <a:ea typeface="Noto Sans CJK SC"/>
                <a:cs typeface="Noto Sans CJK SC"/>
              </a:rPr>
              <a:t/>
            </a:r>
          </a:p>
          <a:p>
            <a:r>
              <a:rPr lang="zh-CN">
                <a:latin typeface="Noto Sans CJK SC"/>
                <a:ea typeface="Noto Sans CJK SC"/>
                <a:cs typeface="Noto Sans CJK SC"/>
              </a:rPr>
              <a:t>Runtime placement and session policy:</a:t>
            </a:r>
          </a:p>
          <a:p>
            <a:r>
              <a:rPr lang="zh-CN">
                <a:latin typeface="Noto Sans CJK SC"/>
                <a:ea typeface="Noto Sans CJK SC"/>
                <a:cs typeface="Noto Sans CJK SC"/>
              </a:rPr>
              <a:t>当前 VAD 属于 unified duplex 会话运行时：Session Runner / Manager 管理每个 session 的检测状态和策略，共享 Silero ONNX backend，检测通过 CPU 线程池异步执行，与 Orchestrator 同处 API 进程，但不阻塞控制循环。Semantic VAD 可复用这一职责划分：轻量方案使用独立 CPU pool，较大模型采用独立加速器 worker 或服务。判断结果带上 session、输入序号和 epoch，回到 Runner 按序应用并丢弃过期结果。</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For the Unified Duplex path, Server VAD belongs to the Orchestrator session runtime. SessionManager supplies the process-shared Silero ONNX backend; each session keeps independent detector state. Runner offloads CPU detection to a thread pool and applies the resulting speech-onset, endpointing, commit and interruption policy on its control loop. These CPU threads remain in the API/Orchestrator process. MiniCPM native duplex does not require Server VAD by default. The generic turn-based Realtime connection is a separate control path.</a:t>
            </a:r>
          </a:p>
          <a:p>
            <a:r>
              <a:rPr lang="zh-CN">
                <a:latin typeface="Noto Sans CJK SC"/>
                <a:ea typeface="Noto Sans CJK SC"/>
                <a:cs typeface="Noto Sans CJK SC"/>
              </a:rPr>
              <a:t/>
            </a:r>
          </a:p>
          <a:p>
            <a:r>
              <a:rPr lang="zh-CN">
                <a:latin typeface="Noto Sans CJK SC"/>
                <a:ea typeface="Noto Sans CJK SC"/>
                <a:cs typeface="Noto Sans CJK SC"/>
              </a:rPr>
              <a:t>Semantic VAD is a proposed extension here, not an integrated feature. A lightweight model can run in a bounded CPU pool, preferably reusing streaming ASR. A larger model can use a separate accelerator service with bounded batching latency. Decisions should carry session/input sequence/epoch so the Runner can apply them in order and discard stale work. Turn completion and model-native yielding are different decisions.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vad.py: https://github.com/vllm-project/vllm-omni/blob/712b90de9c7bc14c595b363401588a713a87c02d/vllm_omni/engine/duplex/vad.py</a:t>
            </a:r>
          </a:p>
          <a:p>
            <a:r>
              <a:rPr lang="zh-CN">
                <a:latin typeface="Noto Sans CJK SC"/>
                <a:ea typeface="Noto Sans CJK SC"/>
                <a:cs typeface="Noto Sans CJK SC"/>
              </a:rPr>
              <a:t>- manager.py: https://github.com/vllm-project/vllm-omni/blob/712b90de9c7bc14c595b363401588a713a87c02d/vllm_omni/engine/duplex/session/manager.py</a:t>
            </a:r>
          </a:p>
          <a:p>
            <a:r>
              <a:rPr lang="zh-CN">
                <a:latin typeface="Noto Sans CJK SC"/>
                <a:ea typeface="Noto Sans CJK SC"/>
                <a:cs typeface="Noto Sans CJK SC"/>
              </a:rPr>
              <a:t>- runner.py: https://github.com/vllm-project/vllm-omni/blob/712b90de9c7bc14c595b363401588a713a87c02d/vllm_omni/engine/duplex/session/runner.py</a:t>
            </a:r>
          </a:p>
          <a:p>
            <a:r>
              <a:rPr lang="zh-CN">
                <a:latin typeface="Noto Sans CJK SC"/>
                <a:ea typeface="Noto Sans CJK SC"/>
                <a:cs typeface="Noto Sans CJK SC"/>
              </a:rPr>
              <a:t>- connection.py: https://github.com/vllm-project/vllm-omni/blob/712b90de9c7bc14c595b363401588a713a87c02d/vllm_omni/entrypoints/openai/realtime/connection.py</a:t>
            </a:r>
          </a:p>
          <a:p>
            <a:r>
              <a:rPr lang="zh-CN">
                <a:latin typeface="Noto Sans CJK SC"/>
                <a:ea typeface="Noto Sans CJK SC"/>
                <a:cs typeface="Noto Sans CJK SC"/>
              </a:rPr>
              <a:t/>
            </a:r>
          </a:p>
          <a:p>
            <a:r>
              <a:rPr lang="zh-CN">
                <a:latin typeface="Noto Sans CJK SC"/>
                <a:ea typeface="Noto Sans CJK SC"/>
                <a:cs typeface="Noto Sans CJK SC"/>
              </a:rPr>
              <a:t>Semantic VAD 的规划执行位置：轻量模型使用异步 CPU pool。Smart Turn 这类原生音频模型无需 ASR，基于文本的 endpointing 模型可以复用流式转写。较重模型通过 Omni Stage 执行，并限制队列长度和 microbatch 等待时间。这里是规划扩展：Stage 返回话轮完成度判断，Session Runner 负责等待、commit、response 策略，并验证 session、输入序号与 epoch 后应用结果。需要计算传输和排队成本，不能直接假定放到加速器上总延迟就更低。</a:t>
            </a:r>
          </a:p>
          <a:p>
            <a:r>
              <a:rPr lang="zh-CN">
                <a:latin typeface="Noto Sans CJK SC"/>
                <a:ea typeface="Noto Sans CJK SC"/>
                <a:cs typeface="Noto Sans CJK SC"/>
              </a:rPr>
              <a:t/>
            </a:r>
          </a:p>
          <a:p>
            <a:r>
              <a:rPr lang="zh-CN">
                <a:latin typeface="Noto Sans CJK SC"/>
                <a:ea typeface="Noto Sans CJK SC"/>
                <a:cs typeface="Noto Sans CJK SC"/>
              </a:rPr>
              <a:t>Additional references:</a:t>
            </a:r>
          </a:p>
          <a:p>
            <a:r>
              <a:rPr lang="zh-CN">
                <a:latin typeface="Noto Sans CJK SC"/>
                <a:ea typeface="Noto Sans CJK SC"/>
                <a:cs typeface="Noto Sans CJK SC"/>
              </a:rPr>
              <a:t>- https://github.com/snakers4/silero-vad</a:t>
            </a:r>
          </a:p>
          <a:p>
            <a:r>
              <a:rPr lang="zh-CN">
                <a:latin typeface="Noto Sans CJK SC"/>
                <a:ea typeface="Noto Sans CJK SC"/>
                <a:cs typeface="Noto Sans CJK SC"/>
              </a:rPr>
              <a:t>- https://github.com/pipecat-ai/smart-turn</a:t>
            </a:r>
          </a:p>
          <a:p>
            <a:r>
              <a:rPr lang="zh-CN">
                <a:latin typeface="Noto Sans CJK SC"/>
                <a:ea typeface="Noto Sans CJK SC"/>
                <a:cs typeface="Noto Sans CJK SC"/>
              </a:rPr>
              <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PersonaPlex demonstration and model-specific behavior</a:t>
            </a:r>
          </a:p>
          <a:p>
            <a:r>
              <a:rPr lang="zh-CN">
                <a:latin typeface="Noto Sans CJK SC"/>
                <a:ea typeface="Noto Sans CJK SC"/>
                <a:cs typeface="Noto Sans CJK SC"/>
              </a:rPr>
              <a:t/>
            </a:r>
          </a:p>
          <a:p>
            <a:r>
              <a:rPr lang="zh-CN">
                <a:latin typeface="Noto Sans CJK SC"/>
                <a:ea typeface="Noto Sans CJK SC"/>
                <a:cs typeface="Noto Sans CJK SC"/>
              </a:rP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rPr lang="zh-CN">
                <a:latin typeface="Noto Sans CJK SC"/>
                <a:ea typeface="Noto Sans CJK SC"/>
                <a:cs typeface="Noto Sans CJK SC"/>
              </a:rPr>
              <a:t/>
            </a:r>
          </a:p>
          <a:p>
            <a:r>
              <a:rPr lang="zh-CN">
                <a:latin typeface="Noto Sans CJK SC"/>
                <a:ea typeface="Noto Sans CJK SC"/>
                <a:cs typeface="Noto Sans CJK SC"/>
              </a:rP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rPr lang="zh-CN">
                <a:latin typeface="Noto Sans CJK SC"/>
                <a:ea typeface="Noto Sans CJK SC"/>
                <a:cs typeface="Noto Sans CJK SC"/>
              </a:rPr>
              <a:t/>
            </a:r>
          </a:p>
          <a:p>
            <a:r>
              <a:rPr lang="zh-CN">
                <a:latin typeface="Noto Sans CJK SC"/>
                <a:ea typeface="Noto Sans CJK SC"/>
                <a:cs typeface="Noto Sans CJK SC"/>
              </a:rP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rPr lang="zh-CN">
                <a:latin typeface="Noto Sans CJK SC"/>
                <a:ea typeface="Noto Sans CJK SC"/>
                <a:cs typeface="Noto Sans CJK SC"/>
              </a:rPr>
              <a:t/>
            </a:r>
          </a:p>
          <a:p>
            <a:r>
              <a:rPr lang="zh-CN">
                <a:latin typeface="Noto Sans CJK SC"/>
                <a:ea typeface="Noto Sans CJK SC"/>
                <a:cs typeface="Noto Sans CJK SC"/>
              </a:rP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rPr lang="zh-CN">
                <a:latin typeface="Noto Sans CJK SC"/>
                <a:ea typeface="Noto Sans CJK SC"/>
                <a:cs typeface="Noto Sans CJK SC"/>
              </a:rPr>
              <a:t/>
            </a:r>
          </a:p>
          <a:p>
            <a:r>
              <a:rPr lang="zh-CN">
                <a:latin typeface="Noto Sans CJK SC"/>
                <a:ea typeface="Noto Sans CJK SC"/>
                <a:cs typeface="Noto Sans CJK SC"/>
              </a:rP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rPr lang="zh-CN">
                <a:latin typeface="Noto Sans CJK SC"/>
                <a:ea typeface="Noto Sans CJK SC"/>
                <a:cs typeface="Noto Sans CJK SC"/>
              </a:rPr>
              <a:t/>
            </a:r>
          </a:p>
          <a:p>
            <a:r>
              <a:rPr lang="zh-CN">
                <a:latin typeface="Noto Sans CJK SC"/>
                <a:ea typeface="Noto Sans CJK SC"/>
                <a:cs typeface="Noto Sans CJK SC"/>
              </a:rPr>
              <a:t>断连、response.cancel 和 session.close 各有不同效果。对支持续接的模型，断连后会话可在 grace 内继续存活，后续输出进入事件记录；response.cancel 终止当前 response 并使其待发音频失效，会话仍保留；close 或 lease 过期则清理会话与关联工作。恢复要求 owner 仍存活、凭据有效、lease generation 匹配，且所需 event 仍可续传。默认 disconnect grace 为 30 秒，idle TTL 为 300 秒，replay 为 60 秒 / 8 MiB。</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Disconnect, response cancellation and session termination affect different state. For a resumable model, a dropped connection can leave the engine session and in-flight generation alive during the disconnect grace. response.cancel cancels the response, invalidates old queued audio and preserves the session. session.close or lease expiry terminates the session and releases its associated work.</a:t>
            </a:r>
          </a:p>
          <a:p>
            <a:r>
              <a:rPr lang="zh-CN">
                <a:latin typeface="Noto Sans CJK SC"/>
                <a:ea typeface="Noto Sans CJK SC"/>
                <a:cs typeface="Noto Sans CJK SC"/>
              </a:rPr>
              <a:t/>
            </a:r>
          </a:p>
          <a:p>
            <a:r>
              <a:rPr lang="zh-CN">
                <a:latin typeface="Noto Sans CJK SC"/>
                <a:ea typeface="Noto Sans CJK SC"/>
                <a:cs typeface="Noto Sans CJK SC"/>
              </a:rPr>
              <a:t>Resume depends on session lifetime, valid credentials and replay coverage. The same live owner must still hold the session; the disconnect grace and lease must permit reattachment. The server validates the resume token and lease generation. The client's last received event position must be covered by retained events. Resume reattaches to existing state; cancelled work remains cancelled and a closed or expired session cannot be resurrected. Main slide 08 presents the client-facing reconnection flow.</a:t>
            </a:r>
          </a:p>
          <a:p>
            <a:r>
              <a:rPr lang="zh-CN">
                <a:latin typeface="Noto Sans CJK SC"/>
                <a:ea typeface="Noto Sans CJK SC"/>
                <a:cs typeface="Noto Sans CJK SC"/>
              </a:rPr>
              <a:t/>
            </a:r>
          </a:p>
          <a:p>
            <a:r>
              <a:rPr lang="zh-CN">
                <a:latin typeface="Noto Sans CJK SC"/>
                <a:ea typeface="Noto Sans CJK SC"/>
                <a:cs typeface="Noto Sans CJK SC"/>
              </a:rPr>
              <a:t>MiniCPM-o 4.5, AURA, Qwen3-Omni and Nemotron support live-session resume. PersonaPlex closes its session on disconnect. Current defaults are a 30-second disconnect grace, 300-second idle TTL, and a replay window bounded by 60 seconds and 8 MiB. These are configuration defaults, not guarantees of process failover or persistent recovery.</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serving.py: https://github.com/vllm-project/vllm-omni/blob/712b90de9c7bc14c595b363401588a713a87c02d/vllm_omni/entrypoints/duplex/serving.py</a:t>
            </a:r>
          </a:p>
          <a:p>
            <a:r>
              <a:rPr lang="zh-CN">
                <a:latin typeface="Noto Sans CJK SC"/>
                <a:ea typeface="Noto Sans CJK SC"/>
                <a:cs typeface="Noto Sans CJK SC"/>
              </a:rPr>
              <a:t>- session_attachment.py: https://github.com/vllm-project/vllm-omni/blob/712b90de9c7bc14c595b363401588a713a87c02d/vllm_omni/entrypoints/duplex/session_attachment.py</a:t>
            </a:r>
          </a:p>
          <a:p>
            <a:r>
              <a:rPr lang="zh-CN">
                <a:latin typeface="Noto Sans CJK SC"/>
                <a:ea typeface="Noto Sans CJK SC"/>
                <a:cs typeface="Noto Sans CJK SC"/>
              </a:rPr>
              <a:t>- stage_config.py: https://github.com/vllm-project/vllm-omni/blob/712b90de9c7bc14c595b363401588a713a87c02d/vllm_omni/config/stage_config.py</a:t>
            </a:r>
          </a:p>
          <a:p>
            <a:r>
              <a:rPr lang="zh-CN">
                <a:latin typeface="Noto Sans CJK SC"/>
                <a:ea typeface="Noto Sans CJK SC"/>
                <a:cs typeface="Noto Sans CJK SC"/>
              </a:rPr>
              <a:t>- manager.py: https://github.com/vllm-project/vllm-omni/blob/712b90de9c7bc14c595b363401588a713a87c02d/vllm_omni/engine/duplex/session/manager.py</a:t>
            </a:r>
          </a:p>
          <a:p>
            <a:r>
              <a:rPr lang="zh-CN">
                <a:latin typeface="Noto Sans CJK SC"/>
                <a:ea typeface="Noto Sans CJK SC"/>
                <a:cs typeface="Noto Sans CJK SC"/>
              </a:rPr>
              <a:t>PersonaPlex source references:</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a:p>
            <a:r>
              <a:rPr lang="zh-CN">
                <a:latin typeface="Noto Sans CJK SC"/>
                <a:ea typeface="Noto Sans CJK SC"/>
                <a:cs typeface="Noto Sans CJK SC"/>
              </a:rPr>
              <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跨节点部署时，入口 Head 持有 API、EngineClient 和 Duplex Orchestrator，本机或远端 headless Stage 向 OmniMaster 注册，由同一入口侧 Orchestrator 调度。部署侧使用同一拓扑配置，指定 session_mode: duplex、设备与网络 connector；先启动 Head，再启动指定 stage-id 的 headless 进程。当前 duplex 不支持多个 API worker；多个 Stage 或 Replica 不意味着每个 Stage 各自持有一个 Duplex Orchestrator。</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The Head process owns the API/EngineClient and its Duplex Orchestrator. It starts the selected local stage and discovers other stage/replica processes through OmniMaster registration. Each headless process starts its assigned Stage engines/workers; it does not create a separate Duplex Orchestrator for that stage.</a:t>
            </a:r>
          </a:p>
          <a:p>
            <a:r>
              <a:rPr lang="zh-CN">
                <a:latin typeface="Noto Sans CJK SC"/>
                <a:ea typeface="Noto Sans CJK SC"/>
                <a:cs typeface="Noto Sans CJK SC"/>
              </a:rPr>
              <a:t/>
            </a:r>
          </a:p>
          <a:p>
            <a:r>
              <a:rPr lang="zh-CN">
                <a:latin typeface="Noto Sans CJK SC"/>
                <a:ea typeface="Noto Sans CJK SC"/>
                <a:cs typeface="Noto Sans CJK SC"/>
              </a:rPr>
              <a:t>Use a consistent deploy topology, reachable master address/port and network-capable connectors for cross-node Stage data. SharedMemory connectors are local-host transports. The Head Orchestrator dispatches to StagePool clients and preserves request affinity.</a:t>
            </a:r>
          </a:p>
          <a:p>
            <a:r>
              <a:rPr lang="zh-CN">
                <a:latin typeface="Noto Sans CJK SC"/>
                <a:ea typeface="Noto Sans CJK SC"/>
                <a:cs typeface="Noto Sans CJK SC"/>
              </a:rPr>
              <a:t/>
            </a:r>
          </a:p>
          <a:p>
            <a:r>
              <a:rPr lang="zh-CN">
                <a:latin typeface="Noto Sans CJK SC"/>
                <a:ea typeface="Noto Sans CJK SC"/>
                <a:cs typeface="Noto Sans CJK SC"/>
              </a:rPr>
              <a:t>Current duplex endpoints reject configurations with multiple API workers, since attachment credentials and replay state are owner-local. Scaling stage replicas is different from scaling API workers, and a distributed Stage layout does not supply transparent frontend failover. The diagram illustrates deployment ownership; model/device/connector support must match the chosen configuration.</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api_server.py: https://github.com/vllm-project/vllm-omni/blob/712b90de9c7bc14c595b363401588a713a87c02d/vllm_omni/entrypoints/openai/api_server.py</a:t>
            </a:r>
          </a:p>
          <a:p>
            <a:r>
              <a:rPr lang="zh-CN">
                <a:latin typeface="Noto Sans CJK SC"/>
                <a:ea typeface="Noto Sans CJK SC"/>
                <a:cs typeface="Noto Sans CJK SC"/>
              </a:rPr>
              <a:t>- stage_runtime.py: https://github.com/vllm-project/vllm-omni/blob/712b90de9c7bc14c595b363401588a713a87c02d/vllm_omni/engine/stage_runtime.py</a:t>
            </a:r>
          </a:p>
          <a:p>
            <a:r>
              <a:rPr lang="zh-CN">
                <a:latin typeface="Noto Sans CJK SC"/>
                <a:ea typeface="Noto Sans CJK SC"/>
                <a:cs typeface="Noto Sans CJK SC"/>
              </a:rPr>
              <a:t>- stage_init_utils.py: https://github.com/vllm-project/vllm-omni/blob/712b90de9c7bc14c595b363401588a713a87c02d/vllm_omni/engine/stage_init_utils.py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参考代码按职责列出阅读入口：API 通信适配、EngineClient、通信与传输、会话运行时、Stage 编排和模型执行。先区分 command、控制操作结果与普通 session 输出，再对应到 Manager / Runner、StagePool、Scheduler 和 Model Worker。图中的类名与方法名保留英文，便于对应源码。</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The references link to one source snapshot. The engine queue carries commands and lifecycle control messages. Ordinary output uses the handle's shared DuplexOutputBuffer; the global output queue remains for control results and exceptional session notifications. Follow Manager/Runner for session ownership, StagePool for replica selection, and Scheduler/Worker for model compute and retained caches.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serving.py: https://github.com/vllm-project/vllm-omni/blob/712b90de9c7bc14c595b363401588a713a87c02d/vllm_omni/entrypoints/duplex/serving.py</a:t>
            </a:r>
          </a:p>
          <a:p>
            <a:r>
              <a:rPr lang="zh-CN">
                <a:latin typeface="Noto Sans CJK SC"/>
                <a:ea typeface="Noto Sans CJK SC"/>
                <a:cs typeface="Noto Sans CJK SC"/>
              </a:rPr>
              <a:t>- duplex_omni.py: https://github.com/vllm-project/vllm-omni/blob/712b90de9c7bc14c595b363401588a713a87c02d/vllm_omni/entrypoints/duplex_omni.py</a:t>
            </a:r>
          </a:p>
          <a:p>
            <a:r>
              <a:rPr lang="zh-CN">
                <a:latin typeface="Noto Sans CJK SC"/>
                <a:ea typeface="Noto Sans CJK SC"/>
                <a:cs typeface="Noto Sans CJK SC"/>
              </a:rPr>
              <a:t>- duplex_omni_engine.py: https://github.com/vllm-project/vllm-omni/blob/712b90de9c7bc14c595b363401588a713a87c02d/vllm_omni/engine/duplex_omni_engine.py</a:t>
            </a:r>
          </a:p>
          <a:p>
            <a:r>
              <a:rPr lang="zh-CN">
                <a:latin typeface="Noto Sans CJK SC"/>
                <a:ea typeface="Noto Sans CJK SC"/>
                <a:cs typeface="Noto Sans CJK SC"/>
              </a:rPr>
              <a:t>- delivery.py: https://github.com/vllm-project/vllm-omni/blob/712b90de9c7bc14c595b363401588a713a87c02d/vllm_omni/engine/duplex/delivery.py</a:t>
            </a:r>
          </a:p>
          <a:p>
            <a:r>
              <a:rPr lang="zh-CN">
                <a:latin typeface="Noto Sans CJK SC"/>
                <a:ea typeface="Noto Sans CJK SC"/>
                <a:cs typeface="Noto Sans CJK SC"/>
              </a:rPr>
              <a:t>- manager.py: https://github.com/vllm-project/vllm-omni/blob/712b90de9c7bc14c595b363401588a713a87c02d/vllm_omni/engine/duplex/session/manager.py</a:t>
            </a:r>
          </a:p>
          <a:p>
            <a:r>
              <a:rPr lang="zh-CN">
                <a:latin typeface="Noto Sans CJK SC"/>
                <a:ea typeface="Noto Sans CJK SC"/>
                <a:cs typeface="Noto Sans CJK SC"/>
              </a:rPr>
              <a:t>- runner.py: https://github.com/vllm-project/vllm-omni/blob/712b90de9c7bc14c595b363401588a713a87c02d/vllm_omni/engine/duplex/session/runner.py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12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image" Target="../media/image2.png"/><Relationship Id="rId5" Type="http://schemas.openxmlformats.org/officeDocument/2006/relationships/hyperlink" Target="https://github.com/0xtoward" TargetMode="External"/><Relationship Id="rId6" Type="http://schemas.openxmlformats.org/officeDocument/2006/relationships/image" Target="../media/image3.jpg"/><Relationship Id="rId7" Type="http://schemas.openxmlformats.org/officeDocument/2006/relationships/hyperlink" Target="https://github.com/0z5a" TargetMode="External"/><Relationship Id="rId8" Type="http://schemas.openxmlformats.org/officeDocument/2006/relationships/image" Target="../media/image4.png"/><Relationship Id="rId9" Type="http://schemas.openxmlformats.org/officeDocument/2006/relationships/hyperlink" Target="https://github.com/AbelSara" TargetMode="External"/><Relationship Id="rId10" Type="http://schemas.openxmlformats.org/officeDocument/2006/relationships/image" Target="../media/image5.png"/><Relationship Id="rId11" Type="http://schemas.openxmlformats.org/officeDocument/2006/relationships/hyperlink" Target="https://github.com/akshatvishu" TargetMode="External"/><Relationship Id="rId12" Type="http://schemas.openxmlformats.org/officeDocument/2006/relationships/image" Target="../media/image6.jpg"/><Relationship Id="rId13" Type="http://schemas.openxmlformats.org/officeDocument/2006/relationships/hyperlink" Target="https://github.com/amy-why-3459" TargetMode="External"/><Relationship Id="rId14" Type="http://schemas.openxmlformats.org/officeDocument/2006/relationships/image" Target="../media/image7.png"/><Relationship Id="rId15" Type="http://schemas.openxmlformats.org/officeDocument/2006/relationships/hyperlink" Target="https://github.com/andyluo7" TargetMode="External"/><Relationship Id="rId16" Type="http://schemas.openxmlformats.org/officeDocument/2006/relationships/image" Target="../media/image8.png"/><Relationship Id="rId17" Type="http://schemas.openxmlformats.org/officeDocument/2006/relationships/hyperlink" Target="https://github.com/anurag12-webster" TargetMode="External"/><Relationship Id="rId18" Type="http://schemas.openxmlformats.org/officeDocument/2006/relationships/image" Target="../media/image9.png"/><Relationship Id="rId19" Type="http://schemas.openxmlformats.org/officeDocument/2006/relationships/hyperlink" Target="https://github.com/BeatSeat" TargetMode="External"/><Relationship Id="rId20" Type="http://schemas.openxmlformats.org/officeDocument/2006/relationships/image" Target="../media/image10.jpg"/><Relationship Id="rId21" Type="http://schemas.openxmlformats.org/officeDocument/2006/relationships/hyperlink" Target="https://github.com/BruceLoveDecimal" TargetMode="External"/><Relationship Id="rId22" Type="http://schemas.openxmlformats.org/officeDocument/2006/relationships/image" Target="../media/image11.jpg"/><Relationship Id="rId23" Type="http://schemas.openxmlformats.org/officeDocument/2006/relationships/hyperlink" Target="https://github.com/CarrotSwordsman" TargetMode="External"/><Relationship Id="rId24" Type="http://schemas.openxmlformats.org/officeDocument/2006/relationships/image" Target="../media/image12.png"/><Relationship Id="rId25" Type="http://schemas.openxmlformats.org/officeDocument/2006/relationships/hyperlink" Target="https://github.com/chickeyton" TargetMode="External"/><Relationship Id="rId26" Type="http://schemas.openxmlformats.org/officeDocument/2006/relationships/image" Target="../media/image13.jpg"/><Relationship Id="rId27" Type="http://schemas.openxmlformats.org/officeDocument/2006/relationships/hyperlink" Target="https://github.com/congw729" TargetMode="External"/><Relationship Id="rId28" Type="http://schemas.openxmlformats.org/officeDocument/2006/relationships/image" Target="../media/image14.png"/><Relationship Id="rId29" Type="http://schemas.openxmlformats.org/officeDocument/2006/relationships/hyperlink" Target="https://github.com/dshah1333" TargetMode="External"/><Relationship Id="rId30" Type="http://schemas.openxmlformats.org/officeDocument/2006/relationships/image" Target="../media/image15.png"/><Relationship Id="rId31" Type="http://schemas.openxmlformats.org/officeDocument/2006/relationships/hyperlink" Target="https://github.com/eval-dev" TargetMode="External"/><Relationship Id="rId32" Type="http://schemas.openxmlformats.org/officeDocument/2006/relationships/image" Target="../media/image16.jpg"/><Relationship Id="rId33" Type="http://schemas.openxmlformats.org/officeDocument/2006/relationships/hyperlink" Target="https://github.com/FayeSpica" TargetMode="External"/><Relationship Id="rId34" Type="http://schemas.openxmlformats.org/officeDocument/2006/relationships/image" Target="../media/image17.jpg"/><Relationship Id="rId35" Type="http://schemas.openxmlformats.org/officeDocument/2006/relationships/hyperlink" Target="https://github.com/frank-2077" TargetMode="External"/><Relationship Id="rId36" Type="http://schemas.openxmlformats.org/officeDocument/2006/relationships/image" Target="../media/image18.jpg"/><Relationship Id="rId37" Type="http://schemas.openxmlformats.org/officeDocument/2006/relationships/hyperlink" Target="https://github.com/Fyrgo8" TargetMode="External"/><Relationship Id="rId38" Type="http://schemas.openxmlformats.org/officeDocument/2006/relationships/image" Target="../media/image19.jpg"/><Relationship Id="rId39" Type="http://schemas.openxmlformats.org/officeDocument/2006/relationships/hyperlink" Target="https://github.com/Gaohan123" TargetMode="External"/><Relationship Id="rId40" Type="http://schemas.openxmlformats.org/officeDocument/2006/relationships/image" Target="../media/image20.png"/><Relationship Id="rId41" Type="http://schemas.openxmlformats.org/officeDocument/2006/relationships/hyperlink" Target="https://github.com/GKangaroo" TargetMode="External"/><Relationship Id="rId42" Type="http://schemas.openxmlformats.org/officeDocument/2006/relationships/image" Target="../media/image21.jpg"/><Relationship Id="rId43" Type="http://schemas.openxmlformats.org/officeDocument/2006/relationships/hyperlink" Target="https://github.com/guanzheh" TargetMode="External"/><Relationship Id="rId44" Type="http://schemas.openxmlformats.org/officeDocument/2006/relationships/image" Target="../media/image22.png"/><Relationship Id="rId45" Type="http://schemas.openxmlformats.org/officeDocument/2006/relationships/hyperlink" Target="https://github.com/herotai214" TargetMode="External"/><Relationship Id="rId46" Type="http://schemas.openxmlformats.org/officeDocument/2006/relationships/image" Target="../media/image23.jpg"/><Relationship Id="rId47" Type="http://schemas.openxmlformats.org/officeDocument/2006/relationships/hyperlink" Target="https://github.com/Hiro208" TargetMode="External"/><Relationship Id="rId48" Type="http://schemas.openxmlformats.org/officeDocument/2006/relationships/image" Target="../media/image24.png"/><Relationship Id="rId49" Type="http://schemas.openxmlformats.org/officeDocument/2006/relationships/hyperlink" Target="https://github.com/hsliuustc0106" TargetMode="External"/><Relationship Id="rId50" Type="http://schemas.openxmlformats.org/officeDocument/2006/relationships/image" Target="../media/image25.jpg"/><Relationship Id="rId51" Type="http://schemas.openxmlformats.org/officeDocument/2006/relationships/hyperlink" Target="https://github.com/IneshReddy249" TargetMode="External"/><Relationship Id="rId52" Type="http://schemas.openxmlformats.org/officeDocument/2006/relationships/image" Target="../media/image26.jpg"/><Relationship Id="rId53" Type="http://schemas.openxmlformats.org/officeDocument/2006/relationships/hyperlink" Target="https://github.com/LHXuuu" TargetMode="External"/><Relationship Id="rId54" Type="http://schemas.openxmlformats.org/officeDocument/2006/relationships/image" Target="../media/image27.png"/><Relationship Id="rId55" Type="http://schemas.openxmlformats.org/officeDocument/2006/relationships/hyperlink" Target="https://github.com/linyueqian" TargetMode="External"/><Relationship Id="rId56" Type="http://schemas.openxmlformats.org/officeDocument/2006/relationships/image" Target="../media/image28.jpg"/><Relationship Id="rId57" Type="http://schemas.openxmlformats.org/officeDocument/2006/relationships/hyperlink" Target="https://github.com/lishunyang12" TargetMode="External"/><Relationship Id="rId58" Type="http://schemas.openxmlformats.org/officeDocument/2006/relationships/image" Target="../media/image29.jpg"/><Relationship Id="rId59" Type="http://schemas.openxmlformats.org/officeDocument/2006/relationships/hyperlink" Target="https://github.com/LOGO127" TargetMode="External"/><Relationship Id="rId60" Type="http://schemas.openxmlformats.org/officeDocument/2006/relationships/image" Target="../media/image30.jpg"/><Relationship Id="rId61" Type="http://schemas.openxmlformats.org/officeDocument/2006/relationships/hyperlink" Target="https://github.com/m0g3r" TargetMode="External"/><Relationship Id="rId62" Type="http://schemas.openxmlformats.org/officeDocument/2006/relationships/image" Target="../media/image31.jpg"/><Relationship Id="rId63" Type="http://schemas.openxmlformats.org/officeDocument/2006/relationships/hyperlink" Target="https://github.com/MrDongsls" TargetMode="External"/><Relationship Id="rId64" Type="http://schemas.openxmlformats.org/officeDocument/2006/relationships/image" Target="../media/image32.jpg"/><Relationship Id="rId65" Type="http://schemas.openxmlformats.org/officeDocument/2006/relationships/hyperlink" Target="https://github.com/natureofnature" TargetMode="External"/><Relationship Id="rId66" Type="http://schemas.openxmlformats.org/officeDocument/2006/relationships/image" Target="../media/image33.jpg"/><Relationship Id="rId67" Type="http://schemas.openxmlformats.org/officeDocument/2006/relationships/hyperlink" Target="https://github.com/NickCao" TargetMode="External"/><Relationship Id="rId68" Type="http://schemas.openxmlformats.org/officeDocument/2006/relationships/image" Target="../media/image34.png"/><Relationship Id="rId69" Type="http://schemas.openxmlformats.org/officeDocument/2006/relationships/hyperlink" Target="https://github.com/NolenLiang" TargetMode="External"/><Relationship Id="rId70" Type="http://schemas.openxmlformats.org/officeDocument/2006/relationships/image" Target="../media/image35.png"/><Relationship Id="rId71" Type="http://schemas.openxmlformats.org/officeDocument/2006/relationships/hyperlink" Target="https://github.com/NumberWan" TargetMode="External"/><Relationship Id="rId72" Type="http://schemas.openxmlformats.org/officeDocument/2006/relationships/image" Target="../media/image36.jpg"/><Relationship Id="rId73" Type="http://schemas.openxmlformats.org/officeDocument/2006/relationships/hyperlink" Target="https://github.com/psv666" TargetMode="External"/><Relationship Id="rId74" Type="http://schemas.openxmlformats.org/officeDocument/2006/relationships/image" Target="../media/image37.jpg"/><Relationship Id="rId75" Type="http://schemas.openxmlformats.org/officeDocument/2006/relationships/hyperlink" Target="https://github.com/pujitha24" TargetMode="External"/><Relationship Id="rId76" Type="http://schemas.openxmlformats.org/officeDocument/2006/relationships/image" Target="../media/image38.jpg"/><Relationship Id="rId77" Type="http://schemas.openxmlformats.org/officeDocument/2006/relationships/hyperlink" Target="https://github.com/R2-Y" TargetMode="External"/><Relationship Id="rId78" Type="http://schemas.openxmlformats.org/officeDocument/2006/relationships/image" Target="../media/image39.jpg"/><Relationship Id="rId79" Type="http://schemas.openxmlformats.org/officeDocument/2006/relationships/hyperlink" Target="https://github.com/RyanYun09" TargetMode="External"/><Relationship Id="rId80" Type="http://schemas.openxmlformats.org/officeDocument/2006/relationships/image" Target="../media/image40.jpg"/><Relationship Id="rId81" Type="http://schemas.openxmlformats.org/officeDocument/2006/relationships/hyperlink" Target="https://github.com/sphinxkkkbc" TargetMode="External"/><Relationship Id="rId82" Type="http://schemas.openxmlformats.org/officeDocument/2006/relationships/image" Target="../media/image41.png"/><Relationship Id="rId83" Type="http://schemas.openxmlformats.org/officeDocument/2006/relationships/hyperlink" Target="https://github.com/StormMelody" TargetMode="External"/><Relationship Id="rId84" Type="http://schemas.openxmlformats.org/officeDocument/2006/relationships/image" Target="../media/image42.jpg"/><Relationship Id="rId85" Type="http://schemas.openxmlformats.org/officeDocument/2006/relationships/hyperlink" Target="https://github.com/stringl1l1l1l" TargetMode="External"/><Relationship Id="rId86" Type="http://schemas.openxmlformats.org/officeDocument/2006/relationships/image" Target="../media/image43.png"/><Relationship Id="rId87" Type="http://schemas.openxmlformats.org/officeDocument/2006/relationships/hyperlink" Target="https://github.com/Sy0307" TargetMode="External"/><Relationship Id="rId88" Type="http://schemas.openxmlformats.org/officeDocument/2006/relationships/image" Target="../media/image44.jpg"/><Relationship Id="rId89" Type="http://schemas.openxmlformats.org/officeDocument/2006/relationships/hyperlink" Target="https://github.com/tc-mb" TargetMode="External"/><Relationship Id="rId90" Type="http://schemas.openxmlformats.org/officeDocument/2006/relationships/image" Target="../media/image45.png"/><Relationship Id="rId91" Type="http://schemas.openxmlformats.org/officeDocument/2006/relationships/hyperlink" Target="https://github.com/TheCodeWrangler" TargetMode="External"/><Relationship Id="rId92" Type="http://schemas.openxmlformats.org/officeDocument/2006/relationships/image" Target="../media/image46.png"/><Relationship Id="rId93" Type="http://schemas.openxmlformats.org/officeDocument/2006/relationships/hyperlink" Target="https://github.com/THUqliu" TargetMode="External"/><Relationship Id="rId94" Type="http://schemas.openxmlformats.org/officeDocument/2006/relationships/image" Target="../media/image47.jpg"/><Relationship Id="rId95" Type="http://schemas.openxmlformats.org/officeDocument/2006/relationships/hyperlink" Target="https://github.com/Tiagosf00" TargetMode="External"/><Relationship Id="rId96" Type="http://schemas.openxmlformats.org/officeDocument/2006/relationships/image" Target="../media/image48.png"/><Relationship Id="rId97" Type="http://schemas.openxmlformats.org/officeDocument/2006/relationships/hyperlink" Target="https://github.com/tlysanhuo" TargetMode="External"/><Relationship Id="rId98" Type="http://schemas.openxmlformats.org/officeDocument/2006/relationships/image" Target="../media/image49.jpg"/><Relationship Id="rId99" Type="http://schemas.openxmlformats.org/officeDocument/2006/relationships/hyperlink" Target="https://github.com/twu3202" TargetMode="External"/><Relationship Id="rId100" Type="http://schemas.openxmlformats.org/officeDocument/2006/relationships/image" Target="../media/image50.png"/><Relationship Id="rId101" Type="http://schemas.openxmlformats.org/officeDocument/2006/relationships/hyperlink" Target="https://github.com/vuuihc" TargetMode="External"/><Relationship Id="rId102" Type="http://schemas.openxmlformats.org/officeDocument/2006/relationships/image" Target="../media/image51.png"/><Relationship Id="rId103" Type="http://schemas.openxmlformats.org/officeDocument/2006/relationships/hyperlink" Target="https://github.com/wuli666" TargetMode="External"/><Relationship Id="rId104" Type="http://schemas.openxmlformats.org/officeDocument/2006/relationships/image" Target="../media/image52.jpg"/><Relationship Id="rId105" Type="http://schemas.openxmlformats.org/officeDocument/2006/relationships/hyperlink" Target="https://github.com/xsmccc" TargetMode="External"/><Relationship Id="rId106" Type="http://schemas.openxmlformats.org/officeDocument/2006/relationships/image" Target="../media/image53.png"/><Relationship Id="rId107" Type="http://schemas.openxmlformats.org/officeDocument/2006/relationships/hyperlink" Target="https://github.com/y-null" TargetMode="External"/><Relationship Id="rId108" Type="http://schemas.openxmlformats.org/officeDocument/2006/relationships/image" Target="../media/image54.jpg"/><Relationship Id="rId109" Type="http://schemas.openxmlformats.org/officeDocument/2006/relationships/hyperlink" Target="https://github.com/yenuo26" TargetMode="External"/><Relationship Id="rId110" Type="http://schemas.openxmlformats.org/officeDocument/2006/relationships/image" Target="../media/image55.jpg"/><Relationship Id="rId111" Type="http://schemas.openxmlformats.org/officeDocument/2006/relationships/hyperlink" Target="https://github.com/yuekaizhang" TargetMode="External"/><Relationship Id="rId112" Type="http://schemas.openxmlformats.org/officeDocument/2006/relationships/image" Target="../media/image56.png"/><Relationship Id="rId113" Type="http://schemas.openxmlformats.org/officeDocument/2006/relationships/hyperlink" Target="https://github.com/ZacheryAU" TargetMode="External"/><Relationship Id="rId114" Type="http://schemas.openxmlformats.org/officeDocument/2006/relationships/image" Target="../media/image57.png"/><Relationship Id="rId115" Type="http://schemas.openxmlformats.org/officeDocument/2006/relationships/hyperlink" Target="https://github.com/Zhou248" TargetMode="External"/><Relationship Id="rId116" Type="http://schemas.openxmlformats.org/officeDocument/2006/relationships/image" Target="../media/image58.jpg"/><Relationship Id="rId117" Type="http://schemas.openxmlformats.org/officeDocument/2006/relationships/hyperlink" Target="https://github.com/zyforsure" TargetMode="External"/><Relationship Id="rId118" Type="http://schemas.openxmlformats.org/officeDocument/2006/relationships/hyperlink" Target="https://github.com/vllm-project/vllm-omni/pull/3907" TargetMode="External"/><Relationship Id="rId119" Type="http://schemas.openxmlformats.org/officeDocument/2006/relationships/hyperlink" Target="https://github.com/vllm-project/vllm-omni/pull/7413" TargetMode="External"/><Relationship Id="rId120" Type="http://schemas.openxmlformats.org/officeDocument/2006/relationships/hyperlink" Target="https://github.com/vllm-project/vllm-omni/pull/6021" TargetMode="External"/><Relationship Id="rId122" Type="http://schemas.openxmlformats.org/officeDocument/2006/relationships/hyperlink" Target="https://github.com/vllm-project/vllm-omni/pull/4771" TargetMode="External"/><Relationship Id="rId123" Type="http://schemas.openxmlformats.org/officeDocument/2006/relationships/hyperlink" Target="https://github.com/vllm-project/vllm-omni/pull/6089" TargetMode="External"/><Relationship Id="rId124" Type="http://schemas.openxmlformats.org/officeDocument/2006/relationships/hyperlink" Target="https://github.com/vllm-project/vllm-omni/pull/7633" TargetMode="External"/><Relationship Id="rId125" Type="http://schemas.openxmlformats.org/officeDocument/2006/relationships/hyperlink" Target="https://github.com/vllm-project/vllm-omni/pull/7242" TargetMode="External"/><Relationship Id="rId126" Type="http://schemas.openxmlformats.org/officeDocument/2006/relationships/notesSlide" Target="../notesSlides/notesSlide2.xml"/><Relationship Id="rId127" Type="http://schemas.openxmlformats.org/officeDocument/2006/relationships/hyperlink" Target="https://github.com/vllm-project/vllm-omni/pull/7585" TargetMode="External"/><Relationship Id="rId128" Type="http://schemas.openxmlformats.org/officeDocument/2006/relationships/image" Target="../media/v42-avatar-HyperbolicCr.png"/><Relationship Id="rId129" Type="http://schemas.openxmlformats.org/officeDocument/2006/relationships/hyperlink" Target="https://github.com/HyperbolicCr" TargetMode="External"/><Relationship Id="rId130" Type="http://schemas.openxmlformats.org/officeDocument/2006/relationships/image" Target="../media/v42-avatar-LinzeShi.jpg"/><Relationship Id="rId131" Type="http://schemas.openxmlformats.org/officeDocument/2006/relationships/hyperlink" Target="https://github.com/LinzeShi" TargetMode="External"/><Relationship Id="rId132" Type="http://schemas.openxmlformats.org/officeDocument/2006/relationships/image" Target="../media/v42-avatar-vraiti.png"/><Relationship Id="rId133" Type="http://schemas.openxmlformats.org/officeDocument/2006/relationships/hyperlink" Target="https://github.com/vraiti" TargetMode="External"/><Relationship Id="rId134" Type="http://schemas.openxmlformats.org/officeDocument/2006/relationships/image" Target="../media/v42-avatar-xuhuan51.jpg"/><Relationship Id="rId135" Type="http://schemas.openxmlformats.org/officeDocument/2006/relationships/hyperlink" Target="https://github.com/xuhuan51" TargetMode="External"/><Relationship Id="rId136" Type="http://schemas.openxmlformats.org/officeDocument/2006/relationships/image" Target="../media/v42-avatar-ZhengWG.jpg"/><Relationship Id="rId137" Type="http://schemas.openxmlformats.org/officeDocument/2006/relationships/hyperlink" Target="https://github.com/ZhengWG" TargetMode="External"/><Relationship Id="rId138" Type="http://schemas.openxmlformats.org/officeDocument/2006/relationships/hyperlink" Target="https://github.com/vllm-project/vllm-omni/pull/3907" TargetMode="External"/><Relationship Id="rId139" Type="http://schemas.openxmlformats.org/officeDocument/2006/relationships/hyperlink" Target="https://github.com/vllm-project/vllm-omni/pull/7413" TargetMode="External"/><Relationship Id="rId140" Type="http://schemas.openxmlformats.org/officeDocument/2006/relationships/hyperlink" Target="https://github.com/vllm-project/vllm-omni/pull/7285" TargetMode="External"/><Relationship Id="rId141" Type="http://schemas.openxmlformats.org/officeDocument/2006/relationships/hyperlink" Target="https://github.com/vllm-project/vllm-omni/pull/7585" TargetMode="External"/><Relationship Id="rId142" Type="http://schemas.openxmlformats.org/officeDocument/2006/relationships/hyperlink" Target="https://github.com/vllm-project/vllm-omni/pull/7695" TargetMode="External"/><Relationship Id="rId143" Type="http://schemas.openxmlformats.org/officeDocument/2006/relationships/hyperlink" Target="https://github.com/vllm-project/vllm-omni/pull/6089" TargetMode="External"/><Relationship Id="rId144" Type="http://schemas.openxmlformats.org/officeDocument/2006/relationships/hyperlink" Target="https://github.com/vllm-project/vllm-omni/pull/7633" TargetMode="External"/><Relationship Id="rId145" Type="http://schemas.openxmlformats.org/officeDocument/2006/relationships/hyperlink" Target="https://github.com/vllm-project/vllm-omni/pull/7644"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3.xml"/><Relationship Id="rId5" Type="http://schemas.openxmlformats.org/officeDocument/2006/relationships/image" Target="../media/image5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0.xml"/><Relationship Id="rIdRtfTrend"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hyperlink" Target="https://github.com/vllm-project/vllm-omni/blob/712b90de9c7bc14c595b363401588a713a87c02d/vllm_omni/entrypoints/duplex/serving.py" TargetMode="External"/><Relationship Id="rId5" Type="http://schemas.openxmlformats.org/officeDocument/2006/relationships/hyperlink" Target="https://github.com/vllm-project/vllm-omni/blob/712b90de9c7bc14c595b363401588a713a87c02d/vllm_omni/entrypoints/duplex_omni.py" TargetMode="External"/><Relationship Id="rId6" Type="http://schemas.openxmlformats.org/officeDocument/2006/relationships/hyperlink" Target="https://github.com/vllm-project/vllm-omni/blob/712b90de9c7bc14c595b363401588a713a87c02d/vllm_omni/engine/duplex_omni_engine.py" TargetMode="External"/><Relationship Id="rId7" Type="http://schemas.openxmlformats.org/officeDocument/2006/relationships/hyperlink" Target="https://github.com/vllm-project/vllm-omni/blob/712b90de9c7bc14c595b363401588a713a87c02d/vllm_omni/engine/duplex/session/runner.py" TargetMode="External"/><Relationship Id="rId8" Type="http://schemas.openxmlformats.org/officeDocument/2006/relationships/hyperlink" Target="https://github.com/vllm-project/vllm-omni/blob/712b90de9c7bc14c595b363401588a713a87c02d/vllm_omni/engine/duplex_orchestrator.py" TargetMode="External"/><Relationship Id="rId9" Type="http://schemas.openxmlformats.org/officeDocument/2006/relationships/hyperlink" Target="https://github.com/vllm-project/vllm-omni/blob/712b90de9c7bc14c595b363401588a713a87c02d/vllm_omni/core/sched/omni_ar_scheduler.py" TargetMode="External"/><Relationship Id="rId10" Type="http://schemas.openxmlformats.org/officeDocument/2006/relationships/notesSlide" Target="../notesSlides/notesSlide18.xml"/><Relationship Id="rId11" Type="http://schemas.openxmlformats.org/officeDocument/2006/relationships/hyperlink" Target="https://github.com/vllm-project/vllm-omni/blob/712b90de9c7bc14c595b363401588a713a87c02d/vllm_omni/engine/duplex/delivery.py"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6" name="TextBox 5"/>
          <p:cNvSpPr txBox="1"/>
          <p:nvPr/>
        </p:nvSpPr>
        <p:spPr>
          <a:xfrm>
            <a:off x="548640" y="1874520"/>
            <a:ext cx="11064240" cy="1600200"/>
          </a:xfrm>
          <a:prstGeom prst="rect">
            <a:avLst/>
          </a:prstGeom>
          <a:noFill/>
        </p:spPr>
        <p:txBody>
          <a:bodyPr wrap="square" lIns="0" rIns="0" tIns="0" bIns="0" anchor="t">
            <a:noAutofit/>
          </a:bodyPr>
          <a:lstStyle/>
          <a:p>
            <a:pPr algn="l">
              <a:lnSpc>
                <a:spcPct val="110000"/>
              </a:lnSpc>
              <a:spcAft>
                <a:spcPts val="0"/>
              </a:spcAft>
            </a:pPr>
            <a:r>
              <a:rPr sz="4400" b="1" lang="zh-CN">
                <a:solidFill>
                  <a:srgbClr val="142B45"/>
                </a:solidFill>
                <a:latin typeface="Arial"/>
                <a:ea typeface="Arial"/>
                <a:cs typeface="Arial"/>
              </a:rPr>
              <a:t>The Next Inflection Point</a:t>
            </a:r>
          </a:p>
          <a:p>
            <a:pPr algn="l">
              <a:lnSpc>
                <a:spcPct val="110000"/>
              </a:lnSpc>
              <a:spcAft>
                <a:spcPts val="0"/>
              </a:spcAft>
            </a:pPr>
            <a:r>
              <a:rPr sz="4400" b="1" lang="zh-CN">
                <a:solidFill>
                  <a:srgbClr val="008E96"/>
                </a:solidFill>
                <a:latin typeface="Arial"/>
                <a:ea typeface="Arial"/>
                <a:cs typeface="Arial"/>
              </a:rPr>
              <a:t>in SI Interaction</a:t>
            </a:r>
          </a:p>
        </p:txBody>
      </p:sp>
      <p:sp>
        <p:nvSpPr>
          <p:cNvPr id="7" name="TextBox 6"/>
          <p:cNvSpPr txBox="1"/>
          <p:nvPr/>
        </p:nvSpPr>
        <p:spPr>
          <a:xfrm>
            <a:off x="576072" y="3794760"/>
            <a:ext cx="10789920" cy="1005840"/>
          </a:xfrm>
          <a:prstGeom prst="rect">
            <a:avLst/>
          </a:prstGeom>
          <a:noFill/>
        </p:spPr>
        <p:txBody>
          <a:bodyPr wrap="square" lIns="0" rIns="0" tIns="0" bIns="0" anchor="t">
            <a:noAutofit/>
          </a:bodyPr>
          <a:lstStyle/>
          <a:p>
            <a:pPr algn="l">
              <a:lnSpc>
                <a:spcPct val="110000"/>
              </a:lnSpc>
              <a:spcAft>
                <a:spcPts val="0"/>
              </a:spcAft>
            </a:pPr>
            <a:r>
              <a:rPr sz="2400" b="1" lang="zh-CN">
                <a:solidFill>
                  <a:srgbClr val="586B7E"/>
                </a:solidFill>
                <a:latin typeface="Arial"/>
                <a:ea typeface="Arial"/>
                <a:cs typeface="Arial"/>
              </a:rPr>
              <a:t>How vLLM-Omni Enables Models to</a:t>
            </a:r>
          </a:p>
          <a:p>
            <a:pPr algn="l">
              <a:lnSpc>
                <a:spcPct val="110000"/>
              </a:lnSpc>
              <a:spcAft>
                <a:spcPts val="0"/>
              </a:spcAft>
            </a:pPr>
            <a:r>
              <a:rPr sz="2400" b="1" lang="zh-CN">
                <a:solidFill>
                  <a:srgbClr val="586B7E"/>
                </a:solidFill>
                <a:latin typeface="Arial"/>
                <a:ea typeface="Arial"/>
                <a:cs typeface="Arial"/>
              </a:rPr>
              <a:t>Listen and Speak Simultaneously</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社区共建</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lang="zh-CN">
                <a:solidFill>
                  <a:srgbClr val="142B45"/>
                </a:solidFill>
                <a:latin typeface="Noto Sans CJK SC"/>
                <a:ea typeface="Noto Sans CJK SC"/>
                <a:cs typeface="Noto Sans CJK SC"/>
              </a:rPr>
              <a:t>双工，与社区共同构建</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800" b="0" lang="zh-CN">
                <a:solidFill>
                  <a:srgbClr val="586B7E"/>
                </a:solidFill>
                <a:latin typeface="Noto Sans CJK SC"/>
                <a:ea typeface="Noto Sans CJK SC"/>
                <a:cs typeface="Noto Sans CJK SC"/>
              </a:rPr>
              <a:t>致谢 60+ 贡献者 · 160+ 相关 PR 已合入</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01 / 12</a:t>
            </a:r>
          </a:p>
        </p:txBody>
      </p:sp>
      <p:sp>
        <p:nvSpPr>
          <p:cNvPr id="126" name="TextBox 125"/>
          <p:cNvSpPr txBox="1"/>
          <p:nvPr/>
        </p:nvSpPr>
        <p:spPr>
          <a:xfrm>
            <a:off x="603504" y="5431536"/>
            <a:ext cx="4572000" cy="201168"/>
          </a:xfrm>
          <a:prstGeom prst="rect">
            <a:avLst/>
          </a:prstGeom>
          <a:noFill/>
        </p:spPr>
        <p:txBody>
          <a:bodyPr wrap="square" lIns="0" rIns="0" tIns="0" bIns="0" anchor="t">
            <a:spAutoFit/>
          </a:bodyPr>
          <a:lstStyle/>
          <a:p>
            <a:pPr algn="l">
              <a:lnSpc>
                <a:spcPct val="110000"/>
              </a:lnSpc>
              <a:spcAft>
                <a:spcPts val="0"/>
              </a:spcAft>
            </a:pPr>
            <a:r>
              <a:rPr sz="1100" b="1" lang="zh-CN">
                <a:solidFill>
                  <a:srgbClr val="586B7E"/>
                </a:solidFill>
                <a:latin typeface="Noto Sans CJK SC"/>
                <a:ea typeface="Noto Sans CJK SC"/>
                <a:cs typeface="Noto Sans CJK SC"/>
              </a:rPr>
              <a:t>代表性已合入 PR</a:t>
            </a:r>
          </a:p>
        </p:txBody>
      </p:sp>
      <p:sp>
        <p:nvSpPr>
          <p:cNvPr id="127" name="TextBox 126"/>
          <p:cNvSpPr txBox="1"/>
          <p:nvPr/>
        </p:nvSpPr>
        <p:spPr>
          <a:xfrm>
            <a:off x="8924544" y="5431536"/>
            <a:ext cx="2651760" cy="201168"/>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截至 2026 年 10 月 7 日</a:t>
            </a:r>
          </a:p>
        </p:txBody>
      </p:sp>
      <p:sp>
        <p:nvSpPr>
          <p:cNvPr id="128" name="Rounded Rectangle 127">
            <a:hlinkClick r:id="rId118"/>
          </p:cNvPr>
          <p:cNvSpPr/>
          <p:nvPr/>
        </p:nvSpPr>
        <p:spPr>
          <a:xfrm>
            <a:off x="54864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9" name="TextBox 128">
            <a:hlinkClick r:id="rId138"/>
          </p:cNvPr>
          <p:cNvSpPr txBox="1"/>
          <p:nvPr/>
        </p:nvSpPr>
        <p:spPr>
          <a:xfrm>
            <a:off x="621792" y="5715000"/>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327CEC"/>
                </a:solidFill>
                <a:latin typeface="Noto Sans CJK SC"/>
                <a:ea typeface="Noto Sans CJK SC"/>
                <a:cs typeface="Noto Sans CJK SC"/>
              </a:rPr>
              <a:t>Native duplex 运行时 · #3907</a:t>
            </a:r>
          </a:p>
        </p:txBody>
      </p:sp>
      <p:sp>
        <p:nvSpPr>
          <p:cNvPr id="130" name="Rounded Rectangle 129">
            <a:hlinkClick r:id="rId119"/>
          </p:cNvPr>
          <p:cNvSpPr/>
          <p:nvPr/>
        </p:nvSpPr>
        <p:spPr>
          <a:xfrm>
            <a:off x="338328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1" name="TextBox 130">
            <a:hlinkClick r:id="rId139"/>
          </p:cNvPr>
          <p:cNvSpPr txBox="1"/>
          <p:nvPr/>
        </p:nvSpPr>
        <p:spPr>
          <a:xfrm>
            <a:off x="3456432" y="5715000"/>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327CEC"/>
                </a:solidFill>
                <a:latin typeface="Noto Sans CJK SC"/>
                <a:ea typeface="Noto Sans CJK SC"/>
                <a:cs typeface="Noto Sans CJK SC"/>
              </a:rPr>
              <a:t>Unified duplex 框架 · #7413</a:t>
            </a:r>
          </a:p>
        </p:txBody>
      </p:sp>
      <p:sp>
        <p:nvSpPr>
          <p:cNvPr id="132" name="Rounded Rectangle 131">
            <a:hlinkClick r:id="rId120"/>
          </p:cNvPr>
          <p:cNvSpPr/>
          <p:nvPr/>
        </p:nvSpPr>
        <p:spPr>
          <a:xfrm>
            <a:off x="621792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3" name="TextBox 132">
            <a:hlinkClick r:id="rId140"/>
          </p:cNvPr>
          <p:cNvSpPr txBox="1"/>
          <p:nvPr/>
        </p:nvSpPr>
        <p:spPr>
          <a:xfrm>
            <a:off x="629107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OpenAI Realtime API · #7285</a:t>
            </a:r>
          </a:p>
        </p:txBody>
      </p:sp>
      <p:sp>
        <p:nvSpPr>
          <p:cNvPr id="134" name="Rounded Rectangle 133">
            <a:hlinkClick r:id="rId127"/>
          </p:cNvPr>
          <p:cNvSpPr/>
          <p:nvPr/>
        </p:nvSpPr>
        <p:spPr>
          <a:xfrm>
            <a:off x="905256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5" name="TextBox 134">
            <a:hlinkClick r:id="rId141"/>
          </p:cNvPr>
          <p:cNvSpPr txBox="1"/>
          <p:nvPr/>
        </p:nvSpPr>
        <p:spPr>
          <a:xfrm>
            <a:off x="9125712" y="5715000"/>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327CEC"/>
                </a:solidFill>
                <a:latin typeface="Noto Sans CJK SC"/>
                <a:ea typeface="Noto Sans CJK SC"/>
                <a:cs typeface="Noto Sans CJK SC"/>
              </a:rPr>
              <a:t>Qwen3-Omni 接入 · #7585</a:t>
            </a:r>
          </a:p>
        </p:txBody>
      </p:sp>
      <p:sp>
        <p:nvSpPr>
          <p:cNvPr id="136" name="Rounded Rectangle 135">
            <a:hlinkClick r:id="rId122"/>
          </p:cNvPr>
          <p:cNvSpPr/>
          <p:nvPr/>
        </p:nvSpPr>
        <p:spPr>
          <a:xfrm>
            <a:off x="54864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7" name="TextBox 136">
            <a:hlinkClick r:id="rId142"/>
          </p:cNvPr>
          <p:cNvSpPr txBox="1"/>
          <p:nvPr/>
        </p:nvSpPr>
        <p:spPr>
          <a:xfrm>
            <a:off x="62179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PersonaPlex unified duplex · #7695</a:t>
            </a:r>
          </a:p>
        </p:txBody>
      </p:sp>
      <p:sp>
        <p:nvSpPr>
          <p:cNvPr id="138" name="Rounded Rectangle 137">
            <a:hlinkClick r:id="rId123"/>
          </p:cNvPr>
          <p:cNvSpPr/>
          <p:nvPr/>
        </p:nvSpPr>
        <p:spPr>
          <a:xfrm>
            <a:off x="338328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9" name="TextBox 138">
            <a:hlinkClick r:id="rId143"/>
          </p:cNvPr>
          <p:cNvSpPr txBox="1"/>
          <p:nvPr/>
        </p:nvSpPr>
        <p:spPr>
          <a:xfrm>
            <a:off x="345643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Nemotron VoiceChat · #6089</a:t>
            </a:r>
          </a:p>
        </p:txBody>
      </p:sp>
      <p:sp>
        <p:nvSpPr>
          <p:cNvPr id="140" name="Rounded Rectangle 139">
            <a:hlinkClick r:id="rId124"/>
          </p:cNvPr>
          <p:cNvSpPr/>
          <p:nvPr/>
        </p:nvSpPr>
        <p:spPr>
          <a:xfrm>
            <a:off x="621792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1" name="TextBox 140">
            <a:hlinkClick r:id="rId144"/>
          </p:cNvPr>
          <p:cNvSpPr txBox="1"/>
          <p:nvPr/>
        </p:nvSpPr>
        <p:spPr>
          <a:xfrm>
            <a:off x="6291072" y="6071616"/>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008E96"/>
                </a:solidFill>
                <a:latin typeface="Noto Sans CJK SC"/>
                <a:ea typeface="Noto Sans CJK SC"/>
                <a:cs typeface="Noto Sans CJK SC"/>
              </a:rPr>
              <a:t>AURA 接入 · #7633</a:t>
            </a:r>
          </a:p>
        </p:txBody>
      </p:sp>
      <p:sp>
        <p:nvSpPr>
          <p:cNvPr id="142" name="Rounded Rectangle 141">
            <a:hlinkClick r:id="rId125"/>
          </p:cNvPr>
          <p:cNvSpPr/>
          <p:nvPr/>
        </p:nvSpPr>
        <p:spPr>
          <a:xfrm>
            <a:off x="905256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3" name="TextBox 142">
            <a:hlinkClick r:id="rId145"/>
          </p:cNvPr>
          <p:cNvSpPr txBox="1"/>
          <p:nvPr/>
        </p:nvSpPr>
        <p:spPr>
          <a:xfrm>
            <a:off x="9125712" y="6071616"/>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008E96"/>
                </a:solidFill>
                <a:latin typeface="Noto Sans CJK SC"/>
                <a:ea typeface="Noto Sans CJK SC"/>
                <a:cs typeface="Noto Sans CJK SC"/>
              </a:rPr>
              <a:t>有界输出传输 · #7644</a:t>
            </a:r>
          </a:p>
        </p:txBody>
      </p:sp>
      <p:pic>
        <p:nvPicPr>
          <p:cNvPr id="500" name="Contributor @0xtoward" descr="0xtoward; merged PR author/coauthor">
            <a:hlinkClick r:id="rId5"/>
          </p:cNvPr>
          <p:cNvPicPr>
            <a:picLocks noChangeAspect="1"/>
          </p:cNvPicPr>
          <p:nvPr/>
        </p:nvPicPr>
        <p:blipFill>
          <a:blip r:embed="rId4"/>
          <a:stretch>
            <a:fillRect/>
          </a:stretch>
        </p:blipFill>
        <p:spPr>
          <a:xfrm>
            <a:off x="869511" y="2057400"/>
            <a:ext cx="365760" cy="365760"/>
          </a:xfrm>
          <a:prstGeom prst="ellipse">
            <a:avLst/>
          </a:prstGeom>
        </p:spPr>
      </p:pic>
      <p:sp>
        <p:nvSpPr>
          <p:cNvPr id="501" name="Contributor label @0xtoward">
            <a:hlinkClick r:id="rId5"/>
          </p:cNvPr>
          <p:cNvSpPr txBox="1"/>
          <p:nvPr/>
        </p:nvSpPr>
        <p:spPr>
          <a:xfrm>
            <a:off x="54864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0xtoward</a:t>
            </a:r>
          </a:p>
        </p:txBody>
      </p:sp>
      <p:pic>
        <p:nvPicPr>
          <p:cNvPr id="502" name="Contributor @0z5a" descr="0z5a; merged PR author/coauthor">
            <a:hlinkClick r:id="rId7"/>
          </p:cNvPr>
          <p:cNvPicPr>
            <a:picLocks noChangeAspect="1"/>
          </p:cNvPicPr>
          <p:nvPr/>
        </p:nvPicPr>
        <p:blipFill>
          <a:blip r:embed="rId6"/>
          <a:stretch>
            <a:fillRect/>
          </a:stretch>
        </p:blipFill>
        <p:spPr>
          <a:xfrm>
            <a:off x="1877014" y="2057400"/>
            <a:ext cx="365760" cy="365760"/>
          </a:xfrm>
          <a:prstGeom prst="ellipse">
            <a:avLst/>
          </a:prstGeom>
        </p:spPr>
      </p:pic>
      <p:sp>
        <p:nvSpPr>
          <p:cNvPr id="503" name="Contributor label @0z5a">
            <a:hlinkClick r:id="rId7"/>
          </p:cNvPr>
          <p:cNvSpPr txBox="1"/>
          <p:nvPr/>
        </p:nvSpPr>
        <p:spPr>
          <a:xfrm>
            <a:off x="155614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0z5a</a:t>
            </a:r>
          </a:p>
        </p:txBody>
      </p:sp>
      <p:pic>
        <p:nvPicPr>
          <p:cNvPr id="504" name="Contributor @AbelSara" descr="AbelSara; merged PR author/coauthor">
            <a:hlinkClick r:id="rId9"/>
          </p:cNvPr>
          <p:cNvPicPr>
            <a:picLocks noChangeAspect="1"/>
          </p:cNvPicPr>
          <p:nvPr/>
        </p:nvPicPr>
        <p:blipFill>
          <a:blip r:embed="rId8"/>
          <a:stretch>
            <a:fillRect/>
          </a:stretch>
        </p:blipFill>
        <p:spPr>
          <a:xfrm>
            <a:off x="2884516" y="2057400"/>
            <a:ext cx="365760" cy="365760"/>
          </a:xfrm>
          <a:prstGeom prst="ellipse">
            <a:avLst/>
          </a:prstGeom>
        </p:spPr>
      </p:pic>
      <p:sp>
        <p:nvSpPr>
          <p:cNvPr id="505" name="Contributor label @AbelSara">
            <a:hlinkClick r:id="rId9"/>
          </p:cNvPr>
          <p:cNvSpPr txBox="1"/>
          <p:nvPr/>
        </p:nvSpPr>
        <p:spPr>
          <a:xfrm>
            <a:off x="256364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AbelSara</a:t>
            </a:r>
          </a:p>
        </p:txBody>
      </p:sp>
      <p:pic>
        <p:nvPicPr>
          <p:cNvPr id="506" name="Contributor @akshatvishu" descr="akshatvishu; merged PR author/coauthor">
            <a:hlinkClick r:id="rId11"/>
          </p:cNvPr>
          <p:cNvPicPr>
            <a:picLocks noChangeAspect="1"/>
          </p:cNvPicPr>
          <p:nvPr/>
        </p:nvPicPr>
        <p:blipFill>
          <a:blip r:embed="rId10"/>
          <a:stretch>
            <a:fillRect/>
          </a:stretch>
        </p:blipFill>
        <p:spPr>
          <a:xfrm>
            <a:off x="3892019" y="2057400"/>
            <a:ext cx="365760" cy="365760"/>
          </a:xfrm>
          <a:prstGeom prst="ellipse">
            <a:avLst/>
          </a:prstGeom>
        </p:spPr>
      </p:pic>
      <p:sp>
        <p:nvSpPr>
          <p:cNvPr id="507" name="Contributor label @akshatvishu">
            <a:hlinkClick r:id="rId11"/>
          </p:cNvPr>
          <p:cNvSpPr txBox="1"/>
          <p:nvPr/>
        </p:nvSpPr>
        <p:spPr>
          <a:xfrm>
            <a:off x="357114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akshatvishu</a:t>
            </a:r>
          </a:p>
        </p:txBody>
      </p:sp>
      <p:pic>
        <p:nvPicPr>
          <p:cNvPr id="508" name="Contributor @amy-why-3459" descr="amy-why-3459; merged PR author/coauthor">
            <a:hlinkClick r:id="rId13"/>
          </p:cNvPr>
          <p:cNvPicPr>
            <a:picLocks noChangeAspect="1"/>
          </p:cNvPicPr>
          <p:nvPr/>
        </p:nvPicPr>
        <p:blipFill>
          <a:blip r:embed="rId12"/>
          <a:stretch>
            <a:fillRect/>
          </a:stretch>
        </p:blipFill>
        <p:spPr>
          <a:xfrm>
            <a:off x="4899521" y="2057400"/>
            <a:ext cx="365760" cy="365760"/>
          </a:xfrm>
          <a:prstGeom prst="ellipse">
            <a:avLst/>
          </a:prstGeom>
        </p:spPr>
      </p:pic>
      <p:sp>
        <p:nvSpPr>
          <p:cNvPr id="509" name="Contributor label @amy-why-3459">
            <a:hlinkClick r:id="rId13"/>
          </p:cNvPr>
          <p:cNvSpPr txBox="1"/>
          <p:nvPr/>
        </p:nvSpPr>
        <p:spPr>
          <a:xfrm>
            <a:off x="457865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amy-why-3459</a:t>
            </a:r>
          </a:p>
        </p:txBody>
      </p:sp>
      <p:pic>
        <p:nvPicPr>
          <p:cNvPr id="510" name="Contributor @andyluo7" descr="andyluo7; merged PR author/coauthor">
            <a:hlinkClick r:id="rId15"/>
          </p:cNvPr>
          <p:cNvPicPr>
            <a:picLocks noChangeAspect="1"/>
          </p:cNvPicPr>
          <p:nvPr/>
        </p:nvPicPr>
        <p:blipFill>
          <a:blip r:embed="rId14"/>
          <a:stretch>
            <a:fillRect/>
          </a:stretch>
        </p:blipFill>
        <p:spPr>
          <a:xfrm>
            <a:off x="5907024" y="2057400"/>
            <a:ext cx="365760" cy="365760"/>
          </a:xfrm>
          <a:prstGeom prst="ellipse">
            <a:avLst/>
          </a:prstGeom>
        </p:spPr>
      </p:pic>
      <p:sp>
        <p:nvSpPr>
          <p:cNvPr id="511" name="Contributor label @andyluo7">
            <a:hlinkClick r:id="rId15"/>
          </p:cNvPr>
          <p:cNvSpPr txBox="1"/>
          <p:nvPr/>
        </p:nvSpPr>
        <p:spPr>
          <a:xfrm>
            <a:off x="558615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andyluo7</a:t>
            </a:r>
          </a:p>
        </p:txBody>
      </p:sp>
      <p:pic>
        <p:nvPicPr>
          <p:cNvPr id="512" name="Contributor @anurag12-webster" descr="anurag12-webster; merged PR author/coauthor">
            <a:hlinkClick r:id="rId17"/>
          </p:cNvPr>
          <p:cNvPicPr>
            <a:picLocks noChangeAspect="1"/>
          </p:cNvPicPr>
          <p:nvPr/>
        </p:nvPicPr>
        <p:blipFill>
          <a:blip r:embed="rId16"/>
          <a:stretch>
            <a:fillRect/>
          </a:stretch>
        </p:blipFill>
        <p:spPr>
          <a:xfrm>
            <a:off x="6914527" y="2057400"/>
            <a:ext cx="365760" cy="365760"/>
          </a:xfrm>
          <a:prstGeom prst="ellipse">
            <a:avLst/>
          </a:prstGeom>
        </p:spPr>
      </p:pic>
      <p:sp>
        <p:nvSpPr>
          <p:cNvPr id="513" name="Contributor label @anurag12-webster">
            <a:hlinkClick r:id="rId17"/>
          </p:cNvPr>
          <p:cNvSpPr txBox="1"/>
          <p:nvPr/>
        </p:nvSpPr>
        <p:spPr>
          <a:xfrm>
            <a:off x="659365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anurag12-webster</a:t>
            </a:r>
          </a:p>
        </p:txBody>
      </p:sp>
      <p:pic>
        <p:nvPicPr>
          <p:cNvPr id="514" name="Contributor @BeatSeat" descr="BeatSeat; merged PR author/coauthor">
            <a:hlinkClick r:id="rId19"/>
          </p:cNvPr>
          <p:cNvPicPr>
            <a:picLocks noChangeAspect="1"/>
          </p:cNvPicPr>
          <p:nvPr/>
        </p:nvPicPr>
        <p:blipFill>
          <a:blip r:embed="rId18"/>
          <a:stretch>
            <a:fillRect/>
          </a:stretch>
        </p:blipFill>
        <p:spPr>
          <a:xfrm>
            <a:off x="7922029" y="2057400"/>
            <a:ext cx="365760" cy="365760"/>
          </a:xfrm>
          <a:prstGeom prst="ellipse">
            <a:avLst/>
          </a:prstGeom>
        </p:spPr>
      </p:pic>
      <p:sp>
        <p:nvSpPr>
          <p:cNvPr id="515" name="Contributor label @BeatSeat">
            <a:hlinkClick r:id="rId19"/>
          </p:cNvPr>
          <p:cNvSpPr txBox="1"/>
          <p:nvPr/>
        </p:nvSpPr>
        <p:spPr>
          <a:xfrm>
            <a:off x="760115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BeatSeat</a:t>
            </a:r>
          </a:p>
        </p:txBody>
      </p:sp>
      <p:pic>
        <p:nvPicPr>
          <p:cNvPr id="516" name="Contributor @BruceLoveDecimal" descr="BruceLoveDecimal; merged PR author/coauthor">
            <a:hlinkClick r:id="rId21"/>
          </p:cNvPr>
          <p:cNvPicPr>
            <a:picLocks noChangeAspect="1"/>
          </p:cNvPicPr>
          <p:nvPr/>
        </p:nvPicPr>
        <p:blipFill>
          <a:blip r:embed="rId20"/>
          <a:stretch>
            <a:fillRect/>
          </a:stretch>
        </p:blipFill>
        <p:spPr>
          <a:xfrm>
            <a:off x="8929532" y="2057400"/>
            <a:ext cx="365760" cy="365760"/>
          </a:xfrm>
          <a:prstGeom prst="ellipse">
            <a:avLst/>
          </a:prstGeom>
        </p:spPr>
      </p:pic>
      <p:sp>
        <p:nvSpPr>
          <p:cNvPr id="517" name="Contributor label @BruceLoveDecimal">
            <a:hlinkClick r:id="rId21"/>
          </p:cNvPr>
          <p:cNvSpPr txBox="1"/>
          <p:nvPr/>
        </p:nvSpPr>
        <p:spPr>
          <a:xfrm>
            <a:off x="860866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BruceLoveDecimal</a:t>
            </a:r>
          </a:p>
        </p:txBody>
      </p:sp>
      <p:pic>
        <p:nvPicPr>
          <p:cNvPr id="518" name="Contributor @CarrotSwordsman" descr="CarrotSwordsman; merged PR author/coauthor">
            <a:hlinkClick r:id="rId23"/>
          </p:cNvPr>
          <p:cNvPicPr>
            <a:picLocks noChangeAspect="1"/>
          </p:cNvPicPr>
          <p:nvPr/>
        </p:nvPicPr>
        <p:blipFill>
          <a:blip r:embed="rId22"/>
          <a:stretch>
            <a:fillRect/>
          </a:stretch>
        </p:blipFill>
        <p:spPr>
          <a:xfrm>
            <a:off x="9937034" y="2057400"/>
            <a:ext cx="365760" cy="365760"/>
          </a:xfrm>
          <a:prstGeom prst="ellipse">
            <a:avLst/>
          </a:prstGeom>
        </p:spPr>
      </p:pic>
      <p:sp>
        <p:nvSpPr>
          <p:cNvPr id="519" name="Contributor label @CarrotSwordsman">
            <a:hlinkClick r:id="rId23"/>
          </p:cNvPr>
          <p:cNvSpPr txBox="1"/>
          <p:nvPr/>
        </p:nvSpPr>
        <p:spPr>
          <a:xfrm>
            <a:off x="961616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CarrotSwordsman</a:t>
            </a:r>
          </a:p>
        </p:txBody>
      </p:sp>
      <p:pic>
        <p:nvPicPr>
          <p:cNvPr id="520" name="Contributor @chickeyton" descr="chickeyton; merged PR author/coauthor">
            <a:hlinkClick r:id="rId25"/>
          </p:cNvPr>
          <p:cNvPicPr>
            <a:picLocks noChangeAspect="1"/>
          </p:cNvPicPr>
          <p:nvPr/>
        </p:nvPicPr>
        <p:blipFill>
          <a:blip r:embed="rId24"/>
          <a:stretch>
            <a:fillRect/>
          </a:stretch>
        </p:blipFill>
        <p:spPr>
          <a:xfrm>
            <a:off x="10944537" y="2057400"/>
            <a:ext cx="365760" cy="365760"/>
          </a:xfrm>
          <a:prstGeom prst="ellipse">
            <a:avLst/>
          </a:prstGeom>
        </p:spPr>
      </p:pic>
      <p:sp>
        <p:nvSpPr>
          <p:cNvPr id="521" name="Contributor label @chickeyton">
            <a:hlinkClick r:id="rId25"/>
          </p:cNvPr>
          <p:cNvSpPr txBox="1"/>
          <p:nvPr/>
        </p:nvSpPr>
        <p:spPr>
          <a:xfrm>
            <a:off x="1062366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chickeyton</a:t>
            </a:r>
          </a:p>
        </p:txBody>
      </p:sp>
      <p:pic>
        <p:nvPicPr>
          <p:cNvPr id="522" name="Contributor @congw729" descr="congw729; merged PR author/coauthor">
            <a:hlinkClick r:id="rId27"/>
          </p:cNvPr>
          <p:cNvPicPr>
            <a:picLocks noChangeAspect="1"/>
          </p:cNvPicPr>
          <p:nvPr/>
        </p:nvPicPr>
        <p:blipFill>
          <a:blip r:embed="rId26"/>
          <a:stretch>
            <a:fillRect/>
          </a:stretch>
        </p:blipFill>
        <p:spPr>
          <a:xfrm>
            <a:off x="869511" y="2606040"/>
            <a:ext cx="365760" cy="365760"/>
          </a:xfrm>
          <a:prstGeom prst="ellipse">
            <a:avLst/>
          </a:prstGeom>
        </p:spPr>
      </p:pic>
      <p:sp>
        <p:nvSpPr>
          <p:cNvPr id="523" name="Contributor label @congw729">
            <a:hlinkClick r:id="rId27"/>
          </p:cNvPr>
          <p:cNvSpPr txBox="1"/>
          <p:nvPr/>
        </p:nvSpPr>
        <p:spPr>
          <a:xfrm>
            <a:off x="54864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congw729</a:t>
            </a:r>
          </a:p>
        </p:txBody>
      </p:sp>
      <p:pic>
        <p:nvPicPr>
          <p:cNvPr id="524" name="Contributor @dshah1333" descr="dshah1333; merged PR author/coauthor">
            <a:hlinkClick r:id="rId29"/>
          </p:cNvPr>
          <p:cNvPicPr>
            <a:picLocks noChangeAspect="1"/>
          </p:cNvPicPr>
          <p:nvPr/>
        </p:nvPicPr>
        <p:blipFill>
          <a:blip r:embed="rId28"/>
          <a:stretch>
            <a:fillRect/>
          </a:stretch>
        </p:blipFill>
        <p:spPr>
          <a:xfrm>
            <a:off x="1877014" y="2606040"/>
            <a:ext cx="365760" cy="365760"/>
          </a:xfrm>
          <a:prstGeom prst="ellipse">
            <a:avLst/>
          </a:prstGeom>
        </p:spPr>
      </p:pic>
      <p:sp>
        <p:nvSpPr>
          <p:cNvPr id="525" name="Contributor label @dshah1333">
            <a:hlinkClick r:id="rId29"/>
          </p:cNvPr>
          <p:cNvSpPr txBox="1"/>
          <p:nvPr/>
        </p:nvSpPr>
        <p:spPr>
          <a:xfrm>
            <a:off x="155614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dshah1333</a:t>
            </a:r>
          </a:p>
        </p:txBody>
      </p:sp>
      <p:pic>
        <p:nvPicPr>
          <p:cNvPr id="526" name="Contributor @eval-dev" descr="eval-dev; merged PR author/coauthor">
            <a:hlinkClick r:id="rId31"/>
          </p:cNvPr>
          <p:cNvPicPr>
            <a:picLocks noChangeAspect="1"/>
          </p:cNvPicPr>
          <p:nvPr/>
        </p:nvPicPr>
        <p:blipFill>
          <a:blip r:embed="rId30"/>
          <a:stretch>
            <a:fillRect/>
          </a:stretch>
        </p:blipFill>
        <p:spPr>
          <a:xfrm>
            <a:off x="2884516" y="2606040"/>
            <a:ext cx="365760" cy="365760"/>
          </a:xfrm>
          <a:prstGeom prst="ellipse">
            <a:avLst/>
          </a:prstGeom>
        </p:spPr>
      </p:pic>
      <p:sp>
        <p:nvSpPr>
          <p:cNvPr id="527" name="Contributor label @eval-dev">
            <a:hlinkClick r:id="rId31"/>
          </p:cNvPr>
          <p:cNvSpPr txBox="1"/>
          <p:nvPr/>
        </p:nvSpPr>
        <p:spPr>
          <a:xfrm>
            <a:off x="256364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eval-dev</a:t>
            </a:r>
          </a:p>
        </p:txBody>
      </p:sp>
      <p:pic>
        <p:nvPicPr>
          <p:cNvPr id="528" name="Contributor @FayeSpica" descr="FayeSpica; merged PR author/coauthor">
            <a:hlinkClick r:id="rId33"/>
          </p:cNvPr>
          <p:cNvPicPr>
            <a:picLocks noChangeAspect="1"/>
          </p:cNvPicPr>
          <p:nvPr/>
        </p:nvPicPr>
        <p:blipFill>
          <a:blip r:embed="rId32"/>
          <a:stretch>
            <a:fillRect/>
          </a:stretch>
        </p:blipFill>
        <p:spPr>
          <a:xfrm>
            <a:off x="3892019" y="2606040"/>
            <a:ext cx="365760" cy="365760"/>
          </a:xfrm>
          <a:prstGeom prst="ellipse">
            <a:avLst/>
          </a:prstGeom>
        </p:spPr>
      </p:pic>
      <p:sp>
        <p:nvSpPr>
          <p:cNvPr id="529" name="Contributor label @FayeSpica">
            <a:hlinkClick r:id="rId33"/>
          </p:cNvPr>
          <p:cNvSpPr txBox="1"/>
          <p:nvPr/>
        </p:nvSpPr>
        <p:spPr>
          <a:xfrm>
            <a:off x="357114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FayeSpica</a:t>
            </a:r>
          </a:p>
        </p:txBody>
      </p:sp>
      <p:pic>
        <p:nvPicPr>
          <p:cNvPr id="530" name="Contributor @frank-2077" descr="frank-2077; merged PR author/coauthor">
            <a:hlinkClick r:id="rId35"/>
          </p:cNvPr>
          <p:cNvPicPr>
            <a:picLocks noChangeAspect="1"/>
          </p:cNvPicPr>
          <p:nvPr/>
        </p:nvPicPr>
        <p:blipFill>
          <a:blip r:embed="rId34"/>
          <a:stretch>
            <a:fillRect/>
          </a:stretch>
        </p:blipFill>
        <p:spPr>
          <a:xfrm>
            <a:off x="4899521" y="2606040"/>
            <a:ext cx="365760" cy="365760"/>
          </a:xfrm>
          <a:prstGeom prst="ellipse">
            <a:avLst/>
          </a:prstGeom>
        </p:spPr>
      </p:pic>
      <p:sp>
        <p:nvSpPr>
          <p:cNvPr id="531" name="Contributor label @frank-2077">
            <a:hlinkClick r:id="rId35"/>
          </p:cNvPr>
          <p:cNvSpPr txBox="1"/>
          <p:nvPr/>
        </p:nvSpPr>
        <p:spPr>
          <a:xfrm>
            <a:off x="457865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frank-2077</a:t>
            </a:r>
          </a:p>
        </p:txBody>
      </p:sp>
      <p:pic>
        <p:nvPicPr>
          <p:cNvPr id="532" name="Contributor @Fyrgo8" descr="Fyrgo8; merged PR author/coauthor">
            <a:hlinkClick r:id="rId37"/>
          </p:cNvPr>
          <p:cNvPicPr>
            <a:picLocks noChangeAspect="1"/>
          </p:cNvPicPr>
          <p:nvPr/>
        </p:nvPicPr>
        <p:blipFill>
          <a:blip r:embed="rId36"/>
          <a:stretch>
            <a:fillRect/>
          </a:stretch>
        </p:blipFill>
        <p:spPr>
          <a:xfrm>
            <a:off x="5907024" y="2606040"/>
            <a:ext cx="365760" cy="365760"/>
          </a:xfrm>
          <a:prstGeom prst="ellipse">
            <a:avLst/>
          </a:prstGeom>
        </p:spPr>
      </p:pic>
      <p:sp>
        <p:nvSpPr>
          <p:cNvPr id="533" name="Contributor label @Fyrgo8">
            <a:hlinkClick r:id="rId37"/>
          </p:cNvPr>
          <p:cNvSpPr txBox="1"/>
          <p:nvPr/>
        </p:nvSpPr>
        <p:spPr>
          <a:xfrm>
            <a:off x="558615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Fyrgo8</a:t>
            </a:r>
          </a:p>
        </p:txBody>
      </p:sp>
      <p:pic>
        <p:nvPicPr>
          <p:cNvPr id="534" name="Contributor @Gaohan123" descr="Gaohan123; merged PR author/coauthor">
            <a:hlinkClick r:id="rId39"/>
          </p:cNvPr>
          <p:cNvPicPr>
            <a:picLocks noChangeAspect="1"/>
          </p:cNvPicPr>
          <p:nvPr/>
        </p:nvPicPr>
        <p:blipFill>
          <a:blip r:embed="rId38"/>
          <a:stretch>
            <a:fillRect/>
          </a:stretch>
        </p:blipFill>
        <p:spPr>
          <a:xfrm>
            <a:off x="6914527" y="2606040"/>
            <a:ext cx="365760" cy="365760"/>
          </a:xfrm>
          <a:prstGeom prst="ellipse">
            <a:avLst/>
          </a:prstGeom>
        </p:spPr>
      </p:pic>
      <p:sp>
        <p:nvSpPr>
          <p:cNvPr id="535" name="Contributor label @Gaohan123">
            <a:hlinkClick r:id="rId39"/>
          </p:cNvPr>
          <p:cNvSpPr txBox="1"/>
          <p:nvPr/>
        </p:nvSpPr>
        <p:spPr>
          <a:xfrm>
            <a:off x="659365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Gaohan123</a:t>
            </a:r>
          </a:p>
        </p:txBody>
      </p:sp>
      <p:pic>
        <p:nvPicPr>
          <p:cNvPr id="536" name="Contributor @GKangaroo" descr="GKangaroo; merged PR author/coauthor">
            <a:hlinkClick r:id="rId41"/>
          </p:cNvPr>
          <p:cNvPicPr>
            <a:picLocks noChangeAspect="1"/>
          </p:cNvPicPr>
          <p:nvPr/>
        </p:nvPicPr>
        <p:blipFill>
          <a:blip r:embed="rId40"/>
          <a:stretch>
            <a:fillRect/>
          </a:stretch>
        </p:blipFill>
        <p:spPr>
          <a:xfrm>
            <a:off x="7922029" y="2606040"/>
            <a:ext cx="365760" cy="365760"/>
          </a:xfrm>
          <a:prstGeom prst="ellipse">
            <a:avLst/>
          </a:prstGeom>
        </p:spPr>
      </p:pic>
      <p:sp>
        <p:nvSpPr>
          <p:cNvPr id="537" name="Contributor label @GKangaroo">
            <a:hlinkClick r:id="rId41"/>
          </p:cNvPr>
          <p:cNvSpPr txBox="1"/>
          <p:nvPr/>
        </p:nvSpPr>
        <p:spPr>
          <a:xfrm>
            <a:off x="760115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GKangaroo</a:t>
            </a:r>
          </a:p>
        </p:txBody>
      </p:sp>
      <p:pic>
        <p:nvPicPr>
          <p:cNvPr id="538" name="Contributor @guanzheh" descr="guanzheh; merged PR author/coauthor">
            <a:hlinkClick r:id="rId43"/>
          </p:cNvPr>
          <p:cNvPicPr>
            <a:picLocks noChangeAspect="1"/>
          </p:cNvPicPr>
          <p:nvPr/>
        </p:nvPicPr>
        <p:blipFill>
          <a:blip r:embed="rId42"/>
          <a:stretch>
            <a:fillRect/>
          </a:stretch>
        </p:blipFill>
        <p:spPr>
          <a:xfrm>
            <a:off x="8929532" y="2606040"/>
            <a:ext cx="365760" cy="365760"/>
          </a:xfrm>
          <a:prstGeom prst="ellipse">
            <a:avLst/>
          </a:prstGeom>
        </p:spPr>
      </p:pic>
      <p:sp>
        <p:nvSpPr>
          <p:cNvPr id="539" name="Contributor label @guanzheh">
            <a:hlinkClick r:id="rId43"/>
          </p:cNvPr>
          <p:cNvSpPr txBox="1"/>
          <p:nvPr/>
        </p:nvSpPr>
        <p:spPr>
          <a:xfrm>
            <a:off x="860866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guanzheh</a:t>
            </a:r>
          </a:p>
        </p:txBody>
      </p:sp>
      <p:pic>
        <p:nvPicPr>
          <p:cNvPr id="540" name="Contributor @herotai214" descr="herotai214; merged PR author/coauthor">
            <a:hlinkClick r:id="rId45"/>
          </p:cNvPr>
          <p:cNvPicPr>
            <a:picLocks noChangeAspect="1"/>
          </p:cNvPicPr>
          <p:nvPr/>
        </p:nvPicPr>
        <p:blipFill>
          <a:blip r:embed="rId44"/>
          <a:stretch>
            <a:fillRect/>
          </a:stretch>
        </p:blipFill>
        <p:spPr>
          <a:xfrm>
            <a:off x="9937034" y="2606040"/>
            <a:ext cx="365760" cy="365760"/>
          </a:xfrm>
          <a:prstGeom prst="ellipse">
            <a:avLst/>
          </a:prstGeom>
        </p:spPr>
      </p:pic>
      <p:sp>
        <p:nvSpPr>
          <p:cNvPr id="541" name="Contributor label @herotai214">
            <a:hlinkClick r:id="rId45"/>
          </p:cNvPr>
          <p:cNvSpPr txBox="1"/>
          <p:nvPr/>
        </p:nvSpPr>
        <p:spPr>
          <a:xfrm>
            <a:off x="961616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herotai214</a:t>
            </a:r>
          </a:p>
        </p:txBody>
      </p:sp>
      <p:pic>
        <p:nvPicPr>
          <p:cNvPr id="542" name="Contributor @Hiro208" descr="Hiro208; merged PR author/coauthor">
            <a:hlinkClick r:id="rId47"/>
          </p:cNvPr>
          <p:cNvPicPr>
            <a:picLocks noChangeAspect="1"/>
          </p:cNvPicPr>
          <p:nvPr/>
        </p:nvPicPr>
        <p:blipFill>
          <a:blip r:embed="rId46"/>
          <a:stretch>
            <a:fillRect/>
          </a:stretch>
        </p:blipFill>
        <p:spPr>
          <a:xfrm>
            <a:off x="10944537" y="2606040"/>
            <a:ext cx="365760" cy="365760"/>
          </a:xfrm>
          <a:prstGeom prst="ellipse">
            <a:avLst/>
          </a:prstGeom>
        </p:spPr>
      </p:pic>
      <p:sp>
        <p:nvSpPr>
          <p:cNvPr id="543" name="Contributor label @Hiro208">
            <a:hlinkClick r:id="rId47"/>
          </p:cNvPr>
          <p:cNvSpPr txBox="1"/>
          <p:nvPr/>
        </p:nvSpPr>
        <p:spPr>
          <a:xfrm>
            <a:off x="1062366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Hiro208</a:t>
            </a:r>
          </a:p>
        </p:txBody>
      </p:sp>
      <p:pic>
        <p:nvPicPr>
          <p:cNvPr id="544" name="Contributor @hsliuustc0106" descr="hsliuustc0106; merged PR author/coauthor">
            <a:hlinkClick r:id="rId49"/>
          </p:cNvPr>
          <p:cNvPicPr>
            <a:picLocks noChangeAspect="1"/>
          </p:cNvPicPr>
          <p:nvPr/>
        </p:nvPicPr>
        <p:blipFill>
          <a:blip r:embed="rId48"/>
          <a:stretch>
            <a:fillRect/>
          </a:stretch>
        </p:blipFill>
        <p:spPr>
          <a:xfrm>
            <a:off x="869511" y="3154680"/>
            <a:ext cx="365760" cy="365760"/>
          </a:xfrm>
          <a:prstGeom prst="ellipse">
            <a:avLst/>
          </a:prstGeom>
        </p:spPr>
      </p:pic>
      <p:sp>
        <p:nvSpPr>
          <p:cNvPr id="545" name="Contributor label @hsliuustc0106">
            <a:hlinkClick r:id="rId49"/>
          </p:cNvPr>
          <p:cNvSpPr txBox="1"/>
          <p:nvPr/>
        </p:nvSpPr>
        <p:spPr>
          <a:xfrm>
            <a:off x="54864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hsliuustc0106</a:t>
            </a:r>
          </a:p>
        </p:txBody>
      </p:sp>
      <p:pic>
        <p:nvPicPr>
          <p:cNvPr id="546" name="Contributor @HyperbolicCr" descr="HyperbolicCr; merged PR author/coauthor">
            <a:hlinkClick r:id="rId129"/>
          </p:cNvPr>
          <p:cNvPicPr>
            <a:picLocks noChangeAspect="1"/>
          </p:cNvPicPr>
          <p:nvPr/>
        </p:nvPicPr>
        <p:blipFill>
          <a:blip r:embed="rId128"/>
          <a:stretch>
            <a:fillRect/>
          </a:stretch>
        </p:blipFill>
        <p:spPr>
          <a:xfrm>
            <a:off x="1877014" y="3154680"/>
            <a:ext cx="365760" cy="365760"/>
          </a:xfrm>
          <a:prstGeom prst="ellipse">
            <a:avLst/>
          </a:prstGeom>
        </p:spPr>
      </p:pic>
      <p:sp>
        <p:nvSpPr>
          <p:cNvPr id="547" name="Contributor label @HyperbolicCr">
            <a:hlinkClick r:id="rId129"/>
          </p:cNvPr>
          <p:cNvSpPr txBox="1"/>
          <p:nvPr/>
        </p:nvSpPr>
        <p:spPr>
          <a:xfrm>
            <a:off x="155614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HyperbolicCr</a:t>
            </a:r>
          </a:p>
        </p:txBody>
      </p:sp>
      <p:pic>
        <p:nvPicPr>
          <p:cNvPr id="548" name="Contributor @IneshReddy249" descr="IneshReddy249; merged PR author/coauthor">
            <a:hlinkClick r:id="rId51"/>
          </p:cNvPr>
          <p:cNvPicPr>
            <a:picLocks noChangeAspect="1"/>
          </p:cNvPicPr>
          <p:nvPr/>
        </p:nvPicPr>
        <p:blipFill>
          <a:blip r:embed="rId50"/>
          <a:stretch>
            <a:fillRect/>
          </a:stretch>
        </p:blipFill>
        <p:spPr>
          <a:xfrm>
            <a:off x="2884516" y="3154680"/>
            <a:ext cx="365760" cy="365760"/>
          </a:xfrm>
          <a:prstGeom prst="ellipse">
            <a:avLst/>
          </a:prstGeom>
        </p:spPr>
      </p:pic>
      <p:sp>
        <p:nvSpPr>
          <p:cNvPr id="549" name="Contributor label @IneshReddy249">
            <a:hlinkClick r:id="rId51"/>
          </p:cNvPr>
          <p:cNvSpPr txBox="1"/>
          <p:nvPr/>
        </p:nvSpPr>
        <p:spPr>
          <a:xfrm>
            <a:off x="256364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IneshReddy249</a:t>
            </a:r>
          </a:p>
        </p:txBody>
      </p:sp>
      <p:pic>
        <p:nvPicPr>
          <p:cNvPr id="550" name="Contributor @LHXuuu" descr="LHXuuu; merged PR author/coauthor">
            <a:hlinkClick r:id="rId53"/>
          </p:cNvPr>
          <p:cNvPicPr>
            <a:picLocks noChangeAspect="1"/>
          </p:cNvPicPr>
          <p:nvPr/>
        </p:nvPicPr>
        <p:blipFill>
          <a:blip r:embed="rId52"/>
          <a:stretch>
            <a:fillRect/>
          </a:stretch>
        </p:blipFill>
        <p:spPr>
          <a:xfrm>
            <a:off x="3892019" y="3154680"/>
            <a:ext cx="365760" cy="365760"/>
          </a:xfrm>
          <a:prstGeom prst="ellipse">
            <a:avLst/>
          </a:prstGeom>
        </p:spPr>
      </p:pic>
      <p:sp>
        <p:nvSpPr>
          <p:cNvPr id="551" name="Contributor label @LHXuuu">
            <a:hlinkClick r:id="rId53"/>
          </p:cNvPr>
          <p:cNvSpPr txBox="1"/>
          <p:nvPr/>
        </p:nvSpPr>
        <p:spPr>
          <a:xfrm>
            <a:off x="357114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LHXuuu</a:t>
            </a:r>
          </a:p>
        </p:txBody>
      </p:sp>
      <p:pic>
        <p:nvPicPr>
          <p:cNvPr id="552" name="Contributor @linyueqian" descr="linyueqian; merged PR author/coauthor">
            <a:hlinkClick r:id="rId55"/>
          </p:cNvPr>
          <p:cNvPicPr>
            <a:picLocks noChangeAspect="1"/>
          </p:cNvPicPr>
          <p:nvPr/>
        </p:nvPicPr>
        <p:blipFill>
          <a:blip r:embed="rId54"/>
          <a:stretch>
            <a:fillRect/>
          </a:stretch>
        </p:blipFill>
        <p:spPr>
          <a:xfrm>
            <a:off x="4899521" y="3154680"/>
            <a:ext cx="365760" cy="365760"/>
          </a:xfrm>
          <a:prstGeom prst="ellipse">
            <a:avLst/>
          </a:prstGeom>
        </p:spPr>
      </p:pic>
      <p:sp>
        <p:nvSpPr>
          <p:cNvPr id="553" name="Contributor label @linyueqian">
            <a:hlinkClick r:id="rId55"/>
          </p:cNvPr>
          <p:cNvSpPr txBox="1"/>
          <p:nvPr/>
        </p:nvSpPr>
        <p:spPr>
          <a:xfrm>
            <a:off x="457865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linyueqian</a:t>
            </a:r>
          </a:p>
        </p:txBody>
      </p:sp>
      <p:pic>
        <p:nvPicPr>
          <p:cNvPr id="554" name="Contributor @LinzeShi" descr="LinzeShi; merged PR author/coauthor">
            <a:hlinkClick r:id="rId131"/>
          </p:cNvPr>
          <p:cNvPicPr>
            <a:picLocks noChangeAspect="1"/>
          </p:cNvPicPr>
          <p:nvPr/>
        </p:nvPicPr>
        <p:blipFill>
          <a:blip r:embed="rId130"/>
          <a:stretch>
            <a:fillRect/>
          </a:stretch>
        </p:blipFill>
        <p:spPr>
          <a:xfrm>
            <a:off x="5907024" y="3154680"/>
            <a:ext cx="365760" cy="365760"/>
          </a:xfrm>
          <a:prstGeom prst="ellipse">
            <a:avLst/>
          </a:prstGeom>
        </p:spPr>
      </p:pic>
      <p:sp>
        <p:nvSpPr>
          <p:cNvPr id="555" name="Contributor label @LinzeShi">
            <a:hlinkClick r:id="rId131"/>
          </p:cNvPr>
          <p:cNvSpPr txBox="1"/>
          <p:nvPr/>
        </p:nvSpPr>
        <p:spPr>
          <a:xfrm>
            <a:off x="558615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LinzeShi</a:t>
            </a:r>
          </a:p>
        </p:txBody>
      </p:sp>
      <p:pic>
        <p:nvPicPr>
          <p:cNvPr id="556" name="Contributor @lishunyang12" descr="lishunyang12; merged PR author/coauthor">
            <a:hlinkClick r:id="rId57"/>
          </p:cNvPr>
          <p:cNvPicPr>
            <a:picLocks noChangeAspect="1"/>
          </p:cNvPicPr>
          <p:nvPr/>
        </p:nvPicPr>
        <p:blipFill>
          <a:blip r:embed="rId56"/>
          <a:stretch>
            <a:fillRect/>
          </a:stretch>
        </p:blipFill>
        <p:spPr>
          <a:xfrm>
            <a:off x="6914527" y="3154680"/>
            <a:ext cx="365760" cy="365760"/>
          </a:xfrm>
          <a:prstGeom prst="ellipse">
            <a:avLst/>
          </a:prstGeom>
        </p:spPr>
      </p:pic>
      <p:sp>
        <p:nvSpPr>
          <p:cNvPr id="557" name="Contributor label @lishunyang12">
            <a:hlinkClick r:id="rId57"/>
          </p:cNvPr>
          <p:cNvSpPr txBox="1"/>
          <p:nvPr/>
        </p:nvSpPr>
        <p:spPr>
          <a:xfrm>
            <a:off x="659365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lishunyang12</a:t>
            </a:r>
          </a:p>
        </p:txBody>
      </p:sp>
      <p:pic>
        <p:nvPicPr>
          <p:cNvPr id="558" name="Contributor @LOGO127" descr="LOGO127; merged PR author/coauthor">
            <a:hlinkClick r:id="rId59"/>
          </p:cNvPr>
          <p:cNvPicPr>
            <a:picLocks noChangeAspect="1"/>
          </p:cNvPicPr>
          <p:nvPr/>
        </p:nvPicPr>
        <p:blipFill>
          <a:blip r:embed="rId58"/>
          <a:stretch>
            <a:fillRect/>
          </a:stretch>
        </p:blipFill>
        <p:spPr>
          <a:xfrm>
            <a:off x="7922029" y="3154680"/>
            <a:ext cx="365760" cy="365760"/>
          </a:xfrm>
          <a:prstGeom prst="ellipse">
            <a:avLst/>
          </a:prstGeom>
        </p:spPr>
      </p:pic>
      <p:sp>
        <p:nvSpPr>
          <p:cNvPr id="559" name="Contributor label @LOGO127">
            <a:hlinkClick r:id="rId59"/>
          </p:cNvPr>
          <p:cNvSpPr txBox="1"/>
          <p:nvPr/>
        </p:nvSpPr>
        <p:spPr>
          <a:xfrm>
            <a:off x="760115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LOGO127</a:t>
            </a:r>
          </a:p>
        </p:txBody>
      </p:sp>
      <p:pic>
        <p:nvPicPr>
          <p:cNvPr id="560" name="Contributor @m0g3r" descr="m0g3r; merged PR author/coauthor">
            <a:hlinkClick r:id="rId61"/>
          </p:cNvPr>
          <p:cNvPicPr>
            <a:picLocks noChangeAspect="1"/>
          </p:cNvPicPr>
          <p:nvPr/>
        </p:nvPicPr>
        <p:blipFill>
          <a:blip r:embed="rId60"/>
          <a:stretch>
            <a:fillRect/>
          </a:stretch>
        </p:blipFill>
        <p:spPr>
          <a:xfrm>
            <a:off x="8929532" y="3154680"/>
            <a:ext cx="365760" cy="365760"/>
          </a:xfrm>
          <a:prstGeom prst="ellipse">
            <a:avLst/>
          </a:prstGeom>
        </p:spPr>
      </p:pic>
      <p:sp>
        <p:nvSpPr>
          <p:cNvPr id="561" name="Contributor label @m0g3r">
            <a:hlinkClick r:id="rId61"/>
          </p:cNvPr>
          <p:cNvSpPr txBox="1"/>
          <p:nvPr/>
        </p:nvSpPr>
        <p:spPr>
          <a:xfrm>
            <a:off x="860866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m0g3r</a:t>
            </a:r>
          </a:p>
        </p:txBody>
      </p:sp>
      <p:pic>
        <p:nvPicPr>
          <p:cNvPr id="562" name="Contributor @MrDongsls" descr="MrDongsls; merged PR author/coauthor">
            <a:hlinkClick r:id="rId63"/>
          </p:cNvPr>
          <p:cNvPicPr>
            <a:picLocks noChangeAspect="1"/>
          </p:cNvPicPr>
          <p:nvPr/>
        </p:nvPicPr>
        <p:blipFill>
          <a:blip r:embed="rId62"/>
          <a:stretch>
            <a:fillRect/>
          </a:stretch>
        </p:blipFill>
        <p:spPr>
          <a:xfrm>
            <a:off x="9937034" y="3154680"/>
            <a:ext cx="365760" cy="365760"/>
          </a:xfrm>
          <a:prstGeom prst="ellipse">
            <a:avLst/>
          </a:prstGeom>
        </p:spPr>
      </p:pic>
      <p:sp>
        <p:nvSpPr>
          <p:cNvPr id="563" name="Contributor label @MrDongsls">
            <a:hlinkClick r:id="rId63"/>
          </p:cNvPr>
          <p:cNvSpPr txBox="1"/>
          <p:nvPr/>
        </p:nvSpPr>
        <p:spPr>
          <a:xfrm>
            <a:off x="961616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MrDongsls</a:t>
            </a:r>
          </a:p>
        </p:txBody>
      </p:sp>
      <p:pic>
        <p:nvPicPr>
          <p:cNvPr id="564" name="Contributor @natureofnature" descr="natureofnature; merged PR author/coauthor">
            <a:hlinkClick r:id="rId65"/>
          </p:cNvPr>
          <p:cNvPicPr>
            <a:picLocks noChangeAspect="1"/>
          </p:cNvPicPr>
          <p:nvPr/>
        </p:nvPicPr>
        <p:blipFill>
          <a:blip r:embed="rId64"/>
          <a:stretch>
            <a:fillRect/>
          </a:stretch>
        </p:blipFill>
        <p:spPr>
          <a:xfrm>
            <a:off x="10944537" y="3154680"/>
            <a:ext cx="365760" cy="365760"/>
          </a:xfrm>
          <a:prstGeom prst="ellipse">
            <a:avLst/>
          </a:prstGeom>
        </p:spPr>
      </p:pic>
      <p:sp>
        <p:nvSpPr>
          <p:cNvPr id="565" name="Contributor label @natureofnature">
            <a:hlinkClick r:id="rId65"/>
          </p:cNvPr>
          <p:cNvSpPr txBox="1"/>
          <p:nvPr/>
        </p:nvSpPr>
        <p:spPr>
          <a:xfrm>
            <a:off x="1062366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natureofnature</a:t>
            </a:r>
          </a:p>
        </p:txBody>
      </p:sp>
      <p:pic>
        <p:nvPicPr>
          <p:cNvPr id="566" name="Contributor @NickCao" descr="NickCao; merged PR author/coauthor">
            <a:hlinkClick r:id="rId67"/>
          </p:cNvPr>
          <p:cNvPicPr>
            <a:picLocks noChangeAspect="1"/>
          </p:cNvPicPr>
          <p:nvPr/>
        </p:nvPicPr>
        <p:blipFill>
          <a:blip r:embed="rId66"/>
          <a:stretch>
            <a:fillRect/>
          </a:stretch>
        </p:blipFill>
        <p:spPr>
          <a:xfrm>
            <a:off x="869511" y="3703320"/>
            <a:ext cx="365760" cy="365760"/>
          </a:xfrm>
          <a:prstGeom prst="ellipse">
            <a:avLst/>
          </a:prstGeom>
        </p:spPr>
      </p:pic>
      <p:sp>
        <p:nvSpPr>
          <p:cNvPr id="567" name="Contributor label @NickCao">
            <a:hlinkClick r:id="rId67"/>
          </p:cNvPr>
          <p:cNvSpPr txBox="1"/>
          <p:nvPr/>
        </p:nvSpPr>
        <p:spPr>
          <a:xfrm>
            <a:off x="54864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NickCao</a:t>
            </a:r>
          </a:p>
        </p:txBody>
      </p:sp>
      <p:pic>
        <p:nvPicPr>
          <p:cNvPr id="568" name="Contributor @NolenLiang" descr="NolenLiang; merged PR author/coauthor">
            <a:hlinkClick r:id="rId69"/>
          </p:cNvPr>
          <p:cNvPicPr>
            <a:picLocks noChangeAspect="1"/>
          </p:cNvPicPr>
          <p:nvPr/>
        </p:nvPicPr>
        <p:blipFill>
          <a:blip r:embed="rId68"/>
          <a:stretch>
            <a:fillRect/>
          </a:stretch>
        </p:blipFill>
        <p:spPr>
          <a:xfrm>
            <a:off x="1877014" y="3703320"/>
            <a:ext cx="365760" cy="365760"/>
          </a:xfrm>
          <a:prstGeom prst="ellipse">
            <a:avLst/>
          </a:prstGeom>
        </p:spPr>
      </p:pic>
      <p:sp>
        <p:nvSpPr>
          <p:cNvPr id="569" name="Contributor label @NolenLiang">
            <a:hlinkClick r:id="rId69"/>
          </p:cNvPr>
          <p:cNvSpPr txBox="1"/>
          <p:nvPr/>
        </p:nvSpPr>
        <p:spPr>
          <a:xfrm>
            <a:off x="155614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NolenLiang</a:t>
            </a:r>
          </a:p>
        </p:txBody>
      </p:sp>
      <p:pic>
        <p:nvPicPr>
          <p:cNvPr id="570" name="Contributor @NumberWan" descr="NumberWan; merged PR author/coauthor">
            <a:hlinkClick r:id="rId71"/>
          </p:cNvPr>
          <p:cNvPicPr>
            <a:picLocks noChangeAspect="1"/>
          </p:cNvPicPr>
          <p:nvPr/>
        </p:nvPicPr>
        <p:blipFill>
          <a:blip r:embed="rId70"/>
          <a:stretch>
            <a:fillRect/>
          </a:stretch>
        </p:blipFill>
        <p:spPr>
          <a:xfrm>
            <a:off x="2884516" y="3703320"/>
            <a:ext cx="365760" cy="365760"/>
          </a:xfrm>
          <a:prstGeom prst="ellipse">
            <a:avLst/>
          </a:prstGeom>
        </p:spPr>
      </p:pic>
      <p:sp>
        <p:nvSpPr>
          <p:cNvPr id="571" name="Contributor label @NumberWan">
            <a:hlinkClick r:id="rId71"/>
          </p:cNvPr>
          <p:cNvSpPr txBox="1"/>
          <p:nvPr/>
        </p:nvSpPr>
        <p:spPr>
          <a:xfrm>
            <a:off x="256364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NumberWan</a:t>
            </a:r>
          </a:p>
        </p:txBody>
      </p:sp>
      <p:pic>
        <p:nvPicPr>
          <p:cNvPr id="572" name="Contributor @psv666" descr="psv666; merged PR author/coauthor">
            <a:hlinkClick r:id="rId73"/>
          </p:cNvPr>
          <p:cNvPicPr>
            <a:picLocks noChangeAspect="1"/>
          </p:cNvPicPr>
          <p:nvPr/>
        </p:nvPicPr>
        <p:blipFill>
          <a:blip r:embed="rId72"/>
          <a:stretch>
            <a:fillRect/>
          </a:stretch>
        </p:blipFill>
        <p:spPr>
          <a:xfrm>
            <a:off x="3892019" y="3703320"/>
            <a:ext cx="365760" cy="365760"/>
          </a:xfrm>
          <a:prstGeom prst="ellipse">
            <a:avLst/>
          </a:prstGeom>
        </p:spPr>
      </p:pic>
      <p:sp>
        <p:nvSpPr>
          <p:cNvPr id="573" name="Contributor label @psv666">
            <a:hlinkClick r:id="rId73"/>
          </p:cNvPr>
          <p:cNvSpPr txBox="1"/>
          <p:nvPr/>
        </p:nvSpPr>
        <p:spPr>
          <a:xfrm>
            <a:off x="357114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psv666</a:t>
            </a:r>
          </a:p>
        </p:txBody>
      </p:sp>
      <p:pic>
        <p:nvPicPr>
          <p:cNvPr id="574" name="Contributor @pujitha24" descr="pujitha24; merged PR author/coauthor">
            <a:hlinkClick r:id="rId75"/>
          </p:cNvPr>
          <p:cNvPicPr>
            <a:picLocks noChangeAspect="1"/>
          </p:cNvPicPr>
          <p:nvPr/>
        </p:nvPicPr>
        <p:blipFill>
          <a:blip r:embed="rId74"/>
          <a:stretch>
            <a:fillRect/>
          </a:stretch>
        </p:blipFill>
        <p:spPr>
          <a:xfrm>
            <a:off x="4899521" y="3703320"/>
            <a:ext cx="365760" cy="365760"/>
          </a:xfrm>
          <a:prstGeom prst="ellipse">
            <a:avLst/>
          </a:prstGeom>
        </p:spPr>
      </p:pic>
      <p:sp>
        <p:nvSpPr>
          <p:cNvPr id="575" name="Contributor label @pujitha24">
            <a:hlinkClick r:id="rId75"/>
          </p:cNvPr>
          <p:cNvSpPr txBox="1"/>
          <p:nvPr/>
        </p:nvSpPr>
        <p:spPr>
          <a:xfrm>
            <a:off x="457865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pujitha24</a:t>
            </a:r>
          </a:p>
        </p:txBody>
      </p:sp>
      <p:pic>
        <p:nvPicPr>
          <p:cNvPr id="576" name="Contributor @R2-Y" descr="R2-Y; merged PR author/coauthor">
            <a:hlinkClick r:id="rId77"/>
          </p:cNvPr>
          <p:cNvPicPr>
            <a:picLocks noChangeAspect="1"/>
          </p:cNvPicPr>
          <p:nvPr/>
        </p:nvPicPr>
        <p:blipFill>
          <a:blip r:embed="rId76"/>
          <a:stretch>
            <a:fillRect/>
          </a:stretch>
        </p:blipFill>
        <p:spPr>
          <a:xfrm>
            <a:off x="5907024" y="3703320"/>
            <a:ext cx="365760" cy="365760"/>
          </a:xfrm>
          <a:prstGeom prst="ellipse">
            <a:avLst/>
          </a:prstGeom>
        </p:spPr>
      </p:pic>
      <p:sp>
        <p:nvSpPr>
          <p:cNvPr id="577" name="Contributor label @R2-Y">
            <a:hlinkClick r:id="rId77"/>
          </p:cNvPr>
          <p:cNvSpPr txBox="1"/>
          <p:nvPr/>
        </p:nvSpPr>
        <p:spPr>
          <a:xfrm>
            <a:off x="558615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R2-Y</a:t>
            </a:r>
          </a:p>
        </p:txBody>
      </p:sp>
      <p:pic>
        <p:nvPicPr>
          <p:cNvPr id="578" name="Contributor @RyanYun09" descr="RyanYun09; merged PR author/coauthor">
            <a:hlinkClick r:id="rId79"/>
          </p:cNvPr>
          <p:cNvPicPr>
            <a:picLocks noChangeAspect="1"/>
          </p:cNvPicPr>
          <p:nvPr/>
        </p:nvPicPr>
        <p:blipFill>
          <a:blip r:embed="rId78"/>
          <a:stretch>
            <a:fillRect/>
          </a:stretch>
        </p:blipFill>
        <p:spPr>
          <a:xfrm>
            <a:off x="6914527" y="3703320"/>
            <a:ext cx="365760" cy="365760"/>
          </a:xfrm>
          <a:prstGeom prst="ellipse">
            <a:avLst/>
          </a:prstGeom>
        </p:spPr>
      </p:pic>
      <p:sp>
        <p:nvSpPr>
          <p:cNvPr id="579" name="Contributor label @RyanYun09">
            <a:hlinkClick r:id="rId79"/>
          </p:cNvPr>
          <p:cNvSpPr txBox="1"/>
          <p:nvPr/>
        </p:nvSpPr>
        <p:spPr>
          <a:xfrm>
            <a:off x="659365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RyanYun09</a:t>
            </a:r>
          </a:p>
        </p:txBody>
      </p:sp>
      <p:pic>
        <p:nvPicPr>
          <p:cNvPr id="580" name="Contributor @sphinxkkkbc" descr="sphinxkkkbc; merged PR author/coauthor">
            <a:hlinkClick r:id="rId81"/>
          </p:cNvPr>
          <p:cNvPicPr>
            <a:picLocks noChangeAspect="1"/>
          </p:cNvPicPr>
          <p:nvPr/>
        </p:nvPicPr>
        <p:blipFill>
          <a:blip r:embed="rId80"/>
          <a:stretch>
            <a:fillRect/>
          </a:stretch>
        </p:blipFill>
        <p:spPr>
          <a:xfrm>
            <a:off x="7922029" y="3703320"/>
            <a:ext cx="365760" cy="365760"/>
          </a:xfrm>
          <a:prstGeom prst="ellipse">
            <a:avLst/>
          </a:prstGeom>
        </p:spPr>
      </p:pic>
      <p:sp>
        <p:nvSpPr>
          <p:cNvPr id="581" name="Contributor label @sphinxkkkbc">
            <a:hlinkClick r:id="rId81"/>
          </p:cNvPr>
          <p:cNvSpPr txBox="1"/>
          <p:nvPr/>
        </p:nvSpPr>
        <p:spPr>
          <a:xfrm>
            <a:off x="760115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sphinxkkkbc</a:t>
            </a:r>
          </a:p>
        </p:txBody>
      </p:sp>
      <p:pic>
        <p:nvPicPr>
          <p:cNvPr id="582" name="Contributor @StormMelody" descr="StormMelody; merged PR author/coauthor">
            <a:hlinkClick r:id="rId83"/>
          </p:cNvPr>
          <p:cNvPicPr>
            <a:picLocks noChangeAspect="1"/>
          </p:cNvPicPr>
          <p:nvPr/>
        </p:nvPicPr>
        <p:blipFill>
          <a:blip r:embed="rId82"/>
          <a:stretch>
            <a:fillRect/>
          </a:stretch>
        </p:blipFill>
        <p:spPr>
          <a:xfrm>
            <a:off x="8929532" y="3703320"/>
            <a:ext cx="365760" cy="365760"/>
          </a:xfrm>
          <a:prstGeom prst="ellipse">
            <a:avLst/>
          </a:prstGeom>
        </p:spPr>
      </p:pic>
      <p:sp>
        <p:nvSpPr>
          <p:cNvPr id="583" name="Contributor label @StormMelody">
            <a:hlinkClick r:id="rId83"/>
          </p:cNvPr>
          <p:cNvSpPr txBox="1"/>
          <p:nvPr/>
        </p:nvSpPr>
        <p:spPr>
          <a:xfrm>
            <a:off x="860866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StormMelody</a:t>
            </a:r>
          </a:p>
        </p:txBody>
      </p:sp>
      <p:pic>
        <p:nvPicPr>
          <p:cNvPr id="584" name="Contributor @stringl1l1l1l" descr="stringl1l1l1l; merged PR author/coauthor">
            <a:hlinkClick r:id="rId85"/>
          </p:cNvPr>
          <p:cNvPicPr>
            <a:picLocks noChangeAspect="1"/>
          </p:cNvPicPr>
          <p:nvPr/>
        </p:nvPicPr>
        <p:blipFill>
          <a:blip r:embed="rId84"/>
          <a:stretch>
            <a:fillRect/>
          </a:stretch>
        </p:blipFill>
        <p:spPr>
          <a:xfrm>
            <a:off x="9937034" y="3703320"/>
            <a:ext cx="365760" cy="365760"/>
          </a:xfrm>
          <a:prstGeom prst="ellipse">
            <a:avLst/>
          </a:prstGeom>
        </p:spPr>
      </p:pic>
      <p:sp>
        <p:nvSpPr>
          <p:cNvPr id="585" name="Contributor label @stringl1l1l1l">
            <a:hlinkClick r:id="rId85"/>
          </p:cNvPr>
          <p:cNvSpPr txBox="1"/>
          <p:nvPr/>
        </p:nvSpPr>
        <p:spPr>
          <a:xfrm>
            <a:off x="961616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stringl1l1l1l</a:t>
            </a:r>
          </a:p>
        </p:txBody>
      </p:sp>
      <p:pic>
        <p:nvPicPr>
          <p:cNvPr id="586" name="Contributor @Sy0307" descr="Sy0307; merged PR author/coauthor">
            <a:hlinkClick r:id="rId87"/>
          </p:cNvPr>
          <p:cNvPicPr>
            <a:picLocks noChangeAspect="1"/>
          </p:cNvPicPr>
          <p:nvPr/>
        </p:nvPicPr>
        <p:blipFill>
          <a:blip r:embed="rId86"/>
          <a:stretch>
            <a:fillRect/>
          </a:stretch>
        </p:blipFill>
        <p:spPr>
          <a:xfrm>
            <a:off x="10944537" y="3703320"/>
            <a:ext cx="365760" cy="365760"/>
          </a:xfrm>
          <a:prstGeom prst="ellipse">
            <a:avLst/>
          </a:prstGeom>
        </p:spPr>
      </p:pic>
      <p:sp>
        <p:nvSpPr>
          <p:cNvPr id="587" name="Contributor label @Sy0307">
            <a:hlinkClick r:id="rId87"/>
          </p:cNvPr>
          <p:cNvSpPr txBox="1"/>
          <p:nvPr/>
        </p:nvSpPr>
        <p:spPr>
          <a:xfrm>
            <a:off x="1062366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Sy0307</a:t>
            </a:r>
          </a:p>
        </p:txBody>
      </p:sp>
      <p:pic>
        <p:nvPicPr>
          <p:cNvPr id="588" name="Contributor @tc-mb" descr="tc-mb; merged PR author/coauthor">
            <a:hlinkClick r:id="rId89"/>
          </p:cNvPr>
          <p:cNvPicPr>
            <a:picLocks noChangeAspect="1"/>
          </p:cNvPicPr>
          <p:nvPr/>
        </p:nvPicPr>
        <p:blipFill>
          <a:blip r:embed="rId88"/>
          <a:stretch>
            <a:fillRect/>
          </a:stretch>
        </p:blipFill>
        <p:spPr>
          <a:xfrm>
            <a:off x="869511" y="4251960"/>
            <a:ext cx="365760" cy="365760"/>
          </a:xfrm>
          <a:prstGeom prst="ellipse">
            <a:avLst/>
          </a:prstGeom>
        </p:spPr>
      </p:pic>
      <p:sp>
        <p:nvSpPr>
          <p:cNvPr id="589" name="Contributor label @tc-mb">
            <a:hlinkClick r:id="rId89"/>
          </p:cNvPr>
          <p:cNvSpPr txBox="1"/>
          <p:nvPr/>
        </p:nvSpPr>
        <p:spPr>
          <a:xfrm>
            <a:off x="54864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tc-mb</a:t>
            </a:r>
          </a:p>
        </p:txBody>
      </p:sp>
      <p:pic>
        <p:nvPicPr>
          <p:cNvPr id="590" name="Contributor @TheCodeWrangler" descr="TheCodeWrangler; merged PR author/coauthor">
            <a:hlinkClick r:id="rId91"/>
          </p:cNvPr>
          <p:cNvPicPr>
            <a:picLocks noChangeAspect="1"/>
          </p:cNvPicPr>
          <p:nvPr/>
        </p:nvPicPr>
        <p:blipFill>
          <a:blip r:embed="rId90"/>
          <a:stretch>
            <a:fillRect/>
          </a:stretch>
        </p:blipFill>
        <p:spPr>
          <a:xfrm>
            <a:off x="1877014" y="4251960"/>
            <a:ext cx="365760" cy="365760"/>
          </a:xfrm>
          <a:prstGeom prst="ellipse">
            <a:avLst/>
          </a:prstGeom>
        </p:spPr>
      </p:pic>
      <p:sp>
        <p:nvSpPr>
          <p:cNvPr id="591" name="Contributor label @TheCodeWrangler">
            <a:hlinkClick r:id="rId91"/>
          </p:cNvPr>
          <p:cNvSpPr txBox="1"/>
          <p:nvPr/>
        </p:nvSpPr>
        <p:spPr>
          <a:xfrm>
            <a:off x="155614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TheCodeWrangler</a:t>
            </a:r>
          </a:p>
        </p:txBody>
      </p:sp>
      <p:pic>
        <p:nvPicPr>
          <p:cNvPr id="592" name="Contributor @THUqliu" descr="THUqliu; merged PR author/coauthor">
            <a:hlinkClick r:id="rId93"/>
          </p:cNvPr>
          <p:cNvPicPr>
            <a:picLocks noChangeAspect="1"/>
          </p:cNvPicPr>
          <p:nvPr/>
        </p:nvPicPr>
        <p:blipFill>
          <a:blip r:embed="rId92"/>
          <a:stretch>
            <a:fillRect/>
          </a:stretch>
        </p:blipFill>
        <p:spPr>
          <a:xfrm>
            <a:off x="2884516" y="4251960"/>
            <a:ext cx="365760" cy="365760"/>
          </a:xfrm>
          <a:prstGeom prst="ellipse">
            <a:avLst/>
          </a:prstGeom>
        </p:spPr>
      </p:pic>
      <p:sp>
        <p:nvSpPr>
          <p:cNvPr id="593" name="Contributor label @THUqliu">
            <a:hlinkClick r:id="rId93"/>
          </p:cNvPr>
          <p:cNvSpPr txBox="1"/>
          <p:nvPr/>
        </p:nvSpPr>
        <p:spPr>
          <a:xfrm>
            <a:off x="256364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THUqliu</a:t>
            </a:r>
          </a:p>
        </p:txBody>
      </p:sp>
      <p:pic>
        <p:nvPicPr>
          <p:cNvPr id="594" name="Contributor @Tiagosf00" descr="Tiagosf00; merged PR author/coauthor">
            <a:hlinkClick r:id="rId95"/>
          </p:cNvPr>
          <p:cNvPicPr>
            <a:picLocks noChangeAspect="1"/>
          </p:cNvPicPr>
          <p:nvPr/>
        </p:nvPicPr>
        <p:blipFill>
          <a:blip r:embed="rId94"/>
          <a:stretch>
            <a:fillRect/>
          </a:stretch>
        </p:blipFill>
        <p:spPr>
          <a:xfrm>
            <a:off x="3892019" y="4251960"/>
            <a:ext cx="365760" cy="365760"/>
          </a:xfrm>
          <a:prstGeom prst="ellipse">
            <a:avLst/>
          </a:prstGeom>
        </p:spPr>
      </p:pic>
      <p:sp>
        <p:nvSpPr>
          <p:cNvPr id="595" name="Contributor label @Tiagosf00">
            <a:hlinkClick r:id="rId95"/>
          </p:cNvPr>
          <p:cNvSpPr txBox="1"/>
          <p:nvPr/>
        </p:nvSpPr>
        <p:spPr>
          <a:xfrm>
            <a:off x="357114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Tiagosf00</a:t>
            </a:r>
          </a:p>
        </p:txBody>
      </p:sp>
      <p:pic>
        <p:nvPicPr>
          <p:cNvPr id="596" name="Contributor @tlysanhuo" descr="tlysanhuo; merged PR author/coauthor">
            <a:hlinkClick r:id="rId97"/>
          </p:cNvPr>
          <p:cNvPicPr>
            <a:picLocks noChangeAspect="1"/>
          </p:cNvPicPr>
          <p:nvPr/>
        </p:nvPicPr>
        <p:blipFill>
          <a:blip r:embed="rId96"/>
          <a:stretch>
            <a:fillRect/>
          </a:stretch>
        </p:blipFill>
        <p:spPr>
          <a:xfrm>
            <a:off x="4899521" y="4251960"/>
            <a:ext cx="365760" cy="365760"/>
          </a:xfrm>
          <a:prstGeom prst="ellipse">
            <a:avLst/>
          </a:prstGeom>
        </p:spPr>
      </p:pic>
      <p:sp>
        <p:nvSpPr>
          <p:cNvPr id="597" name="Contributor label @tlysanhuo">
            <a:hlinkClick r:id="rId97"/>
          </p:cNvPr>
          <p:cNvSpPr txBox="1"/>
          <p:nvPr/>
        </p:nvSpPr>
        <p:spPr>
          <a:xfrm>
            <a:off x="457865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tlysanhuo</a:t>
            </a:r>
          </a:p>
        </p:txBody>
      </p:sp>
      <p:pic>
        <p:nvPicPr>
          <p:cNvPr id="598" name="Contributor @twu3202" descr="twu3202; merged PR author/coauthor">
            <a:hlinkClick r:id="rId99"/>
          </p:cNvPr>
          <p:cNvPicPr>
            <a:picLocks noChangeAspect="1"/>
          </p:cNvPicPr>
          <p:nvPr/>
        </p:nvPicPr>
        <p:blipFill>
          <a:blip r:embed="rId98"/>
          <a:stretch>
            <a:fillRect/>
          </a:stretch>
        </p:blipFill>
        <p:spPr>
          <a:xfrm>
            <a:off x="5907024" y="4251960"/>
            <a:ext cx="365760" cy="365760"/>
          </a:xfrm>
          <a:prstGeom prst="ellipse">
            <a:avLst/>
          </a:prstGeom>
        </p:spPr>
      </p:pic>
      <p:sp>
        <p:nvSpPr>
          <p:cNvPr id="599" name="Contributor label @twu3202">
            <a:hlinkClick r:id="rId99"/>
          </p:cNvPr>
          <p:cNvSpPr txBox="1"/>
          <p:nvPr/>
        </p:nvSpPr>
        <p:spPr>
          <a:xfrm>
            <a:off x="558615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twu3202</a:t>
            </a:r>
          </a:p>
        </p:txBody>
      </p:sp>
      <p:pic>
        <p:nvPicPr>
          <p:cNvPr id="600" name="Contributor @vraiti" descr="vraiti; merged PR author/coauthor">
            <a:hlinkClick r:id="rId133"/>
          </p:cNvPr>
          <p:cNvPicPr>
            <a:picLocks noChangeAspect="1"/>
          </p:cNvPicPr>
          <p:nvPr/>
        </p:nvPicPr>
        <p:blipFill>
          <a:blip r:embed="rId132"/>
          <a:stretch>
            <a:fillRect/>
          </a:stretch>
        </p:blipFill>
        <p:spPr>
          <a:xfrm>
            <a:off x="6914527" y="4251960"/>
            <a:ext cx="365760" cy="365760"/>
          </a:xfrm>
          <a:prstGeom prst="ellipse">
            <a:avLst/>
          </a:prstGeom>
        </p:spPr>
      </p:pic>
      <p:sp>
        <p:nvSpPr>
          <p:cNvPr id="601" name="Contributor label @vraiti">
            <a:hlinkClick r:id="rId133"/>
          </p:cNvPr>
          <p:cNvSpPr txBox="1"/>
          <p:nvPr/>
        </p:nvSpPr>
        <p:spPr>
          <a:xfrm>
            <a:off x="659365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vraiti</a:t>
            </a:r>
          </a:p>
        </p:txBody>
      </p:sp>
      <p:pic>
        <p:nvPicPr>
          <p:cNvPr id="602" name="Contributor @vuuihc" descr="vuuihc; merged PR author/coauthor">
            <a:hlinkClick r:id="rId101"/>
          </p:cNvPr>
          <p:cNvPicPr>
            <a:picLocks noChangeAspect="1"/>
          </p:cNvPicPr>
          <p:nvPr/>
        </p:nvPicPr>
        <p:blipFill>
          <a:blip r:embed="rId100"/>
          <a:stretch>
            <a:fillRect/>
          </a:stretch>
        </p:blipFill>
        <p:spPr>
          <a:xfrm>
            <a:off x="7922029" y="4251960"/>
            <a:ext cx="365760" cy="365760"/>
          </a:xfrm>
          <a:prstGeom prst="ellipse">
            <a:avLst/>
          </a:prstGeom>
        </p:spPr>
      </p:pic>
      <p:sp>
        <p:nvSpPr>
          <p:cNvPr id="603" name="Contributor label @vuuihc">
            <a:hlinkClick r:id="rId101"/>
          </p:cNvPr>
          <p:cNvSpPr txBox="1"/>
          <p:nvPr/>
        </p:nvSpPr>
        <p:spPr>
          <a:xfrm>
            <a:off x="760115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vuuihc</a:t>
            </a:r>
          </a:p>
        </p:txBody>
      </p:sp>
      <p:pic>
        <p:nvPicPr>
          <p:cNvPr id="604" name="Contributor @wuli666" descr="wuli666; merged PR author/coauthor">
            <a:hlinkClick r:id="rId103"/>
          </p:cNvPr>
          <p:cNvPicPr>
            <a:picLocks noChangeAspect="1"/>
          </p:cNvPicPr>
          <p:nvPr/>
        </p:nvPicPr>
        <p:blipFill>
          <a:blip r:embed="rId102"/>
          <a:stretch>
            <a:fillRect/>
          </a:stretch>
        </p:blipFill>
        <p:spPr>
          <a:xfrm>
            <a:off x="8929532" y="4251960"/>
            <a:ext cx="365760" cy="365760"/>
          </a:xfrm>
          <a:prstGeom prst="ellipse">
            <a:avLst/>
          </a:prstGeom>
        </p:spPr>
      </p:pic>
      <p:sp>
        <p:nvSpPr>
          <p:cNvPr id="605" name="Contributor label @wuli666">
            <a:hlinkClick r:id="rId103"/>
          </p:cNvPr>
          <p:cNvSpPr txBox="1"/>
          <p:nvPr/>
        </p:nvSpPr>
        <p:spPr>
          <a:xfrm>
            <a:off x="860866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wuli666</a:t>
            </a:r>
          </a:p>
        </p:txBody>
      </p:sp>
      <p:pic>
        <p:nvPicPr>
          <p:cNvPr id="606" name="Contributor @xsmccc" descr="xsmccc; merged PR author/coauthor">
            <a:hlinkClick r:id="rId105"/>
          </p:cNvPr>
          <p:cNvPicPr>
            <a:picLocks noChangeAspect="1"/>
          </p:cNvPicPr>
          <p:nvPr/>
        </p:nvPicPr>
        <p:blipFill>
          <a:blip r:embed="rId104"/>
          <a:stretch>
            <a:fillRect/>
          </a:stretch>
        </p:blipFill>
        <p:spPr>
          <a:xfrm>
            <a:off x="9937034" y="4251960"/>
            <a:ext cx="365760" cy="365760"/>
          </a:xfrm>
          <a:prstGeom prst="ellipse">
            <a:avLst/>
          </a:prstGeom>
        </p:spPr>
      </p:pic>
      <p:sp>
        <p:nvSpPr>
          <p:cNvPr id="607" name="Contributor label @xsmccc">
            <a:hlinkClick r:id="rId105"/>
          </p:cNvPr>
          <p:cNvSpPr txBox="1"/>
          <p:nvPr/>
        </p:nvSpPr>
        <p:spPr>
          <a:xfrm>
            <a:off x="961616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xsmccc</a:t>
            </a:r>
          </a:p>
        </p:txBody>
      </p:sp>
      <p:pic>
        <p:nvPicPr>
          <p:cNvPr id="608" name="Contributor @xuhuan51" descr="xuhuan51; merged PR author/coauthor">
            <a:hlinkClick r:id="rId135"/>
          </p:cNvPr>
          <p:cNvPicPr>
            <a:picLocks noChangeAspect="1"/>
          </p:cNvPicPr>
          <p:nvPr/>
        </p:nvPicPr>
        <p:blipFill>
          <a:blip r:embed="rId134"/>
          <a:stretch>
            <a:fillRect/>
          </a:stretch>
        </p:blipFill>
        <p:spPr>
          <a:xfrm>
            <a:off x="10944537" y="4251960"/>
            <a:ext cx="365760" cy="365760"/>
          </a:xfrm>
          <a:prstGeom prst="ellipse">
            <a:avLst/>
          </a:prstGeom>
        </p:spPr>
      </p:pic>
      <p:sp>
        <p:nvSpPr>
          <p:cNvPr id="609" name="Contributor label @xuhuan51">
            <a:hlinkClick r:id="rId135"/>
          </p:cNvPr>
          <p:cNvSpPr txBox="1"/>
          <p:nvPr/>
        </p:nvSpPr>
        <p:spPr>
          <a:xfrm>
            <a:off x="1062366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xuhuan51</a:t>
            </a:r>
          </a:p>
        </p:txBody>
      </p:sp>
      <p:pic>
        <p:nvPicPr>
          <p:cNvPr id="610" name="Contributor @y-null" descr="y-null; merged PR author/coauthor">
            <a:hlinkClick r:id="rId107"/>
          </p:cNvPr>
          <p:cNvPicPr>
            <a:picLocks noChangeAspect="1"/>
          </p:cNvPicPr>
          <p:nvPr/>
        </p:nvPicPr>
        <p:blipFill>
          <a:blip r:embed="rId106"/>
          <a:stretch>
            <a:fillRect/>
          </a:stretch>
        </p:blipFill>
        <p:spPr>
          <a:xfrm>
            <a:off x="2884516" y="4800600"/>
            <a:ext cx="365760" cy="365760"/>
          </a:xfrm>
          <a:prstGeom prst="ellipse">
            <a:avLst/>
          </a:prstGeom>
        </p:spPr>
      </p:pic>
      <p:sp>
        <p:nvSpPr>
          <p:cNvPr id="611" name="Contributor label @y-null">
            <a:hlinkClick r:id="rId107"/>
          </p:cNvPr>
          <p:cNvSpPr txBox="1"/>
          <p:nvPr/>
        </p:nvSpPr>
        <p:spPr>
          <a:xfrm>
            <a:off x="256364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y-null</a:t>
            </a:r>
          </a:p>
        </p:txBody>
      </p:sp>
      <p:pic>
        <p:nvPicPr>
          <p:cNvPr id="612" name="Contributor @yenuo26" descr="yenuo26; merged PR author/coauthor">
            <a:hlinkClick r:id="rId109"/>
          </p:cNvPr>
          <p:cNvPicPr>
            <a:picLocks noChangeAspect="1"/>
          </p:cNvPicPr>
          <p:nvPr/>
        </p:nvPicPr>
        <p:blipFill>
          <a:blip r:embed="rId108"/>
          <a:stretch>
            <a:fillRect/>
          </a:stretch>
        </p:blipFill>
        <p:spPr>
          <a:xfrm>
            <a:off x="3892019" y="4800600"/>
            <a:ext cx="365760" cy="365760"/>
          </a:xfrm>
          <a:prstGeom prst="ellipse">
            <a:avLst/>
          </a:prstGeom>
        </p:spPr>
      </p:pic>
      <p:sp>
        <p:nvSpPr>
          <p:cNvPr id="613" name="Contributor label @yenuo26">
            <a:hlinkClick r:id="rId109"/>
          </p:cNvPr>
          <p:cNvSpPr txBox="1"/>
          <p:nvPr/>
        </p:nvSpPr>
        <p:spPr>
          <a:xfrm>
            <a:off x="357114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yenuo26</a:t>
            </a:r>
          </a:p>
        </p:txBody>
      </p:sp>
      <p:pic>
        <p:nvPicPr>
          <p:cNvPr id="614" name="Contributor @yuekaizhang" descr="yuekaizhang; merged PR author/coauthor">
            <a:hlinkClick r:id="rId111"/>
          </p:cNvPr>
          <p:cNvPicPr>
            <a:picLocks noChangeAspect="1"/>
          </p:cNvPicPr>
          <p:nvPr/>
        </p:nvPicPr>
        <p:blipFill>
          <a:blip r:embed="rId110"/>
          <a:stretch>
            <a:fillRect/>
          </a:stretch>
        </p:blipFill>
        <p:spPr>
          <a:xfrm>
            <a:off x="4899521" y="4800600"/>
            <a:ext cx="365760" cy="365760"/>
          </a:xfrm>
          <a:prstGeom prst="ellipse">
            <a:avLst/>
          </a:prstGeom>
        </p:spPr>
      </p:pic>
      <p:sp>
        <p:nvSpPr>
          <p:cNvPr id="615" name="Contributor label @yuekaizhang">
            <a:hlinkClick r:id="rId111"/>
          </p:cNvPr>
          <p:cNvSpPr txBox="1"/>
          <p:nvPr/>
        </p:nvSpPr>
        <p:spPr>
          <a:xfrm>
            <a:off x="457865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yuekaizhang</a:t>
            </a:r>
          </a:p>
        </p:txBody>
      </p:sp>
      <p:pic>
        <p:nvPicPr>
          <p:cNvPr id="616" name="Contributor @ZacheryAU" descr="ZacheryAU; merged PR author/coauthor">
            <a:hlinkClick r:id="rId113"/>
          </p:cNvPr>
          <p:cNvPicPr>
            <a:picLocks noChangeAspect="1"/>
          </p:cNvPicPr>
          <p:nvPr/>
        </p:nvPicPr>
        <p:blipFill>
          <a:blip r:embed="rId112"/>
          <a:stretch>
            <a:fillRect/>
          </a:stretch>
        </p:blipFill>
        <p:spPr>
          <a:xfrm>
            <a:off x="5907024" y="4800600"/>
            <a:ext cx="365760" cy="365760"/>
          </a:xfrm>
          <a:prstGeom prst="ellipse">
            <a:avLst/>
          </a:prstGeom>
        </p:spPr>
      </p:pic>
      <p:sp>
        <p:nvSpPr>
          <p:cNvPr id="617" name="Contributor label @ZacheryAU">
            <a:hlinkClick r:id="rId113"/>
          </p:cNvPr>
          <p:cNvSpPr txBox="1"/>
          <p:nvPr/>
        </p:nvSpPr>
        <p:spPr>
          <a:xfrm>
            <a:off x="5586153"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ZacheryAU</a:t>
            </a:r>
          </a:p>
        </p:txBody>
      </p:sp>
      <p:pic>
        <p:nvPicPr>
          <p:cNvPr id="618" name="Contributor @ZhengWG" descr="ZhengWG; merged PR author/coauthor">
            <a:hlinkClick r:id="rId137"/>
          </p:cNvPr>
          <p:cNvPicPr>
            <a:picLocks noChangeAspect="1"/>
          </p:cNvPicPr>
          <p:nvPr/>
        </p:nvPicPr>
        <p:blipFill>
          <a:blip r:embed="rId136"/>
          <a:stretch>
            <a:fillRect/>
          </a:stretch>
        </p:blipFill>
        <p:spPr>
          <a:xfrm>
            <a:off x="6914527" y="4800600"/>
            <a:ext cx="365760" cy="365760"/>
          </a:xfrm>
          <a:prstGeom prst="ellipse">
            <a:avLst/>
          </a:prstGeom>
        </p:spPr>
      </p:pic>
      <p:sp>
        <p:nvSpPr>
          <p:cNvPr id="619" name="Contributor label @ZhengWG">
            <a:hlinkClick r:id="rId137"/>
          </p:cNvPr>
          <p:cNvSpPr txBox="1"/>
          <p:nvPr/>
        </p:nvSpPr>
        <p:spPr>
          <a:xfrm>
            <a:off x="659365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ZhengWG</a:t>
            </a:r>
          </a:p>
        </p:txBody>
      </p:sp>
      <p:pic>
        <p:nvPicPr>
          <p:cNvPr id="620" name="Contributor @Zhou248" descr="Zhou248; merged PR author/coauthor">
            <a:hlinkClick r:id="rId115"/>
          </p:cNvPr>
          <p:cNvPicPr>
            <a:picLocks noChangeAspect="1"/>
          </p:cNvPicPr>
          <p:nvPr/>
        </p:nvPicPr>
        <p:blipFill>
          <a:blip r:embed="rId114"/>
          <a:stretch>
            <a:fillRect/>
          </a:stretch>
        </p:blipFill>
        <p:spPr>
          <a:xfrm>
            <a:off x="7922029" y="4800600"/>
            <a:ext cx="365760" cy="365760"/>
          </a:xfrm>
          <a:prstGeom prst="ellipse">
            <a:avLst/>
          </a:prstGeom>
        </p:spPr>
      </p:pic>
      <p:sp>
        <p:nvSpPr>
          <p:cNvPr id="621" name="Contributor label @Zhou248">
            <a:hlinkClick r:id="rId115"/>
          </p:cNvPr>
          <p:cNvSpPr txBox="1"/>
          <p:nvPr/>
        </p:nvSpPr>
        <p:spPr>
          <a:xfrm>
            <a:off x="760115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Zhou248</a:t>
            </a:r>
          </a:p>
        </p:txBody>
      </p:sp>
      <p:pic>
        <p:nvPicPr>
          <p:cNvPr id="622" name="Contributor @zyforsure" descr="zyforsure; merged PR author/coauthor">
            <a:hlinkClick r:id="rId117"/>
          </p:cNvPr>
          <p:cNvPicPr>
            <a:picLocks noChangeAspect="1"/>
          </p:cNvPicPr>
          <p:nvPr/>
        </p:nvPicPr>
        <p:blipFill>
          <a:blip r:embed="rId116"/>
          <a:stretch>
            <a:fillRect/>
          </a:stretch>
        </p:blipFill>
        <p:spPr>
          <a:xfrm>
            <a:off x="8929532" y="4800600"/>
            <a:ext cx="365760" cy="365760"/>
          </a:xfrm>
          <a:prstGeom prst="ellipse">
            <a:avLst/>
          </a:prstGeom>
        </p:spPr>
      </p:pic>
      <p:sp>
        <p:nvSpPr>
          <p:cNvPr id="623" name="Contributor label @zyforsure">
            <a:hlinkClick r:id="rId117"/>
          </p:cNvPr>
          <p:cNvSpPr txBox="1"/>
          <p:nvPr/>
        </p:nvSpPr>
        <p:spPr>
          <a:xfrm>
            <a:off x="860866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zyforsure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体验与交互方式</a:t>
            </a:r>
          </a:p>
        </p:txBody>
      </p:sp>
      <p:cxnSp>
        <p:nvCxnSpPr>
          <p:cNvPr id="6" name="Connector 5"/>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8" name="TextBox 7"/>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9" name="TextBox 8"/>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02 / 12</a:t>
            </a:r>
          </a:p>
        </p:txBody>
      </p:sp>
      <p:sp>
        <p:nvSpPr>
          <p:cNvPr id="10" name="TextBox 9"/>
          <p:cNvSpPr txBox="1"/>
          <p:nvPr/>
        </p:nvSpPr>
        <p:spPr>
          <a:xfrm>
            <a:off x="548640" y="1234440"/>
            <a:ext cx="5486400" cy="1417320"/>
          </a:xfrm>
          <a:prstGeom prst="rect">
            <a:avLst/>
          </a:prstGeom>
          <a:noFill/>
        </p:spPr>
        <p:txBody>
          <a:bodyPr wrap="square" lIns="0" rIns="0" tIns="0" bIns="0" anchor="t">
            <a:spAutoFit/>
          </a:bodyPr>
          <a:lstStyle/>
          <a:p>
            <a:pPr algn="l">
              <a:lnSpc>
                <a:spcPct val="110000"/>
              </a:lnSpc>
              <a:spcAft>
                <a:spcPts val="0"/>
              </a:spcAft>
            </a:pPr>
            <a:r>
              <a:rPr sz="3800" b="1" lang="zh-CN">
                <a:solidFill>
                  <a:srgbClr val="142B45"/>
                </a:solidFill>
                <a:latin typeface="Noto Sans CJK SC"/>
                <a:ea typeface="Noto Sans CJK SC"/>
                <a:cs typeface="Noto Sans CJK SC"/>
              </a:rPr>
              <a:t>让语音会话</a:t>
            </a:r>
          </a:p>
          <a:p>
            <a:pPr algn="l">
              <a:lnSpc>
                <a:spcPct val="110000"/>
              </a:lnSpc>
              <a:spcAft>
                <a:spcPts val="0"/>
              </a:spcAft>
            </a:pPr>
            <a:r>
              <a:rPr sz="3800" b="1" lang="zh-CN">
                <a:solidFill>
                  <a:srgbClr val="142B45"/>
                </a:solidFill>
                <a:latin typeface="Noto Sans CJK SC"/>
                <a:ea typeface="Noto Sans CJK SC"/>
                <a:cs typeface="Noto Sans CJK SC"/>
              </a:rPr>
              <a:t>持续进行</a:t>
            </a:r>
          </a:p>
        </p:txBody>
      </p:sp>
      <p:sp>
        <p:nvSpPr>
          <p:cNvPr id="15" name="Rounded Rectangle 14"/>
          <p:cNvSpPr/>
          <p:nvPr/>
        </p:nvSpPr>
        <p:spPr>
          <a:xfrm>
            <a:off x="6236208" y="1170432"/>
            <a:ext cx="5394960" cy="3342132"/>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519672" y="1395831"/>
            <a:ext cx="4754880" cy="347472"/>
          </a:xfrm>
          <a:prstGeom prst="rect">
            <a:avLst/>
          </a:prstGeom>
          <a:noFill/>
        </p:spPr>
        <p:txBody>
          <a:bodyPr wrap="square" lIns="0" rIns="0" tIns="0" bIns="0" anchor="t">
            <a:spAutoFit/>
          </a:bodyPr>
          <a:lstStyle/>
          <a:p>
            <a:pPr algn="l">
              <a:lnSpc>
                <a:spcPct val="110000"/>
              </a:lnSpc>
              <a:spcAft>
                <a:spcPts val="0"/>
              </a:spcAft>
            </a:pPr>
            <a:r>
              <a:rPr sz="2200" b="1" lang="zh-CN">
                <a:solidFill>
                  <a:srgbClr val="FFFFFF"/>
                </a:solidFill>
                <a:latin typeface="Noto Sans CJK SC"/>
                <a:ea typeface="Noto Sans CJK SC"/>
                <a:cs typeface="Noto Sans CJK SC"/>
              </a:rPr>
              <a:t>PersonaPlex · 实时语音 demo</a:t>
            </a:r>
          </a:p>
        </p:txBody>
      </p:sp>
      <p:sp>
        <p:nvSpPr>
          <p:cNvPr id="17" name="TextBox 16"/>
          <p:cNvSpPr txBox="1"/>
          <p:nvPr/>
        </p:nvSpPr>
        <p:spPr>
          <a:xfrm>
            <a:off x="6537960" y="1874520"/>
            <a:ext cx="4700016" cy="274320"/>
          </a:xfrm>
          <a:prstGeom prst="rect">
            <a:avLst/>
          </a:prstGeom>
          <a:noFill/>
        </p:spPr>
        <p:txBody>
          <a:bodyPr wrap="square" lIns="0" rIns="0" tIns="0" bIns="0" anchor="t">
            <a:spAutoFit/>
          </a:bodyPr>
          <a:lstStyle/>
          <a:p>
            <a:pPr algn="l">
              <a:lnSpc>
                <a:spcPct val="110000"/>
              </a:lnSpc>
              <a:spcAft>
                <a:spcPts val="0"/>
              </a:spcAft>
            </a:pPr>
            <a:r>
              <a:rPr sz="1200" b="0" lang="zh-CN">
                <a:solidFill>
                  <a:srgbClr val="AFCAE7"/>
                </a:solidFill>
                <a:latin typeface="Noto Sans CJK SC"/>
                <a:ea typeface="Noto Sans CJK SC"/>
                <a:cs typeface="Noto Sans CJK SC"/>
              </a:rPr>
              <a:t>预设音色 + persona · 持续语音输入</a:t>
            </a:r>
          </a:p>
        </p:txBody>
      </p:sp>
      <p:sp>
        <p:nvSpPr>
          <p:cNvPr id="25" name="TextBox 24"/>
          <p:cNvSpPr txBox="1"/>
          <p:nvPr/>
        </p:nvSpPr>
        <p:spPr>
          <a:xfrm>
            <a:off x="6537960" y="2297430"/>
            <a:ext cx="2743200" cy="219456"/>
          </a:xfrm>
          <a:prstGeom prst="rect">
            <a:avLst/>
          </a:prstGeom>
          <a:noFill/>
        </p:spPr>
        <p:txBody>
          <a:bodyPr wrap="square" lIns="0" rIns="0" tIns="0" bIns="0" anchor="t">
            <a:spAutoFit/>
          </a:bodyPr>
          <a:lstStyle/>
          <a:p>
            <a:pPr algn="l">
              <a:lnSpc>
                <a:spcPct val="110000"/>
              </a:lnSpc>
              <a:spcAft>
                <a:spcPts val="0"/>
              </a:spcAft>
            </a:pPr>
            <a:r>
              <a:rPr sz="1300" b="0" lang="zh-CN">
                <a:solidFill>
                  <a:srgbClr val="AFCAE7"/>
                </a:solidFill>
                <a:latin typeface="Noto Sans CJK SC"/>
                <a:ea typeface="Noto Sans CJK SC"/>
                <a:cs typeface="Noto Sans CJK SC"/>
              </a:rPr>
              <a:t>用户语音</a:t>
            </a:r>
          </a:p>
        </p:txBody>
      </p:sp>
      <p:cxnSp>
        <p:nvCxnSpPr>
          <p:cNvPr id="26" name="Connector 25"/>
          <p:cNvCxnSpPr/>
          <p:nvPr/>
        </p:nvCxnSpPr>
        <p:spPr>
          <a:xfrm>
            <a:off x="6547104" y="2732684"/>
            <a:ext cx="4718304" cy="0"/>
          </a:xfrm>
          <a:prstGeom prst="line">
            <a:avLst/>
          </a:prstGeom>
          <a:ln w="15240">
            <a:solidFill>
              <a:srgbClr val="314E68"/>
            </a:solidFill>
          </a:ln>
          <a:effectLst/>
        </p:spPr>
        <p:style>
          <a:lnRef idx="2">
            <a:schemeClr val="accent1"/>
          </a:lnRef>
          <a:fillRef idx="0">
            <a:schemeClr val="accent1"/>
          </a:fillRef>
          <a:effectRef idx="0">
            <a:schemeClr val="accent1"/>
          </a:effectRef>
          <a:fontRef idx="minor">
            <a:schemeClr val="tx1"/>
          </a:fontRef>
        </p:style>
      </p:cxnSp>
      <p:sp>
        <p:nvSpPr>
          <p:cNvPr id="27" name="Rounded Rectangle 26"/>
          <p:cNvSpPr/>
          <p:nvPr/>
        </p:nvSpPr>
        <p:spPr>
          <a:xfrm>
            <a:off x="6601968" y="2641813"/>
            <a:ext cx="26517" cy="18174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ounded Rectangle 27"/>
          <p:cNvSpPr/>
          <p:nvPr/>
        </p:nvSpPr>
        <p:spPr>
          <a:xfrm>
            <a:off x="6670548" y="2588915"/>
            <a:ext cx="26517" cy="2875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ounded Rectangle 28"/>
          <p:cNvSpPr/>
          <p:nvPr/>
        </p:nvSpPr>
        <p:spPr>
          <a:xfrm>
            <a:off x="6739128" y="2598602"/>
            <a:ext cx="26517" cy="26816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6807707" y="2659474"/>
            <a:ext cx="26517" cy="146417"/>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6876288" y="2666476"/>
            <a:ext cx="26517" cy="13241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6944868" y="2629125"/>
            <a:ext cx="26517" cy="20711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ounded Rectangle 32"/>
          <p:cNvSpPr/>
          <p:nvPr/>
        </p:nvSpPr>
        <p:spPr>
          <a:xfrm>
            <a:off x="7013448" y="2613880"/>
            <a:ext cx="26517" cy="23760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Rounded Rectangle 33"/>
          <p:cNvSpPr/>
          <p:nvPr/>
        </p:nvSpPr>
        <p:spPr>
          <a:xfrm>
            <a:off x="7082028" y="2647493"/>
            <a:ext cx="26517" cy="17038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Rounded Rectangle 34"/>
          <p:cNvSpPr/>
          <p:nvPr/>
        </p:nvSpPr>
        <p:spPr>
          <a:xfrm>
            <a:off x="7150607" y="2674479"/>
            <a:ext cx="26517" cy="116407"/>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Rounded Rectangle 35"/>
          <p:cNvSpPr/>
          <p:nvPr/>
        </p:nvSpPr>
        <p:spPr>
          <a:xfrm>
            <a:off x="7219188" y="2603803"/>
            <a:ext cx="26517" cy="25776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Rounded Rectangle 36"/>
          <p:cNvSpPr/>
          <p:nvPr/>
        </p:nvSpPr>
        <p:spPr>
          <a:xfrm>
            <a:off x="7287768" y="2582397"/>
            <a:ext cx="26517" cy="30057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Rounded Rectangle 37"/>
          <p:cNvSpPr/>
          <p:nvPr/>
        </p:nvSpPr>
        <p:spPr>
          <a:xfrm>
            <a:off x="7356348" y="2625786"/>
            <a:ext cx="26517" cy="213793"/>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Rounded Rectangle 38"/>
          <p:cNvSpPr/>
          <p:nvPr/>
        </p:nvSpPr>
        <p:spPr>
          <a:xfrm>
            <a:off x="7424927" y="2689445"/>
            <a:ext cx="26517" cy="864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ounded Rectangle 39"/>
          <p:cNvSpPr/>
          <p:nvPr/>
        </p:nvSpPr>
        <p:spPr>
          <a:xfrm>
            <a:off x="7493508" y="2623125"/>
            <a:ext cx="26517" cy="21911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Rounded Rectangle 40"/>
          <p:cNvSpPr/>
          <p:nvPr/>
        </p:nvSpPr>
        <p:spPr>
          <a:xfrm>
            <a:off x="7562088" y="2607081"/>
            <a:ext cx="26517" cy="2512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Rounded Rectangle 41"/>
          <p:cNvSpPr/>
          <p:nvPr/>
        </p:nvSpPr>
        <p:spPr>
          <a:xfrm>
            <a:off x="7630667" y="2640635"/>
            <a:ext cx="26517" cy="18409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Rounded Rectangle 42"/>
          <p:cNvSpPr/>
          <p:nvPr/>
        </p:nvSpPr>
        <p:spPr>
          <a:xfrm>
            <a:off x="7699248" y="2692018"/>
            <a:ext cx="26517" cy="8132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ounded Rectangle 43"/>
          <p:cNvSpPr/>
          <p:nvPr/>
        </p:nvSpPr>
        <p:spPr>
          <a:xfrm>
            <a:off x="7767827" y="2636206"/>
            <a:ext cx="26517" cy="19295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Rounded Rectangle 44"/>
          <p:cNvSpPr/>
          <p:nvPr/>
        </p:nvSpPr>
        <p:spPr>
          <a:xfrm>
            <a:off x="7836408" y="2591806"/>
            <a:ext cx="26517" cy="28175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Rounded Rectangle 45"/>
          <p:cNvSpPr/>
          <p:nvPr/>
        </p:nvSpPr>
        <p:spPr>
          <a:xfrm>
            <a:off x="7904988" y="2604885"/>
            <a:ext cx="26517" cy="25559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Rounded Rectangle 46"/>
          <p:cNvSpPr/>
          <p:nvPr/>
        </p:nvSpPr>
        <p:spPr>
          <a:xfrm>
            <a:off x="9171432" y="2589045"/>
            <a:ext cx="26517" cy="2872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ounded Rectangle 47"/>
          <p:cNvSpPr/>
          <p:nvPr/>
        </p:nvSpPr>
        <p:spPr>
          <a:xfrm>
            <a:off x="9241535" y="2591211"/>
            <a:ext cx="26517" cy="28294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Rounded Rectangle 48"/>
          <p:cNvSpPr/>
          <p:nvPr/>
        </p:nvSpPr>
        <p:spPr>
          <a:xfrm>
            <a:off x="9311640" y="2651127"/>
            <a:ext cx="26517" cy="1631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Rounded Rectangle 49"/>
          <p:cNvSpPr/>
          <p:nvPr/>
        </p:nvSpPr>
        <p:spPr>
          <a:xfrm>
            <a:off x="9381744" y="2667300"/>
            <a:ext cx="26517" cy="13076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Rounded Rectangle 50"/>
          <p:cNvSpPr/>
          <p:nvPr/>
        </p:nvSpPr>
        <p:spPr>
          <a:xfrm>
            <a:off x="9451848" y="2620107"/>
            <a:ext cx="26517" cy="22515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ounded Rectangle 51"/>
          <p:cNvSpPr/>
          <p:nvPr/>
        </p:nvSpPr>
        <p:spPr>
          <a:xfrm>
            <a:off x="9521951" y="2623231"/>
            <a:ext cx="26517" cy="218903"/>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Rounded Rectangle 52"/>
          <p:cNvSpPr/>
          <p:nvPr/>
        </p:nvSpPr>
        <p:spPr>
          <a:xfrm>
            <a:off x="9592055" y="2649568"/>
            <a:ext cx="26517" cy="16623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Rounded Rectangle 53"/>
          <p:cNvSpPr/>
          <p:nvPr/>
        </p:nvSpPr>
        <p:spPr>
          <a:xfrm>
            <a:off x="9662160" y="2681304"/>
            <a:ext cx="26517" cy="10275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Rounded Rectangle 54"/>
          <p:cNvSpPr/>
          <p:nvPr/>
        </p:nvSpPr>
        <p:spPr>
          <a:xfrm>
            <a:off x="9732264" y="2612010"/>
            <a:ext cx="26517" cy="24134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Rounded Rectangle 55"/>
          <p:cNvSpPr/>
          <p:nvPr/>
        </p:nvSpPr>
        <p:spPr>
          <a:xfrm>
            <a:off x="9802367" y="2584144"/>
            <a:ext cx="26517" cy="29707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Rounded Rectangle 56"/>
          <p:cNvSpPr/>
          <p:nvPr/>
        </p:nvSpPr>
        <p:spPr>
          <a:xfrm>
            <a:off x="9872472" y="2620438"/>
            <a:ext cx="26517" cy="22449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Rounded Rectangle 57"/>
          <p:cNvSpPr/>
          <p:nvPr/>
        </p:nvSpPr>
        <p:spPr>
          <a:xfrm>
            <a:off x="9942576" y="2694805"/>
            <a:ext cx="26517" cy="75757"/>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Rounded Rectangle 58"/>
          <p:cNvSpPr/>
          <p:nvPr/>
        </p:nvSpPr>
        <p:spPr>
          <a:xfrm>
            <a:off x="10012680" y="2620758"/>
            <a:ext cx="26517" cy="22385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Rounded Rectangle 59"/>
          <p:cNvSpPr/>
          <p:nvPr/>
        </p:nvSpPr>
        <p:spPr>
          <a:xfrm>
            <a:off x="10082783" y="2596299"/>
            <a:ext cx="26517" cy="27276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Rounded Rectangle 60"/>
          <p:cNvSpPr/>
          <p:nvPr/>
        </p:nvSpPr>
        <p:spPr>
          <a:xfrm>
            <a:off x="10152887" y="2628651"/>
            <a:ext cx="26517" cy="20806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Rounded Rectangle 61"/>
          <p:cNvSpPr/>
          <p:nvPr/>
        </p:nvSpPr>
        <p:spPr>
          <a:xfrm>
            <a:off x="10222992" y="2688613"/>
            <a:ext cx="26517" cy="8813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Rounded Rectangle 62"/>
          <p:cNvSpPr/>
          <p:nvPr/>
        </p:nvSpPr>
        <p:spPr>
          <a:xfrm>
            <a:off x="10293096" y="2646919"/>
            <a:ext cx="26517" cy="17152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Rounded Rectangle 63"/>
          <p:cNvSpPr/>
          <p:nvPr/>
        </p:nvSpPr>
        <p:spPr>
          <a:xfrm>
            <a:off x="10363199" y="2602035"/>
            <a:ext cx="26517" cy="26129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6537960" y="3082442"/>
            <a:ext cx="2743200" cy="219456"/>
          </a:xfrm>
          <a:prstGeom prst="rect">
            <a:avLst/>
          </a:prstGeom>
          <a:noFill/>
        </p:spPr>
        <p:txBody>
          <a:bodyPr wrap="square" lIns="0" rIns="0" tIns="0" bIns="0" anchor="t">
            <a:spAutoFit/>
          </a:bodyPr>
          <a:lstStyle/>
          <a:p>
            <a:pPr algn="l">
              <a:lnSpc>
                <a:spcPct val="110000"/>
              </a:lnSpc>
              <a:spcAft>
                <a:spcPts val="0"/>
              </a:spcAft>
            </a:pPr>
            <a:r>
              <a:rPr sz="1300" b="0" lang="zh-CN">
                <a:solidFill>
                  <a:srgbClr val="A1DFD8"/>
                </a:solidFill>
                <a:latin typeface="Noto Sans CJK SC"/>
                <a:ea typeface="Noto Sans CJK SC"/>
                <a:cs typeface="Noto Sans CJK SC"/>
              </a:rPr>
              <a:t>助手语音</a:t>
            </a:r>
          </a:p>
        </p:txBody>
      </p:sp>
      <p:cxnSp>
        <p:nvCxnSpPr>
          <p:cNvPr id="66" name="Connector 65"/>
          <p:cNvCxnSpPr/>
          <p:nvPr/>
        </p:nvCxnSpPr>
        <p:spPr>
          <a:xfrm>
            <a:off x="6547104" y="3517696"/>
            <a:ext cx="4718304" cy="0"/>
          </a:xfrm>
          <a:prstGeom prst="line">
            <a:avLst/>
          </a:prstGeom>
          <a:ln w="15240">
            <a:solidFill>
              <a:srgbClr val="314E68"/>
            </a:solidFill>
          </a:ln>
          <a:effectLst/>
        </p:spPr>
        <p:style>
          <a:lnRef idx="2">
            <a:schemeClr val="accent1"/>
          </a:lnRef>
          <a:fillRef idx="0">
            <a:schemeClr val="accent1"/>
          </a:fillRef>
          <a:effectRef idx="0">
            <a:schemeClr val="accent1"/>
          </a:effectRef>
          <a:fontRef idx="minor">
            <a:schemeClr val="tx1"/>
          </a:fontRef>
        </p:style>
      </p:cxnSp>
      <p:sp>
        <p:nvSpPr>
          <p:cNvPr id="67" name="Rounded Rectangle 66"/>
          <p:cNvSpPr/>
          <p:nvPr/>
        </p:nvSpPr>
        <p:spPr>
          <a:xfrm>
            <a:off x="8156448" y="3399086"/>
            <a:ext cx="26517" cy="23721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Rounded Rectangle 67"/>
          <p:cNvSpPr/>
          <p:nvPr/>
        </p:nvSpPr>
        <p:spPr>
          <a:xfrm>
            <a:off x="8216145" y="3368104"/>
            <a:ext cx="26517" cy="29918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Rounded Rectangle 68"/>
          <p:cNvSpPr/>
          <p:nvPr/>
        </p:nvSpPr>
        <p:spPr>
          <a:xfrm>
            <a:off x="8275842" y="3401444"/>
            <a:ext cx="26517" cy="23250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Rounded Rectangle 69"/>
          <p:cNvSpPr/>
          <p:nvPr/>
        </p:nvSpPr>
        <p:spPr>
          <a:xfrm>
            <a:off x="8335539" y="3473558"/>
            <a:ext cx="26517" cy="88275"/>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Rounded Rectangle 70"/>
          <p:cNvSpPr/>
          <p:nvPr/>
        </p:nvSpPr>
        <p:spPr>
          <a:xfrm>
            <a:off x="8395237" y="3428244"/>
            <a:ext cx="26517" cy="17890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Rounded Rectangle 71"/>
          <p:cNvSpPr/>
          <p:nvPr/>
        </p:nvSpPr>
        <p:spPr>
          <a:xfrm>
            <a:off x="8454934" y="3407099"/>
            <a:ext cx="26517" cy="22119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Rounded Rectangle 72"/>
          <p:cNvSpPr/>
          <p:nvPr/>
        </p:nvSpPr>
        <p:spPr>
          <a:xfrm>
            <a:off x="8514631" y="3409965"/>
            <a:ext cx="26517" cy="215461"/>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Rounded Rectangle 73"/>
          <p:cNvSpPr/>
          <p:nvPr/>
        </p:nvSpPr>
        <p:spPr>
          <a:xfrm>
            <a:off x="8574329" y="3459891"/>
            <a:ext cx="26517" cy="11560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Rounded Rectangle 74"/>
          <p:cNvSpPr/>
          <p:nvPr/>
        </p:nvSpPr>
        <p:spPr>
          <a:xfrm>
            <a:off x="8634026" y="3429368"/>
            <a:ext cx="26517" cy="1766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Rounded Rectangle 75"/>
          <p:cNvSpPr/>
          <p:nvPr/>
        </p:nvSpPr>
        <p:spPr>
          <a:xfrm>
            <a:off x="8693723" y="3373861"/>
            <a:ext cx="26517" cy="28766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Rounded Rectangle 76"/>
          <p:cNvSpPr/>
          <p:nvPr/>
        </p:nvSpPr>
        <p:spPr>
          <a:xfrm>
            <a:off x="8753420" y="3377571"/>
            <a:ext cx="26517" cy="2802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Rounded Rectangle 77"/>
          <p:cNvSpPr/>
          <p:nvPr/>
        </p:nvSpPr>
        <p:spPr>
          <a:xfrm>
            <a:off x="8813118" y="3440577"/>
            <a:ext cx="26517" cy="154237"/>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Rounded Rectangle 78"/>
          <p:cNvSpPr/>
          <p:nvPr/>
        </p:nvSpPr>
        <p:spPr>
          <a:xfrm>
            <a:off x="8872815" y="3442426"/>
            <a:ext cx="26517" cy="15053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Rounded Rectangle 79"/>
          <p:cNvSpPr/>
          <p:nvPr/>
        </p:nvSpPr>
        <p:spPr>
          <a:xfrm>
            <a:off x="8932512" y="3391117"/>
            <a:ext cx="26517" cy="253157"/>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Rounded Rectangle 80"/>
          <p:cNvSpPr/>
          <p:nvPr/>
        </p:nvSpPr>
        <p:spPr>
          <a:xfrm>
            <a:off x="8992210" y="3396259"/>
            <a:ext cx="26517" cy="242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Rounded Rectangle 81"/>
          <p:cNvSpPr/>
          <p:nvPr/>
        </p:nvSpPr>
        <p:spPr>
          <a:xfrm>
            <a:off x="9051907" y="3444049"/>
            <a:ext cx="26517" cy="14729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Rounded Rectangle 82"/>
          <p:cNvSpPr/>
          <p:nvPr/>
        </p:nvSpPr>
        <p:spPr>
          <a:xfrm>
            <a:off x="9111604" y="3462861"/>
            <a:ext cx="26517" cy="10966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Rounded Rectangle 83"/>
          <p:cNvSpPr/>
          <p:nvPr/>
        </p:nvSpPr>
        <p:spPr>
          <a:xfrm>
            <a:off x="9171301" y="3401655"/>
            <a:ext cx="26517" cy="23208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Rounded Rectangle 84"/>
          <p:cNvSpPr/>
          <p:nvPr/>
        </p:nvSpPr>
        <p:spPr>
          <a:xfrm>
            <a:off x="9230999" y="3377228"/>
            <a:ext cx="26517" cy="2809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Rounded Rectangle 85"/>
          <p:cNvSpPr/>
          <p:nvPr/>
        </p:nvSpPr>
        <p:spPr>
          <a:xfrm>
            <a:off x="9290696" y="3413331"/>
            <a:ext cx="26517" cy="20872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Rounded Rectangle 86"/>
          <p:cNvSpPr/>
          <p:nvPr/>
        </p:nvSpPr>
        <p:spPr>
          <a:xfrm>
            <a:off x="9350393" y="3472018"/>
            <a:ext cx="26517" cy="91355"/>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Rounded Rectangle 87"/>
          <p:cNvSpPr/>
          <p:nvPr/>
        </p:nvSpPr>
        <p:spPr>
          <a:xfrm>
            <a:off x="9410091" y="3396526"/>
            <a:ext cx="26517" cy="24233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Rounded Rectangle 88"/>
          <p:cNvSpPr/>
          <p:nvPr/>
        </p:nvSpPr>
        <p:spPr>
          <a:xfrm>
            <a:off x="10616184" y="3367830"/>
            <a:ext cx="26517" cy="29973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Rounded Rectangle 89"/>
          <p:cNvSpPr/>
          <p:nvPr/>
        </p:nvSpPr>
        <p:spPr>
          <a:xfrm>
            <a:off x="10684878" y="3386778"/>
            <a:ext cx="26517" cy="2618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Rounded Rectangle 90"/>
          <p:cNvSpPr/>
          <p:nvPr/>
        </p:nvSpPr>
        <p:spPr>
          <a:xfrm>
            <a:off x="10753572" y="3456644"/>
            <a:ext cx="26517" cy="12210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Rounded Rectangle 91"/>
          <p:cNvSpPr/>
          <p:nvPr/>
        </p:nvSpPr>
        <p:spPr>
          <a:xfrm>
            <a:off x="10822267" y="3433956"/>
            <a:ext cx="26517" cy="16747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Rounded Rectangle 92"/>
          <p:cNvSpPr/>
          <p:nvPr/>
        </p:nvSpPr>
        <p:spPr>
          <a:xfrm>
            <a:off x="10890961" y="3397995"/>
            <a:ext cx="26517" cy="239401"/>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4" name="Rounded Rectangle 93"/>
          <p:cNvSpPr/>
          <p:nvPr/>
        </p:nvSpPr>
        <p:spPr>
          <a:xfrm>
            <a:off x="10959655" y="3413312"/>
            <a:ext cx="26517" cy="208767"/>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Rounded Rectangle 94"/>
          <p:cNvSpPr/>
          <p:nvPr/>
        </p:nvSpPr>
        <p:spPr>
          <a:xfrm>
            <a:off x="11028350" y="3450036"/>
            <a:ext cx="26517" cy="13531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Rounded Rectangle 95"/>
          <p:cNvSpPr/>
          <p:nvPr/>
        </p:nvSpPr>
        <p:spPr>
          <a:xfrm>
            <a:off x="11097044" y="3447288"/>
            <a:ext cx="26517" cy="140815"/>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7" name="Rounded Rectangle 96"/>
          <p:cNvSpPr/>
          <p:nvPr/>
        </p:nvSpPr>
        <p:spPr>
          <a:xfrm>
            <a:off x="11165739" y="3385680"/>
            <a:ext cx="26517" cy="26403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8" name="Connector 97"/>
          <p:cNvCxnSpPr/>
          <p:nvPr/>
        </p:nvCxnSpPr>
        <p:spPr>
          <a:xfrm>
            <a:off x="9171432" y="2437333"/>
            <a:ext cx="0" cy="1313535"/>
          </a:xfrm>
          <a:prstGeom prst="line">
            <a:avLst/>
          </a:prstGeom>
          <a:ln w="2159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sp>
        <p:nvSpPr>
          <p:cNvPr id="99" name="TextBox 98"/>
          <p:cNvSpPr txBox="1"/>
          <p:nvPr/>
        </p:nvSpPr>
        <p:spPr>
          <a:xfrm>
            <a:off x="7955280" y="3995928"/>
            <a:ext cx="3108960" cy="265176"/>
          </a:xfrm>
          <a:prstGeom prst="rect">
            <a:avLst/>
          </a:prstGeom>
          <a:noFill/>
        </p:spPr>
        <p:txBody>
          <a:bodyPr wrap="square" lIns="0" rIns="0" tIns="0" bIns="0" anchor="t">
            <a:spAutoFit/>
          </a:bodyPr>
          <a:lstStyle/>
          <a:p>
            <a:pPr algn="ctr">
              <a:lnSpc>
                <a:spcPct val="110000"/>
              </a:lnSpc>
              <a:spcAft>
                <a:spcPts val="0"/>
              </a:spcAft>
            </a:pPr>
            <a:r>
              <a:rPr sz="1400" b="1">
                <a:solidFill>
                  <a:srgbClr val="FFCF82"/>
                </a:solidFill>
                <a:latin typeface="Arial"/>
                <a:ea typeface="Arial"/>
                <a:cs typeface="Arial"/>
              </a:rPr>
              <a:t>用户与助手语音交叠</a:t>
            </a:r>
          </a:p>
        </p:txBody>
      </p:sp>
      <p:sp>
        <p:nvSpPr>
          <p:cNvPr id="100" name="TextBox 99"/>
          <p:cNvSpPr txBox="1"/>
          <p:nvPr/>
        </p:nvSpPr>
        <p:spPr>
          <a:xfrm>
            <a:off x="594360" y="2884932"/>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01</a:t>
            </a:r>
          </a:p>
        </p:txBody>
      </p:sp>
      <p:sp>
        <p:nvSpPr>
          <p:cNvPr id="101" name="TextBox 100"/>
          <p:cNvSpPr txBox="1"/>
          <p:nvPr/>
        </p:nvSpPr>
        <p:spPr>
          <a:xfrm>
            <a:off x="1033271" y="2852928"/>
            <a:ext cx="5010912" cy="365760"/>
          </a:xfrm>
          <a:prstGeom prst="rect">
            <a:avLst/>
          </a:prstGeom>
          <a:noFill/>
        </p:spPr>
        <p:txBody>
          <a:bodyPr wrap="square" lIns="0" rIns="0" tIns="0" bIns="0" anchor="t">
            <a:spAutoFit/>
          </a:bodyPr>
          <a:lstStyle/>
          <a:p>
            <a:pPr algn="l">
              <a:lnSpc>
                <a:spcPct val="110000"/>
              </a:lnSpc>
              <a:spcAft>
                <a:spcPts val="0"/>
              </a:spcAft>
            </a:pPr>
            <a:r>
              <a:rPr sz="2100" b="1" lang="zh-CN">
                <a:solidFill>
                  <a:srgbClr val="142B45"/>
                </a:solidFill>
                <a:latin typeface="Noto Sans CJK SC"/>
                <a:ea typeface="Noto Sans CJK SC"/>
                <a:cs typeface="Noto Sans CJK SC"/>
              </a:rPr>
              <a:t>输入输出并行</a:t>
            </a:r>
          </a:p>
        </p:txBody>
      </p:sp>
      <p:sp>
        <p:nvSpPr>
          <p:cNvPr id="102" name="TextBox 101"/>
          <p:cNvSpPr txBox="1"/>
          <p:nvPr/>
        </p:nvSpPr>
        <p:spPr>
          <a:xfrm>
            <a:off x="1033271" y="3246120"/>
            <a:ext cx="4937760" cy="557784"/>
          </a:xfrm>
          <a:prstGeom prst="rect">
            <a:avLst/>
          </a:prstGeom>
          <a:noFill/>
        </p:spPr>
        <p:txBody>
          <a:bodyPr wrap="square" lIns="0" rIns="0" tIns="0" bIns="0" anchor="t">
            <a:spAutoFit/>
          </a:bodyPr>
          <a:lstStyle/>
          <a:p>
            <a:pPr algn="l">
              <a:lnSpc>
                <a:spcPct val="110000"/>
              </a:lnSpc>
              <a:spcAft>
                <a:spcPts val="0"/>
              </a:spcAft>
            </a:pPr>
            <a:r>
              <a:rPr sz="1700" b="0" lang="zh-CN">
                <a:solidFill>
                  <a:srgbClr val="586B7E"/>
                </a:solidFill>
                <a:latin typeface="Noto Sans CJK SC"/>
                <a:ea typeface="Noto Sans CJK SC"/>
                <a:cs typeface="Noto Sans CJK SC"/>
              </a:rPr>
              <a:t>助手回应期间，</a:t>
            </a:r>
          </a:p>
          <a:p>
            <a:pPr algn="l">
              <a:lnSpc>
                <a:spcPct val="110000"/>
              </a:lnSpc>
              <a:spcAft>
                <a:spcPts val="0"/>
              </a:spcAft>
            </a:pPr>
            <a:r>
              <a:rPr sz="1700" b="0" lang="zh-CN">
                <a:solidFill>
                  <a:srgbClr val="586B7E"/>
                </a:solidFill>
                <a:latin typeface="Noto Sans CJK SC"/>
                <a:ea typeface="Noto Sans CJK SC"/>
                <a:cs typeface="Noto Sans CJK SC"/>
              </a:rPr>
              <a:t>仍持续接收用户语音。</a:t>
            </a:r>
          </a:p>
        </p:txBody>
      </p:sp>
      <p:sp>
        <p:nvSpPr>
          <p:cNvPr id="103" name="TextBox 102"/>
          <p:cNvSpPr txBox="1"/>
          <p:nvPr/>
        </p:nvSpPr>
        <p:spPr>
          <a:xfrm>
            <a:off x="594360" y="3835908"/>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008E96"/>
                </a:solidFill>
                <a:latin typeface="Arial"/>
                <a:ea typeface="Arial"/>
                <a:cs typeface="Arial"/>
              </a:rPr>
              <a:t>02</a:t>
            </a:r>
          </a:p>
        </p:txBody>
      </p:sp>
      <p:sp>
        <p:nvSpPr>
          <p:cNvPr id="104" name="TextBox 103"/>
          <p:cNvSpPr txBox="1"/>
          <p:nvPr/>
        </p:nvSpPr>
        <p:spPr>
          <a:xfrm>
            <a:off x="1033271" y="3803904"/>
            <a:ext cx="5010912" cy="365760"/>
          </a:xfrm>
          <a:prstGeom prst="rect">
            <a:avLst/>
          </a:prstGeom>
          <a:noFill/>
        </p:spPr>
        <p:txBody>
          <a:bodyPr wrap="square" lIns="0" rIns="0" tIns="0" bIns="0" anchor="t">
            <a:spAutoFit/>
          </a:bodyPr>
          <a:lstStyle/>
          <a:p>
            <a:pPr algn="l">
              <a:lnSpc>
                <a:spcPct val="110000"/>
              </a:lnSpc>
              <a:spcAft>
                <a:spcPts val="0"/>
              </a:spcAft>
            </a:pPr>
            <a:r>
              <a:rPr sz="2100" b="1" lang="zh-CN">
                <a:solidFill>
                  <a:srgbClr val="142B45"/>
                </a:solidFill>
                <a:latin typeface="Noto Sans CJK SC"/>
                <a:ea typeface="Noto Sans CJK SC"/>
                <a:cs typeface="Noto Sans CJK SC"/>
              </a:rPr>
              <a:t>流式响应</a:t>
            </a:r>
          </a:p>
        </p:txBody>
      </p:sp>
      <p:sp>
        <p:nvSpPr>
          <p:cNvPr id="105" name="TextBox 104"/>
          <p:cNvSpPr txBox="1"/>
          <p:nvPr/>
        </p:nvSpPr>
        <p:spPr>
          <a:xfrm>
            <a:off x="1033271" y="4197096"/>
            <a:ext cx="4937760" cy="557784"/>
          </a:xfrm>
          <a:prstGeom prst="rect">
            <a:avLst/>
          </a:prstGeom>
          <a:noFill/>
        </p:spPr>
        <p:txBody>
          <a:bodyPr wrap="square" lIns="0" rIns="0" tIns="0" bIns="0" anchor="t">
            <a:spAutoFit/>
          </a:bodyPr>
          <a:lstStyle/>
          <a:p>
            <a:pPr algn="l">
              <a:lnSpc>
                <a:spcPct val="110000"/>
              </a:lnSpc>
              <a:spcAft>
                <a:spcPts val="0"/>
              </a:spcAft>
            </a:pPr>
            <a:r>
              <a:rPr sz="1700" b="0" lang="zh-CN">
                <a:solidFill>
                  <a:srgbClr val="586B7E"/>
                </a:solidFill>
                <a:latin typeface="Noto Sans CJK SC"/>
                <a:ea typeface="Noto Sans CJK SC"/>
                <a:cs typeface="Noto Sans CJK SC"/>
              </a:rPr>
              <a:t>文本与音频增量输出，</a:t>
            </a:r>
          </a:p>
          <a:p>
            <a:pPr algn="l">
              <a:lnSpc>
                <a:spcPct val="110000"/>
              </a:lnSpc>
              <a:spcAft>
                <a:spcPts val="0"/>
              </a:spcAft>
            </a:pPr>
            <a:r>
              <a:rPr sz="1700" b="0" lang="zh-CN">
                <a:solidFill>
                  <a:srgbClr val="586B7E"/>
                </a:solidFill>
                <a:latin typeface="Noto Sans CJK SC"/>
                <a:ea typeface="Noto Sans CJK SC"/>
                <a:cs typeface="Noto Sans CJK SC"/>
              </a:rPr>
              <a:t>无需等待完整回答。</a:t>
            </a:r>
          </a:p>
        </p:txBody>
      </p:sp>
      <p:sp>
        <p:nvSpPr>
          <p:cNvPr id="106" name="Rounded Rectangle 105"/>
          <p:cNvSpPr/>
          <p:nvPr/>
        </p:nvSpPr>
        <p:spPr>
          <a:xfrm>
            <a:off x="548640" y="5020056"/>
            <a:ext cx="11082528" cy="1298448"/>
          </a:xfrm>
          <a:prstGeom prst="roundRect">
            <a:avLst>
              <a:gd name="adj" fmla="val 10000"/>
            </a:avLst>
          </a:prstGeom>
          <a:solidFill>
            <a:srgbClr val="FBF4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Rectangle 106"/>
          <p:cNvSpPr/>
          <p:nvPr/>
        </p:nvSpPr>
        <p:spPr>
          <a:xfrm>
            <a:off x="548640" y="5020056"/>
            <a:ext cx="41148" cy="12984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TextBox 107"/>
          <p:cNvSpPr txBox="1"/>
          <p:nvPr/>
        </p:nvSpPr>
        <p:spPr>
          <a:xfrm>
            <a:off x="731520" y="5166360"/>
            <a:ext cx="365760" cy="256032"/>
          </a:xfrm>
          <a:prstGeom prst="rect">
            <a:avLst/>
          </a:prstGeom>
          <a:noFill/>
        </p:spPr>
        <p:txBody>
          <a:bodyPr wrap="square" lIns="0" rIns="0" tIns="0" bIns="0" anchor="t">
            <a:spAutoFit/>
          </a:bodyPr>
          <a:lstStyle/>
          <a:p>
            <a:pPr algn="l">
              <a:lnSpc>
                <a:spcPct val="110000"/>
              </a:lnSpc>
              <a:spcAft>
                <a:spcPts val="0"/>
              </a:spcAft>
            </a:pPr>
            <a:r>
              <a:rPr sz="1500" b="1">
                <a:solidFill>
                  <a:srgbClr val="AD761E"/>
                </a:solidFill>
                <a:latin typeface="Arial"/>
                <a:ea typeface="Arial"/>
                <a:cs typeface="Arial"/>
              </a:rPr>
              <a:t>03</a:t>
            </a:r>
          </a:p>
        </p:txBody>
      </p:sp>
      <p:sp>
        <p:nvSpPr>
          <p:cNvPr id="109" name="TextBox 108"/>
          <p:cNvSpPr txBox="1"/>
          <p:nvPr/>
        </p:nvSpPr>
        <p:spPr>
          <a:xfrm>
            <a:off x="1170432" y="5129784"/>
            <a:ext cx="2816352" cy="320040"/>
          </a:xfrm>
          <a:prstGeom prst="rect">
            <a:avLst/>
          </a:prstGeom>
          <a:noFill/>
        </p:spPr>
        <p:txBody>
          <a:bodyPr wrap="square" lIns="0" rIns="0" tIns="0" bIns="0" anchor="t">
            <a:spAutoFit/>
          </a:bodyPr>
          <a:lstStyle/>
          <a:p>
            <a:pPr algn="l">
              <a:lnSpc>
                <a:spcPct val="110000"/>
              </a:lnSpc>
              <a:spcAft>
                <a:spcPts val="0"/>
              </a:spcAft>
            </a:pPr>
            <a:r>
              <a:rPr sz="1800" b="1" lang="zh-CN">
                <a:solidFill>
                  <a:srgbClr val="142B45"/>
                </a:solidFill>
                <a:latin typeface="Noto Sans CJK SC"/>
                <a:ea typeface="Noto Sans CJK SC"/>
                <a:cs typeface="Noto Sans CJK SC"/>
              </a:rPr>
              <a:t>实时交互调整</a:t>
            </a:r>
          </a:p>
        </p:txBody>
      </p:sp>
      <p:sp>
        <p:nvSpPr>
          <p:cNvPr id="110" name="TextBox 109"/>
          <p:cNvSpPr txBox="1"/>
          <p:nvPr/>
        </p:nvSpPr>
        <p:spPr>
          <a:xfrm>
            <a:off x="3968496" y="5170932"/>
            <a:ext cx="7424927" cy="274320"/>
          </a:xfrm>
          <a:prstGeom prst="rect">
            <a:avLst/>
          </a:prstGeom>
          <a:noFill/>
        </p:spPr>
        <p:txBody>
          <a:bodyPr wrap="square" lIns="0" rIns="0" tIns="0" bIns="0" anchor="t">
            <a:spAutoFit/>
          </a:bodyPr>
          <a:lstStyle/>
          <a:p>
            <a:pPr algn="l">
              <a:lnSpc>
                <a:spcPct val="110000"/>
              </a:lnSpc>
              <a:spcAft>
                <a:spcPts val="0"/>
              </a:spcAft>
            </a:pPr>
            <a:r>
              <a:rPr sz="1350" b="0" lang="zh-CN">
                <a:solidFill>
                  <a:srgbClr val="586B7E"/>
                </a:solidFill>
                <a:latin typeface="Noto Sans CJK SC"/>
                <a:ea typeface="Noto Sans CJK SC"/>
                <a:cs typeface="Noto Sans CJK SC"/>
              </a:rPr>
              <a:t>结合新输入，继续回应、调整后续内容或让出话语权。</a:t>
            </a:r>
          </a:p>
        </p:txBody>
      </p:sp>
      <p:cxnSp>
        <p:nvCxnSpPr>
          <p:cNvPr id="111" name="Connector 110"/>
          <p:cNvCxnSpPr/>
          <p:nvPr/>
        </p:nvCxnSpPr>
        <p:spPr>
          <a:xfrm>
            <a:off x="777240" y="5495544"/>
            <a:ext cx="10625328" cy="0"/>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cxnSp>
        <p:nvCxnSpPr>
          <p:cNvPr id="112" name="Connector 111"/>
          <p:cNvCxnSpPr/>
          <p:nvPr/>
        </p:nvCxnSpPr>
        <p:spPr>
          <a:xfrm>
            <a:off x="6071616" y="5605272"/>
            <a:ext cx="0" cy="530352"/>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113" name="TextBox 112"/>
          <p:cNvSpPr txBox="1"/>
          <p:nvPr/>
        </p:nvSpPr>
        <p:spPr>
          <a:xfrm>
            <a:off x="786384" y="5568696"/>
            <a:ext cx="5038344" cy="283464"/>
          </a:xfrm>
          <a:prstGeom prst="rect">
            <a:avLst/>
          </a:prstGeom>
          <a:noFill/>
        </p:spPr>
        <p:txBody>
          <a:bodyPr wrap="square" lIns="0" rIns="0" tIns="0" bIns="0" anchor="t">
            <a:spAutoFit/>
          </a:bodyPr>
          <a:lstStyle/>
          <a:p>
            <a:pPr algn="l">
              <a:lnSpc>
                <a:spcPct val="110000"/>
              </a:lnSpc>
              <a:spcAft>
                <a:spcPts val="0"/>
              </a:spcAft>
            </a:pPr>
            <a:r>
              <a:rPr sz="1500" b="1" lang="zh-CN">
                <a:solidFill>
                  <a:srgbClr val="327CEC"/>
                </a:solidFill>
                <a:latin typeface="Noto Sans CJK SC"/>
                <a:ea typeface="Noto Sans CJK SC"/>
                <a:cs typeface="Noto Sans CJK SC"/>
              </a:rPr>
              <a:t>硬打断：强制停止</a:t>
            </a:r>
          </a:p>
        </p:txBody>
      </p:sp>
      <p:sp>
        <p:nvSpPr>
          <p:cNvPr id="114" name="TextBox 113"/>
          <p:cNvSpPr txBox="1"/>
          <p:nvPr/>
        </p:nvSpPr>
        <p:spPr>
          <a:xfrm>
            <a:off x="786384" y="5843016"/>
            <a:ext cx="5038344" cy="393192"/>
          </a:xfrm>
          <a:prstGeom prst="rect">
            <a:avLst/>
          </a:prstGeom>
          <a:noFill/>
        </p:spPr>
        <p:txBody>
          <a:bodyPr wrap="square" lIns="0" rIns="0" tIns="0" bIns="0" anchor="t">
            <a:spAutoFit/>
          </a:bodyPr>
          <a:lstStyle/>
          <a:p>
            <a:pPr algn="l">
              <a:lnSpc>
                <a:spcPct val="110000"/>
              </a:lnSpc>
              <a:spcAft>
                <a:spcPts val="0"/>
              </a:spcAft>
            </a:pPr>
            <a:r>
              <a:rPr sz="1250" b="0" lang="zh-CN">
                <a:solidFill>
                  <a:srgbClr val="142B45"/>
                </a:solidFill>
                <a:latin typeface="Noto Sans CJK SC"/>
                <a:ea typeface="Noto Sans CJK SC"/>
                <a:cs typeface="Noto Sans CJK SC"/>
              </a:rPr>
              <a:t>客户端 / 服务端控制</a:t>
            </a:r>
          </a:p>
          <a:p>
            <a:pPr algn="l">
              <a:lnSpc>
                <a:spcPct val="110000"/>
              </a:lnSpc>
              <a:spcAft>
                <a:spcPts val="0"/>
              </a:spcAft>
            </a:pPr>
            <a:r>
              <a:rPr sz="1250" b="0" lang="zh-CN">
                <a:solidFill>
                  <a:srgbClr val="142B45"/>
                </a:solidFill>
                <a:latin typeface="Noto Sans CJK SC"/>
                <a:ea typeface="Noto Sans CJK SC"/>
                <a:cs typeface="Noto Sans CJK SC"/>
              </a:rPr>
              <a:t>显式 cancel 或配置的 VAD 策略</a:t>
            </a:r>
          </a:p>
        </p:txBody>
      </p:sp>
      <p:sp>
        <p:nvSpPr>
          <p:cNvPr id="115" name="TextBox 114"/>
          <p:cNvSpPr txBox="1"/>
          <p:nvPr/>
        </p:nvSpPr>
        <p:spPr>
          <a:xfrm>
            <a:off x="6318504" y="5568696"/>
            <a:ext cx="5065776" cy="283464"/>
          </a:xfrm>
          <a:prstGeom prst="rect">
            <a:avLst/>
          </a:prstGeom>
          <a:noFill/>
        </p:spPr>
        <p:txBody>
          <a:bodyPr wrap="square" lIns="0" rIns="0" tIns="0" bIns="0" anchor="t">
            <a:spAutoFit/>
          </a:bodyPr>
          <a:lstStyle/>
          <a:p>
            <a:pPr algn="l">
              <a:lnSpc>
                <a:spcPct val="110000"/>
              </a:lnSpc>
              <a:spcAft>
                <a:spcPts val="0"/>
              </a:spcAft>
            </a:pPr>
            <a:r>
              <a:rPr sz="1450" b="1" lang="zh-CN">
                <a:solidFill>
                  <a:srgbClr val="008E96"/>
                </a:solidFill>
                <a:latin typeface="Noto Sans CJK SC"/>
                <a:ea typeface="Noto Sans CJK SC"/>
                <a:cs typeface="Noto Sans CJK SC"/>
              </a:rPr>
              <a:t>软打断：自主让出话语权 · 依赖模型能力</a:t>
            </a:r>
          </a:p>
        </p:txBody>
      </p:sp>
      <p:sp>
        <p:nvSpPr>
          <p:cNvPr id="116" name="TextBox 115"/>
          <p:cNvSpPr txBox="1"/>
          <p:nvPr/>
        </p:nvSpPr>
        <p:spPr>
          <a:xfrm>
            <a:off x="6318504" y="5843016"/>
            <a:ext cx="5065776" cy="393192"/>
          </a:xfrm>
          <a:prstGeom prst="rect">
            <a:avLst/>
          </a:prstGeom>
          <a:noFill/>
        </p:spPr>
        <p:txBody>
          <a:bodyPr wrap="square" lIns="0" rIns="0" tIns="0" bIns="0" anchor="t">
            <a:spAutoFit/>
          </a:bodyPr>
          <a:lstStyle/>
          <a:p>
            <a:pPr algn="l">
              <a:lnSpc>
                <a:spcPct val="110000"/>
              </a:lnSpc>
              <a:spcAft>
                <a:spcPts val="0"/>
              </a:spcAft>
            </a:pPr>
            <a:r>
              <a:rPr sz="1250" b="0" lang="zh-CN">
                <a:solidFill>
                  <a:srgbClr val="142B45"/>
                </a:solidFill>
                <a:latin typeface="Noto Sans CJK SC"/>
                <a:ea typeface="Noto Sans CJK SC"/>
                <a:cs typeface="Noto Sans CJK SC"/>
              </a:rPr>
              <a:t>模型结合持续输入与上下文，</a:t>
            </a:r>
          </a:p>
          <a:p>
            <a:pPr algn="l">
              <a:lnSpc>
                <a:spcPct val="110000"/>
              </a:lnSpc>
              <a:spcAft>
                <a:spcPts val="0"/>
              </a:spcAft>
            </a:pPr>
            <a:r>
              <a:rPr sz="1250" b="0" lang="zh-CN">
                <a:solidFill>
                  <a:srgbClr val="142B45"/>
                </a:solidFill>
                <a:latin typeface="Noto Sans CJK SC"/>
                <a:ea typeface="Noto Sans CJK SC"/>
                <a:cs typeface="Noto Sans CJK SC"/>
              </a:rPr>
              <a:t>自主决定何时停止发言。</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体验与交互方式</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不同模型如何处理实时交互</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交互控制方式取决于模型能力与所选 demo。</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03 / 12</a:t>
            </a:r>
          </a:p>
        </p:txBody>
      </p:sp>
      <p:sp>
        <p:nvSpPr>
          <p:cNvPr id="12" name="TextBox 11"/>
          <p:cNvSpPr txBox="1"/>
          <p:nvPr/>
        </p:nvSpPr>
        <p:spPr>
          <a:xfrm>
            <a:off x="722376" y="2103120"/>
            <a:ext cx="1874519"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模型</a:t>
            </a:r>
          </a:p>
        </p:txBody>
      </p:sp>
      <p:sp>
        <p:nvSpPr>
          <p:cNvPr id="13" name="TextBox 12"/>
          <p:cNvSpPr txBox="1"/>
          <p:nvPr/>
        </p:nvSpPr>
        <p:spPr>
          <a:xfrm>
            <a:off x="2807208" y="2103120"/>
            <a:ext cx="4370832"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交互方式</a:t>
            </a:r>
          </a:p>
        </p:txBody>
      </p:sp>
      <p:sp>
        <p:nvSpPr>
          <p:cNvPr id="14" name="TextBox 13"/>
          <p:cNvSpPr txBox="1"/>
          <p:nvPr/>
        </p:nvSpPr>
        <p:spPr>
          <a:xfrm>
            <a:off x="7406640" y="2103120"/>
            <a:ext cx="3904487"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交互效果</a:t>
            </a:r>
          </a:p>
        </p:txBody>
      </p:sp>
      <p:sp>
        <p:nvSpPr>
          <p:cNvPr id="15" name="Rounded Rectangle 14"/>
          <p:cNvSpPr/>
          <p:nvPr/>
        </p:nvSpPr>
        <p:spPr>
          <a:xfrm>
            <a:off x="548640" y="299923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22376" y="304952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MiniCPM-o 4.5</a:t>
            </a:r>
          </a:p>
        </p:txBody>
      </p:sp>
      <p:sp>
        <p:nvSpPr>
          <p:cNvPr id="17" name="TextBox 16"/>
          <p:cNvSpPr txBox="1"/>
          <p:nvPr/>
        </p:nvSpPr>
        <p:spPr>
          <a:xfrm>
            <a:off x="2807208" y="3049524"/>
            <a:ext cx="4370832"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持续接收语音与视频输入</a:t>
            </a:r>
          </a:p>
          <a:p>
            <a:pPr algn="l">
              <a:lnSpc>
                <a:spcPct val="110000"/>
              </a:lnSpc>
              <a:spcAft>
                <a:spcPts val="0"/>
              </a:spcAft>
            </a:pPr>
            <a:r>
              <a:rPr sz="1180" b="0" lang="zh-CN">
                <a:solidFill>
                  <a:srgbClr val="142B45"/>
                </a:solidFill>
                <a:latin typeface="Noto Sans CJK SC"/>
                <a:ea typeface="Noto Sans CJK SC"/>
                <a:cs typeface="Noto Sans CJK SC"/>
              </a:rPr>
              <a:t>模型决定 LISTEN / SPEAK</a:t>
            </a:r>
          </a:p>
        </p:txBody>
      </p:sp>
      <p:sp>
        <p:nvSpPr>
          <p:cNvPr id="18" name="TextBox 17"/>
          <p:cNvSpPr txBox="1"/>
          <p:nvPr/>
        </p:nvSpPr>
        <p:spPr>
          <a:xfrm>
            <a:off x="7406640" y="3049524"/>
            <a:ext cx="3904488"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在持续会话中聆听或回应</a:t>
            </a:r>
          </a:p>
          <a:p>
            <a:pPr algn="l">
              <a:lnSpc>
                <a:spcPct val="110000"/>
              </a:lnSpc>
              <a:spcAft>
                <a:spcPts val="0"/>
              </a:spcAft>
            </a:pPr>
            <a:r>
              <a:rPr sz="1180" b="0" lang="zh-CN">
                <a:solidFill>
                  <a:srgbClr val="142B45"/>
                </a:solidFill>
                <a:latin typeface="Noto Sans CJK SC"/>
                <a:ea typeface="Noto Sans CJK SC"/>
                <a:cs typeface="Noto Sans CJK SC"/>
              </a:rPr>
              <a:t>默认不依赖 Server VAD</a:t>
            </a:r>
          </a:p>
        </p:txBody>
      </p:sp>
      <p:sp>
        <p:nvSpPr>
          <p:cNvPr id="19" name="Rounded Rectangle 18"/>
          <p:cNvSpPr/>
          <p:nvPr/>
        </p:nvSpPr>
        <p:spPr>
          <a:xfrm>
            <a:off x="548640" y="359359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22376" y="364388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Qwen3-Omni</a:t>
            </a:r>
          </a:p>
        </p:txBody>
      </p:sp>
      <p:sp>
        <p:nvSpPr>
          <p:cNvPr id="21" name="TextBox 20"/>
          <p:cNvSpPr txBox="1"/>
          <p:nvPr/>
        </p:nvSpPr>
        <p:spPr>
          <a:xfrm>
            <a:off x="2807208" y="3643884"/>
            <a:ext cx="4370832"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Server VAD 检测用户语音</a:t>
            </a:r>
          </a:p>
          <a:p>
            <a:pPr algn="l">
              <a:lnSpc>
                <a:spcPct val="110000"/>
              </a:lnSpc>
              <a:spcAft>
                <a:spcPts val="0"/>
              </a:spcAft>
            </a:pPr>
            <a:r>
              <a:rPr sz="1180" b="0" lang="zh-CN">
                <a:solidFill>
                  <a:srgbClr val="142B45"/>
                </a:solidFill>
                <a:latin typeface="Noto Sans CJK SC"/>
                <a:ea typeface="Noto Sans CJK SC"/>
                <a:cs typeface="Noto Sans CJK SC"/>
              </a:rPr>
              <a:t>持续接收麦克风输入</a:t>
            </a:r>
          </a:p>
        </p:txBody>
      </p:sp>
      <p:sp>
        <p:nvSpPr>
          <p:cNvPr id="22" name="TextBox 21"/>
          <p:cNvSpPr txBox="1"/>
          <p:nvPr/>
        </p:nvSpPr>
        <p:spPr>
          <a:xfrm>
            <a:off x="7406640" y="3643884"/>
            <a:ext cx="3904488"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清空待播音频</a:t>
            </a:r>
          </a:p>
          <a:p>
            <a:pPr algn="l">
              <a:lnSpc>
                <a:spcPct val="110000"/>
              </a:lnSpc>
              <a:spcAft>
                <a:spcPts val="0"/>
              </a:spcAft>
            </a:pPr>
            <a:r>
              <a:rPr sz="1180" b="0" lang="zh-CN">
                <a:solidFill>
                  <a:srgbClr val="142B45"/>
                </a:solidFill>
                <a:latin typeface="Noto Sans CJK SC"/>
                <a:ea typeface="Noto Sans CJK SC"/>
                <a:cs typeface="Noto Sans CJK SC"/>
              </a:rPr>
              <a:t>打断当前 response*</a:t>
            </a:r>
          </a:p>
        </p:txBody>
      </p:sp>
      <p:sp>
        <p:nvSpPr>
          <p:cNvPr id="23" name="Rounded Rectangle 22"/>
          <p:cNvSpPr/>
          <p:nvPr/>
        </p:nvSpPr>
        <p:spPr>
          <a:xfrm>
            <a:off x="548640" y="418795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22376" y="423824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AURA</a:t>
            </a:r>
          </a:p>
        </p:txBody>
      </p:sp>
      <p:sp>
        <p:nvSpPr>
          <p:cNvPr id="25" name="TextBox 24"/>
          <p:cNvSpPr txBox="1"/>
          <p:nvPr/>
        </p:nvSpPr>
        <p:spPr>
          <a:xfrm>
            <a:off x="2807208" y="4238244"/>
            <a:ext cx="4370832"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按住说话，松开后</a:t>
            </a:r>
          </a:p>
          <a:p>
            <a:pPr algn="l">
              <a:lnSpc>
                <a:spcPct val="110000"/>
              </a:lnSpc>
              <a:spcAft>
                <a:spcPts val="0"/>
              </a:spcAft>
            </a:pPr>
            <a:r>
              <a:rPr sz="1180" b="0" lang="zh-CN">
                <a:solidFill>
                  <a:srgbClr val="142B45"/>
                </a:solidFill>
                <a:latin typeface="Noto Sans CJK SC"/>
                <a:ea typeface="Noto Sans CJK SC"/>
                <a:cs typeface="Noto Sans CJK SC"/>
              </a:rPr>
              <a:t>提交新的音视频输入</a:t>
            </a:r>
          </a:p>
        </p:txBody>
      </p:sp>
      <p:sp>
        <p:nvSpPr>
          <p:cNvPr id="26" name="TextBox 25"/>
          <p:cNvSpPr txBox="1"/>
          <p:nvPr/>
        </p:nvSpPr>
        <p:spPr>
          <a:xfrm>
            <a:off x="7406640" y="4238244"/>
            <a:ext cx="3904488"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按住时停止本地播放</a:t>
            </a:r>
          </a:p>
          <a:p>
            <a:pPr algn="l">
              <a:lnSpc>
                <a:spcPct val="110000"/>
              </a:lnSpc>
              <a:spcAft>
                <a:spcPts val="0"/>
              </a:spcAft>
            </a:pPr>
            <a:r>
              <a:rPr sz="1180" b="0" lang="zh-CN">
                <a:solidFill>
                  <a:srgbClr val="142B45"/>
                </a:solidFill>
                <a:latin typeface="Noto Sans CJK SC"/>
                <a:ea typeface="Noto Sans CJK SC"/>
                <a:cs typeface="Noto Sans CJK SC"/>
              </a:rPr>
              <a:t>服务端仍可继续生成</a:t>
            </a:r>
          </a:p>
        </p:txBody>
      </p:sp>
      <p:sp>
        <p:nvSpPr>
          <p:cNvPr id="27" name="TextBox 26"/>
          <p:cNvSpPr txBox="1"/>
          <p:nvPr/>
        </p:nvSpPr>
        <p:spPr>
          <a:xfrm>
            <a:off x="722376" y="4882896"/>
            <a:ext cx="10744200" cy="237744"/>
          </a:xfrm>
          <a:prstGeom prst="rect">
            <a:avLst/>
          </a:prstGeom>
          <a:noFill/>
        </p:spPr>
        <p:txBody>
          <a:bodyPr wrap="square" lIns="0" rIns="0" tIns="0" bIns="0" anchor="t">
            <a:spAutoFit/>
          </a:bodyPr>
          <a:lstStyle/>
          <a:p>
            <a:pPr algn="l">
              <a:lnSpc>
                <a:spcPct val="110000"/>
              </a:lnSpc>
              <a:spcAft>
                <a:spcPts val="0"/>
              </a:spcAft>
            </a:pPr>
            <a:r>
              <a:rPr sz="1140" b="1" lang="zh-CN">
                <a:solidFill>
                  <a:srgbClr val="586B7E"/>
                </a:solidFill>
                <a:latin typeface="Noto Sans CJK SC"/>
                <a:ea typeface="Noto Sans CJK SC"/>
                <a:cs typeface="Noto Sans CJK SC"/>
              </a:rPr>
              <a:t>PersonaPlex：显式 cancel 会重置对话上下文；断连后需新建 session。</a:t>
            </a:r>
          </a:p>
        </p:txBody>
      </p:sp>
      <p:sp>
        <p:nvSpPr>
          <p:cNvPr id="28" name="Rounded Rectangle 27"/>
          <p:cNvSpPr/>
          <p:nvPr/>
        </p:nvSpPr>
        <p:spPr>
          <a:xfrm>
            <a:off x="54864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85800" y="5367528"/>
            <a:ext cx="312724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327CEC"/>
                </a:solidFill>
                <a:latin typeface="Noto Sans CJK SC"/>
                <a:ea typeface="Noto Sans CJK SC"/>
                <a:cs typeface="Noto Sans CJK SC"/>
              </a:rPr>
              <a:t>模型自主发言</a:t>
            </a:r>
          </a:p>
        </p:txBody>
      </p:sp>
      <p:sp>
        <p:nvSpPr>
          <p:cNvPr id="30" name="TextBox 29"/>
          <p:cNvSpPr txBox="1"/>
          <p:nvPr/>
        </p:nvSpPr>
        <p:spPr>
          <a:xfrm>
            <a:off x="685800" y="5641848"/>
            <a:ext cx="3127248" cy="31089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PersonaPlex · MiniCPM-o 4.5</a:t>
            </a:r>
          </a:p>
          <a:p>
            <a:pPr algn="l">
              <a:lnSpc>
                <a:spcPct val="110000"/>
              </a:lnSpc>
              <a:spcAft>
                <a:spcPts val="0"/>
              </a:spcAft>
            </a:pPr>
            <a:r>
              <a:rPr sz="1050" b="0" lang="zh-CN">
                <a:solidFill>
                  <a:srgbClr val="142B45"/>
                </a:solidFill>
                <a:latin typeface="Noto Sans CJK SC"/>
                <a:ea typeface="Noto Sans CJK SC"/>
                <a:cs typeface="Noto Sans CJK SC"/>
              </a:rPr>
              <a:t>模型决定何时发言</a:t>
            </a:r>
          </a:p>
        </p:txBody>
      </p:sp>
      <p:sp>
        <p:nvSpPr>
          <p:cNvPr id="32" name="Rounded Rectangle 31"/>
          <p:cNvSpPr/>
          <p:nvPr/>
        </p:nvSpPr>
        <p:spPr>
          <a:xfrm>
            <a:off x="438912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4526280" y="5367528"/>
            <a:ext cx="312724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327CEC"/>
                </a:solidFill>
                <a:latin typeface="Noto Sans CJK SC"/>
                <a:ea typeface="Noto Sans CJK SC"/>
                <a:cs typeface="Noto Sans CJK SC"/>
              </a:rPr>
              <a:t>本地停播</a:t>
            </a:r>
          </a:p>
        </p:txBody>
      </p:sp>
      <p:sp>
        <p:nvSpPr>
          <p:cNvPr id="34" name="TextBox 33"/>
          <p:cNvSpPr txBox="1"/>
          <p:nvPr/>
        </p:nvSpPr>
        <p:spPr>
          <a:xfrm>
            <a:off x="4526280" y="5641848"/>
            <a:ext cx="3127248" cy="31089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AURA 按钮 · Qwen VAD demo</a:t>
            </a:r>
          </a:p>
          <a:p>
            <a:pPr algn="l">
              <a:lnSpc>
                <a:spcPct val="110000"/>
              </a:lnSpc>
              <a:spcAft>
                <a:spcPts val="0"/>
              </a:spcAft>
            </a:pPr>
            <a:r>
              <a:rPr sz="1050" b="0" lang="zh-CN">
                <a:solidFill>
                  <a:srgbClr val="142B45"/>
                </a:solidFill>
                <a:latin typeface="Noto Sans CJK SC"/>
                <a:ea typeface="Noto Sans CJK SC"/>
                <a:cs typeface="Noto Sans CJK SC"/>
              </a:rPr>
              <a:t>停止本地播放，推理仍可能继续</a:t>
            </a:r>
          </a:p>
        </p:txBody>
      </p:sp>
      <p:sp>
        <p:nvSpPr>
          <p:cNvPr id="36" name="Rounded Rectangle 35"/>
          <p:cNvSpPr/>
          <p:nvPr/>
        </p:nvSpPr>
        <p:spPr>
          <a:xfrm>
            <a:off x="822960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366760" y="5367528"/>
            <a:ext cx="312724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327CEC"/>
                </a:solidFill>
                <a:latin typeface="Noto Sans CJK SC"/>
                <a:ea typeface="Noto Sans CJK SC"/>
                <a:cs typeface="Noto Sans CJK SC"/>
              </a:rPr>
              <a:t>服务端取消</a:t>
            </a:r>
          </a:p>
        </p:txBody>
      </p:sp>
      <p:sp>
        <p:nvSpPr>
          <p:cNvPr id="38" name="TextBox 37"/>
          <p:cNvSpPr txBox="1"/>
          <p:nvPr/>
        </p:nvSpPr>
        <p:spPr>
          <a:xfrm>
            <a:off x="8366760" y="5641848"/>
            <a:ext cx="3127248" cy="31089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Qwen3-Omni + Server VAD*</a:t>
            </a:r>
          </a:p>
          <a:p>
            <a:pPr algn="l">
              <a:lnSpc>
                <a:spcPct val="110000"/>
              </a:lnSpc>
              <a:spcAft>
                <a:spcPts val="0"/>
              </a:spcAft>
            </a:pPr>
            <a:r>
              <a:rPr sz="1050" b="0" lang="zh-CN">
                <a:solidFill>
                  <a:srgbClr val="142B45"/>
                </a:solidFill>
                <a:latin typeface="Noto Sans CJK SC"/>
                <a:ea typeface="Noto Sans CJK SC"/>
                <a:cs typeface="Noto Sans CJK SC"/>
              </a:rPr>
              <a:t>取消当前生成</a:t>
            </a:r>
          </a:p>
        </p:txBody>
      </p:sp>
      <p:sp>
        <p:nvSpPr>
          <p:cNvPr id="39" name="TextBox 38"/>
          <p:cNvSpPr txBox="1"/>
          <p:nvPr/>
        </p:nvSpPr>
        <p:spPr>
          <a:xfrm>
            <a:off x="722376" y="6153912"/>
            <a:ext cx="10744200" cy="210312"/>
          </a:xfrm>
          <a:prstGeom prst="rect">
            <a:avLst/>
          </a:prstGeom>
          <a:noFill/>
        </p:spPr>
        <p:txBody>
          <a:bodyPr wrap="square" lIns="0" rIns="0" tIns="0" bIns="0" anchor="t">
            <a:spAutoFit/>
          </a:bodyPr>
          <a:lstStyle/>
          <a:p>
            <a:pPr algn="l">
              <a:lnSpc>
                <a:spcPct val="110000"/>
              </a:lnSpc>
              <a:spcAft>
                <a:spcPts val="0"/>
              </a:spcAft>
            </a:pPr>
            <a:r>
              <a:rPr sz="1150" b="0" lang="zh-CN">
                <a:solidFill>
                  <a:srgbClr val="586B7E"/>
                </a:solidFill>
                <a:latin typeface="Noto Sans CJK SC"/>
                <a:ea typeface="Noto Sans CJK SC"/>
                <a:cs typeface="Noto Sans CJK SC"/>
              </a:rPr>
              <a:t>* 以上为当前 demo 的行为示例，各模型并非均具备全部能力。Qwen VAD 取消需启用 interrupt_response。</a:t>
            </a:r>
          </a:p>
        </p:txBody>
      </p:sp>
      <p:sp>
        <p:nvSpPr>
          <p:cNvPr id="200" name="PersonaPlex 200"/>
          <p:cNvSpPr/>
          <p:nvPr/>
        </p:nvSpPr>
        <p:spPr>
          <a:xfrm>
            <a:off x="548640" y="240487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1" name="PersonaPlex 201"/>
          <p:cNvSpPr txBox="1"/>
          <p:nvPr/>
        </p:nvSpPr>
        <p:spPr>
          <a:xfrm>
            <a:off x="722376" y="245516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PersonaPlex</a:t>
            </a:r>
          </a:p>
        </p:txBody>
      </p:sp>
      <p:sp>
        <p:nvSpPr>
          <p:cNvPr id="202" name="PersonaPlex 202"/>
          <p:cNvSpPr txBox="1"/>
          <p:nvPr/>
        </p:nvSpPr>
        <p:spPr>
          <a:xfrm>
            <a:off x="2807208" y="2455164"/>
            <a:ext cx="4370832"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按 80 ms 音频帧持续双向处理</a:t>
            </a:r>
          </a:p>
          <a:p>
            <a:pPr algn="l">
              <a:lnSpc>
                <a:spcPct val="110000"/>
              </a:lnSpc>
              <a:spcAft>
                <a:spcPts val="0"/>
              </a:spcAft>
            </a:pPr>
            <a:r>
              <a:rPr sz="1180" b="0" lang="zh-CN">
                <a:solidFill>
                  <a:srgbClr val="142B45"/>
                </a:solidFill>
                <a:latin typeface="Noto Sans CJK SC"/>
                <a:ea typeface="Noto Sans CJK SC"/>
                <a:cs typeface="Noto Sans CJK SC"/>
              </a:rPr>
              <a:t>无需客户端 commit 或 Server VAD</a:t>
            </a:r>
          </a:p>
        </p:txBody>
      </p:sp>
      <p:sp>
        <p:nvSpPr>
          <p:cNvPr id="203" name="PersonaPlex 203"/>
          <p:cNvSpPr txBox="1"/>
          <p:nvPr/>
        </p:nvSpPr>
        <p:spPr>
          <a:xfrm>
            <a:off x="7406640" y="2455164"/>
            <a:ext cx="3904488"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边生成语音，边处理用户语音</a:t>
            </a:r>
          </a:p>
          <a:p>
            <a:pPr algn="l">
              <a:lnSpc>
                <a:spcPct val="110000"/>
              </a:lnSpc>
              <a:spcAft>
                <a:spcPts val="0"/>
              </a:spcAft>
            </a:pPr>
            <a:r>
              <a:rPr sz="1180" b="0" lang="zh-CN">
                <a:solidFill>
                  <a:srgbClr val="142B45"/>
                </a:solidFill>
                <a:latin typeface="Noto Sans CJK SC"/>
                <a:ea typeface="Noto Sans CJK SC"/>
                <a:cs typeface="Noto Sans CJK SC"/>
              </a:rPr>
              <a:t>音色与角色设定在本次会话中保持不变</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体验与交互方式</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000" b="1" lang="zh-CN">
                <a:solidFill>
                  <a:srgbClr val="142B45"/>
                </a:solidFill>
                <a:latin typeface="Noto Sans CJK SC"/>
                <a:ea typeface="Noto Sans CJK SC"/>
                <a:cs typeface="Noto Sans CJK SC"/>
              </a:rPr>
              <a:t>接口、会话交互与模型执行方式</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04 / 12</a:t>
            </a:r>
          </a:p>
        </p:txBody>
      </p:sp>
      <p:sp>
        <p:nvSpPr>
          <p:cNvPr id="200" name="The interface carries the conversation; the execution mode determines how the model processes input."/>
          <p:cNvSpPr txBox="1"/>
          <p:nvPr/>
        </p:nvSpPr>
        <p:spPr>
          <a:xfrm>
            <a:off x="576072" y="1645920"/>
            <a:ext cx="10972800" cy="411480"/>
          </a:xfrm>
          <a:prstGeom prst="rect">
            <a:avLst/>
          </a:prstGeom>
          <a:noFill/>
          <a:ln w="12700">
            <a:noFill/>
          </a:ln>
        </p:spPr>
        <p:txBody>
          <a:bodyPr wrap="square" lIns="0" rIns="0" tIns="0" bIns="0" anchor="t">
            <a:noAutofit/>
          </a:bodyPr>
          <a:lstStyle/>
          <a:p>
            <a:pPr algn="l">
              <a:lnSpc>
                <a:spcPct val="106000"/>
              </a:lnSpc>
              <a:spcAft>
                <a:spcPts val="0"/>
              </a:spcAft>
            </a:pPr>
            <a:r>
              <a:rPr sz="1720" b="0" lang="zh-CN">
                <a:solidFill>
                  <a:srgbClr val="586B7E"/>
                </a:solidFill>
                <a:latin typeface="Noto Sans CJK SC"/>
                <a:ea typeface="Noto Sans CJK SC"/>
                <a:cs typeface="Noto Sans CJK SC"/>
              </a:rPr>
              <a:t>接口承载会话交互；执行方式决定模型如何处理输入。</a:t>
            </a:r>
          </a:p>
        </p:txBody>
      </p:sp>
      <p:sp>
        <p:nvSpPr>
          <p:cNvPr id="201" name="Interface"/>
          <p:cNvSpPr txBox="1"/>
          <p:nvPr/>
        </p:nvSpPr>
        <p:spPr>
          <a:xfrm>
            <a:off x="585216" y="235000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lang="zh-CN">
                <a:solidFill>
                  <a:srgbClr val="586B7E"/>
                </a:solidFill>
                <a:latin typeface="Noto Sans CJK SC"/>
                <a:ea typeface="Noto Sans CJK SC"/>
                <a:cs typeface="Noto Sans CJK SC"/>
              </a:rPr>
              <a:t>接口</a:t>
            </a:r>
          </a:p>
        </p:txBody>
      </p:sp>
      <p:sp>
        <p:nvSpPr>
          <p:cNvPr id="202" name="Interaction"/>
          <p:cNvSpPr txBox="1"/>
          <p:nvPr/>
        </p:nvSpPr>
        <p:spPr>
          <a:xfrm>
            <a:off x="585216" y="3255264"/>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lang="zh-CN">
                <a:solidFill>
                  <a:srgbClr val="586B7E"/>
                </a:solidFill>
                <a:latin typeface="Noto Sans CJK SC"/>
                <a:ea typeface="Noto Sans CJK SC"/>
                <a:cs typeface="Noto Sans CJK SC"/>
              </a:rPr>
              <a:t>会话交互方式</a:t>
            </a:r>
          </a:p>
        </p:txBody>
      </p:sp>
      <p:sp>
        <p:nvSpPr>
          <p:cNvPr id="203" name="Execution"/>
          <p:cNvSpPr txBox="1"/>
          <p:nvPr/>
        </p:nvSpPr>
        <p:spPr>
          <a:xfrm>
            <a:off x="585216" y="427024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lang="zh-CN">
                <a:solidFill>
                  <a:srgbClr val="586B7E"/>
                </a:solidFill>
                <a:latin typeface="Noto Sans CJK SC"/>
                <a:ea typeface="Noto Sans CJK SC"/>
                <a:cs typeface="Noto Sans CJK SC"/>
              </a:rPr>
              <a:t>模型执行方式</a:t>
            </a:r>
          </a:p>
        </p:txBody>
      </p:sp>
      <p:sp>
        <p:nvSpPr>
          <p:cNvPr id="204" name="Models"/>
          <p:cNvSpPr txBox="1"/>
          <p:nvPr/>
        </p:nvSpPr>
        <p:spPr>
          <a:xfrm>
            <a:off x="585216" y="5248656"/>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lang="zh-CN">
                <a:solidFill>
                  <a:srgbClr val="586B7E"/>
                </a:solidFill>
                <a:latin typeface="Noto Sans CJK SC"/>
                <a:ea typeface="Noto Sans CJK SC"/>
                <a:cs typeface="Noto Sans CJK SC"/>
              </a:rPr>
              <a:t>典型模型</a:t>
            </a:r>
          </a:p>
        </p:txBody>
      </p:sp>
      <p:cxnSp>
        <p:nvCxnSpPr>
          <p:cNvPr id="205" name="Hierarchy connector"/>
          <p:cNvCxnSpPr/>
          <p:nvPr/>
        </p:nvCxnSpPr>
        <p:spPr>
          <a:xfrm>
            <a:off x="3328416" y="3063240"/>
            <a:ext cx="0" cy="91440"/>
          </a:xfrm>
          <a:prstGeom prst="line">
            <a:avLst/>
          </a:prstGeom>
          <a:ln w="16510">
            <a:solidFill>
              <a:srgbClr val="879DB5"/>
            </a:solidFill>
            <a:tailEnd type="triangle" w="sm" len="sm"/>
          </a:ln>
        </p:spPr>
      </p:cxnSp>
      <p:cxnSp>
        <p:nvCxnSpPr>
          <p:cNvPr id="206" name="Hierarchy connector"/>
          <p:cNvCxnSpPr/>
          <p:nvPr/>
        </p:nvCxnSpPr>
        <p:spPr>
          <a:xfrm>
            <a:off x="8385048" y="3063240"/>
            <a:ext cx="0" cy="91440"/>
          </a:xfrm>
          <a:prstGeom prst="line">
            <a:avLst/>
          </a:prstGeom>
          <a:ln w="16510">
            <a:solidFill>
              <a:srgbClr val="879DB5"/>
            </a:solidFill>
            <a:tailEnd type="triangle" w="sm" len="sm"/>
          </a:ln>
        </p:spPr>
      </p:cxnSp>
      <p:cxnSp>
        <p:nvCxnSpPr>
          <p:cNvPr id="207" name="Hierarchy connector"/>
          <p:cNvCxnSpPr/>
          <p:nvPr/>
        </p:nvCxnSpPr>
        <p:spPr>
          <a:xfrm>
            <a:off x="8385048" y="3685032"/>
            <a:ext cx="0" cy="192024"/>
          </a:xfrm>
          <a:prstGeom prst="line">
            <a:avLst/>
          </a:prstGeom>
          <a:ln w="16510">
            <a:solidFill>
              <a:srgbClr val="879DB5"/>
            </a:solidFill>
          </a:ln>
        </p:spPr>
      </p:cxnSp>
      <p:cxnSp>
        <p:nvCxnSpPr>
          <p:cNvPr id="208" name="Hierarchy connector"/>
          <p:cNvCxnSpPr/>
          <p:nvPr/>
        </p:nvCxnSpPr>
        <p:spPr>
          <a:xfrm>
            <a:off x="6574536" y="3877056"/>
            <a:ext cx="3557016" cy="0"/>
          </a:xfrm>
          <a:prstGeom prst="line">
            <a:avLst/>
          </a:prstGeom>
          <a:ln w="16510">
            <a:solidFill>
              <a:srgbClr val="879DB5"/>
            </a:solidFill>
          </a:ln>
        </p:spPr>
      </p:cxnSp>
      <p:cxnSp>
        <p:nvCxnSpPr>
          <p:cNvPr id="209" name="Hierarchy connector"/>
          <p:cNvCxnSpPr/>
          <p:nvPr/>
        </p:nvCxnSpPr>
        <p:spPr>
          <a:xfrm>
            <a:off x="6574536" y="3877056"/>
            <a:ext cx="0" cy="182880"/>
          </a:xfrm>
          <a:prstGeom prst="line">
            <a:avLst/>
          </a:prstGeom>
          <a:ln w="16510">
            <a:solidFill>
              <a:srgbClr val="347BDE"/>
            </a:solidFill>
            <a:tailEnd type="triangle" w="sm" len="sm"/>
          </a:ln>
        </p:spPr>
      </p:cxnSp>
      <p:cxnSp>
        <p:nvCxnSpPr>
          <p:cNvPr id="210" name="Hierarchy connector"/>
          <p:cNvCxnSpPr/>
          <p:nvPr/>
        </p:nvCxnSpPr>
        <p:spPr>
          <a:xfrm>
            <a:off x="10131552" y="3877056"/>
            <a:ext cx="0" cy="182880"/>
          </a:xfrm>
          <a:prstGeom prst="line">
            <a:avLst/>
          </a:prstGeom>
          <a:ln w="16510">
            <a:solidFill>
              <a:srgbClr val="008E96"/>
            </a:solidFill>
            <a:tailEnd type="triangle" w="sm" len="sm"/>
          </a:ln>
        </p:spPr>
      </p:cxnSp>
      <p:cxnSp>
        <p:nvCxnSpPr>
          <p:cNvPr id="211" name="Hierarchy connector"/>
          <p:cNvCxnSpPr/>
          <p:nvPr/>
        </p:nvCxnSpPr>
        <p:spPr>
          <a:xfrm>
            <a:off x="6574536" y="4937760"/>
            <a:ext cx="0" cy="210312"/>
          </a:xfrm>
          <a:prstGeom prst="line">
            <a:avLst/>
          </a:prstGeom>
          <a:ln w="16510">
            <a:solidFill>
              <a:srgbClr val="347BDE"/>
            </a:solidFill>
            <a:tailEnd type="triangle" w="sm" len="sm"/>
          </a:ln>
        </p:spPr>
      </p:cxnSp>
      <p:cxnSp>
        <p:nvCxnSpPr>
          <p:cNvPr id="212" name="Hierarchy connector"/>
          <p:cNvCxnSpPr/>
          <p:nvPr/>
        </p:nvCxnSpPr>
        <p:spPr>
          <a:xfrm>
            <a:off x="10131552" y="4937760"/>
            <a:ext cx="0" cy="210312"/>
          </a:xfrm>
          <a:prstGeom prst="line">
            <a:avLst/>
          </a:prstGeom>
          <a:ln w="16510">
            <a:solidFill>
              <a:srgbClr val="008E96"/>
            </a:solidFill>
            <a:tailEnd type="triangle" w="sm" len="sm"/>
          </a:ln>
        </p:spPr>
      </p:cxnSp>
      <p:cxnSp>
        <p:nvCxnSpPr>
          <p:cNvPr id="213" name="Hierarchy connector"/>
          <p:cNvCxnSpPr/>
          <p:nvPr/>
        </p:nvCxnSpPr>
        <p:spPr>
          <a:xfrm>
            <a:off x="3328416" y="3685032"/>
            <a:ext cx="0" cy="338328"/>
          </a:xfrm>
          <a:prstGeom prst="line">
            <a:avLst/>
          </a:prstGeom>
          <a:ln w="16510">
            <a:solidFill>
              <a:srgbClr val="879DB5"/>
            </a:solidFill>
            <a:tailEnd type="triangle" w="sm" len="sm"/>
          </a:ln>
        </p:spPr>
      </p:cxnSp>
      <p:cxnSp>
        <p:nvCxnSpPr>
          <p:cNvPr id="214" name="Hierarchy connector"/>
          <p:cNvCxnSpPr/>
          <p:nvPr/>
        </p:nvCxnSpPr>
        <p:spPr>
          <a:xfrm>
            <a:off x="3328416" y="4681728"/>
            <a:ext cx="0" cy="466344"/>
          </a:xfrm>
          <a:prstGeom prst="line">
            <a:avLst/>
          </a:prstGeom>
          <a:ln w="16510">
            <a:solidFill>
              <a:srgbClr val="879DB5"/>
            </a:solidFill>
            <a:tailEnd type="triangle" w="sm" len="sm"/>
          </a:ln>
        </p:spPr>
      </p:cxnSp>
      <p:sp>
        <p:nvSpPr>
          <p:cNvPr id="215" name="Chat Completions interface"/>
          <p:cNvSpPr txBox="0"/>
          <p:nvPr/>
        </p:nvSpPr>
        <p:spPr>
          <a:xfrm>
            <a:off x="1938528" y="2057400"/>
            <a:ext cx="2788920" cy="1005840"/>
          </a:xfrm>
          <a:prstGeom prst="roundRect">
            <a:avLst>
              <a:gd name="adj" fmla="val 8000"/>
            </a:avLst>
          </a:prstGeom>
          <a:solidFill>
            <a:srgbClr val="F3F6FA"/>
          </a:solidFill>
          <a:ln w="12700">
            <a:solidFill>
              <a:srgbClr val="9EAFBF"/>
            </a:solidFill>
          </a:ln>
        </p:spPr>
      </p:sp>
      <p:sp>
        <p:nvSpPr>
          <p:cNvPr id="216" name="Chat Completions"/>
          <p:cNvSpPr txBox="1"/>
          <p:nvPr/>
        </p:nvSpPr>
        <p:spPr>
          <a:xfrm>
            <a:off x="2075688" y="2276856"/>
            <a:ext cx="2514600" cy="274320"/>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Chat Completions</a:t>
            </a:r>
          </a:p>
        </p:txBody>
      </p:sp>
      <p:sp>
        <p:nvSpPr>
          <p:cNvPr id="217" name="/v1/chat/completions"/>
          <p:cNvSpPr txBox="1"/>
          <p:nvPr/>
        </p:nvSpPr>
        <p:spPr>
          <a:xfrm>
            <a:off x="2066544" y="2633472"/>
            <a:ext cx="2532888" cy="192024"/>
          </a:xfrm>
          <a:prstGeom prst="rect">
            <a:avLst/>
          </a:prstGeom>
          <a:noFill/>
          <a:ln w="12700">
            <a:noFill/>
          </a:ln>
        </p:spPr>
        <p:txBody>
          <a:bodyPr wrap="square" lIns="0" rIns="0" tIns="0" bIns="0" anchor="t">
            <a:noAutofit/>
          </a:bodyPr>
          <a:lstStyle/>
          <a:p>
            <a:pPr algn="ctr">
              <a:lnSpc>
                <a:spcPct val="106000"/>
              </a:lnSpc>
              <a:spcAft>
                <a:spcPts val="0"/>
              </a:spcAft>
            </a:pPr>
            <a:r>
              <a:rPr sz="1220" b="0">
                <a:solidFill>
                  <a:srgbClr val="586B7E"/>
                </a:solidFill>
                <a:latin typeface="Arial"/>
                <a:ea typeface="Arial"/>
                <a:cs typeface="Arial"/>
              </a:rPr>
              <a:t>/v1/chat/completions</a:t>
            </a:r>
          </a:p>
        </p:txBody>
      </p:sp>
      <p:sp>
        <p:nvSpPr>
          <p:cNvPr id="218" name="Realtime Duplex interface"/>
          <p:cNvSpPr txBox="0"/>
          <p:nvPr/>
        </p:nvSpPr>
        <p:spPr>
          <a:xfrm>
            <a:off x="5138928" y="2057400"/>
            <a:ext cx="6492240" cy="1005840"/>
          </a:xfrm>
          <a:prstGeom prst="roundRect">
            <a:avLst>
              <a:gd name="adj" fmla="val 8000"/>
            </a:avLst>
          </a:prstGeom>
          <a:solidFill>
            <a:srgbClr val="EDF4FF"/>
          </a:solidFill>
          <a:ln w="12700">
            <a:solidFill>
              <a:srgbClr val="98B5DD"/>
            </a:solidFill>
          </a:ln>
        </p:spPr>
      </p:sp>
      <p:sp>
        <p:nvSpPr>
          <p:cNvPr id="219" name="Realtime Duplex"/>
          <p:cNvSpPr txBox="1"/>
          <p:nvPr/>
        </p:nvSpPr>
        <p:spPr>
          <a:xfrm>
            <a:off x="5330952" y="2103120"/>
            <a:ext cx="6108192" cy="256032"/>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Realtime Duplex</a:t>
            </a:r>
          </a:p>
        </p:txBody>
      </p:sp>
      <p:sp>
        <p:nvSpPr>
          <p:cNvPr id="220" name="/v1/duplex  or  /v1/realtime?duplex=1"/>
          <p:cNvSpPr txBox="1"/>
          <p:nvPr/>
        </p:nvSpPr>
        <p:spPr>
          <a:xfrm>
            <a:off x="5330952" y="2395728"/>
            <a:ext cx="6108192" cy="192024"/>
          </a:xfrm>
          <a:prstGeom prst="rect">
            <a:avLst/>
          </a:prstGeom>
          <a:noFill/>
          <a:ln w="12700">
            <a:noFill/>
          </a:ln>
        </p:spPr>
        <p:txBody>
          <a:bodyPr wrap="square" lIns="0" rIns="0" tIns="0" bIns="0" anchor="t">
            <a:noAutofit/>
          </a:bodyPr>
          <a:lstStyle/>
          <a:p>
            <a:pPr algn="ctr">
              <a:lnSpc>
                <a:spcPct val="106000"/>
              </a:lnSpc>
              <a:spcAft>
                <a:spcPts val="0"/>
              </a:spcAft>
            </a:pPr>
            <a:r>
              <a:rPr sz="1220" b="0" lang="zh-CN">
                <a:solidFill>
                  <a:srgbClr val="586B7E"/>
                </a:solidFill>
                <a:latin typeface="Noto Sans CJK SC"/>
                <a:ea typeface="Noto Sans CJK SC"/>
                <a:cs typeface="Noto Sans CJK SC"/>
              </a:rPr>
              <a:t>/v1/duplex  或  /v1/realtime?duplex=1</a:t>
            </a:r>
          </a:p>
        </p:txBody>
      </p:sp>
      <p:sp>
        <p:nvSpPr>
          <p:cNvPr id="221" name="Request-response interaction"/>
          <p:cNvSpPr txBox="0"/>
          <p:nvPr/>
        </p:nvSpPr>
        <p:spPr>
          <a:xfrm>
            <a:off x="1938528" y="3182112"/>
            <a:ext cx="2788920" cy="502920"/>
          </a:xfrm>
          <a:prstGeom prst="roundRect">
            <a:avLst>
              <a:gd name="adj" fmla="val 8000"/>
            </a:avLst>
          </a:prstGeom>
          <a:solidFill>
            <a:srgbClr val="F3F6FA"/>
          </a:solidFill>
          <a:ln w="12700">
            <a:solidFill>
              <a:srgbClr val="9EAFBF"/>
            </a:solidFill>
          </a:ln>
        </p:spPr>
      </p:sp>
      <p:sp>
        <p:nvSpPr>
          <p:cNvPr id="222" name="Request–response"/>
          <p:cNvSpPr txBox="1"/>
          <p:nvPr/>
        </p:nvSpPr>
        <p:spPr>
          <a:xfrm>
            <a:off x="2075688" y="3291840"/>
            <a:ext cx="2514600"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Request–response</a:t>
            </a:r>
          </a:p>
        </p:txBody>
      </p:sp>
      <p:sp>
        <p:nvSpPr>
          <p:cNvPr id="223" name="Duplex session interaction"/>
          <p:cNvSpPr txBox="0"/>
          <p:nvPr/>
        </p:nvSpPr>
        <p:spPr>
          <a:xfrm>
            <a:off x="5138928" y="3182112"/>
            <a:ext cx="6492240" cy="502920"/>
          </a:xfrm>
          <a:prstGeom prst="roundRect">
            <a:avLst>
              <a:gd name="adj" fmla="val 8000"/>
            </a:avLst>
          </a:prstGeom>
          <a:solidFill>
            <a:srgbClr val="EDF4FF"/>
          </a:solidFill>
          <a:ln w="12700">
            <a:solidFill>
              <a:srgbClr val="98B5DD"/>
            </a:solidFill>
          </a:ln>
        </p:spPr>
      </p:sp>
      <p:sp>
        <p:nvSpPr>
          <p:cNvPr id="224" name="Duplex session"/>
          <p:cNvSpPr txBox="1"/>
          <p:nvPr/>
        </p:nvSpPr>
        <p:spPr>
          <a:xfrm>
            <a:off x="5330952" y="3291840"/>
            <a:ext cx="6108192"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Duplex session</a:t>
            </a:r>
          </a:p>
        </p:txBody>
      </p:sp>
      <p:sp>
        <p:nvSpPr>
          <p:cNvPr id="225" name="A request returns a response;&#10;streaming is optional."/>
          <p:cNvSpPr txBox="1"/>
          <p:nvPr/>
        </p:nvSpPr>
        <p:spPr>
          <a:xfrm>
            <a:off x="2039112" y="4133088"/>
            <a:ext cx="2587752" cy="530352"/>
          </a:xfrm>
          <a:prstGeom prst="rect">
            <a:avLst/>
          </a:prstGeom>
          <a:noFill/>
          <a:ln w="12700">
            <a:noFill/>
          </a:ln>
        </p:spPr>
        <p:txBody>
          <a:bodyPr wrap="square" lIns="0" rIns="0" tIns="0" bIns="0" anchor="t">
            <a:noAutofit/>
          </a:bodyPr>
          <a:lstStyle/>
          <a:p>
            <a:pPr algn="ctr">
              <a:lnSpc>
                <a:spcPct val="106000"/>
              </a:lnSpc>
              <a:spcAft>
                <a:spcPts val="0"/>
              </a:spcAft>
            </a:pPr>
            <a:r>
              <a:rPr sz="1400" b="0" lang="zh-CN">
                <a:solidFill>
                  <a:srgbClr val="586B7E"/>
                </a:solidFill>
                <a:latin typeface="Noto Sans CJK SC"/>
                <a:ea typeface="Noto Sans CJK SC"/>
                <a:cs typeface="Noto Sans CJK SC"/>
              </a:rPr>
              <a:t>每次请求对应一次响应</a:t>
            </a:r>
          </a:p>
          <a:p>
            <a:pPr algn="ctr">
              <a:lnSpc>
                <a:spcPct val="106000"/>
              </a:lnSpc>
              <a:spcAft>
                <a:spcPts val="0"/>
              </a:spcAft>
            </a:pPr>
            <a:r>
              <a:rPr sz="1400" b="0" lang="zh-CN">
                <a:solidFill>
                  <a:srgbClr val="586B7E"/>
                </a:solidFill>
                <a:latin typeface="Noto Sans CJK SC"/>
                <a:ea typeface="Noto Sans CJK SC"/>
                <a:cs typeface="Noto Sans CJK SC"/>
              </a:rPr>
              <a:t>可选择流式输出</a:t>
            </a:r>
          </a:p>
        </p:txBody>
      </p:sp>
      <p:sp>
        <p:nvSpPr>
          <p:cNvPr id="226" name="Native duplex execution"/>
          <p:cNvSpPr txBox="0"/>
          <p:nvPr/>
        </p:nvSpPr>
        <p:spPr>
          <a:xfrm>
            <a:off x="5138928" y="4087368"/>
            <a:ext cx="2871216" cy="850392"/>
          </a:xfrm>
          <a:prstGeom prst="roundRect">
            <a:avLst>
              <a:gd name="adj" fmla="val 8000"/>
            </a:avLst>
          </a:prstGeom>
          <a:solidFill>
            <a:srgbClr val="EDF4FF"/>
          </a:solidFill>
          <a:ln w="12700">
            <a:solidFill>
              <a:srgbClr val="98B5DD"/>
            </a:solidFill>
          </a:ln>
        </p:spPr>
      </p:sp>
      <p:sp>
        <p:nvSpPr>
          <p:cNvPr id="227" name="Native duplex execution"/>
          <p:cNvSpPr txBox="1"/>
          <p:nvPr/>
        </p:nvSpPr>
        <p:spPr>
          <a:xfrm>
            <a:off x="5266944" y="4187952"/>
            <a:ext cx="2615184"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307BDB"/>
                </a:solidFill>
                <a:latin typeface="Arial"/>
                <a:ea typeface="Arial"/>
                <a:cs typeface="Arial"/>
              </a:rPr>
              <a:t>Native duplex execution</a:t>
            </a:r>
          </a:p>
        </p:txBody>
      </p:sp>
      <p:sp>
        <p:nvSpPr>
          <p:cNvPr id="228" name="Continuous input and output&#10;within ongoing inference"/>
          <p:cNvSpPr txBox="1"/>
          <p:nvPr/>
        </p:nvSpPr>
        <p:spPr>
          <a:xfrm>
            <a:off x="5285232" y="4544568"/>
            <a:ext cx="2578608" cy="356616"/>
          </a:xfrm>
          <a:prstGeom prst="rect">
            <a:avLst/>
          </a:prstGeom>
          <a:noFill/>
          <a:ln w="12700">
            <a:noFill/>
          </a:ln>
        </p:spPr>
        <p:txBody>
          <a:bodyPr wrap="square" lIns="0" rIns="0" tIns="0" bIns="0" anchor="t">
            <a:noAutofit/>
          </a:bodyPr>
          <a:lstStyle/>
          <a:p>
            <a:pPr algn="ctr">
              <a:lnSpc>
                <a:spcPct val="106000"/>
              </a:lnSpc>
              <a:spcAft>
                <a:spcPts val="0"/>
              </a:spcAft>
            </a:pPr>
            <a:r>
              <a:rPr sz="1200" b="0" lang="zh-CN">
                <a:solidFill>
                  <a:srgbClr val="586B7E"/>
                </a:solidFill>
                <a:latin typeface="Noto Sans CJK SC"/>
                <a:ea typeface="Noto Sans CJK SC"/>
                <a:cs typeface="Noto Sans CJK SC"/>
              </a:rPr>
              <a:t>持续推理过程中</a:t>
            </a:r>
          </a:p>
          <a:p>
            <a:pPr algn="ctr">
              <a:lnSpc>
                <a:spcPct val="106000"/>
              </a:lnSpc>
              <a:spcAft>
                <a:spcPts val="0"/>
              </a:spcAft>
            </a:pPr>
            <a:r>
              <a:rPr sz="1200" b="0" lang="zh-CN">
                <a:solidFill>
                  <a:srgbClr val="586B7E"/>
                </a:solidFill>
                <a:latin typeface="Noto Sans CJK SC"/>
                <a:ea typeface="Noto Sans CJK SC"/>
                <a:cs typeface="Noto Sans CJK SC"/>
              </a:rPr>
              <a:t>连续接收输入、输出回应</a:t>
            </a:r>
          </a:p>
        </p:txBody>
      </p:sp>
      <p:sp>
        <p:nvSpPr>
          <p:cNvPr id="229" name="Turn-based execution"/>
          <p:cNvSpPr txBox="0"/>
          <p:nvPr/>
        </p:nvSpPr>
        <p:spPr>
          <a:xfrm>
            <a:off x="8540496" y="4087368"/>
            <a:ext cx="3090672" cy="850392"/>
          </a:xfrm>
          <a:prstGeom prst="roundRect">
            <a:avLst>
              <a:gd name="adj" fmla="val 8000"/>
            </a:avLst>
          </a:prstGeom>
          <a:solidFill>
            <a:srgbClr val="EAF7F6"/>
          </a:solidFill>
          <a:ln w="12700">
            <a:solidFill>
              <a:srgbClr val="8FBAB9"/>
            </a:solidFill>
          </a:ln>
        </p:spPr>
      </p:sp>
      <p:sp>
        <p:nvSpPr>
          <p:cNvPr id="230" name="Turn-based execution"/>
          <p:cNvSpPr txBox="1"/>
          <p:nvPr/>
        </p:nvSpPr>
        <p:spPr>
          <a:xfrm>
            <a:off x="8677656" y="4187952"/>
            <a:ext cx="2816352"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008E96"/>
                </a:solidFill>
                <a:latin typeface="Arial"/>
                <a:ea typeface="Arial"/>
                <a:cs typeface="Arial"/>
              </a:rPr>
              <a:t>Turn-based execution</a:t>
            </a:r>
          </a:p>
        </p:txBody>
      </p:sp>
      <p:sp>
        <p:nvSpPr>
          <p:cNvPr id="231" name="A new generation request&#10;for each committed turn"/>
          <p:cNvSpPr txBox="1"/>
          <p:nvPr/>
        </p:nvSpPr>
        <p:spPr>
          <a:xfrm>
            <a:off x="8695944" y="4544568"/>
            <a:ext cx="2779776" cy="356616"/>
          </a:xfrm>
          <a:prstGeom prst="rect">
            <a:avLst/>
          </a:prstGeom>
          <a:noFill/>
          <a:ln w="12700">
            <a:noFill/>
          </a:ln>
        </p:spPr>
        <p:txBody>
          <a:bodyPr wrap="square" lIns="0" rIns="0" tIns="0" bIns="0" anchor="t">
            <a:noAutofit/>
          </a:bodyPr>
          <a:lstStyle/>
          <a:p>
            <a:pPr algn="ctr">
              <a:lnSpc>
                <a:spcPct val="106000"/>
              </a:lnSpc>
              <a:spcAft>
                <a:spcPts val="0"/>
              </a:spcAft>
            </a:pPr>
            <a:r>
              <a:rPr sz="1200" b="0" lang="zh-CN">
                <a:solidFill>
                  <a:srgbClr val="586B7E"/>
                </a:solidFill>
                <a:latin typeface="Noto Sans CJK SC"/>
                <a:ea typeface="Noto Sans CJK SC"/>
                <a:cs typeface="Noto Sans CJK SC"/>
              </a:rPr>
              <a:t>每个已 commit 的 turn</a:t>
            </a:r>
          </a:p>
          <a:p>
            <a:pPr algn="ctr">
              <a:lnSpc>
                <a:spcPct val="106000"/>
              </a:lnSpc>
              <a:spcAft>
                <a:spcPts val="0"/>
              </a:spcAft>
            </a:pPr>
            <a:r>
              <a:rPr sz="1200" b="0" lang="zh-CN">
                <a:solidFill>
                  <a:srgbClr val="586B7E"/>
                </a:solidFill>
                <a:latin typeface="Noto Sans CJK SC"/>
                <a:ea typeface="Noto Sans CJK SC"/>
                <a:cs typeface="Noto Sans CJK SC"/>
              </a:rPr>
              <a:t>启动一次新的生成请求</a:t>
            </a:r>
          </a:p>
        </p:txBody>
      </p:sp>
      <p:sp>
        <p:nvSpPr>
          <p:cNvPr id="232" name="Qwen3-Omni&#10;MiniCPM-o 4.5 (turn mode)"/>
          <p:cNvSpPr txBox="1"/>
          <p:nvPr/>
        </p:nvSpPr>
        <p:spPr>
          <a:xfrm>
            <a:off x="2002536" y="5230368"/>
            <a:ext cx="2660904" cy="621792"/>
          </a:xfrm>
          <a:prstGeom prst="rect">
            <a:avLst/>
          </a:prstGeom>
          <a:noFill/>
          <a:ln w="12700">
            <a:noFill/>
          </a:ln>
        </p:spPr>
        <p:txBody>
          <a:bodyPr wrap="square" lIns="0" rIns="0" tIns="0" bIns="0" anchor="t">
            <a:noAutofit/>
          </a:bodyPr>
          <a:lstStyle/>
          <a:p>
            <a:pPr algn="ctr">
              <a:lnSpc>
                <a:spcPct val="106000"/>
              </a:lnSpc>
              <a:spcAft>
                <a:spcPts val="0"/>
              </a:spcAft>
            </a:pPr>
            <a:r>
              <a:rPr sz="1520" b="1" lang="zh-CN">
                <a:solidFill>
                  <a:srgbClr val="16304E"/>
                </a:solidFill>
                <a:latin typeface="Noto Sans CJK SC"/>
                <a:ea typeface="Noto Sans CJK SC"/>
                <a:cs typeface="Noto Sans CJK SC"/>
              </a:rPr>
              <a:t>Qwen3-Omni</a:t>
            </a:r>
          </a:p>
          <a:p>
            <a:pPr algn="ctr">
              <a:lnSpc>
                <a:spcPct val="106000"/>
              </a:lnSpc>
              <a:spcAft>
                <a:spcPts val="0"/>
              </a:spcAft>
            </a:pPr>
            <a:r>
              <a:rPr sz="1520" b="1" lang="zh-CN">
                <a:solidFill>
                  <a:srgbClr val="16304E"/>
                </a:solidFill>
                <a:latin typeface="Noto Sans CJK SC"/>
                <a:ea typeface="Noto Sans CJK SC"/>
                <a:cs typeface="Noto Sans CJK SC"/>
              </a:rPr>
              <a:t>MiniCPM-o 4.5</a:t>
            </a:r>
          </a:p>
          <a:p>
            <a:pPr algn="ctr">
              <a:lnSpc>
                <a:spcPct val="106000"/>
              </a:lnSpc>
              <a:spcAft>
                <a:spcPts val="0"/>
              </a:spcAft>
            </a:pPr>
            <a:r>
              <a:rPr sz="1520" b="1" lang="zh-CN">
                <a:solidFill>
                  <a:srgbClr val="16304E"/>
                </a:solidFill>
                <a:latin typeface="Noto Sans CJK SC"/>
                <a:ea typeface="Noto Sans CJK SC"/>
                <a:cs typeface="Noto Sans CJK SC"/>
              </a:rPr>
              <a:t>（turn 模式）</a:t>
            </a:r>
          </a:p>
        </p:txBody>
      </p:sp>
      <p:sp>
        <p:nvSpPr>
          <p:cNvPr id="233" name="MiniCPM-o 4.5&#10;PersonaPlex&#10;Nemotron VoiceChat"/>
          <p:cNvSpPr txBox="1"/>
          <p:nvPr/>
        </p:nvSpPr>
        <p:spPr>
          <a:xfrm>
            <a:off x="5138928" y="5230368"/>
            <a:ext cx="2871216" cy="71323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PersonaPlex</a:t>
            </a:r>
          </a:p>
          <a:p>
            <a:pPr algn="ctr">
              <a:lnSpc>
                <a:spcPct val="106000"/>
              </a:lnSpc>
              <a:spcAft>
                <a:spcPts val="0"/>
              </a:spcAft>
            </a:pPr>
            <a:r>
              <a:rPr sz="1510" b="1">
                <a:solidFill>
                  <a:srgbClr val="16304E"/>
                </a:solidFill>
                <a:latin typeface="Arial"/>
                <a:ea typeface="Arial"/>
                <a:cs typeface="Arial"/>
              </a:rPr>
              <a:t>MiniCPM-o 4.5</a:t>
            </a:r>
          </a:p>
          <a:p>
            <a:pPr algn="ctr">
              <a:lnSpc>
                <a:spcPct val="106000"/>
              </a:lnSpc>
              <a:spcAft>
                <a:spcPts val="0"/>
              </a:spcAft>
            </a:pPr>
            <a:r>
              <a:rPr sz="1510" b="1">
                <a:solidFill>
                  <a:srgbClr val="16304E"/>
                </a:solidFill>
                <a:latin typeface="Arial"/>
                <a:ea typeface="Arial"/>
                <a:cs typeface="Arial"/>
              </a:rPr>
              <a:t>Nemotron VoiceChat</a:t>
            </a:r>
          </a:p>
        </p:txBody>
      </p:sp>
      <p:sp>
        <p:nvSpPr>
          <p:cNvPr id="234" name="Qwen3-Omni + Server VAD&#10;AURA"/>
          <p:cNvSpPr txBox="1"/>
          <p:nvPr/>
        </p:nvSpPr>
        <p:spPr>
          <a:xfrm>
            <a:off x="8540496" y="5230368"/>
            <a:ext cx="3090672" cy="62179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Qwen3-Omni + Server VAD</a:t>
            </a:r>
          </a:p>
          <a:p>
            <a:pPr algn="ctr">
              <a:lnSpc>
                <a:spcPct val="106000"/>
              </a:lnSpc>
              <a:spcAft>
                <a:spcPts val="0"/>
              </a:spcAft>
            </a:pPr>
            <a:r>
              <a:rPr sz="1510" b="1">
                <a:solidFill>
                  <a:srgbClr val="16304E"/>
                </a:solidFill>
                <a:latin typeface="Arial"/>
                <a:ea typeface="Arial"/>
                <a:cs typeface="Arial"/>
              </a:rPr>
              <a:t>AURA</a:t>
            </a:r>
          </a:p>
        </p:txBody>
      </p:sp>
      <p:sp>
        <p:nvSpPr>
          <p:cNvPr id="235" name="Realtime also supports a separate turn-based path: /v1/realtime?duplex=0 (see A13)."/>
          <p:cNvSpPr txBox="1"/>
          <p:nvPr/>
        </p:nvSpPr>
        <p:spPr>
          <a:xfrm>
            <a:off x="722376" y="6126480"/>
            <a:ext cx="10744200" cy="228600"/>
          </a:xfrm>
          <a:prstGeom prst="rect">
            <a:avLst/>
          </a:prstGeom>
          <a:noFill/>
          <a:ln w="12700">
            <a:noFill/>
          </a:ln>
        </p:spPr>
        <p:txBody>
          <a:bodyPr wrap="square" lIns="0" rIns="0" tIns="0" bIns="0" anchor="t">
            <a:noAutofit/>
          </a:bodyPr>
          <a:lstStyle/>
          <a:p>
            <a:pPr algn="l">
              <a:lnSpc>
                <a:spcPct val="106000"/>
              </a:lnSpc>
              <a:spcAft>
                <a:spcPts val="0"/>
              </a:spcAft>
            </a:pPr>
            <a:r>
              <a:rPr sz="1250" b="0" lang="zh-CN">
                <a:solidFill>
                  <a:srgbClr val="586B7E"/>
                </a:solidFill>
                <a:latin typeface="Noto Sans CJK SC"/>
                <a:ea typeface="Noto Sans CJK SC"/>
                <a:cs typeface="Noto Sans CJK SC"/>
              </a:rPr>
              <a:t>Realtime 另有独立的 turn-based 路径：/v1/realtime?duplex=0。</a:t>
            </a:r>
          </a:p>
        </p:txBody>
      </p:sp>
      <p:sp>
        <p:nvSpPr>
          <p:cNvPr id="236" name="基于 OpenAI Realtime 消息协议，扩展全双工能力"/>
          <p:cNvSpPr txBox="1"/>
          <p:nvPr/>
        </p:nvSpPr>
        <p:spPr>
          <a:xfrm>
            <a:off x="5330952" y="2615184"/>
            <a:ext cx="6108192" cy="219456"/>
          </a:xfrm>
          <a:prstGeom prst="rect">
            <a:avLst/>
          </a:prstGeom>
          <a:noFill/>
          <a:ln w="12700">
            <a:noFill/>
          </a:ln>
        </p:spPr>
        <p:txBody>
          <a:bodyPr wrap="square" lIns="0" rIns="0" tIns="0" bIns="0" anchor="t">
            <a:noAutofit/>
          </a:bodyPr>
          <a:lstStyle/>
          <a:p>
            <a:pPr algn="ctr">
              <a:lnSpc>
                <a:spcPct val="106000"/>
              </a:lnSpc>
              <a:spcAft>
                <a:spcPts val="0"/>
              </a:spcAft>
            </a:pPr>
            <a:r>
              <a:rPr sz="1200" b="0" lang="zh-CN">
                <a:solidFill>
                  <a:srgbClr val="16304E"/>
                </a:solidFill>
                <a:latin typeface="Noto Sans CJK SC"/>
                <a:ea typeface="Noto Sans CJK SC"/>
                <a:cs typeface="Noto Sans CJK SC"/>
              </a:rPr>
              <a:t>基于 OpenAI Realtime 消息协议，扩展全双工能力</a:t>
            </a:r>
          </a:p>
        </p:txBody>
      </p:sp>
      <p:sp>
        <p:nvSpPr>
          <p:cNvPr id="237" name="视频输入 · 播放反馈 · 会话续接"/>
          <p:cNvSpPr txBox="1"/>
          <p:nvPr/>
        </p:nvSpPr>
        <p:spPr>
          <a:xfrm>
            <a:off x="5330952" y="2843784"/>
            <a:ext cx="6108192" cy="201168"/>
          </a:xfrm>
          <a:prstGeom prst="rect">
            <a:avLst/>
          </a:prstGeom>
          <a:noFill/>
          <a:ln w="12700">
            <a:noFill/>
          </a:ln>
        </p:spPr>
        <p:txBody>
          <a:bodyPr wrap="square" lIns="0" rIns="0" tIns="0" bIns="0" anchor="t">
            <a:noAutofit/>
          </a:bodyPr>
          <a:lstStyle/>
          <a:p>
            <a:pPr algn="ctr">
              <a:lnSpc>
                <a:spcPct val="106000"/>
              </a:lnSpc>
              <a:spcAft>
                <a:spcPts val="0"/>
              </a:spcAft>
            </a:pPr>
            <a:r>
              <a:rPr sz="900" b="0" lang="zh-CN">
                <a:solidFill>
                  <a:srgbClr val="008E96"/>
                </a:solidFill>
                <a:latin typeface="Noto Sans CJK SC"/>
                <a:ea typeface="Noto Sans CJK SC"/>
                <a:cs typeface="Noto Sans CJK SC"/>
              </a:rPr>
              <a:t>扩展能力按模型提供：视频输入 · playback feedback · session resume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700" b="0" lang="zh-CN">
                <a:solidFill>
                  <a:srgbClr val="586B7E"/>
                </a:solidFill>
                <a:latin typeface="Noto Sans CJK SC"/>
                <a:ea typeface="Noto Sans CJK SC"/>
                <a:cs typeface="Noto Sans CJK SC"/>
              </a:rPr>
              <a:t>Duplex WebSocket 与 Python 会话共用引擎侧会话控制、模型插件和有界输出传输。</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05 / 12</a:t>
            </a:r>
          </a:p>
        </p:txBody>
      </p:sp>
      <p:sp>
        <p:nvSpPr>
          <p:cNvPr id="50" name="TextBox 49"/>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lang="zh-CN">
                <a:solidFill>
                  <a:srgbClr val="142B45"/>
                </a:solidFill>
                <a:latin typeface="Noto Sans CJK SC"/>
                <a:ea typeface="Noto Sans CJK SC"/>
                <a:cs typeface="Noto Sans CJK SC"/>
              </a:rPr>
              <a:t>统一全双工架构，通信、会话控制与模型计算按层分工</a:t>
            </a:r>
          </a:p>
        </p:txBody>
      </p:sp>
      <p:sp>
        <p:nvSpPr>
          <p:cNvPr id="51" name="Rounded Rectangle 50"/>
          <p:cNvSpPr/>
          <p:nvPr/>
        </p:nvSpPr>
        <p:spPr>
          <a:xfrm>
            <a:off x="548640" y="2194560"/>
            <a:ext cx="11082528" cy="3154680"/>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758952" y="2313432"/>
            <a:ext cx="7315200" cy="219456"/>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应用 / API 进程</a:t>
            </a:r>
          </a:p>
        </p:txBody>
      </p:sp>
      <p:sp>
        <p:nvSpPr>
          <p:cNvPr id="53" name="Rounded Rectangle 52"/>
          <p:cNvSpPr/>
          <p:nvPr/>
        </p:nvSpPr>
        <p:spPr>
          <a:xfrm>
            <a:off x="758952" y="2670048"/>
            <a:ext cx="3977639"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932688" y="2816352"/>
            <a:ext cx="3657600" cy="274320"/>
          </a:xfrm>
          <a:prstGeom prst="rect">
            <a:avLst/>
          </a:prstGeom>
          <a:noFill/>
        </p:spPr>
        <p:txBody>
          <a:bodyPr wrap="square" lIns="0" rIns="0" tIns="0" bIns="0" anchor="t">
            <a:spAutoFit/>
          </a:bodyPr>
          <a:lstStyle/>
          <a:p>
            <a:pPr algn="l">
              <a:lnSpc>
                <a:spcPct val="110000"/>
              </a:lnSpc>
              <a:spcAft>
                <a:spcPts val="0"/>
              </a:spcAft>
            </a:pPr>
            <a:r>
              <a:rPr sz="1700" b="1" lang="zh-CN">
                <a:solidFill>
                  <a:srgbClr val="142B45"/>
                </a:solidFill>
                <a:latin typeface="Noto Sans CJK SC"/>
                <a:ea typeface="Noto Sans CJK SC"/>
                <a:cs typeface="Noto Sans CJK SC"/>
              </a:rPr>
              <a:t>API / Python 事件循环</a:t>
            </a:r>
          </a:p>
        </p:txBody>
      </p:sp>
      <p:sp>
        <p:nvSpPr>
          <p:cNvPr id="55" name="Rounded Rectangle 54"/>
          <p:cNvSpPr/>
          <p:nvPr/>
        </p:nvSpPr>
        <p:spPr>
          <a:xfrm>
            <a:off x="941832" y="3337560"/>
            <a:ext cx="231343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1088136" y="3456432"/>
            <a:ext cx="1993392" cy="301752"/>
          </a:xfrm>
          <a:prstGeom prst="rect">
            <a:avLst/>
          </a:prstGeom>
          <a:noFill/>
        </p:spPr>
        <p:txBody>
          <a:bodyPr wrap="square" lIns="0" rIns="0" tIns="0" bIns="0" anchor="t">
            <a:spAutoFit/>
          </a:bodyPr>
          <a:lstStyle/>
          <a:p>
            <a:pPr algn="l">
              <a:lnSpc>
                <a:spcPct val="110000"/>
              </a:lnSpc>
              <a:spcAft>
                <a:spcPts val="0"/>
              </a:spcAft>
            </a:pPr>
            <a:r>
              <a:rPr sz="2000" b="1">
                <a:solidFill>
                  <a:srgbClr val="327CEC"/>
                </a:solidFill>
                <a:latin typeface="Arial"/>
                <a:ea typeface="Arial"/>
                <a:cs typeface="Arial"/>
              </a:rPr>
              <a:t>API Server</a:t>
            </a:r>
          </a:p>
        </p:txBody>
      </p:sp>
      <p:sp>
        <p:nvSpPr>
          <p:cNvPr id="57" name="TextBox 56"/>
          <p:cNvSpPr txBox="1"/>
          <p:nvPr/>
        </p:nvSpPr>
        <p:spPr>
          <a:xfrm>
            <a:off x="1088136" y="3767328"/>
            <a:ext cx="1993392" cy="338328"/>
          </a:xfrm>
          <a:prstGeom prst="rect">
            <a:avLst/>
          </a:prstGeom>
          <a:noFill/>
        </p:spPr>
        <p:txBody>
          <a:bodyPr wrap="square" lIns="0" rIns="0" tIns="0" bIns="0" anchor="t">
            <a:spAutoFit/>
          </a:bodyPr>
          <a:lstStyle/>
          <a:p>
            <a:pPr algn="l">
              <a:lnSpc>
                <a:spcPct val="110000"/>
              </a:lnSpc>
              <a:spcAft>
                <a:spcPts val="0"/>
              </a:spcAft>
            </a:pPr>
            <a:r>
              <a:rPr sz="1100" b="0" lang="zh-CN">
                <a:solidFill>
                  <a:srgbClr val="586B7E"/>
                </a:solidFill>
                <a:latin typeface="Noto Sans CJK SC"/>
                <a:ea typeface="Noto Sans CJK SC"/>
                <a:cs typeface="Noto Sans CJK SC"/>
              </a:rPr>
              <a:t>协议收发 · attach</a:t>
            </a:r>
          </a:p>
          <a:p>
            <a:pPr algn="l">
              <a:lnSpc>
                <a:spcPct val="110000"/>
              </a:lnSpc>
              <a:spcAft>
                <a:spcPts val="0"/>
              </a:spcAft>
            </a:pPr>
            <a:r>
              <a:rPr sz="1100" b="0" lang="zh-CN">
                <a:solidFill>
                  <a:srgbClr val="586B7E"/>
                </a:solidFill>
                <a:latin typeface="Noto Sans CJK SC"/>
                <a:ea typeface="Noto Sans CJK SC"/>
                <a:cs typeface="Noto Sans CJK SC"/>
              </a:rPr>
              <a:t>event replay</a:t>
            </a:r>
          </a:p>
        </p:txBody>
      </p:sp>
      <p:sp>
        <p:nvSpPr>
          <p:cNvPr id="58" name="Rounded Rectangle 57"/>
          <p:cNvSpPr/>
          <p:nvPr/>
        </p:nvSpPr>
        <p:spPr>
          <a:xfrm>
            <a:off x="3456432" y="3337560"/>
            <a:ext cx="107899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3502152" y="3621024"/>
            <a:ext cx="987552" cy="27432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Python</a:t>
            </a:r>
          </a:p>
        </p:txBody>
      </p:sp>
      <p:cxnSp>
        <p:nvCxnSpPr>
          <p:cNvPr id="60" name="Connector 59"/>
          <p:cNvCxnSpPr/>
          <p:nvPr/>
        </p:nvCxnSpPr>
        <p:spPr>
          <a:xfrm>
            <a:off x="2084831"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61" name="Connector 60"/>
          <p:cNvCxnSpPr/>
          <p:nvPr/>
        </p:nvCxnSpPr>
        <p:spPr>
          <a:xfrm>
            <a:off x="3995928"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2" name="Rounded Rectangle 61"/>
          <p:cNvSpPr/>
          <p:nvPr/>
        </p:nvSpPr>
        <p:spPr>
          <a:xfrm>
            <a:off x="941832" y="4489704"/>
            <a:ext cx="3593592" cy="42062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1078992" y="4590288"/>
            <a:ext cx="1755648" cy="265176"/>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EngineClient</a:t>
            </a:r>
          </a:p>
        </p:txBody>
      </p:sp>
      <p:sp>
        <p:nvSpPr>
          <p:cNvPr id="64" name="TextBox 63"/>
          <p:cNvSpPr txBox="1"/>
          <p:nvPr/>
        </p:nvSpPr>
        <p:spPr>
          <a:xfrm>
            <a:off x="2852928" y="4535424"/>
            <a:ext cx="1600200" cy="329184"/>
          </a:xfrm>
          <a:prstGeom prst="rect">
            <a:avLst/>
          </a:prstGeom>
          <a:noFill/>
        </p:spPr>
        <p:txBody>
          <a:bodyPr wrap="square" lIns="0" rIns="0" tIns="0" bIns="0" anchor="t">
            <a:spAutoFit/>
          </a:bodyPr>
          <a:lstStyle/>
          <a:p>
            <a:pPr algn="l">
              <a:lnSpc>
                <a:spcPct val="110000"/>
              </a:lnSpc>
              <a:spcAft>
                <a:spcPts val="0"/>
              </a:spcAft>
            </a:pPr>
            <a:r>
              <a:rPr sz="969" b="0">
                <a:solidFill>
                  <a:srgbClr val="586B7E"/>
                </a:solidFill>
                <a:latin typeface="Arial"/>
                <a:ea typeface="Arial"/>
                <a:cs typeface="Arial"/>
              </a:rPr>
              <a:t>handle · session API</a:t>
            </a:r>
          </a:p>
          <a:p>
            <a:pPr algn="l">
              <a:lnSpc>
                <a:spcPct val="110000"/>
              </a:lnSpc>
              <a:spcAft>
                <a:spcPts val="0"/>
              </a:spcAft>
            </a:pPr>
            <a:r>
              <a:rPr sz="969" b="0">
                <a:solidFill>
                  <a:srgbClr val="586B7E"/>
                </a:solidFill>
                <a:latin typeface="Arial"/>
                <a:ea typeface="Arial"/>
                <a:cs typeface="Arial"/>
              </a:rPr>
              <a:t>event stream</a:t>
            </a:r>
          </a:p>
        </p:txBody>
      </p:sp>
      <p:sp>
        <p:nvSpPr>
          <p:cNvPr id="65" name="Rounded Rectangle 64"/>
          <p:cNvSpPr/>
          <p:nvPr/>
        </p:nvSpPr>
        <p:spPr>
          <a:xfrm>
            <a:off x="6281928" y="2670048"/>
            <a:ext cx="5138928"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TextBox 65"/>
          <p:cNvSpPr txBox="1"/>
          <p:nvPr/>
        </p:nvSpPr>
        <p:spPr>
          <a:xfrm>
            <a:off x="6455664" y="2816352"/>
            <a:ext cx="4663440" cy="292608"/>
          </a:xfrm>
          <a:prstGeom prst="rect">
            <a:avLst/>
          </a:prstGeom>
          <a:noFill/>
        </p:spPr>
        <p:txBody>
          <a:bodyPr wrap="square" lIns="0" rIns="0" tIns="0" bIns="0" anchor="t">
            <a:spAutoFit/>
          </a:bodyPr>
          <a:lstStyle/>
          <a:p>
            <a:pPr algn="l">
              <a:lnSpc>
                <a:spcPct val="110000"/>
              </a:lnSpc>
              <a:spcAft>
                <a:spcPts val="0"/>
              </a:spcAft>
            </a:pPr>
            <a:r>
              <a:rPr sz="1800" b="1">
                <a:solidFill>
                  <a:srgbClr val="142B45"/>
                </a:solidFill>
                <a:latin typeface="Arial"/>
                <a:ea typeface="Arial"/>
                <a:cs typeface="Arial"/>
              </a:rPr>
              <a:t>Duplex Orchestrator</a:t>
            </a:r>
          </a:p>
        </p:txBody>
      </p:sp>
      <p:sp>
        <p:nvSpPr>
          <p:cNvPr id="67" name="Rounded Rectangle 66"/>
          <p:cNvSpPr/>
          <p:nvPr/>
        </p:nvSpPr>
        <p:spPr>
          <a:xfrm>
            <a:off x="6455664" y="3172968"/>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6565392" y="3227832"/>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Manager</a:t>
            </a:r>
          </a:p>
        </p:txBody>
      </p:sp>
      <p:sp>
        <p:nvSpPr>
          <p:cNvPr id="69" name="TextBox 68"/>
          <p:cNvSpPr txBox="1"/>
          <p:nvPr/>
        </p:nvSpPr>
        <p:spPr>
          <a:xfrm>
            <a:off x="8028431" y="3227832"/>
            <a:ext cx="3127248" cy="49377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1. 创建 / 关闭 / 恢复会话，管理 lease</a:t>
            </a:r>
          </a:p>
          <a:p>
            <a:pPr algn="l">
              <a:lnSpc>
                <a:spcPct val="110000"/>
              </a:lnSpc>
              <a:spcAft>
                <a:spcPts val="0"/>
              </a:spcAft>
            </a:pPr>
            <a:r>
              <a:rPr sz="1050" b="0" lang="zh-CN">
                <a:solidFill>
                  <a:srgbClr val="142B45"/>
                </a:solidFill>
                <a:latin typeface="Noto Sans CJK SC"/>
                <a:ea typeface="Noto Sans CJK SC"/>
                <a:cs typeface="Noto Sans CJK SC"/>
              </a:rPr>
              <a:t>2. 检查容量与积压，分发 command</a:t>
            </a:r>
          </a:p>
          <a:p>
            <a:pPr algn="l">
              <a:lnSpc>
                <a:spcPct val="110000"/>
              </a:lnSpc>
              <a:spcAft>
                <a:spcPts val="0"/>
              </a:spcAft>
            </a:pPr>
            <a:r>
              <a:rPr sz="1050" b="0" lang="zh-CN">
                <a:solidFill>
                  <a:srgbClr val="142B45"/>
                </a:solidFill>
                <a:latin typeface="Noto Sans CJK SC"/>
                <a:ea typeface="Noto Sans CJK SC"/>
                <a:cs typeface="Noto Sans CJK SC"/>
              </a:rPr>
              <a:t>3. 限制会话输出，清理过期会话</a:t>
            </a:r>
          </a:p>
        </p:txBody>
      </p:sp>
      <p:sp>
        <p:nvSpPr>
          <p:cNvPr id="70" name="Rounded Rectangle 69"/>
          <p:cNvSpPr/>
          <p:nvPr/>
        </p:nvSpPr>
        <p:spPr>
          <a:xfrm>
            <a:off x="6455664" y="3849624"/>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6565392" y="3904487"/>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Runner</a:t>
            </a:r>
          </a:p>
        </p:txBody>
      </p:sp>
      <p:sp>
        <p:nvSpPr>
          <p:cNvPr id="72" name="TextBox 71"/>
          <p:cNvSpPr txBox="1"/>
          <p:nvPr/>
        </p:nvSpPr>
        <p:spPr>
          <a:xfrm>
            <a:off x="8028431" y="3904487"/>
            <a:ext cx="3127248" cy="49377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1. 每个 session 一个，按序消费 mailbox</a:t>
            </a:r>
          </a:p>
          <a:p>
            <a:pPr algn="l">
              <a:lnSpc>
                <a:spcPct val="110000"/>
              </a:lnSpc>
              <a:spcAft>
                <a:spcPts val="0"/>
              </a:spcAft>
            </a:pPr>
            <a:r>
              <a:rPr sz="1050" b="0" lang="zh-CN">
                <a:solidFill>
                  <a:srgbClr val="142B45"/>
                </a:solidFill>
                <a:latin typeface="Noto Sans CJK SC"/>
                <a:ea typeface="Noto Sans CJK SC"/>
                <a:cs typeface="Noto Sans CJK SC"/>
              </a:rPr>
              <a:t>2. 处理 input / commit / cancel / Stage output</a:t>
            </a:r>
          </a:p>
          <a:p>
            <a:pPr algn="l">
              <a:lnSpc>
                <a:spcPct val="110000"/>
              </a:lnSpc>
              <a:spcAft>
                <a:spcPts val="0"/>
              </a:spcAft>
            </a:pPr>
            <a:r>
              <a:rPr sz="1050" b="0" lang="zh-CN">
                <a:solidFill>
                  <a:srgbClr val="142B45"/>
                </a:solidFill>
                <a:latin typeface="Noto Sans CJK SC"/>
                <a:ea typeface="Noto Sans CJK SC"/>
                <a:cs typeface="Noto Sans CJK SC"/>
              </a:rPr>
              <a:t>3. 推进 response，更新 history / playback</a:t>
            </a:r>
          </a:p>
        </p:txBody>
      </p:sp>
      <p:sp>
        <p:nvSpPr>
          <p:cNvPr id="73" name="Rounded Rectangle 72"/>
          <p:cNvSpPr/>
          <p:nvPr/>
        </p:nvSpPr>
        <p:spPr>
          <a:xfrm>
            <a:off x="6455664" y="4526280"/>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6565392" y="4581144"/>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Model</a:t>
            </a:r>
          </a:p>
          <a:p>
            <a:pPr algn="l">
              <a:lnSpc>
                <a:spcPct val="110000"/>
              </a:lnSpc>
              <a:spcAft>
                <a:spcPts val="0"/>
              </a:spcAft>
            </a:pPr>
            <a:r>
              <a:rPr sz="1350" b="1">
                <a:solidFill>
                  <a:srgbClr val="008E96"/>
                </a:solidFill>
                <a:latin typeface="Arial"/>
                <a:ea typeface="Arial"/>
                <a:cs typeface="Arial"/>
              </a:rPr>
              <a:t>Plugin</a:t>
            </a:r>
          </a:p>
        </p:txBody>
      </p:sp>
      <p:sp>
        <p:nvSpPr>
          <p:cNvPr id="75" name="TextBox 74"/>
          <p:cNvSpPr txBox="1"/>
          <p:nvPr/>
        </p:nvSpPr>
        <p:spPr>
          <a:xfrm>
            <a:off x="8028431" y="4581144"/>
            <a:ext cx="3127248" cy="49377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1. 声明能力，准备运行与采样参数</a:t>
            </a:r>
          </a:p>
          <a:p>
            <a:pPr algn="l">
              <a:lnSpc>
                <a:spcPct val="110000"/>
              </a:lnSpc>
              <a:spcAft>
                <a:spcPts val="0"/>
              </a:spcAft>
            </a:pPr>
            <a:r>
              <a:rPr sz="1050" b="0" lang="zh-CN">
                <a:solidFill>
                  <a:srgbClr val="142B45"/>
                </a:solidFill>
                <a:latin typeface="Noto Sans CJK SC"/>
                <a:ea typeface="Noto Sans CJK SC"/>
                <a:cs typeface="Noto Sans CJK SC"/>
              </a:rPr>
              <a:t>2. 提供会话缓冲，构造 chunk / turn 输入</a:t>
            </a:r>
          </a:p>
          <a:p>
            <a:pPr algn="l">
              <a:lnSpc>
                <a:spcPct val="110000"/>
              </a:lnSpc>
              <a:spcAft>
                <a:spcPts val="0"/>
              </a:spcAft>
            </a:pPr>
            <a:r>
              <a:rPr sz="1050" b="0" lang="zh-CN">
                <a:solidFill>
                  <a:srgbClr val="142B45"/>
                </a:solidFill>
                <a:latin typeface="Noto Sans CJK SC"/>
                <a:ea typeface="Noto Sans CJK SC"/>
                <a:cs typeface="Noto Sans CJK SC"/>
              </a:rPr>
              <a:t>3. 解释模型输出，适配后续 Stage 策略</a:t>
            </a:r>
          </a:p>
        </p:txBody>
      </p:sp>
      <p:cxnSp>
        <p:nvCxnSpPr>
          <p:cNvPr id="76" name="Connector 75"/>
          <p:cNvCxnSpPr/>
          <p:nvPr/>
        </p:nvCxnSpPr>
        <p:spPr>
          <a:xfrm>
            <a:off x="4764024" y="3493008"/>
            <a:ext cx="14813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7" name="TextBox 76"/>
          <p:cNvSpPr txBox="1"/>
          <p:nvPr/>
        </p:nvSpPr>
        <p:spPr>
          <a:xfrm>
            <a:off x="4773168" y="3246120"/>
            <a:ext cx="1463040" cy="210312"/>
          </a:xfrm>
          <a:prstGeom prst="rect">
            <a:avLst/>
          </a:prstGeom>
          <a:noFill/>
        </p:spPr>
        <p:txBody>
          <a:bodyPr wrap="square" lIns="0" rIns="0" tIns="0" bIns="0" anchor="t">
            <a:spAutoFit/>
          </a:bodyPr>
          <a:lstStyle/>
          <a:p>
            <a:pPr algn="ctr">
              <a:lnSpc>
                <a:spcPct val="110000"/>
              </a:lnSpc>
              <a:spcAft>
                <a:spcPts val="0"/>
              </a:spcAft>
            </a:pPr>
            <a:r>
              <a:rPr sz="1200" b="1">
                <a:solidFill>
                  <a:srgbClr val="327CEC"/>
                </a:solidFill>
                <a:latin typeface="Arial"/>
                <a:ea typeface="Arial"/>
                <a:cs typeface="Arial"/>
              </a:rPr>
              <a:t>command</a:t>
            </a:r>
          </a:p>
        </p:txBody>
      </p:sp>
      <p:cxnSp>
        <p:nvCxnSpPr>
          <p:cNvPr id="78" name="Connector 77"/>
          <p:cNvCxnSpPr/>
          <p:nvPr/>
        </p:nvCxnSpPr>
        <p:spPr>
          <a:xfrm flipH="1">
            <a:off x="4764024" y="4142232"/>
            <a:ext cx="148132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9" name="TextBox 78"/>
          <p:cNvSpPr txBox="1"/>
          <p:nvPr/>
        </p:nvSpPr>
        <p:spPr>
          <a:xfrm>
            <a:off x="4773168" y="3895344"/>
            <a:ext cx="1463040" cy="210312"/>
          </a:xfrm>
          <a:prstGeom prst="rect">
            <a:avLst/>
          </a:prstGeom>
          <a:noFill/>
        </p:spPr>
        <p:txBody>
          <a:bodyPr wrap="square" lIns="0" rIns="0" tIns="0" bIns="0" anchor="t">
            <a:spAutoFit/>
          </a:bodyPr>
          <a:lstStyle/>
          <a:p>
            <a:pPr algn="ctr">
              <a:lnSpc>
                <a:spcPct val="110000"/>
              </a:lnSpc>
              <a:spcAft>
                <a:spcPts val="0"/>
              </a:spcAft>
            </a:pPr>
            <a:r>
              <a:rPr sz="1150" b="1">
                <a:solidFill>
                  <a:srgbClr val="008E96"/>
                </a:solidFill>
                <a:latin typeface="Arial"/>
                <a:ea typeface="Arial"/>
                <a:cs typeface="Arial"/>
              </a:rPr>
              <a:t>operation result</a:t>
            </a:r>
          </a:p>
        </p:txBody>
      </p:sp>
      <p:cxnSp>
        <p:nvCxnSpPr>
          <p:cNvPr id="80" name="Connector 79"/>
          <p:cNvCxnSpPr/>
          <p:nvPr/>
        </p:nvCxnSpPr>
        <p:spPr>
          <a:xfrm flipH="1">
            <a:off x="4764024" y="4800600"/>
            <a:ext cx="1481328" cy="0"/>
          </a:xfrm>
          <a:prstGeom prst="line">
            <a:avLst/>
          </a:prstGeom>
          <a:ln w="17780">
            <a:solidFill>
              <a:srgbClr val="7855A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1" name="TextBox 80"/>
          <p:cNvSpPr txBox="1"/>
          <p:nvPr/>
        </p:nvSpPr>
        <p:spPr>
          <a:xfrm>
            <a:off x="4773168" y="4553712"/>
            <a:ext cx="1463040" cy="210312"/>
          </a:xfrm>
          <a:prstGeom prst="rect">
            <a:avLst/>
          </a:prstGeom>
          <a:noFill/>
        </p:spPr>
        <p:txBody>
          <a:bodyPr wrap="square" lIns="0" rIns="0" tIns="0" bIns="0" anchor="t">
            <a:spAutoFit/>
          </a:bodyPr>
          <a:lstStyle/>
          <a:p>
            <a:pPr algn="ctr">
              <a:lnSpc>
                <a:spcPct val="110000"/>
              </a:lnSpc>
              <a:spcAft>
                <a:spcPts val="0"/>
              </a:spcAft>
            </a:pPr>
            <a:r>
              <a:rPr sz="1200" b="1">
                <a:solidFill>
                  <a:srgbClr val="7855AD"/>
                </a:solidFill>
                <a:latin typeface="Arial"/>
                <a:ea typeface="Arial"/>
                <a:cs typeface="Arial"/>
              </a:rPr>
              <a:t>session buffer</a:t>
            </a:r>
          </a:p>
        </p:txBody>
      </p:sp>
      <p:sp>
        <p:nvSpPr>
          <p:cNvPr id="82" name="TextBox 81"/>
          <p:cNvSpPr txBox="1"/>
          <p:nvPr/>
        </p:nvSpPr>
        <p:spPr>
          <a:xfrm>
            <a:off x="4764024" y="5157216"/>
            <a:ext cx="1490472" cy="128016"/>
          </a:xfrm>
          <a:prstGeom prst="rect">
            <a:avLst/>
          </a:prstGeom>
          <a:noFill/>
        </p:spPr>
        <p:txBody>
          <a:bodyPr wrap="square" lIns="0" rIns="0" tIns="0" bIns="0" anchor="t">
            <a:spAutoFit/>
          </a:bodyPr>
          <a:lstStyle/>
          <a:p>
            <a:pPr algn="ctr">
              <a:lnSpc>
                <a:spcPct val="110000"/>
              </a:lnSpc>
              <a:spcAft>
                <a:spcPts val="0"/>
              </a:spcAft>
            </a:pPr>
            <a:r>
              <a:rPr sz="800" b="0" lang="zh-CN">
                <a:solidFill>
                  <a:srgbClr val="586B7E"/>
                </a:solidFill>
                <a:latin typeface="Noto Sans CJK SC"/>
                <a:ea typeface="Noto Sans CJK SC"/>
                <a:cs typeface="Noto Sans CJK SC"/>
              </a:rPr>
              <a:t>同一进程 · 独立事件循环</a:t>
            </a:r>
          </a:p>
        </p:txBody>
      </p:sp>
      <p:sp>
        <p:nvSpPr>
          <p:cNvPr id="83" name="TextBox 82"/>
          <p:cNvSpPr txBox="1"/>
          <p:nvPr/>
        </p:nvSpPr>
        <p:spPr>
          <a:xfrm>
            <a:off x="758952" y="5559552"/>
            <a:ext cx="5513832" cy="704088"/>
          </a:xfrm>
          <a:prstGeom prst="rect">
            <a:avLst/>
          </a:prstGeom>
          <a:noFill/>
        </p:spPr>
        <p:txBody>
          <a:bodyPr wrap="square" lIns="0" rIns="0" tIns="0" bIns="0" anchor="t">
            <a:spAutoFit/>
          </a:bodyPr>
          <a:lstStyle/>
          <a:p>
            <a:pPr algn="l">
              <a:lnSpc>
                <a:spcPct val="110000"/>
              </a:lnSpc>
              <a:spcAft>
                <a:spcPts val="0"/>
              </a:spcAft>
            </a:pPr>
            <a:r>
              <a:rPr sz="1200" b="1" lang="zh-CN">
                <a:solidFill>
                  <a:srgbClr val="142B45"/>
                </a:solidFill>
                <a:latin typeface="Noto Sans CJK SC"/>
                <a:ea typeface="Noto Sans CJK SC"/>
                <a:cs typeface="Noto Sans CJK SC"/>
              </a:rPr>
              <a:t>API Server：协议、连接绑定与 event replay</a:t>
            </a:r>
          </a:p>
          <a:p>
            <a:pPr algn="l">
              <a:lnSpc>
                <a:spcPct val="110000"/>
              </a:lnSpc>
              <a:spcAft>
                <a:spcPts val="0"/>
              </a:spcAft>
            </a:pPr>
            <a:r>
              <a:rPr sz="1200" b="1" lang="zh-CN">
                <a:solidFill>
                  <a:srgbClr val="142B45"/>
                </a:solidFill>
                <a:latin typeface="Noto Sans CJK SC"/>
                <a:ea typeface="Noto Sans CJK SC"/>
                <a:cs typeface="Noto Sans CJK SC"/>
              </a:rPr>
              <a:t>EngineClient：handle、event stream 与控制操作结果</a:t>
            </a:r>
          </a:p>
          <a:p>
            <a:pPr algn="l">
              <a:lnSpc>
                <a:spcPct val="110000"/>
              </a:lnSpc>
              <a:spcAft>
                <a:spcPts val="0"/>
              </a:spcAft>
            </a:pPr>
            <a:r>
              <a:rPr sz="1200" b="1" lang="zh-CN">
                <a:solidFill>
                  <a:srgbClr val="142B45"/>
                </a:solidFill>
                <a:latin typeface="Noto Sans CJK SC"/>
                <a:ea typeface="Noto Sans CJK SC"/>
                <a:cs typeface="Noto Sans CJK SC"/>
              </a:rPr>
              <a:t>Duplex Orchestrator：会话执行与 Stage 调度</a:t>
            </a:r>
          </a:p>
        </p:txBody>
      </p:sp>
      <p:cxnSp>
        <p:nvCxnSpPr>
          <p:cNvPr id="84" name="Connector 83"/>
          <p:cNvCxnSpPr/>
          <p:nvPr/>
        </p:nvCxnSpPr>
        <p:spPr>
          <a:xfrm>
            <a:off x="7863840"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flipV="1">
            <a:off x="10067544"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TextBox 85"/>
          <p:cNvSpPr txBox="1"/>
          <p:nvPr/>
        </p:nvSpPr>
        <p:spPr>
          <a:xfrm>
            <a:off x="6501384" y="5431536"/>
            <a:ext cx="1225296" cy="182880"/>
          </a:xfrm>
          <a:prstGeom prst="rect">
            <a:avLst/>
          </a:prstGeom>
          <a:noFill/>
        </p:spPr>
        <p:txBody>
          <a:bodyPr wrap="square" lIns="0" rIns="0" tIns="0" bIns="0" anchor="t">
            <a:spAutoFit/>
          </a:bodyPr>
          <a:lstStyle/>
          <a:p>
            <a:pPr algn="l">
              <a:lnSpc>
                <a:spcPct val="110000"/>
              </a:lnSpc>
              <a:spcAft>
                <a:spcPts val="0"/>
              </a:spcAft>
            </a:pPr>
            <a:r>
              <a:rPr sz="1000" b="1" lang="zh-CN">
                <a:solidFill>
                  <a:srgbClr val="008E96"/>
                </a:solidFill>
                <a:latin typeface="Noto Sans CJK SC"/>
                <a:ea typeface="Noto Sans CJK SC"/>
                <a:cs typeface="Noto Sans CJK SC"/>
              </a:rPr>
              <a:t>Stage 请求</a:t>
            </a:r>
          </a:p>
        </p:txBody>
      </p:sp>
      <p:sp>
        <p:nvSpPr>
          <p:cNvPr id="87" name="TextBox 86"/>
          <p:cNvSpPr txBox="1"/>
          <p:nvPr/>
        </p:nvSpPr>
        <p:spPr>
          <a:xfrm>
            <a:off x="10204704" y="5431536"/>
            <a:ext cx="1179576" cy="182880"/>
          </a:xfrm>
          <a:prstGeom prst="rect">
            <a:avLst/>
          </a:prstGeom>
          <a:noFill/>
        </p:spPr>
        <p:txBody>
          <a:bodyPr wrap="square" lIns="0" rIns="0" tIns="0" bIns="0" anchor="t">
            <a:spAutoFit/>
          </a:bodyPr>
          <a:lstStyle/>
          <a:p>
            <a:pPr algn="l">
              <a:lnSpc>
                <a:spcPct val="110000"/>
              </a:lnSpc>
              <a:spcAft>
                <a:spcPts val="0"/>
              </a:spcAft>
            </a:pPr>
            <a:r>
              <a:rPr sz="1000" b="1">
                <a:solidFill>
                  <a:srgbClr val="008E96"/>
                </a:solidFill>
                <a:latin typeface="Arial"/>
                <a:ea typeface="Arial"/>
                <a:cs typeface="Arial"/>
              </a:rPr>
              <a:t>Stage output</a:t>
            </a:r>
          </a:p>
        </p:txBody>
      </p:sp>
      <p:sp>
        <p:nvSpPr>
          <p:cNvPr id="88" name="Rounded Rectangle 87"/>
          <p:cNvSpPr/>
          <p:nvPr/>
        </p:nvSpPr>
        <p:spPr>
          <a:xfrm>
            <a:off x="6437376" y="5678424"/>
            <a:ext cx="4983480" cy="603504"/>
          </a:xfrm>
          <a:prstGeom prst="roundRect">
            <a:avLst>
              <a:gd name="adj" fmla="val 10000"/>
            </a:avLst>
          </a:prstGeom>
          <a:solidFill>
            <a:srgbClr val="142B45"/>
          </a:solidFill>
          <a:ln w="12065">
            <a:solidFill>
              <a:srgbClr val="7692B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TextBox 88"/>
          <p:cNvSpPr txBox="1"/>
          <p:nvPr/>
        </p:nvSpPr>
        <p:spPr>
          <a:xfrm>
            <a:off x="6601968" y="5760720"/>
            <a:ext cx="4617720" cy="256032"/>
          </a:xfrm>
          <a:prstGeom prst="rect">
            <a:avLst/>
          </a:prstGeom>
          <a:noFill/>
        </p:spPr>
        <p:txBody>
          <a:bodyPr wrap="square" lIns="0" rIns="0" tIns="0" bIns="0" anchor="t">
            <a:spAutoFit/>
          </a:bodyPr>
          <a:lstStyle/>
          <a:p>
            <a:pPr algn="l">
              <a:lnSpc>
                <a:spcPct val="110000"/>
              </a:lnSpc>
              <a:spcAft>
                <a:spcPts val="0"/>
              </a:spcAft>
            </a:pPr>
            <a:r>
              <a:rPr sz="1600" b="1" lang="zh-CN">
                <a:solidFill>
                  <a:srgbClr val="FFFFFF"/>
                </a:solidFill>
                <a:latin typeface="Noto Sans CJK SC"/>
                <a:ea typeface="Noto Sans CJK SC"/>
                <a:cs typeface="Noto Sans CJK SC"/>
              </a:rPr>
              <a:t>Stage 执行进程</a:t>
            </a:r>
          </a:p>
        </p:txBody>
      </p:sp>
      <p:sp>
        <p:nvSpPr>
          <p:cNvPr id="90" name="TextBox 89"/>
          <p:cNvSpPr txBox="1"/>
          <p:nvPr/>
        </p:nvSpPr>
        <p:spPr>
          <a:xfrm>
            <a:off x="6601968" y="6071616"/>
            <a:ext cx="4617720" cy="164592"/>
          </a:xfrm>
          <a:prstGeom prst="rect">
            <a:avLst/>
          </a:prstGeom>
          <a:noFill/>
        </p:spPr>
        <p:txBody>
          <a:bodyPr wrap="square" lIns="0" rIns="0" tIns="0" bIns="0" anchor="t">
            <a:spAutoFit/>
          </a:bodyPr>
          <a:lstStyle/>
          <a:p>
            <a:pPr algn="l">
              <a:lnSpc>
                <a:spcPct val="110000"/>
              </a:lnSpc>
              <a:spcAft>
                <a:spcPts val="0"/>
              </a:spcAft>
            </a:pPr>
            <a:r>
              <a:rPr sz="1000" b="0" lang="zh-CN">
                <a:solidFill>
                  <a:srgbClr val="B7C8D9"/>
                </a:solidFill>
                <a:latin typeface="Noto Sans CJK SC"/>
                <a:ea typeface="Noto Sans CJK SC"/>
                <a:cs typeface="Noto Sans CJK SC"/>
              </a:rPr>
              <a:t>Scheduler + Worker · 计算、KV 与流式缓存</a:t>
            </a:r>
          </a:p>
        </p:txBody>
      </p:sp>
      <p:sp>
        <p:nvSpPr>
          <p:cNvPr id="91" name="TextBox 90"/>
          <p:cNvSpPr txBox="1"/>
          <p:nvPr/>
        </p:nvSpPr>
        <p:spPr>
          <a:xfrm>
            <a:off x="4773168" y="4178808"/>
            <a:ext cx="1463040" cy="329184"/>
          </a:xfrm>
          <a:prstGeom prst="rect">
            <a:avLst/>
          </a:prstGeom>
          <a:noFill/>
        </p:spPr>
        <p:txBody>
          <a:bodyPr wrap="square" lIns="0" rIns="0" tIns="0" bIns="0" anchor="t">
            <a:spAutoFit/>
          </a:bodyPr>
          <a:lstStyle/>
          <a:p>
            <a:pPr algn="ctr">
              <a:lnSpc>
                <a:spcPct val="110000"/>
              </a:lnSpc>
              <a:spcAft>
                <a:spcPts val="0"/>
              </a:spcAft>
            </a:pPr>
            <a:r>
              <a:rPr sz="860" b="0" lang="zh-CN">
                <a:solidFill>
                  <a:srgbClr val="586B7E"/>
                </a:solidFill>
                <a:latin typeface="Noto Sans CJK SC"/>
                <a:ea typeface="Noto Sans CJK SC"/>
                <a:cs typeface="Noto Sans CJK SC"/>
              </a:rPr>
              <a:t>open / close / resume</a:t>
            </a:r>
          </a:p>
          <a:p>
            <a:pPr algn="ctr">
              <a:lnSpc>
                <a:spcPct val="110000"/>
              </a:lnSpc>
              <a:spcAft>
                <a:spcPts val="0"/>
              </a:spcAft>
            </a:pPr>
            <a:r>
              <a:rPr sz="860" b="0" lang="zh-CN">
                <a:solidFill>
                  <a:srgbClr val="586B7E"/>
                </a:solidFill>
                <a:latin typeface="Noto Sans CJK SC"/>
                <a:ea typeface="Noto Sans CJK SC"/>
                <a:cs typeface="Noto Sans CJK SC"/>
              </a:rPr>
              <a:t>成功、失败与错误原因</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lang="zh-CN">
                <a:solidFill>
                  <a:srgbClr val="142B45"/>
                </a:solidFill>
                <a:latin typeface="Noto Sans CJK SC"/>
                <a:ea typeface="Noto Sans CJK SC"/>
                <a:cs typeface="Noto Sans CJK SC"/>
              </a:rPr>
              <a:t>全双工 workflow</a:t>
            </a:r>
          </a:p>
        </p:txBody>
      </p:sp>
      <p:sp>
        <p:nvSpPr>
          <p:cNvPr id="7" name="TextBox 6"/>
          <p:cNvSpPr txBox="1"/>
          <p:nvPr/>
        </p:nvSpPr>
        <p:spPr>
          <a:xfrm>
            <a:off x="576072" y="1645920"/>
            <a:ext cx="10972800" cy="36576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API Server 处理协议；EngineClient 提供 session handle；Runner / Plugin 驱动执行。</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06 / 12</a:t>
            </a:r>
          </a:p>
        </p:txBody>
      </p:sp>
      <p:cxnSp>
        <p:nvCxnSpPr>
          <p:cNvPr id="12" name="Connector 11"/>
          <p:cNvCxnSpPr/>
          <p:nvPr/>
        </p:nvCxnSpPr>
        <p:spPr>
          <a:xfrm>
            <a:off x="2395728" y="2185416"/>
            <a:ext cx="4151376" cy="0"/>
          </a:xfrm>
          <a:prstGeom prst="line">
            <a:avLst/>
          </a:prstGeom>
          <a:ln w="1016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2395728" y="2011680"/>
            <a:ext cx="4151376" cy="182880"/>
          </a:xfrm>
          <a:prstGeom prst="rect">
            <a:avLst/>
          </a:prstGeom>
          <a:noFill/>
        </p:spPr>
        <p:txBody>
          <a:bodyPr wrap="square" lIns="0" rIns="0" tIns="0" bIns="0" anchor="t">
            <a:spAutoFit/>
          </a:bodyPr>
          <a:lstStyle/>
          <a:p>
            <a:pPr algn="ctr">
              <a:lnSpc>
                <a:spcPct val="110000"/>
              </a:lnSpc>
              <a:spcAft>
                <a:spcPts val="0"/>
              </a:spcAft>
            </a:pPr>
            <a:r>
              <a:rPr sz="1000" b="0" lang="zh-CN">
                <a:solidFill>
                  <a:srgbClr val="586B7E"/>
                </a:solidFill>
                <a:latin typeface="Noto Sans CJK SC"/>
                <a:ea typeface="Noto Sans CJK SC"/>
                <a:cs typeface="Noto Sans CJK SC"/>
              </a:rPr>
              <a:t>API / Python 事件循环</a:t>
            </a:r>
          </a:p>
        </p:txBody>
      </p:sp>
      <p:sp>
        <p:nvSpPr>
          <p:cNvPr id="14" name="TextBox 13"/>
          <p:cNvSpPr txBox="1"/>
          <p:nvPr/>
        </p:nvSpPr>
        <p:spPr>
          <a:xfrm>
            <a:off x="6684264" y="2011680"/>
            <a:ext cx="2432304" cy="182880"/>
          </a:xfrm>
          <a:prstGeom prst="rect">
            <a:avLst/>
          </a:prstGeom>
          <a:noFill/>
        </p:spPr>
        <p:txBody>
          <a:bodyPr wrap="square" lIns="0" rIns="0" tIns="0" bIns="0" anchor="t">
            <a:spAutoFit/>
          </a:bodyPr>
          <a:lstStyle/>
          <a:p>
            <a:pPr algn="ctr">
              <a:lnSpc>
                <a:spcPct val="110000"/>
              </a:lnSpc>
              <a:spcAft>
                <a:spcPts val="0"/>
              </a:spcAft>
            </a:pPr>
            <a:r>
              <a:rPr sz="1000" b="0" lang="zh-CN">
                <a:solidFill>
                  <a:srgbClr val="586B7E"/>
                </a:solidFill>
                <a:latin typeface="Noto Sans CJK SC"/>
                <a:ea typeface="Noto Sans CJK SC"/>
                <a:cs typeface="Noto Sans CJK SC"/>
              </a:rPr>
              <a:t>独立 Orchestrator 线程</a:t>
            </a:r>
          </a:p>
        </p:txBody>
      </p:sp>
      <p:sp>
        <p:nvSpPr>
          <p:cNvPr id="15" name="TextBox 14"/>
          <p:cNvSpPr txBox="1"/>
          <p:nvPr/>
        </p:nvSpPr>
        <p:spPr>
          <a:xfrm>
            <a:off x="9582912" y="2011680"/>
            <a:ext cx="2011680" cy="182880"/>
          </a:xfrm>
          <a:prstGeom prst="rect">
            <a:avLst/>
          </a:prstGeom>
          <a:noFill/>
        </p:spPr>
        <p:txBody>
          <a:bodyPr wrap="square" lIns="0" rIns="0" tIns="0" bIns="0" anchor="t">
            <a:spAutoFit/>
          </a:bodyPr>
          <a:lstStyle/>
          <a:p>
            <a:pPr algn="ctr">
              <a:lnSpc>
                <a:spcPct val="110000"/>
              </a:lnSpc>
              <a:spcAft>
                <a:spcPts val="0"/>
              </a:spcAft>
            </a:pPr>
            <a:r>
              <a:rPr sz="1000" b="0" lang="zh-CN">
                <a:solidFill>
                  <a:srgbClr val="586B7E"/>
                </a:solidFill>
                <a:latin typeface="Noto Sans CJK SC"/>
                <a:ea typeface="Noto Sans CJK SC"/>
                <a:cs typeface="Noto Sans CJK SC"/>
              </a:rPr>
              <a:t>Worker 进程</a:t>
            </a:r>
          </a:p>
        </p:txBody>
      </p:sp>
      <p:sp>
        <p:nvSpPr>
          <p:cNvPr id="16" name="Rounded Rectangle 15"/>
          <p:cNvSpPr/>
          <p:nvPr/>
        </p:nvSpPr>
        <p:spPr>
          <a:xfrm>
            <a:off x="548640" y="2286000"/>
            <a:ext cx="1426464" cy="658368"/>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594360" y="2404872"/>
            <a:ext cx="1335024" cy="228600"/>
          </a:xfrm>
          <a:prstGeom prst="rect">
            <a:avLst/>
          </a:prstGeom>
          <a:noFill/>
        </p:spPr>
        <p:txBody>
          <a:bodyPr wrap="square" lIns="0" rIns="0" tIns="0" bIns="0" anchor="t">
            <a:spAutoFit/>
          </a:bodyPr>
          <a:lstStyle/>
          <a:p>
            <a:pPr algn="ctr">
              <a:lnSpc>
                <a:spcPct val="110000"/>
              </a:lnSpc>
              <a:spcAft>
                <a:spcPts val="0"/>
              </a:spcAft>
            </a:pPr>
            <a:r>
              <a:rPr sz="1600" b="1">
                <a:solidFill>
                  <a:srgbClr val="142B45"/>
                </a:solidFill>
                <a:latin typeface="Arial"/>
                <a:ea typeface="Arial"/>
                <a:cs typeface="Arial"/>
              </a:rPr>
              <a:t>User Client</a:t>
            </a:r>
          </a:p>
        </p:txBody>
      </p:sp>
      <p:sp>
        <p:nvSpPr>
          <p:cNvPr id="18" name="TextBox 17"/>
          <p:cNvSpPr txBox="1"/>
          <p:nvPr/>
        </p:nvSpPr>
        <p:spPr>
          <a:xfrm>
            <a:off x="585216" y="2706624"/>
            <a:ext cx="1353312" cy="164592"/>
          </a:xfrm>
          <a:prstGeom prst="rect">
            <a:avLst/>
          </a:prstGeom>
          <a:noFill/>
        </p:spPr>
        <p:txBody>
          <a:bodyPr wrap="square" lIns="0" rIns="0" tIns="0" bIns="0" anchor="t">
            <a:spAutoFit/>
          </a:bodyPr>
          <a:lstStyle/>
          <a:p>
            <a:pPr algn="ctr">
              <a:lnSpc>
                <a:spcPct val="110000"/>
              </a:lnSpc>
              <a:spcAft>
                <a:spcPts val="0"/>
              </a:spcAft>
            </a:pPr>
            <a:r>
              <a:rPr sz="930" b="0" lang="zh-CN">
                <a:solidFill>
                  <a:srgbClr val="586B7E"/>
                </a:solidFill>
                <a:latin typeface="Noto Sans CJK SC"/>
                <a:ea typeface="Noto Sans CJK SC"/>
                <a:cs typeface="Noto Sans CJK SC"/>
              </a:rPr>
              <a:t>采集 · playback</a:t>
            </a:r>
          </a:p>
        </p:txBody>
      </p:sp>
      <p:cxnSp>
        <p:nvCxnSpPr>
          <p:cNvPr id="19" name="Connector 18"/>
          <p:cNvCxnSpPr/>
          <p:nvPr/>
        </p:nvCxnSpPr>
        <p:spPr>
          <a:xfrm>
            <a:off x="126187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0" name="Rounded Rectangle 19"/>
          <p:cNvSpPr/>
          <p:nvPr/>
        </p:nvSpPr>
        <p:spPr>
          <a:xfrm>
            <a:off x="2395728"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2441448"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API Server</a:t>
            </a:r>
          </a:p>
        </p:txBody>
      </p:sp>
      <p:sp>
        <p:nvSpPr>
          <p:cNvPr id="22" name="TextBox 21"/>
          <p:cNvSpPr txBox="1"/>
          <p:nvPr/>
        </p:nvSpPr>
        <p:spPr>
          <a:xfrm>
            <a:off x="2432304"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WebSocket ↔ command / event</a:t>
            </a:r>
          </a:p>
        </p:txBody>
      </p:sp>
      <p:cxnSp>
        <p:nvCxnSpPr>
          <p:cNvPr id="23" name="Connector 22"/>
          <p:cNvCxnSpPr/>
          <p:nvPr/>
        </p:nvCxnSpPr>
        <p:spPr>
          <a:xfrm>
            <a:off x="3401568"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4" name="Rounded Rectangle 23"/>
          <p:cNvSpPr/>
          <p:nvPr/>
        </p:nvSpPr>
        <p:spPr>
          <a:xfrm>
            <a:off x="4535424"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581144"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EngineClient</a:t>
            </a:r>
          </a:p>
        </p:txBody>
      </p:sp>
      <p:sp>
        <p:nvSpPr>
          <p:cNvPr id="26" name="TextBox 25"/>
          <p:cNvSpPr txBox="1"/>
          <p:nvPr/>
        </p:nvSpPr>
        <p:spPr>
          <a:xfrm>
            <a:off x="4572000"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handle · output buffer</a:t>
            </a:r>
          </a:p>
        </p:txBody>
      </p:sp>
      <p:cxnSp>
        <p:nvCxnSpPr>
          <p:cNvPr id="27" name="Connector 26"/>
          <p:cNvCxnSpPr/>
          <p:nvPr/>
        </p:nvCxnSpPr>
        <p:spPr>
          <a:xfrm>
            <a:off x="5541264"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8" name="Rounded Rectangle 27"/>
          <p:cNvSpPr/>
          <p:nvPr/>
        </p:nvSpPr>
        <p:spPr>
          <a:xfrm>
            <a:off x="6684264" y="2286000"/>
            <a:ext cx="2432304" cy="65836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729983" y="2404872"/>
            <a:ext cx="2340864" cy="228600"/>
          </a:xfrm>
          <a:prstGeom prst="rect">
            <a:avLst/>
          </a:prstGeom>
          <a:noFill/>
        </p:spPr>
        <p:txBody>
          <a:bodyPr wrap="square" lIns="0" rIns="0" tIns="0" bIns="0" anchor="t">
            <a:spAutoFit/>
          </a:bodyPr>
          <a:lstStyle/>
          <a:p>
            <a:pPr algn="ctr">
              <a:lnSpc>
                <a:spcPct val="110000"/>
              </a:lnSpc>
              <a:spcAft>
                <a:spcPts val="0"/>
              </a:spcAft>
            </a:pPr>
            <a:r>
              <a:rPr sz="1500" b="1">
                <a:solidFill>
                  <a:srgbClr val="008E96"/>
                </a:solidFill>
                <a:latin typeface="Arial"/>
                <a:ea typeface="Arial"/>
                <a:cs typeface="Arial"/>
              </a:rPr>
              <a:t>Duplex Orchestrator</a:t>
            </a:r>
          </a:p>
        </p:txBody>
      </p:sp>
      <p:sp>
        <p:nvSpPr>
          <p:cNvPr id="30" name="TextBox 29"/>
          <p:cNvSpPr txBox="1"/>
          <p:nvPr/>
        </p:nvSpPr>
        <p:spPr>
          <a:xfrm>
            <a:off x="6720840" y="2706624"/>
            <a:ext cx="2359152"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Manager · Runner · Plugin</a:t>
            </a:r>
          </a:p>
        </p:txBody>
      </p:sp>
      <p:cxnSp>
        <p:nvCxnSpPr>
          <p:cNvPr id="31" name="Connector 30"/>
          <p:cNvCxnSpPr/>
          <p:nvPr/>
        </p:nvCxnSpPr>
        <p:spPr>
          <a:xfrm>
            <a:off x="7900416"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2" name="Rounded Rectangle 31"/>
          <p:cNvSpPr/>
          <p:nvPr/>
        </p:nvSpPr>
        <p:spPr>
          <a:xfrm>
            <a:off x="9582912" y="2286000"/>
            <a:ext cx="2011680" cy="658368"/>
          </a:xfrm>
          <a:prstGeom prst="roundRect">
            <a:avLst>
              <a:gd name="adj" fmla="val 10000"/>
            </a:avLst>
          </a:prstGeom>
          <a:solidFill>
            <a:srgbClr val="FBF4E8"/>
          </a:solidFill>
          <a:ln w="12065">
            <a:solidFill>
              <a:srgbClr val="C7B08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9628632"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AD761E"/>
                </a:solidFill>
                <a:latin typeface="Arial"/>
                <a:ea typeface="Arial"/>
                <a:cs typeface="Arial"/>
              </a:rPr>
              <a:t>Stage workers</a:t>
            </a:r>
          </a:p>
        </p:txBody>
      </p:sp>
      <p:sp>
        <p:nvSpPr>
          <p:cNvPr id="34" name="TextBox 33"/>
          <p:cNvSpPr txBox="1"/>
          <p:nvPr/>
        </p:nvSpPr>
        <p:spPr>
          <a:xfrm>
            <a:off x="9619488" y="2706624"/>
            <a:ext cx="1938528" cy="164592"/>
          </a:xfrm>
          <a:prstGeom prst="rect">
            <a:avLst/>
          </a:prstGeom>
          <a:noFill/>
        </p:spPr>
        <p:txBody>
          <a:bodyPr wrap="square" lIns="0" rIns="0" tIns="0" bIns="0" anchor="t">
            <a:spAutoFit/>
          </a:bodyPr>
          <a:lstStyle/>
          <a:p>
            <a:pPr algn="ctr">
              <a:lnSpc>
                <a:spcPct val="110000"/>
              </a:lnSpc>
              <a:spcAft>
                <a:spcPts val="0"/>
              </a:spcAft>
            </a:pPr>
            <a:r>
              <a:rPr sz="930" b="0" lang="zh-CN">
                <a:solidFill>
                  <a:srgbClr val="586B7E"/>
                </a:solidFill>
                <a:latin typeface="Noto Sans CJK SC"/>
                <a:ea typeface="Noto Sans CJK SC"/>
                <a:cs typeface="Noto Sans CJK SC"/>
              </a:rPr>
              <a:t>模型计算 · KV / cache</a:t>
            </a:r>
          </a:p>
        </p:txBody>
      </p:sp>
      <p:cxnSp>
        <p:nvCxnSpPr>
          <p:cNvPr id="35" name="Connector 34"/>
          <p:cNvCxnSpPr/>
          <p:nvPr/>
        </p:nvCxnSpPr>
        <p:spPr>
          <a:xfrm>
            <a:off x="1058875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6" name="Rounded Rectangle 35"/>
          <p:cNvSpPr/>
          <p:nvPr/>
        </p:nvSpPr>
        <p:spPr>
          <a:xfrm>
            <a:off x="548640" y="3026664"/>
            <a:ext cx="11045952" cy="274320"/>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3076956"/>
            <a:ext cx="10698480" cy="201168"/>
          </a:xfrm>
          <a:prstGeom prst="rect">
            <a:avLst/>
          </a:prstGeom>
          <a:noFill/>
        </p:spPr>
        <p:txBody>
          <a:bodyPr wrap="square" lIns="0" rIns="0" tIns="0" bIns="0" anchor="t">
            <a:spAutoFit/>
          </a:bodyPr>
          <a:lstStyle/>
          <a:p>
            <a:pPr algn="ctr">
              <a:lnSpc>
                <a:spcPct val="110000"/>
              </a:lnSpc>
              <a:spcAft>
                <a:spcPts val="0"/>
              </a:spcAft>
            </a:pPr>
            <a:r>
              <a:rPr sz="1150" b="0" lang="zh-CN">
                <a:solidFill>
                  <a:srgbClr val="586B7E"/>
                </a:solidFill>
                <a:latin typeface="Noto Sans CJK SC"/>
                <a:ea typeface="Noto Sans CJK SC"/>
                <a:cs typeface="Noto Sans CJK SC"/>
              </a:rPr>
              <a:t>建立会话：EngineClient 创建 handle + buffer → Manager 完成准入并共用该 buffer → 返回结果</a:t>
            </a:r>
          </a:p>
        </p:txBody>
      </p:sp>
      <p:cxnSp>
        <p:nvCxnSpPr>
          <p:cNvPr id="38" name="Connector 37"/>
          <p:cNvCxnSpPr/>
          <p:nvPr/>
        </p:nvCxnSpPr>
        <p:spPr>
          <a:xfrm>
            <a:off x="1261872"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9" name="TextBox 38"/>
          <p:cNvSpPr txBox="1"/>
          <p:nvPr/>
        </p:nvSpPr>
        <p:spPr>
          <a:xfrm>
            <a:off x="1316736" y="3337560"/>
            <a:ext cx="2029968"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327CEC"/>
                </a:solidFill>
                <a:latin typeface="Noto Sans CJK SC"/>
                <a:ea typeface="Noto Sans CJK SC"/>
                <a:cs typeface="Noto Sans CJK SC"/>
              </a:rPr>
              <a:t>音频 / 视频</a:t>
            </a:r>
          </a:p>
        </p:txBody>
      </p:sp>
      <p:cxnSp>
        <p:nvCxnSpPr>
          <p:cNvPr id="40" name="Connector 39"/>
          <p:cNvCxnSpPr/>
          <p:nvPr/>
        </p:nvCxnSpPr>
        <p:spPr>
          <a:xfrm>
            <a:off x="3401568"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1" name="TextBox 40"/>
          <p:cNvSpPr txBox="1"/>
          <p:nvPr/>
        </p:nvSpPr>
        <p:spPr>
          <a:xfrm>
            <a:off x="3456432" y="3337560"/>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command</a:t>
            </a:r>
          </a:p>
        </p:txBody>
      </p:sp>
      <p:cxnSp>
        <p:nvCxnSpPr>
          <p:cNvPr id="42" name="Connector 41"/>
          <p:cNvCxnSpPr/>
          <p:nvPr/>
        </p:nvCxnSpPr>
        <p:spPr>
          <a:xfrm>
            <a:off x="5541264" y="3602736"/>
            <a:ext cx="2359152"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5596127" y="3337560"/>
            <a:ext cx="2249424" cy="210312"/>
          </a:xfrm>
          <a:prstGeom prst="rect">
            <a:avLst/>
          </a:prstGeom>
          <a:noFill/>
        </p:spPr>
        <p:txBody>
          <a:bodyPr wrap="square" lIns="0" rIns="0" tIns="0" bIns="0" anchor="t">
            <a:spAutoFit/>
          </a:bodyPr>
          <a:lstStyle/>
          <a:p>
            <a:pPr algn="ctr">
              <a:lnSpc>
                <a:spcPct val="110000"/>
              </a:lnSpc>
              <a:spcAft>
                <a:spcPts val="0"/>
              </a:spcAft>
            </a:pPr>
            <a:r>
              <a:rPr sz="1100" b="0" lang="zh-CN">
                <a:solidFill>
                  <a:srgbClr val="327CEC"/>
                </a:solidFill>
                <a:latin typeface="Noto Sans CJK SC"/>
                <a:ea typeface="Noto Sans CJK SC"/>
                <a:cs typeface="Noto Sans CJK SC"/>
              </a:rPr>
              <a:t>提交到 Runner mailbox</a:t>
            </a:r>
          </a:p>
        </p:txBody>
      </p:sp>
      <p:sp>
        <p:nvSpPr>
          <p:cNvPr id="44" name="Rounded Rectangle 43"/>
          <p:cNvSpPr/>
          <p:nvPr/>
        </p:nvSpPr>
        <p:spPr>
          <a:xfrm>
            <a:off x="7818120" y="3602736"/>
            <a:ext cx="164592" cy="365760"/>
          </a:xfrm>
          <a:prstGeom prst="roundRect">
            <a:avLst>
              <a:gd name="adj" fmla="val 10000"/>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5" name="Connector 44"/>
          <p:cNvCxnSpPr/>
          <p:nvPr/>
        </p:nvCxnSpPr>
        <p:spPr>
          <a:xfrm>
            <a:off x="7900416" y="3995928"/>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6" name="TextBox 45"/>
          <p:cNvSpPr txBox="1"/>
          <p:nvPr/>
        </p:nvSpPr>
        <p:spPr>
          <a:xfrm>
            <a:off x="7955280" y="3730752"/>
            <a:ext cx="2578607" cy="210312"/>
          </a:xfrm>
          <a:prstGeom prst="rect">
            <a:avLst/>
          </a:prstGeom>
          <a:noFill/>
        </p:spPr>
        <p:txBody>
          <a:bodyPr wrap="square" lIns="0" rIns="0" tIns="0" bIns="0" anchor="t">
            <a:spAutoFit/>
          </a:bodyPr>
          <a:lstStyle/>
          <a:p>
            <a:pPr algn="ctr">
              <a:lnSpc>
                <a:spcPct val="110000"/>
              </a:lnSpc>
              <a:spcAft>
                <a:spcPts val="0"/>
              </a:spcAft>
            </a:pPr>
            <a:r>
              <a:rPr sz="1100" b="0" lang="zh-CN">
                <a:solidFill>
                  <a:srgbClr val="008E96"/>
                </a:solidFill>
                <a:latin typeface="Noto Sans CJK SC"/>
                <a:ea typeface="Noto Sans CJK SC"/>
                <a:cs typeface="Noto Sans CJK SC"/>
              </a:rPr>
              <a:t>Plugin 执行计划 → Stage 请求</a:t>
            </a:r>
          </a:p>
        </p:txBody>
      </p:sp>
      <p:sp>
        <p:nvSpPr>
          <p:cNvPr id="47" name="Rounded Rectangle 46"/>
          <p:cNvSpPr/>
          <p:nvPr/>
        </p:nvSpPr>
        <p:spPr>
          <a:xfrm>
            <a:off x="10506456" y="3995928"/>
            <a:ext cx="164592" cy="896112"/>
          </a:xfrm>
          <a:prstGeom prst="roundRect">
            <a:avLst>
              <a:gd name="adj" fmla="val 10000"/>
            </a:avLst>
          </a:prstGeom>
          <a:solidFill>
            <a:srgbClr val="FBF4E8"/>
          </a:solidFill>
          <a:ln w="11430">
            <a:solidFill>
              <a:srgbClr val="AD761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8" name="Connector 47"/>
          <p:cNvCxnSpPr/>
          <p:nvPr/>
        </p:nvCxnSpPr>
        <p:spPr>
          <a:xfrm>
            <a:off x="1261872" y="4334256"/>
            <a:ext cx="6638544" cy="0"/>
          </a:xfrm>
          <a:prstGeom prst="line">
            <a:avLst/>
          </a:prstGeom>
          <a:ln w="2032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49" name="TextBox 48"/>
          <p:cNvSpPr txBox="1"/>
          <p:nvPr/>
        </p:nvSpPr>
        <p:spPr>
          <a:xfrm>
            <a:off x="1316736" y="4059936"/>
            <a:ext cx="6528816"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327CEC"/>
                </a:solidFill>
                <a:latin typeface="Noto Sans CJK SC"/>
                <a:ea typeface="Noto Sans CJK SC"/>
                <a:cs typeface="Noto Sans CJK SC"/>
              </a:rPr>
              <a:t>下一块输入持续到达 · 与 Stage 计算 / 输出交叠</a:t>
            </a:r>
          </a:p>
        </p:txBody>
      </p:sp>
      <p:cxnSp>
        <p:nvCxnSpPr>
          <p:cNvPr id="50" name="Connector 49"/>
          <p:cNvCxnSpPr/>
          <p:nvPr/>
        </p:nvCxnSpPr>
        <p:spPr>
          <a:xfrm flipH="1">
            <a:off x="7900416" y="4892040"/>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1" name="TextBox 50"/>
          <p:cNvSpPr txBox="1"/>
          <p:nvPr/>
        </p:nvSpPr>
        <p:spPr>
          <a:xfrm>
            <a:off x="7955280" y="4626864"/>
            <a:ext cx="2578607"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Stage output</a:t>
            </a:r>
          </a:p>
        </p:txBody>
      </p:sp>
      <p:cxnSp>
        <p:nvCxnSpPr>
          <p:cNvPr id="52" name="Connector 51"/>
          <p:cNvCxnSpPr/>
          <p:nvPr/>
        </p:nvCxnSpPr>
        <p:spPr>
          <a:xfrm flipH="1">
            <a:off x="5541264" y="4892040"/>
            <a:ext cx="2359152"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3" name="TextBox 52"/>
          <p:cNvSpPr txBox="1"/>
          <p:nvPr/>
        </p:nvSpPr>
        <p:spPr>
          <a:xfrm>
            <a:off x="5596127" y="4626864"/>
            <a:ext cx="2249424"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008E96"/>
                </a:solidFill>
                <a:latin typeface="Noto Sans CJK SC"/>
                <a:ea typeface="Noto Sans CJK SC"/>
                <a:cs typeface="Noto Sans CJK SC"/>
              </a:rPr>
              <a:t>每会话 output buffer</a:t>
            </a:r>
          </a:p>
        </p:txBody>
      </p:sp>
      <p:cxnSp>
        <p:nvCxnSpPr>
          <p:cNvPr id="54" name="Connector 53"/>
          <p:cNvCxnSpPr/>
          <p:nvPr/>
        </p:nvCxnSpPr>
        <p:spPr>
          <a:xfrm flipH="1">
            <a:off x="3401568"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456432" y="4626864"/>
            <a:ext cx="2029967" cy="210312"/>
          </a:xfrm>
          <a:prstGeom prst="rect">
            <a:avLst/>
          </a:prstGeom>
          <a:noFill/>
        </p:spPr>
        <p:txBody>
          <a:bodyPr wrap="square" lIns="0" rIns="0" tIns="0" bIns="0" anchor="t">
            <a:spAutoFit/>
          </a:bodyPr>
          <a:lstStyle/>
          <a:p>
            <a:pPr algn="ctr">
              <a:lnSpc>
                <a:spcPct val="110000"/>
              </a:lnSpc>
              <a:spcAft>
                <a:spcPts val="0"/>
              </a:spcAft>
            </a:pPr>
            <a:r>
              <a:rPr sz="1100" b="0">
                <a:solidFill>
                  <a:srgbClr val="008E96"/>
                </a:solidFill>
                <a:latin typeface="Arial"/>
                <a:ea typeface="Arial"/>
                <a:cs typeface="Arial"/>
              </a:rPr>
              <a:t>handle.events() → API pump</a:t>
            </a:r>
          </a:p>
        </p:txBody>
      </p:sp>
      <p:cxnSp>
        <p:nvCxnSpPr>
          <p:cNvPr id="56" name="Connector 55"/>
          <p:cNvCxnSpPr/>
          <p:nvPr/>
        </p:nvCxnSpPr>
        <p:spPr>
          <a:xfrm flipH="1">
            <a:off x="1261872"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7" name="TextBox 56"/>
          <p:cNvSpPr txBox="1"/>
          <p:nvPr/>
        </p:nvSpPr>
        <p:spPr>
          <a:xfrm>
            <a:off x="1316736" y="4626864"/>
            <a:ext cx="2029968"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008E96"/>
                </a:solidFill>
                <a:latin typeface="Noto Sans CJK SC"/>
                <a:ea typeface="Noto Sans CJK SC"/>
                <a:cs typeface="Noto Sans CJK SC"/>
              </a:rPr>
              <a:t>文本 / 音频</a:t>
            </a:r>
          </a:p>
        </p:txBody>
      </p:sp>
      <p:sp>
        <p:nvSpPr>
          <p:cNvPr id="58" name="Rounded Rectangle 57"/>
          <p:cNvSpPr/>
          <p:nvPr/>
        </p:nvSpPr>
        <p:spPr>
          <a:xfrm>
            <a:off x="1179576" y="4892040"/>
            <a:ext cx="164592" cy="448056"/>
          </a:xfrm>
          <a:prstGeom prst="roundRect">
            <a:avLst>
              <a:gd name="adj" fmla="val 10000"/>
            </a:avLst>
          </a:prstGeom>
          <a:solidFill>
            <a:srgbClr val="EAF7F6"/>
          </a:solidFill>
          <a:ln w="11430">
            <a:solidFill>
              <a:srgbClr val="008E9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1435608" y="5038344"/>
            <a:ext cx="914400" cy="210312"/>
          </a:xfrm>
          <a:prstGeom prst="rect">
            <a:avLst/>
          </a:prstGeom>
          <a:noFill/>
        </p:spPr>
        <p:txBody>
          <a:bodyPr wrap="square" lIns="0" rIns="0" tIns="0" bIns="0" anchor="t">
            <a:spAutoFit/>
          </a:bodyPr>
          <a:lstStyle/>
          <a:p>
            <a:pPr algn="l">
              <a:lnSpc>
                <a:spcPct val="110000"/>
              </a:lnSpc>
              <a:spcAft>
                <a:spcPts val="0"/>
              </a:spcAft>
            </a:pPr>
            <a:r>
              <a:rPr sz="1100" b="0">
                <a:solidFill>
                  <a:srgbClr val="008E96"/>
                </a:solidFill>
                <a:latin typeface="Arial"/>
                <a:ea typeface="Arial"/>
                <a:cs typeface="Arial"/>
              </a:rPr>
              <a:t>playback</a:t>
            </a:r>
          </a:p>
        </p:txBody>
      </p:sp>
      <p:cxnSp>
        <p:nvCxnSpPr>
          <p:cNvPr id="60" name="Connector 59"/>
          <p:cNvCxnSpPr/>
          <p:nvPr/>
        </p:nvCxnSpPr>
        <p:spPr>
          <a:xfrm>
            <a:off x="1261872"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1" name="TextBox 60"/>
          <p:cNvSpPr txBox="1"/>
          <p:nvPr/>
        </p:nvSpPr>
        <p:spPr>
          <a:xfrm>
            <a:off x="1316736" y="5285232"/>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playback ACK</a:t>
            </a:r>
          </a:p>
        </p:txBody>
      </p:sp>
      <p:cxnSp>
        <p:nvCxnSpPr>
          <p:cNvPr id="62" name="Connector 61"/>
          <p:cNvCxnSpPr/>
          <p:nvPr/>
        </p:nvCxnSpPr>
        <p:spPr>
          <a:xfrm>
            <a:off x="3401568"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3" name="TextBox 62"/>
          <p:cNvSpPr txBox="1"/>
          <p:nvPr/>
        </p:nvSpPr>
        <p:spPr>
          <a:xfrm>
            <a:off x="3456432" y="5285232"/>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command</a:t>
            </a:r>
          </a:p>
        </p:txBody>
      </p:sp>
      <p:cxnSp>
        <p:nvCxnSpPr>
          <p:cNvPr id="64" name="Connector 63"/>
          <p:cNvCxnSpPr/>
          <p:nvPr/>
        </p:nvCxnSpPr>
        <p:spPr>
          <a:xfrm>
            <a:off x="5541264" y="5550408"/>
            <a:ext cx="2359152"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5" name="TextBox 64"/>
          <p:cNvSpPr txBox="1"/>
          <p:nvPr/>
        </p:nvSpPr>
        <p:spPr>
          <a:xfrm>
            <a:off x="5596127" y="5285232"/>
            <a:ext cx="2249424" cy="210312"/>
          </a:xfrm>
          <a:prstGeom prst="rect">
            <a:avLst/>
          </a:prstGeom>
          <a:noFill/>
        </p:spPr>
        <p:txBody>
          <a:bodyPr wrap="square" lIns="0" rIns="0" tIns="0" bIns="0" anchor="t">
            <a:spAutoFit/>
          </a:bodyPr>
          <a:lstStyle/>
          <a:p>
            <a:pPr algn="ctr">
              <a:lnSpc>
                <a:spcPct val="110000"/>
              </a:lnSpc>
              <a:spcAft>
                <a:spcPts val="0"/>
              </a:spcAft>
            </a:pPr>
            <a:r>
              <a:rPr sz="1050" b="0" lang="zh-CN">
                <a:solidFill>
                  <a:srgbClr val="AD761E"/>
                </a:solidFill>
                <a:latin typeface="Noto Sans CJK SC"/>
                <a:ea typeface="Noto Sans CJK SC"/>
                <a:cs typeface="Noto Sans CJK SC"/>
              </a:rPr>
              <a:t>ACK → 更新播放进度</a:t>
            </a:r>
          </a:p>
        </p:txBody>
      </p:sp>
      <p:sp>
        <p:nvSpPr>
          <p:cNvPr id="66" name="Rounded Rectangle 65"/>
          <p:cNvSpPr/>
          <p:nvPr/>
        </p:nvSpPr>
        <p:spPr>
          <a:xfrm>
            <a:off x="548640" y="5916168"/>
            <a:ext cx="11045952" cy="365760"/>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TextBox 66"/>
          <p:cNvSpPr txBox="1"/>
          <p:nvPr/>
        </p:nvSpPr>
        <p:spPr>
          <a:xfrm>
            <a:off x="749808" y="6007608"/>
            <a:ext cx="10643616" cy="210312"/>
          </a:xfrm>
          <a:prstGeom prst="rect">
            <a:avLst/>
          </a:prstGeom>
          <a:noFill/>
        </p:spPr>
        <p:txBody>
          <a:bodyPr wrap="square" lIns="0" rIns="0" tIns="0" bIns="0" anchor="t">
            <a:spAutoFit/>
          </a:bodyPr>
          <a:lstStyle/>
          <a:p>
            <a:pPr algn="ctr">
              <a:lnSpc>
                <a:spcPct val="110000"/>
              </a:lnSpc>
              <a:spcAft>
                <a:spcPts val="0"/>
              </a:spcAft>
            </a:pPr>
            <a:r>
              <a:rPr sz="1300" b="0" lang="zh-CN">
                <a:solidFill>
                  <a:srgbClr val="142B45"/>
                </a:solidFill>
                <a:latin typeface="Noto Sans CJK SC"/>
                <a:ea typeface="Noto Sans CJK SC"/>
                <a:cs typeface="Noto Sans CJK SC"/>
              </a:rPr>
              <a:t>持续输入 · 每个会话的输出有界 · 独立上报播放进度</a:t>
            </a:r>
          </a:p>
        </p:txBody>
      </p:sp>
      <p:sp>
        <p:nvSpPr>
          <p:cNvPr id="68" name="TextBox 67"/>
          <p:cNvSpPr txBox="1"/>
          <p:nvPr/>
        </p:nvSpPr>
        <p:spPr>
          <a:xfrm>
            <a:off x="594360" y="6309360"/>
            <a:ext cx="10972800" cy="128016"/>
          </a:xfrm>
          <a:prstGeom prst="rect">
            <a:avLst/>
          </a:prstGeom>
          <a:noFill/>
        </p:spPr>
        <p:txBody>
          <a:bodyPr wrap="square" lIns="0" rIns="0" tIns="0" bIns="0" anchor="t">
            <a:spAutoFit/>
          </a:bodyPr>
          <a:lstStyle/>
          <a:p>
            <a:pPr algn="ctr">
              <a:lnSpc>
                <a:spcPct val="110000"/>
              </a:lnSpc>
              <a:spcAft>
                <a:spcPts val="0"/>
              </a:spcAft>
            </a:pPr>
            <a:r>
              <a:rPr sz="850" b="0" lang="zh-CN">
                <a:solidFill>
                  <a:srgbClr val="586B7E"/>
                </a:solidFill>
                <a:latin typeface="Noto Sans CJK SC"/>
                <a:ea typeface="Noto Sans CJK SC"/>
                <a:cs typeface="Noto Sans CJK SC"/>
              </a:rPr>
              <a:t>Session event ACK 在 API 层处理；playback ACK 进入 Runner，history 更新依模型能力而定。</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lang="zh-CN">
                <a:solidFill>
                  <a:srgbClr val="142B45"/>
                </a:solidFill>
                <a:latin typeface="Noto Sans CJK SC"/>
                <a:ea typeface="Noto Sans CJK SC"/>
                <a:cs typeface="Noto Sans CJK SC"/>
              </a:rPr>
              <a:t>状态处理：持续计算状态与会话历史</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PersonaPlex 与 MiniCPM 续用活跃模型状态；AURA 与 Qwen3-Omni 每个 turn 重建输入。</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07 / 12</a:t>
            </a:r>
          </a:p>
        </p:txBody>
      </p:sp>
      <p:sp>
        <p:nvSpPr>
          <p:cNvPr id="12" name="TextBox 11"/>
          <p:cNvSpPr txBox="1"/>
          <p:nvPr/>
        </p:nvSpPr>
        <p:spPr>
          <a:xfrm>
            <a:off x="713232" y="2093976"/>
            <a:ext cx="1938528"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模型</a:t>
            </a:r>
          </a:p>
        </p:txBody>
      </p:sp>
      <p:sp>
        <p:nvSpPr>
          <p:cNvPr id="13" name="TextBox 12"/>
          <p:cNvSpPr txBox="1"/>
          <p:nvPr/>
        </p:nvSpPr>
        <p:spPr>
          <a:xfrm>
            <a:off x="2770632" y="2093976"/>
            <a:ext cx="2578608"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输入处理方式</a:t>
            </a:r>
          </a:p>
        </p:txBody>
      </p:sp>
      <p:sp>
        <p:nvSpPr>
          <p:cNvPr id="14" name="TextBox 13"/>
          <p:cNvSpPr txBox="1"/>
          <p:nvPr/>
        </p:nvSpPr>
        <p:spPr>
          <a:xfrm>
            <a:off x="5532120" y="2093976"/>
            <a:ext cx="5715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跨 chunk / turn 保留什么</a:t>
            </a:r>
          </a:p>
        </p:txBody>
      </p:sp>
      <p:sp>
        <p:nvSpPr>
          <p:cNvPr id="15" name="Rounded Rectangle 14"/>
          <p:cNvSpPr/>
          <p:nvPr/>
        </p:nvSpPr>
        <p:spPr>
          <a:xfrm>
            <a:off x="548640" y="2688336"/>
            <a:ext cx="11082528" cy="30175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13232" y="2720340"/>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MiniCPM-o 4.5</a:t>
            </a:r>
          </a:p>
        </p:txBody>
      </p:sp>
      <p:sp>
        <p:nvSpPr>
          <p:cNvPr id="17" name="TextBox 16"/>
          <p:cNvSpPr txBox="1"/>
          <p:nvPr/>
        </p:nvSpPr>
        <p:spPr>
          <a:xfrm>
            <a:off x="2770632" y="2720340"/>
            <a:ext cx="2578608"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追加 chunk，继续当前请求</a:t>
            </a:r>
          </a:p>
        </p:txBody>
      </p:sp>
      <p:sp>
        <p:nvSpPr>
          <p:cNvPr id="18" name="TextBox 17"/>
          <p:cNvSpPr txBox="1"/>
          <p:nvPr/>
        </p:nvSpPr>
        <p:spPr>
          <a:xfrm>
            <a:off x="5532120" y="2720340"/>
            <a:ext cx="5715000"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LLM KV / 音频状态；可配置 sliding window</a:t>
            </a:r>
          </a:p>
        </p:txBody>
      </p:sp>
      <p:sp>
        <p:nvSpPr>
          <p:cNvPr id="19" name="Rounded Rectangle 18"/>
          <p:cNvSpPr/>
          <p:nvPr/>
        </p:nvSpPr>
        <p:spPr>
          <a:xfrm>
            <a:off x="548640" y="3017520"/>
            <a:ext cx="11082528" cy="30175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13232" y="3049524"/>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AURA</a:t>
            </a:r>
          </a:p>
        </p:txBody>
      </p:sp>
      <p:sp>
        <p:nvSpPr>
          <p:cNvPr id="21" name="TextBox 20"/>
          <p:cNvSpPr txBox="1"/>
          <p:nvPr/>
        </p:nvSpPr>
        <p:spPr>
          <a:xfrm>
            <a:off x="2770632" y="3049524"/>
            <a:ext cx="2578608"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提交 turn，启动新请求</a:t>
            </a:r>
          </a:p>
        </p:txBody>
      </p:sp>
      <p:sp>
        <p:nvSpPr>
          <p:cNvPr id="22" name="TextBox 21"/>
          <p:cNvSpPr txBox="1"/>
          <p:nvPr/>
        </p:nvSpPr>
        <p:spPr>
          <a:xfrm>
            <a:off x="5532120" y="3049524"/>
            <a:ext cx="5715000"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ASR 文本 / 视频片段 / 助手文本；每轮重建 prompt</a:t>
            </a:r>
          </a:p>
        </p:txBody>
      </p:sp>
      <p:sp>
        <p:nvSpPr>
          <p:cNvPr id="23" name="Rounded Rectangle 22"/>
          <p:cNvSpPr/>
          <p:nvPr/>
        </p:nvSpPr>
        <p:spPr>
          <a:xfrm>
            <a:off x="548640" y="3346704"/>
            <a:ext cx="11082528" cy="30175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13232" y="3378708"/>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Qwen3-Omni</a:t>
            </a:r>
          </a:p>
        </p:txBody>
      </p:sp>
      <p:sp>
        <p:nvSpPr>
          <p:cNvPr id="25" name="TextBox 24"/>
          <p:cNvSpPr txBox="1"/>
          <p:nvPr/>
        </p:nvSpPr>
        <p:spPr>
          <a:xfrm>
            <a:off x="2770632" y="3378708"/>
            <a:ext cx="2578608"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提交 turn，启动新请求</a:t>
            </a:r>
          </a:p>
        </p:txBody>
      </p:sp>
      <p:sp>
        <p:nvSpPr>
          <p:cNvPr id="26" name="TextBox 25"/>
          <p:cNvSpPr txBox="1"/>
          <p:nvPr/>
        </p:nvSpPr>
        <p:spPr>
          <a:xfrm>
            <a:off x="5532120" y="3378708"/>
            <a:ext cx="5715000"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用户音频 / 图像帧 / 对话文本；每轮重建 prompt</a:t>
            </a:r>
          </a:p>
        </p:txBody>
      </p:sp>
      <p:sp>
        <p:nvSpPr>
          <p:cNvPr id="27" name="Rounded Rectangle 26"/>
          <p:cNvSpPr/>
          <p:nvPr/>
        </p:nvSpPr>
        <p:spPr>
          <a:xfrm>
            <a:off x="548640" y="3776472"/>
            <a:ext cx="11082528" cy="69494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22376" y="3867912"/>
            <a:ext cx="2029968" cy="237744"/>
          </a:xfrm>
          <a:prstGeom prst="rect">
            <a:avLst/>
          </a:prstGeom>
          <a:noFill/>
        </p:spPr>
        <p:txBody>
          <a:bodyPr wrap="square" lIns="0" rIns="0" tIns="0" bIns="0" anchor="t">
            <a:spAutoFit/>
          </a:bodyPr>
          <a:lstStyle/>
          <a:p>
            <a:pPr algn="l">
              <a:lnSpc>
                <a:spcPct val="110000"/>
              </a:lnSpc>
              <a:spcAft>
                <a:spcPts val="0"/>
              </a:spcAft>
            </a:pPr>
            <a:r>
              <a:rPr sz="1400" b="1">
                <a:solidFill>
                  <a:srgbClr val="327CEC"/>
                </a:solidFill>
                <a:latin typeface="Arial"/>
                <a:ea typeface="Arial"/>
                <a:cs typeface="Arial"/>
              </a:rPr>
              <a:t>PersonaPlex</a:t>
            </a:r>
          </a:p>
        </p:txBody>
      </p:sp>
      <p:sp>
        <p:nvSpPr>
          <p:cNvPr id="29" name="TextBox 28"/>
          <p:cNvSpPr txBox="1"/>
          <p:nvPr/>
        </p:nvSpPr>
        <p:spPr>
          <a:xfrm>
            <a:off x="722376" y="4178808"/>
            <a:ext cx="2029968" cy="173736"/>
          </a:xfrm>
          <a:prstGeom prst="rect">
            <a:avLst/>
          </a:prstGeom>
          <a:noFill/>
        </p:spPr>
        <p:txBody>
          <a:bodyPr wrap="square" lIns="0" rIns="0" tIns="0" bIns="0" anchor="t">
            <a:spAutoFit/>
          </a:bodyPr>
          <a:lstStyle/>
          <a:p>
            <a:pPr algn="l">
              <a:lnSpc>
                <a:spcPct val="110000"/>
              </a:lnSpc>
              <a:spcAft>
                <a:spcPts val="0"/>
              </a:spcAft>
            </a:pPr>
            <a:r>
              <a:rPr sz="940" b="0">
                <a:solidFill>
                  <a:srgbClr val="327CEC"/>
                </a:solidFill>
                <a:latin typeface="Arial"/>
                <a:ea typeface="Arial"/>
                <a:cs typeface="Arial"/>
              </a:rPr>
              <a:t>native duplex · 80 ms / 帧</a:t>
            </a:r>
          </a:p>
        </p:txBody>
      </p:sp>
      <p:sp>
        <p:nvSpPr>
          <p:cNvPr id="31" name="Rounded Rectangle 30"/>
          <p:cNvSpPr/>
          <p:nvPr/>
        </p:nvSpPr>
        <p:spPr>
          <a:xfrm>
            <a:off x="2898648" y="3835908"/>
            <a:ext cx="4974336"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971800" y="3867912"/>
            <a:ext cx="4828032" cy="210312"/>
          </a:xfrm>
          <a:prstGeom prst="rect">
            <a:avLst/>
          </a:prstGeom>
          <a:noFill/>
        </p:spPr>
        <p:txBody>
          <a:bodyPr wrap="square" lIns="0" rIns="0" tIns="0" bIns="0" anchor="t">
            <a:spAutoFit/>
          </a:bodyPr>
          <a:lstStyle/>
          <a:p>
            <a:pPr algn="ctr">
              <a:lnSpc>
                <a:spcPct val="110000"/>
              </a:lnSpc>
              <a:spcAft>
                <a:spcPts val="0"/>
              </a:spcAft>
            </a:pPr>
            <a:r>
              <a:rPr sz="1250" b="1">
                <a:solidFill>
                  <a:srgbClr val="327CEC"/>
                </a:solidFill>
                <a:latin typeface="Arial"/>
                <a:ea typeface="Arial"/>
                <a:cs typeface="Arial"/>
              </a:rPr>
              <a:t>Stage 0 · Talker</a:t>
            </a:r>
          </a:p>
        </p:txBody>
      </p:sp>
      <p:sp>
        <p:nvSpPr>
          <p:cNvPr id="33" name="TextBox 32"/>
          <p:cNvSpPr txBox="1"/>
          <p:nvPr/>
        </p:nvSpPr>
        <p:spPr>
          <a:xfrm>
            <a:off x="2953512" y="4091940"/>
            <a:ext cx="4864608" cy="146304"/>
          </a:xfrm>
          <a:prstGeom prst="rect">
            <a:avLst/>
          </a:prstGeom>
          <a:noFill/>
        </p:spPr>
        <p:txBody>
          <a:bodyPr wrap="square" lIns="0" rIns="0" tIns="0" bIns="0" anchor="t">
            <a:spAutoFit/>
          </a:bodyPr>
          <a:lstStyle/>
          <a:p>
            <a:pPr algn="ctr">
              <a:lnSpc>
                <a:spcPct val="110000"/>
              </a:lnSpc>
              <a:spcAft>
                <a:spcPts val="0"/>
              </a:spcAft>
            </a:pPr>
            <a:r>
              <a:rPr sz="890" b="0" lang="zh-CN">
                <a:solidFill>
                  <a:srgbClr val="586B7E"/>
                </a:solidFill>
                <a:latin typeface="Noto Sans CJK SC"/>
                <a:ea typeface="Noto Sans CJK SC"/>
                <a:cs typeface="Noto Sans CJK SC"/>
              </a:rPr>
              <a:t>Mimi encoder → temporal model + Depformer</a:t>
            </a:r>
          </a:p>
        </p:txBody>
      </p:sp>
      <p:sp>
        <p:nvSpPr>
          <p:cNvPr id="37" name="Rounded Rectangle 36"/>
          <p:cNvSpPr/>
          <p:nvPr/>
        </p:nvSpPr>
        <p:spPr>
          <a:xfrm>
            <a:off x="8897112" y="3835908"/>
            <a:ext cx="2221992"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8942832" y="3867912"/>
            <a:ext cx="2130552" cy="210312"/>
          </a:xfrm>
          <a:prstGeom prst="rect">
            <a:avLst/>
          </a:prstGeom>
          <a:noFill/>
        </p:spPr>
        <p:txBody>
          <a:bodyPr wrap="square" lIns="0" rIns="0" tIns="0" bIns="0" anchor="t">
            <a:spAutoFit/>
          </a:bodyPr>
          <a:lstStyle/>
          <a:p>
            <a:pPr algn="ctr">
              <a:lnSpc>
                <a:spcPct val="110000"/>
              </a:lnSpc>
              <a:spcAft>
                <a:spcPts val="0"/>
              </a:spcAft>
            </a:pPr>
            <a:r>
              <a:rPr sz="1250" b="1">
                <a:solidFill>
                  <a:srgbClr val="327CEC"/>
                </a:solidFill>
                <a:latin typeface="Arial"/>
                <a:ea typeface="Arial"/>
                <a:cs typeface="Arial"/>
              </a:rPr>
              <a:t>Stage 1 · Code2Wav</a:t>
            </a:r>
          </a:p>
        </p:txBody>
      </p:sp>
      <p:sp>
        <p:nvSpPr>
          <p:cNvPr id="39" name="TextBox 38"/>
          <p:cNvSpPr txBox="1"/>
          <p:nvPr/>
        </p:nvSpPr>
        <p:spPr>
          <a:xfrm>
            <a:off x="8951976" y="4091940"/>
            <a:ext cx="2112264"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Mimi decoder</a:t>
            </a:r>
          </a:p>
        </p:txBody>
      </p:sp>
      <p:cxnSp>
        <p:nvCxnSpPr>
          <p:cNvPr id="42" name="Connector 41"/>
          <p:cNvCxnSpPr/>
          <p:nvPr/>
        </p:nvCxnSpPr>
        <p:spPr>
          <a:xfrm>
            <a:off x="7946136" y="4041648"/>
            <a:ext cx="877824"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2898648" y="4311396"/>
            <a:ext cx="8238744" cy="146304"/>
          </a:xfrm>
          <a:prstGeom prst="rect">
            <a:avLst/>
          </a:prstGeom>
          <a:noFill/>
        </p:spPr>
        <p:txBody>
          <a:bodyPr wrap="square" lIns="0" rIns="0" tIns="0" bIns="0" anchor="t">
            <a:spAutoFit/>
          </a:bodyPr>
          <a:lstStyle/>
          <a:p>
            <a:pPr algn="l">
              <a:lnSpc>
                <a:spcPct val="110000"/>
              </a:lnSpc>
              <a:spcAft>
                <a:spcPts val="0"/>
              </a:spcAft>
            </a:pPr>
            <a:r>
              <a:rPr sz="930" b="0" lang="zh-CN">
                <a:solidFill>
                  <a:srgbClr val="142B45"/>
                </a:solidFill>
                <a:latin typeface="Noto Sans CJK SC"/>
                <a:ea typeface="Noto Sans CJK SC"/>
                <a:cs typeface="Noto Sans CJK SC"/>
              </a:rPr>
              <a:t>Stage 0 保留 KV 与 encoder state；Stage 1 保留 decoder state。</a:t>
            </a:r>
          </a:p>
        </p:txBody>
      </p:sp>
      <p:sp>
        <p:nvSpPr>
          <p:cNvPr id="44" name="Rounded Rectangle 43"/>
          <p:cNvSpPr/>
          <p:nvPr/>
        </p:nvSpPr>
        <p:spPr>
          <a:xfrm>
            <a:off x="548640" y="5276088"/>
            <a:ext cx="11082528" cy="694944"/>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722376" y="5367528"/>
            <a:ext cx="2029968" cy="237744"/>
          </a:xfrm>
          <a:prstGeom prst="rect">
            <a:avLst/>
          </a:prstGeom>
          <a:noFill/>
        </p:spPr>
        <p:txBody>
          <a:bodyPr wrap="square" lIns="0" rIns="0" tIns="0" bIns="0" anchor="t">
            <a:spAutoFit/>
          </a:bodyPr>
          <a:lstStyle/>
          <a:p>
            <a:pPr algn="l">
              <a:lnSpc>
                <a:spcPct val="110000"/>
              </a:lnSpc>
              <a:spcAft>
                <a:spcPts val="0"/>
              </a:spcAft>
            </a:pPr>
            <a:r>
              <a:rPr sz="1400" b="1">
                <a:solidFill>
                  <a:srgbClr val="008E96"/>
                </a:solidFill>
                <a:latin typeface="Arial"/>
                <a:ea typeface="Arial"/>
                <a:cs typeface="Arial"/>
              </a:rPr>
              <a:t>AURA</a:t>
            </a:r>
          </a:p>
        </p:txBody>
      </p:sp>
      <p:sp>
        <p:nvSpPr>
          <p:cNvPr id="46" name="TextBox 45"/>
          <p:cNvSpPr txBox="1"/>
          <p:nvPr/>
        </p:nvSpPr>
        <p:spPr>
          <a:xfrm>
            <a:off x="722376" y="5678424"/>
            <a:ext cx="2029968" cy="173736"/>
          </a:xfrm>
          <a:prstGeom prst="rect">
            <a:avLst/>
          </a:prstGeom>
          <a:noFill/>
        </p:spPr>
        <p:txBody>
          <a:bodyPr wrap="square" lIns="0" rIns="0" tIns="0" bIns="0" anchor="t">
            <a:spAutoFit/>
          </a:bodyPr>
          <a:lstStyle/>
          <a:p>
            <a:pPr algn="l">
              <a:lnSpc>
                <a:spcPct val="110000"/>
              </a:lnSpc>
              <a:spcAft>
                <a:spcPts val="0"/>
              </a:spcAft>
            </a:pPr>
            <a:r>
              <a:rPr sz="940" b="0" lang="zh-CN">
                <a:solidFill>
                  <a:srgbClr val="008E96"/>
                </a:solidFill>
                <a:latin typeface="Noto Sans CJK SC"/>
                <a:ea typeface="Noto Sans CJK SC"/>
                <a:cs typeface="Noto Sans CJK SC"/>
              </a:rPr>
              <a:t>turn-based · 音视频 commit</a:t>
            </a:r>
          </a:p>
        </p:txBody>
      </p:sp>
      <p:sp>
        <p:nvSpPr>
          <p:cNvPr id="47" name="Rounded Rectangle 46"/>
          <p:cNvSpPr/>
          <p:nvPr/>
        </p:nvSpPr>
        <p:spPr>
          <a:xfrm>
            <a:off x="2898648" y="5335524"/>
            <a:ext cx="1655064"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2944368" y="5367528"/>
            <a:ext cx="1563624" cy="210312"/>
          </a:xfrm>
          <a:prstGeom prst="rect">
            <a:avLst/>
          </a:prstGeom>
          <a:noFill/>
        </p:spPr>
        <p:txBody>
          <a:bodyPr wrap="square" lIns="0" rIns="0" tIns="0" bIns="0" anchor="t">
            <a:spAutoFit/>
          </a:bodyPr>
          <a:lstStyle/>
          <a:p>
            <a:pPr algn="ctr">
              <a:lnSpc>
                <a:spcPct val="110000"/>
              </a:lnSpc>
              <a:spcAft>
                <a:spcPts val="0"/>
              </a:spcAft>
            </a:pPr>
            <a:r>
              <a:rPr sz="1250" b="1">
                <a:solidFill>
                  <a:srgbClr val="008E96"/>
                </a:solidFill>
                <a:latin typeface="Arial"/>
                <a:ea typeface="Arial"/>
                <a:cs typeface="Arial"/>
              </a:rPr>
              <a:t>ASR</a:t>
            </a:r>
          </a:p>
        </p:txBody>
      </p:sp>
      <p:sp>
        <p:nvSpPr>
          <p:cNvPr id="49" name="TextBox 48"/>
          <p:cNvSpPr txBox="1"/>
          <p:nvPr/>
        </p:nvSpPr>
        <p:spPr>
          <a:xfrm>
            <a:off x="2926080" y="5591556"/>
            <a:ext cx="1600200" cy="146304"/>
          </a:xfrm>
          <a:prstGeom prst="rect">
            <a:avLst/>
          </a:prstGeom>
          <a:noFill/>
        </p:spPr>
        <p:txBody>
          <a:bodyPr wrap="square" lIns="0" rIns="0" tIns="0" bIns="0" anchor="t">
            <a:spAutoFit/>
          </a:bodyPr>
          <a:lstStyle/>
          <a:p>
            <a:pPr algn="ctr">
              <a:lnSpc>
                <a:spcPct val="110000"/>
              </a:lnSpc>
              <a:spcAft>
                <a:spcPts val="0"/>
              </a:spcAft>
            </a:pPr>
            <a:r>
              <a:rPr sz="890" b="0" lang="zh-CN">
                <a:solidFill>
                  <a:srgbClr val="586B7E"/>
                </a:solidFill>
                <a:latin typeface="Noto Sans CJK SC"/>
                <a:ea typeface="Noto Sans CJK SC"/>
                <a:cs typeface="Noto Sans CJK SC"/>
              </a:rPr>
              <a:t>音频 → 文本</a:t>
            </a:r>
          </a:p>
        </p:txBody>
      </p:sp>
      <p:cxnSp>
        <p:nvCxnSpPr>
          <p:cNvPr id="50" name="Connector 49"/>
          <p:cNvCxnSpPr/>
          <p:nvPr/>
        </p:nvCxnSpPr>
        <p:spPr>
          <a:xfrm>
            <a:off x="4608576" y="5541264"/>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1" name="Rounded Rectangle 50"/>
          <p:cNvSpPr/>
          <p:nvPr/>
        </p:nvSpPr>
        <p:spPr>
          <a:xfrm>
            <a:off x="5093208" y="5335524"/>
            <a:ext cx="1655064"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5138928" y="5367528"/>
            <a:ext cx="1563624" cy="210312"/>
          </a:xfrm>
          <a:prstGeom prst="rect">
            <a:avLst/>
          </a:prstGeom>
          <a:noFill/>
        </p:spPr>
        <p:txBody>
          <a:bodyPr wrap="square" lIns="0" rIns="0" tIns="0" bIns="0" anchor="t">
            <a:spAutoFit/>
          </a:bodyPr>
          <a:lstStyle/>
          <a:p>
            <a:pPr algn="ctr">
              <a:lnSpc>
                <a:spcPct val="110000"/>
              </a:lnSpc>
              <a:spcAft>
                <a:spcPts val="0"/>
              </a:spcAft>
            </a:pPr>
            <a:r>
              <a:rPr sz="1250" b="1">
                <a:solidFill>
                  <a:srgbClr val="008E96"/>
                </a:solidFill>
                <a:latin typeface="Arial"/>
                <a:ea typeface="Arial"/>
                <a:cs typeface="Arial"/>
              </a:rPr>
              <a:t>Thinker</a:t>
            </a:r>
          </a:p>
        </p:txBody>
      </p:sp>
      <p:sp>
        <p:nvSpPr>
          <p:cNvPr id="53" name="TextBox 52"/>
          <p:cNvSpPr txBox="1"/>
          <p:nvPr/>
        </p:nvSpPr>
        <p:spPr>
          <a:xfrm>
            <a:off x="5120640" y="5591556"/>
            <a:ext cx="1600200" cy="146304"/>
          </a:xfrm>
          <a:prstGeom prst="rect">
            <a:avLst/>
          </a:prstGeom>
          <a:noFill/>
        </p:spPr>
        <p:txBody>
          <a:bodyPr wrap="square" lIns="0" rIns="0" tIns="0" bIns="0" anchor="t">
            <a:spAutoFit/>
          </a:bodyPr>
          <a:lstStyle/>
          <a:p>
            <a:pPr algn="ctr">
              <a:lnSpc>
                <a:spcPct val="110000"/>
              </a:lnSpc>
              <a:spcAft>
                <a:spcPts val="0"/>
              </a:spcAft>
            </a:pPr>
            <a:r>
              <a:rPr sz="890" b="0" lang="zh-CN">
                <a:solidFill>
                  <a:srgbClr val="586B7E"/>
                </a:solidFill>
                <a:latin typeface="Noto Sans CJK SC"/>
                <a:ea typeface="Noto Sans CJK SC"/>
                <a:cs typeface="Noto Sans CJK SC"/>
              </a:rPr>
              <a:t>文本 + 视频 + history</a:t>
            </a:r>
          </a:p>
        </p:txBody>
      </p:sp>
      <p:cxnSp>
        <p:nvCxnSpPr>
          <p:cNvPr id="54" name="Connector 53"/>
          <p:cNvCxnSpPr/>
          <p:nvPr/>
        </p:nvCxnSpPr>
        <p:spPr>
          <a:xfrm>
            <a:off x="6803136" y="5541264"/>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Rounded Rectangle 54"/>
          <p:cNvSpPr/>
          <p:nvPr/>
        </p:nvSpPr>
        <p:spPr>
          <a:xfrm>
            <a:off x="7287768" y="5335524"/>
            <a:ext cx="1655064"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7333488" y="5367528"/>
            <a:ext cx="1563624" cy="210312"/>
          </a:xfrm>
          <a:prstGeom prst="rect">
            <a:avLst/>
          </a:prstGeom>
          <a:noFill/>
        </p:spPr>
        <p:txBody>
          <a:bodyPr wrap="square" lIns="0" rIns="0" tIns="0" bIns="0" anchor="t">
            <a:spAutoFit/>
          </a:bodyPr>
          <a:lstStyle/>
          <a:p>
            <a:pPr algn="ctr">
              <a:lnSpc>
                <a:spcPct val="110000"/>
              </a:lnSpc>
              <a:spcAft>
                <a:spcPts val="0"/>
              </a:spcAft>
            </a:pPr>
            <a:r>
              <a:rPr sz="1250" b="1">
                <a:solidFill>
                  <a:srgbClr val="008E96"/>
                </a:solidFill>
                <a:latin typeface="Arial"/>
                <a:ea typeface="Arial"/>
                <a:cs typeface="Arial"/>
              </a:rPr>
              <a:t>Talker</a:t>
            </a:r>
          </a:p>
        </p:txBody>
      </p:sp>
      <p:sp>
        <p:nvSpPr>
          <p:cNvPr id="57" name="TextBox 56"/>
          <p:cNvSpPr txBox="1"/>
          <p:nvPr/>
        </p:nvSpPr>
        <p:spPr>
          <a:xfrm>
            <a:off x="7315200" y="5591556"/>
            <a:ext cx="1600200" cy="146304"/>
          </a:xfrm>
          <a:prstGeom prst="rect">
            <a:avLst/>
          </a:prstGeom>
          <a:noFill/>
        </p:spPr>
        <p:txBody>
          <a:bodyPr wrap="square" lIns="0" rIns="0" tIns="0" bIns="0" anchor="t">
            <a:spAutoFit/>
          </a:bodyPr>
          <a:lstStyle/>
          <a:p>
            <a:pPr algn="ctr">
              <a:lnSpc>
                <a:spcPct val="110000"/>
              </a:lnSpc>
              <a:spcAft>
                <a:spcPts val="0"/>
              </a:spcAft>
            </a:pPr>
            <a:r>
              <a:rPr sz="890" b="0" lang="zh-CN">
                <a:solidFill>
                  <a:srgbClr val="586B7E"/>
                </a:solidFill>
                <a:latin typeface="Noto Sans CJK SC"/>
                <a:ea typeface="Noto Sans CJK SC"/>
                <a:cs typeface="Noto Sans CJK SC"/>
              </a:rPr>
              <a:t>逐句语音 Token</a:t>
            </a:r>
          </a:p>
        </p:txBody>
      </p:sp>
      <p:cxnSp>
        <p:nvCxnSpPr>
          <p:cNvPr id="58" name="Connector 57"/>
          <p:cNvCxnSpPr/>
          <p:nvPr/>
        </p:nvCxnSpPr>
        <p:spPr>
          <a:xfrm>
            <a:off x="8997696" y="5541264"/>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9" name="Rounded Rectangle 58"/>
          <p:cNvSpPr/>
          <p:nvPr/>
        </p:nvSpPr>
        <p:spPr>
          <a:xfrm>
            <a:off x="9482328" y="5335524"/>
            <a:ext cx="1655064"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9528048" y="5367528"/>
            <a:ext cx="1563624" cy="210312"/>
          </a:xfrm>
          <a:prstGeom prst="rect">
            <a:avLst/>
          </a:prstGeom>
          <a:noFill/>
        </p:spPr>
        <p:txBody>
          <a:bodyPr wrap="square" lIns="0" rIns="0" tIns="0" bIns="0" anchor="t">
            <a:spAutoFit/>
          </a:bodyPr>
          <a:lstStyle/>
          <a:p>
            <a:pPr algn="ctr">
              <a:lnSpc>
                <a:spcPct val="110000"/>
              </a:lnSpc>
              <a:spcAft>
                <a:spcPts val="0"/>
              </a:spcAft>
            </a:pPr>
            <a:r>
              <a:rPr sz="1250" b="1">
                <a:solidFill>
                  <a:srgbClr val="008E96"/>
                </a:solidFill>
                <a:latin typeface="Arial"/>
                <a:ea typeface="Arial"/>
                <a:cs typeface="Arial"/>
              </a:rPr>
              <a:t>Code2Wav</a:t>
            </a:r>
          </a:p>
        </p:txBody>
      </p:sp>
      <p:sp>
        <p:nvSpPr>
          <p:cNvPr id="61" name="TextBox 60"/>
          <p:cNvSpPr txBox="1"/>
          <p:nvPr/>
        </p:nvSpPr>
        <p:spPr>
          <a:xfrm>
            <a:off x="9509760" y="5591556"/>
            <a:ext cx="1600200" cy="146304"/>
          </a:xfrm>
          <a:prstGeom prst="rect">
            <a:avLst/>
          </a:prstGeom>
          <a:noFill/>
        </p:spPr>
        <p:txBody>
          <a:bodyPr wrap="square" lIns="0" rIns="0" tIns="0" bIns="0" anchor="t">
            <a:spAutoFit/>
          </a:bodyPr>
          <a:lstStyle/>
          <a:p>
            <a:pPr algn="ctr">
              <a:lnSpc>
                <a:spcPct val="110000"/>
              </a:lnSpc>
              <a:spcAft>
                <a:spcPts val="0"/>
              </a:spcAft>
            </a:pPr>
            <a:r>
              <a:rPr sz="890" b="0" lang="zh-CN">
                <a:solidFill>
                  <a:srgbClr val="586B7E"/>
                </a:solidFill>
                <a:latin typeface="Noto Sans CJK SC"/>
                <a:ea typeface="Noto Sans CJK SC"/>
                <a:cs typeface="Noto Sans CJK SC"/>
              </a:rPr>
              <a:t>音频分块</a:t>
            </a:r>
          </a:p>
        </p:txBody>
      </p:sp>
      <p:sp>
        <p:nvSpPr>
          <p:cNvPr id="62" name="TextBox 61"/>
          <p:cNvSpPr txBox="1"/>
          <p:nvPr/>
        </p:nvSpPr>
        <p:spPr>
          <a:xfrm>
            <a:off x="2898648" y="5811012"/>
            <a:ext cx="8275320" cy="146304"/>
          </a:xfrm>
          <a:prstGeom prst="rect">
            <a:avLst/>
          </a:prstGeom>
          <a:noFill/>
        </p:spPr>
        <p:txBody>
          <a:bodyPr wrap="square" lIns="0" rIns="0" tIns="0" bIns="0" anchor="t">
            <a:spAutoFit/>
          </a:bodyPr>
          <a:lstStyle/>
          <a:p>
            <a:pPr algn="l">
              <a:lnSpc>
                <a:spcPct val="110000"/>
              </a:lnSpc>
              <a:spcAft>
                <a:spcPts val="0"/>
              </a:spcAft>
            </a:pPr>
            <a:r>
              <a:rPr sz="930" b="0" lang="zh-CN">
                <a:solidFill>
                  <a:srgbClr val="142B45"/>
                </a:solidFill>
                <a:latin typeface="Noto Sans CJK SC"/>
                <a:ea typeface="Noto Sans CJK SC"/>
                <a:cs typeface="Noto Sans CJK SC"/>
              </a:rPr>
              <a:t>Qwen3-Omni 同属 turn-based：Thinker → Talker → Code2Wav，无独立 ASR Stage。</a:t>
            </a:r>
          </a:p>
        </p:txBody>
      </p:sp>
      <p:sp>
        <p:nvSpPr>
          <p:cNvPr id="63" name="TextBox 62"/>
          <p:cNvSpPr txBox="1"/>
          <p:nvPr/>
        </p:nvSpPr>
        <p:spPr>
          <a:xfrm>
            <a:off x="722376" y="6126480"/>
            <a:ext cx="10753344" cy="283464"/>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Stage = 一个模型计算环节；Replica = 同一 Stage 的执行实例。</a:t>
            </a:r>
          </a:p>
          <a:p>
            <a:pPr algn="l">
              <a:lnSpc>
                <a:spcPct val="110000"/>
              </a:lnSpc>
              <a:spcAft>
                <a:spcPts val="0"/>
              </a:spcAft>
            </a:pPr>
            <a:r>
              <a:rPr sz="1000" b="0" lang="zh-CN">
                <a:solidFill>
                  <a:srgbClr val="586B7E"/>
                </a:solidFill>
                <a:latin typeface="Noto Sans CJK SC"/>
                <a:ea typeface="Noto Sans CJK SC"/>
                <a:cs typeface="Noto Sans CJK SC"/>
              </a:rPr>
              <a:t>PersonaPlex 续用活跃请求的状态；显式 cancel 后从新的对话上下文开始。</a:t>
            </a:r>
          </a:p>
        </p:txBody>
      </p:sp>
      <p:sp>
        <p:nvSpPr>
          <p:cNvPr id="200" name="PersonaPlex 200"/>
          <p:cNvSpPr/>
          <p:nvPr/>
        </p:nvSpPr>
        <p:spPr>
          <a:xfrm>
            <a:off x="548640" y="2359152"/>
            <a:ext cx="11082528" cy="30175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1" name="PersonaPlex 201"/>
          <p:cNvSpPr txBox="1"/>
          <p:nvPr/>
        </p:nvSpPr>
        <p:spPr>
          <a:xfrm>
            <a:off x="713232" y="2391156"/>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PersonaPlex</a:t>
            </a:r>
          </a:p>
        </p:txBody>
      </p:sp>
      <p:sp>
        <p:nvSpPr>
          <p:cNvPr id="202" name="PersonaPlex 202"/>
          <p:cNvSpPr txBox="1"/>
          <p:nvPr/>
        </p:nvSpPr>
        <p:spPr>
          <a:xfrm>
            <a:off x="2770632" y="2391156"/>
            <a:ext cx="2578608"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音频帧 → 继续活跃请求</a:t>
            </a:r>
          </a:p>
        </p:txBody>
      </p:sp>
      <p:sp>
        <p:nvSpPr>
          <p:cNvPr id="203" name="PersonaPlex 203"/>
          <p:cNvSpPr txBox="1"/>
          <p:nvPr/>
        </p:nvSpPr>
        <p:spPr>
          <a:xfrm>
            <a:off x="5532120" y="2391156"/>
            <a:ext cx="5715000"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Temporal KV + Mimi encoder / decoder 流式状态</a:t>
            </a:r>
          </a:p>
        </p:txBody>
      </p:sp>
      <p:sp>
        <p:nvSpPr>
          <p:cNvPr id="327" name="Restored MiniCPM workflow 27"/>
          <p:cNvSpPr/>
          <p:nvPr/>
        </p:nvSpPr>
        <p:spPr>
          <a:xfrm>
            <a:off x="548640" y="4526280"/>
            <a:ext cx="11082528" cy="69494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8" name="Restored MiniCPM workflow 28"/>
          <p:cNvSpPr txBox="1"/>
          <p:nvPr/>
        </p:nvSpPr>
        <p:spPr>
          <a:xfrm>
            <a:off x="722376" y="4617720"/>
            <a:ext cx="2029968" cy="237744"/>
          </a:xfrm>
          <a:prstGeom prst="rect">
            <a:avLst/>
          </a:prstGeom>
          <a:noFill/>
        </p:spPr>
        <p:txBody>
          <a:bodyPr wrap="square" lIns="0" rIns="0" tIns="0" bIns="0" anchor="t">
            <a:spAutoFit/>
          </a:bodyPr>
          <a:lstStyle/>
          <a:p>
            <a:pPr algn="l">
              <a:lnSpc>
                <a:spcPct val="110000"/>
              </a:lnSpc>
              <a:spcAft>
                <a:spcPts val="0"/>
              </a:spcAft>
            </a:pPr>
            <a:r>
              <a:rPr sz="1400" b="1">
                <a:solidFill>
                  <a:srgbClr val="327CEC"/>
                </a:solidFill>
                <a:latin typeface="Arial"/>
                <a:ea typeface="Arial"/>
                <a:cs typeface="Arial"/>
              </a:rPr>
              <a:t>MiniCPM-o 4.5</a:t>
            </a:r>
          </a:p>
        </p:txBody>
      </p:sp>
      <p:sp>
        <p:nvSpPr>
          <p:cNvPr id="329" name="Restored MiniCPM workflow 29"/>
          <p:cNvSpPr txBox="1"/>
          <p:nvPr/>
        </p:nvSpPr>
        <p:spPr>
          <a:xfrm>
            <a:off x="722376" y="4928616"/>
            <a:ext cx="2029968" cy="173736"/>
          </a:xfrm>
          <a:prstGeom prst="rect">
            <a:avLst/>
          </a:prstGeom>
          <a:noFill/>
        </p:spPr>
        <p:txBody>
          <a:bodyPr wrap="square" lIns="0" rIns="0" tIns="0" bIns="0" anchor="t">
            <a:spAutoFit/>
          </a:bodyPr>
          <a:lstStyle/>
          <a:p>
            <a:pPr algn="l">
              <a:lnSpc>
                <a:spcPct val="110000"/>
              </a:lnSpc>
              <a:spcAft>
                <a:spcPts val="0"/>
              </a:spcAft>
            </a:pPr>
            <a:r>
              <a:rPr sz="940" b="0">
                <a:solidFill>
                  <a:srgbClr val="327CEC"/>
                </a:solidFill>
                <a:latin typeface="Arial"/>
                <a:ea typeface="Arial"/>
                <a:cs typeface="Arial"/>
              </a:rPr>
              <a:t>native duplex · 音视频</a:t>
            </a:r>
          </a:p>
        </p:txBody>
      </p:sp>
      <p:sp>
        <p:nvSpPr>
          <p:cNvPr id="331" name="Restored MiniCPM workflow 31"/>
          <p:cNvSpPr/>
          <p:nvPr/>
        </p:nvSpPr>
        <p:spPr>
          <a:xfrm>
            <a:off x="2898648" y="4585716"/>
            <a:ext cx="2221992"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2" name="Restored MiniCPM workflow 32"/>
          <p:cNvSpPr txBox="1"/>
          <p:nvPr/>
        </p:nvSpPr>
        <p:spPr>
          <a:xfrm>
            <a:off x="2971800" y="4617720"/>
            <a:ext cx="2075688" cy="210312"/>
          </a:xfrm>
          <a:prstGeom prst="rect">
            <a:avLst/>
          </a:prstGeom>
          <a:noFill/>
        </p:spPr>
        <p:txBody>
          <a:bodyPr wrap="square" lIns="0" rIns="0" tIns="0" bIns="0" anchor="t">
            <a:spAutoFit/>
          </a:bodyPr>
          <a:lstStyle/>
          <a:p>
            <a:pPr algn="ctr">
              <a:lnSpc>
                <a:spcPct val="110000"/>
              </a:lnSpc>
              <a:spcAft>
                <a:spcPts val="0"/>
              </a:spcAft>
            </a:pPr>
            <a:r>
              <a:rPr sz="1250" b="1">
                <a:solidFill>
                  <a:srgbClr val="327CEC"/>
                </a:solidFill>
                <a:latin typeface="Arial"/>
                <a:ea typeface="Arial"/>
                <a:cs typeface="Arial"/>
              </a:rPr>
              <a:t>Multimodal LLM</a:t>
            </a:r>
          </a:p>
        </p:txBody>
      </p:sp>
      <p:sp>
        <p:nvSpPr>
          <p:cNvPr id="333" name="Restored MiniCPM workflow 33"/>
          <p:cNvSpPr txBox="1"/>
          <p:nvPr/>
        </p:nvSpPr>
        <p:spPr>
          <a:xfrm>
            <a:off x="2953512" y="4841748"/>
            <a:ext cx="2112264" cy="146304"/>
          </a:xfrm>
          <a:prstGeom prst="rect">
            <a:avLst/>
          </a:prstGeom>
          <a:noFill/>
        </p:spPr>
        <p:txBody>
          <a:bodyPr wrap="square" lIns="0" rIns="0" tIns="0" bIns="0" anchor="t">
            <a:spAutoFit/>
          </a:bodyPr>
          <a:lstStyle/>
          <a:p>
            <a:pPr algn="ctr">
              <a:lnSpc>
                <a:spcPct val="110000"/>
              </a:lnSpc>
              <a:spcAft>
                <a:spcPts val="0"/>
              </a:spcAft>
            </a:pPr>
            <a:r>
              <a:rPr sz="890" b="0" lang="zh-CN">
                <a:solidFill>
                  <a:srgbClr val="586B7E"/>
                </a:solidFill>
                <a:latin typeface="Noto Sans CJK SC"/>
                <a:ea typeface="Noto Sans CJK SC"/>
                <a:cs typeface="Noto Sans CJK SC"/>
              </a:rPr>
              <a:t>LLM KV + 流式音频状态</a:t>
            </a:r>
          </a:p>
        </p:txBody>
      </p:sp>
      <p:sp>
        <p:nvSpPr>
          <p:cNvPr id="334" name="Restored MiniCPM workflow 34"/>
          <p:cNvSpPr/>
          <p:nvPr/>
        </p:nvSpPr>
        <p:spPr>
          <a:xfrm>
            <a:off x="5897880" y="4585716"/>
            <a:ext cx="2221992"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5" name="Restored MiniCPM workflow 35"/>
          <p:cNvSpPr txBox="1"/>
          <p:nvPr/>
        </p:nvSpPr>
        <p:spPr>
          <a:xfrm>
            <a:off x="5971032" y="4617720"/>
            <a:ext cx="2075688" cy="210312"/>
          </a:xfrm>
          <a:prstGeom prst="rect">
            <a:avLst/>
          </a:prstGeom>
          <a:noFill/>
        </p:spPr>
        <p:txBody>
          <a:bodyPr wrap="square" lIns="0" rIns="0" tIns="0" bIns="0" anchor="t">
            <a:spAutoFit/>
          </a:bodyPr>
          <a:lstStyle/>
          <a:p>
            <a:pPr algn="ctr">
              <a:lnSpc>
                <a:spcPct val="110000"/>
              </a:lnSpc>
              <a:spcAft>
                <a:spcPts val="0"/>
              </a:spcAft>
            </a:pPr>
            <a:r>
              <a:rPr sz="1250" b="1">
                <a:solidFill>
                  <a:srgbClr val="327CEC"/>
                </a:solidFill>
                <a:latin typeface="Arial"/>
                <a:ea typeface="Arial"/>
                <a:cs typeface="Arial"/>
              </a:rPr>
              <a:t>Talker</a:t>
            </a:r>
          </a:p>
        </p:txBody>
      </p:sp>
      <p:sp>
        <p:nvSpPr>
          <p:cNvPr id="336" name="Restored MiniCPM workflow 36"/>
          <p:cNvSpPr txBox="1"/>
          <p:nvPr/>
        </p:nvSpPr>
        <p:spPr>
          <a:xfrm>
            <a:off x="5952744" y="4841748"/>
            <a:ext cx="2112264" cy="146304"/>
          </a:xfrm>
          <a:prstGeom prst="rect">
            <a:avLst/>
          </a:prstGeom>
          <a:noFill/>
        </p:spPr>
        <p:txBody>
          <a:bodyPr wrap="square" lIns="0" rIns="0" tIns="0" bIns="0" anchor="t">
            <a:spAutoFit/>
          </a:bodyPr>
          <a:lstStyle/>
          <a:p>
            <a:pPr algn="ctr">
              <a:lnSpc>
                <a:spcPct val="110000"/>
              </a:lnSpc>
              <a:spcAft>
                <a:spcPts val="0"/>
              </a:spcAft>
            </a:pPr>
            <a:r>
              <a:rPr sz="890" b="0" lang="zh-CN">
                <a:solidFill>
                  <a:srgbClr val="586B7E"/>
                </a:solidFill>
                <a:latin typeface="Noto Sans CJK SC"/>
                <a:ea typeface="Noto Sans CJK SC"/>
                <a:cs typeface="Noto Sans CJK SC"/>
              </a:rPr>
              <a:t>请求内 TTS 状态</a:t>
            </a:r>
          </a:p>
        </p:txBody>
      </p:sp>
      <p:sp>
        <p:nvSpPr>
          <p:cNvPr id="337" name="Restored MiniCPM workflow 37"/>
          <p:cNvSpPr/>
          <p:nvPr/>
        </p:nvSpPr>
        <p:spPr>
          <a:xfrm>
            <a:off x="8897112" y="4585716"/>
            <a:ext cx="2221992"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8" name="Restored MiniCPM workflow 38"/>
          <p:cNvSpPr txBox="1"/>
          <p:nvPr/>
        </p:nvSpPr>
        <p:spPr>
          <a:xfrm>
            <a:off x="8970264" y="4617720"/>
            <a:ext cx="2075688" cy="210312"/>
          </a:xfrm>
          <a:prstGeom prst="rect">
            <a:avLst/>
          </a:prstGeom>
          <a:noFill/>
        </p:spPr>
        <p:txBody>
          <a:bodyPr wrap="square" lIns="0" rIns="0" tIns="0" bIns="0" anchor="t">
            <a:spAutoFit/>
          </a:bodyPr>
          <a:lstStyle/>
          <a:p>
            <a:pPr algn="ctr">
              <a:lnSpc>
                <a:spcPct val="110000"/>
              </a:lnSpc>
              <a:spcAft>
                <a:spcPts val="0"/>
              </a:spcAft>
            </a:pPr>
            <a:r>
              <a:rPr sz="1250" b="1">
                <a:solidFill>
                  <a:srgbClr val="327CEC"/>
                </a:solidFill>
                <a:latin typeface="Arial"/>
                <a:ea typeface="Arial"/>
                <a:cs typeface="Arial"/>
              </a:rPr>
              <a:t>Code2Wav</a:t>
            </a:r>
          </a:p>
        </p:txBody>
      </p:sp>
      <p:sp>
        <p:nvSpPr>
          <p:cNvPr id="339" name="Restored MiniCPM workflow 39"/>
          <p:cNvSpPr txBox="1"/>
          <p:nvPr/>
        </p:nvSpPr>
        <p:spPr>
          <a:xfrm>
            <a:off x="8951976" y="4841748"/>
            <a:ext cx="2112264"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Decoder cache</a:t>
            </a:r>
          </a:p>
        </p:txBody>
      </p:sp>
      <p:cxnSp>
        <p:nvCxnSpPr>
          <p:cNvPr id="340" name="Restored MiniCPM workflow 40"/>
          <p:cNvCxnSpPr/>
          <p:nvPr/>
        </p:nvCxnSpPr>
        <p:spPr>
          <a:xfrm>
            <a:off x="5157216" y="4791456"/>
            <a:ext cx="667512"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41" name="Restored MiniCPM workflow 41"/>
          <p:cNvSpPr txBox="1"/>
          <p:nvPr/>
        </p:nvSpPr>
        <p:spPr>
          <a:xfrm>
            <a:off x="5175504" y="4590288"/>
            <a:ext cx="612648" cy="146304"/>
          </a:xfrm>
          <a:prstGeom prst="rect">
            <a:avLst/>
          </a:prstGeom>
          <a:noFill/>
        </p:spPr>
        <p:txBody>
          <a:bodyPr wrap="square" lIns="0" rIns="0" tIns="0" bIns="0" anchor="t">
            <a:spAutoFit/>
          </a:bodyPr>
          <a:lstStyle/>
          <a:p>
            <a:pPr algn="ctr">
              <a:lnSpc>
                <a:spcPct val="110000"/>
              </a:lnSpc>
              <a:spcAft>
                <a:spcPts val="0"/>
              </a:spcAft>
            </a:pPr>
            <a:r>
              <a:rPr sz="860" b="0">
                <a:solidFill>
                  <a:srgbClr val="327CEC"/>
                </a:solidFill>
                <a:latin typeface="Arial"/>
                <a:ea typeface="Arial"/>
                <a:cs typeface="Arial"/>
              </a:rPr>
              <a:t>SPEAK</a:t>
            </a:r>
          </a:p>
        </p:txBody>
      </p:sp>
      <p:cxnSp>
        <p:nvCxnSpPr>
          <p:cNvPr id="342" name="Restored MiniCPM workflow 42"/>
          <p:cNvCxnSpPr/>
          <p:nvPr/>
        </p:nvCxnSpPr>
        <p:spPr>
          <a:xfrm>
            <a:off x="8156448" y="4791456"/>
            <a:ext cx="667512"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43" name="Restored MiniCPM workflow 43"/>
          <p:cNvSpPr txBox="1"/>
          <p:nvPr/>
        </p:nvSpPr>
        <p:spPr>
          <a:xfrm>
            <a:off x="2898648" y="5061204"/>
            <a:ext cx="8238744" cy="146304"/>
          </a:xfrm>
          <a:prstGeom prst="rect">
            <a:avLst/>
          </a:prstGeom>
          <a:noFill/>
        </p:spPr>
        <p:txBody>
          <a:bodyPr wrap="square" lIns="0" rIns="0" tIns="0" bIns="0" anchor="t">
            <a:spAutoFit/>
          </a:bodyPr>
          <a:lstStyle/>
          <a:p>
            <a:pPr algn="l">
              <a:lnSpc>
                <a:spcPct val="110000"/>
              </a:lnSpc>
              <a:spcAft>
                <a:spcPts val="0"/>
              </a:spcAft>
            </a:pPr>
            <a:r>
              <a:rPr sz="930" b="0" lang="zh-CN">
                <a:solidFill>
                  <a:srgbClr val="142B45"/>
                </a:solidFill>
                <a:latin typeface="Noto Sans CJK SC"/>
                <a:ea typeface="Noto Sans CJK SC"/>
                <a:cs typeface="Noto Sans CJK SC"/>
              </a:rPr>
              <a:t>LISTEN 保留活跃请求；后续输入复用已绑定的 Replica 和保留的 KV。</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lang="zh-CN">
                <a:solidFill>
                  <a:srgbClr val="142B45"/>
                </a:solidFill>
                <a:latin typeface="Noto Sans CJK SC"/>
                <a:ea typeface="Noto Sans CJK SC"/>
                <a:cs typeface="Noto Sans CJK SC"/>
              </a:rPr>
              <a:t>连接恢复：按模型能力处理</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08 / 12</a:t>
            </a:r>
          </a:p>
        </p:txBody>
      </p:sp>
      <p:sp>
        <p:nvSpPr>
          <p:cNvPr id="12" name="TextBox 11"/>
          <p:cNvSpPr txBox="1"/>
          <p:nvPr/>
        </p:nvSpPr>
        <p:spPr>
          <a:xfrm>
            <a:off x="576072" y="1645920"/>
            <a:ext cx="10972800" cy="329184"/>
          </a:xfrm>
          <a:prstGeom prst="rect">
            <a:avLst/>
          </a:prstGeom>
          <a:noFill/>
        </p:spPr>
        <p:txBody>
          <a:bodyPr wrap="square" lIns="0" rIns="0" tIns="0" bIns="0" anchor="t">
            <a:spAutoFit/>
          </a:bodyPr>
          <a:lstStyle/>
          <a:p>
            <a:pPr algn="l">
              <a:lnSpc>
                <a:spcPct val="110000"/>
              </a:lnSpc>
              <a:spcAft>
                <a:spcPts val="0"/>
              </a:spcAft>
            </a:pPr>
            <a:r>
              <a:rPr sz="1500" b="0" lang="zh-CN">
                <a:solidFill>
                  <a:srgbClr val="586B7E"/>
                </a:solidFill>
                <a:latin typeface="Noto Sans CJK SC"/>
                <a:ea typeface="Noto Sans CJK SC"/>
                <a:cs typeface="Noto Sans CJK SC"/>
              </a:rPr>
              <a:t>MiniCPM、AURA、Qwen3-Omni 与 Nemotron 可通过以下流程，续接仍存活的 session。</a:t>
            </a:r>
          </a:p>
        </p:txBody>
      </p:sp>
      <p:sp>
        <p:nvSpPr>
          <p:cNvPr id="13" name="Rounded Rectangle 12"/>
          <p:cNvSpPr/>
          <p:nvPr/>
        </p:nvSpPr>
        <p:spPr>
          <a:xfrm>
            <a:off x="548640" y="2194560"/>
            <a:ext cx="3200400"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04088" y="2313432"/>
            <a:ext cx="2889504"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User Client</a:t>
            </a:r>
          </a:p>
        </p:txBody>
      </p:sp>
      <p:sp>
        <p:nvSpPr>
          <p:cNvPr id="15" name="TextBox 14"/>
          <p:cNvSpPr txBox="1"/>
          <p:nvPr/>
        </p:nvSpPr>
        <p:spPr>
          <a:xfrm>
            <a:off x="704088" y="2670048"/>
            <a:ext cx="2889504" cy="347472"/>
          </a:xfrm>
          <a:prstGeom prst="rect">
            <a:avLst/>
          </a:prstGeom>
          <a:noFill/>
        </p:spPr>
        <p:txBody>
          <a:bodyPr wrap="square" lIns="0" rIns="0" tIns="0" bIns="0" anchor="t">
            <a:spAutoFit/>
          </a:bodyPr>
          <a:lstStyle/>
          <a:p>
            <a:pPr algn="l">
              <a:lnSpc>
                <a:spcPct val="110000"/>
              </a:lnSpc>
              <a:spcAft>
                <a:spcPts val="0"/>
              </a:spcAft>
            </a:pPr>
            <a:r>
              <a:rPr sz="1080" b="0" lang="zh-CN">
                <a:solidFill>
                  <a:srgbClr val="142B45"/>
                </a:solidFill>
                <a:latin typeface="Noto Sans CJK SC"/>
                <a:ea typeface="Noto Sans CJK SC"/>
                <a:cs typeface="Noto Sans CJK SC"/>
              </a:rPr>
              <a:t>携带会话凭据</a:t>
            </a:r>
          </a:p>
          <a:p>
            <a:pPr algn="l">
              <a:lnSpc>
                <a:spcPct val="110000"/>
              </a:lnSpc>
              <a:spcAft>
                <a:spcPts val="0"/>
              </a:spcAft>
            </a:pPr>
            <a:r>
              <a:rPr sz="1080" b="0" lang="zh-CN">
                <a:solidFill>
                  <a:srgbClr val="142B45"/>
                </a:solidFill>
                <a:latin typeface="Noto Sans CJK SC"/>
                <a:ea typeface="Noto Sans CJK SC"/>
                <a:cs typeface="Noto Sans CJK SC"/>
              </a:rPr>
              <a:t>从已接收的 event position 发起恢复</a:t>
            </a:r>
          </a:p>
        </p:txBody>
      </p:sp>
      <p:cxnSp>
        <p:nvCxnSpPr>
          <p:cNvPr id="16" name="Connector 15"/>
          <p:cNvCxnSpPr/>
          <p:nvPr/>
        </p:nvCxnSpPr>
        <p:spPr>
          <a:xfrm>
            <a:off x="3803903" y="2660904"/>
            <a:ext cx="466345"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7" name="Rounded Rectangle 16"/>
          <p:cNvSpPr/>
          <p:nvPr/>
        </p:nvSpPr>
        <p:spPr>
          <a:xfrm>
            <a:off x="4343400" y="2194560"/>
            <a:ext cx="3227832"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498848" y="2313432"/>
            <a:ext cx="2916936"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API Server</a:t>
            </a:r>
          </a:p>
        </p:txBody>
      </p:sp>
      <p:sp>
        <p:nvSpPr>
          <p:cNvPr id="19" name="TextBox 18"/>
          <p:cNvSpPr txBox="1"/>
          <p:nvPr/>
        </p:nvSpPr>
        <p:spPr>
          <a:xfrm>
            <a:off x="4498848" y="2670048"/>
            <a:ext cx="2916936" cy="347472"/>
          </a:xfrm>
          <a:prstGeom prst="rect">
            <a:avLst/>
          </a:prstGeom>
          <a:noFill/>
        </p:spPr>
        <p:txBody>
          <a:bodyPr wrap="square" lIns="0" rIns="0" tIns="0" bIns="0" anchor="t">
            <a:spAutoFit/>
          </a:bodyPr>
          <a:lstStyle/>
          <a:p>
            <a:pPr algn="l">
              <a:lnSpc>
                <a:spcPct val="110000"/>
              </a:lnSpc>
              <a:spcAft>
                <a:spcPts val="0"/>
              </a:spcAft>
            </a:pPr>
            <a:r>
              <a:rPr sz="1080" b="0" lang="zh-CN">
                <a:solidFill>
                  <a:srgbClr val="142B45"/>
                </a:solidFill>
                <a:latin typeface="Noto Sans CJK SC"/>
                <a:ea typeface="Noto Sans CJK SC"/>
                <a:cs typeface="Noto Sans CJK SC"/>
              </a:rPr>
              <a:t>验证凭据并绑定新连接</a:t>
            </a:r>
          </a:p>
          <a:p>
            <a:pPr algn="l">
              <a:lnSpc>
                <a:spcPct val="110000"/>
              </a:lnSpc>
              <a:spcAft>
                <a:spcPts val="0"/>
              </a:spcAft>
            </a:pPr>
            <a:r>
              <a:rPr sz="1080" b="0" lang="zh-CN">
                <a:solidFill>
                  <a:srgbClr val="142B45"/>
                </a:solidFill>
                <a:latin typeface="Noto Sans CJK SC"/>
                <a:ea typeface="Noto Sans CJK SC"/>
                <a:cs typeface="Noto Sans CJK SC"/>
              </a:rPr>
              <a:t>event replay 补齐保留事件</a:t>
            </a:r>
          </a:p>
        </p:txBody>
      </p:sp>
      <p:cxnSp>
        <p:nvCxnSpPr>
          <p:cNvPr id="20" name="Connector 19"/>
          <p:cNvCxnSpPr/>
          <p:nvPr/>
        </p:nvCxnSpPr>
        <p:spPr>
          <a:xfrm>
            <a:off x="7626096" y="2660904"/>
            <a:ext cx="466344"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1" name="Rounded Rectangle 20"/>
          <p:cNvSpPr/>
          <p:nvPr/>
        </p:nvSpPr>
        <p:spPr>
          <a:xfrm>
            <a:off x="8165592" y="2194560"/>
            <a:ext cx="3465576" cy="93268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321040" y="2313432"/>
            <a:ext cx="3154680" cy="246888"/>
          </a:xfrm>
          <a:prstGeom prst="rect">
            <a:avLst/>
          </a:prstGeom>
          <a:noFill/>
        </p:spPr>
        <p:txBody>
          <a:bodyPr wrap="square" lIns="0" rIns="0" tIns="0" bIns="0" anchor="t">
            <a:spAutoFit/>
          </a:bodyPr>
          <a:lstStyle/>
          <a:p>
            <a:pPr algn="l">
              <a:lnSpc>
                <a:spcPct val="110000"/>
              </a:lnSpc>
              <a:spcAft>
                <a:spcPts val="0"/>
              </a:spcAft>
            </a:pPr>
            <a:r>
              <a:rPr sz="1700" b="1">
                <a:solidFill>
                  <a:srgbClr val="008E96"/>
                </a:solidFill>
                <a:latin typeface="Arial"/>
                <a:ea typeface="Arial"/>
                <a:cs typeface="Arial"/>
              </a:rPr>
              <a:t>Engine session</a:t>
            </a:r>
          </a:p>
        </p:txBody>
      </p:sp>
      <p:sp>
        <p:nvSpPr>
          <p:cNvPr id="23" name="TextBox 22"/>
          <p:cNvSpPr txBox="1"/>
          <p:nvPr/>
        </p:nvSpPr>
        <p:spPr>
          <a:xfrm>
            <a:off x="8321040" y="2670048"/>
            <a:ext cx="3154680" cy="347472"/>
          </a:xfrm>
          <a:prstGeom prst="rect">
            <a:avLst/>
          </a:prstGeom>
          <a:noFill/>
        </p:spPr>
        <p:txBody>
          <a:bodyPr wrap="square" lIns="0" rIns="0" tIns="0" bIns="0" anchor="t">
            <a:spAutoFit/>
          </a:bodyPr>
          <a:lstStyle/>
          <a:p>
            <a:pPr algn="l">
              <a:lnSpc>
                <a:spcPct val="110000"/>
              </a:lnSpc>
              <a:spcAft>
                <a:spcPts val="0"/>
              </a:spcAft>
            </a:pPr>
            <a:r>
              <a:rPr sz="1080" b="0" lang="zh-CN">
                <a:solidFill>
                  <a:srgbClr val="142B45"/>
                </a:solidFill>
                <a:latin typeface="Noto Sans CJK SC"/>
                <a:ea typeface="Noto Sans CJK SC"/>
                <a:cs typeface="Noto Sans CJK SC"/>
              </a:rPr>
              <a:t>继续使用原有 session state</a:t>
            </a:r>
          </a:p>
          <a:p>
            <a:pPr algn="l">
              <a:lnSpc>
                <a:spcPct val="110000"/>
              </a:lnSpc>
              <a:spcAft>
                <a:spcPts val="0"/>
              </a:spcAft>
            </a:pPr>
            <a:r>
              <a:rPr sz="1080" b="0" lang="zh-CN">
                <a:solidFill>
                  <a:srgbClr val="142B45"/>
                </a:solidFill>
                <a:latin typeface="Noto Sans CJK SC"/>
                <a:ea typeface="Noto Sans CJK SC"/>
                <a:cs typeface="Noto Sans CJK SC"/>
              </a:rPr>
              <a:t>输入与输出接回同一会话</a:t>
            </a:r>
          </a:p>
        </p:txBody>
      </p:sp>
      <p:sp>
        <p:nvSpPr>
          <p:cNvPr id="24" name="TextBox 23"/>
          <p:cNvSpPr txBox="1"/>
          <p:nvPr/>
        </p:nvSpPr>
        <p:spPr>
          <a:xfrm>
            <a:off x="722376" y="3310128"/>
            <a:ext cx="10744200" cy="219456"/>
          </a:xfrm>
          <a:prstGeom prst="rect">
            <a:avLst/>
          </a:prstGeom>
          <a:noFill/>
        </p:spPr>
        <p:txBody>
          <a:bodyPr wrap="square" lIns="0" rIns="0" tIns="0" bIns="0" anchor="t">
            <a:spAutoFit/>
          </a:bodyPr>
          <a:lstStyle/>
          <a:p>
            <a:pPr algn="l">
              <a:lnSpc>
                <a:spcPct val="110000"/>
              </a:lnSpc>
              <a:spcAft>
                <a:spcPts val="0"/>
              </a:spcAft>
            </a:pPr>
            <a:r>
              <a:rPr sz="1200" b="0" lang="zh-CN">
                <a:solidFill>
                  <a:srgbClr val="586B7E"/>
                </a:solidFill>
                <a:latin typeface="Noto Sans CJK SC"/>
                <a:ea typeface="Noto Sans CJK SC"/>
                <a:cs typeface="Noto Sans CJK SC"/>
              </a:rPr>
              <a:t>依赖同一存活 owner、有效 lease 和保留的 event；session resume 不提供进程故障切换。</a:t>
            </a:r>
          </a:p>
        </p:txBody>
      </p:sp>
      <p:sp>
        <p:nvSpPr>
          <p:cNvPr id="25" name="TextBox 24"/>
          <p:cNvSpPr txBox="1"/>
          <p:nvPr/>
        </p:nvSpPr>
        <p:spPr>
          <a:xfrm>
            <a:off x="722376" y="3785615"/>
            <a:ext cx="2048256" cy="210312"/>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恢复环节</a:t>
            </a:r>
          </a:p>
        </p:txBody>
      </p:sp>
      <p:sp>
        <p:nvSpPr>
          <p:cNvPr id="26" name="TextBox 25"/>
          <p:cNvSpPr txBox="1"/>
          <p:nvPr/>
        </p:nvSpPr>
        <p:spPr>
          <a:xfrm>
            <a:off x="2953512" y="3785615"/>
            <a:ext cx="2386584" cy="210312"/>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框架行为</a:t>
            </a:r>
          </a:p>
        </p:txBody>
      </p:sp>
      <p:sp>
        <p:nvSpPr>
          <p:cNvPr id="27" name="TextBox 26"/>
          <p:cNvSpPr txBox="1"/>
          <p:nvPr/>
        </p:nvSpPr>
        <p:spPr>
          <a:xfrm>
            <a:off x="5541264" y="3785615"/>
            <a:ext cx="5696712" cy="210312"/>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User Client 接入</a:t>
            </a:r>
          </a:p>
        </p:txBody>
      </p:sp>
      <p:sp>
        <p:nvSpPr>
          <p:cNvPr id="28" name="Rounded Rectangle 27"/>
          <p:cNvSpPr/>
          <p:nvPr/>
        </p:nvSpPr>
        <p:spPr>
          <a:xfrm>
            <a:off x="548640" y="4096511"/>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22376" y="4169663"/>
            <a:ext cx="2048256" cy="356616"/>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会话身份</a:t>
            </a:r>
          </a:p>
        </p:txBody>
      </p:sp>
      <p:sp>
        <p:nvSpPr>
          <p:cNvPr id="30" name="TextBox 29"/>
          <p:cNvSpPr txBox="1"/>
          <p:nvPr/>
        </p:nvSpPr>
        <p:spPr>
          <a:xfrm>
            <a:off x="2953512" y="4169663"/>
            <a:ext cx="2386584" cy="356616"/>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沿用同一 session</a:t>
            </a:r>
          </a:p>
        </p:txBody>
      </p:sp>
      <p:sp>
        <p:nvSpPr>
          <p:cNvPr id="31" name="TextBox 30"/>
          <p:cNvSpPr txBox="1"/>
          <p:nvPr/>
        </p:nvSpPr>
        <p:spPr>
          <a:xfrm>
            <a:off x="5541264" y="4105656"/>
            <a:ext cx="5696712" cy="42062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Python SDK 自动维护；自定义客户端保存</a:t>
            </a:r>
          </a:p>
          <a:p>
            <a:pPr algn="l">
              <a:lnSpc>
                <a:spcPct val="110000"/>
              </a:lnSpc>
              <a:spcAft>
                <a:spcPts val="0"/>
              </a:spcAft>
            </a:pPr>
            <a:r>
              <a:rPr sz="1180" b="0" lang="zh-CN">
                <a:solidFill>
                  <a:srgbClr val="142B45"/>
                </a:solidFill>
                <a:latin typeface="Noto Sans CJK SC"/>
                <a:ea typeface="Noto Sans CJK SC"/>
                <a:cs typeface="Noto Sans CJK SC"/>
              </a:rPr>
              <a:t>session ID 与 resume token</a:t>
            </a:r>
          </a:p>
        </p:txBody>
      </p:sp>
      <p:sp>
        <p:nvSpPr>
          <p:cNvPr id="32" name="Rounded Rectangle 31"/>
          <p:cNvSpPr/>
          <p:nvPr/>
        </p:nvSpPr>
        <p:spPr>
          <a:xfrm>
            <a:off x="548640" y="4599432"/>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22376" y="4672584"/>
            <a:ext cx="2048256" cy="356616"/>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连接绑定</a:t>
            </a:r>
          </a:p>
        </p:txBody>
      </p:sp>
      <p:sp>
        <p:nvSpPr>
          <p:cNvPr id="34" name="TextBox 33"/>
          <p:cNvSpPr txBox="1"/>
          <p:nvPr/>
        </p:nvSpPr>
        <p:spPr>
          <a:xfrm>
            <a:off x="2953512" y="4672584"/>
            <a:ext cx="2386584" cy="356616"/>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新连接接管原会话</a:t>
            </a:r>
          </a:p>
        </p:txBody>
      </p:sp>
      <p:sp>
        <p:nvSpPr>
          <p:cNvPr id="35" name="TextBox 34"/>
          <p:cNvSpPr txBox="1"/>
          <p:nvPr/>
        </p:nvSpPr>
        <p:spPr>
          <a:xfrm>
            <a:off x="5541264" y="4672584"/>
            <a:ext cx="5696712" cy="356616"/>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重新建立 WebSocket，发送 session.resume</a:t>
            </a:r>
          </a:p>
        </p:txBody>
      </p:sp>
      <p:sp>
        <p:nvSpPr>
          <p:cNvPr id="36" name="Rounded Rectangle 35"/>
          <p:cNvSpPr/>
          <p:nvPr/>
        </p:nvSpPr>
        <p:spPr>
          <a:xfrm>
            <a:off x="548640" y="5102352"/>
            <a:ext cx="11082528" cy="6126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5175504"/>
            <a:ext cx="2048256" cy="576072"/>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事件续传</a:t>
            </a:r>
          </a:p>
        </p:txBody>
      </p:sp>
      <p:sp>
        <p:nvSpPr>
          <p:cNvPr id="38" name="TextBox 37"/>
          <p:cNvSpPr txBox="1"/>
          <p:nvPr/>
        </p:nvSpPr>
        <p:spPr>
          <a:xfrm>
            <a:off x="2953512" y="5175504"/>
            <a:ext cx="2386584" cy="576072"/>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续传保留的 event</a:t>
            </a:r>
          </a:p>
        </p:txBody>
      </p:sp>
      <p:sp>
        <p:nvSpPr>
          <p:cNvPr id="39" name="TextBox 38"/>
          <p:cNvSpPr txBox="1"/>
          <p:nvPr/>
        </p:nvSpPr>
        <p:spPr>
          <a:xfrm>
            <a:off x="5541264" y="5175504"/>
            <a:ext cx="5696712" cy="576072"/>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携带最后接收的 event position</a:t>
            </a:r>
          </a:p>
          <a:p>
            <a:pPr algn="l">
              <a:lnSpc>
                <a:spcPct val="110000"/>
              </a:lnSpc>
              <a:spcAft>
                <a:spcPts val="0"/>
              </a:spcAft>
            </a:pPr>
            <a:r>
              <a:rPr sz="1150" b="0" lang="zh-CN">
                <a:solidFill>
                  <a:srgbClr val="142B45"/>
                </a:solidFill>
                <a:latin typeface="Noto Sans CJK SC"/>
                <a:ea typeface="Noto Sans CJK SC"/>
                <a:cs typeface="Noto Sans CJK SC"/>
              </a:rPr>
              <a:t>接收仍在 replay window 内的事件</a:t>
            </a:r>
          </a:p>
        </p:txBody>
      </p:sp>
      <p:sp>
        <p:nvSpPr>
          <p:cNvPr id="40" name="Rounded Rectangle 39"/>
          <p:cNvSpPr/>
          <p:nvPr/>
        </p:nvSpPr>
        <p:spPr>
          <a:xfrm>
            <a:off x="548640" y="5961888"/>
            <a:ext cx="11082528" cy="33832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31520" y="6035040"/>
            <a:ext cx="10716768"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526985"/>
                </a:solidFill>
                <a:latin typeface="Noto Sans CJK SC"/>
                <a:ea typeface="Noto Sans CJK SC"/>
                <a:cs typeface="Noto Sans CJK SC"/>
              </a:rPr>
              <a:t>PersonaPlex demo：断连后新建 session，并重新应用原有音色与 persona。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lang="zh-CN">
                <a:solidFill>
                  <a:srgbClr val="142B45"/>
                </a:solidFill>
                <a:latin typeface="Noto Sans CJK SC"/>
                <a:ea typeface="Noto Sans CJK SC"/>
                <a:cs typeface="Noto Sans CJK SC"/>
              </a:rPr>
              <a:t>性能优化方法与持续改进</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减少重复工作，让 GPU 更多时间用于有效计算。</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09 / 12</a:t>
            </a:r>
          </a:p>
        </p:txBody>
      </p:sp>
      <p:sp>
        <p:nvSpPr>
          <p:cNvPr id="210" name="Optimization method"/>
          <p:cNvSpPr txBox="1"/>
          <p:nvPr/>
        </p:nvSpPr>
        <p:spPr>
          <a:xfrm>
            <a:off x="594360" y="2084832"/>
            <a:ext cx="5852160" cy="274320"/>
          </a:xfrm>
          <a:prstGeom prst="rect">
            <a:avLst/>
          </a:prstGeom>
          <a:noFill/>
        </p:spPr>
        <p:txBody>
          <a:bodyPr wrap="square" lIns="0" rIns="0" tIns="0" bIns="0" anchor="t">
            <a:spAutoFit/>
          </a:bodyPr>
          <a:lstStyle/>
          <a:p>
            <a:pPr algn="l">
              <a:lnSpc>
                <a:spcPct val="110000"/>
              </a:lnSpc>
              <a:spcAft>
                <a:spcPts val="0"/>
              </a:spcAft>
            </a:pPr>
            <a:r>
              <a:rPr sz="1550" b="1" lang="zh-CN">
                <a:solidFill>
                  <a:srgbClr val="16304E"/>
                </a:solidFill>
                <a:latin typeface="Noto Sans CJK SC"/>
                <a:ea typeface="Noto Sans CJK SC"/>
                <a:cs typeface="Noto Sans CJK SC"/>
              </a:rPr>
              <a:t>CUDA Graphs：减少重复调度</a:t>
            </a:r>
          </a:p>
        </p:txBody>
      </p:sp>
      <p:sp>
        <p:nvSpPr>
          <p:cNvPr id="211" name="How it reduces work"/>
          <p:cNvSpPr txBox="1"/>
          <p:nvPr/>
        </p:nvSpPr>
        <p:spPr>
          <a:xfrm>
            <a:off x="594360" y="2395728"/>
            <a:ext cx="5833872" cy="246888"/>
          </a:xfrm>
          <a:prstGeom prst="rect">
            <a:avLst/>
          </a:prstGeom>
          <a:noFill/>
        </p:spPr>
        <p:txBody>
          <a:bodyPr wrap="square" lIns="0" rIns="0" tIns="0" bIns="0" anchor="t">
            <a:spAutoFit/>
          </a:bodyPr>
          <a:lstStyle/>
          <a:p>
            <a:pPr algn="l">
              <a:lnSpc>
                <a:spcPct val="110000"/>
              </a:lnSpc>
              <a:spcAft>
                <a:spcPts val="0"/>
              </a:spcAft>
            </a:pPr>
            <a:r>
              <a:rPr sz="1250" b="0" lang="zh-CN">
                <a:solidFill>
                  <a:srgbClr val="526985"/>
                </a:solidFill>
                <a:latin typeface="Noto Sans CJK SC"/>
                <a:ea typeface="Noto Sans CJK SC"/>
                <a:cs typeface="Noto Sans CJK SC"/>
              </a:rPr>
              <a:t>复用准备好的 GPU 执行流程，降低 CPU 调度开销。</a:t>
            </a:r>
          </a:p>
        </p:txBody>
      </p:sp>
      <p:sp>
        <p:nvSpPr>
          <p:cNvPr id="212" name="Model examples"/>
          <p:cNvSpPr txBox="1"/>
          <p:nvPr/>
        </p:nvSpPr>
        <p:spPr>
          <a:xfrm>
            <a:off x="594360" y="2670048"/>
            <a:ext cx="5833872"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008E96"/>
                </a:solidFill>
                <a:latin typeface="Noto Sans CJK SC"/>
                <a:ea typeface="Noto Sans CJK SC"/>
                <a:cs typeface="Noto Sans CJK SC"/>
              </a:rPr>
              <a:t>MiniCPM-o 4.5 · Qwen3-Omni（图像）· PersonaPlex</a:t>
            </a:r>
          </a:p>
        </p:txBody>
      </p:sp>
      <p:sp>
        <p:nvSpPr>
          <p:cNvPr id="213" name="Optimization method"/>
          <p:cNvSpPr txBox="1"/>
          <p:nvPr/>
        </p:nvSpPr>
        <p:spPr>
          <a:xfrm>
            <a:off x="594360" y="3017520"/>
            <a:ext cx="5852160" cy="274320"/>
          </a:xfrm>
          <a:prstGeom prst="rect">
            <a:avLst/>
          </a:prstGeom>
          <a:noFill/>
        </p:spPr>
        <p:txBody>
          <a:bodyPr wrap="square" lIns="0" rIns="0" tIns="0" bIns="0" anchor="t">
            <a:spAutoFit/>
          </a:bodyPr>
          <a:lstStyle/>
          <a:p>
            <a:pPr algn="l">
              <a:lnSpc>
                <a:spcPct val="110000"/>
              </a:lnSpc>
              <a:spcAft>
                <a:spcPts val="0"/>
              </a:spcAft>
            </a:pPr>
            <a:r>
              <a:rPr sz="1550" b="1" lang="zh-CN">
                <a:solidFill>
                  <a:srgbClr val="16304E"/>
                </a:solidFill>
                <a:latin typeface="Noto Sans CJK SC"/>
                <a:ea typeface="Noto Sans CJK SC"/>
                <a:cs typeface="Noto Sans CJK SC"/>
              </a:rPr>
              <a:t>Kernel fusion：合并小操作</a:t>
            </a:r>
          </a:p>
        </p:txBody>
      </p:sp>
      <p:sp>
        <p:nvSpPr>
          <p:cNvPr id="214" name="How it reduces work"/>
          <p:cNvSpPr txBox="1"/>
          <p:nvPr/>
        </p:nvSpPr>
        <p:spPr>
          <a:xfrm>
            <a:off x="594360" y="3328416"/>
            <a:ext cx="5833872" cy="246888"/>
          </a:xfrm>
          <a:prstGeom prst="rect">
            <a:avLst/>
          </a:prstGeom>
          <a:noFill/>
        </p:spPr>
        <p:txBody>
          <a:bodyPr wrap="square" lIns="0" rIns="0" tIns="0" bIns="0" anchor="t">
            <a:spAutoFit/>
          </a:bodyPr>
          <a:lstStyle/>
          <a:p>
            <a:pPr algn="l">
              <a:lnSpc>
                <a:spcPct val="110000"/>
              </a:lnSpc>
              <a:spcAft>
                <a:spcPts val="0"/>
              </a:spcAft>
            </a:pPr>
            <a:r>
              <a:rPr sz="1250" b="0" lang="zh-CN">
                <a:solidFill>
                  <a:srgbClr val="526985"/>
                </a:solidFill>
                <a:latin typeface="Noto Sans CJK SC"/>
                <a:ea typeface="Noto Sans CJK SC"/>
                <a:cs typeface="Noto Sans CJK SC"/>
              </a:rPr>
              <a:t>减少 GPU 任务启动次数和中间数据搬运。</a:t>
            </a:r>
          </a:p>
        </p:txBody>
      </p:sp>
      <p:sp>
        <p:nvSpPr>
          <p:cNvPr id="215" name="Model examples"/>
          <p:cNvSpPr txBox="1"/>
          <p:nvPr/>
        </p:nvSpPr>
        <p:spPr>
          <a:xfrm>
            <a:off x="594360" y="3602736"/>
            <a:ext cx="5833872"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008E96"/>
                </a:solidFill>
                <a:latin typeface="Noto Sans CJK SC"/>
                <a:ea typeface="Noto Sans CJK SC"/>
                <a:cs typeface="Noto Sans CJK SC"/>
              </a:rPr>
              <a:t>MiniCPM-o 4.5</a:t>
            </a:r>
          </a:p>
        </p:txBody>
      </p:sp>
      <p:sp>
        <p:nvSpPr>
          <p:cNvPr id="216" name="Optimization method"/>
          <p:cNvSpPr txBox="1"/>
          <p:nvPr/>
        </p:nvSpPr>
        <p:spPr>
          <a:xfrm>
            <a:off x="594360" y="3950208"/>
            <a:ext cx="5852160" cy="274320"/>
          </a:xfrm>
          <a:prstGeom prst="rect">
            <a:avLst/>
          </a:prstGeom>
          <a:noFill/>
        </p:spPr>
        <p:txBody>
          <a:bodyPr wrap="square" lIns="0" rIns="0" tIns="0" bIns="0" anchor="t">
            <a:spAutoFit/>
          </a:bodyPr>
          <a:lstStyle/>
          <a:p>
            <a:pPr algn="l">
              <a:lnSpc>
                <a:spcPct val="110000"/>
              </a:lnSpc>
              <a:spcAft>
                <a:spcPts val="0"/>
              </a:spcAft>
            </a:pPr>
            <a:r>
              <a:rPr sz="1550" b="1" lang="zh-CN">
                <a:solidFill>
                  <a:srgbClr val="16304E"/>
                </a:solidFill>
                <a:latin typeface="Noto Sans CJK SC"/>
                <a:ea typeface="Noto Sans CJK SC"/>
                <a:cs typeface="Noto Sans CJK SC"/>
              </a:rPr>
              <a:t>Session batching：多路会话一起算</a:t>
            </a:r>
          </a:p>
        </p:txBody>
      </p:sp>
      <p:sp>
        <p:nvSpPr>
          <p:cNvPr id="217" name="How it reduces work"/>
          <p:cNvSpPr txBox="1"/>
          <p:nvPr/>
        </p:nvSpPr>
        <p:spPr>
          <a:xfrm>
            <a:off x="594360" y="4261104"/>
            <a:ext cx="5833872" cy="246888"/>
          </a:xfrm>
          <a:prstGeom prst="rect">
            <a:avLst/>
          </a:prstGeom>
          <a:noFill/>
        </p:spPr>
        <p:txBody>
          <a:bodyPr wrap="square" lIns="0" rIns="0" tIns="0" bIns="0" anchor="t">
            <a:spAutoFit/>
          </a:bodyPr>
          <a:lstStyle/>
          <a:p>
            <a:pPr algn="l">
              <a:lnSpc>
                <a:spcPct val="110000"/>
              </a:lnSpc>
              <a:spcAft>
                <a:spcPts val="0"/>
              </a:spcAft>
            </a:pPr>
            <a:r>
              <a:rPr sz="1250" b="0" lang="zh-CN">
                <a:solidFill>
                  <a:srgbClr val="526985"/>
                </a:solidFill>
                <a:latin typeface="Noto Sans CJK SC"/>
                <a:ea typeface="Noto Sans CJK SC"/>
                <a:cs typeface="Noto Sans CJK SC"/>
              </a:rPr>
              <a:t>将多个会话的新音频帧合成一批处理。</a:t>
            </a:r>
          </a:p>
        </p:txBody>
      </p:sp>
      <p:sp>
        <p:nvSpPr>
          <p:cNvPr id="218" name="Model examples"/>
          <p:cNvSpPr txBox="1"/>
          <p:nvPr/>
        </p:nvSpPr>
        <p:spPr>
          <a:xfrm>
            <a:off x="594360" y="4535424"/>
            <a:ext cx="5833872"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008E96"/>
                </a:solidFill>
                <a:latin typeface="Noto Sans CJK SC"/>
                <a:ea typeface="Noto Sans CJK SC"/>
                <a:cs typeface="Noto Sans CJK SC"/>
              </a:rPr>
              <a:t>PersonaPlex</a:t>
            </a:r>
          </a:p>
        </p:txBody>
      </p:sp>
      <p:sp>
        <p:nvSpPr>
          <p:cNvPr id="219" name="Optimization method"/>
          <p:cNvSpPr txBox="1"/>
          <p:nvPr/>
        </p:nvSpPr>
        <p:spPr>
          <a:xfrm>
            <a:off x="594360" y="4882896"/>
            <a:ext cx="5852160" cy="274320"/>
          </a:xfrm>
          <a:prstGeom prst="rect">
            <a:avLst/>
          </a:prstGeom>
          <a:noFill/>
        </p:spPr>
        <p:txBody>
          <a:bodyPr wrap="square" lIns="0" rIns="0" tIns="0" bIns="0" anchor="t">
            <a:spAutoFit/>
          </a:bodyPr>
          <a:lstStyle/>
          <a:p>
            <a:pPr algn="l">
              <a:lnSpc>
                <a:spcPct val="110000"/>
              </a:lnSpc>
              <a:spcAft>
                <a:spcPts val="0"/>
              </a:spcAft>
            </a:pPr>
            <a:r>
              <a:rPr sz="1550" b="1" lang="zh-CN">
                <a:solidFill>
                  <a:srgbClr val="16304E"/>
                </a:solidFill>
                <a:latin typeface="Noto Sans CJK SC"/>
                <a:ea typeface="Noto Sans CJK SC"/>
                <a:cs typeface="Noto Sans CJK SC"/>
              </a:rPr>
              <a:t>Incremental decoding：只解码新音频</a:t>
            </a:r>
          </a:p>
        </p:txBody>
      </p:sp>
      <p:sp>
        <p:nvSpPr>
          <p:cNvPr id="220" name="How it reduces work"/>
          <p:cNvSpPr txBox="1"/>
          <p:nvPr/>
        </p:nvSpPr>
        <p:spPr>
          <a:xfrm>
            <a:off x="594360" y="5193792"/>
            <a:ext cx="5833872" cy="246888"/>
          </a:xfrm>
          <a:prstGeom prst="rect">
            <a:avLst/>
          </a:prstGeom>
          <a:noFill/>
        </p:spPr>
        <p:txBody>
          <a:bodyPr wrap="square" lIns="0" rIns="0" tIns="0" bIns="0" anchor="t">
            <a:spAutoFit/>
          </a:bodyPr>
          <a:lstStyle/>
          <a:p>
            <a:pPr algn="l">
              <a:lnSpc>
                <a:spcPct val="110000"/>
              </a:lnSpc>
              <a:spcAft>
                <a:spcPts val="0"/>
              </a:spcAft>
            </a:pPr>
            <a:r>
              <a:rPr sz="1250" b="0" lang="zh-CN">
                <a:solidFill>
                  <a:srgbClr val="526985"/>
                </a:solidFill>
                <a:latin typeface="Noto Sans CJK SC"/>
                <a:ea typeface="Noto Sans CJK SC"/>
                <a:cs typeface="Noto Sans CJK SC"/>
              </a:rPr>
              <a:t>只处理新增音频帧，不重复解码之前的内容。</a:t>
            </a:r>
          </a:p>
        </p:txBody>
      </p:sp>
      <p:sp>
        <p:nvSpPr>
          <p:cNvPr id="221" name="Model examples"/>
          <p:cNvSpPr txBox="1"/>
          <p:nvPr/>
        </p:nvSpPr>
        <p:spPr>
          <a:xfrm>
            <a:off x="594360" y="5468112"/>
            <a:ext cx="5833872"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008E96"/>
                </a:solidFill>
                <a:latin typeface="Noto Sans CJK SC"/>
                <a:ea typeface="Noto Sans CJK SC"/>
                <a:cs typeface="Noto Sans CJK SC"/>
              </a:rPr>
              <a:t>PersonaPlex</a:t>
            </a:r>
          </a:p>
        </p:txBody>
      </p:sp>
      <p:sp>
        <p:nvSpPr>
          <p:cNvPr id="230" name="Chart test configuration"/>
          <p:cNvSpPr txBox="1"/>
          <p:nvPr/>
        </p:nvSpPr>
        <p:spPr>
          <a:xfrm>
            <a:off x="6766560" y="2020824"/>
            <a:ext cx="4690872" cy="237744"/>
          </a:xfrm>
          <a:prstGeom prst="rect">
            <a:avLst/>
          </a:prstGeom>
          <a:noFill/>
        </p:spPr>
        <p:txBody>
          <a:bodyPr wrap="square" lIns="0" rIns="0" tIns="0" bIns="0" anchor="t">
            <a:spAutoFit/>
          </a:bodyPr>
          <a:lstStyle/>
          <a:p>
            <a:pPr algn="l">
              <a:lnSpc>
                <a:spcPct val="110000"/>
              </a:lnSpc>
              <a:spcAft>
                <a:spcPts val="0"/>
              </a:spcAft>
            </a:pPr>
            <a:r>
              <a:rPr sz="1200" b="0" lang="zh-CN">
                <a:solidFill>
                  <a:srgbClr val="526985"/>
                </a:solidFill>
                <a:latin typeface="Noto Sans CJK SC"/>
                <a:ea typeface="Noto Sans CJK SC"/>
                <a:cs typeface="Noto Sans CJK SC"/>
              </a:rPr>
              <a:t>H100 · 8 并发请求 · Seed-TTS</a:t>
            </a:r>
          </a:p>
        </p:txBody>
      </p:sp>
      <p:graphicFrame>
        <p:nvGraphicFramePr>
          <p:cNvPr id="231" name="MiniCPM Audio RTF trend"/>
          <p:cNvGraphicFramePr/>
          <p:nvPr/>
        </p:nvGraphicFramePr>
        <p:xfrm>
          <a:off x="6601968" y="2304288"/>
          <a:ext cx="5047488" cy="3447288"/>
        </p:xfrm>
        <a:graphic>
          <a:graphicData uri="http://schemas.openxmlformats.org/drawingml/2006/chart">
            <ns0:chart xmlns:ns0="http://schemas.openxmlformats.org/drawingml/2006/chart" r:id="rIdRtfTrend"/>
          </a:graphicData>
        </a:graphic>
      </p:graphicFrame>
      <p:sp>
        <p:nvSpPr>
          <p:cNvPr id="232" name="Metric direction"/>
          <p:cNvSpPr txBox="1"/>
          <p:nvPr/>
        </p:nvSpPr>
        <p:spPr>
          <a:xfrm>
            <a:off x="7772400" y="5705856"/>
            <a:ext cx="3703320"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008E96"/>
                </a:solidFill>
                <a:latin typeface="Noto Sans CJK SC"/>
                <a:ea typeface="Noto Sans CJK SC"/>
                <a:cs typeface="Noto Sans CJK SC"/>
              </a:rPr>
              <a:t>Audio RTF 越低越好</a:t>
            </a:r>
          </a:p>
        </p:txBody>
      </p:sp>
      <p:sp>
        <p:nvSpPr>
          <p:cNvPr id="233" name="Benchmark scope and metric"/>
          <p:cNvSpPr txBox="1"/>
          <p:nvPr/>
        </p:nvSpPr>
        <p:spPr>
          <a:xfrm>
            <a:off x="594360" y="6071616"/>
            <a:ext cx="10972800" cy="320040"/>
          </a:xfrm>
          <a:prstGeom prst="rect">
            <a:avLst/>
          </a:prstGeom>
          <a:noFill/>
          <a:ln>
            <a:noFill/>
          </a:ln>
        </p:spPr>
        <p:txBody>
          <a:bodyPr wrap="square" lIns="0" rIns="0" tIns="0" bIns="0" anchor="t">
            <a:noAutofit/>
          </a:bodyPr>
          <a:lstStyle/>
          <a:p>
            <a:pPr algn="l">
              <a:lnSpc>
                <a:spcPct val="106000"/>
              </a:lnSpc>
              <a:spcAft>
                <a:spcPts val="0"/>
              </a:spcAft>
            </a:pPr>
            <a:r>
              <a:rPr sz="1050" b="0" lang="zh-CN">
                <a:solidFill>
                  <a:srgbClr val="526985"/>
                </a:solidFill>
                <a:latin typeface="Noto Sans CJK SC"/>
                <a:ea typeface="Noto Sans CJK SC"/>
                <a:cs typeface="Noto Sans CJK SC"/>
              </a:rPr>
              <a:t>Seed-TTS 语音生成，Chat Completions 接口 · 测试日期：2026 年 10 月 5–8 日。</a:t>
            </a:r>
          </a:p>
          <a:p>
            <a:pPr algn="l">
              <a:lnSpc>
                <a:spcPct val="106000"/>
              </a:lnSpc>
              <a:spcAft>
                <a:spcPts val="0"/>
              </a:spcAft>
            </a:pPr>
            <a:r>
              <a:rPr sz="1050" b="0" lang="zh-CN">
                <a:solidFill>
                  <a:srgbClr val="526985"/>
                </a:solidFill>
                <a:latin typeface="Noto Sans CJK SC"/>
                <a:ea typeface="Noto Sans CJK SC"/>
                <a:cs typeface="Noto Sans CJK SC"/>
              </a:rPr>
              <a:t>Audio RTF = 音频生成耗时 / 输出音频时长；按请求取平均。</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测评与性能</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900" b="1" lang="zh-CN">
                <a:solidFill>
                  <a:srgbClr val="142B45"/>
                </a:solidFill>
                <a:latin typeface="Noto Sans CJK SC"/>
                <a:ea typeface="Noto Sans CJK SC"/>
                <a:cs typeface="Noto Sans CJK SC"/>
              </a:rPr>
              <a:t>从首包速度到持续交互质量</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OmniInteract 与 Omni-DuplexEval 结合实时会话执行，评估响应时序与交互质量。</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10 / 12</a:t>
            </a:r>
          </a:p>
        </p:txBody>
      </p:sp>
      <p:sp>
        <p:nvSpPr>
          <p:cNvPr id="12" name="TextBox 11"/>
          <p:cNvSpPr txBox="1"/>
          <p:nvPr/>
        </p:nvSpPr>
        <p:spPr>
          <a:xfrm>
            <a:off x="9966960" y="2157984"/>
            <a:ext cx="1645920" cy="192024"/>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时间关系示意</a:t>
            </a:r>
          </a:p>
        </p:txBody>
      </p:sp>
      <p:sp>
        <p:nvSpPr>
          <p:cNvPr id="13" name="TextBox 12"/>
          <p:cNvSpPr txBox="1"/>
          <p:nvPr/>
        </p:nvSpPr>
        <p:spPr>
          <a:xfrm>
            <a:off x="1764792" y="2221992"/>
            <a:ext cx="1508760" cy="201168"/>
          </a:xfrm>
          <a:prstGeom prst="rect">
            <a:avLst/>
          </a:prstGeom>
          <a:noFill/>
        </p:spPr>
        <p:txBody>
          <a:bodyPr wrap="square" lIns="0" rIns="0" tIns="0" bIns="0" anchor="t">
            <a:spAutoFit/>
          </a:bodyPr>
          <a:lstStyle/>
          <a:p>
            <a:pPr algn="l">
              <a:lnSpc>
                <a:spcPct val="110000"/>
              </a:lnSpc>
              <a:spcAft>
                <a:spcPts val="0"/>
              </a:spcAft>
            </a:pPr>
            <a:r>
              <a:rPr sz="1100" b="1" lang="zh-CN">
                <a:solidFill>
                  <a:srgbClr val="142B45"/>
                </a:solidFill>
                <a:latin typeface="Noto Sans CJK SC"/>
                <a:ea typeface="Noto Sans CJK SC"/>
                <a:cs typeface="Noto Sans CJK SC"/>
              </a:rPr>
              <a:t>计时起点</a:t>
            </a:r>
          </a:p>
        </p:txBody>
      </p:sp>
      <p:sp>
        <p:nvSpPr>
          <p:cNvPr id="14" name="TextBox 13"/>
          <p:cNvSpPr txBox="1"/>
          <p:nvPr/>
        </p:nvSpPr>
        <p:spPr>
          <a:xfrm>
            <a:off x="5166360" y="2221992"/>
            <a:ext cx="3291840" cy="201168"/>
          </a:xfrm>
          <a:prstGeom prst="rect">
            <a:avLst/>
          </a:prstGeom>
          <a:noFill/>
        </p:spPr>
        <p:txBody>
          <a:bodyPr wrap="square" lIns="0" rIns="0" tIns="0" bIns="0" anchor="t">
            <a:spAutoFit/>
          </a:bodyPr>
          <a:lstStyle/>
          <a:p>
            <a:pPr algn="l">
              <a:lnSpc>
                <a:spcPct val="110000"/>
              </a:lnSpc>
              <a:spcAft>
                <a:spcPts val="0"/>
              </a:spcAft>
            </a:pPr>
            <a:r>
              <a:rPr sz="1100" b="1" lang="zh-CN">
                <a:solidFill>
                  <a:srgbClr val="327CEC"/>
                </a:solidFill>
                <a:latin typeface="Noto Sans CJK SC"/>
                <a:ea typeface="Noto Sans CJK SC"/>
                <a:cs typeface="Noto Sans CJK SC"/>
              </a:rPr>
              <a:t>首个音频包到达</a:t>
            </a:r>
          </a:p>
        </p:txBody>
      </p:sp>
      <p:cxnSp>
        <p:nvCxnSpPr>
          <p:cNvPr id="15" name="Connector 14"/>
          <p:cNvCxnSpPr/>
          <p:nvPr/>
        </p:nvCxnSpPr>
        <p:spPr>
          <a:xfrm>
            <a:off x="1773936" y="2670048"/>
            <a:ext cx="3758184" cy="0"/>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1773936"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a:off x="5532120"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3200400" y="2423160"/>
            <a:ext cx="1005840" cy="201168"/>
          </a:xfrm>
          <a:prstGeom prst="rect">
            <a:avLst/>
          </a:prstGeom>
          <a:noFill/>
        </p:spPr>
        <p:txBody>
          <a:bodyPr wrap="square" lIns="0" rIns="0" tIns="0" bIns="0" anchor="t">
            <a:spAutoFit/>
          </a:bodyPr>
          <a:lstStyle/>
          <a:p>
            <a:pPr algn="ctr">
              <a:lnSpc>
                <a:spcPct val="110000"/>
              </a:lnSpc>
              <a:spcAft>
                <a:spcPts val="0"/>
              </a:spcAft>
            </a:pPr>
            <a:r>
              <a:rPr sz="1200" b="1">
                <a:solidFill>
                  <a:srgbClr val="327CEC"/>
                </a:solidFill>
                <a:latin typeface="Arial"/>
                <a:ea typeface="Arial"/>
                <a:cs typeface="Arial"/>
              </a:rPr>
              <a:t>TTFP</a:t>
            </a:r>
          </a:p>
        </p:txBody>
      </p:sp>
      <p:sp>
        <p:nvSpPr>
          <p:cNvPr id="19" name="TextBox 18"/>
          <p:cNvSpPr txBox="1"/>
          <p:nvPr/>
        </p:nvSpPr>
        <p:spPr>
          <a:xfrm>
            <a:off x="594360" y="2953512"/>
            <a:ext cx="1097280" cy="356616"/>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请求 / 输出</a:t>
            </a:r>
          </a:p>
        </p:txBody>
      </p:sp>
      <p:sp>
        <p:nvSpPr>
          <p:cNvPr id="20" name="Rectangle 19"/>
          <p:cNvSpPr/>
          <p:nvPr/>
        </p:nvSpPr>
        <p:spPr>
          <a:xfrm>
            <a:off x="1773936" y="2898648"/>
            <a:ext cx="978408"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819656" y="3008376"/>
            <a:ext cx="886968" cy="192024"/>
          </a:xfrm>
          <a:prstGeom prst="rect">
            <a:avLst/>
          </a:prstGeom>
          <a:noFill/>
        </p:spPr>
        <p:txBody>
          <a:bodyPr wrap="square" lIns="0" rIns="0" tIns="0" bIns="0" anchor="t">
            <a:spAutoFit/>
          </a:bodyPr>
          <a:lstStyle/>
          <a:p>
            <a:pPr algn="ctr">
              <a:lnSpc>
                <a:spcPct val="110000"/>
              </a:lnSpc>
              <a:spcAft>
                <a:spcPts val="0"/>
              </a:spcAft>
            </a:pPr>
            <a:r>
              <a:rPr sz="1050" b="1" lang="zh-CN">
                <a:solidFill>
                  <a:srgbClr val="327CEC"/>
                </a:solidFill>
                <a:latin typeface="Noto Sans CJK SC"/>
                <a:ea typeface="Noto Sans CJK SC"/>
                <a:cs typeface="Noto Sans CJK SC"/>
              </a:rPr>
              <a:t>排队</a:t>
            </a:r>
          </a:p>
        </p:txBody>
      </p:sp>
      <p:sp>
        <p:nvSpPr>
          <p:cNvPr id="22" name="Rectangle 21"/>
          <p:cNvSpPr/>
          <p:nvPr/>
        </p:nvSpPr>
        <p:spPr>
          <a:xfrm>
            <a:off x="2807208" y="2898648"/>
            <a:ext cx="1591056"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2852927" y="3008376"/>
            <a:ext cx="1499616" cy="192024"/>
          </a:xfrm>
          <a:prstGeom prst="rect">
            <a:avLst/>
          </a:prstGeom>
          <a:noFill/>
        </p:spPr>
        <p:txBody>
          <a:bodyPr wrap="square" lIns="0" rIns="0" tIns="0" bIns="0" anchor="t">
            <a:spAutoFit/>
          </a:bodyPr>
          <a:lstStyle/>
          <a:p>
            <a:pPr algn="ctr">
              <a:lnSpc>
                <a:spcPct val="110000"/>
              </a:lnSpc>
              <a:spcAft>
                <a:spcPts val="0"/>
              </a:spcAft>
            </a:pPr>
            <a:r>
              <a:rPr sz="1050" b="1" lang="zh-CN">
                <a:solidFill>
                  <a:srgbClr val="327CEC"/>
                </a:solidFill>
                <a:latin typeface="Noto Sans CJK SC"/>
                <a:ea typeface="Noto Sans CJK SC"/>
                <a:cs typeface="Noto Sans CJK SC"/>
              </a:rPr>
              <a:t>Stage 计算</a:t>
            </a:r>
          </a:p>
        </p:txBody>
      </p:sp>
      <p:sp>
        <p:nvSpPr>
          <p:cNvPr id="24" name="Rectangle 23"/>
          <p:cNvSpPr/>
          <p:nvPr/>
        </p:nvSpPr>
        <p:spPr>
          <a:xfrm>
            <a:off x="4453128" y="2898648"/>
            <a:ext cx="1014984"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498848" y="3008376"/>
            <a:ext cx="923544" cy="192024"/>
          </a:xfrm>
          <a:prstGeom prst="rect">
            <a:avLst/>
          </a:prstGeom>
          <a:noFill/>
        </p:spPr>
        <p:txBody>
          <a:bodyPr wrap="square" lIns="0" rIns="0" tIns="0" bIns="0" anchor="t">
            <a:spAutoFit/>
          </a:bodyPr>
          <a:lstStyle/>
          <a:p>
            <a:pPr algn="ctr">
              <a:lnSpc>
                <a:spcPct val="110000"/>
              </a:lnSpc>
              <a:spcAft>
                <a:spcPts val="0"/>
              </a:spcAft>
            </a:pPr>
            <a:r>
              <a:rPr sz="1050" b="1" lang="zh-CN">
                <a:solidFill>
                  <a:srgbClr val="327CEC"/>
                </a:solidFill>
                <a:latin typeface="Noto Sans CJK SC"/>
                <a:ea typeface="Noto Sans CJK SC"/>
                <a:cs typeface="Noto Sans CJK SC"/>
              </a:rPr>
              <a:t>传输</a:t>
            </a:r>
          </a:p>
        </p:txBody>
      </p:sp>
      <p:sp>
        <p:nvSpPr>
          <p:cNvPr id="26" name="Rectangle 25"/>
          <p:cNvSpPr/>
          <p:nvPr/>
        </p:nvSpPr>
        <p:spPr>
          <a:xfrm>
            <a:off x="5532120" y="2898648"/>
            <a:ext cx="47548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6153912" y="2898648"/>
            <a:ext cx="68580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6995160" y="2898648"/>
            <a:ext cx="74980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7918704" y="2898648"/>
            <a:ext cx="86868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8961120" y="2898648"/>
            <a:ext cx="98755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10104120" y="2898648"/>
            <a:ext cx="107899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6510528" y="3374136"/>
            <a:ext cx="4535424" cy="201168"/>
          </a:xfrm>
          <a:prstGeom prst="rect">
            <a:avLst/>
          </a:prstGeom>
          <a:noFill/>
        </p:spPr>
        <p:txBody>
          <a:bodyPr wrap="square" lIns="0" rIns="0" tIns="0" bIns="0" anchor="t">
            <a:spAutoFit/>
          </a:bodyPr>
          <a:lstStyle/>
          <a:p>
            <a:pPr algn="ctr">
              <a:lnSpc>
                <a:spcPct val="110000"/>
              </a:lnSpc>
              <a:spcAft>
                <a:spcPts val="0"/>
              </a:spcAft>
            </a:pPr>
            <a:r>
              <a:rPr sz="1100" b="0" lang="zh-CN">
                <a:solidFill>
                  <a:srgbClr val="327CEC"/>
                </a:solidFill>
                <a:latin typeface="Noto Sans CJK SC"/>
                <a:ea typeface="Noto Sans CJK SC"/>
                <a:cs typeface="Noto Sans CJK SC"/>
              </a:rPr>
              <a:t>音频增量生成与传输</a:t>
            </a:r>
          </a:p>
        </p:txBody>
      </p:sp>
      <p:sp>
        <p:nvSpPr>
          <p:cNvPr id="33" name="TextBox 32"/>
          <p:cNvSpPr txBox="1"/>
          <p:nvPr/>
        </p:nvSpPr>
        <p:spPr>
          <a:xfrm>
            <a:off x="594360" y="3785615"/>
            <a:ext cx="1115568" cy="320040"/>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客户端播放</a:t>
            </a:r>
          </a:p>
        </p:txBody>
      </p:sp>
      <p:cxnSp>
        <p:nvCxnSpPr>
          <p:cNvPr id="34" name="Connector 33"/>
          <p:cNvCxnSpPr/>
          <p:nvPr/>
        </p:nvCxnSpPr>
        <p:spPr>
          <a:xfrm>
            <a:off x="5532120" y="3319272"/>
            <a:ext cx="0" cy="566928"/>
          </a:xfrm>
          <a:prstGeom prst="line">
            <a:avLst/>
          </a:prstGeom>
          <a:ln w="15240">
            <a:solidFill>
              <a:srgbClr val="008E96"/>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5" name="Connector 34"/>
          <p:cNvCxnSpPr/>
          <p:nvPr/>
        </p:nvCxnSpPr>
        <p:spPr>
          <a:xfrm>
            <a:off x="5532120" y="3886200"/>
            <a:ext cx="621792" cy="0"/>
          </a:xfrm>
          <a:prstGeom prst="line">
            <a:avLst/>
          </a:prstGeom>
          <a:ln w="15240">
            <a:solidFill>
              <a:srgbClr val="008E96"/>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36" name="TextBox 35"/>
          <p:cNvSpPr txBox="1"/>
          <p:nvPr/>
        </p:nvSpPr>
        <p:spPr>
          <a:xfrm>
            <a:off x="6053328" y="3648456"/>
            <a:ext cx="2240280" cy="192024"/>
          </a:xfrm>
          <a:prstGeom prst="rect">
            <a:avLst/>
          </a:prstGeom>
          <a:noFill/>
        </p:spPr>
        <p:txBody>
          <a:bodyPr wrap="square" lIns="0" rIns="0" tIns="0" bIns="0" anchor="t">
            <a:spAutoFit/>
          </a:bodyPr>
          <a:lstStyle/>
          <a:p>
            <a:pPr algn="l">
              <a:lnSpc>
                <a:spcPct val="110000"/>
              </a:lnSpc>
              <a:spcAft>
                <a:spcPts val="0"/>
              </a:spcAft>
            </a:pPr>
            <a:r>
              <a:rPr sz="1050" b="1" lang="zh-CN">
                <a:solidFill>
                  <a:srgbClr val="008E96"/>
                </a:solidFill>
                <a:latin typeface="Noto Sans CJK SC"/>
                <a:ea typeface="Noto Sans CJK SC"/>
                <a:cs typeface="Noto Sans CJK SC"/>
              </a:rPr>
              <a:t>首播</a:t>
            </a:r>
          </a:p>
        </p:txBody>
      </p:sp>
      <p:sp>
        <p:nvSpPr>
          <p:cNvPr id="37" name="Rectangle 36"/>
          <p:cNvSpPr/>
          <p:nvPr/>
        </p:nvSpPr>
        <p:spPr>
          <a:xfrm>
            <a:off x="6181344" y="3922776"/>
            <a:ext cx="5001768" cy="29260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6565392" y="3968496"/>
            <a:ext cx="4224528" cy="182880"/>
          </a:xfrm>
          <a:prstGeom prst="rect">
            <a:avLst/>
          </a:prstGeom>
          <a:noFill/>
        </p:spPr>
        <p:txBody>
          <a:bodyPr wrap="square" lIns="0" rIns="0" tIns="0" bIns="0" anchor="t">
            <a:spAutoFit/>
          </a:bodyPr>
          <a:lstStyle/>
          <a:p>
            <a:pPr algn="ctr">
              <a:lnSpc>
                <a:spcPct val="110000"/>
              </a:lnSpc>
              <a:spcAft>
                <a:spcPts val="0"/>
              </a:spcAft>
            </a:pPr>
            <a:r>
              <a:rPr sz="1050" b="1" lang="zh-CN">
                <a:solidFill>
                  <a:srgbClr val="FFFFFF"/>
                </a:solidFill>
                <a:latin typeface="Noto Sans CJK SC"/>
                <a:ea typeface="Noto Sans CJK SC"/>
                <a:cs typeface="Noto Sans CJK SC"/>
              </a:rPr>
              <a:t>播放与后续生成交叠</a:t>
            </a:r>
          </a:p>
        </p:txBody>
      </p:sp>
      <p:sp>
        <p:nvSpPr>
          <p:cNvPr id="39" name="Rounded Rectangle 38"/>
          <p:cNvSpPr/>
          <p:nvPr/>
        </p:nvSpPr>
        <p:spPr>
          <a:xfrm>
            <a:off x="594360"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ectangle 39"/>
          <p:cNvSpPr/>
          <p:nvPr/>
        </p:nvSpPr>
        <p:spPr>
          <a:xfrm>
            <a:off x="594360" y="4553712"/>
            <a:ext cx="2615184" cy="41148"/>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40664" y="4745736"/>
            <a:ext cx="2322576" cy="274320"/>
          </a:xfrm>
          <a:prstGeom prst="rect">
            <a:avLst/>
          </a:prstGeom>
          <a:noFill/>
        </p:spPr>
        <p:txBody>
          <a:bodyPr wrap="square" lIns="0" rIns="0" tIns="0" bIns="0" anchor="t">
            <a:spAutoFit/>
          </a:bodyPr>
          <a:lstStyle/>
          <a:p>
            <a:pPr algn="l">
              <a:lnSpc>
                <a:spcPct val="110000"/>
              </a:lnSpc>
              <a:spcAft>
                <a:spcPts val="0"/>
              </a:spcAft>
            </a:pPr>
            <a:r>
              <a:rPr sz="1340" b="1" lang="zh-CN">
                <a:solidFill>
                  <a:srgbClr val="327CEC"/>
                </a:solidFill>
                <a:latin typeface="Noto Sans CJK SC"/>
                <a:ea typeface="Noto Sans CJK SC"/>
                <a:cs typeface="Noto Sans CJK SC"/>
              </a:rPr>
              <a:t>响应速度</a:t>
            </a:r>
          </a:p>
        </p:txBody>
      </p:sp>
      <p:sp>
        <p:nvSpPr>
          <p:cNvPr id="42" name="TextBox 41"/>
          <p:cNvSpPr txBox="1"/>
          <p:nvPr/>
        </p:nvSpPr>
        <p:spPr>
          <a:xfrm>
            <a:off x="740664" y="5257800"/>
            <a:ext cx="2322576" cy="457200"/>
          </a:xfrm>
          <a:prstGeom prst="rect">
            <a:avLst/>
          </a:prstGeom>
          <a:noFill/>
        </p:spPr>
        <p:txBody>
          <a:bodyPr wrap="square" lIns="0" rIns="0" tIns="0" bIns="0" anchor="t">
            <a:spAutoFit/>
          </a:bodyPr>
          <a:lstStyle/>
          <a:p>
            <a:pPr algn="l">
              <a:lnSpc>
                <a:spcPct val="110000"/>
              </a:lnSpc>
              <a:spcAft>
                <a:spcPts val="0"/>
              </a:spcAft>
            </a:pPr>
            <a:r>
              <a:rPr sz="1090" b="0" lang="zh-CN">
                <a:solidFill>
                  <a:srgbClr val="21364E"/>
                </a:solidFill>
                <a:latin typeface="Noto Sans CJK SC"/>
                <a:ea typeface="Noto Sans CJK SC"/>
                <a:cs typeface="Noto Sans CJK SC"/>
              </a:rPr>
              <a:t>TTFP · p50 / p95</a:t>
            </a:r>
          </a:p>
          <a:p>
            <a:pPr algn="l">
              <a:lnSpc>
                <a:spcPct val="110000"/>
              </a:lnSpc>
              <a:spcAft>
                <a:spcPts val="0"/>
              </a:spcAft>
            </a:pPr>
            <a:r>
              <a:rPr sz="1090" b="0" lang="zh-CN">
                <a:solidFill>
                  <a:srgbClr val="21364E"/>
                </a:solidFill>
                <a:latin typeface="Noto Sans CJK SC"/>
                <a:ea typeface="Noto Sans CJK SC"/>
                <a:cs typeface="Noto Sans CJK SC"/>
              </a:rPr>
              <a:t>区分排队、计算与传输</a:t>
            </a:r>
          </a:p>
        </p:txBody>
      </p:sp>
      <p:sp>
        <p:nvSpPr>
          <p:cNvPr id="43" name="Rounded Rectangle 42"/>
          <p:cNvSpPr/>
          <p:nvPr/>
        </p:nvSpPr>
        <p:spPr>
          <a:xfrm>
            <a:off x="3438144"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ectangle 43"/>
          <p:cNvSpPr/>
          <p:nvPr/>
        </p:nvSpPr>
        <p:spPr>
          <a:xfrm>
            <a:off x="3438144" y="4553712"/>
            <a:ext cx="2615184" cy="4114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3584448" y="4745736"/>
            <a:ext cx="2322576" cy="274320"/>
          </a:xfrm>
          <a:prstGeom prst="rect">
            <a:avLst/>
          </a:prstGeom>
          <a:noFill/>
        </p:spPr>
        <p:txBody>
          <a:bodyPr wrap="square" lIns="0" rIns="0" tIns="0" bIns="0" anchor="t">
            <a:spAutoFit/>
          </a:bodyPr>
          <a:lstStyle/>
          <a:p>
            <a:pPr algn="l">
              <a:lnSpc>
                <a:spcPct val="110000"/>
              </a:lnSpc>
              <a:spcAft>
                <a:spcPts val="0"/>
              </a:spcAft>
            </a:pPr>
            <a:r>
              <a:rPr sz="1340" b="1" lang="zh-CN">
                <a:solidFill>
                  <a:srgbClr val="008E96"/>
                </a:solidFill>
                <a:latin typeface="Noto Sans CJK SC"/>
                <a:ea typeface="Noto Sans CJK SC"/>
                <a:cs typeface="Noto Sans CJK SC"/>
              </a:rPr>
              <a:t>持续输出</a:t>
            </a:r>
          </a:p>
        </p:txBody>
      </p:sp>
      <p:sp>
        <p:nvSpPr>
          <p:cNvPr id="46" name="TextBox 45"/>
          <p:cNvSpPr txBox="1"/>
          <p:nvPr/>
        </p:nvSpPr>
        <p:spPr>
          <a:xfrm>
            <a:off x="3584448" y="5257800"/>
            <a:ext cx="2322576" cy="457200"/>
          </a:xfrm>
          <a:prstGeom prst="rect">
            <a:avLst/>
          </a:prstGeom>
          <a:noFill/>
        </p:spPr>
        <p:txBody>
          <a:bodyPr wrap="square" lIns="0" rIns="0" tIns="0" bIns="0" anchor="t">
            <a:spAutoFit/>
          </a:bodyPr>
          <a:lstStyle/>
          <a:p>
            <a:pPr algn="l">
              <a:lnSpc>
                <a:spcPct val="110000"/>
              </a:lnSpc>
              <a:spcAft>
                <a:spcPts val="0"/>
              </a:spcAft>
            </a:pPr>
            <a:r>
              <a:rPr sz="1090" b="0" lang="zh-CN">
                <a:solidFill>
                  <a:srgbClr val="21364E"/>
                </a:solidFill>
                <a:latin typeface="Noto Sans CJK SC"/>
                <a:ea typeface="Noto Sans CJK SC"/>
                <a:cs typeface="Noto Sans CJK SC"/>
              </a:rPr>
              <a:t>RTF · chunk 间隔</a:t>
            </a:r>
          </a:p>
          <a:p>
            <a:pPr algn="l">
              <a:lnSpc>
                <a:spcPct val="110000"/>
              </a:lnSpc>
              <a:spcAft>
                <a:spcPts val="0"/>
              </a:spcAft>
            </a:pPr>
            <a:r>
              <a:rPr sz="1090" b="0" lang="zh-CN">
                <a:solidFill>
                  <a:srgbClr val="21364E"/>
                </a:solidFill>
                <a:latin typeface="Noto Sans CJK SC"/>
                <a:ea typeface="Noto Sans CJK SC"/>
                <a:cs typeface="Noto Sans CJK SC"/>
              </a:rPr>
              <a:t>停顿与 playback buffer</a:t>
            </a:r>
          </a:p>
        </p:txBody>
      </p:sp>
      <p:sp>
        <p:nvSpPr>
          <p:cNvPr id="47" name="Rounded Rectangle 46"/>
          <p:cNvSpPr/>
          <p:nvPr/>
        </p:nvSpPr>
        <p:spPr>
          <a:xfrm>
            <a:off x="6281928"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ectangle 47"/>
          <p:cNvSpPr/>
          <p:nvPr/>
        </p:nvSpPr>
        <p:spPr>
          <a:xfrm>
            <a:off x="6281928" y="4553712"/>
            <a:ext cx="2615184" cy="41148"/>
          </a:xfrm>
          <a:prstGeom prst="rect">
            <a:avLst/>
          </a:prstGeom>
          <a:solidFill>
            <a:srgbClr val="7855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6428232" y="4745736"/>
            <a:ext cx="2322576" cy="274320"/>
          </a:xfrm>
          <a:prstGeom prst="rect">
            <a:avLst/>
          </a:prstGeom>
          <a:noFill/>
        </p:spPr>
        <p:txBody>
          <a:bodyPr wrap="square" lIns="0" rIns="0" tIns="0" bIns="0" anchor="t">
            <a:spAutoFit/>
          </a:bodyPr>
          <a:lstStyle/>
          <a:p>
            <a:pPr algn="l">
              <a:lnSpc>
                <a:spcPct val="110000"/>
              </a:lnSpc>
              <a:spcAft>
                <a:spcPts val="0"/>
              </a:spcAft>
            </a:pPr>
            <a:r>
              <a:rPr sz="1340" b="1" lang="zh-CN">
                <a:solidFill>
                  <a:srgbClr val="7855AD"/>
                </a:solidFill>
                <a:latin typeface="Noto Sans CJK SC"/>
                <a:ea typeface="Noto Sans CJK SC"/>
                <a:cs typeface="Noto Sans CJK SC"/>
              </a:rPr>
              <a:t>长会话与并发</a:t>
            </a:r>
          </a:p>
        </p:txBody>
      </p:sp>
      <p:sp>
        <p:nvSpPr>
          <p:cNvPr id="50" name="TextBox 49"/>
          <p:cNvSpPr txBox="1"/>
          <p:nvPr/>
        </p:nvSpPr>
        <p:spPr>
          <a:xfrm>
            <a:off x="6428232" y="5257800"/>
            <a:ext cx="2322576" cy="457200"/>
          </a:xfrm>
          <a:prstGeom prst="rect">
            <a:avLst/>
          </a:prstGeom>
          <a:noFill/>
        </p:spPr>
        <p:txBody>
          <a:bodyPr wrap="square" lIns="0" rIns="0" tIns="0" bIns="0" anchor="t">
            <a:spAutoFit/>
          </a:bodyPr>
          <a:lstStyle/>
          <a:p>
            <a:pPr algn="l">
              <a:lnSpc>
                <a:spcPct val="110000"/>
              </a:lnSpc>
              <a:spcAft>
                <a:spcPts val="0"/>
              </a:spcAft>
            </a:pPr>
            <a:r>
              <a:rPr sz="1090" b="0" lang="zh-CN">
                <a:solidFill>
                  <a:srgbClr val="21364E"/>
                </a:solidFill>
                <a:latin typeface="Noto Sans CJK SC"/>
                <a:ea typeface="Noto Sans CJK SC"/>
                <a:cs typeface="Noto Sans CJK SC"/>
              </a:rPr>
              <a:t>持续时长 · session 数</a:t>
            </a:r>
          </a:p>
          <a:p>
            <a:pPr algn="l">
              <a:lnSpc>
                <a:spcPct val="110000"/>
              </a:lnSpc>
              <a:spcAft>
                <a:spcPts val="0"/>
              </a:spcAft>
            </a:pPr>
            <a:r>
              <a:rPr sz="1090" b="0" lang="zh-CN">
                <a:solidFill>
                  <a:srgbClr val="21364E"/>
                </a:solidFill>
                <a:latin typeface="Noto Sans CJK SC"/>
                <a:ea typeface="Noto Sans CJK SC"/>
                <a:cs typeface="Noto Sans CJK SC"/>
              </a:rPr>
              <a:t>峰值显存 · 资源回收</a:t>
            </a:r>
          </a:p>
        </p:txBody>
      </p:sp>
      <p:sp>
        <p:nvSpPr>
          <p:cNvPr id="51" name="Rounded Rectangle 50"/>
          <p:cNvSpPr/>
          <p:nvPr/>
        </p:nvSpPr>
        <p:spPr>
          <a:xfrm>
            <a:off x="9125712"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9125712" y="4553712"/>
            <a:ext cx="2615184" cy="411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272016" y="4745736"/>
            <a:ext cx="2322576" cy="274320"/>
          </a:xfrm>
          <a:prstGeom prst="rect">
            <a:avLst/>
          </a:prstGeom>
          <a:noFill/>
        </p:spPr>
        <p:txBody>
          <a:bodyPr wrap="square" lIns="0" rIns="0" tIns="0" bIns="0" anchor="t">
            <a:spAutoFit/>
          </a:bodyPr>
          <a:lstStyle/>
          <a:p>
            <a:pPr algn="l">
              <a:lnSpc>
                <a:spcPct val="110000"/>
              </a:lnSpc>
              <a:spcAft>
                <a:spcPts val="0"/>
              </a:spcAft>
            </a:pPr>
            <a:r>
              <a:rPr sz="1340" b="1" lang="zh-CN">
                <a:solidFill>
                  <a:srgbClr val="AD761E"/>
                </a:solidFill>
                <a:latin typeface="Noto Sans CJK SC"/>
                <a:ea typeface="Noto Sans CJK SC"/>
                <a:cs typeface="Noto Sans CJK SC"/>
              </a:rPr>
              <a:t>语音质量</a:t>
            </a:r>
          </a:p>
        </p:txBody>
      </p:sp>
      <p:sp>
        <p:nvSpPr>
          <p:cNvPr id="54" name="TextBox 53"/>
          <p:cNvSpPr txBox="1"/>
          <p:nvPr/>
        </p:nvSpPr>
        <p:spPr>
          <a:xfrm>
            <a:off x="9272016" y="5257800"/>
            <a:ext cx="2322576" cy="457200"/>
          </a:xfrm>
          <a:prstGeom prst="rect">
            <a:avLst/>
          </a:prstGeom>
          <a:noFill/>
        </p:spPr>
        <p:txBody>
          <a:bodyPr wrap="square" lIns="0" rIns="0" tIns="0" bIns="0" anchor="t">
            <a:spAutoFit/>
          </a:bodyPr>
          <a:lstStyle/>
          <a:p>
            <a:pPr algn="l">
              <a:lnSpc>
                <a:spcPct val="110000"/>
              </a:lnSpc>
              <a:spcAft>
                <a:spcPts val="0"/>
              </a:spcAft>
            </a:pPr>
            <a:r>
              <a:rPr sz="1090" b="0" lang="zh-CN">
                <a:solidFill>
                  <a:srgbClr val="21364E"/>
                </a:solidFill>
                <a:latin typeface="Noto Sans CJK SC"/>
                <a:ea typeface="Noto Sans CJK SC"/>
                <a:cs typeface="Noto Sans CJK SC"/>
              </a:rPr>
              <a:t>有效音频 · 内容完整性</a:t>
            </a:r>
          </a:p>
          <a:p>
            <a:pPr algn="l">
              <a:lnSpc>
                <a:spcPct val="110000"/>
              </a:lnSpc>
              <a:spcAft>
                <a:spcPts val="0"/>
              </a:spcAft>
            </a:pPr>
            <a:r>
              <a:rPr sz="1090" b="0" lang="zh-CN">
                <a:solidFill>
                  <a:srgbClr val="21364E"/>
                </a:solidFill>
                <a:latin typeface="Noto Sans CJK SC"/>
                <a:ea typeface="Noto Sans CJK SC"/>
                <a:cs typeface="Noto Sans CJK SC"/>
              </a:rPr>
              <a:t>WER / CER · 听感</a:t>
            </a:r>
          </a:p>
        </p:txBody>
      </p:sp>
      <p:sp>
        <p:nvSpPr>
          <p:cNvPr id="55" name="TextBox 54"/>
          <p:cNvSpPr txBox="1"/>
          <p:nvPr/>
        </p:nvSpPr>
        <p:spPr>
          <a:xfrm>
            <a:off x="658368" y="6108192"/>
            <a:ext cx="10936224" cy="219456"/>
          </a:xfrm>
          <a:prstGeom prst="rect">
            <a:avLst/>
          </a:prstGeom>
          <a:noFill/>
        </p:spPr>
        <p:txBody>
          <a:bodyPr wrap="square" lIns="0" rIns="0" tIns="0" bIns="0" anchor="t">
            <a:spAutoFit/>
          </a:bodyPr>
          <a:lstStyle/>
          <a:p>
            <a:pPr algn="l">
              <a:lnSpc>
                <a:spcPct val="110000"/>
              </a:lnSpc>
              <a:spcAft>
                <a:spcPts val="0"/>
              </a:spcAft>
            </a:pPr>
            <a:r>
              <a:rPr sz="1110" b="0" lang="zh-CN">
                <a:solidFill>
                  <a:srgbClr val="586B7E"/>
                </a:solidFill>
                <a:latin typeface="Noto Sans CJK SC"/>
                <a:ea typeface="Noto Sans CJK SC"/>
                <a:cs typeface="Noto Sans CJK SC"/>
              </a:rPr>
              <a:t>统一模型、硬件、并发和计时起点；各模型支持的 benchmark 与测评任务有所不同。</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工具调用</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全双工模型的工具调用</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扩展模型覆盖，统一工具执行期间的交互行为。</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11 / 12</a:t>
            </a:r>
          </a:p>
        </p:txBody>
      </p:sp>
      <p:sp>
        <p:nvSpPr>
          <p:cNvPr id="200" name="AVAILABLE TODAY"/>
          <p:cNvSpPr txBox="1"/>
          <p:nvPr/>
        </p:nvSpPr>
        <p:spPr>
          <a:xfrm>
            <a:off x="594360" y="2084832"/>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lang="zh-CN">
                <a:solidFill>
                  <a:srgbClr val="307BDB"/>
                </a:solidFill>
                <a:latin typeface="Noto Sans CJK SC"/>
                <a:ea typeface="Noto Sans CJK SC"/>
                <a:cs typeface="Noto Sans CJK SC"/>
              </a:rPr>
              <a:t>当前已支持</a:t>
            </a:r>
          </a:p>
        </p:txBody>
      </p:sp>
      <p:sp>
        <p:nvSpPr>
          <p:cNvPr id="201" name="Qwen3-Omni Realtime"/>
          <p:cNvSpPr txBox="1"/>
          <p:nvPr/>
        </p:nvSpPr>
        <p:spPr>
          <a:xfrm>
            <a:off x="731520" y="2432304"/>
            <a:ext cx="521208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Qwen3-Omni Realtime</a:t>
            </a:r>
          </a:p>
        </p:txBody>
      </p:sp>
      <p:sp>
        <p:nvSpPr>
          <p:cNvPr id="202" name="Tool parser in the turn-based Realtime path"/>
          <p:cNvSpPr txBox="1"/>
          <p:nvPr/>
        </p:nvSpPr>
        <p:spPr>
          <a:xfrm>
            <a:off x="731520" y="2770632"/>
            <a:ext cx="5212080" cy="292608"/>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turn-based Realtime 路径已接入 tool parser</a:t>
            </a:r>
          </a:p>
        </p:txBody>
      </p:sp>
      <p:sp>
        <p:nvSpPr>
          <p:cNvPr id="203" name="Nemotron VoiceChat"/>
          <p:cNvSpPr txBox="1"/>
          <p:nvPr/>
        </p:nvSpPr>
        <p:spPr>
          <a:xfrm>
            <a:off x="6400800" y="2432304"/>
            <a:ext cx="512064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Nemotron VoiceChat</a:t>
            </a:r>
          </a:p>
        </p:txBody>
      </p:sp>
      <p:sp>
        <p:nvSpPr>
          <p:cNvPr id="204" name="Tool-result round trip in native duplex"/>
          <p:cNvSpPr txBox="1"/>
          <p:nvPr/>
        </p:nvSpPr>
        <p:spPr>
          <a:xfrm>
            <a:off x="6400800" y="2770632"/>
            <a:ext cx="5120640" cy="292608"/>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native duplex 支持工具结果回填与续生成</a:t>
            </a:r>
          </a:p>
        </p:txBody>
      </p:sp>
      <p:cxnSp>
        <p:nvCxnSpPr>
          <p:cNvPr id="205" name="Current support / roadmap boundary"/>
          <p:cNvCxnSpPr/>
          <p:nvPr/>
        </p:nvCxnSpPr>
        <p:spPr>
          <a:xfrm>
            <a:off x="594360" y="3200400"/>
            <a:ext cx="11018520" cy="0"/>
          </a:xfrm>
          <a:prstGeom prst="line">
            <a:avLst/>
          </a:prstGeom>
          <a:ln w="12700">
            <a:solidFill>
              <a:srgbClr val="D1DDE9"/>
            </a:solidFill>
          </a:ln>
        </p:spPr>
      </p:cxnSp>
      <p:sp>
        <p:nvSpPr>
          <p:cNvPr id="206" name="UNIFIED DUPLEX ROADMAP"/>
          <p:cNvSpPr txBox="1"/>
          <p:nvPr/>
        </p:nvSpPr>
        <p:spPr>
          <a:xfrm>
            <a:off x="594360" y="3355848"/>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lang="zh-CN">
                <a:solidFill>
                  <a:srgbClr val="95620B"/>
                </a:solidFill>
                <a:latin typeface="Noto Sans CJK SC"/>
                <a:ea typeface="Noto Sans CJK SC"/>
                <a:cs typeface="Noto Sans CJK SC"/>
              </a:rPr>
              <a:t>Unified duplex 演进方向</a:t>
            </a:r>
          </a:p>
        </p:txBody>
      </p:sp>
      <p:sp>
        <p:nvSpPr>
          <p:cNvPr id="207" name="Model emits"/>
          <p:cNvSpPr txBox="1"/>
          <p:nvPr/>
        </p:nvSpPr>
        <p:spPr>
          <a:xfrm>
            <a:off x="731520" y="3730752"/>
            <a:ext cx="2377440" cy="274320"/>
          </a:xfrm>
          <a:prstGeom prst="rect">
            <a:avLst/>
          </a:prstGeom>
          <a:noFill/>
          <a:ln>
            <a:noFill/>
          </a:ln>
        </p:spPr>
        <p:txBody>
          <a:bodyPr wrap="square" lIns="0" rIns="0" tIns="0" bIns="0" anchor="t">
            <a:noAutofit/>
          </a:bodyPr>
          <a:lstStyle/>
          <a:p>
            <a:pPr algn="l">
              <a:lnSpc>
                <a:spcPct val="106000"/>
              </a:lnSpc>
              <a:spcAft>
                <a:spcPts val="0"/>
              </a:spcAft>
            </a:pPr>
            <a:r>
              <a:rPr sz="1500" b="1" lang="zh-CN">
                <a:solidFill>
                  <a:srgbClr val="16304E"/>
                </a:solidFill>
                <a:latin typeface="Noto Sans CJK SC"/>
                <a:ea typeface="Noto Sans CJK SC"/>
                <a:cs typeface="Noto Sans CJK SC"/>
              </a:rPr>
              <a:t>模型输出</a:t>
            </a:r>
          </a:p>
        </p:txBody>
      </p:sp>
      <p:sp>
        <p:nvSpPr>
          <p:cNvPr id="208" name="Tool name + arguments"/>
          <p:cNvSpPr txBox="1"/>
          <p:nvPr/>
        </p:nvSpPr>
        <p:spPr>
          <a:xfrm>
            <a:off x="731520" y="4041648"/>
            <a:ext cx="2377440" cy="246888"/>
          </a:xfrm>
          <a:prstGeom prst="rect">
            <a:avLst/>
          </a:prstGeom>
          <a:noFill/>
          <a:ln>
            <a:noFill/>
          </a:ln>
        </p:spPr>
        <p:txBody>
          <a:bodyPr wrap="square" lIns="0" rIns="0" tIns="0" bIns="0" anchor="t">
            <a:noAutofit/>
          </a:bodyPr>
          <a:lstStyle/>
          <a:p>
            <a:pPr algn="l">
              <a:lnSpc>
                <a:spcPct val="106000"/>
              </a:lnSpc>
              <a:spcAft>
                <a:spcPts val="0"/>
              </a:spcAft>
            </a:pPr>
            <a:r>
              <a:rPr sz="1240" b="0" lang="zh-CN">
                <a:solidFill>
                  <a:srgbClr val="586B7E"/>
                </a:solidFill>
                <a:latin typeface="Noto Sans CJK SC"/>
                <a:ea typeface="Noto Sans CJK SC"/>
                <a:cs typeface="Noto Sans CJK SC"/>
              </a:rPr>
              <a:t>工具名称 + 参数</a:t>
            </a:r>
          </a:p>
        </p:txBody>
      </p:sp>
      <p:sp>
        <p:nvSpPr>
          <p:cNvPr id="209" name="Application executes"/>
          <p:cNvSpPr txBox="1"/>
          <p:nvPr/>
        </p:nvSpPr>
        <p:spPr>
          <a:xfrm>
            <a:off x="3675888" y="3730752"/>
            <a:ext cx="2286000" cy="274320"/>
          </a:xfrm>
          <a:prstGeom prst="rect">
            <a:avLst/>
          </a:prstGeom>
          <a:noFill/>
          <a:ln>
            <a:noFill/>
          </a:ln>
        </p:spPr>
        <p:txBody>
          <a:bodyPr wrap="square" lIns="0" rIns="0" tIns="0" bIns="0" anchor="t">
            <a:noAutofit/>
          </a:bodyPr>
          <a:lstStyle/>
          <a:p>
            <a:pPr algn="l">
              <a:lnSpc>
                <a:spcPct val="106000"/>
              </a:lnSpc>
              <a:spcAft>
                <a:spcPts val="0"/>
              </a:spcAft>
            </a:pPr>
            <a:r>
              <a:rPr sz="1500" b="1" lang="zh-CN">
                <a:solidFill>
                  <a:srgbClr val="16304E"/>
                </a:solidFill>
                <a:latin typeface="Noto Sans CJK SC"/>
                <a:ea typeface="Noto Sans CJK SC"/>
                <a:cs typeface="Noto Sans CJK SC"/>
              </a:rPr>
              <a:t>应用执行</a:t>
            </a:r>
          </a:p>
        </p:txBody>
      </p:sp>
      <p:sp>
        <p:nvSpPr>
          <p:cNvPr id="210" name="External function"/>
          <p:cNvSpPr txBox="1"/>
          <p:nvPr/>
        </p:nvSpPr>
        <p:spPr>
          <a:xfrm>
            <a:off x="3675888" y="4041648"/>
            <a:ext cx="2286000" cy="246888"/>
          </a:xfrm>
          <a:prstGeom prst="rect">
            <a:avLst/>
          </a:prstGeom>
          <a:noFill/>
          <a:ln>
            <a:noFill/>
          </a:ln>
        </p:spPr>
        <p:txBody>
          <a:bodyPr wrap="square" lIns="0" rIns="0" tIns="0" bIns="0" anchor="t">
            <a:noAutofit/>
          </a:bodyPr>
          <a:lstStyle/>
          <a:p>
            <a:pPr algn="l">
              <a:lnSpc>
                <a:spcPct val="106000"/>
              </a:lnSpc>
              <a:spcAft>
                <a:spcPts val="0"/>
              </a:spcAft>
            </a:pPr>
            <a:r>
              <a:rPr sz="1240" b="0" lang="zh-CN">
                <a:solidFill>
                  <a:srgbClr val="586B7E"/>
                </a:solidFill>
                <a:latin typeface="Noto Sans CJK SC"/>
                <a:ea typeface="Noto Sans CJK SC"/>
                <a:cs typeface="Noto Sans CJK SC"/>
              </a:rPr>
              <a:t>外部函数</a:t>
            </a:r>
          </a:p>
        </p:txBody>
      </p:sp>
      <p:sp>
        <p:nvSpPr>
          <p:cNvPr id="211" name="Result returns"/>
          <p:cNvSpPr txBox="1"/>
          <p:nvPr/>
        </p:nvSpPr>
        <p:spPr>
          <a:xfrm>
            <a:off x="6492240" y="3730752"/>
            <a:ext cx="2148840" cy="274320"/>
          </a:xfrm>
          <a:prstGeom prst="rect">
            <a:avLst/>
          </a:prstGeom>
          <a:noFill/>
          <a:ln>
            <a:noFill/>
          </a:ln>
        </p:spPr>
        <p:txBody>
          <a:bodyPr wrap="square" lIns="0" rIns="0" tIns="0" bIns="0" anchor="t">
            <a:noAutofit/>
          </a:bodyPr>
          <a:lstStyle/>
          <a:p>
            <a:pPr algn="l">
              <a:lnSpc>
                <a:spcPct val="106000"/>
              </a:lnSpc>
              <a:spcAft>
                <a:spcPts val="0"/>
              </a:spcAft>
            </a:pPr>
            <a:r>
              <a:rPr sz="1500" b="1" lang="zh-CN">
                <a:solidFill>
                  <a:srgbClr val="16304E"/>
                </a:solidFill>
                <a:latin typeface="Noto Sans CJK SC"/>
                <a:ea typeface="Noto Sans CJK SC"/>
                <a:cs typeface="Noto Sans CJK SC"/>
              </a:rPr>
              <a:t>结果回填</a:t>
            </a:r>
          </a:p>
        </p:txBody>
      </p:sp>
      <p:sp>
        <p:nvSpPr>
          <p:cNvPr id="212" name="Match the call_id"/>
          <p:cNvSpPr txBox="1"/>
          <p:nvPr/>
        </p:nvSpPr>
        <p:spPr>
          <a:xfrm>
            <a:off x="6492240" y="4041648"/>
            <a:ext cx="2148840" cy="246888"/>
          </a:xfrm>
          <a:prstGeom prst="rect">
            <a:avLst/>
          </a:prstGeom>
          <a:noFill/>
          <a:ln>
            <a:noFill/>
          </a:ln>
        </p:spPr>
        <p:txBody>
          <a:bodyPr wrap="square" lIns="0" rIns="0" tIns="0" bIns="0" anchor="t">
            <a:noAutofit/>
          </a:bodyPr>
          <a:lstStyle/>
          <a:p>
            <a:pPr algn="l">
              <a:lnSpc>
                <a:spcPct val="106000"/>
              </a:lnSpc>
              <a:spcAft>
                <a:spcPts val="0"/>
              </a:spcAft>
            </a:pPr>
            <a:r>
              <a:rPr sz="1240" b="0" lang="zh-CN">
                <a:solidFill>
                  <a:srgbClr val="586B7E"/>
                </a:solidFill>
                <a:latin typeface="Noto Sans CJK SC"/>
                <a:ea typeface="Noto Sans CJK SC"/>
                <a:cs typeface="Noto Sans CJK SC"/>
              </a:rPr>
              <a:t>匹配 call_id</a:t>
            </a:r>
          </a:p>
        </p:txBody>
      </p:sp>
      <p:sp>
        <p:nvSpPr>
          <p:cNvPr id="213" name="Model continues"/>
          <p:cNvSpPr txBox="1"/>
          <p:nvPr/>
        </p:nvSpPr>
        <p:spPr>
          <a:xfrm>
            <a:off x="9189720" y="3730752"/>
            <a:ext cx="2404872" cy="274320"/>
          </a:xfrm>
          <a:prstGeom prst="rect">
            <a:avLst/>
          </a:prstGeom>
          <a:noFill/>
          <a:ln>
            <a:noFill/>
          </a:ln>
        </p:spPr>
        <p:txBody>
          <a:bodyPr wrap="square" lIns="0" rIns="0" tIns="0" bIns="0" anchor="t">
            <a:noAutofit/>
          </a:bodyPr>
          <a:lstStyle/>
          <a:p>
            <a:pPr algn="l">
              <a:lnSpc>
                <a:spcPct val="106000"/>
              </a:lnSpc>
              <a:spcAft>
                <a:spcPts val="0"/>
              </a:spcAft>
            </a:pPr>
            <a:r>
              <a:rPr sz="1500" b="1" lang="zh-CN">
                <a:solidFill>
                  <a:srgbClr val="16304E"/>
                </a:solidFill>
                <a:latin typeface="Noto Sans CJK SC"/>
                <a:ea typeface="Noto Sans CJK SC"/>
                <a:cs typeface="Noto Sans CJK SC"/>
              </a:rPr>
              <a:t>模型续生成</a:t>
            </a:r>
          </a:p>
        </p:txBody>
      </p:sp>
      <p:sp>
        <p:nvSpPr>
          <p:cNvPr id="214" name="Generate the reply"/>
          <p:cNvSpPr txBox="1"/>
          <p:nvPr/>
        </p:nvSpPr>
        <p:spPr>
          <a:xfrm>
            <a:off x="9189720" y="4041648"/>
            <a:ext cx="2404872" cy="246888"/>
          </a:xfrm>
          <a:prstGeom prst="rect">
            <a:avLst/>
          </a:prstGeom>
          <a:noFill/>
          <a:ln>
            <a:noFill/>
          </a:ln>
        </p:spPr>
        <p:txBody>
          <a:bodyPr wrap="square" lIns="0" rIns="0" tIns="0" bIns="0" anchor="t">
            <a:noAutofit/>
          </a:bodyPr>
          <a:lstStyle/>
          <a:p>
            <a:pPr algn="l">
              <a:lnSpc>
                <a:spcPct val="106000"/>
              </a:lnSpc>
              <a:spcAft>
                <a:spcPts val="0"/>
              </a:spcAft>
            </a:pPr>
            <a:r>
              <a:rPr sz="1240" b="0" lang="zh-CN">
                <a:solidFill>
                  <a:srgbClr val="586B7E"/>
                </a:solidFill>
                <a:latin typeface="Noto Sans CJK SC"/>
                <a:ea typeface="Noto Sans CJK SC"/>
                <a:cs typeface="Noto Sans CJK SC"/>
              </a:rPr>
              <a:t>生成后续回复</a:t>
            </a:r>
          </a:p>
        </p:txBody>
      </p:sp>
      <p:cxnSp>
        <p:nvCxnSpPr>
          <p:cNvPr id="215" name="Shared call loop"/>
          <p:cNvCxnSpPr/>
          <p:nvPr/>
        </p:nvCxnSpPr>
        <p:spPr>
          <a:xfrm>
            <a:off x="3218688" y="3877056"/>
            <a:ext cx="356616" cy="0"/>
          </a:xfrm>
          <a:prstGeom prst="line">
            <a:avLst/>
          </a:prstGeom>
          <a:ln w="22860">
            <a:solidFill>
              <a:srgbClr val="008E96"/>
            </a:solidFill>
            <a:tailEnd type="triangle" w="med" len="med"/>
          </a:ln>
        </p:spPr>
      </p:cxnSp>
      <p:cxnSp>
        <p:nvCxnSpPr>
          <p:cNvPr id="216" name="Shared call loop"/>
          <p:cNvCxnSpPr/>
          <p:nvPr/>
        </p:nvCxnSpPr>
        <p:spPr>
          <a:xfrm>
            <a:off x="6044184" y="3877056"/>
            <a:ext cx="356616" cy="0"/>
          </a:xfrm>
          <a:prstGeom prst="line">
            <a:avLst/>
          </a:prstGeom>
          <a:ln w="22860">
            <a:solidFill>
              <a:srgbClr val="008E96"/>
            </a:solidFill>
            <a:tailEnd type="triangle" w="med" len="med"/>
          </a:ln>
        </p:spPr>
      </p:cxnSp>
      <p:cxnSp>
        <p:nvCxnSpPr>
          <p:cNvPr id="217" name="Shared call loop"/>
          <p:cNvCxnSpPr/>
          <p:nvPr/>
        </p:nvCxnSpPr>
        <p:spPr>
          <a:xfrm>
            <a:off x="8686800" y="3877056"/>
            <a:ext cx="402336" cy="0"/>
          </a:xfrm>
          <a:prstGeom prst="line">
            <a:avLst/>
          </a:prstGeom>
          <a:ln w="22860">
            <a:solidFill>
              <a:srgbClr val="008E96"/>
            </a:solidFill>
            <a:tailEnd type="triangle" w="med" len="med"/>
          </a:ln>
        </p:spPr>
      </p:cxnSp>
      <p:graphicFrame>
        <p:nvGraphicFramePr>
          <p:cNvPr id="218" name="Unified duplex tool calling roadmap"/>
          <p:cNvGraphicFramePr/>
          <p:nvPr/>
        </p:nvGraphicFramePr>
        <p:xfrm>
          <a:off x="594360" y="4443984"/>
          <a:ext cx="11018520" cy="1865376"/>
        </p:xfrm>
        <a:graphic>
          <a:graphicData uri="http://schemas.openxmlformats.org/drawingml/2006/table">
            <a:tbl>
              <a:tblPr firstRow="0" bandRow="0"/>
              <a:tblGrid>
                <a:gridCol w="1993392"/>
                <a:gridCol w="9025128"/>
              </a:tblGrid>
              <a:tr h="493776">
                <a:tc>
                  <a:txBody>
                    <a:bodyPr wrap="square">
                      <a:noAutofit/>
                    </a:bodyPr>
                    <a:lstStyle/>
                    <a:p>
                      <a:pPr>
                        <a:lnSpc>
                          <a:spcPct val="108000"/>
                        </a:lnSpc>
                        <a:spcAft>
                          <a:spcPts val="0"/>
                        </a:spcAft>
                      </a:pPr>
                      <a:r>
                        <a:rPr sz="1400" b="1" lang="zh-CN">
                          <a:solidFill>
                            <a:srgbClr val="16304E"/>
                          </a:solidFill>
                          <a:latin typeface="Noto Sans CJK SC"/>
                          <a:ea typeface="Noto Sans CJK SC"/>
                          <a:cs typeface="Noto Sans CJK SC"/>
                        </a:rPr>
                        <a:t>执行期间</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lang="zh-CN">
                          <a:solidFill>
                            <a:srgbClr val="16304E"/>
                          </a:solidFill>
                          <a:latin typeface="Noto Sans CJK SC"/>
                          <a:ea typeface="Noto Sans CJK SC"/>
                          <a:cs typeface="Noto Sans CJK SC"/>
                        </a:rPr>
                        <a:t>明确工具执行期间是否继续接收用户输入、输出语音。</a:t>
                      </a:r>
                    </a:p>
                  </a:txBody>
                  <a:tcPr marL="137160" marR="100584" marT="54864" marB="50292" anchor="ctr">
                    <a:lnL w="0">
                      <a:noFill/>
                    </a:lnL>
                    <a:lnR w="0">
                      <a:noFill/>
                    </a:lnR>
                    <a:lnT w="0">
                      <a:noFill/>
                    </a:lnT>
                    <a:lnB w="25400">
                      <a:solidFill>
                        <a:srgbClr val="FFFFFF"/>
                      </a:solidFill>
                    </a:lnB>
                    <a:solidFill>
                      <a:srgbClr val="F2F5F9"/>
                    </a:solidFill>
                  </a:tcPr>
                </a:tc>
              </a:tr>
              <a:tr h="658368">
                <a:tc>
                  <a:txBody>
                    <a:bodyPr wrap="square">
                      <a:noAutofit/>
                    </a:bodyPr>
                    <a:lstStyle/>
                    <a:p>
                      <a:pPr>
                        <a:lnSpc>
                          <a:spcPct val="108000"/>
                        </a:lnSpc>
                        <a:spcAft>
                          <a:spcPts val="0"/>
                        </a:spcAft>
                      </a:pPr>
                      <a:r>
                        <a:rPr sz="1400" b="1" lang="zh-CN">
                          <a:solidFill>
                            <a:srgbClr val="16304E"/>
                          </a:solidFill>
                          <a:latin typeface="Noto Sans CJK SC"/>
                          <a:ea typeface="Noto Sans CJK SC"/>
                          <a:cs typeface="Noto Sans CJK SC"/>
                        </a:rPr>
                        <a:t>轮次隔离</a:t>
                      </a:r>
                    </a:p>
                  </a:txBody>
                  <a:tcPr marL="137160" marR="100584" marT="54864" marB="50292" anchor="ctr">
                    <a:lnL w="0">
                      <a:noFill/>
                    </a:lnL>
                    <a:lnR w="0">
                      <a:noFill/>
                    </a:lnR>
                    <a:lnT w="0">
                      <a:noFill/>
                    </a:lnT>
                    <a:lnB w="25400">
                      <a:solidFill>
                        <a:srgbClr val="FFFFFF"/>
                      </a:solidFill>
                    </a:lnB>
                    <a:solidFill>
                      <a:srgbClr val="FFFFFF"/>
                    </a:solidFill>
                  </a:tcPr>
                </a:tc>
                <a:tc>
                  <a:txBody>
                    <a:bodyPr wrap="square">
                      <a:noAutofit/>
                    </a:bodyPr>
                    <a:lstStyle/>
                    <a:p>
                      <a:pPr>
                        <a:lnSpc>
                          <a:spcPct val="108000"/>
                        </a:lnSpc>
                        <a:spcAft>
                          <a:spcPts val="0"/>
                        </a:spcAft>
                      </a:pPr>
                      <a:r>
                        <a:rPr sz="1400" b="0" lang="zh-CN">
                          <a:solidFill>
                            <a:srgbClr val="16304E"/>
                          </a:solidFill>
                          <a:latin typeface="Noto Sans CJK SC"/>
                          <a:ea typeface="Noto Sans CJK SC"/>
                          <a:cs typeface="Noto Sans CJK SC"/>
                        </a:rPr>
                        <a:t>处理打断、超时、重复及迟到结果，</a:t>
                      </a:r>
                    </a:p>
                    <a:p>
                      <a:pPr>
                        <a:lnSpc>
                          <a:spcPct val="108000"/>
                        </a:lnSpc>
                        <a:spcAft>
                          <a:spcPts val="0"/>
                        </a:spcAft>
                      </a:pPr>
                      <a:r>
                        <a:rPr sz="1400" b="0" lang="zh-CN">
                          <a:solidFill>
                            <a:srgbClr val="16304E"/>
                          </a:solidFill>
                          <a:latin typeface="Noto Sans CJK SC"/>
                          <a:ea typeface="Noto Sans CJK SC"/>
                          <a:cs typeface="Noto Sans CJK SC"/>
                        </a:rPr>
                        <a:t>避免旧调用影响新一轮交互。</a:t>
                      </a:r>
                    </a:p>
                  </a:txBody>
                  <a:tcPr marL="137160" marR="100584" marT="54864" marB="50292" anchor="ctr">
                    <a:lnL w="0">
                      <a:noFill/>
                    </a:lnL>
                    <a:lnR w="0">
                      <a:noFill/>
                    </a:lnR>
                    <a:lnT w="0">
                      <a:noFill/>
                    </a:lnT>
                    <a:lnB w="25400">
                      <a:solidFill>
                        <a:srgbClr val="FFFFFF"/>
                      </a:solidFill>
                    </a:lnB>
                    <a:solidFill>
                      <a:srgbClr val="FFFFFF"/>
                    </a:solidFill>
                  </a:tcPr>
                </a:tc>
              </a:tr>
              <a:tr h="713232">
                <a:tc>
                  <a:txBody>
                    <a:bodyPr wrap="square">
                      <a:noAutofit/>
                    </a:bodyPr>
                    <a:lstStyle/>
                    <a:p>
                      <a:pPr>
                        <a:lnSpc>
                          <a:spcPct val="108000"/>
                        </a:lnSpc>
                        <a:spcAft>
                          <a:spcPts val="0"/>
                        </a:spcAft>
                      </a:pPr>
                      <a:r>
                        <a:rPr sz="1400" b="1" lang="zh-CN">
                          <a:solidFill>
                            <a:srgbClr val="16304E"/>
                          </a:solidFill>
                          <a:latin typeface="Noto Sans CJK SC"/>
                          <a:ea typeface="Noto Sans CJK SC"/>
                          <a:cs typeface="Noto Sans CJK SC"/>
                        </a:rPr>
                        <a:t>框架与插件分工</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lang="zh-CN">
                          <a:solidFill>
                            <a:srgbClr val="16304E"/>
                          </a:solidFill>
                          <a:latin typeface="Noto Sans CJK SC"/>
                          <a:ea typeface="Noto Sans CJK SC"/>
                          <a:cs typeface="Noto Sans CJK SC"/>
                        </a:rPr>
                        <a:t>框架负责公共调用逻辑；插件适配模型输出格式与行为。</a:t>
                      </a:r>
                    </a:p>
                    <a:p>
                      <a:pPr>
                        <a:lnSpc>
                          <a:spcPct val="108000"/>
                        </a:lnSpc>
                        <a:spcAft>
                          <a:spcPts val="0"/>
                        </a:spcAft>
                      </a:pPr>
                      <a:r>
                        <a:rPr sz="1400" b="0" lang="zh-CN">
                          <a:solidFill>
                            <a:srgbClr val="16304E"/>
                          </a:solidFill>
                          <a:latin typeface="Noto Sans CJK SC"/>
                          <a:ea typeface="Noto Sans CJK SC"/>
                          <a:cs typeface="Noto Sans CJK SC"/>
                        </a:rPr>
                        <a:t>扩展至 Qwen3-Omni unified duplex、AURA 与 JoyAI。</a:t>
                      </a:r>
                    </a:p>
                  </a:txBody>
                  <a:tcPr marL="137160" marR="100584" marT="54864" marB="50292" anchor="ctr">
                    <a:lnL w="0">
                      <a:noFill/>
                    </a:lnL>
                    <a:lnR w="0">
                      <a:noFill/>
                    </a:lnR>
                    <a:lnT w="0">
                      <a:noFill/>
                    </a:lnT>
                    <a:lnB w="25400">
                      <a:solidFill>
                        <a:srgbClr val="FFFFFF"/>
                      </a:solidFill>
                    </a:lnB>
                    <a:solidFill>
                      <a:srgbClr val="F2F5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演进方向</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lang="zh-CN">
                <a:solidFill>
                  <a:srgbClr val="142B45"/>
                </a:solidFill>
                <a:latin typeface="Noto Sans CJK SC"/>
                <a:ea typeface="Noto Sans CJK SC"/>
                <a:cs typeface="Noto Sans CJK SC"/>
              </a:rPr>
              <a:t>全双工 roadmap</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近期完善模型接入、交互能力与测评；远期扩展会话时长和服务规模。</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12 / 12</a:t>
            </a:r>
          </a:p>
        </p:txBody>
      </p:sp>
      <p:sp>
        <p:nvSpPr>
          <p:cNvPr id="200" name="NEAR TERM"/>
          <p:cNvSpPr txBox="1"/>
          <p:nvPr/>
        </p:nvSpPr>
        <p:spPr>
          <a:xfrm>
            <a:off x="731520" y="2185416"/>
            <a:ext cx="5029200" cy="320040"/>
          </a:xfrm>
          <a:prstGeom prst="rect">
            <a:avLst/>
          </a:prstGeom>
          <a:noFill/>
          <a:ln>
            <a:noFill/>
          </a:ln>
        </p:spPr>
        <p:txBody>
          <a:bodyPr wrap="square" lIns="0" rIns="0" tIns="0" bIns="0" anchor="t">
            <a:noAutofit/>
          </a:bodyPr>
          <a:lstStyle/>
          <a:p>
            <a:pPr algn="l">
              <a:lnSpc>
                <a:spcPct val="106000"/>
              </a:lnSpc>
              <a:spcAft>
                <a:spcPts val="0"/>
              </a:spcAft>
            </a:pPr>
            <a:r>
              <a:rPr sz="1650" b="1" lang="zh-CN">
                <a:solidFill>
                  <a:srgbClr val="307BDB"/>
                </a:solidFill>
                <a:latin typeface="Noto Sans CJK SC"/>
                <a:ea typeface="Noto Sans CJK SC"/>
                <a:cs typeface="Noto Sans CJK SC"/>
              </a:rPr>
              <a:t>近期</a:t>
            </a:r>
          </a:p>
        </p:txBody>
      </p:sp>
      <p:sp>
        <p:nvSpPr>
          <p:cNvPr id="201" name="LONGER TERM"/>
          <p:cNvSpPr txBox="1"/>
          <p:nvPr/>
        </p:nvSpPr>
        <p:spPr>
          <a:xfrm>
            <a:off x="6419088" y="2185416"/>
            <a:ext cx="5074920" cy="320040"/>
          </a:xfrm>
          <a:prstGeom prst="rect">
            <a:avLst/>
          </a:prstGeom>
          <a:noFill/>
          <a:ln>
            <a:noFill/>
          </a:ln>
        </p:spPr>
        <p:txBody>
          <a:bodyPr wrap="square" lIns="0" rIns="0" tIns="0" bIns="0" anchor="t">
            <a:noAutofit/>
          </a:bodyPr>
          <a:lstStyle/>
          <a:p>
            <a:pPr algn="l">
              <a:lnSpc>
                <a:spcPct val="106000"/>
              </a:lnSpc>
              <a:spcAft>
                <a:spcPts val="0"/>
              </a:spcAft>
            </a:pPr>
            <a:r>
              <a:rPr sz="1650" b="1" lang="zh-CN">
                <a:solidFill>
                  <a:srgbClr val="008E96"/>
                </a:solidFill>
                <a:latin typeface="Noto Sans CJK SC"/>
                <a:ea typeface="Noto Sans CJK SC"/>
                <a:cs typeface="Noto Sans CJK SC"/>
              </a:rPr>
              <a:t>远期</a:t>
            </a:r>
          </a:p>
        </p:txBody>
      </p:sp>
      <p:cxnSp>
        <p:nvCxnSpPr>
          <p:cNvPr id="202" name="Near-term section"/>
          <p:cNvCxnSpPr/>
          <p:nvPr/>
        </p:nvCxnSpPr>
        <p:spPr>
          <a:xfrm>
            <a:off x="731520" y="2596896"/>
            <a:ext cx="4983480" cy="0"/>
          </a:xfrm>
          <a:prstGeom prst="line">
            <a:avLst/>
          </a:prstGeom>
          <a:ln w="19050">
            <a:solidFill>
              <a:srgbClr val="96B4D9"/>
            </a:solidFill>
          </a:ln>
        </p:spPr>
      </p:cxnSp>
      <p:cxnSp>
        <p:nvCxnSpPr>
          <p:cNvPr id="203" name="Longer-term section"/>
          <p:cNvCxnSpPr/>
          <p:nvPr/>
        </p:nvCxnSpPr>
        <p:spPr>
          <a:xfrm>
            <a:off x="6419088" y="2596896"/>
            <a:ext cx="5056632" cy="0"/>
          </a:xfrm>
          <a:prstGeom prst="line">
            <a:avLst/>
          </a:prstGeom>
          <a:ln w="19050">
            <a:solidFill>
              <a:srgbClr val="8DB8B7"/>
            </a:solidFill>
          </a:ln>
        </p:spPr>
      </p:cxnSp>
      <p:cxnSp>
        <p:nvCxnSpPr>
          <p:cNvPr id="204" name="Phase boundary"/>
          <p:cNvCxnSpPr/>
          <p:nvPr/>
        </p:nvCxnSpPr>
        <p:spPr>
          <a:xfrm>
            <a:off x="6089904" y="2185416"/>
            <a:ext cx="0" cy="3895344"/>
          </a:xfrm>
          <a:prstGeom prst="line">
            <a:avLst/>
          </a:prstGeom>
          <a:ln w="12700">
            <a:solidFill>
              <a:srgbClr val="D1DDE9"/>
            </a:solidFill>
          </a:ln>
        </p:spPr>
      </p:cxnSp>
      <p:sp>
        <p:nvSpPr>
          <p:cNvPr id="205" name="JoyAI integration"/>
          <p:cNvSpPr txBox="1"/>
          <p:nvPr/>
        </p:nvSpPr>
        <p:spPr>
          <a:xfrm>
            <a:off x="731520" y="277063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JoyAI 接入</a:t>
            </a:r>
          </a:p>
        </p:txBody>
      </p:sp>
      <p:sp>
        <p:nvSpPr>
          <p:cNvPr id="206" name="Bring JoyAI into the unified duplex framework&#10;with model-specific input/output adapters"/>
          <p:cNvSpPr txBox="1"/>
          <p:nvPr/>
        </p:nvSpPr>
        <p:spPr>
          <a:xfrm>
            <a:off x="731520" y="312724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将 JoyAI 接入 unified duplex 框架</a:t>
            </a:r>
          </a:p>
          <a:p>
            <a:pPr algn="l">
              <a:lnSpc>
                <a:spcPct val="106000"/>
              </a:lnSpc>
              <a:spcAft>
                <a:spcPts val="0"/>
              </a:spcAft>
            </a:pPr>
            <a:r>
              <a:rPr sz="1400" b="0" lang="zh-CN">
                <a:solidFill>
                  <a:srgbClr val="586B7E"/>
                </a:solidFill>
                <a:latin typeface="Noto Sans CJK SC"/>
                <a:ea typeface="Noto Sans CJK SC"/>
                <a:cs typeface="Noto Sans CJK SC"/>
              </a:rPr>
              <a:t>完成模型输入与输出适配</a:t>
            </a:r>
          </a:p>
        </p:txBody>
      </p:sp>
      <p:sp>
        <p:nvSpPr>
          <p:cNvPr id="207" name="Unified tool calling"/>
          <p:cNvSpPr txBox="1"/>
          <p:nvPr/>
        </p:nvSpPr>
        <p:spPr>
          <a:xfrm>
            <a:off x="731520" y="363931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通用工具调用</a:t>
            </a:r>
          </a:p>
        </p:txBody>
      </p:sp>
      <p:sp>
        <p:nvSpPr>
          <p:cNvPr id="208" name="Shared call/result handling and model adapters&#10;Interruption, timeout and stale-result handling"/>
          <p:cNvSpPr txBox="1"/>
          <p:nvPr/>
        </p:nvSpPr>
        <p:spPr>
          <a:xfrm>
            <a:off x="731520" y="399592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统一调用与结果处理，完善模型适配</a:t>
            </a:r>
          </a:p>
          <a:p>
            <a:pPr algn="l">
              <a:lnSpc>
                <a:spcPct val="106000"/>
              </a:lnSpc>
              <a:spcAft>
                <a:spcPts val="0"/>
              </a:spcAft>
            </a:pPr>
            <a:r>
              <a:rPr sz="1400" b="0" lang="zh-CN">
                <a:solidFill>
                  <a:srgbClr val="586B7E"/>
                </a:solidFill>
                <a:latin typeface="Noto Sans CJK SC"/>
                <a:ea typeface="Noto Sans CJK SC"/>
                <a:cs typeface="Noto Sans CJK SC"/>
              </a:rPr>
              <a:t>处理打断、超时与过期结果</a:t>
            </a:r>
          </a:p>
        </p:txBody>
      </p:sp>
      <p:sp>
        <p:nvSpPr>
          <p:cNvPr id="209" name="Semantic VAD"/>
          <p:cNvSpPr txBox="1"/>
          <p:nvPr/>
        </p:nvSpPr>
        <p:spPr>
          <a:xfrm>
            <a:off x="731520" y="450799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Semantic VAD</a:t>
            </a:r>
          </a:p>
        </p:txBody>
      </p:sp>
      <p:sp>
        <p:nvSpPr>
          <p:cNvPr id="210" name="Turn completion based on meaning and context&#10;Integration with commit and response policies"/>
          <p:cNvSpPr txBox="1"/>
          <p:nvPr/>
        </p:nvSpPr>
        <p:spPr>
          <a:xfrm>
            <a:off x="731520" y="486460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结合语义与上下文判断用户是否说完</a:t>
            </a:r>
          </a:p>
          <a:p>
            <a:pPr algn="l">
              <a:lnSpc>
                <a:spcPct val="106000"/>
              </a:lnSpc>
              <a:spcAft>
                <a:spcPts val="0"/>
              </a:spcAft>
            </a:pPr>
            <a:r>
              <a:rPr sz="1400" b="0" lang="zh-CN">
                <a:solidFill>
                  <a:srgbClr val="586B7E"/>
                </a:solidFill>
                <a:latin typeface="Noto Sans CJK SC"/>
                <a:ea typeface="Noto Sans CJK SC"/>
                <a:cs typeface="Noto Sans CJK SC"/>
              </a:rPr>
              <a:t>接入 commit 与 response 策略</a:t>
            </a:r>
          </a:p>
        </p:txBody>
      </p:sp>
      <p:sp>
        <p:nvSpPr>
          <p:cNvPr id="211" name="Broader realtime evaluation"/>
          <p:cNvSpPr txBox="1"/>
          <p:nvPr/>
        </p:nvSpPr>
        <p:spPr>
          <a:xfrm>
            <a:off x="731520" y="537667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扩展实时交互测评</a:t>
            </a:r>
          </a:p>
        </p:txBody>
      </p:sp>
      <p:sp>
        <p:nvSpPr>
          <p:cNvPr id="212" name="Broader OmniInteract and Omni-DuplexEval coverage&#10;More models, interaction tasks and regression checks"/>
          <p:cNvSpPr txBox="1"/>
          <p:nvPr/>
        </p:nvSpPr>
        <p:spPr>
          <a:xfrm>
            <a:off x="731520" y="573328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扩展 OmniInteract / Omni-DuplexEval 覆盖</a:t>
            </a:r>
          </a:p>
          <a:p>
            <a:pPr algn="l">
              <a:lnSpc>
                <a:spcPct val="106000"/>
              </a:lnSpc>
              <a:spcAft>
                <a:spcPts val="0"/>
              </a:spcAft>
            </a:pPr>
            <a:r>
              <a:rPr sz="1400" b="0" lang="zh-CN">
                <a:solidFill>
                  <a:srgbClr val="586B7E"/>
                </a:solidFill>
                <a:latin typeface="Noto Sans CJK SC"/>
                <a:ea typeface="Noto Sans CJK SC"/>
                <a:cs typeface="Noto Sans CJK SC"/>
              </a:rPr>
              <a:t>增加模型、交互任务与回归检查</a:t>
            </a:r>
          </a:p>
        </p:txBody>
      </p:sp>
      <p:sp>
        <p:nvSpPr>
          <p:cNvPr id="213" name="Longer sustained conversations"/>
          <p:cNvSpPr txBox="1"/>
          <p:nvPr/>
        </p:nvSpPr>
        <p:spPr>
          <a:xfrm>
            <a:off x="6419088" y="2816352"/>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更长且稳定的连续会话</a:t>
            </a:r>
          </a:p>
        </p:txBody>
      </p:sp>
      <p:sp>
        <p:nvSpPr>
          <p:cNvPr id="214" name="Bound context and history for extended audio/video&#10;Maintain stable latency and memory as sessions grow"/>
          <p:cNvSpPr txBox="1"/>
          <p:nvPr/>
        </p:nvSpPr>
        <p:spPr>
          <a:xfrm>
            <a:off x="6419088" y="3200400"/>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管理长时间音视频会话的 context 与 history</a:t>
            </a:r>
          </a:p>
          <a:p>
            <a:pPr algn="l">
              <a:lnSpc>
                <a:spcPct val="106000"/>
              </a:lnSpc>
              <a:spcAft>
                <a:spcPts val="0"/>
              </a:spcAft>
            </a:pPr>
            <a:r>
              <a:rPr sz="1400" b="0" lang="zh-CN">
                <a:solidFill>
                  <a:srgbClr val="586B7E"/>
                </a:solidFill>
                <a:latin typeface="Noto Sans CJK SC"/>
                <a:ea typeface="Noto Sans CJK SC"/>
                <a:cs typeface="Noto Sans CJK SC"/>
              </a:rPr>
              <a:t>随会话延长，保持稳定的延迟与内存占用</a:t>
            </a:r>
          </a:p>
        </p:txBody>
      </p:sp>
      <p:sp>
        <p:nvSpPr>
          <p:cNvPr id="215" name="Scaled multi-replica serving"/>
          <p:cNvSpPr txBox="1"/>
          <p:nvPr/>
        </p:nvSpPr>
        <p:spPr>
          <a:xfrm>
            <a:off x="6419088" y="4544568"/>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扩大多副本服务规模</a:t>
            </a:r>
          </a:p>
        </p:txBody>
      </p:sp>
      <p:sp>
        <p:nvSpPr>
          <p:cNvPr id="216" name="Higher session concurrency across Stage replicas&#10;Session routing and ownership across API frontends"/>
          <p:cNvSpPr txBox="1"/>
          <p:nvPr/>
        </p:nvSpPr>
        <p:spPr>
          <a:xfrm>
            <a:off x="6419088" y="4928616"/>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通过多个 Stage replica 提升会话并发</a:t>
            </a:r>
          </a:p>
          <a:p>
            <a:pPr algn="l">
              <a:lnSpc>
                <a:spcPct val="106000"/>
              </a:lnSpc>
              <a:spcAft>
                <a:spcPts val="0"/>
              </a:spcAft>
            </a:pPr>
            <a:r>
              <a:rPr sz="1400" b="0" lang="zh-CN">
                <a:solidFill>
                  <a:srgbClr val="586B7E"/>
                </a:solidFill>
                <a:latin typeface="Noto Sans CJK SC"/>
                <a:ea typeface="Noto Sans CJK SC"/>
                <a:cs typeface="Noto Sans CJK SC"/>
              </a:rPr>
              <a:t>支持跨 API frontend 的会话路由与归属管理</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架构</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lang="zh-CN">
                <a:solidFill>
                  <a:srgbClr val="142B45"/>
                </a:solidFill>
                <a:latin typeface="Noto Sans CJK SC"/>
                <a:ea typeface="Noto Sans CJK SC"/>
                <a:cs typeface="Noto Sans CJK SC"/>
              </a:rPr>
              <a:t>全双工执行链路：从输入到模型，再到输出</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普通输出通过每个 session 的有界 buffer 传递，由 API 与 Orchestrator 线程共用。</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A1</a:t>
            </a:r>
          </a:p>
        </p:txBody>
      </p:sp>
      <p:sp>
        <p:nvSpPr>
          <p:cNvPr id="12" name="Rounded Rectangle 11"/>
          <p:cNvSpPr/>
          <p:nvPr/>
        </p:nvSpPr>
        <p:spPr>
          <a:xfrm>
            <a:off x="548640" y="2670048"/>
            <a:ext cx="7680960" cy="3090672"/>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846320" y="2157984"/>
            <a:ext cx="3154680" cy="182880"/>
          </a:xfrm>
          <a:prstGeom prst="rect">
            <a:avLst/>
          </a:prstGeom>
          <a:noFill/>
        </p:spPr>
        <p:txBody>
          <a:bodyPr wrap="square" lIns="0" rIns="0" tIns="0" bIns="0" anchor="t">
            <a:spAutoFit/>
          </a:bodyPr>
          <a:lstStyle/>
          <a:p>
            <a:pPr algn="l">
              <a:lnSpc>
                <a:spcPct val="110000"/>
              </a:lnSpc>
              <a:spcAft>
                <a:spcPts val="0"/>
              </a:spcAft>
            </a:pPr>
            <a:r>
              <a:rPr sz="1050" b="1" lang="zh-CN">
                <a:solidFill>
                  <a:srgbClr val="586B7E"/>
                </a:solidFill>
                <a:latin typeface="Noto Sans CJK SC"/>
                <a:ea typeface="Noto Sans CJK SC"/>
                <a:cs typeface="Noto Sans CJK SC"/>
              </a:rPr>
              <a:t>同一 API 进程</a:t>
            </a:r>
          </a:p>
        </p:txBody>
      </p:sp>
      <p:cxnSp>
        <p:nvCxnSpPr>
          <p:cNvPr id="15" name="Connector 14"/>
          <p:cNvCxnSpPr/>
          <p:nvPr/>
        </p:nvCxnSpPr>
        <p:spPr>
          <a:xfrm>
            <a:off x="4480560" y="3017520"/>
            <a:ext cx="0" cy="2560320"/>
          </a:xfrm>
          <a:prstGeom prst="line">
            <a:avLst/>
          </a:prstGeom>
          <a:ln w="1270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786384" y="2816352"/>
            <a:ext cx="239572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API 事件循环</a:t>
            </a:r>
          </a:p>
        </p:txBody>
      </p:sp>
      <p:sp>
        <p:nvSpPr>
          <p:cNvPr id="17" name="TextBox 16"/>
          <p:cNvSpPr txBox="1"/>
          <p:nvPr/>
        </p:nvSpPr>
        <p:spPr>
          <a:xfrm>
            <a:off x="4828032" y="2816352"/>
            <a:ext cx="317296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Duplex Orchestrator 线程</a:t>
            </a:r>
          </a:p>
        </p:txBody>
      </p:sp>
      <p:sp>
        <p:nvSpPr>
          <p:cNvPr id="19" name="Rounded Rectangle 18"/>
          <p:cNvSpPr/>
          <p:nvPr/>
        </p:nvSpPr>
        <p:spPr>
          <a:xfrm>
            <a:off x="768096" y="2185416"/>
            <a:ext cx="2761488" cy="39319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77824" y="2267712"/>
            <a:ext cx="2542032" cy="201168"/>
          </a:xfrm>
          <a:prstGeom prst="rect">
            <a:avLst/>
          </a:prstGeom>
          <a:noFill/>
        </p:spPr>
        <p:txBody>
          <a:bodyPr wrap="square" lIns="0" rIns="0" tIns="0" bIns="0" anchor="t">
            <a:spAutoFit/>
          </a:bodyPr>
          <a:lstStyle/>
          <a:p>
            <a:pPr algn="l">
              <a:lnSpc>
                <a:spcPct val="110000"/>
              </a:lnSpc>
              <a:spcAft>
                <a:spcPts val="0"/>
              </a:spcAft>
            </a:pPr>
            <a:r>
              <a:rPr sz="1220" b="1">
                <a:solidFill>
                  <a:srgbClr val="327CEC"/>
                </a:solidFill>
                <a:latin typeface="Arial"/>
                <a:ea typeface="Arial"/>
                <a:cs typeface="Arial"/>
              </a:rPr>
              <a:t>User Client · WebSocket</a:t>
            </a:r>
          </a:p>
        </p:txBody>
      </p:sp>
      <p:cxnSp>
        <p:nvCxnSpPr>
          <p:cNvPr id="21" name="Connector 20"/>
          <p:cNvCxnSpPr/>
          <p:nvPr/>
        </p:nvCxnSpPr>
        <p:spPr>
          <a:xfrm>
            <a:off x="3374136" y="2587752"/>
            <a:ext cx="0" cy="539496"/>
          </a:xfrm>
          <a:prstGeom prst="line">
            <a:avLst/>
          </a:prstGeom>
          <a:ln w="17145">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flipH="1">
            <a:off x="438912" y="5212080"/>
            <a:ext cx="329184" cy="0"/>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flipV="1">
            <a:off x="438912" y="2386584"/>
            <a:ext cx="0" cy="2825496"/>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a:off x="438912" y="2386584"/>
            <a:ext cx="320040" cy="0"/>
          </a:xfrm>
          <a:prstGeom prst="line">
            <a:avLst/>
          </a:prstGeom>
          <a:ln w="1651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a:off x="8668512" y="2231136"/>
            <a:ext cx="29260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9052560" y="2130552"/>
            <a:ext cx="2368296" cy="210312"/>
          </a:xfrm>
          <a:prstGeom prst="rect">
            <a:avLst/>
          </a:prstGeom>
          <a:noFill/>
        </p:spPr>
        <p:txBody>
          <a:bodyPr wrap="square" lIns="0" rIns="0" tIns="0" bIns="0" anchor="t">
            <a:spAutoFit/>
          </a:bodyPr>
          <a:lstStyle/>
          <a:p>
            <a:pPr algn="l">
              <a:lnSpc>
                <a:spcPct val="110000"/>
              </a:lnSpc>
              <a:spcAft>
                <a:spcPts val="0"/>
              </a:spcAft>
            </a:pPr>
            <a:r>
              <a:rPr sz="1050" b="0" lang="zh-CN">
                <a:solidFill>
                  <a:srgbClr val="327CEC"/>
                </a:solidFill>
                <a:latin typeface="Noto Sans CJK SC"/>
                <a:ea typeface="Noto Sans CJK SC"/>
                <a:cs typeface="Noto Sans CJK SC"/>
              </a:rPr>
              <a:t>输入 / 请求提交</a:t>
            </a:r>
          </a:p>
        </p:txBody>
      </p:sp>
      <p:cxnSp>
        <p:nvCxnSpPr>
          <p:cNvPr id="27" name="Connector 26"/>
          <p:cNvCxnSpPr/>
          <p:nvPr/>
        </p:nvCxnSpPr>
        <p:spPr>
          <a:xfrm>
            <a:off x="8668512" y="2505456"/>
            <a:ext cx="29260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8" name="TextBox 27"/>
          <p:cNvSpPr txBox="1"/>
          <p:nvPr/>
        </p:nvSpPr>
        <p:spPr>
          <a:xfrm>
            <a:off x="9052560" y="2404872"/>
            <a:ext cx="2368296" cy="210312"/>
          </a:xfrm>
          <a:prstGeom prst="rect">
            <a:avLst/>
          </a:prstGeom>
          <a:noFill/>
        </p:spPr>
        <p:txBody>
          <a:bodyPr wrap="square" lIns="0" rIns="0" tIns="0" bIns="0" anchor="t">
            <a:spAutoFit/>
          </a:bodyPr>
          <a:lstStyle/>
          <a:p>
            <a:pPr algn="l">
              <a:lnSpc>
                <a:spcPct val="110000"/>
              </a:lnSpc>
              <a:spcAft>
                <a:spcPts val="0"/>
              </a:spcAft>
            </a:pPr>
            <a:r>
              <a:rPr sz="1050" b="0" lang="zh-CN">
                <a:solidFill>
                  <a:srgbClr val="008E96"/>
                </a:solidFill>
                <a:latin typeface="Noto Sans CJK SC"/>
                <a:ea typeface="Noto Sans CJK SC"/>
                <a:cs typeface="Noto Sans CJK SC"/>
              </a:rPr>
              <a:t>输出 / 事件回传</a:t>
            </a:r>
          </a:p>
        </p:txBody>
      </p:sp>
      <p:sp>
        <p:nvSpPr>
          <p:cNvPr id="29" name="Rounded Rectangle 28"/>
          <p:cNvSpPr/>
          <p:nvPr/>
        </p:nvSpPr>
        <p:spPr>
          <a:xfrm>
            <a:off x="768096" y="3136392"/>
            <a:ext cx="2761488"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768096" y="4882896"/>
            <a:ext cx="2761488"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4809744" y="3136392"/>
            <a:ext cx="3182112"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4809744" y="4882896"/>
            <a:ext cx="3182112"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914400" y="3273552"/>
            <a:ext cx="2468880" cy="246888"/>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API Server</a:t>
            </a:r>
          </a:p>
        </p:txBody>
      </p:sp>
      <p:sp>
        <p:nvSpPr>
          <p:cNvPr id="36" name="TextBox 35"/>
          <p:cNvSpPr txBox="1"/>
          <p:nvPr/>
        </p:nvSpPr>
        <p:spPr>
          <a:xfrm>
            <a:off x="914400" y="3621024"/>
            <a:ext cx="2468880" cy="228600"/>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 EngineClient · DuplexOmni</a:t>
            </a:r>
          </a:p>
        </p:txBody>
      </p:sp>
      <p:sp>
        <p:nvSpPr>
          <p:cNvPr id="37" name="TextBox 36"/>
          <p:cNvSpPr txBox="1"/>
          <p:nvPr/>
        </p:nvSpPr>
        <p:spPr>
          <a:xfrm>
            <a:off x="914400" y="3968496"/>
            <a:ext cx="2468880" cy="228600"/>
          </a:xfrm>
          <a:prstGeom prst="rect">
            <a:avLst/>
          </a:prstGeom>
          <a:noFill/>
        </p:spPr>
        <p:txBody>
          <a:bodyPr wrap="square" lIns="0" rIns="0" tIns="0" bIns="0" anchor="t">
            <a:spAutoFit/>
          </a:bodyPr>
          <a:lstStyle/>
          <a:p>
            <a:pPr algn="l">
              <a:lnSpc>
                <a:spcPct val="110000"/>
              </a:lnSpc>
              <a:spcAft>
                <a:spcPts val="0"/>
              </a:spcAft>
            </a:pPr>
            <a:r>
              <a:rPr sz="1280" b="0">
                <a:solidFill>
                  <a:srgbClr val="142B45"/>
                </a:solidFill>
                <a:latin typeface="Arial"/>
                <a:ea typeface="Arial"/>
                <a:cs typeface="Arial"/>
              </a:rPr>
              <a:t>↓ DuplexOmniEngine</a:t>
            </a:r>
          </a:p>
        </p:txBody>
      </p:sp>
      <p:sp>
        <p:nvSpPr>
          <p:cNvPr id="38" name="TextBox 37"/>
          <p:cNvSpPr txBox="1"/>
          <p:nvPr/>
        </p:nvSpPr>
        <p:spPr>
          <a:xfrm>
            <a:off x="914400" y="4398264"/>
            <a:ext cx="2468880" cy="192024"/>
          </a:xfrm>
          <a:prstGeom prst="rect">
            <a:avLst/>
          </a:prstGeom>
          <a:noFill/>
        </p:spPr>
        <p:txBody>
          <a:bodyPr wrap="square" lIns="0" rIns="0" tIns="0" bIns="0" anchor="t">
            <a:spAutoFit/>
          </a:bodyPr>
          <a:lstStyle/>
          <a:p>
            <a:pPr algn="l">
              <a:lnSpc>
                <a:spcPct val="110000"/>
              </a:lnSpc>
              <a:spcAft>
                <a:spcPts val="0"/>
              </a:spcAft>
            </a:pPr>
            <a:r>
              <a:rPr sz="1019" b="0" lang="zh-CN">
                <a:solidFill>
                  <a:srgbClr val="586B7E"/>
                </a:solidFill>
                <a:latin typeface="Noto Sans CJK SC"/>
                <a:ea typeface="Noto Sans CJK SC"/>
                <a:cs typeface="Noto Sans CJK SC"/>
              </a:rPr>
              <a:t>协议 → handle → command / control</a:t>
            </a:r>
          </a:p>
        </p:txBody>
      </p:sp>
      <p:sp>
        <p:nvSpPr>
          <p:cNvPr id="39" name="TextBox 38"/>
          <p:cNvSpPr txBox="1"/>
          <p:nvPr/>
        </p:nvSpPr>
        <p:spPr>
          <a:xfrm>
            <a:off x="905256" y="5001768"/>
            <a:ext cx="2496312"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EngineClient → API Server</a:t>
            </a:r>
          </a:p>
        </p:txBody>
      </p:sp>
      <p:sp>
        <p:nvSpPr>
          <p:cNvPr id="40" name="TextBox 39"/>
          <p:cNvSpPr txBox="1"/>
          <p:nvPr/>
        </p:nvSpPr>
        <p:spPr>
          <a:xfrm>
            <a:off x="905256" y="5312664"/>
            <a:ext cx="2496312" cy="192024"/>
          </a:xfrm>
          <a:prstGeom prst="rect">
            <a:avLst/>
          </a:prstGeom>
          <a:noFill/>
        </p:spPr>
        <p:txBody>
          <a:bodyPr wrap="square" lIns="0" rIns="0" tIns="0" bIns="0" anchor="t">
            <a:spAutoFit/>
          </a:bodyPr>
          <a:lstStyle/>
          <a:p>
            <a:pPr algn="l">
              <a:lnSpc>
                <a:spcPct val="110000"/>
              </a:lnSpc>
              <a:spcAft>
                <a:spcPts val="0"/>
              </a:spcAft>
            </a:pPr>
            <a:r>
              <a:rPr sz="1040" b="0">
                <a:solidFill>
                  <a:srgbClr val="586B7E"/>
                </a:solidFill>
                <a:latin typeface="Arial"/>
                <a:ea typeface="Arial"/>
                <a:cs typeface="Arial"/>
              </a:rPr>
              <a:t>handle.events() → WebSocket</a:t>
            </a:r>
          </a:p>
        </p:txBody>
      </p:sp>
      <p:sp>
        <p:nvSpPr>
          <p:cNvPr id="41" name="TextBox 40"/>
          <p:cNvSpPr txBox="1"/>
          <p:nvPr/>
        </p:nvSpPr>
        <p:spPr>
          <a:xfrm>
            <a:off x="4956048" y="3273552"/>
            <a:ext cx="2880360" cy="237744"/>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Session Manager → Runner</a:t>
            </a:r>
          </a:p>
        </p:txBody>
      </p:sp>
      <p:sp>
        <p:nvSpPr>
          <p:cNvPr id="42" name="TextBox 41"/>
          <p:cNvSpPr txBox="1"/>
          <p:nvPr/>
        </p:nvSpPr>
        <p:spPr>
          <a:xfrm>
            <a:off x="4956048" y="3584448"/>
            <a:ext cx="2880360" cy="219456"/>
          </a:xfrm>
          <a:prstGeom prst="rect">
            <a:avLst/>
          </a:prstGeom>
          <a:noFill/>
        </p:spPr>
        <p:txBody>
          <a:bodyPr wrap="square" lIns="0" rIns="0" tIns="0" bIns="0" anchor="t">
            <a:spAutoFit/>
          </a:bodyPr>
          <a:lstStyle/>
          <a:p>
            <a:pPr algn="l">
              <a:lnSpc>
                <a:spcPct val="110000"/>
              </a:lnSpc>
              <a:spcAft>
                <a:spcPts val="0"/>
              </a:spcAft>
            </a:pPr>
            <a:r>
              <a:rPr sz="1110" b="0" lang="zh-CN">
                <a:solidFill>
                  <a:srgbClr val="586B7E"/>
                </a:solidFill>
                <a:latin typeface="Noto Sans CJK SC"/>
                <a:ea typeface="Noto Sans CJK SC"/>
                <a:cs typeface="Noto Sans CJK SC"/>
              </a:rPr>
              <a:t>mailbox 按序处理 · 会话状态</a:t>
            </a:r>
          </a:p>
        </p:txBody>
      </p:sp>
      <p:sp>
        <p:nvSpPr>
          <p:cNvPr id="43" name="TextBox 42"/>
          <p:cNvSpPr txBox="1"/>
          <p:nvPr/>
        </p:nvSpPr>
        <p:spPr>
          <a:xfrm>
            <a:off x="4956048" y="3941063"/>
            <a:ext cx="2880360" cy="228600"/>
          </a:xfrm>
          <a:prstGeom prst="rect">
            <a:avLst/>
          </a:prstGeom>
          <a:noFill/>
        </p:spPr>
        <p:txBody>
          <a:bodyPr wrap="square" lIns="0" rIns="0" tIns="0" bIns="0" anchor="t">
            <a:spAutoFit/>
          </a:bodyPr>
          <a:lstStyle/>
          <a:p>
            <a:pPr algn="l">
              <a:lnSpc>
                <a:spcPct val="110000"/>
              </a:lnSpc>
              <a:spcAft>
                <a:spcPts val="0"/>
              </a:spcAft>
            </a:pPr>
            <a:r>
              <a:rPr sz="1230" b="0">
                <a:solidFill>
                  <a:srgbClr val="142B45"/>
                </a:solidFill>
                <a:latin typeface="Arial"/>
                <a:ea typeface="Arial"/>
                <a:cs typeface="Arial"/>
              </a:rPr>
              <a:t>Model Plugin / ModelChannel</a:t>
            </a:r>
          </a:p>
        </p:txBody>
      </p:sp>
      <p:sp>
        <p:nvSpPr>
          <p:cNvPr id="44" name="TextBox 43"/>
          <p:cNvSpPr txBox="1"/>
          <p:nvPr/>
        </p:nvSpPr>
        <p:spPr>
          <a:xfrm>
            <a:off x="4956048" y="4361688"/>
            <a:ext cx="2880360" cy="219456"/>
          </a:xfrm>
          <a:prstGeom prst="rect">
            <a:avLst/>
          </a:prstGeom>
          <a:noFill/>
        </p:spPr>
        <p:txBody>
          <a:bodyPr wrap="square" lIns="0" rIns="0" tIns="0" bIns="0" anchor="t">
            <a:spAutoFit/>
          </a:bodyPr>
          <a:lstStyle/>
          <a:p>
            <a:pPr algn="l">
              <a:lnSpc>
                <a:spcPct val="110000"/>
              </a:lnSpc>
              <a:spcAft>
                <a:spcPts val="0"/>
              </a:spcAft>
            </a:pPr>
            <a:r>
              <a:rPr sz="1230" b="1">
                <a:solidFill>
                  <a:srgbClr val="142B45"/>
                </a:solidFill>
                <a:latin typeface="Arial"/>
                <a:ea typeface="Arial"/>
                <a:cs typeface="Arial"/>
              </a:rPr>
              <a:t>↓ StagePool → Stage client</a:t>
            </a:r>
          </a:p>
        </p:txBody>
      </p:sp>
      <p:sp>
        <p:nvSpPr>
          <p:cNvPr id="45" name="TextBox 44"/>
          <p:cNvSpPr txBox="1"/>
          <p:nvPr/>
        </p:nvSpPr>
        <p:spPr>
          <a:xfrm>
            <a:off x="4956048" y="5001768"/>
            <a:ext cx="2880360" cy="219456"/>
          </a:xfrm>
          <a:prstGeom prst="rect">
            <a:avLst/>
          </a:prstGeom>
          <a:noFill/>
        </p:spPr>
        <p:txBody>
          <a:bodyPr wrap="square" lIns="0" rIns="0" tIns="0" bIns="0" anchor="t">
            <a:spAutoFit/>
          </a:bodyPr>
          <a:lstStyle/>
          <a:p>
            <a:pPr algn="l">
              <a:lnSpc>
                <a:spcPct val="110000"/>
              </a:lnSpc>
              <a:spcAft>
                <a:spcPts val="0"/>
              </a:spcAft>
            </a:pPr>
            <a:r>
              <a:rPr sz="1190" b="1">
                <a:solidFill>
                  <a:srgbClr val="008E96"/>
                </a:solidFill>
                <a:latin typeface="Arial"/>
                <a:ea typeface="Arial"/>
                <a:cs typeface="Arial"/>
              </a:rPr>
              <a:t>StagePool → Runner / Plugin</a:t>
            </a:r>
          </a:p>
        </p:txBody>
      </p:sp>
      <p:sp>
        <p:nvSpPr>
          <p:cNvPr id="46" name="TextBox 45"/>
          <p:cNvSpPr txBox="1"/>
          <p:nvPr/>
        </p:nvSpPr>
        <p:spPr>
          <a:xfrm>
            <a:off x="4956048" y="5312664"/>
            <a:ext cx="2880360" cy="192024"/>
          </a:xfrm>
          <a:prstGeom prst="rect">
            <a:avLst/>
          </a:prstGeom>
          <a:noFill/>
        </p:spPr>
        <p:txBody>
          <a:bodyPr wrap="square" lIns="0" rIns="0" tIns="0" bIns="0" anchor="t">
            <a:spAutoFit/>
          </a:bodyPr>
          <a:lstStyle/>
          <a:p>
            <a:pPr algn="l">
              <a:lnSpc>
                <a:spcPct val="110000"/>
              </a:lnSpc>
              <a:spcAft>
                <a:spcPts val="0"/>
              </a:spcAft>
            </a:pPr>
            <a:r>
              <a:rPr sz="1050" b="0" lang="zh-CN">
                <a:solidFill>
                  <a:srgbClr val="586B7E"/>
                </a:solidFill>
                <a:latin typeface="Noto Sans CJK SC"/>
                <a:ea typeface="Noto Sans CJK SC"/>
                <a:cs typeface="Noto Sans CJK SC"/>
              </a:rPr>
              <a:t>Manager.emit → 共用的 session buffer</a:t>
            </a:r>
          </a:p>
        </p:txBody>
      </p:sp>
      <p:cxnSp>
        <p:nvCxnSpPr>
          <p:cNvPr id="54" name="Connector 53"/>
          <p:cNvCxnSpPr/>
          <p:nvPr/>
        </p:nvCxnSpPr>
        <p:spPr>
          <a:xfrm>
            <a:off x="3547872" y="3886200"/>
            <a:ext cx="1234440"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602736" y="3575304"/>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327CEC"/>
                </a:solidFill>
                <a:latin typeface="Arial"/>
                <a:ea typeface="Arial"/>
                <a:cs typeface="Arial"/>
              </a:rPr>
              <a:t>request_queue</a:t>
            </a:r>
          </a:p>
        </p:txBody>
      </p:sp>
      <p:sp>
        <p:nvSpPr>
          <p:cNvPr id="56" name="TextBox 55"/>
          <p:cNvSpPr txBox="1"/>
          <p:nvPr/>
        </p:nvSpPr>
        <p:spPr>
          <a:xfrm>
            <a:off x="3602736" y="4014215"/>
            <a:ext cx="1133856" cy="182880"/>
          </a:xfrm>
          <a:prstGeom prst="rect">
            <a:avLst/>
          </a:prstGeom>
          <a:noFill/>
        </p:spPr>
        <p:txBody>
          <a:bodyPr wrap="square" lIns="0" rIns="0" tIns="0" bIns="0" anchor="t">
            <a:spAutoFit/>
          </a:bodyPr>
          <a:lstStyle/>
          <a:p>
            <a:pPr algn="ctr">
              <a:lnSpc>
                <a:spcPct val="110000"/>
              </a:lnSpc>
              <a:spcAft>
                <a:spcPts val="0"/>
              </a:spcAft>
            </a:pPr>
            <a:r>
              <a:rPr sz="840" b="0" lang="zh-CN">
                <a:solidFill>
                  <a:srgbClr val="586B7E"/>
                </a:solidFill>
                <a:latin typeface="Noto Sans CJK SC"/>
                <a:ea typeface="Noto Sans CJK SC"/>
                <a:cs typeface="Noto Sans CJK SC"/>
              </a:rPr>
              <a:t>Janus · 请求</a:t>
            </a:r>
          </a:p>
        </p:txBody>
      </p:sp>
      <p:cxnSp>
        <p:nvCxnSpPr>
          <p:cNvPr id="57" name="Connector 56"/>
          <p:cNvCxnSpPr/>
          <p:nvPr/>
        </p:nvCxnSpPr>
        <p:spPr>
          <a:xfrm flipH="1">
            <a:off x="3547872" y="5212080"/>
            <a:ext cx="1234440"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8" name="TextBox 57"/>
          <p:cNvSpPr txBox="1"/>
          <p:nvPr/>
        </p:nvSpPr>
        <p:spPr>
          <a:xfrm>
            <a:off x="3602736" y="4910328"/>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008E96"/>
                </a:solidFill>
                <a:latin typeface="Arial"/>
                <a:ea typeface="Arial"/>
                <a:cs typeface="Arial"/>
              </a:rPr>
              <a:t>session buffer</a:t>
            </a:r>
          </a:p>
        </p:txBody>
      </p:sp>
      <p:sp>
        <p:nvSpPr>
          <p:cNvPr id="59" name="TextBox 58"/>
          <p:cNvSpPr txBox="1"/>
          <p:nvPr/>
        </p:nvSpPr>
        <p:spPr>
          <a:xfrm>
            <a:off x="3602736" y="5330952"/>
            <a:ext cx="1133856" cy="182880"/>
          </a:xfrm>
          <a:prstGeom prst="rect">
            <a:avLst/>
          </a:prstGeom>
          <a:noFill/>
        </p:spPr>
        <p:txBody>
          <a:bodyPr wrap="square" lIns="0" rIns="0" tIns="0" bIns="0" anchor="t">
            <a:spAutoFit/>
          </a:bodyPr>
          <a:lstStyle/>
          <a:p>
            <a:pPr algn="ctr">
              <a:lnSpc>
                <a:spcPct val="110000"/>
              </a:lnSpc>
              <a:spcAft>
                <a:spcPts val="0"/>
              </a:spcAft>
            </a:pPr>
            <a:r>
              <a:rPr sz="869" b="0" lang="zh-CN">
                <a:solidFill>
                  <a:srgbClr val="586B7E"/>
                </a:solidFill>
                <a:latin typeface="Noto Sans CJK SC"/>
                <a:ea typeface="Noto Sans CJK SC"/>
                <a:cs typeface="Noto Sans CJK SC"/>
              </a:rPr>
              <a:t>有界 · 直接传递</a:t>
            </a:r>
          </a:p>
        </p:txBody>
      </p:sp>
      <p:sp>
        <p:nvSpPr>
          <p:cNvPr id="64" name="TextBox 63"/>
          <p:cNvSpPr txBox="1"/>
          <p:nvPr/>
        </p:nvSpPr>
        <p:spPr>
          <a:xfrm>
            <a:off x="777240" y="5952744"/>
            <a:ext cx="243230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PersonaPlex 示例</a:t>
            </a:r>
          </a:p>
        </p:txBody>
      </p:sp>
      <p:sp>
        <p:nvSpPr>
          <p:cNvPr id="65" name="TextBox 64"/>
          <p:cNvSpPr txBox="1"/>
          <p:nvPr/>
        </p:nvSpPr>
        <p:spPr>
          <a:xfrm>
            <a:off x="3300984" y="5925312"/>
            <a:ext cx="2286000"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Talker · Stage 0</a:t>
            </a:r>
          </a:p>
        </p:txBody>
      </p:sp>
      <p:sp>
        <p:nvSpPr>
          <p:cNvPr id="67" name="TextBox 66"/>
          <p:cNvSpPr txBox="1"/>
          <p:nvPr/>
        </p:nvSpPr>
        <p:spPr>
          <a:xfrm>
            <a:off x="9052560" y="5925312"/>
            <a:ext cx="2286000"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Code2Wav · Mimi</a:t>
            </a:r>
          </a:p>
        </p:txBody>
      </p:sp>
      <p:cxnSp>
        <p:nvCxnSpPr>
          <p:cNvPr id="68" name="Connector 67"/>
          <p:cNvCxnSpPr/>
          <p:nvPr/>
        </p:nvCxnSpPr>
        <p:spPr>
          <a:xfrm>
            <a:off x="5742432" y="6080760"/>
            <a:ext cx="3081528" cy="0"/>
          </a:xfrm>
          <a:prstGeom prst="line">
            <a:avLst/>
          </a:prstGeom>
          <a:ln w="1651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71" name="TextBox 70"/>
          <p:cNvSpPr txBox="1"/>
          <p:nvPr/>
        </p:nvSpPr>
        <p:spPr>
          <a:xfrm>
            <a:off x="5577840" y="6236208"/>
            <a:ext cx="3383280" cy="155448"/>
          </a:xfrm>
          <a:prstGeom prst="rect">
            <a:avLst/>
          </a:prstGeom>
          <a:noFill/>
        </p:spPr>
        <p:txBody>
          <a:bodyPr wrap="square" lIns="0" rIns="0" tIns="0" bIns="0" anchor="t">
            <a:spAutoFit/>
          </a:bodyPr>
          <a:lstStyle/>
          <a:p>
            <a:pPr algn="ctr">
              <a:lnSpc>
                <a:spcPct val="110000"/>
              </a:lnSpc>
              <a:spcAft>
                <a:spcPts val="0"/>
              </a:spcAft>
            </a:pPr>
            <a:r>
              <a:rPr sz="840" b="0" lang="zh-CN">
                <a:solidFill>
                  <a:srgbClr val="7855AD"/>
                </a:solidFill>
                <a:latin typeface="Noto Sans CJK SC"/>
                <a:ea typeface="Noto Sans CJK SC"/>
                <a:cs typeface="Noto Sans CJK SC"/>
              </a:rPr>
              <a:t>Shared-memory 音频编码传输</a:t>
            </a:r>
          </a:p>
        </p:txBody>
      </p:sp>
      <p:sp>
        <p:nvSpPr>
          <p:cNvPr id="72" name="TextBox 71"/>
          <p:cNvSpPr txBox="1"/>
          <p:nvPr/>
        </p:nvSpPr>
        <p:spPr>
          <a:xfrm>
            <a:off x="4846320" y="2450592"/>
            <a:ext cx="333756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StagePool：选择 Replica · 保持 request affinity</a:t>
            </a:r>
          </a:p>
        </p:txBody>
      </p:sp>
      <p:sp>
        <p:nvSpPr>
          <p:cNvPr id="73" name="Rounded Rectangle 72"/>
          <p:cNvSpPr/>
          <p:nvPr/>
        </p:nvSpPr>
        <p:spPr>
          <a:xfrm>
            <a:off x="8503920" y="2670048"/>
            <a:ext cx="3127248" cy="3090672"/>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8659368" y="2816352"/>
            <a:ext cx="2807208" cy="228600"/>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同一 Stage 的 Replica · 独立进程</a:t>
            </a:r>
          </a:p>
        </p:txBody>
      </p:sp>
      <p:sp>
        <p:nvSpPr>
          <p:cNvPr id="75" name="Rounded Rectangle 74"/>
          <p:cNvSpPr/>
          <p:nvPr/>
        </p:nvSpPr>
        <p:spPr>
          <a:xfrm>
            <a:off x="8668512" y="3136392"/>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TextBox 75"/>
          <p:cNvSpPr txBox="1"/>
          <p:nvPr/>
        </p:nvSpPr>
        <p:spPr>
          <a:xfrm>
            <a:off x="8787384" y="3236976"/>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0 · EngineCore</a:t>
            </a:r>
          </a:p>
        </p:txBody>
      </p:sp>
      <p:sp>
        <p:nvSpPr>
          <p:cNvPr id="77" name="TextBox 76"/>
          <p:cNvSpPr txBox="1"/>
          <p:nvPr/>
        </p:nvSpPr>
        <p:spPr>
          <a:xfrm>
            <a:off x="8787384" y="3547872"/>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78" name="Connector 77"/>
          <p:cNvCxnSpPr/>
          <p:nvPr/>
        </p:nvCxnSpPr>
        <p:spPr>
          <a:xfrm>
            <a:off x="11256264" y="3474720"/>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sp>
        <p:nvSpPr>
          <p:cNvPr id="79" name="Rounded Rectangle 78"/>
          <p:cNvSpPr/>
          <p:nvPr/>
        </p:nvSpPr>
        <p:spPr>
          <a:xfrm>
            <a:off x="8668512" y="3931920"/>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TextBox 79"/>
          <p:cNvSpPr txBox="1"/>
          <p:nvPr/>
        </p:nvSpPr>
        <p:spPr>
          <a:xfrm>
            <a:off x="8787384" y="4032504"/>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1 · EngineCore</a:t>
            </a:r>
          </a:p>
        </p:txBody>
      </p:sp>
      <p:sp>
        <p:nvSpPr>
          <p:cNvPr id="81" name="TextBox 80"/>
          <p:cNvSpPr txBox="1"/>
          <p:nvPr/>
        </p:nvSpPr>
        <p:spPr>
          <a:xfrm>
            <a:off x="8787384" y="4343400"/>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82" name="Connector 81"/>
          <p:cNvCxnSpPr/>
          <p:nvPr/>
        </p:nvCxnSpPr>
        <p:spPr>
          <a:xfrm>
            <a:off x="11256264" y="4270248"/>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11512296" y="3474720"/>
            <a:ext cx="0" cy="128016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flipH="1">
            <a:off x="10076688" y="4754880"/>
            <a:ext cx="1435608"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a:off x="10076688" y="4754880"/>
            <a:ext cx="0" cy="109728"/>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Rounded Rectangle 85"/>
          <p:cNvSpPr/>
          <p:nvPr/>
        </p:nvSpPr>
        <p:spPr>
          <a:xfrm>
            <a:off x="8668512" y="4882896"/>
            <a:ext cx="2798064"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TextBox 86"/>
          <p:cNvSpPr txBox="1"/>
          <p:nvPr/>
        </p:nvSpPr>
        <p:spPr>
          <a:xfrm>
            <a:off x="8814816" y="5001768"/>
            <a:ext cx="2514600"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EngineCoreOutputs</a:t>
            </a:r>
          </a:p>
        </p:txBody>
      </p:sp>
      <p:sp>
        <p:nvSpPr>
          <p:cNvPr id="88" name="TextBox 87"/>
          <p:cNvSpPr txBox="1"/>
          <p:nvPr/>
        </p:nvSpPr>
        <p:spPr>
          <a:xfrm>
            <a:off x="8814816" y="5312664"/>
            <a:ext cx="2514600" cy="192024"/>
          </a:xfrm>
          <a:prstGeom prst="rect">
            <a:avLst/>
          </a:prstGeom>
          <a:noFill/>
        </p:spPr>
        <p:txBody>
          <a:bodyPr wrap="square" lIns="0" rIns="0" tIns="0" bIns="0" anchor="t">
            <a:spAutoFit/>
          </a:bodyPr>
          <a:lstStyle/>
          <a:p>
            <a:pPr algn="l">
              <a:lnSpc>
                <a:spcPct val="110000"/>
              </a:lnSpc>
              <a:spcAft>
                <a:spcPts val="0"/>
              </a:spcAft>
            </a:pPr>
            <a:r>
              <a:rPr sz="940" b="0" lang="zh-CN">
                <a:solidFill>
                  <a:srgbClr val="586B7E"/>
                </a:solidFill>
                <a:latin typeface="Noto Sans CJK SC"/>
                <a:ea typeface="Noto Sans CJK SC"/>
                <a:cs typeface="Noto Sans CJK SC"/>
              </a:rPr>
              <a:t>Replica 可位于本机或远端节点</a:t>
            </a:r>
          </a:p>
        </p:txBody>
      </p:sp>
      <p:cxnSp>
        <p:nvCxnSpPr>
          <p:cNvPr id="89" name="Connector 88"/>
          <p:cNvCxnSpPr/>
          <p:nvPr/>
        </p:nvCxnSpPr>
        <p:spPr>
          <a:xfrm>
            <a:off x="8019288" y="3886200"/>
            <a:ext cx="393192"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0" name="Connector 89"/>
          <p:cNvCxnSpPr/>
          <p:nvPr/>
        </p:nvCxnSpPr>
        <p:spPr>
          <a:xfrm>
            <a:off x="8412480" y="3474720"/>
            <a:ext cx="0" cy="79552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1" name="Connector 90"/>
          <p:cNvCxnSpPr/>
          <p:nvPr/>
        </p:nvCxnSpPr>
        <p:spPr>
          <a:xfrm>
            <a:off x="8412480" y="3474720"/>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92" name="Connector 91"/>
          <p:cNvCxnSpPr/>
          <p:nvPr/>
        </p:nvCxnSpPr>
        <p:spPr>
          <a:xfrm>
            <a:off x="8412480" y="4270248"/>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3" name="TextBox 92"/>
          <p:cNvSpPr txBox="1"/>
          <p:nvPr/>
        </p:nvSpPr>
        <p:spPr>
          <a:xfrm>
            <a:off x="8037575" y="3621024"/>
            <a:ext cx="466344" cy="182880"/>
          </a:xfrm>
          <a:prstGeom prst="rect">
            <a:avLst/>
          </a:prstGeom>
          <a:noFill/>
        </p:spPr>
        <p:txBody>
          <a:bodyPr wrap="square" lIns="0" rIns="0" tIns="0" bIns="0" anchor="t">
            <a:spAutoFit/>
          </a:bodyPr>
          <a:lstStyle/>
          <a:p>
            <a:pPr algn="ctr">
              <a:lnSpc>
                <a:spcPct val="110000"/>
              </a:lnSpc>
              <a:spcAft>
                <a:spcPts val="0"/>
              </a:spcAft>
            </a:pPr>
            <a:r>
              <a:rPr sz="900" b="1">
                <a:solidFill>
                  <a:srgbClr val="327CEC"/>
                </a:solidFill>
                <a:latin typeface="Arial"/>
                <a:ea typeface="Arial"/>
                <a:cs typeface="Arial"/>
              </a:rPr>
              <a:t>ZMQ</a:t>
            </a:r>
          </a:p>
        </p:txBody>
      </p:sp>
      <p:cxnSp>
        <p:nvCxnSpPr>
          <p:cNvPr id="94" name="Connector 93"/>
          <p:cNvCxnSpPr/>
          <p:nvPr/>
        </p:nvCxnSpPr>
        <p:spPr>
          <a:xfrm flipH="1">
            <a:off x="8019288" y="5212080"/>
            <a:ext cx="621792"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5" name="TextBox 94"/>
          <p:cNvSpPr txBox="1"/>
          <p:nvPr/>
        </p:nvSpPr>
        <p:spPr>
          <a:xfrm>
            <a:off x="8083296" y="5340096"/>
            <a:ext cx="493776" cy="182880"/>
          </a:xfrm>
          <a:prstGeom prst="rect">
            <a:avLst/>
          </a:prstGeom>
          <a:noFill/>
        </p:spPr>
        <p:txBody>
          <a:bodyPr wrap="square" lIns="0" rIns="0" tIns="0" bIns="0" anchor="t">
            <a:spAutoFit/>
          </a:bodyPr>
          <a:lstStyle/>
          <a:p>
            <a:pPr algn="ctr">
              <a:lnSpc>
                <a:spcPct val="110000"/>
              </a:lnSpc>
              <a:spcAft>
                <a:spcPts val="0"/>
              </a:spcAft>
            </a:pPr>
            <a:r>
              <a:rPr sz="950" b="1">
                <a:solidFill>
                  <a:srgbClr val="008E96"/>
                </a:solidFill>
                <a:latin typeface="Arial"/>
                <a:ea typeface="Arial"/>
                <a:cs typeface="Arial"/>
              </a:rPr>
              <a:t>ZMQ</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会话控制</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Acoustic VAD 与 Semantic VAD</a:t>
            </a:r>
          </a:p>
        </p:txBody>
      </p:sp>
      <p:sp>
        <p:nvSpPr>
          <p:cNvPr id="7" name="TextBox 6"/>
          <p:cNvSpPr txBox="1"/>
          <p:nvPr/>
        </p:nvSpPr>
        <p:spPr>
          <a:xfrm>
            <a:off x="576072" y="1627632"/>
            <a:ext cx="10972800" cy="265176"/>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常见组合：Acoustic VAD 先检测停顿，再由 turn detection 模型判断用户是否说完。</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A2</a:t>
            </a:r>
          </a:p>
        </p:txBody>
      </p:sp>
      <p:graphicFrame>
        <p:nvGraphicFramePr>
          <p:cNvPr id="200" name="Acoustic and Semantic VAD comparison"/>
          <p:cNvGraphicFramePr/>
          <p:nvPr/>
        </p:nvGraphicFramePr>
        <p:xfrm>
          <a:off x="548640" y="2057400"/>
          <a:ext cx="11082528" cy="3044952"/>
        </p:xfrm>
        <a:graphic>
          <a:graphicData uri="http://schemas.openxmlformats.org/drawingml/2006/table">
            <a:tbl>
              <a:tblPr firstRow="0" bandRow="0"/>
              <a:tblGrid>
                <a:gridCol w="1920240"/>
                <a:gridCol w="4581144"/>
                <a:gridCol w="4581144"/>
              </a:tblGrid>
              <a:tr h="493776">
                <a:tc>
                  <a:txBody>
                    <a:bodyPr wrap="square">
                      <a:noAutofit/>
                    </a:bodyPr>
                    <a:lstStyle/>
                    <a:p>
                      <a:pPr algn="l">
                        <a:lnSpc>
                          <a:spcPct val="106000"/>
                        </a:lnSpc>
                        <a:spcAft>
                          <a:spcPts val="0"/>
                        </a:spcAft>
                      </a:pPr>
                      <a:r>
                        <a:rPr sz="1350" b="1" lang="zh-CN">
                          <a:solidFill>
                            <a:srgbClr val="FFFFFF"/>
                          </a:solidFill>
                          <a:latin typeface="Noto Sans CJK SC"/>
                          <a:ea typeface="Noto Sans CJK SC"/>
                          <a:cs typeface="Noto Sans CJK SC"/>
                        </a:rPr>
                        <a:t>对比维度</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a:solidFill>
                            <a:srgbClr val="FFFFFF"/>
                          </a:solidFill>
                          <a:latin typeface="Arial"/>
                          <a:ea typeface="Arial"/>
                          <a:cs typeface="Arial"/>
                        </a:rPr>
                        <a:t>Acoustic VAD</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lang="zh-CN">
                          <a:solidFill>
                            <a:srgbClr val="FFFFFF"/>
                          </a:solidFill>
                          <a:latin typeface="Noto Sans CJK SC"/>
                          <a:ea typeface="Noto Sans CJK SC"/>
                          <a:cs typeface="Noto Sans CJK SC"/>
                        </a:rPr>
                        <a:t>Semantic VAD</a:t>
                      </a:r>
                    </a:p>
                    <a:p>
                      <a:pPr algn="l">
                        <a:lnSpc>
                          <a:spcPct val="106000"/>
                        </a:lnSpc>
                        <a:spcAft>
                          <a:spcPts val="0"/>
                        </a:spcAft>
                      </a:pPr>
                      <a:r>
                        <a:rPr sz="900" b="1" lang="zh-CN">
                          <a:solidFill>
                            <a:srgbClr val="F4CF91"/>
                          </a:solidFill>
                          <a:latin typeface="Noto Sans CJK SC"/>
                          <a:ea typeface="Noto Sans CJK SC"/>
                          <a:cs typeface="Noto Sans CJK SC"/>
                        </a:rPr>
                        <a:t>规划扩展</a:t>
                      </a:r>
                    </a:p>
                  </a:txBody>
                  <a:tcPr marL="164592" marR="128016" marT="50292" marB="50292" anchor="ctr">
                    <a:lnL w="0">
                      <a:noFill/>
                    </a:lnL>
                    <a:lnR w="0">
                      <a:noFill/>
                    </a:lnR>
                    <a:lnT w="0">
                      <a:noFill/>
                    </a:lnT>
                    <a:lnB w="25400">
                      <a:solidFill>
                        <a:srgbClr val="FFFFFF"/>
                      </a:solidFill>
                    </a:lnB>
                    <a:solidFill>
                      <a:srgbClr val="16304E"/>
                    </a:solidFill>
                  </a:tcPr>
                </a:tc>
              </a:tr>
              <a:tr h="630936">
                <a:tc>
                  <a:txBody>
                    <a:bodyPr wrap="square">
                      <a:noAutofit/>
                    </a:bodyPr>
                    <a:lstStyle/>
                    <a:p>
                      <a:pPr algn="l">
                        <a:lnSpc>
                          <a:spcPct val="106000"/>
                        </a:lnSpc>
                        <a:spcAft>
                          <a:spcPts val="0"/>
                        </a:spcAft>
                      </a:pPr>
                      <a:r>
                        <a:rPr sz="1350" b="1" lang="zh-CN">
                          <a:solidFill>
                            <a:srgbClr val="16304E"/>
                          </a:solidFill>
                          <a:latin typeface="Noto Sans CJK SC"/>
                          <a:ea typeface="Noto Sans CJK SC"/>
                          <a:cs typeface="Noto Sans CJK SC"/>
                        </a:rPr>
                        <a:t>判断依据</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语音活动</a:t>
                      </a:r>
                    </a:p>
                    <a:p>
                      <a:pPr algn="l">
                        <a:lnSpc>
                          <a:spcPct val="106000"/>
                        </a:lnSpc>
                        <a:spcAft>
                          <a:spcPts val="0"/>
                        </a:spcAft>
                      </a:pPr>
                      <a:r>
                        <a:rPr sz="1420" b="0" lang="zh-CN">
                          <a:solidFill>
                            <a:srgbClr val="16304E"/>
                          </a:solidFill>
                          <a:latin typeface="Noto Sans CJK SC"/>
                          <a:ea typeface="Noto Sans CJK SC"/>
                          <a:cs typeface="Noto Sans CJK SC"/>
                        </a:rPr>
                        <a:t>+ 配置的静音时长</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语义与上下文</a:t>
                      </a:r>
                    </a:p>
                    <a:p>
                      <a:pPr algn="l">
                        <a:lnSpc>
                          <a:spcPct val="106000"/>
                        </a:lnSpc>
                        <a:spcAft>
                          <a:spcPts val="0"/>
                        </a:spcAft>
                      </a:pPr>
                      <a:r>
                        <a:rPr sz="1420" b="0" lang="zh-CN">
                          <a:solidFill>
                            <a:srgbClr val="16304E"/>
                          </a:solidFill>
                          <a:latin typeface="Noto Sans CJK SC"/>
                          <a:ea typeface="Noto Sans CJK SC"/>
                          <a:cs typeface="Noto Sans CJK SC"/>
                        </a:rPr>
                        <a:t>音频模型还可结合语调等线索</a:t>
                      </a:r>
                    </a:p>
                  </a:txBody>
                  <a:tcPr marL="164592" marR="128016" marT="50292" marB="50292" anchor="ctr">
                    <a:lnL w="0">
                      <a:noFill/>
                    </a:lnL>
                    <a:lnR w="0">
                      <a:noFill/>
                    </a:lnR>
                    <a:lnT w="0">
                      <a:noFill/>
                    </a:lnT>
                    <a:lnB w="25400">
                      <a:solidFill>
                        <a:srgbClr val="FFFFFF"/>
                      </a:solidFill>
                    </a:lnB>
                    <a:solidFill>
                      <a:srgbClr val="F3F6FA"/>
                    </a:solidFill>
                  </a:tcPr>
                </a:tc>
              </a:tr>
              <a:tr h="630936">
                <a:tc>
                  <a:txBody>
                    <a:bodyPr wrap="square">
                      <a:noAutofit/>
                    </a:bodyPr>
                    <a:lstStyle/>
                    <a:p>
                      <a:pPr algn="l">
                        <a:lnSpc>
                          <a:spcPct val="106000"/>
                        </a:lnSpc>
                        <a:spcAft>
                          <a:spcPts val="0"/>
                        </a:spcAft>
                      </a:pPr>
                      <a:r>
                        <a:rPr sz="1350" b="1" lang="zh-CN">
                          <a:solidFill>
                            <a:srgbClr val="16304E"/>
                          </a:solidFill>
                          <a:latin typeface="Noto Sans CJK SC"/>
                          <a:ea typeface="Noto Sans CJK SC"/>
                          <a:cs typeface="Noto Sans CJK SC"/>
                        </a:rPr>
                        <a:t>停顿处理</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静音达到阈值时可能 commit</a:t>
                      </a:r>
                    </a:p>
                    <a:p>
                      <a:pPr algn="l">
                        <a:lnSpc>
                          <a:spcPct val="106000"/>
                        </a:lnSpc>
                        <a:spcAft>
                          <a:spcPts val="0"/>
                        </a:spcAft>
                      </a:pPr>
                      <a:r>
                        <a:rPr sz="1420" b="0" lang="zh-CN">
                          <a:solidFill>
                            <a:srgbClr val="16304E"/>
                          </a:solidFill>
                          <a:latin typeface="Noto Sans CJK SC"/>
                          <a:ea typeface="Noto Sans CJK SC"/>
                          <a:cs typeface="Noto Sans CJK SC"/>
                        </a:rPr>
                        <a:t>即使句子尚未说完</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判断话语尚未完整时</a:t>
                      </a:r>
                    </a:p>
                    <a:p>
                      <a:pPr algn="l">
                        <a:lnSpc>
                          <a:spcPct val="106000"/>
                        </a:lnSpc>
                        <a:spcAft>
                          <a:spcPts val="0"/>
                        </a:spcAft>
                      </a:pPr>
                      <a:r>
                        <a:rPr sz="1420" b="0" lang="zh-CN">
                          <a:solidFill>
                            <a:srgbClr val="16304E"/>
                          </a:solidFill>
                          <a:latin typeface="Noto Sans CJK SC"/>
                          <a:ea typeface="Noto Sans CJK SC"/>
                          <a:cs typeface="Noto Sans CJK SC"/>
                        </a:rPr>
                        <a:t>可继续等待</a:t>
                      </a:r>
                    </a:p>
                  </a:txBody>
                  <a:tcPr marL="164592" marR="128016" marT="50292" marB="50292" anchor="ctr">
                    <a:lnL w="0">
                      <a:noFill/>
                    </a:lnL>
                    <a:lnR w="0">
                      <a:noFill/>
                    </a:lnR>
                    <a:lnT w="0">
                      <a:noFill/>
                    </a:lnT>
                    <a:lnB w="25400">
                      <a:solidFill>
                        <a:srgbClr val="FFFFFF"/>
                      </a:solidFill>
                    </a:lnB>
                    <a:solidFill>
                      <a:srgbClr val="FFFFFF"/>
                    </a:solidFill>
                  </a:tcPr>
                </a:tc>
              </a:tr>
              <a:tr h="630936">
                <a:tc>
                  <a:txBody>
                    <a:bodyPr wrap="square">
                      <a:noAutofit/>
                    </a:bodyPr>
                    <a:lstStyle/>
                    <a:p>
                      <a:pPr algn="l">
                        <a:lnSpc>
                          <a:spcPct val="106000"/>
                        </a:lnSpc>
                        <a:spcAft>
                          <a:spcPts val="0"/>
                        </a:spcAft>
                      </a:pPr>
                      <a:r>
                        <a:rPr sz="1350" b="1" lang="zh-CN">
                          <a:solidFill>
                            <a:srgbClr val="16304E"/>
                          </a:solidFill>
                          <a:latin typeface="Noto Sans CJK SC"/>
                          <a:ea typeface="Noto Sans CJK SC"/>
                          <a:cs typeface="Noto Sans CJK SC"/>
                        </a:rPr>
                        <a:t>系统动作</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静音达到阈值后 commit 输入</a:t>
                      </a:r>
                    </a:p>
                    <a:p>
                      <a:pPr algn="l">
                        <a:lnSpc>
                          <a:spcPct val="106000"/>
                        </a:lnSpc>
                        <a:spcAft>
                          <a:spcPts val="0"/>
                        </a:spcAft>
                      </a:pPr>
                      <a:r>
                        <a:rPr sz="1420" b="0" lang="zh-CN">
                          <a:solidFill>
                            <a:srgbClr val="16304E"/>
                          </a:solidFill>
                          <a:latin typeface="Noto Sans CJK SC"/>
                          <a:ea typeface="Noto Sans CJK SC"/>
                          <a:cs typeface="Noto Sans CJK SC"/>
                        </a:rPr>
                        <a:t>按配置自动开始 response</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判断用户说完后 commit 输入</a:t>
                      </a:r>
                    </a:p>
                    <a:p>
                      <a:pPr algn="l">
                        <a:lnSpc>
                          <a:spcPct val="106000"/>
                        </a:lnSpc>
                        <a:spcAft>
                          <a:spcPts val="0"/>
                        </a:spcAft>
                      </a:pPr>
                      <a:r>
                        <a:rPr sz="1420" b="0" lang="zh-CN">
                          <a:solidFill>
                            <a:srgbClr val="16304E"/>
                          </a:solidFill>
                          <a:latin typeface="Noto Sans CJK SC"/>
                          <a:ea typeface="Noto Sans CJK SC"/>
                          <a:cs typeface="Noto Sans CJK SC"/>
                        </a:rPr>
                        <a:t>按配置自动开始 response</a:t>
                      </a:r>
                    </a:p>
                  </a:txBody>
                  <a:tcPr marL="164592" marR="128016" marT="50292" marB="50292" anchor="ctr">
                    <a:lnL w="0">
                      <a:noFill/>
                    </a:lnL>
                    <a:lnR w="0">
                      <a:noFill/>
                    </a:lnR>
                    <a:lnT w="0">
                      <a:noFill/>
                    </a:lnT>
                    <a:lnB w="25400">
                      <a:solidFill>
                        <a:srgbClr val="FFFFFF"/>
                      </a:solidFill>
                    </a:lnB>
                    <a:solidFill>
                      <a:srgbClr val="F3F6FA"/>
                    </a:solidFill>
                  </a:tcPr>
                </a:tc>
              </a:tr>
              <a:tr h="658368">
                <a:tc>
                  <a:txBody>
                    <a:bodyPr wrap="square">
                      <a:noAutofit/>
                    </a:bodyPr>
                    <a:lstStyle/>
                    <a:p>
                      <a:pPr algn="l">
                        <a:lnSpc>
                          <a:spcPct val="106000"/>
                        </a:lnSpc>
                        <a:spcAft>
                          <a:spcPts val="0"/>
                        </a:spcAft>
                      </a:pPr>
                      <a:r>
                        <a:rPr sz="1350" b="1" lang="zh-CN">
                          <a:solidFill>
                            <a:srgbClr val="16304E"/>
                          </a:solidFill>
                          <a:latin typeface="Noto Sans CJK SC"/>
                          <a:ea typeface="Noto Sans CJK SC"/>
                          <a:cs typeface="Noto Sans CJK SC"/>
                        </a:rPr>
                        <a:t>计算与部署</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CPU 推理开销低</a:t>
                      </a:r>
                    </a:p>
                    <a:p>
                      <a:pPr algn="l">
                        <a:lnSpc>
                          <a:spcPct val="106000"/>
                        </a:lnSpc>
                        <a:spcAft>
                          <a:spcPts val="0"/>
                        </a:spcAft>
                      </a:pPr>
                      <a:r>
                        <a:rPr sz="1420" b="0" lang="zh-CN">
                          <a:solidFill>
                            <a:srgbClr val="16304E"/>
                          </a:solidFill>
                          <a:latin typeface="Noto Sans CJK SC"/>
                          <a:ea typeface="Noto Sans CJK SC"/>
                          <a:cs typeface="Noto Sans CJK SC"/>
                        </a:rPr>
                        <a:t>当前：CPU thread pool</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单次判断通常需要更多计算</a:t>
                      </a:r>
                    </a:p>
                    <a:p>
                      <a:pPr algn="l">
                        <a:lnSpc>
                          <a:spcPct val="106000"/>
                        </a:lnSpc>
                        <a:spcAft>
                          <a:spcPts val="0"/>
                        </a:spcAft>
                      </a:pPr>
                      <a:r>
                        <a:rPr sz="1420" b="0" lang="zh-CN">
                          <a:solidFill>
                            <a:srgbClr val="16304E"/>
                          </a:solidFill>
                          <a:latin typeface="Noto Sans CJK SC"/>
                          <a:ea typeface="Noto Sans CJK SC"/>
                          <a:cs typeface="Noto Sans CJK SC"/>
                        </a:rPr>
                        <a:t>规划：较重模型在 Omni Stage 执行</a:t>
                      </a:r>
                    </a:p>
                  </a:txBody>
                  <a:tcPr marL="164592" marR="128016" marT="50292" marB="50292" anchor="ctr">
                    <a:lnL w="0">
                      <a:noFill/>
                    </a:lnL>
                    <a:lnR w="0">
                      <a:noFill/>
                    </a:lnR>
                    <a:lnT w="0">
                      <a:noFill/>
                    </a:lnT>
                    <a:lnB w="25400">
                      <a:solidFill>
                        <a:srgbClr val="FFFFFF"/>
                      </a:solidFill>
                    </a:lnB>
                    <a:solidFill>
                      <a:srgbClr val="FFFFFF"/>
                    </a:solidFill>
                  </a:tcPr>
                </a:tc>
              </a:tr>
            </a:tbl>
          </a:graphicData>
        </a:graphic>
      </p:graphicFrame>
      <p:sp>
        <p:nvSpPr>
          <p:cNvPr id="201" name="A PAUSE INSIDE AN UNFINISHED REQUEST"/>
          <p:cNvSpPr txBox="1"/>
          <p:nvPr/>
        </p:nvSpPr>
        <p:spPr>
          <a:xfrm>
            <a:off x="731520" y="5157216"/>
            <a:ext cx="10698480" cy="201168"/>
          </a:xfrm>
          <a:prstGeom prst="rect">
            <a:avLst/>
          </a:prstGeom>
          <a:noFill/>
          <a:ln>
            <a:noFill/>
          </a:ln>
        </p:spPr>
        <p:txBody>
          <a:bodyPr wrap="square" lIns="0" rIns="0" tIns="0" bIns="0" anchor="t">
            <a:noAutofit/>
          </a:bodyPr>
          <a:lstStyle/>
          <a:p>
            <a:pPr algn="l">
              <a:lnSpc>
                <a:spcPct val="106000"/>
              </a:lnSpc>
              <a:spcAft>
                <a:spcPts val="0"/>
              </a:spcAft>
            </a:pPr>
            <a:r>
              <a:rPr sz="1150" b="1" lang="zh-CN">
                <a:solidFill>
                  <a:srgbClr val="586B7E"/>
                </a:solidFill>
                <a:latin typeface="Noto Sans CJK SC"/>
                <a:ea typeface="Noto Sans CJK SC"/>
                <a:cs typeface="Noto Sans CJK SC"/>
              </a:rPr>
              <a:t>开源组合示例：SILERO VAD + PIPECAT SMART TURN v3.2</a:t>
            </a:r>
          </a:p>
        </p:txBody>
      </p:sp>
      <p:sp>
        <p:nvSpPr>
          <p:cNvPr id="202" name="“Book me a flight for tomorrow to … [pause] … Beijing.”"/>
          <p:cNvSpPr txBox="1"/>
          <p:nvPr/>
        </p:nvSpPr>
        <p:spPr>
          <a:xfrm>
            <a:off x="731520" y="5404104"/>
            <a:ext cx="10698480" cy="310896"/>
          </a:xfrm>
          <a:prstGeom prst="rect">
            <a:avLst/>
          </a:prstGeom>
          <a:noFill/>
          <a:ln>
            <a:noFill/>
          </a:ln>
        </p:spPr>
        <p:txBody>
          <a:bodyPr wrap="square" lIns="0" rIns="0" tIns="0" bIns="0" anchor="t">
            <a:noAutofit/>
          </a:bodyPr>
          <a:lstStyle/>
          <a:p>
            <a:pPr algn="l">
              <a:lnSpc>
                <a:spcPct val="106000"/>
              </a:lnSpc>
              <a:spcAft>
                <a:spcPts val="0"/>
              </a:spcAft>
            </a:pPr>
            <a:r>
              <a:rPr sz="1800" b="1" lang="zh-CN">
                <a:solidFill>
                  <a:srgbClr val="16304E"/>
                </a:solidFill>
                <a:latin typeface="Noto Sans CJK SC"/>
                <a:ea typeface="Noto Sans CJK SC"/>
                <a:cs typeface="Noto Sans CJK SC"/>
              </a:rPr>
              <a:t>“帮我订明天的……［停顿］……去北京的机票。”</a:t>
            </a:r>
          </a:p>
        </p:txBody>
      </p:sp>
      <p:sp>
        <p:nvSpPr>
          <p:cNvPr id="203" name="Acoustic: may commit during the pause"/>
          <p:cNvSpPr txBox="1"/>
          <p:nvPr/>
        </p:nvSpPr>
        <p:spPr>
          <a:xfrm>
            <a:off x="731520" y="5760720"/>
            <a:ext cx="5303520" cy="228600"/>
          </a:xfrm>
          <a:prstGeom prst="rect">
            <a:avLst/>
          </a:prstGeom>
          <a:noFill/>
          <a:ln>
            <a:noFill/>
          </a:ln>
        </p:spPr>
        <p:txBody>
          <a:bodyPr wrap="square" lIns="0" rIns="0" tIns="0" bIns="0" anchor="t">
            <a:noAutofit/>
          </a:bodyPr>
          <a:lstStyle/>
          <a:p>
            <a:pPr algn="l">
              <a:lnSpc>
                <a:spcPct val="106000"/>
              </a:lnSpc>
              <a:spcAft>
                <a:spcPts val="0"/>
              </a:spcAft>
            </a:pPr>
            <a:r>
              <a:rPr sz="1300" b="0" lang="zh-CN">
                <a:solidFill>
                  <a:srgbClr val="307BDB"/>
                </a:solidFill>
                <a:latin typeface="Noto Sans CJK SC"/>
                <a:ea typeface="Noto Sans CJK SC"/>
                <a:cs typeface="Noto Sans CJK SC"/>
              </a:rPr>
              <a:t>1. Silero：区分语音 / 非语音，检测停顿</a:t>
            </a:r>
          </a:p>
        </p:txBody>
      </p:sp>
      <p:sp>
        <p:nvSpPr>
          <p:cNvPr id="204" name="Semantic: can wait for the destination"/>
          <p:cNvSpPr txBox="1"/>
          <p:nvPr/>
        </p:nvSpPr>
        <p:spPr>
          <a:xfrm>
            <a:off x="6263640" y="5760720"/>
            <a:ext cx="5074920" cy="228600"/>
          </a:xfrm>
          <a:prstGeom prst="rect">
            <a:avLst/>
          </a:prstGeom>
          <a:noFill/>
          <a:ln>
            <a:noFill/>
          </a:ln>
        </p:spPr>
        <p:txBody>
          <a:bodyPr wrap="square" lIns="0" rIns="0" tIns="0" bIns="0" anchor="t">
            <a:noAutofit/>
          </a:bodyPr>
          <a:lstStyle/>
          <a:p>
            <a:pPr algn="l">
              <a:lnSpc>
                <a:spcPct val="106000"/>
              </a:lnSpc>
              <a:spcAft>
                <a:spcPts val="0"/>
              </a:spcAft>
            </a:pPr>
            <a:r>
              <a:rPr sz="1300" b="0" lang="zh-CN">
                <a:solidFill>
                  <a:srgbClr val="008E96"/>
                </a:solidFill>
                <a:latin typeface="Noto Sans CJK SC"/>
                <a:ea typeface="Noto Sans CJK SC"/>
                <a:cs typeface="Noto Sans CJK SC"/>
              </a:rPr>
              <a:t>2. Smart Turn：判断话轮完整 / 尚未完整</a:t>
            </a:r>
          </a:p>
        </p:txBody>
      </p:sp>
      <p:sp>
        <p:nvSpPr>
          <p:cNvPr id="205" name="Interruption intent recognition is a separate capability."/>
          <p:cNvSpPr txBox="1"/>
          <p:nvPr/>
        </p:nvSpPr>
        <p:spPr>
          <a:xfrm>
            <a:off x="731520" y="6272784"/>
            <a:ext cx="10698480" cy="164592"/>
          </a:xfrm>
          <a:prstGeom prst="rect">
            <a:avLst/>
          </a:prstGeom>
          <a:noFill/>
          <a:ln>
            <a:noFill/>
          </a:ln>
        </p:spPr>
        <p:txBody>
          <a:bodyPr wrap="square" lIns="0" rIns="0" tIns="0" bIns="0" anchor="t">
            <a:noAutofit/>
          </a:bodyPr>
          <a:lstStyle/>
          <a:p>
            <a:pPr algn="l">
              <a:lnSpc>
                <a:spcPct val="106000"/>
              </a:lnSpc>
              <a:spcAft>
                <a:spcPts val="0"/>
              </a:spcAft>
            </a:pPr>
            <a:r>
              <a:rPr sz="1150" b="0" lang="zh-CN">
                <a:solidFill>
                  <a:srgbClr val="586B7E"/>
                </a:solidFill>
                <a:latin typeface="Noto Sans CJK SC"/>
                <a:ea typeface="Noto Sans CJK SC"/>
                <a:cs typeface="Noto Sans CJK SC"/>
              </a:rPr>
              <a:t>VAD 可减少非语音噪声造成的误触发。音频降噪与打断意图识别是独立能力。</a:t>
            </a:r>
          </a:p>
        </p:txBody>
      </p:sp>
      <p:sp>
        <p:nvSpPr>
          <p:cNvPr id="206" name="Session policy and asynchronous inference"/>
          <p:cNvSpPr txBox="1"/>
          <p:nvPr/>
        </p:nvSpPr>
        <p:spPr>
          <a:xfrm>
            <a:off x="731520" y="6053328"/>
            <a:ext cx="10698480" cy="192024"/>
          </a:xfrm>
          <a:prstGeom prst="rect">
            <a:avLst/>
          </a:prstGeom>
          <a:noFill/>
          <a:ln>
            <a:noFill/>
          </a:ln>
        </p:spPr>
        <p:txBody>
          <a:bodyPr wrap="square" lIns="0" rIns="0" tIns="0" bIns="0" anchor="t">
            <a:noAutofit/>
          </a:bodyPr>
          <a:lstStyle/>
          <a:p>
            <a:pPr algn="l">
              <a:lnSpc>
                <a:spcPct val="106000"/>
              </a:lnSpc>
              <a:spcAft>
                <a:spcPts val="0"/>
              </a:spcAft>
            </a:pPr>
            <a:r>
              <a:rPr sz="1150" b="0" lang="zh-CN">
                <a:solidFill>
                  <a:srgbClr val="16304E"/>
                </a:solidFill>
                <a:latin typeface="Noto Sans CJK SC"/>
                <a:ea typeface="Noto Sans CJK SC"/>
                <a:cs typeface="Noto Sans CJK SC"/>
              </a:rPr>
              <a:t>Session Runner 负责 commit 与打断。检测异步执行，过期结果不再生效。</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会话控制</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断连、cancel 与 close，各自影响什么</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MiniCPM、AURA、Qwen3-Omni 与 Nemotron 支持活跃会话续接；PersonaPlex 断连即关闭会话。</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A3</a:t>
            </a:r>
          </a:p>
        </p:txBody>
      </p:sp>
      <p:sp>
        <p:nvSpPr>
          <p:cNvPr id="12" name="TextBox 11"/>
          <p:cNvSpPr txBox="1"/>
          <p:nvPr/>
        </p:nvSpPr>
        <p:spPr>
          <a:xfrm>
            <a:off x="694944" y="2148840"/>
            <a:ext cx="224028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触发操作</a:t>
            </a:r>
          </a:p>
        </p:txBody>
      </p:sp>
      <p:sp>
        <p:nvSpPr>
          <p:cNvPr id="13" name="TextBox 12"/>
          <p:cNvSpPr txBox="1"/>
          <p:nvPr/>
        </p:nvSpPr>
        <p:spPr>
          <a:xfrm>
            <a:off x="3227832" y="2148840"/>
            <a:ext cx="3959352"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正在执行的工作</a:t>
            </a:r>
          </a:p>
        </p:txBody>
      </p:sp>
      <p:sp>
        <p:nvSpPr>
          <p:cNvPr id="14" name="TextBox 13"/>
          <p:cNvSpPr txBox="1"/>
          <p:nvPr/>
        </p:nvSpPr>
        <p:spPr>
          <a:xfrm>
            <a:off x="7479792" y="2148840"/>
            <a:ext cx="4005072"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会话与恢复</a:t>
            </a:r>
          </a:p>
        </p:txBody>
      </p:sp>
      <p:sp>
        <p:nvSpPr>
          <p:cNvPr id="15" name="Rounded Rectangle 14"/>
          <p:cNvSpPr/>
          <p:nvPr/>
        </p:nvSpPr>
        <p:spPr>
          <a:xfrm>
            <a:off x="548640" y="2505456"/>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94944" y="2624328"/>
            <a:ext cx="2240280" cy="356615"/>
          </a:xfrm>
          <a:prstGeom prst="rect">
            <a:avLst/>
          </a:prstGeom>
          <a:noFill/>
        </p:spPr>
        <p:txBody>
          <a:bodyPr wrap="square" lIns="0" rIns="0" tIns="0" bIns="0" anchor="t">
            <a:spAutoFit/>
          </a:bodyPr>
          <a:lstStyle/>
          <a:p>
            <a:pPr algn="l">
              <a:lnSpc>
                <a:spcPct val="110000"/>
              </a:lnSpc>
              <a:spcAft>
                <a:spcPts val="0"/>
              </a:spcAft>
            </a:pPr>
            <a:r>
              <a:rPr sz="1220" b="1" lang="zh-CN">
                <a:solidFill>
                  <a:srgbClr val="142B45"/>
                </a:solidFill>
                <a:latin typeface="Noto Sans CJK SC"/>
                <a:ea typeface="Noto Sans CJK SC"/>
                <a:cs typeface="Noto Sans CJK SC"/>
              </a:rPr>
              <a:t>断连 · 支持续接的模型</a:t>
            </a:r>
          </a:p>
        </p:txBody>
      </p:sp>
      <p:sp>
        <p:nvSpPr>
          <p:cNvPr id="17" name="TextBox 16"/>
          <p:cNvSpPr txBox="1"/>
          <p:nvPr/>
        </p:nvSpPr>
        <p:spPr>
          <a:xfrm>
            <a:off x="3227832" y="2624328"/>
            <a:ext cx="395935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可继续生成；记录后续事件</a:t>
            </a:r>
          </a:p>
        </p:txBody>
      </p:sp>
      <p:sp>
        <p:nvSpPr>
          <p:cNvPr id="18" name="TextBox 17"/>
          <p:cNvSpPr txBox="1"/>
          <p:nvPr/>
        </p:nvSpPr>
        <p:spPr>
          <a:xfrm>
            <a:off x="7479792" y="2624328"/>
            <a:ext cx="400507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断连 grace 内、会话仍存活时可续接</a:t>
            </a:r>
          </a:p>
        </p:txBody>
      </p:sp>
      <p:sp>
        <p:nvSpPr>
          <p:cNvPr id="19" name="Rounded Rectangle 18"/>
          <p:cNvSpPr/>
          <p:nvPr/>
        </p:nvSpPr>
        <p:spPr>
          <a:xfrm>
            <a:off x="548640" y="3127248"/>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94944" y="3246120"/>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response.cancel</a:t>
            </a:r>
          </a:p>
        </p:txBody>
      </p:sp>
      <p:sp>
        <p:nvSpPr>
          <p:cNvPr id="21" name="TextBox 20"/>
          <p:cNvSpPr txBox="1"/>
          <p:nvPr/>
        </p:nvSpPr>
        <p:spPr>
          <a:xfrm>
            <a:off x="3227832" y="3246120"/>
            <a:ext cx="395935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取消当前 response，使其待发音频失效</a:t>
            </a:r>
          </a:p>
        </p:txBody>
      </p:sp>
      <p:sp>
        <p:nvSpPr>
          <p:cNvPr id="22" name="TextBox 21"/>
          <p:cNvSpPr txBox="1"/>
          <p:nvPr/>
        </p:nvSpPr>
        <p:spPr>
          <a:xfrm>
            <a:off x="7479792" y="3246120"/>
            <a:ext cx="4005072" cy="356615"/>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session 保留；PersonaPlex 重置模型上下文</a:t>
            </a:r>
          </a:p>
        </p:txBody>
      </p:sp>
      <p:sp>
        <p:nvSpPr>
          <p:cNvPr id="23" name="Rounded Rectangle 22"/>
          <p:cNvSpPr/>
          <p:nvPr/>
        </p:nvSpPr>
        <p:spPr>
          <a:xfrm>
            <a:off x="548640" y="3749039"/>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94944" y="3867911"/>
            <a:ext cx="2240280" cy="356615"/>
          </a:xfrm>
          <a:prstGeom prst="rect">
            <a:avLst/>
          </a:prstGeom>
          <a:noFill/>
        </p:spPr>
        <p:txBody>
          <a:bodyPr wrap="square" lIns="0" rIns="0" tIns="0" bIns="0" anchor="t">
            <a:spAutoFit/>
          </a:bodyPr>
          <a:lstStyle/>
          <a:p>
            <a:pPr algn="l">
              <a:lnSpc>
                <a:spcPct val="110000"/>
              </a:lnSpc>
              <a:spcAft>
                <a:spcPts val="0"/>
              </a:spcAft>
            </a:pPr>
            <a:r>
              <a:rPr sz="1220" b="1" lang="zh-CN">
                <a:solidFill>
                  <a:srgbClr val="142B45"/>
                </a:solidFill>
                <a:latin typeface="Noto Sans CJK SC"/>
                <a:ea typeface="Noto Sans CJK SC"/>
                <a:cs typeface="Noto Sans CJK SC"/>
              </a:rPr>
              <a:t>session.close / lease 过期</a:t>
            </a:r>
          </a:p>
        </p:txBody>
      </p:sp>
      <p:sp>
        <p:nvSpPr>
          <p:cNvPr id="25" name="TextBox 24"/>
          <p:cNvSpPr txBox="1"/>
          <p:nvPr/>
        </p:nvSpPr>
        <p:spPr>
          <a:xfrm>
            <a:off x="3227832" y="3867911"/>
            <a:ext cx="395935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终止并清理关联请求</a:t>
            </a:r>
          </a:p>
        </p:txBody>
      </p:sp>
      <p:sp>
        <p:nvSpPr>
          <p:cNvPr id="26" name="TextBox 25"/>
          <p:cNvSpPr txBox="1"/>
          <p:nvPr/>
        </p:nvSpPr>
        <p:spPr>
          <a:xfrm>
            <a:off x="7479792" y="3867911"/>
            <a:ext cx="400507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会话结束；重新交互需新建</a:t>
            </a:r>
          </a:p>
        </p:txBody>
      </p:sp>
      <p:sp>
        <p:nvSpPr>
          <p:cNvPr id="27" name="Rounded Rectangle 26"/>
          <p:cNvSpPr/>
          <p:nvPr/>
        </p:nvSpPr>
        <p:spPr>
          <a:xfrm>
            <a:off x="548640"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694944" y="4764024"/>
            <a:ext cx="325526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会话仍存活</a:t>
            </a:r>
          </a:p>
        </p:txBody>
      </p:sp>
      <p:sp>
        <p:nvSpPr>
          <p:cNvPr id="29" name="TextBox 28"/>
          <p:cNvSpPr txBox="1"/>
          <p:nvPr/>
        </p:nvSpPr>
        <p:spPr>
          <a:xfrm>
            <a:off x="694944" y="5120640"/>
            <a:ext cx="3255264" cy="640080"/>
          </a:xfrm>
          <a:prstGeom prst="rect">
            <a:avLst/>
          </a:prstGeom>
          <a:noFill/>
        </p:spPr>
        <p:txBody>
          <a:bodyPr wrap="square" lIns="0" rIns="0" tIns="0" bIns="0" anchor="t">
            <a:spAutoFit/>
          </a:bodyPr>
          <a:lstStyle/>
          <a:p>
            <a:pPr algn="l">
              <a:lnSpc>
                <a:spcPct val="110000"/>
              </a:lnSpc>
              <a:spcAft>
                <a:spcPts val="0"/>
              </a:spcAft>
            </a:pPr>
            <a:r>
              <a:rPr sz="1250" b="0" lang="zh-CN">
                <a:solidFill>
                  <a:srgbClr val="21364E"/>
                </a:solidFill>
                <a:latin typeface="Noto Sans CJK SC"/>
                <a:ea typeface="Noto Sans CJK SC"/>
                <a:cs typeface="Noto Sans CJK SC"/>
              </a:rPr>
              <a:t>在断连 grace 内恢复</a:t>
            </a:r>
          </a:p>
          <a:p>
            <a:pPr algn="l">
              <a:lnSpc>
                <a:spcPct val="110000"/>
              </a:lnSpc>
              <a:spcAft>
                <a:spcPts val="0"/>
              </a:spcAft>
            </a:pPr>
            <a:r>
              <a:rPr sz="1250" b="0" lang="zh-CN">
                <a:solidFill>
                  <a:srgbClr val="21364E"/>
                </a:solidFill>
                <a:latin typeface="Noto Sans CJK SC"/>
                <a:ea typeface="Noto Sans CJK SC"/>
                <a:cs typeface="Noto Sans CJK SC"/>
              </a:rPr>
              <a:t>session 仍由存活的 owner 持有</a:t>
            </a:r>
          </a:p>
        </p:txBody>
      </p:sp>
      <p:sp>
        <p:nvSpPr>
          <p:cNvPr id="30" name="Rounded Rectangle 29"/>
          <p:cNvSpPr/>
          <p:nvPr/>
        </p:nvSpPr>
        <p:spPr>
          <a:xfrm>
            <a:off x="4315968"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4462272" y="4764024"/>
            <a:ext cx="3255264" cy="256032"/>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会话凭据有效</a:t>
            </a:r>
          </a:p>
        </p:txBody>
      </p:sp>
      <p:sp>
        <p:nvSpPr>
          <p:cNvPr id="32" name="TextBox 31"/>
          <p:cNvSpPr txBox="1"/>
          <p:nvPr/>
        </p:nvSpPr>
        <p:spPr>
          <a:xfrm>
            <a:off x="4462272" y="5120640"/>
            <a:ext cx="3255264" cy="640080"/>
          </a:xfrm>
          <a:prstGeom prst="rect">
            <a:avLst/>
          </a:prstGeom>
          <a:noFill/>
        </p:spPr>
        <p:txBody>
          <a:bodyPr wrap="square" lIns="0" rIns="0" tIns="0" bIns="0" anchor="t">
            <a:spAutoFit/>
          </a:bodyPr>
          <a:lstStyle/>
          <a:p>
            <a:pPr algn="l">
              <a:lnSpc>
                <a:spcPct val="110000"/>
              </a:lnSpc>
              <a:spcAft>
                <a:spcPts val="0"/>
              </a:spcAft>
            </a:pPr>
            <a:r>
              <a:rPr sz="1200" b="0" lang="zh-CN">
                <a:solidFill>
                  <a:srgbClr val="21364E"/>
                </a:solidFill>
                <a:latin typeface="Noto Sans CJK SC"/>
                <a:ea typeface="Noto Sans CJK SC"/>
                <a:cs typeface="Noto Sans CJK SC"/>
              </a:rPr>
              <a:t>resume token 有效</a:t>
            </a:r>
          </a:p>
          <a:p>
            <a:pPr algn="l">
              <a:lnSpc>
                <a:spcPct val="110000"/>
              </a:lnSpc>
              <a:spcAft>
                <a:spcPts val="0"/>
              </a:spcAft>
            </a:pPr>
            <a:r>
              <a:rPr sz="1200" b="0" lang="zh-CN">
                <a:solidFill>
                  <a:srgbClr val="21364E"/>
                </a:solidFill>
                <a:latin typeface="Noto Sans CJK SC"/>
                <a:ea typeface="Noto Sans CJK SC"/>
                <a:cs typeface="Noto Sans CJK SC"/>
              </a:rPr>
              <a:t>lease generation 匹配</a:t>
            </a:r>
          </a:p>
        </p:txBody>
      </p:sp>
      <p:sp>
        <p:nvSpPr>
          <p:cNvPr id="33" name="Rounded Rectangle 32"/>
          <p:cNvSpPr/>
          <p:nvPr/>
        </p:nvSpPr>
        <p:spPr>
          <a:xfrm>
            <a:off x="8083296" y="4645152"/>
            <a:ext cx="3547872" cy="1188720"/>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8229600" y="4764024"/>
            <a:ext cx="3255264" cy="256032"/>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保留事件可续传</a:t>
            </a:r>
          </a:p>
        </p:txBody>
      </p:sp>
      <p:sp>
        <p:nvSpPr>
          <p:cNvPr id="35" name="TextBox 34"/>
          <p:cNvSpPr txBox="1"/>
          <p:nvPr/>
        </p:nvSpPr>
        <p:spPr>
          <a:xfrm>
            <a:off x="8229600" y="5120640"/>
            <a:ext cx="3255264" cy="640080"/>
          </a:xfrm>
          <a:prstGeom prst="rect">
            <a:avLst/>
          </a:prstGeom>
          <a:noFill/>
        </p:spPr>
        <p:txBody>
          <a:bodyPr wrap="square" lIns="0" rIns="0" tIns="0" bIns="0" anchor="t">
            <a:spAutoFit/>
          </a:bodyPr>
          <a:lstStyle/>
          <a:p>
            <a:pPr algn="l">
              <a:lnSpc>
                <a:spcPct val="110000"/>
              </a:lnSpc>
              <a:spcAft>
                <a:spcPts val="0"/>
              </a:spcAft>
            </a:pPr>
            <a:r>
              <a:rPr sz="1250" b="0" lang="zh-CN">
                <a:solidFill>
                  <a:srgbClr val="21364E"/>
                </a:solidFill>
                <a:latin typeface="Noto Sans CJK SC"/>
                <a:ea typeface="Noto Sans CJK SC"/>
                <a:cs typeface="Noto Sans CJK SC"/>
              </a:rPr>
              <a:t>提供最后接收的 event position</a:t>
            </a:r>
          </a:p>
          <a:p>
            <a:pPr algn="l">
              <a:lnSpc>
                <a:spcPct val="110000"/>
              </a:lnSpc>
              <a:spcAft>
                <a:spcPts val="0"/>
              </a:spcAft>
            </a:pPr>
            <a:r>
              <a:rPr sz="1250" b="0" lang="zh-CN">
                <a:solidFill>
                  <a:srgbClr val="21364E"/>
                </a:solidFill>
                <a:latin typeface="Noto Sans CJK SC"/>
                <a:ea typeface="Noto Sans CJK SC"/>
                <a:cs typeface="Noto Sans CJK SC"/>
              </a:rPr>
              <a:t>所需 event 仍在保留范围内</a:t>
            </a:r>
          </a:p>
        </p:txBody>
      </p:sp>
      <p:sp>
        <p:nvSpPr>
          <p:cNvPr id="36" name="TextBox 35"/>
          <p:cNvSpPr txBox="1"/>
          <p:nvPr/>
        </p:nvSpPr>
        <p:spPr>
          <a:xfrm>
            <a:off x="722376" y="6089904"/>
            <a:ext cx="10744200" cy="292608"/>
          </a:xfrm>
          <a:prstGeom prst="rect">
            <a:avLst/>
          </a:prstGeom>
          <a:noFill/>
        </p:spPr>
        <p:txBody>
          <a:bodyPr wrap="square" lIns="0" rIns="0" tIns="0" bIns="0" anchor="t">
            <a:spAutoFit/>
          </a:bodyPr>
          <a:lstStyle/>
          <a:p>
            <a:pPr algn="l">
              <a:lnSpc>
                <a:spcPct val="110000"/>
              </a:lnSpc>
              <a:spcAft>
                <a:spcPts val="0"/>
              </a:spcAft>
            </a:pPr>
            <a:r>
              <a:rPr sz="1150" b="0" lang="zh-CN">
                <a:solidFill>
                  <a:srgbClr val="586B7E"/>
                </a:solidFill>
                <a:latin typeface="Noto Sans CJK SC"/>
                <a:ea typeface="Noto Sans CJK SC"/>
                <a:cs typeface="Noto Sans CJK SC"/>
              </a:rPr>
              <a:t>默认：断连 grace 30s · idle TTL 300s · replay 60s / 8 MiB。恢复依赖同一仍存活的 owner。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部署</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跨机 Stage 共用入口侧的 Orchestrator</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单个 API worker 持有 duplex session；Head 连接本机及已注册的 headless Stage 进程。</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A4</a:t>
            </a:r>
          </a:p>
        </p:txBody>
      </p:sp>
      <p:sp>
        <p:nvSpPr>
          <p:cNvPr id="12" name="Rounded Rectangle 11"/>
          <p:cNvSpPr/>
          <p:nvPr/>
        </p:nvSpPr>
        <p:spPr>
          <a:xfrm>
            <a:off x="548640" y="2221992"/>
            <a:ext cx="5522976" cy="218541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31520" y="2368296"/>
            <a:ext cx="5120640" cy="237744"/>
          </a:xfrm>
          <a:prstGeom prst="rect">
            <a:avLst/>
          </a:prstGeom>
          <a:noFill/>
        </p:spPr>
        <p:txBody>
          <a:bodyPr wrap="square" lIns="0" rIns="0" tIns="0" bIns="0" anchor="t">
            <a:spAutoFit/>
          </a:bodyPr>
          <a:lstStyle/>
          <a:p>
            <a:pPr algn="l">
              <a:lnSpc>
                <a:spcPct val="110000"/>
              </a:lnSpc>
              <a:spcAft>
                <a:spcPts val="0"/>
              </a:spcAft>
            </a:pPr>
            <a:r>
              <a:rPr sz="1300" b="1" lang="zh-CN">
                <a:solidFill>
                  <a:srgbClr val="008E96"/>
                </a:solidFill>
                <a:latin typeface="Noto Sans CJK SC"/>
                <a:ea typeface="Noto Sans CJK SC"/>
                <a:cs typeface="Noto Sans CJK SC"/>
              </a:rPr>
              <a:t>Head 节点</a:t>
            </a:r>
          </a:p>
        </p:txBody>
      </p:sp>
      <p:sp>
        <p:nvSpPr>
          <p:cNvPr id="14" name="Rounded Rectangle 13"/>
          <p:cNvSpPr/>
          <p:nvPr/>
        </p:nvSpPr>
        <p:spPr>
          <a:xfrm>
            <a:off x="740664" y="2798064"/>
            <a:ext cx="5111496" cy="585216"/>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96112" y="2971800"/>
            <a:ext cx="4800600" cy="228600"/>
          </a:xfrm>
          <a:prstGeom prst="rect">
            <a:avLst/>
          </a:prstGeom>
          <a:noFill/>
        </p:spPr>
        <p:txBody>
          <a:bodyPr wrap="square" lIns="0" rIns="0" tIns="0" bIns="0" anchor="t">
            <a:spAutoFit/>
          </a:bodyPr>
          <a:lstStyle/>
          <a:p>
            <a:pPr algn="l">
              <a:lnSpc>
                <a:spcPct val="110000"/>
              </a:lnSpc>
              <a:spcAft>
                <a:spcPts val="0"/>
              </a:spcAft>
            </a:pPr>
            <a:r>
              <a:rPr sz="1350" b="1">
                <a:solidFill>
                  <a:srgbClr val="142B45"/>
                </a:solidFill>
                <a:latin typeface="Arial"/>
                <a:ea typeface="Arial"/>
                <a:cs typeface="Arial"/>
              </a:rPr>
              <a:t>API / EngineClient / Duplex Orchestrator</a:t>
            </a:r>
          </a:p>
        </p:txBody>
      </p:sp>
      <p:sp>
        <p:nvSpPr>
          <p:cNvPr id="16" name="Rounded Rectangle 15"/>
          <p:cNvSpPr/>
          <p:nvPr/>
        </p:nvSpPr>
        <p:spPr>
          <a:xfrm>
            <a:off x="740664" y="3666744"/>
            <a:ext cx="5111496" cy="521207"/>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96112" y="3822191"/>
            <a:ext cx="4800600" cy="219456"/>
          </a:xfrm>
          <a:prstGeom prst="rect">
            <a:avLst/>
          </a:prstGeom>
          <a:noFill/>
        </p:spPr>
        <p:txBody>
          <a:bodyPr wrap="square" lIns="0" rIns="0" tIns="0" bIns="0" anchor="t">
            <a:spAutoFit/>
          </a:bodyPr>
          <a:lstStyle/>
          <a:p>
            <a:pPr algn="l">
              <a:lnSpc>
                <a:spcPct val="110000"/>
              </a:lnSpc>
              <a:spcAft>
                <a:spcPts val="0"/>
              </a:spcAft>
            </a:pPr>
            <a:r>
              <a:rPr sz="1300" b="0" lang="zh-CN">
                <a:solidFill>
                  <a:srgbClr val="142B45"/>
                </a:solidFill>
                <a:latin typeface="Noto Sans CJK SC"/>
                <a:ea typeface="Noto Sans CJK SC"/>
                <a:cs typeface="Noto Sans CJK SC"/>
              </a:rPr>
              <a:t>本机 Stage 0 · EngineCore / Worker</a:t>
            </a:r>
          </a:p>
        </p:txBody>
      </p:sp>
      <p:cxnSp>
        <p:nvCxnSpPr>
          <p:cNvPr id="18" name="Connector 17"/>
          <p:cNvCxnSpPr/>
          <p:nvPr/>
        </p:nvCxnSpPr>
        <p:spPr>
          <a:xfrm>
            <a:off x="3291840" y="3419856"/>
            <a:ext cx="0" cy="210312"/>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9" name="Rounded Rectangle 18"/>
          <p:cNvSpPr/>
          <p:nvPr/>
        </p:nvSpPr>
        <p:spPr>
          <a:xfrm>
            <a:off x="7434072" y="2221992"/>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580376" y="2340864"/>
            <a:ext cx="3904487" cy="256032"/>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节点 B · headless</a:t>
            </a:r>
          </a:p>
        </p:txBody>
      </p:sp>
      <p:sp>
        <p:nvSpPr>
          <p:cNvPr id="21" name="TextBox 20"/>
          <p:cNvSpPr txBox="1"/>
          <p:nvPr/>
        </p:nvSpPr>
        <p:spPr>
          <a:xfrm>
            <a:off x="7580376" y="2697480"/>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1 · EngineCore / Worker</a:t>
            </a:r>
          </a:p>
        </p:txBody>
      </p:sp>
      <p:sp>
        <p:nvSpPr>
          <p:cNvPr id="22" name="Rounded Rectangle 21"/>
          <p:cNvSpPr/>
          <p:nvPr/>
        </p:nvSpPr>
        <p:spPr>
          <a:xfrm>
            <a:off x="7434072" y="3429000"/>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580376" y="3547872"/>
            <a:ext cx="3904487" cy="256032"/>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节点 C · headless</a:t>
            </a:r>
          </a:p>
        </p:txBody>
      </p:sp>
      <p:sp>
        <p:nvSpPr>
          <p:cNvPr id="24" name="TextBox 23"/>
          <p:cNvSpPr txBox="1"/>
          <p:nvPr/>
        </p:nvSpPr>
        <p:spPr>
          <a:xfrm>
            <a:off x="7580376" y="3904487"/>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2 · EngineCore / Worker</a:t>
            </a:r>
          </a:p>
        </p:txBody>
      </p:sp>
      <p:cxnSp>
        <p:nvCxnSpPr>
          <p:cNvPr id="25" name="Connector 24"/>
          <p:cNvCxnSpPr/>
          <p:nvPr/>
        </p:nvCxnSpPr>
        <p:spPr>
          <a:xfrm>
            <a:off x="6126480" y="3054096"/>
            <a:ext cx="685800"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a:off x="6812280" y="2715768"/>
            <a:ext cx="0" cy="120700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7" name="Connector 26"/>
          <p:cNvCxnSpPr/>
          <p:nvPr/>
        </p:nvCxnSpPr>
        <p:spPr>
          <a:xfrm>
            <a:off x="6812280" y="2715768"/>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8" name="Connector 27"/>
          <p:cNvCxnSpPr/>
          <p:nvPr/>
        </p:nvCxnSpPr>
        <p:spPr>
          <a:xfrm>
            <a:off x="6812280" y="3922776"/>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6153912" y="4023360"/>
            <a:ext cx="1088136" cy="393192"/>
          </a:xfrm>
          <a:prstGeom prst="rect">
            <a:avLst/>
          </a:prstGeom>
          <a:noFill/>
        </p:spPr>
        <p:txBody>
          <a:bodyPr wrap="square" lIns="0" rIns="0" tIns="0" bIns="0" anchor="t">
            <a:spAutoFit/>
          </a:bodyPr>
          <a:lstStyle/>
          <a:p>
            <a:pPr algn="l">
              <a:lnSpc>
                <a:spcPct val="110000"/>
              </a:lnSpc>
              <a:spcAft>
                <a:spcPts val="0"/>
              </a:spcAft>
            </a:pPr>
            <a:r>
              <a:rPr sz="1050" b="0" lang="zh-CN">
                <a:solidFill>
                  <a:srgbClr val="586B7E"/>
                </a:solidFill>
                <a:latin typeface="Noto Sans CJK SC"/>
                <a:ea typeface="Noto Sans CJK SC"/>
                <a:cs typeface="Noto Sans CJK SC"/>
              </a:rPr>
              <a:t>请求 / 输出</a:t>
            </a:r>
          </a:p>
        </p:txBody>
      </p:sp>
      <p:sp>
        <p:nvSpPr>
          <p:cNvPr id="30" name="Rounded Rectangle 29"/>
          <p:cNvSpPr/>
          <p:nvPr/>
        </p:nvSpPr>
        <p:spPr>
          <a:xfrm>
            <a:off x="548640"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694944" y="4837176"/>
            <a:ext cx="325526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1 统一部署配置</a:t>
            </a:r>
          </a:p>
        </p:txBody>
      </p:sp>
      <p:sp>
        <p:nvSpPr>
          <p:cNvPr id="32" name="TextBox 31"/>
          <p:cNvSpPr txBox="1"/>
          <p:nvPr/>
        </p:nvSpPr>
        <p:spPr>
          <a:xfrm>
            <a:off x="694944" y="5193792"/>
            <a:ext cx="3255264" cy="448056"/>
          </a:xfrm>
          <a:prstGeom prst="rect">
            <a:avLst/>
          </a:prstGeom>
          <a:noFill/>
        </p:spPr>
        <p:txBody>
          <a:bodyPr wrap="square" lIns="0" rIns="0" tIns="0" bIns="0" anchor="t">
            <a:spAutoFit/>
          </a:bodyPr>
          <a:lstStyle/>
          <a:p>
            <a:pPr algn="l">
              <a:lnSpc>
                <a:spcPct val="110000"/>
              </a:lnSpc>
              <a:spcAft>
                <a:spcPts val="0"/>
              </a:spcAft>
            </a:pPr>
            <a:r>
              <a:rPr sz="1180" b="0" lang="zh-CN">
                <a:solidFill>
                  <a:srgbClr val="21364E"/>
                </a:solidFill>
                <a:latin typeface="Noto Sans CJK SC"/>
                <a:ea typeface="Noto Sans CJK SC"/>
                <a:cs typeface="Noto Sans CJK SC"/>
              </a:rPr>
              <a:t>统一模型拓扑；session_mode: duplex</a:t>
            </a:r>
          </a:p>
          <a:p>
            <a:pPr algn="l">
              <a:lnSpc>
                <a:spcPct val="110000"/>
              </a:lnSpc>
              <a:spcAft>
                <a:spcPts val="0"/>
              </a:spcAft>
            </a:pPr>
            <a:r>
              <a:rPr sz="1180" b="0" lang="zh-CN">
                <a:solidFill>
                  <a:srgbClr val="21364E"/>
                </a:solidFill>
                <a:latin typeface="Noto Sans CJK SC"/>
                <a:ea typeface="Noto Sans CJK SC"/>
                <a:cs typeface="Noto Sans CJK SC"/>
              </a:rPr>
              <a:t>配置设备与网络 connector</a:t>
            </a:r>
          </a:p>
        </p:txBody>
      </p:sp>
      <p:sp>
        <p:nvSpPr>
          <p:cNvPr id="33" name="Rounded Rectangle 32"/>
          <p:cNvSpPr/>
          <p:nvPr/>
        </p:nvSpPr>
        <p:spPr>
          <a:xfrm>
            <a:off x="4315968"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4462272" y="4837176"/>
            <a:ext cx="325526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2 启动 Head</a:t>
            </a:r>
          </a:p>
        </p:txBody>
      </p:sp>
      <p:sp>
        <p:nvSpPr>
          <p:cNvPr id="35" name="TextBox 34"/>
          <p:cNvSpPr txBox="1"/>
          <p:nvPr/>
        </p:nvSpPr>
        <p:spPr>
          <a:xfrm>
            <a:off x="4462272" y="5193792"/>
            <a:ext cx="3255264" cy="448056"/>
          </a:xfrm>
          <a:prstGeom prst="rect">
            <a:avLst/>
          </a:prstGeom>
          <a:noFill/>
        </p:spPr>
        <p:txBody>
          <a:bodyPr wrap="square" lIns="0" rIns="0" tIns="0" bIns="0" anchor="t">
            <a:spAutoFit/>
          </a:bodyPr>
          <a:lstStyle/>
          <a:p>
            <a:pPr algn="l">
              <a:lnSpc>
                <a:spcPct val="110000"/>
              </a:lnSpc>
              <a:spcAft>
                <a:spcPts val="0"/>
              </a:spcAft>
            </a:pPr>
            <a:r>
              <a:rPr sz="1180" b="0" lang="zh-CN">
                <a:solidFill>
                  <a:srgbClr val="21364E"/>
                </a:solidFill>
                <a:latin typeface="Noto Sans CJK SC"/>
                <a:ea typeface="Noto Sans CJK SC"/>
                <a:cs typeface="Noto Sans CJK SC"/>
              </a:rPr>
              <a:t>stage-id 0 启动单个 API worker 与本机 Stage</a:t>
            </a:r>
          </a:p>
          <a:p>
            <a:pPr algn="l">
              <a:lnSpc>
                <a:spcPct val="110000"/>
              </a:lnSpc>
              <a:spcAft>
                <a:spcPts val="0"/>
              </a:spcAft>
            </a:pPr>
            <a:r>
              <a:rPr sz="1180" b="0" lang="zh-CN">
                <a:solidFill>
                  <a:srgbClr val="21364E"/>
                </a:solidFill>
                <a:latin typeface="Noto Sans CJK SC"/>
                <a:ea typeface="Noto Sans CJK SC"/>
                <a:cs typeface="Noto Sans CJK SC"/>
              </a:rPr>
              <a:t>提供可访问的 master 地址与端口</a:t>
            </a:r>
          </a:p>
        </p:txBody>
      </p:sp>
      <p:sp>
        <p:nvSpPr>
          <p:cNvPr id="36" name="Rounded Rectangle 35"/>
          <p:cNvSpPr/>
          <p:nvPr/>
        </p:nvSpPr>
        <p:spPr>
          <a:xfrm>
            <a:off x="8083296"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229600" y="4837176"/>
            <a:ext cx="325526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3 部署侧启动 headless</a:t>
            </a:r>
          </a:p>
        </p:txBody>
      </p:sp>
      <p:sp>
        <p:nvSpPr>
          <p:cNvPr id="38" name="TextBox 37"/>
          <p:cNvSpPr txBox="1"/>
          <p:nvPr/>
        </p:nvSpPr>
        <p:spPr>
          <a:xfrm>
            <a:off x="8229600" y="5193792"/>
            <a:ext cx="3255264" cy="448056"/>
          </a:xfrm>
          <a:prstGeom prst="rect">
            <a:avLst/>
          </a:prstGeom>
          <a:noFill/>
        </p:spPr>
        <p:txBody>
          <a:bodyPr wrap="square" lIns="0" rIns="0" tIns="0" bIns="0" anchor="t">
            <a:spAutoFit/>
          </a:bodyPr>
          <a:lstStyle/>
          <a:p>
            <a:pPr algn="l">
              <a:lnSpc>
                <a:spcPct val="110000"/>
              </a:lnSpc>
              <a:spcAft>
                <a:spcPts val="0"/>
              </a:spcAft>
            </a:pPr>
            <a:r>
              <a:rPr sz="1180" b="0" lang="zh-CN">
                <a:solidFill>
                  <a:srgbClr val="21364E"/>
                </a:solidFill>
                <a:latin typeface="Noto Sans CJK SC"/>
                <a:ea typeface="Noto Sans CJK SC"/>
                <a:cs typeface="Noto Sans CJK SC"/>
              </a:rPr>
              <a:t>指定 stage-id 与同一 master</a:t>
            </a:r>
          </a:p>
          <a:p>
            <a:pPr algn="l">
              <a:lnSpc>
                <a:spcPct val="110000"/>
              </a:lnSpc>
              <a:spcAft>
                <a:spcPts val="0"/>
              </a:spcAft>
            </a:pPr>
            <a:r>
              <a:rPr sz="1180" b="0" lang="zh-CN">
                <a:solidFill>
                  <a:srgbClr val="21364E"/>
                </a:solidFill>
                <a:latin typeface="Noto Sans CJK SC"/>
                <a:ea typeface="Noto Sans CJK SC"/>
                <a:cs typeface="Noto Sans CJK SC"/>
              </a:rPr>
              <a:t>向 OmniMaster 注册，启动本机 Stage</a:t>
            </a:r>
          </a:p>
        </p:txBody>
      </p:sp>
      <p:sp>
        <p:nvSpPr>
          <p:cNvPr id="39" name="TextBox 38"/>
          <p:cNvSpPr txBox="1"/>
          <p:nvPr/>
        </p:nvSpPr>
        <p:spPr>
          <a:xfrm>
            <a:off x="722376" y="6089904"/>
            <a:ext cx="10744200" cy="292608"/>
          </a:xfrm>
          <a:prstGeom prst="rect">
            <a:avLst/>
          </a:prstGeom>
          <a:noFill/>
        </p:spPr>
        <p:txBody>
          <a:bodyPr wrap="square" lIns="0" rIns="0" tIns="0" bIns="0" anchor="t">
            <a:spAutoFit/>
          </a:bodyPr>
          <a:lstStyle/>
          <a:p>
            <a:pPr algn="l">
              <a:lnSpc>
                <a:spcPct val="110000"/>
              </a:lnSpc>
              <a:spcAft>
                <a:spcPts val="0"/>
              </a:spcAft>
            </a:pPr>
            <a:r>
              <a:rPr sz="1150" b="0" lang="zh-CN">
                <a:solidFill>
                  <a:srgbClr val="586B7E"/>
                </a:solidFill>
                <a:latin typeface="Noto Sans CJK SC"/>
                <a:ea typeface="Noto Sans CJK SC"/>
                <a:cs typeface="Noto Sans CJK SC"/>
              </a:rPr>
              <a:t>Headless Stage 共用 Head Orchestrator；duplex 不支持多 API worker，跨机传输需配置网络 connector。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参考代码</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100" b="1" lang="zh-CN">
                <a:solidFill>
                  <a:srgbClr val="142B45"/>
                </a:solidFill>
                <a:latin typeface="Noto Sans CJK SC"/>
                <a:ea typeface="Noto Sans CJK SC"/>
                <a:cs typeface="Noto Sans CJK SC"/>
              </a:rPr>
              <a:t>参考代码</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A5</a:t>
            </a:r>
          </a:p>
        </p:txBody>
      </p:sp>
      <p:sp>
        <p:nvSpPr>
          <p:cNvPr id="12" name="Rounded Rectangle 11"/>
          <p:cNvSpPr/>
          <p:nvPr/>
        </p:nvSpPr>
        <p:spPr>
          <a:xfrm>
            <a:off x="548640" y="2221992"/>
            <a:ext cx="11082528" cy="384048"/>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49808" y="2313432"/>
            <a:ext cx="2130552" cy="256032"/>
          </a:xfrm>
          <a:prstGeom prst="rect">
            <a:avLst/>
          </a:prstGeom>
          <a:noFill/>
        </p:spPr>
        <p:txBody>
          <a:bodyPr wrap="square" lIns="0" rIns="0" tIns="0" bIns="0" anchor="t">
            <a:spAutoFit/>
          </a:bodyPr>
          <a:lstStyle/>
          <a:p>
            <a:pPr algn="l">
              <a:lnSpc>
                <a:spcPct val="110000"/>
              </a:lnSpc>
              <a:spcAft>
                <a:spcPts val="0"/>
              </a:spcAft>
            </a:pPr>
            <a:r>
              <a:rPr sz="1200" b="1" lang="zh-CN">
                <a:solidFill>
                  <a:srgbClr val="FFFFFF"/>
                </a:solidFill>
                <a:latin typeface="Noto Sans CJK SC"/>
                <a:ea typeface="Noto Sans CJK SC"/>
                <a:cs typeface="Noto Sans CJK SC"/>
              </a:rPr>
              <a:t>层次</a:t>
            </a:r>
          </a:p>
        </p:txBody>
      </p:sp>
      <p:sp>
        <p:nvSpPr>
          <p:cNvPr id="14" name="TextBox 13"/>
          <p:cNvSpPr txBox="1"/>
          <p:nvPr/>
        </p:nvSpPr>
        <p:spPr>
          <a:xfrm>
            <a:off x="3044952" y="2313432"/>
            <a:ext cx="4672584" cy="256032"/>
          </a:xfrm>
          <a:prstGeom prst="rect">
            <a:avLst/>
          </a:prstGeom>
          <a:noFill/>
        </p:spPr>
        <p:txBody>
          <a:bodyPr wrap="square" lIns="0" rIns="0" tIns="0" bIns="0" anchor="t">
            <a:spAutoFit/>
          </a:bodyPr>
          <a:lstStyle/>
          <a:p>
            <a:pPr algn="l">
              <a:lnSpc>
                <a:spcPct val="110000"/>
              </a:lnSpc>
              <a:spcAft>
                <a:spcPts val="0"/>
              </a:spcAft>
            </a:pPr>
            <a:r>
              <a:rPr sz="1200" b="1" lang="zh-CN">
                <a:solidFill>
                  <a:srgbClr val="FFFFFF"/>
                </a:solidFill>
                <a:latin typeface="Noto Sans CJK SC"/>
                <a:ea typeface="Noto Sans CJK SC"/>
                <a:cs typeface="Noto Sans CJK SC"/>
              </a:rPr>
              <a:t>实现入口</a:t>
            </a:r>
          </a:p>
        </p:txBody>
      </p:sp>
      <p:sp>
        <p:nvSpPr>
          <p:cNvPr id="15" name="TextBox 14"/>
          <p:cNvSpPr txBox="1"/>
          <p:nvPr/>
        </p:nvSpPr>
        <p:spPr>
          <a:xfrm>
            <a:off x="8147304" y="2313432"/>
            <a:ext cx="3236976" cy="256032"/>
          </a:xfrm>
          <a:prstGeom prst="rect">
            <a:avLst/>
          </a:prstGeom>
          <a:noFill/>
        </p:spPr>
        <p:txBody>
          <a:bodyPr wrap="square" lIns="0" rIns="0" tIns="0" bIns="0" anchor="t">
            <a:spAutoFit/>
          </a:bodyPr>
          <a:lstStyle/>
          <a:p>
            <a:pPr algn="l">
              <a:lnSpc>
                <a:spcPct val="110000"/>
              </a:lnSpc>
              <a:spcAft>
                <a:spcPts val="0"/>
              </a:spcAft>
            </a:pPr>
            <a:r>
              <a:rPr sz="1200" b="1" lang="zh-CN">
                <a:solidFill>
                  <a:srgbClr val="FFFFFF"/>
                </a:solidFill>
                <a:latin typeface="Noto Sans CJK SC"/>
                <a:ea typeface="Noto Sans CJK SC"/>
                <a:cs typeface="Noto Sans CJK SC"/>
              </a:rPr>
              <a:t>阅读重点</a:t>
            </a:r>
          </a:p>
        </p:txBody>
      </p:sp>
      <p:sp>
        <p:nvSpPr>
          <p:cNvPr id="16" name="Rounded Rectangle 15"/>
          <p:cNvSpPr/>
          <p:nvPr/>
        </p:nvSpPr>
        <p:spPr>
          <a:xfrm>
            <a:off x="548640" y="2660904"/>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49808" y="2752344"/>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API 通信适配</a:t>
            </a:r>
          </a:p>
        </p:txBody>
      </p:sp>
      <p:sp>
        <p:nvSpPr>
          <p:cNvPr id="18" name="TextBox 17"/>
          <p:cNvSpPr txBox="1"/>
          <p:nvPr/>
        </p:nvSpPr>
        <p:spPr>
          <a:xfrm>
            <a:off x="3044952" y="2752344"/>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4"/>
              </a:rPr>
              <a:t>OmniDuplexSessionHandler</a:t>
            </a:r>
          </a:p>
        </p:txBody>
      </p:sp>
      <p:sp>
        <p:nvSpPr>
          <p:cNvPr id="19" name="TextBox 18"/>
          <p:cNvSpPr txBox="1"/>
          <p:nvPr/>
        </p:nvSpPr>
        <p:spPr>
          <a:xfrm>
            <a:off x="8147304" y="2761488"/>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协议 event、连接绑定与 replay</a:t>
            </a:r>
          </a:p>
        </p:txBody>
      </p:sp>
      <p:sp>
        <p:nvSpPr>
          <p:cNvPr id="20" name="Rounded Rectangle 19"/>
          <p:cNvSpPr/>
          <p:nvPr/>
        </p:nvSpPr>
        <p:spPr>
          <a:xfrm>
            <a:off x="548640" y="3136392"/>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49808" y="3227832"/>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EngineClient</a:t>
            </a:r>
          </a:p>
        </p:txBody>
      </p:sp>
      <p:sp>
        <p:nvSpPr>
          <p:cNvPr id="22" name="TextBox 21"/>
          <p:cNvSpPr txBox="1"/>
          <p:nvPr/>
        </p:nvSpPr>
        <p:spPr>
          <a:xfrm>
            <a:off x="3044952" y="3227832"/>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5"/>
              </a:rPr>
              <a:t>DuplexOmni / DuplexSessionHandle</a:t>
            </a:r>
          </a:p>
        </p:txBody>
      </p:sp>
      <p:sp>
        <p:nvSpPr>
          <p:cNvPr id="23" name="TextBox 22"/>
          <p:cNvSpPr txBox="1"/>
          <p:nvPr/>
        </p:nvSpPr>
        <p:spPr>
          <a:xfrm>
            <a:off x="8147304" y="3236976"/>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handle、共享 output buffer 与 event</a:t>
            </a:r>
          </a:p>
        </p:txBody>
      </p:sp>
      <p:sp>
        <p:nvSpPr>
          <p:cNvPr id="24" name="Rounded Rectangle 23"/>
          <p:cNvSpPr/>
          <p:nvPr/>
        </p:nvSpPr>
        <p:spPr>
          <a:xfrm>
            <a:off x="548640" y="3611880"/>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749808" y="3703320"/>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通信与传输</a:t>
            </a:r>
          </a:p>
        </p:txBody>
      </p:sp>
      <p:sp>
        <p:nvSpPr>
          <p:cNvPr id="26" name="TextBox 25"/>
          <p:cNvSpPr txBox="1"/>
          <p:nvPr/>
        </p:nvSpPr>
        <p:spPr>
          <a:xfrm>
            <a:off x="3044952" y="3703320"/>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6"/>
              </a:rPr>
              <a:t>DuplexOmniEngine</a:t>
            </a:r>
            <a:r>
              <a:rPr sz="1450" b="0">
                <a:solidFill>
                  <a:srgbClr val="327CEC"/>
                </a:solidFill>
                <a:latin typeface="Arial"/>
                <a:ea typeface="Arial"/>
                <a:cs typeface="Arial"/>
              </a:rPr>
              <a:t> / </a:t>
            </a:r>
            <a:r>
              <a:rPr sz="1450" b="0">
                <a:solidFill>
                  <a:srgbClr val="327CEC"/>
                </a:solidFill>
                <a:latin typeface="Arial"/>
                <a:ea typeface="Arial"/>
                <a:cs typeface="Arial"/>
                <a:hlinkClick r:id="rId11"/>
              </a:rPr>
              <a:t>DuplexOutputBuffer</a:t>
            </a:r>
          </a:p>
        </p:txBody>
      </p:sp>
      <p:sp>
        <p:nvSpPr>
          <p:cNvPr id="27" name="TextBox 26"/>
          <p:cNvSpPr txBox="1"/>
          <p:nvPr/>
        </p:nvSpPr>
        <p:spPr>
          <a:xfrm>
            <a:off x="8147304" y="3712464"/>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控制队列与有界 session 输出</a:t>
            </a:r>
          </a:p>
        </p:txBody>
      </p:sp>
      <p:sp>
        <p:nvSpPr>
          <p:cNvPr id="28" name="Rounded Rectangle 27"/>
          <p:cNvSpPr/>
          <p:nvPr/>
        </p:nvSpPr>
        <p:spPr>
          <a:xfrm>
            <a:off x="548640" y="4087368"/>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49808" y="4178808"/>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会话运行时</a:t>
            </a:r>
          </a:p>
        </p:txBody>
      </p:sp>
      <p:sp>
        <p:nvSpPr>
          <p:cNvPr id="30" name="TextBox 29"/>
          <p:cNvSpPr txBox="1"/>
          <p:nvPr/>
        </p:nvSpPr>
        <p:spPr>
          <a:xfrm>
            <a:off x="3044952" y="4178808"/>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7"/>
              </a:rPr>
              <a:t>DuplexSessionManager / DuplexSessionRunner</a:t>
            </a:r>
          </a:p>
        </p:txBody>
      </p:sp>
      <p:sp>
        <p:nvSpPr>
          <p:cNvPr id="31" name="TextBox 30"/>
          <p:cNvSpPr txBox="1"/>
          <p:nvPr/>
        </p:nvSpPr>
        <p:spPr>
          <a:xfrm>
            <a:off x="8147304" y="4187952"/>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lease、状态、mailbox 与模型策略</a:t>
            </a:r>
          </a:p>
        </p:txBody>
      </p:sp>
      <p:sp>
        <p:nvSpPr>
          <p:cNvPr id="32" name="Rounded Rectangle 31"/>
          <p:cNvSpPr/>
          <p:nvPr/>
        </p:nvSpPr>
        <p:spPr>
          <a:xfrm>
            <a:off x="548640" y="4562856"/>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49808" y="4654296"/>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Stage 编排</a:t>
            </a:r>
          </a:p>
        </p:txBody>
      </p:sp>
      <p:sp>
        <p:nvSpPr>
          <p:cNvPr id="34" name="TextBox 33"/>
          <p:cNvSpPr txBox="1"/>
          <p:nvPr/>
        </p:nvSpPr>
        <p:spPr>
          <a:xfrm>
            <a:off x="3044952" y="4654296"/>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8"/>
              </a:rPr>
              <a:t>DuplexOrchestrator / StagePool</a:t>
            </a:r>
          </a:p>
        </p:txBody>
      </p:sp>
      <p:sp>
        <p:nvSpPr>
          <p:cNvPr id="35" name="TextBox 34"/>
          <p:cNvSpPr txBox="1"/>
          <p:nvPr/>
        </p:nvSpPr>
        <p:spPr>
          <a:xfrm>
            <a:off x="8147304" y="4663440"/>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初始请求、后续更新与副本绑定</a:t>
            </a:r>
          </a:p>
        </p:txBody>
      </p:sp>
      <p:sp>
        <p:nvSpPr>
          <p:cNvPr id="36" name="Rounded Rectangle 35"/>
          <p:cNvSpPr/>
          <p:nvPr/>
        </p:nvSpPr>
        <p:spPr>
          <a:xfrm>
            <a:off x="548640" y="5038344"/>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49808" y="5129783"/>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模型执行</a:t>
            </a:r>
          </a:p>
        </p:txBody>
      </p:sp>
      <p:sp>
        <p:nvSpPr>
          <p:cNvPr id="38" name="TextBox 37"/>
          <p:cNvSpPr txBox="1"/>
          <p:nvPr/>
        </p:nvSpPr>
        <p:spPr>
          <a:xfrm>
            <a:off x="3044952" y="5129783"/>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9"/>
              </a:rPr>
              <a:t>Scheduler / Model Worker</a:t>
            </a:r>
          </a:p>
        </p:txBody>
      </p:sp>
      <p:sp>
        <p:nvSpPr>
          <p:cNvPr id="39" name="TextBox 38"/>
          <p:cNvSpPr txBox="1"/>
          <p:nvPr/>
        </p:nvSpPr>
        <p:spPr>
          <a:xfrm>
            <a:off x="8147304" y="5138928"/>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batching、计算与模型缓存</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(16:9)</PresentationFormat>
  <Paragraphs>0</Paragraphs>
  <Slides>18</Slides>
  <Notes>18</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Next Inflection Point in AI Interaction</dc:title>
  <dc:subject>How vLLM-Omni Enables Models to Listen and Speak Simultaneously</dc:subject>
  <dc:creator/>
  <cp:keywords/>
  <dc:description>generated using python-pptx</dc:description>
  <cp:lastModifiedBy>Steve Canny</cp:lastModifiedBy>
  <cp:revision>1</cp:revision>
  <dcterms:created xsi:type="dcterms:W3CDTF">2013-01-27T09:14:16Z</dcterms:created>
  <dcterms:modified xsi:type="dcterms:W3CDTF">2026-10-09T10:31:56Z</dcterms:modified>
  <cp:category/>
</cp:coreProperties>
</file>