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82" r:id="rId32"/>
    <p:sldId id="268" r:id="rId20"/>
    <p:sldId id="269" r:id="rId15"/>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Arial"/>
              </a:defRPr>
            </a:pPr>
            <a:r>
              <a:rPr lang="en-US" sz="1600" b="1" baseline="0">
                <a:solidFill>
                  <a:srgbClr val="16304E"/>
                </a:solidFill>
                <a:latin typeface="Arial"/>
              </a:rPr>
              <a:t>MiniCPM-o 4.5</a:t>
            </a:r>
          </a:p>
        </c:rich>
      </c:tx>
      <c:layout/>
    </c:title>
    <c:plotArea>
      <c:layout>
        <c:manualLayout>
          <c:layoutTarget val="inner"/>
          <c:xMode val="edge"/>
          <c:yMode val="edge"/>
          <c:x val="0.19"/>
          <c:y val="0.22"/>
          <c:w val="0.72999999999999998"/>
          <c:h val="0.60999999999999999"/>
        </c:manualLayout>
      </c:layout>
      <c:lineChart>
        <c:grouping val="standard"/>
        <c:ser>
          <c:idx val="0"/>
          <c:order val="0"/>
          <c:tx>
            <c:v>Mean Audio RTF</c:v>
          </c:tx>
          <c:spPr>
            <a:ln w="38100">
              <a:solidFill>
                <a:srgbClr val="008E96"/>
              </a:solidFill>
            </a:ln>
          </c:spPr>
          <c:marker>
            <c:symbol val="circle"/>
            <c:size val="8"/>
            <c:spPr>
              <a:solidFill>
                <a:srgbClr val="FFFFFF"/>
              </a:solidFill>
              <a:ln>
                <a:solidFill>
                  <a:srgbClr val="008E96"/>
                </a:solidFill>
              </a:ln>
            </c:spPr>
          </c:marker>
          <c:dLbls>
            <c:numFmt formatCode="0.00" sourceLinked="0"/>
            <c:txPr>
              <a:bodyPr/>
              <a:lstStyle/>
              <a:p>
                <a:pPr>
                  <a:defRPr sz="1600" b="1" baseline="0">
                    <a:solidFill>
                      <a:srgbClr val="16304E"/>
                    </a:solidFill>
                    <a:latin typeface="Arial"/>
                  </a:defRPr>
                </a:pPr>
                <a:endParaRPr lang="en-US"/>
              </a:p>
            </c:txPr>
            <c:dLblPos val="t"/>
            <c:showLegendKey val="0"/>
            <c:showVal val="1"/>
            <c:showCatName val="0"/>
            <c:showSerName val="0"/>
            <c:showPercent val="0"/>
            <c:showBubbleSize val="0"/>
          </c:dLbls>
          <c:cat>
            <c:strRef>
              <c:f>Data!$A$2:$A$5</c:f>
              <c:strCache>
                <c:ptCount val="4"/>
                <c:pt idx="0">
                  <c:v>Oct 5</c:v>
                </c:pt>
                <c:pt idx="1">
                  <c:v>Oct 6</c:v>
                </c:pt>
                <c:pt idx="2">
                  <c:v>Oct 7</c:v>
                </c:pt>
                <c:pt idx="3">
                  <c:v>Oct 8</c:v>
                </c:pt>
              </c:strCache>
            </c:strRef>
          </c:cat>
          <c:val>
            <c:numRef>
              <c:f>Data!$B$2:$B$5</c:f>
              <c:numCache>
                <c:formatCode>General</c:formatCode>
                <c:ptCount val="4"/>
                <c:pt idx="0">
                  <c:v>0.9844461966498954</c:v>
                </c:pt>
                <c:pt idx="1">
                  <c:v>0.7430039011861929</c:v>
                </c:pt>
                <c:pt idx="2">
                  <c:v>0.5597075615335489</c:v>
                </c:pt>
                <c:pt idx="3">
                  <c:v>0.4902875810555307</c:v>
                </c:pt>
              </c:numCache>
            </c:numRef>
          </c:val>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100" baseline="0">
                <a:solidFill>
                  <a:srgbClr val="526985"/>
                </a:solidFill>
                <a:latin typeface="Arial"/>
              </a:defRPr>
            </a:pPr>
            <a:endParaRPr lang="en-US"/>
          </a:p>
        </c:txPr>
        <c:crossAx val="50010002"/>
        <c:crosses val="autoZero"/>
        <c:auto val="1"/>
        <c:lblAlgn val="ctr"/>
        <c:lblOffset val="100"/>
      </c:catAx>
      <c:valAx>
        <c:axId val="50010002"/>
        <c:scaling>
          <c:orientation val="minMax"/>
          <c:max val="1.2"/>
          <c:min val="0"/>
        </c:scaling>
        <c:axPos val="l"/>
        <c:majorGridlines>
          <c:spPr>
            <a:ln w="9525">
              <a:solidFill>
                <a:srgbClr val="DFE7EF"/>
              </a:solidFill>
            </a:ln>
          </c:spPr>
        </c:majorGridlines>
        <c:title>
          <c:tx>
            <c:rich>
              <a:bodyPr rot="-5400000" vert="horz"/>
              <a:lstStyle/>
              <a:p>
                <a:pPr>
                  <a:defRPr sz="1100" baseline="0">
                    <a:solidFill>
                      <a:srgbClr val="526985"/>
                    </a:solidFill>
                    <a:latin typeface="Arial"/>
                  </a:defRPr>
                </a:pPr>
                <a:r>
                  <a:rPr lang="en-US" sz="1100" baseline="0">
                    <a:solidFill>
                      <a:srgbClr val="526985"/>
                    </a:solidFill>
                    <a:latin typeface="Arial"/>
                  </a:rPr>
                  <a:t>Mean Audio RTF</a:t>
                </a:r>
              </a:p>
            </c:rich>
          </c:tx>
          <c:layout/>
        </c:title>
        <c:numFmt formatCode="0.0" sourceLinked="0"/>
        <c:majorTickMark val="none"/>
        <c:tickLblPos val="nextTo"/>
        <c:spPr>
          <a:ln>
            <a:noFill/>
          </a:ln>
        </c:spPr>
        <c:txPr>
          <a:bodyPr/>
          <a:lstStyle/>
          <a:p>
            <a:pPr>
              <a:defRPr sz="1100" baseline="0">
                <a:solidFill>
                  <a:srgbClr val="526985"/>
                </a:solidFill>
                <a:latin typeface="Arial"/>
              </a:defRPr>
            </a:pPr>
            <a:endParaRPr lang="en-US"/>
          </a:p>
        </c:txPr>
        <c:crossAx val="50010001"/>
        <c:crosses val="autoZero"/>
        <c:crossBetween val="midCat"/>
        <c:majorUnit val="0.4"/>
      </c:valAx>
      <c:spPr>
        <a:solidFill>
          <a:srgbClr val="FFFFFF"/>
        </a:solidFill>
        <a:ln>
          <a:noFill/>
        </a:ln>
      </c:spPr>
    </c:plotArea>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Inflection Point in SI Interaction</a:t>
            </a:r>
          </a:p>
          <a:p>
            <a:r>
              <a:t>How vLLM-Omni Enables Models to Listen and Speak Simultaneously</a:t>
            </a:r>
          </a:p>
          <a:p>
            <a:r>
              <a:t/>
            </a:r>
          </a:p>
          <a:p>
            <a:r>
              <a:t>Full duplex lets models keep listening while speaking. This talk introduces the interaction modes, unified runtime architecture and measured performance of vLLM-Omni. Capabilities vary by model and execution mode.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Duplex is the community-wide serving scope. Contributions cover native-duplex models and turn-based models served through duplex sessions; this title does not claim that every model is natively full duplex.</a:t>
            </a:r>
          </a:p>
          <a:p>
            <a:r>
              <a:t/>
            </a:r>
          </a:p>
          <a:p>
            <a:r>
              <a:t>Full duplex is built with the vLLM-Omni community. This edition recognizes 62 GitHub-linked human contributors across 166 related pull requests merged to main through 7 October 2026. The slide uses rounded lower bounds of 60+ contributors and 160+ PRs.</a:t>
            </a:r>
          </a:p>
          <a:p>
            <a:r>
              <a:t/>
            </a:r>
          </a:p>
          <a:p>
            <a: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t/>
            </a:r>
          </a:p>
          <a:p>
            <a:r>
              <a:t>Selected milestones connect native duplex, the unified framework, Realtime interoperability, model integrations and bounded output delivery. The complete attribution is in the companion Community Credits document.</a:t>
            </a:r>
          </a:p>
          <a:p>
            <a:r>
              <a:t/>
            </a:r>
          </a:p>
          <a:p>
            <a:r>
              <a:t>Sources:</a:t>
            </a:r>
          </a:p>
          <a:p>
            <a:r>
              <a:t>- https://github.com/vllm-project/vllm-omni/pull/3907</a:t>
            </a:r>
          </a:p>
          <a:p>
            <a:r>
              <a:t>- https://github.com/vllm-project/vllm-omni/pull/7413</a:t>
            </a:r>
          </a:p>
          <a:p>
            <a:r>
              <a:t>- https://github.com/vllm-project/vllm-omni/pull/7285</a:t>
            </a:r>
          </a:p>
          <a:p>
            <a:r>
              <a:t>- https://github.com/vllm-project/vllm-omni/pull/7585</a:t>
            </a:r>
          </a:p>
          <a:p>
            <a:r>
              <a:t>- https://github.com/vllm-project/vllm-omni/pull/7695</a:t>
            </a:r>
          </a:p>
          <a:p>
            <a:r>
              <a:t>- https://github.com/vllm-project/vllm-omni/pull/6089</a:t>
            </a:r>
          </a:p>
          <a:p>
            <a:r>
              <a:t>- https://github.com/vllm-project/vllm-omni/pull/7633</a:t>
            </a:r>
          </a:p>
          <a:p>
            <a:r>
              <a:t>-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Full duplex keeps input and output active within the same session. Responses stream incrementally, while new input can affect what happens next. How that input affects generation depends on the model. MiniCPM's native policy can choose LISTEN or SPEAK; a turn-based model instead starts a new model request from committed input. The timeline is illustrative, not a latency benchmark.</a:t>
            </a:r>
          </a:p>
          <a:p>
            <a:r>
              <a:t/>
            </a:r>
          </a:p>
          <a:p>
            <a:r>
              <a:t>Hard interruption is explicit application/server control, including configured VAD policy. Soft interruption here means model-driven yielding; semantic endpointing alone does not create native LISTEN/SPEAK capability. The client must stop and clear local playback when the protocol signals an interruption.</a:t>
            </a:r>
          </a:p>
          <a:p>
            <a:r>
              <a:t/>
            </a:r>
          </a:p>
          <a:p>
            <a:r>
              <a:t>Sources:</a:t>
            </a:r>
          </a:p>
          <a:p>
            <a:r>
              <a:t>- capabilities.py: https://github.com/vllm-project/vllm-omni/blob/712b90de9c7bc14c595b363401588a713a87c02d/vllm_omni/model_executor/models/minicpmo_4_5/duplex/capabilities.py</a:t>
            </a:r>
          </a:p>
          <a:p>
            <a:r>
              <a:t>- runner.py: https://github.com/vllm-project/vllm-omni/blob/712b90de9c7bc14c595b363401588a713a87c02d/vllm_omni/engine/duplex/session/runner.py</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bottom cards describe mechanisms at different layers, not a capability set shared by all models. Names are examples from the current demos, not an exhaustive support matrix.</a:t>
            </a:r>
          </a:p>
          <a:p>
            <a:r>
              <a:t>PersonaPlex processes incoming user speech while generating outgoing speech. "Overlapping speech" means concurrent user and assistant audio streams; it is not a claim about separating multiple speakers in a mixed recording. Voice (the chosen sound of the assistant) and persona (its role/instructions) are selected when the session opens. The current plugin rejects changes to voice or instructions within the session.</a:t>
            </a:r>
          </a:p>
          <a:p>
            <a:r>
              <a:t>Model-driven speech here illustrates native execution in PersonaPlex and MiniCPM-o 4.5. PersonaPlex generates clocked audio; MiniCPM uses LISTEN/SPEAK. AURA can choose silent for a committed turn, which is a separate per-turn decision, not native continuous input appended to the same running generation.</a:t>
            </a:r>
          </a:p>
          <a:p>
            <a:r>
              <a:t>AURA holding the talk button stops local playback without issuing server cancellation. Qwen VAD also stops local queued playback; its server-side cancellation is a separate action enabled by interrupt_response. Local playback stop alone never proves inference was cancelled. Other explicit cancel paths are model-specific; PersonaPlex cancellation resets context.</a:t>
            </a:r>
          </a:p>
          <a:p>
            <a:r>
              <a:t>Qwen3-Omni and AURA use turn-based execution in duplex sessions. AURA can start the next committed turn after the prior Thinker completes while prior TTS drains.</a:t>
            </a:r>
          </a:p>
          <a:p>
            <a:r>
              <a:t/>
            </a:r>
          </a:p>
          <a:p>
            <a:r>
              <a:t>https://github.com/vllm-project/vllm-omni/blob/ee81f33001922f8d91dd09da0a57ee1531a8df82/vllm_omni/model_executor/models/personaplex/duplex/plugin.py#L236-L258</a:t>
            </a:r>
          </a:p>
          <a:p>
            <a:r>
              <a:t>https://github.com/vllm-project/vllm-omni/blob/ee81f33001922f8d91dd09da0a57ee1531a8df82/examples/online_serving/realtime_web/app/static/profiles/qwen3_turn.js#L14-L20</a:t>
            </a:r>
          </a:p>
          <a:p>
            <a:r>
              <a:t>https://github.com/vllm-project/vllm-omni/blob/ee81f33001922f8d91dd09da0a57ee1531a8df82/examples/online_serving/realtime_web/app/static/profiles/aura_ptt.js#L8-L29</a:t>
            </a:r>
          </a:p>
          <a:p>
            <a:r>
              <a:t>https://github.com/vllm-project/vllm-omni/blob/ee81f33001922f8d91dd09da0a57ee1531a8df82/vllm_omni/model_executor/models/aura_omni/duplex/plugin.py#L374-L388</a:t>
            </a:r>
          </a:p>
          <a:p>
            <a:r>
              <a:t/>
            </a:r>
          </a:p>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The examples describe the MiniCPM, Qwen3-Omni and AURA Web demo profiles. Model-controlled yielding, local playback stop and server cancellation have different effects.</a:t>
            </a:r>
          </a:p>
          <a:p>
            <a:r>
              <a:t/>
            </a:r>
          </a:p>
          <a:p>
            <a:r>
              <a:t>MiniCPM accepts continuous audio/video input and uses model-native LISTEN / SPEAK without requiring Server VAD by default. LISTEN is separate from explicit cancellation.</a:t>
            </a:r>
          </a:p>
          <a:p>
            <a:r>
              <a:t/>
            </a:r>
          </a:p>
          <a:p>
            <a:r>
              <a:t>Qwen3-Omni's Server VAD profile keeps microphone input active, stops queued playback on speech_started and enables server interruption through interrupt_response. The separate manual Realtime profile uses duplex=0, pauses upload while answering and submits input_audio_buffer.commit followed by response.create; it is not the VAD profile illustrated in the table.</a:t>
            </a:r>
          </a:p>
          <a:p>
            <a:r>
              <a:t/>
            </a:r>
          </a:p>
          <a:p>
            <a:r>
              <a:t>AURA's hold-to-talk action stops local playback while server generation may continue. Releasing the button commits new input. The named demo profiles do not send response.cancel; applications can integrate that command through the shared protocol. Cancellation of generation and cleanup of audio already delivered to the client are separate responsibilities.</a:t>
            </a:r>
          </a:p>
          <a:p>
            <a:r>
              <a:t/>
            </a:r>
          </a:p>
          <a:p>
            <a:r>
              <a:t>Sources:</a:t>
            </a:r>
          </a:p>
          <a:p>
            <a:r>
              <a:t>- qwen3_turn.js: https://github.com/vllm-project/vllm-omni/blob/712b90de9c7bc14c595b363401588a713a87c02d/examples/online_serving/realtime_web/app/static/profiles/qwen3_turn.js</a:t>
            </a:r>
          </a:p>
          <a:p>
            <a:r>
              <a:t>- aura_ptt.js: https://github.com/vllm-project/vllm-omni/blob/712b90de9c7bc14c595b363401588a713a87c02d/examples/online_serving/realtime_web/app/static/profiles/aura_ptt.js</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a:p>
            <a:r>
              <a:t>- session_attachment.py: https://github.com/vllm-project/vllm-omni/blob/712b90de9c7bc14c595b363401588a713a87c02d/vllm_omni/entrypoints/duplex/session_attachment.py</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The duplex message protocol builds on the OpenAI Realtime event vocabulary and payload structure, with vLLM-Omni extensions for video input, playback feedback and session resume. /v1/duplex is an alias of /v1/realtime?duplex=1; both use the same handler and wire protocol. This describes protocol lineage and extensions, not universal feature support or complete semantic equivalence across all models.</a:t>
            </a:r>
          </a:p>
          <a:p>
            <a:r>
              <a:t/>
            </a:r>
          </a:p>
          <a:p>
            <a:r>
              <a:t>Reference: https://github.com/vllm-project/vllm-omni/blob/d5a3380103df2fc827f095c60dbfb6e1c5655fd3/docs/serving/realtime_duplex_api.md#compatibility-with-the-openai-realtime-protocol</a:t>
            </a:r>
          </a:p>
          <a:p>
            <a:r>
              <a:t/>
            </a:r>
          </a:p>
          <a:p>
            <a: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t/>
            </a:r>
          </a:p>
          <a:p>
            <a: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t/>
            </a:r>
          </a:p>
          <a:p>
            <a: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t/>
            </a:r>
          </a:p>
          <a:p>
            <a: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t/>
            </a:r>
          </a:p>
          <a:p>
            <a:r>
              <a:t>Sources:</a:t>
            </a:r>
          </a:p>
          <a:p>
            <a:r>
              <a:t>- https://github.com/vllm-project/vllm-omni/blob/712b90de9c7bc14c595b363401588a713a87c02d/vllm_omni/entrypoints/openai/api_server.py</a:t>
            </a:r>
          </a:p>
          <a:p>
            <a:r>
              <a:t>- https://github.com/vllm-project/vllm-omni/blob/712b90de9c7bc14c595b363401588a713a87c02d/vllm_omni/entrypoints/duplex/openai.py</a:t>
            </a:r>
          </a:p>
          <a:p>
            <a:r>
              <a:t>- https://github.com/vllm-project/vllm-omni/blob/712b90de9c7bc14c595b363401588a713a87c02d/vllm_omni/entrypoints/openai/realtime/connection.py</a:t>
            </a:r>
          </a:p>
          <a:p>
            <a:r>
              <a:t>- https://github.com/vllm-project/vllm-omni/blob/712b90de9c7bc14c595b363401588a713a87c02d/vllm_omni/model_executor/models/minicpmo_4_5/duplex/capabilities.py</a:t>
            </a:r>
          </a:p>
          <a:p>
            <a:r>
              <a:t>- https://github.com/vllm-project/vllm-omni/blob/712b90de9c7bc14c595b363401588a713a87c02d/vllm_omni/model_executor/models/qwen3_omni/duplex/plugin.py</a:t>
            </a:r>
          </a:p>
          <a:p>
            <a:r>
              <a:t>- https://github.com/vllm-project/vllm-omni/blob/712b90de9c7bc14c595b363401588a713a87c02d/vllm_omni/model_executor/models/aura_omni/duplex/plugin.py</a:t>
            </a:r>
          </a:p>
          <a:p>
            <a:r>
              <a:t>- https://github.com/vllm-project/vllm-omni/blob/712b90de9c7bc14c595b363401588a713a87c02d/vllm_omni/model_executor/models/personaplex/duplex/plugin.py</a:t>
            </a:r>
          </a:p>
          <a:p>
            <a:r>
              <a:t>- https://github.com/vllm-project/vllm-omni/blob/712b90de9c7bc14c595b363401588a713a87c02d/vllm_omni/model_executor/models/nemotron_voicechat/duplex/plugin.py</a:t>
            </a:r>
          </a:p>
          <a:p>
            <a:r>
              <a:t>- https://github.com/vllm-project/vllm-omni/blob/712b90de9c7bc14c595b363401588a713a87c02d/examples/online_serving/realtime_web/app/static/profiles/qwen3_turn.js</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covers the engine-owned Unified Duplex path. API and Orchestrator run in the same process, on separate event loops/threads; Stage engines and workers run in separate processes. The generic turn-based Realtime handler has a different connection-owned control path.</a:t>
            </a:r>
          </a:p>
          <a:p>
            <a:r>
              <a:t/>
            </a:r>
          </a:p>
          <a:p>
            <a:r>
              <a:t>API Server handles wire events, attachments, replay and event acknowledgements. EngineClient owns typed session handles and event iteration, passes each handle's bounded output buffer to the engine, and routes lifecycle results and exceptional notifications. Manager admits sessions, owns runner/request mappings, checks input and output limits, routes commands and reaps expired sessions. Each Runner consumes its ordered mailbox and coordinates input, response, playback and model work. Plugin supplies capabilities, model state, input construction, output interpretation and stage policies.</a:t>
            </a:r>
          </a:p>
          <a:p>
            <a:r>
              <a:t/>
            </a:r>
          </a:p>
          <a:p>
            <a:r>
              <a:t>Open/close/resume/touch controls and ordinary commands share request_queue, but controls wait for a correlated result while commands return after enqueue. Ordinary text/audio events go directly to the registered per-session DuplexOutputBuffer shared with handle._outbox. Lifecycle results, close notifications and errors without a live output buffer use the global output queue. GPU KV and streaming compute caches belong to Stage workers.</a:t>
            </a:r>
          </a:p>
          <a:p>
            <a:r>
              <a:t/>
            </a:r>
          </a:p>
          <a:p>
            <a:r>
              <a:t>Sources:</a:t>
            </a:r>
          </a:p>
          <a:p>
            <a:r>
              <a:t>- duplex_omni.py: https://github.com/vllm-project/vllm-omni/blob/712b90de9c7bc14c595b363401588a713a87c02d/vllm_omni/entrypoints/duplex_omni.py</a:t>
            </a:r>
          </a:p>
          <a:p>
            <a:r>
              <a:t>- duplex_omni_engine.py: https://github.com/vllm-project/vllm-omni/blob/712b90de9c7bc14c595b363401588a713a87c02d/vllm_omni/engine/duplex_omni_engine.py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open, EngineClient creates a handle and its output buffer; Manager admits the session and registers the same buffer object. API input is translated into commands, enqueued through DuplexOmniEngine and dispatched to the Runner mailbox. The Runner and Plugin prepare Stage requests while new input can continue to arrive.</a:t>
            </a:r>
          </a:p>
          <a:p>
            <a:r>
              <a:t/>
            </a:r>
          </a:p>
          <a:p>
            <a:r>
              <a:t>Normal output follows Stage result → Runner/Plugin → Manager.emit → per-session buffer → handle.events() → API event pump → WebSocket. It does not pass through the global output queue first. Buffer limits are 2 MiB and 512 pending ordinary events per session by default. Output overflow fails and closes the affected session; it does not merely pause generation.</a:t>
            </a:r>
          </a:p>
          <a:p>
            <a:r>
              <a:t/>
            </a:r>
          </a:p>
          <a:p>
            <a:r>
              <a:t>Session event ACKs update API-side replay state without entering the Runner. Playback ACKs are commands and update engine playback state according to model rules. Enqueue success is not execution completion: an engine-dead or queue-full error can be returned immediately by the API, while later command rejection is a session event.</a:t>
            </a:r>
          </a:p>
          <a:p>
            <a:r>
              <a:t/>
            </a:r>
          </a:p>
          <a:p>
            <a:r>
              <a:t>Sources:</a:t>
            </a:r>
          </a:p>
          <a:p>
            <a:r>
              <a:t>- serving.py: https://github.com/vllm-project/vllm-omni/blob/712b90de9c7bc14c595b363401588a713a87c02d/vllm_omni/entrypoints/duplex/serving.py</a:t>
            </a:r>
          </a:p>
          <a:p>
            <a:r>
              <a:t>- duplex_omni.py: https://github.com/vllm-project/vllm-omni/blob/712b90de9c7bc14c595b363401588a713a87c02d/vllm_omni/entrypoints/duplex_omni.py</a:t>
            </a:r>
          </a:p>
          <a:p>
            <a:r>
              <a:t>- manager.py: https://github.com/vllm-project/vllm-omni/blob/712b90de9c7bc14c595b363401588a713a87c02d/vllm_omni/engine/duplex/session/manager.py</a:t>
            </a:r>
          </a:p>
          <a:p>
            <a:r>
              <a:t>- delivery.py: https://github.com/vllm-project/vllm-omni/blob/712b90de9c7bc14c595b363401588a713a87c02d/vllm_omni/engine/duplex/delivery.py</a:t>
            </a:r>
          </a:p>
          <a:p>
            <a:r>
              <a:t>- stage_config.py: https://github.com/vllm-project/vllm-omni/blob/712b90de9c7bc14c595b363401588a713a87c02d/vllm_omni/config/stage_config.py</a:t>
            </a:r>
          </a:p>
          <a:p>
            <a:r>
              <a:t/>
            </a:r>
          </a:p>
          <a:p>
            <a:r>
              <a:t>Interaction control in the workflow: engine cancellation advances the response epoch, invalidates queued and held audio, and aborts the affected Stage requests. The API rechecks audio validity when committing delivery. Audio already delivered to the client still requires local playback cleanup. A model LISTEN transition is separate from this forced-cancellation path.</a:t>
            </a:r>
          </a:p>
          <a:p>
            <a:r>
              <a:t/>
            </a:r>
          </a:p>
          <a:p>
            <a:r>
              <a:t>- qwen3_turn.js: https://github.com/vllm-project/vllm-omni/blob/712b90de9c7bc14c595b363401588a713a87c02d/examples/online_serving/realtime_web/app/static/profiles/qwen3_turn.js</a:t>
            </a:r>
          </a:p>
          <a:p>
            <a:r>
              <a:t>- aura_ptt.js: https://github.com/vllm-project/vllm-omni/blob/712b90de9c7bc14c595b363401588a713a87c02d/examples/online_serving/realtime_web/app/static/profiles/aura_ptt.js</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a:p>
            <a: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parallel model paths are shown: PersonaPlex Talker → Mimi Code2Wav; MiniCPM-o 4.5 Multimodal LLM → Talker → Code2Wav; AURA ASR → Thinker → Talker → Code2Wav. The boxes identify compute stages; the retained state and speech timing remain model-specific.</a:t>
            </a:r>
          </a:p>
          <a:p>
            <a:r>
              <a:t/>
            </a:r>
          </a:p>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MiniCPM appends input to a live resumable Stage-0 request on its bound replica. It retains model KV and streaming audio state. With basic sliding-window mode enabled, its block-aligned path bounds retained context and adjusts positions using in-place Re-RoPE, rather than copying the retained KV window. The retained window is not an unlimited memory of the whole conversation. Talker/Code2Wav state follows the speech request and decoder execution.</a:t>
            </a:r>
          </a:p>
          <a:p>
            <a:r>
              <a:t/>
            </a:r>
          </a:p>
          <a:p>
            <a:r>
              <a:t>AURA commits each turn and rebuilds its Thinker prompt from retained ASR text, video clips and assistant text. Its ASR → Thinker → Talker → Code2Wav path can continue sentence TTS within a turn; a next Thinker turn can overlap draining speech from the prior turn. Qwen similarly submits a new request for committed input, using retained audio, images and text. It has no separate ASR Stage. A commit and cancelling the current response are distinct operations.</a:t>
            </a:r>
          </a:p>
          <a:p>
            <a:r>
              <a:t/>
            </a:r>
          </a:p>
          <a:p>
            <a:r>
              <a:t>A Stage is a compute step. A replica is an execution instance of that Stage, not a duplicate conversation history. The Session Manager and StagePool preserve request affinity needed by resident model state.</a:t>
            </a:r>
          </a:p>
          <a:p>
            <a:r>
              <a:t/>
            </a:r>
          </a:p>
          <a:p>
            <a:r>
              <a:t>Sources:</a:t>
            </a:r>
          </a:p>
          <a:p>
            <a:r>
              <a:t>- stage0.py: https://github.com/vllm-project/vllm-omni/blob/712b90de9c7bc14c595b363401588a713a87c02d/vllm_omni/model_executor/models/minicpmo_4_5/duplex/stage0.py</a:t>
            </a:r>
          </a:p>
          <a:p>
            <a:r>
              <a:t>- window_kv.py: https://github.com/vllm-project/vllm-omni/blob/712b90de9c7bc14c595b363401588a713a87c02d/vllm_omni/model_executor/models/minicpmo_4_5/duplex/window_kv.py</a:t>
            </a:r>
          </a:p>
          <a:p>
            <a:r>
              <a:t>- window_plan.py: https://github.com/vllm-project/vllm-omni/blob/712b90de9c7bc14c595b363401588a713a87c02d/vllm_omni/model_executor/models/minicpmo_4_5/duplex/window_plan.py</a:t>
            </a:r>
          </a:p>
          <a:p>
            <a:r>
              <a:t>- plugin.py: https://github.com/vllm-project/vllm-omni/blob/712b90de9c7bc14c595b363401588a713a87c02d/vllm_omni/model_executor/models/aura_omni/duplex/plugin.py</a:t>
            </a:r>
          </a:p>
          <a:p>
            <a:r>
              <a:t>- plugin.py: https://github.com/vllm-project/vllm-omni/blob/712b90de9c7bc14c595b363401588a713a87c02d/vllm_omni/model_executor/models/qwen3_omni/duplex/plugin.py</a:t>
            </a:r>
          </a:p>
          <a:p>
            <a:r>
              <a:t/>
            </a:r>
          </a:p>
          <a:p>
            <a:r>
              <a:t>Playback and history boundaries: playback ACKs update MiniCPM playback records without rolling back model KV. For Qwen3-Omni, complete audio and full playback ACK are required to confirm unaligned output text was fully played. AURA commits text history on Thinker completion; playback ACK does not truncate that history.</a:t>
            </a:r>
          </a:p>
          <a:p>
            <a:r>
              <a:t/>
            </a:r>
          </a:p>
          <a:p>
            <a:r>
              <a:t>- qwen3_turn.js: https://github.com/vllm-project/vllm-omni/blob/712b90de9c7bc14c595b363401588a713a87c02d/examples/online_serving/realtime_web/app/static/profiles/qwen3_turn.js</a:t>
            </a:r>
          </a:p>
          <a:p>
            <a:r>
              <a:t>- aura_ptt.js: https://github.com/vllm-project/vllm-omni/blob/712b90de9c7bc14c595b363401588a713a87c02d/examples/online_serving/realtime_web/app/static/profiles/aura_ptt.js</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a:p>
            <a:r>
              <a:t>- session_attachment.py: https://github.com/vllm-project/vllm-omni/blob/712b90de9c7bc14c595b363401588a713a87c02d/vllm_omni/entrypoints/duplex/session_attachment.py</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Live-session resume is available for MiniCPM-o 4.5, AURA, Qwen3-Omni and Nemotron in their Unified Duplex paths. The client reconnects to the same live owner, sends session.resume as its first message, and supplies session ID, resume token and last received server event sequence. The server validates the lease and replay window, binds the new attachment, rotates credentials and replays retained events.</a:t>
            </a:r>
          </a:p>
          <a:p>
            <a:r>
              <a:t/>
            </a:r>
          </a:p>
          <a:p>
            <a:r>
              <a:t>PersonaPlex currently advertises supports_session_resume=false; disconnect closes that session. Reconnect therefore opens a new one. Generic turn-based Realtime connection history is also a different path and does not use the engine-owned resume protocol.</a:t>
            </a:r>
          </a:p>
          <a:p>
            <a:r>
              <a:t/>
            </a:r>
          </a:p>
          <a:p>
            <a:r>
              <a:t>Resume depends on the API and engine remaining alive, a valid lease and retained replay events. It is not cross-process failover. A slow or absent consumer can exhaust bounded output/replay capacity, so reconnect does not guarantee that a session will remain available indefinitely. The Python duplex client retains credentials and tracks event position for its reconnect policy.</a:t>
            </a:r>
          </a:p>
          <a:p>
            <a:r>
              <a:t/>
            </a:r>
          </a:p>
          <a:p>
            <a:r>
              <a:t>Sources:</a:t>
            </a:r>
          </a:p>
          <a:p>
            <a:r>
              <a:t>- serving.py: https://github.com/vllm-project/vllm-omni/blob/712b90de9c7bc14c595b363401588a713a87c02d/vllm_omni/entrypoints/duplex/serving.py</a:t>
            </a:r>
          </a:p>
          <a:p>
            <a:r>
              <a:t>- session_attachment.py: https://github.com/vllm-project/vllm-omni/blob/712b90de9c7bc14c595b363401588a713a87c02d/vllm_omni/entrypoints/duplex/session_attachment.py</a:t>
            </a:r>
          </a:p>
          <a:p>
            <a:r>
              <a:t>- capabilities.py: https://github.com/vllm-project/vllm-omni/blob/712b90de9c7bc14c595b363401588a713a87c02d/vllm_omni/model_executor/models/personaplex/duplex/capabilities.py</a:t>
            </a:r>
          </a:p>
          <a:p>
            <a:r>
              <a:t>- capabilities.py: https://github.com/vllm-project/vllm-omni/blob/712b90de9c7bc14c595b363401588a713a87c02d/vllm_omni/model_executor/models/nemotron_voicechat/duplex/capabilities.py</a:t>
            </a:r>
          </a:p>
          <a:p>
            <a:r>
              <a:t>- duplex.py: https://github.com/vllm-project/vllm-omni/blob/712b90de9c7bc14c595b363401588a713a87c02d/vllm_omni/clients/duplex.py</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examples summarize representative optimizations in current mainline in terms of reduced setup, fewer small operations, and processing several live sessions together. They are model-specific capabilities, not a claim that every model enables every path.</a:t>
            </a:r>
          </a:p>
          <a:p>
            <a:r>
              <a:t/>
            </a:r>
          </a:p>
          <a:p>
            <a:r>
              <a:t>1. MiniCPM-o 4.5 captures eligible streaming audio encoder units and vision encoder work for CUDA graph replay. Qwen3-Omni's graph path here is image-only; its video and audio paths retain their existing embedding execution. Captures depend on the supported shapes, attention configuration and deployment profile, with eager fallbacks. CUDA graphs primarily reduce repeated host scheduling and launch overhead; they do not eliminate the model's arithmetic.</a:t>
            </a:r>
          </a:p>
          <a:p>
            <a:r>
              <a:t/>
            </a:r>
          </a:p>
          <a:p>
            <a:r>
              <a:t>2. MiniCPM-o 4.5's shared Code2Wav backend defaults to its fused CFM/DiT body on supported CUDA execution when TF32 is enabled. Smaller operations are fused to reduce launch and intermediate-memory overhead. Unsupported layouts and attention-cache types fall back, and TF32 opt-out changes the default choice. Resident slot pooling remains opt-in. Fusion may change floating-point rounding and does not guarantee identical waveforms. The recent shared output path also moves eligible GPU-to-CPU waits to output consumption, but that separate implementation detail is omitted from the visible slide.</a:t>
            </a:r>
          </a:p>
          <a:p>
            <a:r>
              <a:t/>
            </a:r>
          </a:p>
          <a:p>
            <a:r>
              <a:t>3. PersonaPlex groups eligible live one-frame appends across sessions into a batched preparation path. Initial/persona-prefill appends and ineligible inputs use their existing path. Its asynchronous Code2Wav input contains only new codec frames; the synchronous full-payload path consumes each request once. This avoids repeatedly decoding an old prefix and should not be read as a measured throughput gain for all session mixes.</a:t>
            </a:r>
          </a:p>
          <a:p>
            <a:r>
              <a:t/>
            </a:r>
          </a:p>
          <a:p>
            <a:r>
              <a:t>Benchmark trend: the four latest consecutive H100 daily runs in the supplied performance dataset, October 5–8, 2026, use MiniCPM-o 4.5, Seed-TTS, openai-chat-omni, configured max_concurrency=8, num_prompts=128, and the same exported config_key. Their mean_audio_rtf values are 0.9844461966498954, 0.7430039011861929, 0.559707561533549, and 0.4902875810555307. All 128 requests completed in each run. The table rounds these to two decimals. The displayed improvement is an aggregate daily trend, not an isolated A/B attribution to any optimization above. The export does not establish identical deployment flags or exact runtime commits across runs, and only labels the hardware as H100; no GPU count is inferred.</a:t>
            </a:r>
          </a:p>
          <a:p>
            <a:r>
              <a:t/>
            </a:r>
          </a:p>
          <a:p>
            <a:r>
              <a:t>This is Chat Completions speech generation, not eight simultaneous native-duplex audio/video conversations. For the chat benchmark, audio generation time is elapsed time from request start to the final audio response chunk, and audio duration is decoded from the returned audio. Audio RTF is the per-request ratio, averaged across requests. The values do not establish first-play latency, interruption quality or uninterrupted playback under every load. No new GPU benchmark was run for this revision. Source URLs are intentionally kept in notes.</a:t>
            </a:r>
          </a:p>
          <a:p>
            <a:r>
              <a:t/>
            </a:r>
          </a:p>
          <a:p>
            <a:r>
              <a:t>Sources:</a:t>
            </a:r>
          </a:p>
          <a:p>
            <a:r>
              <a:t>- https://github.com/vllm-project/vllm-omni/blob/06afa310c942c0506f0ed9bdd189fa331c46bb97/vllm_omni/model_executor/models/minicpmo_4_5/streaming_audio_encoder_graph.py</a:t>
            </a:r>
          </a:p>
          <a:p>
            <a:r>
              <a:t>- https://github.com/vllm-project/vllm-omni/blob/06afa310c942c0506f0ed9bdd189fa331c46bb97/vllm_omni/model_executor/models/minicpmo_4_5/encoder_cuda_graph.py</a:t>
            </a:r>
          </a:p>
          <a:p>
            <a:r>
              <a:t>- https://github.com/vllm-project/vllm-omni/blob/06afa310c942c0506f0ed9bdd189fa331c46bb97/vllm_omni/model_executor/models/minicpmo_4_5/minicpmo_4_5_code2wav.py</a:t>
            </a:r>
          </a:p>
          <a:p>
            <a:r>
              <a:t>- https://github.com/vllm-project/vllm-omni/blob/06afa310c942c0506f0ed9bdd189fa331c46bb97/vllm_omni/model_executor/models/minicpmo_4_5/dit_fused.py</a:t>
            </a:r>
          </a:p>
          <a:p>
            <a:r>
              <a:t>- https://github.com/vllm-project/vllm-omni/blob/06afa310c942c0506f0ed9bdd189fa331c46bb97/vllm_omni/model_executor/models/qwen3_omni/vision_encoder_cudagraph.py</a:t>
            </a:r>
          </a:p>
          <a:p>
            <a:r>
              <a:t>- https://github.com/vllm-project/vllm-omni/blob/06afa310c942c0506f0ed9bdd189fa331c46bb97/vllm_omni/model_executor/models/personaplex/duplex/stage0.py</a:t>
            </a:r>
          </a:p>
          <a:p>
            <a:r>
              <a:t>- https://github.com/vllm-project/vllm-omni/blob/06afa310c942c0506f0ed9bdd189fa331c46bb97/vllm_omni/model_executor/models/personaplex/personaplex_code2wav.py</a:t>
            </a:r>
          </a:p>
          <a:p>
            <a:r>
              <a:t>- https://github.com/vllm-project/vllm-omni/blob/06afa310c942c0506f0ed9bdd189fa331c46bb97/vllm_omni/worker/gpu_generation_model_runner.py</a:t>
            </a:r>
          </a:p>
          <a:p>
            <a:r>
              <a:t>- https://github.com/vllm-project/vllm-omni/blob/06afa310c942c0506f0ed9bdd189fa331c46bb97/vllm_omni/benchmarks/patch/patch.py</a:t>
            </a:r>
          </a:p>
          <a:p>
            <a:r>
              <a:t>- https://github.com/vllm-project/vllm-omni/blob/06afa310c942c0506f0ed9bdd189fa331c46bb97/docs/design/minicpm_o45_mrv2_performance.md</a:t>
            </a:r>
          </a:p>
          <a:p>
            <a:r>
              <a:t>- https://github.com/vllm-project/vllm-omni/pull/8430</a:t>
            </a:r>
          </a:p>
          <a:p>
            <a:r>
              <a:t>- https://github.com/vllm-project/vllm-omni/pull/8215</a:t>
            </a:r>
          </a:p>
          <a:p>
            <a:r>
              <a:t>- https://github.com/vllm-project/vllm-omni/pull/8557</a:t>
            </a:r>
          </a:p>
          <a:p>
            <a:r>
              <a:t>- https://github.com/vllm-project/vllm-omni/pull/8356</a:t>
            </a:r>
          </a:p>
          <a:p>
            <a:r>
              <a:t>- https://github.com/vllm-project/vllm-omni/pull/7480</a:t>
            </a:r>
          </a:p>
          <a:p>
            <a:r>
              <a:t>- https://github.com/vllm-project/vllm-omni/pull/8540</a:t>
            </a:r>
          </a:p>
          <a:p>
            <a:r>
              <a:t>- https://hsliuustc0106.github.io/vllm-omni-kanban/pages/assets/charts/minicpmo_4_5_history.json</a:t>
            </a:r>
          </a:p>
          <a:p>
            <a:r>
              <a:t/>
            </a:r>
          </a:p>
          <a:p>
            <a:r>
              <a:t/>
            </a:r>
          </a:p>
          <a:p>
            <a:r>
              <a:t>The four visible categories are optimization methods, with model examples listed beneath each method. CUDA Graphs reduce host launch overhead, kernel fusion reduces launches and intermediate traffic, session batching processes eligible live frames together, and incremental decoding skips already decoded audio. These categories apply to distinct paths and should not be read as four universally enabled features for every model.</a:t>
            </a:r>
          </a:p>
          <a:p>
            <a:r>
              <a:t/>
            </a:r>
          </a:p>
          <a:p>
            <a:r>
              <a:t>PersonaPlex also has optional Mimi encode/decode CUDA graph capture: see duplex/stage0.py and personaplex_code2wav.py in the pinned mainline above. Supported capture shapes and codec graph configuration apply. Its batching example refers to eligible live frame encoding/embedding, rather than arbitrary complete conversations. Its incremental decoding example refers to async new-frame Code2Wav input.</a:t>
            </a:r>
          </a:p>
          <a:p>
            <a:r>
              <a:t/>
            </a:r>
          </a:p>
          <a:p>
            <a:r>
              <a:t>The MiniCPM-o chart is the same four measured daily records as v57, now shown as an editable line chart with the original unrounded values embedded. It illustrates a benchmark trend; it does not attribute the observed decrease to these four methods collectively or to any single PR. PersonaPlex-only changes are not an explanation of MiniCPM-o benchmark improvements.</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TTFP measures the first received audio packet from a declared timing origin. It differs from audible playback, which includes client buffering and device scheduling. RTF is generation time divided by generated audio duration, so lower is better; audio duration per second is the inverse rate and should be labeled separately. Measure latency distributions, inter-chunk gaps, memory, session duration and speech quality together.</a:t>
            </a:r>
          </a:p>
          <a:p>
            <a:r>
              <a:t/>
            </a:r>
          </a:p>
          <a:p>
            <a:r>
              <a:t>OmniInteract supplies audio/video session execution and timing/evaluation artifacts. Omni-DuplexEval supplies task-oriented native-duplex generation, timing metrics and judging, with a MiniCPM-focused runner and CI guard. Availability of benchmark code does not imply every integrated model supports every task or interaction. Keep hardware, concurrency, input timing and scoring settings fixed when comparing results.</a:t>
            </a:r>
          </a:p>
          <a:p>
            <a:r>
              <a:t/>
            </a:r>
          </a:p>
          <a:p>
            <a:r>
              <a:t>Sources:</a:t>
            </a:r>
          </a:p>
          <a:p>
            <a:r>
              <a:t>- omniinteract.py: https://github.com/vllm-project/vllm-omni/blob/712b90de9c7bc14c595b363401588a713a87c02d/vllm_omni/benchmarks/omniinteract.py</a:t>
            </a:r>
          </a:p>
          <a:p>
            <a:r>
              <a:t>- omniinteract_eval.py: https://github.com/vllm-project/vllm-omni/blob/712b90de9c7bc14c595b363401588a713a87c02d/vllm_omni/benchmarks/omniinteract_eval.py</a:t>
            </a:r>
          </a:p>
          <a:p>
            <a:r>
              <a:t>- omni_duplex_eval_runner.py: https://github.com/vllm-project/vllm-omni/blob/712b90de9c7bc14c595b363401588a713a87c02d/vllm_omni/benchmarks/duplex/omni_duplex_eval_runner.py</a:t>
            </a:r>
          </a:p>
          <a:p>
            <a:r>
              <a:t>- omni_duplex_eval_metrics.py: https://github.com/vllm-project/vllm-omni/blob/712b90de9c7bc14c595b363401588a713a87c02d/vllm_omni/benchmarks/duplex/omni_duplex_eval_metrics.py</a:t>
            </a:r>
          </a:p>
          <a:p>
            <a:r>
              <a:t>- README.md: 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calling already exists in selected vLLM-Omni Realtime serving paths. This slide separates those integrations from the work to provide consistent tool behavior and broader model coverage in the unified duplex framework.</a:t>
            </a:r>
          </a:p>
          <a:p>
            <a:r>
              <a:t/>
            </a:r>
          </a:p>
          <a:p>
            <a:r>
              <a:t>CURRENT SUPPORT</a:t>
            </a:r>
          </a:p>
          <a:p>
            <a:r>
              <a:t>Qwen3-Omni can use the turn-based Realtime handler's tool-parser integration. The handler requires --enable-auto-tool-choice and --tool-call-parser when function tools are active, emits function-call names and argument events, includes function-call results in conversation history, and can generate a subsequent response from that history. This is a separate path from the Qwen3-Omni unified-duplex plugin, which currently raises “Qwen duplex tool calls are not implemented” when realtime_tools is configured. Do not infer that a successful Qwen Realtime tool integration demonstrates support in its unified-duplex deployment.</a:t>
            </a:r>
          </a:p>
          <a:p>
            <a:r>
              <a:t/>
            </a:r>
          </a:p>
          <a:p>
            <a:r>
              <a:t>Nemotron VoiceChat already implements a native-duplex tool-result round trip through the unified framework. It emits function calls, accepts conversation.item.create containing function_call_output with a matching call_id, and queues the tokenized result into its function channel so that the model can continue in the live session. External tools run in the application. The current plugin accepts up to five tools and fixes tools/instructions once the system prompt is resident in model state.</a:t>
            </a:r>
          </a:p>
          <a:p>
            <a:r>
              <a:t/>
            </a:r>
          </a:p>
          <a:p>
            <a:r>
              <a:t>UNIFIED DUPLEX ROADMAP</a:t>
            </a:r>
          </a:p>
          <a:p>
            <a:r>
              <a:t>The common loop covers function names and arguments, application execution, correlated result return, and model continuation. Existing common function-call projection and a plugin hook provide a base. Extending this path requires complete model adapters and consistent behavior across supported models; the framework does not start from zero.</a:t>
            </a:r>
          </a:p>
          <a:p>
            <a:r>
              <a:t/>
            </a:r>
          </a:p>
          <a:p>
            <a:r>
              <a:t>During execution: define independently whether the session continues receiving user input and whether it produces speech while an external tool runs. These are model/policy choices and must not be advertised as a universal behavior. For example, the turn-based Realtime handler suppresses further audio after it observes a tool call; this does not establish a common duplex policy for every model.</a:t>
            </a:r>
          </a:p>
          <a:p>
            <a:r>
              <a:t/>
            </a:r>
          </a:p>
          <a:p>
            <a:r>
              <a:t>Turn safety: associate an outstanding call with its originating session/turn/response generation, define invalidation when a user interrupts or the turn is superseded, handle timeouts, suppress duplicate completion, and prevent late results from entering a newer turn. Common realtime projection already checks a matching completed call_id and rejects duplicate outputs. Those checks should be extended and applied consistently with interruption and timeout rules; this roadmap is not a claim that duplicate protection is entirely missing today. A historical matching call_id alone is not a complete specification of whether a result is still valid for the active turn.</a:t>
            </a:r>
          </a:p>
          <a:p>
            <a:r>
              <a:t/>
            </a:r>
          </a:p>
          <a:p>
            <a:r>
              <a:t>Ownership: the framework should own shared call tracking, result validation, timeout/interruption processing, and stale-result handling. Model plugins should handle model-specific output formats, result encoding and continuation/listen/speak behavior. AURA, JoyAI and the Qwen3-Omni unified-duplex path are adaptation targets, not an assertion that their tool loops are already complete. Application code owns execution of the external function and reports its outcome.</a:t>
            </a:r>
          </a:p>
          <a:p>
            <a:r>
              <a:t/>
            </a:r>
          </a:p>
          <a:p>
            <a:r>
              <a:t>Implementation references (snapshot d5a3380103df2fc827f095c60dbfb6e1c5655fd3):</a:t>
            </a:r>
          </a:p>
          <a:p>
            <a:r>
              <a:t>- https://github.com/vllm-project/vllm-omni/blob/d5a3380103df2fc827f095c60dbfb6e1c5655fd3/vllm_omni/entrypoints/openai/realtime/connection.py#L386-L425</a:t>
            </a:r>
          </a:p>
          <a:p>
            <a:r>
              <a:t>- https://github.com/vllm-project/vllm-omni/blob/d5a3380103df2fc827f095c60dbfb6e1c5655fd3/vllm_omni/entrypoints/openai/realtime/connection.py#L870-L940</a:t>
            </a:r>
          </a:p>
          <a:p>
            <a:r>
              <a:t>- https://github.com/vllm-project/vllm-omni/blob/d5a3380103df2fc827f095c60dbfb6e1c5655fd3/vllm_omni/entrypoints/openai/realtime/connection.py#L1655-L1678</a:t>
            </a:r>
          </a:p>
          <a:p>
            <a:r>
              <a:t>- https://github.com/vllm-project/vllm-omni/blob/d5a3380103df2fc827f095c60dbfb6e1c5655fd3/vllm_omni/model_executor/models/qwen3_omni/duplex/plugin.py#L160-L169</a:t>
            </a:r>
          </a:p>
          <a:p>
            <a:r>
              <a:t>- https://github.com/vllm-project/vllm-omni/blob/d5a3380103df2fc827f095c60dbfb6e1c5655fd3/vllm_omni/model_executor/models/nemotron_voicechat/duplex/plugin.py#L108-L147</a:t>
            </a:r>
          </a:p>
          <a:p>
            <a:r>
              <a:t>- https://github.com/vllm-project/vllm-omni/blob/d5a3380103df2fc827f095c60dbfb6e1c5655fd3/vllm_omni/model_executor/models/nemotron_voicechat/duplex/plugin.py#L430-L501</a:t>
            </a:r>
          </a:p>
          <a:p>
            <a:r>
              <a:t>- https://github.com/vllm-project/vllm-omni/blob/d5a3380103df2fc827f095c60dbfb6e1c5655fd3/vllm_omni/engine/duplex/realtime_events.py#L1080-L1126</a:t>
            </a:r>
          </a:p>
          <a:p>
            <a:r>
              <a:t>- https://github.com/vllm-project/vllm-omni/blob/d5a3380103df2fc827f095c60dbfb6e1c5655fd3/vllm_omni/engine/duplex/realtime_events.py#L1430-L1487</a:t>
            </a:r>
          </a:p>
          <a:p>
            <a:r>
              <a:t>- https://github.com/vllm-project/vllm-omni/blob/d5a3380103df2fc827f095c60dbfb6e1c5655fd3/vllm_omni/engine/duplex/plugin.py#L513-L523</a:t>
            </a:r>
          </a:p>
          <a:p>
            <a:r>
              <a:t>- https://github.com/vllm-project/vllm-omni/blob/d5a3380103df2fc827f095c60dbfb6e1c5655fd3/vllm_omni/engine/duplex/session/control.py#L290-L327</a:t>
            </a:r>
          </a:p>
          <a:p>
            <a:r>
              <a:t>- 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Near-term priorities center on model integration, richer interaction and broader evaluation. Longer-term priorities center on sustained conversation duration and serving scale. These priorities build on existing model integrations, evaluation runners and Stage replica infrastructure.</a:t>
            </a:r>
          </a:p>
          <a:p>
            <a:r>
              <a:t/>
            </a:r>
          </a:p>
          <a:p>
            <a:r>
              <a:t>NEAR TERM</a:t>
            </a:r>
          </a:p>
          <a:p>
            <a:r>
              <a:t>JoyAI integration: bring JoyAI into the unified duplex framework through model-specific input/output adapters and shared session orchestration. JoyAI already has model and pipeline code, along with an experimental full-duplex serving path; this priority is integration with the shared runtime rather than first-time model support. Integration does not imply that every model supports native LISTEN/SPEAK or every optional framework capability.</a:t>
            </a:r>
          </a:p>
          <a:p>
            <a:r>
              <a:t/>
            </a:r>
          </a:p>
          <a:p>
            <a:r>
              <a:t>Unified tool calling: standardize function-name/argument output, application-executed functions, correlated result return and model continuation through the shared duplex runtime. Complete model adapters and consistent input/speech behavior, interruption, timeout, duplicate and stale-result handling. The framework already projects function calls and checks matching call IDs and duplicate results; Nemotron VoiceChat supplies a native-duplex function-result hook. The turn-based Realtime handler has tool-parser integration used by Qwen3-Omni, while the Qwen3-Omni unified-duplex plugin explicitly rejects realtime_tools. The priority is shared behavior and broader model coverage, including AURA and JoyAI adapters. The preceding tool-calling slide provides the detailed scope.</a:t>
            </a:r>
          </a:p>
          <a:p>
            <a:r>
              <a:t/>
            </a:r>
          </a:p>
          <a:p>
            <a:r>
              <a:t>Semantic VAD: add meaning-aware turn-completion decisions to the session's commit and response policy. The current validator accepts server_vad only, the acoustic backend uses Silero, and a regression test explicitly rejects semantic_vad. Semantic endpointing is distinct from interruption-intent recognition and from native models' LISTEN/SPEAK decisions. Its inference should stay off the control loop and return ordered, session-scoped decisions, as described in the VAD appendix.</a:t>
            </a:r>
          </a:p>
          <a:p>
            <a:r>
              <a:t/>
            </a:r>
          </a:p>
          <a:p>
            <a:r>
              <a:t>Broader realtime evaluation: extend model, interaction-task, duration, concurrency and regression coverage in OmniInteract and Omni-DuplexEval. Both evaluation paths are already present. Omni-DuplexEval includes generation, scoring and a MiniCPM-focused nightly CI guard. This priority expands and standardizes coverage; it does not introduce evaluation for the first time. Near-term coverage can also establish baselines for the longer-term duration and scaling work.</a:t>
            </a:r>
          </a:p>
          <a:p>
            <a:r>
              <a:t/>
            </a:r>
          </a:p>
          <a:p>
            <a:r>
              <a:t>LONGER TERM</a:t>
            </a:r>
          </a:p>
          <a:p>
            <a:r>
              <a:t>Longer sustained conversations: extend the duration and model coverage of real-time audio/video sessions while managing context, history, memory and latency. MiniCPM-o 4.5 already has model-specific paged-KV/sliding-window infrastructure. The roadmap concerns sustained behavior across growing conversations and more model paths, not an assertion of unlimited context or universal long-session guarantees.</a:t>
            </a:r>
          </a:p>
          <a:p>
            <a:r>
              <a:t/>
            </a:r>
          </a:p>
          <a:p>
            <a:r>
              <a:t>Scaled multi-replica serving: raise concurrent-session capacity across Stage replicas and nodes, then extend session routing and ownership across API frontends. StagePool already chooses available replicas, binds requests and honors affinity; DuplexOrchestrator submits initial and update requests through it. Current duplex endpoints reject multiple API workers because session credentials and replay state remain local to the owning frontend. The concrete remaining direction is scalable session-aware routing, ownership and reliable cleanup while preserving model state affinity. Replica selection alone does not imply that a live model session can migrate its KV state to a different worker.</a:t>
            </a:r>
          </a:p>
          <a:p>
            <a:r>
              <a:t/>
            </a:r>
          </a:p>
          <a:p>
            <a:r>
              <a:t>Implementation references (latest fetched mainline d5a3380103df2fc827f095c60dbfb6e1c5655fd3):</a:t>
            </a:r>
          </a:p>
          <a:p>
            <a:r>
              <a:t>- https://github.com/vllm-project/vllm-omni/blob/d5a3380103df2fc827f095c60dbfb6e1c5655fd3/vllm_omni/model_executor/models/qwen3_omni/duplex/plugin.py#L160-L169</a:t>
            </a:r>
          </a:p>
          <a:p>
            <a:r>
              <a:t>- https://github.com/vllm-project/vllm-omni/blob/d5a3380103df2fc827f095c60dbfb6e1c5655fd3/vllm_omni/model_executor/models/nemotron_voicechat/duplex/plugin.py#L444-L501</a:t>
            </a:r>
          </a:p>
          <a:p>
            <a:r>
              <a:t>- https://github.com/vllm-project/vllm-omni/blob/d5a3380103df2fc827f095c60dbfb6e1c5655fd3/vllm_omni/entrypoints/openai/realtime/connection.py#L386-L425</a:t>
            </a:r>
          </a:p>
          <a:p>
            <a:r>
              <a:t>- https://github.com/vllm-project/vllm-omni/blob/d5a3380103df2fc827f095c60dbfb6e1c5655fd3/vllm_omni/engine/duplex/realtime_events.py#L1430-L1487</a:t>
            </a:r>
          </a:p>
          <a:p>
            <a:r>
              <a:t>- https://github.com/vllm-project/vllm-omni/blob/d5a3380103df2fc827f095c60dbfb6e1c5655fd3/vllm_omni/engine/duplex/turn_detection.py#L82-L99</a:t>
            </a:r>
          </a:p>
          <a:p>
            <a:r>
              <a:t>- https://github.com/vllm-project/vllm-omni/blob/d5a3380103df2fc827f095c60dbfb6e1c5655fd3/vllm_omni/engine/duplex/vad.py#L100-L108</a:t>
            </a:r>
          </a:p>
          <a:p>
            <a:r>
              <a:t>- https://github.com/vllm-project/vllm-omni/blob/d5a3380103df2fc827f095c60dbfb6e1c5655fd3/tests/engine/duplex/test_engine_session.py#L598-L608</a:t>
            </a:r>
          </a:p>
          <a:p>
            <a:r>
              <a:t>- https://github.com/vllm-project/vllm-omni/blob/d5a3380103df2fc827f095c60dbfb6e1c5655fd3/vllm_omni/benchmarks/omniinteract.py</a:t>
            </a:r>
          </a:p>
          <a:p>
            <a:r>
              <a:t>- https://github.com/vllm-project/vllm-omni/blob/d5a3380103df2fc827f095c60dbfb6e1c5655fd3/vllm_omni/benchmarks/omniinteract_eval.py</a:t>
            </a:r>
          </a:p>
          <a:p>
            <a:r>
              <a:t>- https://github.com/vllm-project/vllm-omni/blob/d5a3380103df2fc827f095c60dbfb6e1c5655fd3/vllm_omni/benchmarks/duplex/omni_duplex_eval_runner.py</a:t>
            </a:r>
          </a:p>
          <a:p>
            <a:r>
              <a:t>- https://github.com/vllm-project/vllm-omni/blob/d5a3380103df2fc827f095c60dbfb6e1c5655fd3/tests/e2e/accuracy/omni_duplex_eval/README.md</a:t>
            </a:r>
          </a:p>
          <a:p>
            <a:r>
              <a:t>- https://github.com/vllm-project/vllm-omni/blob/d5a3380103df2fc827f095c60dbfb6e1c5655fd3/vllm_omni/model_executor/models/minicpmo_4_5/duplex/window_kv.py</a:t>
            </a:r>
          </a:p>
          <a:p>
            <a:r>
              <a:t>- https://github.com/vllm-project/vllm-omni/blob/d5a3380103df2fc827f095c60dbfb6e1c5655fd3/vllm_omni/engine/stage_pool.py#L574-L609</a:t>
            </a:r>
          </a:p>
          <a:p>
            <a:r>
              <a:t>- https://github.com/vllm-project/vllm-omni/blob/d5a3380103df2fc827f095c60dbfb6e1c5655fd3/vllm_omni/engine/duplex_orchestrator.py#L393-L424</a:t>
            </a:r>
          </a:p>
          <a:p>
            <a:r>
              <a:t>- https://github.com/vllm-project/vllm-omni/blob/d5a3380103df2fc827f095c60dbfb6e1c5655fd3/vllm_omni/entrypoints/openai/api_server.py#L1880-L1895</a:t>
            </a:r>
          </a:p>
          <a:p>
            <a:r>
              <a:t>- https://github.com/vllm-project/vllm-omni/blob/d5a3380103df2fc827f095c60dbfb6e1c5655fd3/vllm_omni/model_executor/models/joyai_vl_interaction/pipeline.py</a:t>
            </a:r>
          </a:p>
          <a:p>
            <a:r>
              <a:t>- 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Read clockwise: API translates a wire event, EngineClient submits it through DuplexOmniEngine, and request_queue delivers commands or lifecycle controls to the Orchestrator. Manager selects the Runner. Plugin and ModelChannel prepare input; StagePool chooses the bound replica and submits to its EngineCore. Scheduler and workers execute the model and return Stage output.</a:t>
            </a:r>
          </a:p>
          <a:p>
            <a:r>
              <a:t/>
            </a:r>
          </a:p>
          <a:p>
            <a:r>
              <a:t>For normal text/audio output, Manager writes directly into the registered per-session buffer. The same object is handle._outbox. handle.events() consumes it and the API pumps events to the WebSocket. The global output queue is a separate path for lifecycle results, close/expiry notifications and errors with no live registered buffer; ordinary audio does not accumulate there.</a:t>
            </a:r>
          </a:p>
          <a:p>
            <a:r>
              <a:t/>
            </a:r>
          </a:p>
          <a:p>
            <a:r>
              <a:t>Session event ACKs are handled at the API attachment layer. Playback ACKs enter the command path. Queue-full and engine-dead errors can return immediately; later rejection arrives as an event. The PersonaPlex Talker → Mimi Code2Wav pipeline at the bottom separates model stages from the process/replica diagram above. Network connectors are required when stages are placed on different nodes.</a:t>
            </a:r>
          </a:p>
          <a:p>
            <a:r>
              <a:t/>
            </a:r>
          </a:p>
          <a:p>
            <a:r>
              <a:t>Session state ownership: SessionManager manages session-to-runner and request-to-session mappings, admission, leases, output bounds and cleanup. Each SessionRunner serializes operations through its mailbox and drives model submission. DuplexEngineSession holds the engine-side turn, response, epoch/fence, request-resource, history and playback state and implements the corresponding update rules. The model plugin creates model-specific session state and supplies buffering, input construction, output interpretation and downstream Stage policy. Worker processes own model KV and streaming caches.</a:t>
            </a:r>
          </a:p>
          <a:p>
            <a:r>
              <a:t/>
            </a:r>
          </a:p>
          <a:p>
            <a:r>
              <a:t>Sources:</a:t>
            </a:r>
          </a:p>
          <a:p>
            <a:r>
              <a:t>- manager.py: https://github.com/vllm-project/vllm-omni/blob/712b90de9c7bc14c595b363401588a713a87c02d/vllm_omni/engine/duplex/session/manager.py</a:t>
            </a:r>
          </a:p>
          <a:p>
            <a:r>
              <a:t>- duplex_omni.py: https://github.com/vllm-project/vllm-omni/blob/712b90de9c7bc14c595b363401588a713a87c02d/vllm_omni/entrypoints/duplex_omni.py</a:t>
            </a:r>
          </a:p>
          <a:p>
            <a:r>
              <a:t>- serving.py: https://github.com/vllm-project/vllm-omni/blob/712b90de9c7bc14c595b363401588a713a87c02d/vllm_omni/entrypoints/duplex/serving.py</a:t>
            </a:r>
          </a:p>
          <a:p>
            <a:r>
              <a:t>- duplex_omni_engine.py: https://github.com/vllm-project/vllm-omni/blob/712b90de9c7bc14c595b363401588a713a87c02d/vllm_omni/engine/duplex_omni_engine.py</a:t>
            </a:r>
          </a:p>
          <a:p>
            <a:r>
              <a:t/>
            </a:r>
          </a:p>
          <a:p>
            <a:r>
              <a:t>Session-state implementation references:</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a:p>
            <a:r>
              <a:t>- engine_session.py: https://github.com/vllm-project/vllm-omni/blob/712b90de9c7bc14c595b363401588a713a87c02d/vllm_omni/engine/duplex/session/engine_session.py</a:t>
            </a:r>
          </a:p>
          <a:p>
            <a:r>
              <a:t>- plugin.py: https://github.com/vllm-project/vllm-omni/blob/712b90de9c7bc14c595b363401588a713a87c02d/vllm_omni/engine/duplex/plugin.py</a:t>
            </a:r>
          </a:p>
          <a:p>
            <a:r>
              <a:t>- delivery.py: https://github.com/vllm-project/vllm-omni/blob/712b90de9c7bc14c595b363401588a713a87c02d/vllm_omni/engine/duplex/delivery.py</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Acoustic VAD classifies speech activity. A separate endpointing policy uses the detected silence duration to decide when to end a turn. The detector alone does not commit input or start model generation.</a:t>
            </a:r>
          </a:p>
          <a:p>
            <a:r>
              <a:t/>
            </a:r>
          </a:p>
          <a:p>
            <a:r>
              <a:t>Semantic VAD is used here as an umbrella term for semantic end-of-turn detection. Such models estimate whether the user's utterance is complete, using linguistic context and, for audio-native models, cues such as intonation and rhythm. Text-based and audio-based approaches both exist.</a:t>
            </a:r>
          </a:p>
          <a:p>
            <a:r>
              <a:t/>
            </a:r>
          </a:p>
          <a:p>
            <a:r>
              <a:t>Pipecat Smart Turn v3.2 is an open-source audio-native turn detector that predicts complete or incomplete. Its documented deployment pairs it with a lightweight VAD such as Silero. VAD identifies a pause, then Smart Turn analyzes the accumulated audio of the current turn. It does not require a separate transcript. The flight-booking sentence on the slide illustrates why an unfinished request may need more time; it is not a measured prediction from this model. This is a reference model combination, not a claim of vLLM-Omni integration.</a:t>
            </a:r>
          </a:p>
          <a:p>
            <a:r>
              <a:t/>
            </a:r>
          </a:p>
          <a:p>
            <a:r>
              <a:t>LiveKit also documents turn detection layered on VAD. Its current audio turn detector requires VAD and adds semantic and prosodic information. These implementations support combining acoustic activity detection with a semantic completion model, rather than treating them as mutually exclusive components.</a:t>
            </a:r>
          </a:p>
          <a:p>
            <a:r>
              <a:t/>
            </a:r>
          </a:p>
          <a:p>
            <a:r>
              <a:t>An API can nevertheless expose alternative turn-detection modes. OpenAI Realtime accepts server_vad or semantic_vad as the selected type. That configuration choice does not establish whether acoustic and semantic signals are mutually exclusive inside a provider's implementation.</a:t>
            </a:r>
          </a:p>
          <a:p>
            <a:r>
              <a:t/>
            </a:r>
          </a:p>
          <a:p>
            <a:r>
              <a:t>Once the endpointing policy ends a turn, the session can commit input and, if configured, start a response. An incomplete prediction usually allows more listening time, subject to the system's timeout policy. Recognizing a new speech start or an intention to interrupt the assistant is a separate decision. Semantic turn completion is also distinct from a native duplex model's LISTEN / SPEAK behavior.</a:t>
            </a:r>
          </a:p>
          <a:p>
            <a:r>
              <a:t/>
            </a:r>
          </a:p>
          <a:p>
            <a:r>
              <a:t>Semantic VAD remains a proposed extension in this vLLM-Omni deck. The inspected unified-runtime configuration accepts server_vad and rejects other turn-detection types.</a:t>
            </a:r>
          </a:p>
          <a:p>
            <a:r>
              <a:t/>
            </a:r>
          </a:p>
          <a:p>
            <a:r>
              <a:t>References:</a:t>
            </a:r>
          </a:p>
          <a:p>
            <a:r>
              <a:t>- https://github.com/pipecat-ai/smart-turn</a:t>
            </a:r>
          </a:p>
          <a:p>
            <a:r>
              <a:t>- https://huggingface.co/pipecat-ai/smart-turn-v3.2</a:t>
            </a:r>
          </a:p>
          <a:p>
            <a:r>
              <a:t>- https://docs.livekit.io/agents/logic/turns/turn-detector/</a:t>
            </a:r>
          </a:p>
          <a:p>
            <a:r>
              <a:t>- https://developers.openai.com/api/docs/guides/realtime-vad</a:t>
            </a:r>
          </a:p>
          <a:p>
            <a:r>
              <a:t/>
            </a:r>
          </a:p>
          <a:p>
            <a:r>
              <a:t>vLLM-Omni implementation:</a:t>
            </a:r>
          </a:p>
          <a:p>
            <a:r>
              <a:t>- https://github.com/vllm-project/vllm-omni/blob/712b90de9c7bc14c595b363401588a713a87c02d/vllm_omni/engine/duplex/turn_detection.py</a:t>
            </a:r>
          </a:p>
          <a:p>
            <a:r>
              <a:t>- https://github.com/vllm-project/vllm-omni/blob/712b90de9c7bc14c595b363401588a713a87c02d/vllm_omni/engine/duplex/vad.py</a:t>
            </a:r>
          </a:p>
          <a:p>
            <a:r>
              <a:t>- https://github.com/vllm-project/vllm-omni/blob/712b90de9c7bc14c595b363401588a713a87c02d/vllm_omni/engine/duplex/session/runner.py</a:t>
            </a:r>
          </a:p>
          <a:p>
            <a:r>
              <a:t/>
            </a:r>
          </a:p>
          <a:p>
            <a:r>
              <a:t>Compute and placement: lightweight acoustic VAD has low inference cost per audio frame. Silero's published reference reports less than 1 ms of CPU processing for a 30+ ms audio chunk. This is inference time, not end-of-turn latency: buffering, scheduling and the configured silence duration also affect when the session commits. It is not a vLLM-Omni measurement.</a:t>
            </a:r>
          </a:p>
          <a:p>
            <a:r>
              <a:t/>
            </a:r>
          </a:p>
          <a:p>
            <a:r>
              <a:t>Semantic end-of-turn models usually analyze more context per decision, but their compute requirements depend on the model, hardware and invocation frequency. Smart Turn has a CPU implementation; its project reports inference from roughly 10 ms on some CPUs to below 100 ms on most cloud instances. Those figures use different inputs and environments from Silero's, so they do not establish a same-workload speed ratio. Gating semantic inference on detected pauses reduces invocation frequency.</a:t>
            </a:r>
          </a:p>
          <a:p>
            <a:r>
              <a:t/>
            </a:r>
          </a:p>
          <a:p>
            <a:r>
              <a:t>For vLLM-Omni, the planned direction is to execute heavier semantic models through an Omni Stage, while retaining an offloaded CPU option for lightweight models. Stage placement is a proposed architecture, not an implemented Semantic VAD path or a guarantee of lower latency. Scheduling, transfers, queueing and batching must fit the interaction latency budget. The Session Runner still owns the decision to wait, commit or create a response.</a:t>
            </a:r>
          </a:p>
          <a:p>
            <a:r>
              <a:t/>
            </a:r>
          </a:p>
          <a:p>
            <a:r>
              <a:t>Noise handling: VAD estimates speech activity and can suppress false speech events from non-speech noise. It does not produce a cleaned waveform, remove noise mixed with speech, or reliably exclude another person speaking in the background. Audio denoising, echo cancellation and target-speaker filtering are separate processing capabilities. The example does not imply dropping every non-speech audio chunk from a native duplex model's input.</a:t>
            </a:r>
          </a:p>
          <a:p>
            <a:r>
              <a:t/>
            </a:r>
          </a:p>
          <a:p>
            <a:r>
              <a:t>Additional references:</a:t>
            </a:r>
          </a:p>
          <a:p>
            <a:r>
              <a:t>- https://github.com/snakers4/silero-vad</a:t>
            </a:r>
          </a:p>
          <a:p>
            <a:r>
              <a:t>- https://github.com/pipecat-ai/smart-turn</a:t>
            </a:r>
          </a:p>
          <a:p>
            <a:r>
              <a:t/>
            </a:r>
          </a:p>
          <a:p>
            <a:r>
              <a:t/>
            </a:r>
          </a:p>
          <a:p>
            <a:r>
              <a:t>Runtime placement and session policy:</a:t>
            </a:r>
          </a:p>
          <a:p>
            <a:r>
              <a:t>For the Unified Duplex path, Server VAD belongs to the Orchestrator session runtime. SessionManager supplies the process-shared Silero ONNX backend; each session keeps independent detector state. Runner offloads CPU detection to a thread pool and applies the resulting speech-onset, endpointing, commit and interruption policy on its control loop. These CPU threads remain in the API/Orchestrator process. MiniCPM native duplex does not require Server VAD by default. The generic turn-based Realtime connection is a separate control path.</a:t>
            </a:r>
          </a:p>
          <a:p>
            <a:r>
              <a:t/>
            </a:r>
          </a:p>
          <a:p>
            <a:r>
              <a:t>Semantic VAD is a proposed extension here, not an integrated feature. A lightweight model can run in a bounded CPU pool, preferably reusing streaming ASR. A larger model can use a separate accelerator service with bounded batching latency. Decisions should carry session/input sequence/epoch so the Runner can apply them in order and discard stale work. Turn completion and model-native yielding are different decisions.</a:t>
            </a:r>
          </a:p>
          <a:p>
            <a:r>
              <a:t/>
            </a:r>
          </a:p>
          <a:p>
            <a:r>
              <a:t>Sources:</a:t>
            </a:r>
          </a:p>
          <a:p>
            <a:r>
              <a:t>- vad.py: https://github.com/vllm-project/vllm-omni/blob/712b90de9c7bc14c595b363401588a713a87c02d/vllm_omni/engine/duplex/vad.py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a:p>
            <a:r>
              <a:t>- connection.py: https://github.com/vllm-project/vllm-omni/blob/712b90de9c7bc14c595b363401588a713a87c02d/vllm_omni/entrypoints/openai/realtime/connection.py</a:t>
            </a:r>
          </a:p>
          <a:p>
            <a:r>
              <a:t/>
            </a:r>
          </a:p>
          <a:p>
            <a:r>
              <a:t>Planned semantic inference placement: keep lightweight models in an offloaded CPU pool. Audio-native models such as Smart Turn do not require ASR; text-based endpointing models may reuse a streaming transcript. Execute heavier semantic models through an Omni Stage, with bounded queues and latency-aware microbatching. This is a proposed extension. The Stage returns a completion estimate; the Session Runner owns wait/commit/response policy and validates session, input sequence and epoch before applying a result. Account for queueing and transfer overhead rather than assuming accelerator placement always lowers latency.</a:t>
            </a:r>
          </a:p>
          <a:p>
            <a:r>
              <a:t/>
            </a:r>
          </a:p>
          <a:p>
            <a:r>
              <a:t>Additional references:</a:t>
            </a:r>
          </a:p>
          <a:p>
            <a:r>
              <a:t>- https://github.com/snakers4/silero-vad</a:t>
            </a:r>
          </a:p>
          <a:p>
            <a:r>
              <a:t>- https://github.com/pipecat-ai/smart-turn</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Disconnect, response cancellation and session termination affect different state. For a resumable model, a dropped connection can leave the engine session and in-flight generation alive during the disconnect grace. response.cancel cancels the response, invalidates old queued audio and preserves the session. session.close or lease expiry terminates the session and releases its associated work.</a:t>
            </a:r>
          </a:p>
          <a:p>
            <a:r>
              <a:t/>
            </a:r>
          </a:p>
          <a:p>
            <a:r>
              <a:t>Resume depends on session lifetime, valid credentials and replay coverage. The same live owner must still hold the session; the disconnect grace and lease must permit reattachment. The server validates the resume token and lease generation. The client's last received event position must be covered by retained events. Resume reattaches to existing state; cancelled work remains cancelled and a closed or expired session cannot be resurrected. Main slide 08 presents the client-facing reconnection flow.</a:t>
            </a:r>
          </a:p>
          <a:p>
            <a:r>
              <a:t/>
            </a:r>
          </a:p>
          <a:p>
            <a:r>
              <a:t>MiniCPM-o 4.5, AURA, Qwen3-Omni and Nemotron support live-session resume. PersonaPlex closes its session on disconnect. Current defaults are a 30-second disconnect grace, 300-second idle TTL, and a replay window bounded by 60 seconds and 8 MiB. These are configuration defaults, not guarantees of process failover or persistent recovery.</a:t>
            </a:r>
          </a:p>
          <a:p>
            <a:r>
              <a:t/>
            </a:r>
          </a:p>
          <a:p>
            <a:r>
              <a:t>Sources:</a:t>
            </a:r>
          </a:p>
          <a:p>
            <a:r>
              <a:t>- serving.py: https://github.com/vllm-project/vllm-omni/blob/712b90de9c7bc14c595b363401588a713a87c02d/vllm_omni/entrypoints/duplex/serving.py</a:t>
            </a:r>
          </a:p>
          <a:p>
            <a:r>
              <a:t>- session_attachment.py: https://github.com/vllm-project/vllm-omni/blob/712b90de9c7bc14c595b363401588a713a87c02d/vllm_omni/entrypoints/duplex/session_attachment.py</a:t>
            </a:r>
          </a:p>
          <a:p>
            <a:r>
              <a:t>- stage_config.py: https://github.com/vllm-project/vllm-omni/blob/712b90de9c7bc14c595b363401588a713a87c02d/vllm_omni/config/stage_config.py</a:t>
            </a:r>
          </a:p>
          <a:p>
            <a:r>
              <a:t>- manager.py: https://github.com/vllm-project/vllm-omni/blob/712b90de9c7bc14c595b363401588a713a87c02d/vllm_omni/engine/duplex/session/manager.py</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t/>
            </a:r>
          </a:p>
          <a:p>
            <a:r>
              <a:t>Use a consistent deploy topology, reachable master address/port and network-capable connectors for cross-node Stage data. SharedMemory connectors are local-host transports. The Head Orchestrator dispatches to StagePool clients and preserves request affinity.</a:t>
            </a:r>
          </a:p>
          <a:p>
            <a:r>
              <a:t/>
            </a:r>
          </a:p>
          <a:p>
            <a: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t/>
            </a:r>
          </a:p>
          <a:p>
            <a:r>
              <a:t>Sources:</a:t>
            </a:r>
          </a:p>
          <a:p>
            <a:r>
              <a:t>- api_server.py: https://github.com/vllm-project/vllm-omni/blob/712b90de9c7bc14c595b363401588a713a87c02d/vllm_omni/entrypoints/openai/api_server.py</a:t>
            </a:r>
          </a:p>
          <a:p>
            <a:r>
              <a:t>- stage_runtime.py: https://github.com/vllm-project/vllm-omni/blob/712b90de9c7bc14c595b363401588a713a87c02d/vllm_omni/engine/stage_runtime.py</a:t>
            </a:r>
          </a:p>
          <a:p>
            <a: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t/>
            </a:r>
          </a:p>
          <a:p>
            <a:r>
              <a:t>Sources:</a:t>
            </a:r>
          </a:p>
          <a:p>
            <a:r>
              <a:t>- serving.py: https://github.com/vllm-project/vllm-omni/blob/712b90de9c7bc14c595b363401588a713a87c02d/vllm_omni/entrypoints/duplex/serving.py</a:t>
            </a:r>
          </a:p>
          <a:p>
            <a:r>
              <a:t>- duplex_omni.py: https://github.com/vllm-project/vllm-omni/blob/712b90de9c7bc14c595b363401588a713a87c02d/vllm_omni/entrypoints/duplex_omni.py</a:t>
            </a:r>
          </a:p>
          <a:p>
            <a:r>
              <a:t>- duplex_omni_engine.py: https://github.com/vllm-project/vllm-omni/blob/712b90de9c7bc14c595b363401588a713a87c02d/vllm_omni/engine/duplex_omni_engine.py</a:t>
            </a:r>
          </a:p>
          <a:p>
            <a:r>
              <a:t>- delivery.py: https://github.com/vllm-project/vllm-omni/blob/712b90de9c7bc14c595b363401588a713a87c02d/vllm_omni/engine/duplex/delivery.py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712b90de9c7bc14c595b363401588a713a87c02d/vllm_omni/entrypoints/duplex/serving.py" TargetMode="External"/><Relationship Id="rId5" Type="http://schemas.openxmlformats.org/officeDocument/2006/relationships/hyperlink" Target="https://github.com/vllm-project/vllm-omni/blob/712b90de9c7bc14c595b363401588a713a87c02d/vllm_omni/entrypoints/duplex_omni.py" TargetMode="External"/><Relationship Id="rId6" Type="http://schemas.openxmlformats.org/officeDocument/2006/relationships/hyperlink" Target="https://github.com/vllm-project/vllm-omni/blob/712b90de9c7bc14c595b363401588a713a87c02d/vllm_omni/engine/duplex_omni_engine.py" TargetMode="External"/><Relationship Id="rId7" Type="http://schemas.openxmlformats.org/officeDocument/2006/relationships/hyperlink" Target="https://github.com/vllm-project/vllm-omni/blob/712b90de9c7bc14c595b363401588a713a87c02d/vllm_omni/engine/duplex/session/runner.py" TargetMode="External"/><Relationship Id="rId8" Type="http://schemas.openxmlformats.org/officeDocument/2006/relationships/hyperlink" Target="https://github.com/vllm-project/vllm-omni/blob/712b90de9c7bc14c595b363401588a713a87c02d/vllm_omni/engine/duplex_orchestrator.py" TargetMode="External"/><Relationship Id="rId9" Type="http://schemas.openxmlformats.org/officeDocument/2006/relationships/hyperlink" Target="https://github.com/vllm-project/vllm-omni/blob/712b90de9c7bc14c595b363401588a713a87c02d/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712b90de9c7bc14c595b363401588a713a87c02d/vllm_omni/engine/duplex/delivery.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a:solidFill>
                  <a:srgbClr val="142B45"/>
                </a:solidFill>
                <a:latin typeface="Arial"/>
                <a:ea typeface="Arial"/>
                <a:cs typeface="Arial"/>
              </a:rPr>
              <a:t>The Next Inflection Point</a:t>
            </a:r>
          </a:p>
          <a:p>
            <a:pPr algn="l">
              <a:lnSpc>
                <a:spcPct val="110000"/>
              </a:lnSpc>
              <a:spcAft>
                <a:spcPts val="0"/>
              </a:spcAft>
            </a:pPr>
            <a:r>
              <a:rPr sz="4400" b="1">
                <a:solidFill>
                  <a:srgbClr val="008E96"/>
                </a:solidFill>
                <a:latin typeface="Arial"/>
                <a:ea typeface="Arial"/>
                <a:cs typeface="Arial"/>
              </a:rPr>
              <a:t>in SI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a:solidFill>
                  <a:srgbClr val="586B7E"/>
                </a:solidFill>
                <a:latin typeface="Arial"/>
                <a:ea typeface="Arial"/>
                <a:cs typeface="Arial"/>
              </a:rPr>
              <a:t>How vLLM-Omni Enables Models to</a:t>
            </a:r>
          </a:p>
          <a:p>
            <a:pPr algn="l">
              <a:lnSpc>
                <a:spcPct val="110000"/>
              </a:lnSpc>
              <a:spcAft>
                <a:spcPts val="0"/>
              </a:spcAft>
            </a:pPr>
            <a:r>
              <a:rPr sz="2400" b="1">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COMMUNITY</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Duplex, built with the community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a:solidFill>
                  <a:srgbClr val="586B7E"/>
                </a:solidFill>
                <a:latin typeface="Arial"/>
                <a:ea typeface="Arial"/>
                <a:cs typeface="Arial"/>
              </a:rPr>
              <a:t>Thanks to 60+ contributors · 160+ related PRs merged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12</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a:solidFill>
                  <a:srgbClr val="586B7E"/>
                </a:solidFill>
                <a:latin typeface="Arial"/>
                <a:ea typeface="Arial"/>
                <a:cs typeface="Arial"/>
              </a:rPr>
              <a:t>SELECTED MERGED PRs</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AS OF 07 OCT 2026</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Native duplex runtime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Unified duplex framework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Qwen3-Omni integration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AURA integration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Bounded output delivery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12</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800" b="1">
                <a:solidFill>
                  <a:srgbClr val="142B45"/>
                </a:solidFill>
                <a:latin typeface="Arial"/>
                <a:ea typeface="Arial"/>
                <a:cs typeface="Arial"/>
              </a:rPr>
              <a:t>Keep the</a:t>
            </a:r>
          </a:p>
          <a:p>
            <a:pPr algn="l">
              <a:lnSpc>
                <a:spcPct val="110000"/>
              </a:lnSpc>
              <a:spcAft>
                <a:spcPts val="0"/>
              </a:spcAft>
            </a:pPr>
            <a:r>
              <a:rPr sz="3800" b="1">
                <a:solidFill>
                  <a:srgbClr val="142B45"/>
                </a:solidFill>
                <a:latin typeface="Arial"/>
                <a:ea typeface="Arial"/>
                <a:cs typeface="Arial"/>
              </a:rPr>
              <a:t>conversation flowing.</a:t>
            </a:r>
          </a:p>
        </p:txBody>
      </p:sp>
      <p:sp>
        <p:nvSpPr>
          <p:cNvPr id="15" name="Rounded Rectangle 14"/>
          <p:cNvSpPr/>
          <p:nvPr/>
        </p:nvSpPr>
        <p:spPr>
          <a:xfrm>
            <a:off x="6236208" y="1170432"/>
            <a:ext cx="5394960" cy="3342132"/>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PersonaPlex · live voice demo</a:t>
            </a:r>
          </a:p>
        </p:txBody>
      </p:sp>
      <p:sp>
        <p:nvSpPr>
          <p:cNvPr id="17" name="TextBox 16"/>
          <p:cNvSpPr txBox="1"/>
          <p:nvPr/>
        </p:nvSpPr>
        <p:spPr>
          <a:xfrm>
            <a:off x="6537960" y="1874520"/>
            <a:ext cx="4700016" cy="274320"/>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Arial"/>
                <a:ea typeface="Arial"/>
                <a:cs typeface="Arial"/>
              </a:rPr>
              <a:t>Preset voice + persona · continuous audio</a:t>
            </a:r>
          </a:p>
        </p:txBody>
      </p:sp>
      <p:sp>
        <p:nvSpPr>
          <p:cNvPr id="25" name="TextBox 24"/>
          <p:cNvSpPr txBox="1"/>
          <p:nvPr/>
        </p:nvSpPr>
        <p:spPr>
          <a:xfrm>
            <a:off x="6537960" y="2297430"/>
            <a:ext cx="2743200" cy="219456"/>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Arial"/>
                <a:ea typeface="Arial"/>
                <a:cs typeface="Arial"/>
              </a:rPr>
              <a:t>User speech</a:t>
            </a:r>
          </a:p>
        </p:txBody>
      </p:sp>
      <p:cxnSp>
        <p:nvCxnSpPr>
          <p:cNvPr id="26" name="Connector 25"/>
          <p:cNvCxnSpPr/>
          <p:nvPr/>
        </p:nvCxnSpPr>
        <p:spPr>
          <a:xfrm>
            <a:off x="6547104" y="2732684"/>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6601968" y="2641813"/>
            <a:ext cx="26517" cy="18174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6670548" y="2588915"/>
            <a:ext cx="26517" cy="2875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6739128" y="2598602"/>
            <a:ext cx="26517" cy="26816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6807707" y="2659474"/>
            <a:ext cx="26517" cy="14641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6876288" y="2666476"/>
            <a:ext cx="26517" cy="13241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944868" y="2629125"/>
            <a:ext cx="26517" cy="207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013448" y="2613880"/>
            <a:ext cx="26517" cy="23760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7082028" y="2647493"/>
            <a:ext cx="26517" cy="17038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7150607" y="2674479"/>
            <a:ext cx="26517" cy="11640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7219188" y="2603803"/>
            <a:ext cx="26517" cy="25776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p:cNvSpPr/>
          <p:nvPr/>
        </p:nvSpPr>
        <p:spPr>
          <a:xfrm>
            <a:off x="7287768" y="2582397"/>
            <a:ext cx="26517" cy="30057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ounded Rectangle 37"/>
          <p:cNvSpPr/>
          <p:nvPr/>
        </p:nvSpPr>
        <p:spPr>
          <a:xfrm>
            <a:off x="7356348" y="2625786"/>
            <a:ext cx="26517" cy="21379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7424927" y="2689445"/>
            <a:ext cx="26517" cy="864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ounded Rectangle 39"/>
          <p:cNvSpPr/>
          <p:nvPr/>
        </p:nvSpPr>
        <p:spPr>
          <a:xfrm>
            <a:off x="7493508" y="2623125"/>
            <a:ext cx="26517" cy="219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ounded Rectangle 40"/>
          <p:cNvSpPr/>
          <p:nvPr/>
        </p:nvSpPr>
        <p:spPr>
          <a:xfrm>
            <a:off x="7562088" y="2607081"/>
            <a:ext cx="26517" cy="2512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ounded Rectangle 41"/>
          <p:cNvSpPr/>
          <p:nvPr/>
        </p:nvSpPr>
        <p:spPr>
          <a:xfrm>
            <a:off x="7630667" y="2640635"/>
            <a:ext cx="26517" cy="1840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7699248" y="2692018"/>
            <a:ext cx="26517" cy="813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ounded Rectangle 43"/>
          <p:cNvSpPr/>
          <p:nvPr/>
        </p:nvSpPr>
        <p:spPr>
          <a:xfrm>
            <a:off x="7767827" y="2636206"/>
            <a:ext cx="26517" cy="1929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ounded Rectangle 44"/>
          <p:cNvSpPr/>
          <p:nvPr/>
        </p:nvSpPr>
        <p:spPr>
          <a:xfrm>
            <a:off x="7836408" y="2591806"/>
            <a:ext cx="26517" cy="2817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904988" y="2604885"/>
            <a:ext cx="26517" cy="2555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ounded Rectangle 46"/>
          <p:cNvSpPr/>
          <p:nvPr/>
        </p:nvSpPr>
        <p:spPr>
          <a:xfrm>
            <a:off x="9171432" y="2589045"/>
            <a:ext cx="26517" cy="2872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ounded Rectangle 47"/>
          <p:cNvSpPr/>
          <p:nvPr/>
        </p:nvSpPr>
        <p:spPr>
          <a:xfrm>
            <a:off x="9241535" y="2591211"/>
            <a:ext cx="26517" cy="28294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p:cNvSpPr/>
          <p:nvPr/>
        </p:nvSpPr>
        <p:spPr>
          <a:xfrm>
            <a:off x="9311640" y="2651127"/>
            <a:ext cx="26517" cy="1631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p:cNvSpPr/>
          <p:nvPr/>
        </p:nvSpPr>
        <p:spPr>
          <a:xfrm>
            <a:off x="9381744" y="2667300"/>
            <a:ext cx="26517" cy="13076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ounded Rectangle 50"/>
          <p:cNvSpPr/>
          <p:nvPr/>
        </p:nvSpPr>
        <p:spPr>
          <a:xfrm>
            <a:off x="9451848" y="2620107"/>
            <a:ext cx="26517" cy="2251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ounded Rectangle 51"/>
          <p:cNvSpPr/>
          <p:nvPr/>
        </p:nvSpPr>
        <p:spPr>
          <a:xfrm>
            <a:off x="9521951" y="2623231"/>
            <a:ext cx="26517" cy="21890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ounded Rectangle 52"/>
          <p:cNvSpPr/>
          <p:nvPr/>
        </p:nvSpPr>
        <p:spPr>
          <a:xfrm>
            <a:off x="9592055" y="2649568"/>
            <a:ext cx="26517" cy="16623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Rounded Rectangle 53"/>
          <p:cNvSpPr/>
          <p:nvPr/>
        </p:nvSpPr>
        <p:spPr>
          <a:xfrm>
            <a:off x="9662160" y="2681304"/>
            <a:ext cx="26517" cy="10275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ounded Rectangle 54"/>
          <p:cNvSpPr/>
          <p:nvPr/>
        </p:nvSpPr>
        <p:spPr>
          <a:xfrm>
            <a:off x="9732264" y="2612010"/>
            <a:ext cx="26517" cy="24134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ounded Rectangle 55"/>
          <p:cNvSpPr/>
          <p:nvPr/>
        </p:nvSpPr>
        <p:spPr>
          <a:xfrm>
            <a:off x="9802367" y="2584144"/>
            <a:ext cx="26517" cy="29707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ounded Rectangle 56"/>
          <p:cNvSpPr/>
          <p:nvPr/>
        </p:nvSpPr>
        <p:spPr>
          <a:xfrm>
            <a:off x="9872472" y="2620438"/>
            <a:ext cx="26517" cy="22449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9942576" y="2694805"/>
            <a:ext cx="26517" cy="7575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Rounded Rectangle 58"/>
          <p:cNvSpPr/>
          <p:nvPr/>
        </p:nvSpPr>
        <p:spPr>
          <a:xfrm>
            <a:off x="10012680" y="2620758"/>
            <a:ext cx="26517" cy="2238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ounded Rectangle 59"/>
          <p:cNvSpPr/>
          <p:nvPr/>
        </p:nvSpPr>
        <p:spPr>
          <a:xfrm>
            <a:off x="10082783" y="2596299"/>
            <a:ext cx="26517" cy="27276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ounded Rectangle 60"/>
          <p:cNvSpPr/>
          <p:nvPr/>
        </p:nvSpPr>
        <p:spPr>
          <a:xfrm>
            <a:off x="10152887" y="2628651"/>
            <a:ext cx="26517" cy="20806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ounded Rectangle 61"/>
          <p:cNvSpPr/>
          <p:nvPr/>
        </p:nvSpPr>
        <p:spPr>
          <a:xfrm>
            <a:off x="10222992" y="2688613"/>
            <a:ext cx="26517" cy="8813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ounded Rectangle 62"/>
          <p:cNvSpPr/>
          <p:nvPr/>
        </p:nvSpPr>
        <p:spPr>
          <a:xfrm>
            <a:off x="10293096" y="2646919"/>
            <a:ext cx="26517" cy="1715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Rounded Rectangle 63"/>
          <p:cNvSpPr/>
          <p:nvPr/>
        </p:nvSpPr>
        <p:spPr>
          <a:xfrm>
            <a:off x="10363199" y="2602035"/>
            <a:ext cx="26517" cy="2612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537960" y="3082442"/>
            <a:ext cx="2743200" cy="219456"/>
          </a:xfrm>
          <a:prstGeom prst="rect">
            <a:avLst/>
          </a:prstGeom>
          <a:noFill/>
        </p:spPr>
        <p:txBody>
          <a:bodyPr wrap="square" lIns="0" rIns="0" tIns="0" bIns="0" anchor="t">
            <a:spAutoFit/>
          </a:bodyPr>
          <a:lstStyle/>
          <a:p>
            <a:pPr algn="l">
              <a:lnSpc>
                <a:spcPct val="110000"/>
              </a:lnSpc>
              <a:spcAft>
                <a:spcPts val="0"/>
              </a:spcAft>
            </a:pPr>
            <a:r>
              <a:rPr sz="1300" b="0">
                <a:solidFill>
                  <a:srgbClr val="A1DFD8"/>
                </a:solidFill>
                <a:latin typeface="Arial"/>
                <a:ea typeface="Arial"/>
                <a:cs typeface="Arial"/>
              </a:rPr>
              <a:t>Assistant speech</a:t>
            </a:r>
          </a:p>
        </p:txBody>
      </p:sp>
      <p:cxnSp>
        <p:nvCxnSpPr>
          <p:cNvPr id="66" name="Connector 65"/>
          <p:cNvCxnSpPr/>
          <p:nvPr/>
        </p:nvCxnSpPr>
        <p:spPr>
          <a:xfrm>
            <a:off x="6547104" y="3517696"/>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67" name="Rounded Rectangle 66"/>
          <p:cNvSpPr/>
          <p:nvPr/>
        </p:nvSpPr>
        <p:spPr>
          <a:xfrm>
            <a:off x="8156448" y="3399086"/>
            <a:ext cx="26517" cy="2372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ounded Rectangle 67"/>
          <p:cNvSpPr/>
          <p:nvPr/>
        </p:nvSpPr>
        <p:spPr>
          <a:xfrm>
            <a:off x="8216145" y="3368104"/>
            <a:ext cx="26517" cy="29918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ounded Rectangle 68"/>
          <p:cNvSpPr/>
          <p:nvPr/>
        </p:nvSpPr>
        <p:spPr>
          <a:xfrm>
            <a:off x="8275842" y="3401444"/>
            <a:ext cx="26517" cy="23250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ounded Rectangle 69"/>
          <p:cNvSpPr/>
          <p:nvPr/>
        </p:nvSpPr>
        <p:spPr>
          <a:xfrm>
            <a:off x="8335539" y="3473558"/>
            <a:ext cx="26517" cy="8827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ounded Rectangle 70"/>
          <p:cNvSpPr/>
          <p:nvPr/>
        </p:nvSpPr>
        <p:spPr>
          <a:xfrm>
            <a:off x="8395237" y="3428244"/>
            <a:ext cx="26517" cy="1789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ounded Rectangle 71"/>
          <p:cNvSpPr/>
          <p:nvPr/>
        </p:nvSpPr>
        <p:spPr>
          <a:xfrm>
            <a:off x="8454934" y="3407099"/>
            <a:ext cx="26517" cy="2211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ounded Rectangle 72"/>
          <p:cNvSpPr/>
          <p:nvPr/>
        </p:nvSpPr>
        <p:spPr>
          <a:xfrm>
            <a:off x="8514631" y="3409965"/>
            <a:ext cx="26517" cy="21546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ounded Rectangle 73"/>
          <p:cNvSpPr/>
          <p:nvPr/>
        </p:nvSpPr>
        <p:spPr>
          <a:xfrm>
            <a:off x="8574329" y="3459891"/>
            <a:ext cx="26517" cy="11560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ounded Rectangle 74"/>
          <p:cNvSpPr/>
          <p:nvPr/>
        </p:nvSpPr>
        <p:spPr>
          <a:xfrm>
            <a:off x="8634026" y="3429368"/>
            <a:ext cx="26517" cy="1766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Rounded Rectangle 75"/>
          <p:cNvSpPr/>
          <p:nvPr/>
        </p:nvSpPr>
        <p:spPr>
          <a:xfrm>
            <a:off x="8693723" y="3373861"/>
            <a:ext cx="26517" cy="2876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ounded Rectangle 76"/>
          <p:cNvSpPr/>
          <p:nvPr/>
        </p:nvSpPr>
        <p:spPr>
          <a:xfrm>
            <a:off x="8753420" y="3377571"/>
            <a:ext cx="26517" cy="2802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ounded Rectangle 77"/>
          <p:cNvSpPr/>
          <p:nvPr/>
        </p:nvSpPr>
        <p:spPr>
          <a:xfrm>
            <a:off x="8813118" y="3440577"/>
            <a:ext cx="26517" cy="15423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ounded Rectangle 78"/>
          <p:cNvSpPr/>
          <p:nvPr/>
        </p:nvSpPr>
        <p:spPr>
          <a:xfrm>
            <a:off x="8872815" y="3442426"/>
            <a:ext cx="26517" cy="1505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ounded Rectangle 79"/>
          <p:cNvSpPr/>
          <p:nvPr/>
        </p:nvSpPr>
        <p:spPr>
          <a:xfrm>
            <a:off x="8932512" y="3391117"/>
            <a:ext cx="26517" cy="25315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ounded Rectangle 80"/>
          <p:cNvSpPr/>
          <p:nvPr/>
        </p:nvSpPr>
        <p:spPr>
          <a:xfrm>
            <a:off x="8992210" y="3396259"/>
            <a:ext cx="26517" cy="242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ounded Rectangle 81"/>
          <p:cNvSpPr/>
          <p:nvPr/>
        </p:nvSpPr>
        <p:spPr>
          <a:xfrm>
            <a:off x="9051907" y="3444049"/>
            <a:ext cx="26517" cy="1472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Rounded Rectangle 82"/>
          <p:cNvSpPr/>
          <p:nvPr/>
        </p:nvSpPr>
        <p:spPr>
          <a:xfrm>
            <a:off x="9111604" y="3462861"/>
            <a:ext cx="26517" cy="10966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ounded Rectangle 83"/>
          <p:cNvSpPr/>
          <p:nvPr/>
        </p:nvSpPr>
        <p:spPr>
          <a:xfrm>
            <a:off x="9171301" y="3401655"/>
            <a:ext cx="26517" cy="23208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ounded Rectangle 84"/>
          <p:cNvSpPr/>
          <p:nvPr/>
        </p:nvSpPr>
        <p:spPr>
          <a:xfrm>
            <a:off x="9230999" y="3377228"/>
            <a:ext cx="26517" cy="2809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ounded Rectangle 85"/>
          <p:cNvSpPr/>
          <p:nvPr/>
        </p:nvSpPr>
        <p:spPr>
          <a:xfrm>
            <a:off x="9290696" y="3413331"/>
            <a:ext cx="26517" cy="20872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ounded Rectangle 86"/>
          <p:cNvSpPr/>
          <p:nvPr/>
        </p:nvSpPr>
        <p:spPr>
          <a:xfrm>
            <a:off x="9350393" y="3472018"/>
            <a:ext cx="26517" cy="9135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ounded Rectangle 87"/>
          <p:cNvSpPr/>
          <p:nvPr/>
        </p:nvSpPr>
        <p:spPr>
          <a:xfrm>
            <a:off x="9410091" y="3396526"/>
            <a:ext cx="26517" cy="2423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ounded Rectangle 88"/>
          <p:cNvSpPr/>
          <p:nvPr/>
        </p:nvSpPr>
        <p:spPr>
          <a:xfrm>
            <a:off x="10616184" y="3367830"/>
            <a:ext cx="26517" cy="2997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ounded Rectangle 89"/>
          <p:cNvSpPr/>
          <p:nvPr/>
        </p:nvSpPr>
        <p:spPr>
          <a:xfrm>
            <a:off x="10684878" y="3386778"/>
            <a:ext cx="26517" cy="2618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ounded Rectangle 90"/>
          <p:cNvSpPr/>
          <p:nvPr/>
        </p:nvSpPr>
        <p:spPr>
          <a:xfrm>
            <a:off x="10753572" y="3456644"/>
            <a:ext cx="26517" cy="1221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ounded Rectangle 91"/>
          <p:cNvSpPr/>
          <p:nvPr/>
        </p:nvSpPr>
        <p:spPr>
          <a:xfrm>
            <a:off x="10822267" y="3433956"/>
            <a:ext cx="26517" cy="16747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ounded Rectangle 92"/>
          <p:cNvSpPr/>
          <p:nvPr/>
        </p:nvSpPr>
        <p:spPr>
          <a:xfrm>
            <a:off x="10890961" y="3397995"/>
            <a:ext cx="26517" cy="23940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ounded Rectangle 93"/>
          <p:cNvSpPr/>
          <p:nvPr/>
        </p:nvSpPr>
        <p:spPr>
          <a:xfrm>
            <a:off x="10959655" y="3413312"/>
            <a:ext cx="26517" cy="20876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ounded Rectangle 94"/>
          <p:cNvSpPr/>
          <p:nvPr/>
        </p:nvSpPr>
        <p:spPr>
          <a:xfrm>
            <a:off x="11028350" y="3450036"/>
            <a:ext cx="26517" cy="1353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ounded Rectangle 95"/>
          <p:cNvSpPr/>
          <p:nvPr/>
        </p:nvSpPr>
        <p:spPr>
          <a:xfrm>
            <a:off x="11097044" y="3447288"/>
            <a:ext cx="26517" cy="14081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ounded Rectangle 96"/>
          <p:cNvSpPr/>
          <p:nvPr/>
        </p:nvSpPr>
        <p:spPr>
          <a:xfrm>
            <a:off x="11165739" y="3385680"/>
            <a:ext cx="26517" cy="2640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8" name="Connector 97"/>
          <p:cNvCxnSpPr/>
          <p:nvPr/>
        </p:nvCxnSpPr>
        <p:spPr>
          <a:xfrm>
            <a:off x="9171432" y="2437333"/>
            <a:ext cx="0" cy="1313535"/>
          </a:xfrm>
          <a:prstGeom prst="line">
            <a:avLst/>
          </a:prstGeom>
          <a:ln w="2159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99" name="TextBox 98"/>
          <p:cNvSpPr txBox="1"/>
          <p:nvPr/>
        </p:nvSpPr>
        <p:spPr>
          <a:xfrm>
            <a:off x="7955280" y="3995928"/>
            <a:ext cx="3108960" cy="265176"/>
          </a:xfrm>
          <a:prstGeom prst="rect">
            <a:avLst/>
          </a:prstGeom>
          <a:noFill/>
        </p:spPr>
        <p:txBody>
          <a:bodyPr wrap="square" lIns="0" rIns="0" tIns="0" bIns="0" anchor="t">
            <a:spAutoFit/>
          </a:bodyPr>
          <a:lstStyle/>
          <a:p>
            <a:pPr algn="ctr">
              <a:lnSpc>
                <a:spcPct val="110000"/>
              </a:lnSpc>
              <a:spcAft>
                <a:spcPts val="0"/>
              </a:spcAft>
            </a:pPr>
            <a:r>
              <a:rPr sz="1400" b="1">
                <a:solidFill>
                  <a:srgbClr val="FFCF82"/>
                </a:solidFill>
                <a:latin typeface="Arial"/>
                <a:ea typeface="Arial"/>
                <a:cs typeface="Arial"/>
              </a:rPr>
              <a:t>overlapping speech</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2100" b="1">
                <a:solidFill>
                  <a:srgbClr val="142B45"/>
                </a:solidFill>
                <a:latin typeface="Arial"/>
                <a:ea typeface="Arial"/>
                <a:cs typeface="Arial"/>
              </a:rPr>
              <a:t>Concurrent input &amp; output</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Keep receiving speech</a:t>
            </a:r>
          </a:p>
          <a:p>
            <a:pPr algn="l">
              <a:lnSpc>
                <a:spcPct val="110000"/>
              </a:lnSpc>
              <a:spcAft>
                <a:spcPts val="0"/>
              </a:spcAft>
            </a:pPr>
            <a:r>
              <a:rPr sz="1700" b="0">
                <a:solidFill>
                  <a:srgbClr val="586B7E"/>
                </a:solidFill>
                <a:latin typeface="Arial"/>
                <a:ea typeface="Arial"/>
                <a:cs typeface="Arial"/>
              </a:rPr>
              <a:t>while the assistant responds.</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2100" b="1">
                <a:solidFill>
                  <a:srgbClr val="142B45"/>
                </a:solidFill>
                <a:latin typeface="Arial"/>
                <a:ea typeface="Arial"/>
                <a:cs typeface="Arial"/>
              </a:rPr>
              <a:t>Streamed responses</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Deliver text and audio incrementally,</a:t>
            </a:r>
          </a:p>
          <a:p>
            <a:pPr algn="l">
              <a:lnSpc>
                <a:spcPct val="110000"/>
              </a:lnSpc>
              <a:spcAft>
                <a:spcPts val="0"/>
              </a:spcAft>
            </a:pPr>
            <a:r>
              <a:rPr sz="1700" b="0">
                <a:solidFill>
                  <a:srgbClr val="586B7E"/>
                </a:solidFill>
                <a:latin typeface="Arial"/>
                <a:ea typeface="Arial"/>
                <a:cs typeface="Arial"/>
              </a:rPr>
              <a:t>without waiting for a complete reply.</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03</a:t>
            </a:r>
          </a:p>
        </p:txBody>
      </p:sp>
      <p:sp>
        <p:nvSpPr>
          <p:cNvPr id="109" name="TextBox 108"/>
          <p:cNvSpPr txBox="1"/>
          <p:nvPr/>
        </p:nvSpPr>
        <p:spPr>
          <a:xfrm>
            <a:off x="1170432" y="5129784"/>
            <a:ext cx="2816352" cy="320040"/>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Adaptive interaction</a:t>
            </a:r>
          </a:p>
        </p:txBody>
      </p:sp>
      <p:sp>
        <p:nvSpPr>
          <p:cNvPr id="110" name="TextBox 109"/>
          <p:cNvSpPr txBox="1"/>
          <p:nvPr/>
        </p:nvSpPr>
        <p:spPr>
          <a:xfrm>
            <a:off x="3968496" y="5170932"/>
            <a:ext cx="7424927" cy="274320"/>
          </a:xfrm>
          <a:prstGeom prst="rect">
            <a:avLst/>
          </a:prstGeom>
          <a:noFill/>
        </p:spPr>
        <p:txBody>
          <a:bodyPr wrap="square" lIns="0" rIns="0" tIns="0" bIns="0" anchor="t">
            <a:spAutoFit/>
          </a:bodyPr>
          <a:lstStyle/>
          <a:p>
            <a:pPr algn="l">
              <a:lnSpc>
                <a:spcPct val="110000"/>
              </a:lnSpc>
              <a:spcAft>
                <a:spcPts val="0"/>
              </a:spcAft>
            </a:pPr>
            <a:r>
              <a:rPr sz="1350" b="0">
                <a:solidFill>
                  <a:srgbClr val="586B7E"/>
                </a:solidFill>
                <a:latin typeface="Arial"/>
                <a:ea typeface="Arial"/>
                <a:cs typeface="Arial"/>
              </a:rPr>
              <a:t>Use new input to continue, adapt what comes next, or yield the floor.</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Hard interruption: forced stop</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50" b="0">
                <a:solidFill>
                  <a:srgbClr val="142B45"/>
                </a:solidFill>
                <a:latin typeface="Arial"/>
                <a:ea typeface="Arial"/>
                <a:cs typeface="Arial"/>
              </a:rPr>
              <a:t>Client / server control</a:t>
            </a:r>
          </a:p>
          <a:p>
            <a:pPr algn="l">
              <a:lnSpc>
                <a:spcPct val="110000"/>
              </a:lnSpc>
              <a:spcAft>
                <a:spcPts val="0"/>
              </a:spcAft>
            </a:pPr>
            <a:r>
              <a:rPr sz="1250" b="0">
                <a:solidFill>
                  <a:srgbClr val="142B45"/>
                </a:solidFill>
                <a:latin typeface="Arial"/>
                <a:ea typeface="Arial"/>
                <a:cs typeface="Arial"/>
              </a:rPr>
              <a:t>Explicit cancel or configured VAD policy</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450" b="1">
                <a:solidFill>
                  <a:srgbClr val="008E96"/>
                </a:solidFill>
                <a:latin typeface="Arial"/>
                <a:ea typeface="Arial"/>
                <a:cs typeface="Arial"/>
              </a:rPr>
              <a:t>Soft interruption: model-driven yielding*</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50" b="0">
                <a:solidFill>
                  <a:srgbClr val="142B45"/>
                </a:solidFill>
                <a:latin typeface="Arial"/>
                <a:ea typeface="Arial"/>
                <a:cs typeface="Arial"/>
              </a:rPr>
              <a:t>The model uses ongoing input + context to decide when to stop.</a:t>
            </a:r>
          </a:p>
          <a:p>
            <a:pPr algn="l">
              <a:lnSpc>
                <a:spcPct val="110000"/>
              </a:lnSpc>
              <a:spcAft>
                <a:spcPts val="0"/>
              </a:spcAft>
            </a:pPr>
            <a:r>
              <a:rPr sz="1250" b="0">
                <a:solidFill>
                  <a:srgbClr val="142B45"/>
                </a:solidFill>
                <a:latin typeface="Arial"/>
                <a:ea typeface="Arial"/>
                <a:cs typeface="Arial"/>
              </a:rPr>
              <a:t>*Depends on model capability.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How models handle live interaction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Interaction controls depend on the model and demo profile.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12</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INTERACTION</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WHAT HAPPENS</a:t>
            </a:r>
          </a:p>
        </p:txBody>
      </p:sp>
      <p:sp>
        <p:nvSpPr>
          <p:cNvPr id="15" name="Rounded Rectangle 14"/>
          <p:cNvSpPr/>
          <p:nvPr/>
        </p:nvSpPr>
        <p:spPr>
          <a:xfrm>
            <a:off x="548640" y="299923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304952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MiniCPM-o 4.5</a:t>
            </a:r>
          </a:p>
        </p:txBody>
      </p:sp>
      <p:sp>
        <p:nvSpPr>
          <p:cNvPr id="17" name="TextBox 16"/>
          <p:cNvSpPr txBox="1"/>
          <p:nvPr/>
        </p:nvSpPr>
        <p:spPr>
          <a:xfrm>
            <a:off x="2807208" y="304952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Continuous speech and video input</a:t>
            </a:r>
          </a:p>
          <a:p>
            <a:pPr algn="l">
              <a:lnSpc>
                <a:spcPct val="110000"/>
              </a:lnSpc>
              <a:spcAft>
                <a:spcPts val="0"/>
              </a:spcAft>
            </a:pPr>
            <a:r>
              <a:rPr sz="1180" b="0">
                <a:solidFill>
                  <a:srgbClr val="142B45"/>
                </a:solidFill>
                <a:latin typeface="Arial"/>
                <a:ea typeface="Arial"/>
                <a:cs typeface="Arial"/>
              </a:rPr>
              <a:t>Model decides LISTEN / SPEAK</a:t>
            </a:r>
          </a:p>
        </p:txBody>
      </p:sp>
      <p:sp>
        <p:nvSpPr>
          <p:cNvPr id="18" name="TextBox 17"/>
          <p:cNvSpPr txBox="1"/>
          <p:nvPr/>
        </p:nvSpPr>
        <p:spPr>
          <a:xfrm>
            <a:off x="7406640" y="304952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Listen or respond within the live session</a:t>
            </a:r>
          </a:p>
          <a:p>
            <a:pPr algn="l">
              <a:lnSpc>
                <a:spcPct val="110000"/>
              </a:lnSpc>
              <a:spcAft>
                <a:spcPts val="0"/>
              </a:spcAft>
            </a:pPr>
            <a:r>
              <a:rPr sz="1180" b="0">
                <a:solidFill>
                  <a:srgbClr val="142B45"/>
                </a:solidFill>
                <a:latin typeface="Arial"/>
                <a:ea typeface="Arial"/>
                <a:cs typeface="Arial"/>
              </a:rPr>
              <a:t>No Server VAD required by default</a:t>
            </a:r>
          </a:p>
        </p:txBody>
      </p:sp>
      <p:sp>
        <p:nvSpPr>
          <p:cNvPr id="19" name="Rounded Rectangle 18"/>
          <p:cNvSpPr/>
          <p:nvPr/>
        </p:nvSpPr>
        <p:spPr>
          <a:xfrm>
            <a:off x="548640" y="359359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64388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Qwen3-Omni</a:t>
            </a:r>
          </a:p>
        </p:txBody>
      </p:sp>
      <p:sp>
        <p:nvSpPr>
          <p:cNvPr id="21" name="TextBox 20"/>
          <p:cNvSpPr txBox="1"/>
          <p:nvPr/>
        </p:nvSpPr>
        <p:spPr>
          <a:xfrm>
            <a:off x="2807208" y="364388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Server VAD detects user speech</a:t>
            </a:r>
          </a:p>
          <a:p>
            <a:pPr algn="l">
              <a:lnSpc>
                <a:spcPct val="110000"/>
              </a:lnSpc>
              <a:spcAft>
                <a:spcPts val="0"/>
              </a:spcAft>
            </a:pPr>
            <a:r>
              <a:rPr sz="1180" b="0">
                <a:solidFill>
                  <a:srgbClr val="142B45"/>
                </a:solidFill>
                <a:latin typeface="Arial"/>
                <a:ea typeface="Arial"/>
                <a:cs typeface="Arial"/>
              </a:rPr>
              <a:t>Microphone input stays active</a:t>
            </a:r>
          </a:p>
        </p:txBody>
      </p:sp>
      <p:sp>
        <p:nvSpPr>
          <p:cNvPr id="22" name="TextBox 21"/>
          <p:cNvSpPr txBox="1"/>
          <p:nvPr/>
        </p:nvSpPr>
        <p:spPr>
          <a:xfrm>
            <a:off x="7406640" y="364388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Stop queued playback</a:t>
            </a:r>
          </a:p>
          <a:p>
            <a:pPr algn="l">
              <a:lnSpc>
                <a:spcPct val="110000"/>
              </a:lnSpc>
              <a:spcAft>
                <a:spcPts val="0"/>
              </a:spcAft>
            </a:pPr>
            <a:r>
              <a:rPr sz="1180" b="0">
                <a:solidFill>
                  <a:srgbClr val="142B45"/>
                </a:solidFill>
                <a:latin typeface="Arial"/>
                <a:ea typeface="Arial"/>
                <a:cs typeface="Arial"/>
              </a:rPr>
              <a:t>Interrupt the current response*</a:t>
            </a:r>
          </a:p>
        </p:txBody>
      </p:sp>
      <p:sp>
        <p:nvSpPr>
          <p:cNvPr id="23" name="Rounded Rectangle 22"/>
          <p:cNvSpPr/>
          <p:nvPr/>
        </p:nvSpPr>
        <p:spPr>
          <a:xfrm>
            <a:off x="548640" y="418795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423824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AURA</a:t>
            </a:r>
          </a:p>
        </p:txBody>
      </p:sp>
      <p:sp>
        <p:nvSpPr>
          <p:cNvPr id="25" name="TextBox 24"/>
          <p:cNvSpPr txBox="1"/>
          <p:nvPr/>
        </p:nvSpPr>
        <p:spPr>
          <a:xfrm>
            <a:off x="2807208" y="423824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Hold to talk; release to submit</a:t>
            </a:r>
          </a:p>
          <a:p>
            <a:pPr algn="l">
              <a:lnSpc>
                <a:spcPct val="110000"/>
              </a:lnSpc>
              <a:spcAft>
                <a:spcPts val="0"/>
              </a:spcAft>
            </a:pPr>
            <a:r>
              <a:rPr sz="1180" b="0">
                <a:solidFill>
                  <a:srgbClr val="142B45"/>
                </a:solidFill>
                <a:latin typeface="Arial"/>
                <a:ea typeface="Arial"/>
                <a:cs typeface="Arial"/>
              </a:rPr>
              <a:t>new audio / video input</a:t>
            </a:r>
          </a:p>
        </p:txBody>
      </p:sp>
      <p:sp>
        <p:nvSpPr>
          <p:cNvPr id="26" name="TextBox 25"/>
          <p:cNvSpPr txBox="1"/>
          <p:nvPr/>
        </p:nvSpPr>
        <p:spPr>
          <a:xfrm>
            <a:off x="7406640" y="423824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Holding stops local playback</a:t>
            </a:r>
          </a:p>
          <a:p>
            <a:pPr algn="l">
              <a:lnSpc>
                <a:spcPct val="110000"/>
              </a:lnSpc>
              <a:spcAft>
                <a:spcPts val="0"/>
              </a:spcAft>
            </a:pPr>
            <a:r>
              <a:rPr sz="1180" b="0">
                <a:solidFill>
                  <a:srgbClr val="142B45"/>
                </a:solidFill>
                <a:latin typeface="Arial"/>
                <a:ea typeface="Arial"/>
                <a:cs typeface="Arial"/>
              </a:rPr>
              <a:t>Server generation can continue</a:t>
            </a:r>
          </a:p>
        </p:txBody>
      </p:sp>
      <p:sp>
        <p:nvSpPr>
          <p:cNvPr id="27" name="TextBox 26"/>
          <p:cNvSpPr txBox="1"/>
          <p:nvPr/>
        </p:nvSpPr>
        <p:spPr>
          <a:xfrm>
            <a:off x="722376" y="4882896"/>
            <a:ext cx="10744200" cy="237744"/>
          </a:xfrm>
          <a:prstGeom prst="rect">
            <a:avLst/>
          </a:prstGeom>
          <a:noFill/>
        </p:spPr>
        <p:txBody>
          <a:bodyPr wrap="square" lIns="0" rIns="0" tIns="0" bIns="0" anchor="t">
            <a:spAutoFit/>
          </a:bodyPr>
          <a:lstStyle/>
          <a:p>
            <a:pPr algn="l">
              <a:lnSpc>
                <a:spcPct val="110000"/>
              </a:lnSpc>
              <a:spcAft>
                <a:spcPts val="0"/>
              </a:spcAft>
            </a:pPr>
            <a:r>
              <a:rPr sz="1140" b="1">
                <a:solidFill>
                  <a:srgbClr val="586B7E"/>
                </a:solidFill>
                <a:latin typeface="Arial"/>
                <a:ea typeface="Arial"/>
                <a:cs typeface="Arial"/>
              </a:rPr>
              <a:t>PersonaPlex: explicit cancel restarts conversation context; disconnect requires a new session.</a:t>
            </a:r>
          </a:p>
        </p:txBody>
      </p:sp>
      <p:sp>
        <p:nvSpPr>
          <p:cNvPr id="28" name="Rounded Rectangle 27"/>
          <p:cNvSpPr/>
          <p:nvPr/>
        </p:nvSpPr>
        <p:spPr>
          <a:xfrm>
            <a:off x="54864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MODEL-DRIVEN SPEECH</a:t>
            </a:r>
          </a:p>
        </p:txBody>
      </p:sp>
      <p:sp>
        <p:nvSpPr>
          <p:cNvPr id="30" name="TextBox 29"/>
          <p:cNvSpPr txBox="1"/>
          <p:nvPr/>
        </p:nvSpPr>
        <p:spPr>
          <a:xfrm>
            <a:off x="68580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PersonaPlex · MiniCPM-o 4.5</a:t>
            </a:r>
          </a:p>
          <a:p>
            <a:pPr algn="l">
              <a:lnSpc>
                <a:spcPct val="110000"/>
              </a:lnSpc>
              <a:spcAft>
                <a:spcPts val="0"/>
              </a:spcAft>
            </a:pPr>
            <a:r>
              <a:rPr sz="1050" b="0">
                <a:solidFill>
                  <a:srgbClr val="142B45"/>
                </a:solidFill>
                <a:latin typeface="Arial"/>
                <a:ea typeface="Arial"/>
                <a:cs typeface="Arial"/>
              </a:rPr>
              <a:t>The model controls when to speak</a:t>
            </a:r>
          </a:p>
        </p:txBody>
      </p:sp>
      <p:sp>
        <p:nvSpPr>
          <p:cNvPr id="32" name="Rounded Rectangle 31"/>
          <p:cNvSpPr/>
          <p:nvPr/>
        </p:nvSpPr>
        <p:spPr>
          <a:xfrm>
            <a:off x="438912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LOCAL PLAYBACK STOP</a:t>
            </a:r>
          </a:p>
        </p:txBody>
      </p:sp>
      <p:sp>
        <p:nvSpPr>
          <p:cNvPr id="34" name="TextBox 33"/>
          <p:cNvSpPr txBox="1"/>
          <p:nvPr/>
        </p:nvSpPr>
        <p:spPr>
          <a:xfrm>
            <a:off x="452628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AURA button · Qwen VAD demo</a:t>
            </a:r>
          </a:p>
          <a:p>
            <a:pPr algn="l">
              <a:lnSpc>
                <a:spcPct val="110000"/>
              </a:lnSpc>
              <a:spcAft>
                <a:spcPts val="0"/>
              </a:spcAft>
            </a:pPr>
            <a:r>
              <a:rPr sz="1050" b="0">
                <a:solidFill>
                  <a:srgbClr val="142B45"/>
                </a:solidFill>
                <a:latin typeface="Arial"/>
                <a:ea typeface="Arial"/>
                <a:cs typeface="Arial"/>
              </a:rPr>
              <a:t>Stops playback; inference may continue</a:t>
            </a:r>
          </a:p>
        </p:txBody>
      </p:sp>
      <p:sp>
        <p:nvSpPr>
          <p:cNvPr id="36" name="Rounded Rectangle 35"/>
          <p:cNvSpPr/>
          <p:nvPr/>
        </p:nvSpPr>
        <p:spPr>
          <a:xfrm>
            <a:off x="822960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SERVER CANCELLATION</a:t>
            </a:r>
          </a:p>
        </p:txBody>
      </p:sp>
      <p:sp>
        <p:nvSpPr>
          <p:cNvPr id="38" name="TextBox 37"/>
          <p:cNvSpPr txBox="1"/>
          <p:nvPr/>
        </p:nvSpPr>
        <p:spPr>
          <a:xfrm>
            <a:off x="836676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Qwen3-Omni + Server VAD*</a:t>
            </a:r>
          </a:p>
          <a:p>
            <a:pPr algn="l">
              <a:lnSpc>
                <a:spcPct val="110000"/>
              </a:lnSpc>
              <a:spcAft>
                <a:spcPts val="0"/>
              </a:spcAft>
            </a:pPr>
            <a:r>
              <a:rPr sz="1050" b="0">
                <a:solidFill>
                  <a:srgbClr val="142B45"/>
                </a:solidFill>
                <a:latin typeface="Arial"/>
                <a:ea typeface="Arial"/>
                <a:cs typeface="Arial"/>
              </a:rPr>
              <a:t>Cancels the active generation</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 Current demo examples, not shared model capabilities. Qwen VAD cancellation requires interrupt_response.</a:t>
            </a:r>
          </a:p>
        </p:txBody>
      </p:sp>
      <p:sp>
        <p:nvSpPr>
          <p:cNvPr id="200" name="PersonaPlex 200"/>
          <p:cNvSpPr/>
          <p:nvPr/>
        </p:nvSpPr>
        <p:spPr>
          <a:xfrm>
            <a:off x="548640" y="240487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22376" y="245516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PersonaPlex</a:t>
            </a:r>
          </a:p>
        </p:txBody>
      </p:sp>
      <p:sp>
        <p:nvSpPr>
          <p:cNvPr id="202" name="PersonaPlex 202"/>
          <p:cNvSpPr txBox="1"/>
          <p:nvPr/>
        </p:nvSpPr>
        <p:spPr>
          <a:xfrm>
            <a:off x="2807208" y="245516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Continuous speech in 80 ms frames</a:t>
            </a:r>
          </a:p>
          <a:p>
            <a:pPr algn="l">
              <a:lnSpc>
                <a:spcPct val="110000"/>
              </a:lnSpc>
              <a:spcAft>
                <a:spcPts val="0"/>
              </a:spcAft>
            </a:pPr>
            <a:r>
              <a:rPr sz="1180" b="0">
                <a:solidFill>
                  <a:srgbClr val="142B45"/>
                </a:solidFill>
                <a:latin typeface="Arial"/>
                <a:ea typeface="Arial"/>
                <a:cs typeface="Arial"/>
              </a:rPr>
              <a:t>No client commit or Server VAD needed</a:t>
            </a:r>
          </a:p>
        </p:txBody>
      </p:sp>
      <p:sp>
        <p:nvSpPr>
          <p:cNvPr id="203" name="PersonaPlex 203"/>
          <p:cNvSpPr txBox="1"/>
          <p:nvPr/>
        </p:nvSpPr>
        <p:spPr>
          <a:xfrm>
            <a:off x="7406640" y="245516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Listens while generating speech</a:t>
            </a:r>
          </a:p>
          <a:p>
            <a:pPr algn="l">
              <a:lnSpc>
                <a:spcPct val="110000"/>
              </a:lnSpc>
              <a:spcAft>
                <a:spcPts val="0"/>
              </a:spcAft>
            </a:pPr>
            <a:r>
              <a:rPr sz="1180" b="0">
                <a:solidFill>
                  <a:srgbClr val="142B45"/>
                </a:solidFill>
                <a:latin typeface="Arial"/>
                <a:ea typeface="Arial"/>
                <a:cs typeface="Arial"/>
              </a:rPr>
              <a:t>Voice and role stay fixed during the session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a:solidFill>
                  <a:srgbClr val="142B45"/>
                </a:solidFill>
                <a:latin typeface="Arial"/>
                <a:ea typeface="Arial"/>
                <a:cs typeface="Arial"/>
              </a:rPr>
              <a:t>Interfaces, interaction modes and model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12</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a:solidFill>
                  <a:srgbClr val="586B7E"/>
                </a:solidFill>
                <a:latin typeface="Arial"/>
                <a:ea typeface="Arial"/>
                <a:cs typeface="Arial"/>
              </a:rPr>
              <a:t>The interface carries the conversation; the execution mode determines how the model processes input.</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Interface</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Interaction</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Execution</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Models</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/v1/duplex  or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a:solidFill>
                  <a:srgbClr val="586B7E"/>
                </a:solidFill>
                <a:latin typeface="Arial"/>
                <a:ea typeface="Arial"/>
                <a:cs typeface="Arial"/>
              </a:rPr>
              <a:t>A request returns a response;</a:t>
            </a:r>
          </a:p>
          <a:p>
            <a:pPr algn="ctr">
              <a:lnSpc>
                <a:spcPct val="106000"/>
              </a:lnSpc>
              <a:spcAft>
                <a:spcPts val="0"/>
              </a:spcAft>
            </a:pPr>
            <a:r>
              <a:rPr sz="1400" b="0">
                <a:solidFill>
                  <a:srgbClr val="586B7E"/>
                </a:solidFill>
                <a:latin typeface="Arial"/>
                <a:ea typeface="Arial"/>
                <a:cs typeface="Arial"/>
              </a:rPr>
              <a:t>streaming is optional.</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Continuous input and output</a:t>
            </a:r>
          </a:p>
          <a:p>
            <a:pPr algn="ctr">
              <a:lnSpc>
                <a:spcPct val="106000"/>
              </a:lnSpc>
              <a:spcAft>
                <a:spcPts val="0"/>
              </a:spcAft>
            </a:pPr>
            <a:r>
              <a:rPr sz="1200" b="0">
                <a:solidFill>
                  <a:srgbClr val="586B7E"/>
                </a:solidFill>
                <a:latin typeface="Arial"/>
                <a:ea typeface="Arial"/>
                <a:cs typeface="Arial"/>
              </a:rPr>
              <a:t>within ongoing inference</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A new generation request</a:t>
            </a:r>
          </a:p>
          <a:p>
            <a:pPr algn="ctr">
              <a:lnSpc>
                <a:spcPct val="106000"/>
              </a:lnSpc>
              <a:spcAft>
                <a:spcPts val="0"/>
              </a:spcAft>
            </a:pPr>
            <a:r>
              <a:rPr sz="1200" b="0">
                <a:solidFill>
                  <a:srgbClr val="586B7E"/>
                </a:solidFill>
                <a:latin typeface="Arial"/>
                <a:ea typeface="Arial"/>
                <a:cs typeface="Arial"/>
              </a:rPr>
              <a:t>for each committed turn</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a:solidFill>
                  <a:srgbClr val="16304E"/>
                </a:solidFill>
                <a:latin typeface="Arial"/>
                <a:ea typeface="Arial"/>
                <a:cs typeface="Arial"/>
              </a:rPr>
              <a:t>Qwen3-Omni</a:t>
            </a:r>
          </a:p>
          <a:p>
            <a:pPr algn="ctr">
              <a:lnSpc>
                <a:spcPct val="106000"/>
              </a:lnSpc>
              <a:spcAft>
                <a:spcPts val="0"/>
              </a:spcAft>
            </a:pPr>
            <a:r>
              <a:rPr sz="1520" b="1">
                <a:solidFill>
                  <a:srgbClr val="16304E"/>
                </a:solidFill>
                <a:latin typeface="Arial"/>
                <a:ea typeface="Arial"/>
                <a:cs typeface="Arial"/>
              </a:rPr>
              <a:t>MiniCPM-o 4.5 (turn mode)</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a:solidFill>
                  <a:srgbClr val="586B7E"/>
                </a:solidFill>
                <a:latin typeface="Arial"/>
                <a:ea typeface="Arial"/>
                <a:cs typeface="Arial"/>
              </a:rPr>
              <a:t>Realtime also supports a separate turn-based path: /v1/realtime?duplex=0.</a:t>
            </a:r>
          </a:p>
        </p:txBody>
      </p:sp>
      <p:sp>
        <p:nvSpPr>
          <p:cNvPr id="236" name="OpenAI Realtime–based message protocol with vLLM-Omni extensions"/>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en-US">
                <a:solidFill>
                  <a:srgbClr val="16304E"/>
                </a:solidFill>
                <a:latin typeface="Arial"/>
                <a:ea typeface="Arial"/>
                <a:cs typeface="Arial"/>
              </a:rPr>
              <a:t>OpenAI Realtime–based message protocol with vLLM-Omni extensions</a:t>
            </a:r>
          </a:p>
        </p:txBody>
      </p:sp>
      <p:sp>
        <p:nvSpPr>
          <p:cNvPr id="237" name="Video input · Playback feedback · Session resume"/>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900" b="0" lang="en-US">
                <a:solidFill>
                  <a:srgbClr val="008E96"/>
                </a:solidFill>
                <a:latin typeface="Arial"/>
                <a:ea typeface="Arial"/>
                <a:cs typeface="Arial"/>
              </a:rPr>
              <a:t>Model-dependent extensions: video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Duplex WebSocket and Python sessions share engine-side control, model plugins and bounded output delivery.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12</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Unified duplex architecture, with clear roles at each layer</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APPLICATION / API PROCESS</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API / Python event loop</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a:solidFill>
                  <a:srgbClr val="586B7E"/>
                </a:solidFill>
                <a:latin typeface="Arial"/>
                <a:ea typeface="Arial"/>
                <a:cs typeface="Arial"/>
              </a:rPr>
              <a:t>Wire I/O · attach</a:t>
            </a:r>
          </a:p>
          <a:p>
            <a:pPr algn="l">
              <a:lnSpc>
                <a:spcPct val="110000"/>
              </a:lnSpc>
              <a:spcAft>
                <a:spcPts val="0"/>
              </a:spcAft>
            </a:pPr>
            <a:r>
              <a:rPr sz="1100" b="0">
                <a:solidFill>
                  <a:srgbClr val="586B7E"/>
                </a:solidFill>
                <a:latin typeface="Arial"/>
                <a:ea typeface="Arial"/>
                <a:cs typeface="Arial"/>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handle · session API</a:t>
            </a:r>
          </a:p>
          <a:p>
            <a:pPr algn="l">
              <a:lnSpc>
                <a:spcPct val="110000"/>
              </a:lnSpc>
              <a:spcAft>
                <a:spcPts val="0"/>
              </a:spcAft>
            </a:pPr>
            <a:r>
              <a:rPr sz="969" b="0">
                <a:solidFill>
                  <a:srgbClr val="586B7E"/>
                </a:solidFill>
                <a:latin typeface="Arial"/>
                <a:ea typeface="Arial"/>
                <a:cs typeface="Arial"/>
              </a:rPr>
              <a:t>event stream</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Create / close / resume; manage leases</a:t>
            </a:r>
          </a:p>
          <a:p>
            <a:pPr algn="l">
              <a:lnSpc>
                <a:spcPct val="110000"/>
              </a:lnSpc>
              <a:spcAft>
                <a:spcPts val="0"/>
              </a:spcAft>
            </a:pPr>
            <a:r>
              <a:rPr sz="1050" b="0">
                <a:solidFill>
                  <a:srgbClr val="142B45"/>
                </a:solidFill>
                <a:latin typeface="Arial"/>
                <a:ea typeface="Arial"/>
                <a:cs typeface="Arial"/>
              </a:rPr>
              <a:t>2. Check capacity / backlog; route commands</a:t>
            </a:r>
          </a:p>
          <a:p>
            <a:pPr algn="l">
              <a:lnSpc>
                <a:spcPct val="110000"/>
              </a:lnSpc>
              <a:spcAft>
                <a:spcPts val="0"/>
              </a:spcAft>
            </a:pPr>
            <a:r>
              <a:rPr sz="1050" b="0">
                <a:solidFill>
                  <a:srgbClr val="142B45"/>
                </a:solidFill>
                <a:latin typeface="Arial"/>
                <a:ea typeface="Arial"/>
                <a:cs typeface="Arial"/>
              </a:rPr>
              <a:t>3. Bound session output; reap expired sessions</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One runner per session; ordered mailbox</a:t>
            </a:r>
          </a:p>
          <a:p>
            <a:pPr algn="l">
              <a:lnSpc>
                <a:spcPct val="110000"/>
              </a:lnSpc>
              <a:spcAft>
                <a:spcPts val="0"/>
              </a:spcAft>
            </a:pPr>
            <a:r>
              <a:rPr sz="1050" b="0">
                <a:solidFill>
                  <a:srgbClr val="142B45"/>
                </a:solidFill>
                <a:latin typeface="Arial"/>
                <a:ea typeface="Arial"/>
                <a:cs typeface="Arial"/>
              </a:rPr>
              <a:t>2. Handle input, commit, cancel, Stage output</a:t>
            </a:r>
          </a:p>
          <a:p>
            <a:pPr algn="l">
              <a:lnSpc>
                <a:spcPct val="110000"/>
              </a:lnSpc>
              <a:spcAft>
                <a:spcPts val="0"/>
              </a:spcAft>
            </a:pPr>
            <a:r>
              <a:rPr sz="1050" b="0">
                <a:solidFill>
                  <a:srgbClr val="142B45"/>
                </a:solidFill>
                <a:latin typeface="Arial"/>
                <a:ea typeface="Arial"/>
                <a:cs typeface="Arial"/>
              </a:rPr>
              <a:t>3. Advance response, history and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Capabilities; runtime / sampling settings</a:t>
            </a:r>
          </a:p>
          <a:p>
            <a:pPr algn="l">
              <a:lnSpc>
                <a:spcPct val="110000"/>
              </a:lnSpc>
              <a:spcAft>
                <a:spcPts val="0"/>
              </a:spcAft>
            </a:pPr>
            <a:r>
              <a:rPr sz="1050" b="0">
                <a:solidFill>
                  <a:srgbClr val="142B45"/>
                </a:solidFill>
                <a:latin typeface="Arial"/>
                <a:ea typeface="Arial"/>
                <a:cs typeface="Arial"/>
              </a:rPr>
              <a:t>2. Session buffers; chunk / turn input</a:t>
            </a:r>
          </a:p>
          <a:p>
            <a:pPr algn="l">
              <a:lnSpc>
                <a:spcPct val="110000"/>
              </a:lnSpc>
              <a:spcAft>
                <a:spcPts val="0"/>
              </a:spcAft>
            </a:pPr>
            <a:r>
              <a:rPr sz="1050" b="0">
                <a:solidFill>
                  <a:srgbClr val="142B45"/>
                </a:solidFill>
                <a:latin typeface="Arial"/>
                <a:ea typeface="Arial"/>
                <a:cs typeface="Arial"/>
              </a:rPr>
              <a:t>3. Interpret output; set downstream Stage policy</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command</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buffer</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a:solidFill>
                  <a:srgbClr val="586B7E"/>
                </a:solidFill>
                <a:latin typeface="Arial"/>
                <a:ea typeface="Arial"/>
                <a:cs typeface="Arial"/>
              </a:rPr>
              <a:t>same process · separate loops</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API Server: protocol, attachment and event replay</a:t>
            </a:r>
          </a:p>
          <a:p>
            <a:pPr algn="l">
              <a:lnSpc>
                <a:spcPct val="110000"/>
              </a:lnSpc>
              <a:spcAft>
                <a:spcPts val="0"/>
              </a:spcAft>
            </a:pPr>
            <a:r>
              <a:rPr sz="1200" b="1">
                <a:solidFill>
                  <a:srgbClr val="142B45"/>
                </a:solidFill>
                <a:latin typeface="Arial"/>
                <a:ea typeface="Arial"/>
                <a:cs typeface="Arial"/>
              </a:rPr>
              <a:t>EngineClient: handles, event streams and control results</a:t>
            </a:r>
          </a:p>
          <a:p>
            <a:pPr algn="l">
              <a:lnSpc>
                <a:spcPct val="110000"/>
              </a:lnSpc>
              <a:spcAft>
                <a:spcPts val="0"/>
              </a:spcAft>
            </a:pPr>
            <a:r>
              <a:rPr sz="1200" b="1">
                <a:solidFill>
                  <a:srgbClr val="142B45"/>
                </a:solidFill>
                <a:latin typeface="Arial"/>
                <a:ea typeface="Arial"/>
                <a:cs typeface="Arial"/>
              </a:rPr>
              <a:t>Duplex Orchestrator: session execution and Stage dispatch</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requests</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a:solidFill>
                  <a:srgbClr val="FFFFFF"/>
                </a:solidFill>
                <a:latin typeface="Arial"/>
                <a:ea typeface="Arial"/>
                <a:cs typeface="Arial"/>
              </a:rPr>
              <a:t>Stage execution processes</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a:solidFill>
                  <a:srgbClr val="B7C8D9"/>
                </a:solidFill>
                <a:latin typeface="Arial"/>
                <a:ea typeface="Arial"/>
                <a:cs typeface="Arial"/>
              </a:rPr>
              <a:t>Scheduler + workers · compute, KV and stream caches</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a:solidFill>
                  <a:srgbClr val="586B7E"/>
                </a:solidFill>
                <a:latin typeface="Arial"/>
                <a:ea typeface="Arial"/>
                <a:cs typeface="Arial"/>
              </a:rPr>
              <a:t>open / close / resume</a:t>
            </a:r>
          </a:p>
          <a:p>
            <a:pPr algn="ctr">
              <a:lnSpc>
                <a:spcPct val="110000"/>
              </a:lnSpc>
              <a:spcAft>
                <a:spcPts val="0"/>
              </a:spcAft>
            </a:pPr>
            <a:r>
              <a:rPr sz="860" b="0">
                <a:solidFill>
                  <a:srgbClr val="586B7E"/>
                </a:solidFill>
                <a:latin typeface="Arial"/>
                <a:ea typeface="Arial"/>
                <a:cs typeface="Arial"/>
              </a:rPr>
              <a:t>success or error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Full-duplex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API Server handles the wire protocol; EngineClient exposes session handles; Runner / Plugin drives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12</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API / Python event loop</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Dedicated orchestrator thread</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Worker processes</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Capture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workers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Compute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a:solidFill>
                  <a:srgbClr val="586B7E"/>
                </a:solidFill>
                <a:latin typeface="Arial"/>
                <a:ea typeface="Arial"/>
                <a:cs typeface="Arial"/>
              </a:rPr>
              <a:t>Session setup: EngineClient creates handle + buffer → Manager admits the session and shares that buffer → result returns</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audio / video</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Enqueue to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Plugin plan → Stage request</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Next input chunk arrives while Stage computation / output continues</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Per-session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text / audio</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a:solidFill>
                  <a:srgbClr val="AD761E"/>
                </a:solidFill>
                <a:latin typeface="Arial"/>
                <a:ea typeface="Arial"/>
                <a:cs typeface="Arial"/>
              </a:rPr>
              <a:t>ACK → update playback progress</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300" b="0">
                <a:solidFill>
                  <a:srgbClr val="142B45"/>
                </a:solidFill>
                <a:latin typeface="Arial"/>
                <a:ea typeface="Arial"/>
                <a:cs typeface="Arial"/>
              </a:rPr>
              <a:t>Continuous input · Bounded output per session · Playback progress reported separately</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a:solidFill>
                  <a:srgbClr val="586B7E"/>
                </a:solidFill>
                <a:latin typeface="Arial"/>
                <a:ea typeface="Arial"/>
                <a:cs typeface="Arial"/>
              </a:rPr>
              <a:t>Session event ACKs stay at the API. Playback ACKs reach the Runner; history updates depend on model support.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State handling: live computation and conversation history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PersonaPlex and MiniCPM retain live state; AURA and Qwen3-Omni rebuild input per committed turn.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12</a:t>
            </a:r>
          </a:p>
        </p:txBody>
      </p:sp>
      <p:sp>
        <p:nvSpPr>
          <p:cNvPr id="12" name="TextBox 11"/>
          <p:cNvSpPr txBox="1"/>
          <p:nvPr/>
        </p:nvSpPr>
        <p:spPr>
          <a:xfrm>
            <a:off x="713232" y="2093976"/>
            <a:ext cx="1938528"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770632" y="2093976"/>
            <a:ext cx="2578608"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INPUT HANDLING</a:t>
            </a:r>
          </a:p>
        </p:txBody>
      </p:sp>
      <p:sp>
        <p:nvSpPr>
          <p:cNvPr id="14" name="TextBox 13"/>
          <p:cNvSpPr txBox="1"/>
          <p:nvPr/>
        </p:nvSpPr>
        <p:spPr>
          <a:xfrm>
            <a:off x="5532120" y="2093976"/>
            <a:ext cx="571500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STATE RETAINED ACROSS INPUTS</a:t>
            </a:r>
          </a:p>
        </p:txBody>
      </p:sp>
      <p:sp>
        <p:nvSpPr>
          <p:cNvPr id="15" name="Rounded Rectangle 14"/>
          <p:cNvSpPr/>
          <p:nvPr/>
        </p:nvSpPr>
        <p:spPr>
          <a:xfrm>
            <a:off x="548640" y="2688336"/>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2720340"/>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MiniCPM-o 4.5</a:t>
            </a:r>
          </a:p>
        </p:txBody>
      </p:sp>
      <p:sp>
        <p:nvSpPr>
          <p:cNvPr id="17" name="TextBox 16"/>
          <p:cNvSpPr txBox="1"/>
          <p:nvPr/>
        </p:nvSpPr>
        <p:spPr>
          <a:xfrm>
            <a:off x="2770632" y="2720340"/>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Chunk → continue live request</a:t>
            </a:r>
          </a:p>
        </p:txBody>
      </p:sp>
      <p:sp>
        <p:nvSpPr>
          <p:cNvPr id="18" name="TextBox 17"/>
          <p:cNvSpPr txBox="1"/>
          <p:nvPr/>
        </p:nvSpPr>
        <p:spPr>
          <a:xfrm>
            <a:off x="5532120" y="2720340"/>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LLM KV / audio state; configurable sliding window</a:t>
            </a:r>
          </a:p>
        </p:txBody>
      </p:sp>
      <p:sp>
        <p:nvSpPr>
          <p:cNvPr id="19" name="Rounded Rectangle 18"/>
          <p:cNvSpPr/>
          <p:nvPr/>
        </p:nvSpPr>
        <p:spPr>
          <a:xfrm>
            <a:off x="548640" y="3017520"/>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3049524"/>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AURA</a:t>
            </a:r>
          </a:p>
        </p:txBody>
      </p:sp>
      <p:sp>
        <p:nvSpPr>
          <p:cNvPr id="21" name="TextBox 20"/>
          <p:cNvSpPr txBox="1"/>
          <p:nvPr/>
        </p:nvSpPr>
        <p:spPr>
          <a:xfrm>
            <a:off x="2770632" y="3049524"/>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Commit turn → new request</a:t>
            </a:r>
          </a:p>
        </p:txBody>
      </p:sp>
      <p:sp>
        <p:nvSpPr>
          <p:cNvPr id="22" name="TextBox 21"/>
          <p:cNvSpPr txBox="1"/>
          <p:nvPr/>
        </p:nvSpPr>
        <p:spPr>
          <a:xfrm>
            <a:off x="5532120" y="3049524"/>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ASR text, video clips and assistant text; rebuild prompt each turn</a:t>
            </a:r>
          </a:p>
        </p:txBody>
      </p:sp>
      <p:sp>
        <p:nvSpPr>
          <p:cNvPr id="23" name="Rounded Rectangle 22"/>
          <p:cNvSpPr/>
          <p:nvPr/>
        </p:nvSpPr>
        <p:spPr>
          <a:xfrm>
            <a:off x="548640" y="3346704"/>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13232" y="3378708"/>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Qwen3-Omni</a:t>
            </a:r>
          </a:p>
        </p:txBody>
      </p:sp>
      <p:sp>
        <p:nvSpPr>
          <p:cNvPr id="25" name="TextBox 24"/>
          <p:cNvSpPr txBox="1"/>
          <p:nvPr/>
        </p:nvSpPr>
        <p:spPr>
          <a:xfrm>
            <a:off x="2770632" y="3378708"/>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Commit turn → new request</a:t>
            </a:r>
          </a:p>
        </p:txBody>
      </p:sp>
      <p:sp>
        <p:nvSpPr>
          <p:cNvPr id="26" name="TextBox 25"/>
          <p:cNvSpPr txBox="1"/>
          <p:nvPr/>
        </p:nvSpPr>
        <p:spPr>
          <a:xfrm>
            <a:off x="5532120" y="3378708"/>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User audio, image frames and text; rebuild prompt each turn</a:t>
            </a:r>
          </a:p>
        </p:txBody>
      </p:sp>
      <p:sp>
        <p:nvSpPr>
          <p:cNvPr id="27" name="Rounded Rectangle 26"/>
          <p:cNvSpPr/>
          <p:nvPr/>
        </p:nvSpPr>
        <p:spPr>
          <a:xfrm>
            <a:off x="548640" y="3776472"/>
            <a:ext cx="11082528" cy="69494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22376" y="3867912"/>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PersonaPlex</a:t>
            </a:r>
          </a:p>
        </p:txBody>
      </p:sp>
      <p:sp>
        <p:nvSpPr>
          <p:cNvPr id="29" name="TextBox 28"/>
          <p:cNvSpPr txBox="1"/>
          <p:nvPr/>
        </p:nvSpPr>
        <p:spPr>
          <a:xfrm>
            <a:off x="722376" y="4178808"/>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327CEC"/>
                </a:solidFill>
                <a:latin typeface="Arial"/>
                <a:ea typeface="Arial"/>
                <a:cs typeface="Arial"/>
              </a:rPr>
              <a:t>native duplex · 80 ms frames</a:t>
            </a:r>
          </a:p>
        </p:txBody>
      </p:sp>
      <p:sp>
        <p:nvSpPr>
          <p:cNvPr id="31" name="Rounded Rectangle 30"/>
          <p:cNvSpPr/>
          <p:nvPr/>
        </p:nvSpPr>
        <p:spPr>
          <a:xfrm>
            <a:off x="2898648" y="3835908"/>
            <a:ext cx="4974336"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971800" y="3867912"/>
            <a:ext cx="4828032"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Stage 0 · Talker</a:t>
            </a:r>
          </a:p>
        </p:txBody>
      </p:sp>
      <p:sp>
        <p:nvSpPr>
          <p:cNvPr id="33" name="TextBox 32"/>
          <p:cNvSpPr txBox="1"/>
          <p:nvPr/>
        </p:nvSpPr>
        <p:spPr>
          <a:xfrm>
            <a:off x="2953512" y="4091940"/>
            <a:ext cx="4864608"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Mimi encoder → temporal model + Depformer</a:t>
            </a:r>
          </a:p>
        </p:txBody>
      </p:sp>
      <p:sp>
        <p:nvSpPr>
          <p:cNvPr id="37" name="Rounded Rectangle 36"/>
          <p:cNvSpPr/>
          <p:nvPr/>
        </p:nvSpPr>
        <p:spPr>
          <a:xfrm>
            <a:off x="8897112" y="3835908"/>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942832" y="3867912"/>
            <a:ext cx="2130552"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Stage 1 · Code2Wav</a:t>
            </a:r>
          </a:p>
        </p:txBody>
      </p:sp>
      <p:sp>
        <p:nvSpPr>
          <p:cNvPr id="39" name="TextBox 38"/>
          <p:cNvSpPr txBox="1"/>
          <p:nvPr/>
        </p:nvSpPr>
        <p:spPr>
          <a:xfrm>
            <a:off x="8951976" y="4091940"/>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Mimi decoder</a:t>
            </a:r>
          </a:p>
        </p:txBody>
      </p:sp>
      <p:cxnSp>
        <p:nvCxnSpPr>
          <p:cNvPr id="42" name="Connector 41"/>
          <p:cNvCxnSpPr/>
          <p:nvPr/>
        </p:nvCxnSpPr>
        <p:spPr>
          <a:xfrm>
            <a:off x="7946136" y="4041648"/>
            <a:ext cx="87782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2898648" y="4311396"/>
            <a:ext cx="8238744" cy="146304"/>
          </a:xfrm>
          <a:prstGeom prst="rect">
            <a:avLst/>
          </a:prstGeom>
          <a:noFill/>
        </p:spPr>
        <p:txBody>
          <a:bodyPr wrap="square" lIns="0" rIns="0" tIns="0" bIns="0" anchor="t">
            <a:spAutoFit/>
          </a:bodyPr>
          <a:lstStyle/>
          <a:p>
            <a:pPr algn="l">
              <a:lnSpc>
                <a:spcPct val="110000"/>
              </a:lnSpc>
              <a:spcAft>
                <a:spcPts val="0"/>
              </a:spcAft>
            </a:pPr>
            <a:r>
              <a:rPr sz="930" b="0">
                <a:solidFill>
                  <a:srgbClr val="142B45"/>
                </a:solidFill>
                <a:latin typeface="Arial"/>
                <a:ea typeface="Arial"/>
                <a:cs typeface="Arial"/>
              </a:rPr>
              <a:t>Stage 0 retains KV and encoder state; Stage 1 retains decoder state.</a:t>
            </a:r>
          </a:p>
        </p:txBody>
      </p:sp>
      <p:sp>
        <p:nvSpPr>
          <p:cNvPr id="44" name="Rounded Rectangle 43"/>
          <p:cNvSpPr/>
          <p:nvPr/>
        </p:nvSpPr>
        <p:spPr>
          <a:xfrm>
            <a:off x="548640" y="5276088"/>
            <a:ext cx="11082528" cy="694944"/>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22376" y="5367528"/>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008E96"/>
                </a:solidFill>
                <a:latin typeface="Arial"/>
                <a:ea typeface="Arial"/>
                <a:cs typeface="Arial"/>
              </a:rPr>
              <a:t>AURA</a:t>
            </a:r>
          </a:p>
        </p:txBody>
      </p:sp>
      <p:sp>
        <p:nvSpPr>
          <p:cNvPr id="46" name="TextBox 45"/>
          <p:cNvSpPr txBox="1"/>
          <p:nvPr/>
        </p:nvSpPr>
        <p:spPr>
          <a:xfrm>
            <a:off x="722376" y="5678424"/>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008E96"/>
                </a:solidFill>
                <a:latin typeface="Arial"/>
                <a:ea typeface="Arial"/>
                <a:cs typeface="Arial"/>
              </a:rPr>
              <a:t>turn-based · audio/video commit</a:t>
            </a:r>
          </a:p>
        </p:txBody>
      </p:sp>
      <p:sp>
        <p:nvSpPr>
          <p:cNvPr id="47" name="Rounded Rectangle 46"/>
          <p:cNvSpPr/>
          <p:nvPr/>
        </p:nvSpPr>
        <p:spPr>
          <a:xfrm>
            <a:off x="289864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94436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ASR</a:t>
            </a:r>
          </a:p>
        </p:txBody>
      </p:sp>
      <p:sp>
        <p:nvSpPr>
          <p:cNvPr id="49" name="TextBox 48"/>
          <p:cNvSpPr txBox="1"/>
          <p:nvPr/>
        </p:nvSpPr>
        <p:spPr>
          <a:xfrm>
            <a:off x="292608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Audio → text</a:t>
            </a:r>
          </a:p>
        </p:txBody>
      </p:sp>
      <p:cxnSp>
        <p:nvCxnSpPr>
          <p:cNvPr id="50" name="Connector 49"/>
          <p:cNvCxnSpPr/>
          <p:nvPr/>
        </p:nvCxnSpPr>
        <p:spPr>
          <a:xfrm>
            <a:off x="460857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Rounded Rectangle 50"/>
          <p:cNvSpPr/>
          <p:nvPr/>
        </p:nvSpPr>
        <p:spPr>
          <a:xfrm>
            <a:off x="509320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13892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Thinker</a:t>
            </a:r>
          </a:p>
        </p:txBody>
      </p:sp>
      <p:sp>
        <p:nvSpPr>
          <p:cNvPr id="53" name="TextBox 52"/>
          <p:cNvSpPr txBox="1"/>
          <p:nvPr/>
        </p:nvSpPr>
        <p:spPr>
          <a:xfrm>
            <a:off x="512064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Text + video + history</a:t>
            </a:r>
          </a:p>
        </p:txBody>
      </p:sp>
      <p:cxnSp>
        <p:nvCxnSpPr>
          <p:cNvPr id="54" name="Connector 53"/>
          <p:cNvCxnSpPr/>
          <p:nvPr/>
        </p:nvCxnSpPr>
        <p:spPr>
          <a:xfrm>
            <a:off x="680313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ounded Rectangle 54"/>
          <p:cNvSpPr/>
          <p:nvPr/>
        </p:nvSpPr>
        <p:spPr>
          <a:xfrm>
            <a:off x="728776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33348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Talker</a:t>
            </a:r>
          </a:p>
        </p:txBody>
      </p:sp>
      <p:sp>
        <p:nvSpPr>
          <p:cNvPr id="57" name="TextBox 56"/>
          <p:cNvSpPr txBox="1"/>
          <p:nvPr/>
        </p:nvSpPr>
        <p:spPr>
          <a:xfrm>
            <a:off x="731520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Sentence speech tokens</a:t>
            </a:r>
          </a:p>
        </p:txBody>
      </p:sp>
      <p:cxnSp>
        <p:nvCxnSpPr>
          <p:cNvPr id="58" name="Connector 57"/>
          <p:cNvCxnSpPr/>
          <p:nvPr/>
        </p:nvCxnSpPr>
        <p:spPr>
          <a:xfrm>
            <a:off x="899769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9" name="Rounded Rectangle 58"/>
          <p:cNvSpPr/>
          <p:nvPr/>
        </p:nvSpPr>
        <p:spPr>
          <a:xfrm>
            <a:off x="948232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52804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Code2Wav</a:t>
            </a:r>
          </a:p>
        </p:txBody>
      </p:sp>
      <p:sp>
        <p:nvSpPr>
          <p:cNvPr id="61" name="TextBox 60"/>
          <p:cNvSpPr txBox="1"/>
          <p:nvPr/>
        </p:nvSpPr>
        <p:spPr>
          <a:xfrm>
            <a:off x="950976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Audio chunks</a:t>
            </a:r>
          </a:p>
        </p:txBody>
      </p:sp>
      <p:sp>
        <p:nvSpPr>
          <p:cNvPr id="62" name="TextBox 61"/>
          <p:cNvSpPr txBox="1"/>
          <p:nvPr/>
        </p:nvSpPr>
        <p:spPr>
          <a:xfrm>
            <a:off x="2898648" y="5811012"/>
            <a:ext cx="8275320" cy="146304"/>
          </a:xfrm>
          <a:prstGeom prst="rect">
            <a:avLst/>
          </a:prstGeom>
          <a:noFill/>
        </p:spPr>
        <p:txBody>
          <a:bodyPr wrap="square" lIns="0" rIns="0" tIns="0" bIns="0" anchor="t">
            <a:spAutoFit/>
          </a:bodyPr>
          <a:lstStyle/>
          <a:p>
            <a:pPr algn="l">
              <a:lnSpc>
                <a:spcPct val="110000"/>
              </a:lnSpc>
              <a:spcAft>
                <a:spcPts val="0"/>
              </a:spcAft>
            </a:pPr>
            <a:r>
              <a:rPr sz="930" b="0">
                <a:solidFill>
                  <a:srgbClr val="142B45"/>
                </a:solidFill>
                <a:latin typeface="Arial"/>
                <a:ea typeface="Arial"/>
                <a:cs typeface="Arial"/>
              </a:rPr>
              <a:t>Qwen3-Omni is also turn-based: Thinker → Talker → Code2Wav, with no separate ASR Stage.</a:t>
            </a:r>
          </a:p>
        </p:txBody>
      </p:sp>
      <p:sp>
        <p:nvSpPr>
          <p:cNvPr id="63" name="TextBox 62"/>
          <p:cNvSpPr txBox="1"/>
          <p:nvPr/>
        </p:nvSpPr>
        <p:spPr>
          <a:xfrm>
            <a:off x="722376" y="6126480"/>
            <a:ext cx="10753344" cy="283464"/>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Stage = one model-compute step; Replica = an execution instance of that Stage.</a:t>
            </a:r>
          </a:p>
          <a:p>
            <a:pPr algn="l">
              <a:lnSpc>
                <a:spcPct val="110000"/>
              </a:lnSpc>
              <a:spcAft>
                <a:spcPts val="0"/>
              </a:spcAft>
            </a:pPr>
            <a:r>
              <a:rPr sz="1000" b="0">
                <a:solidFill>
                  <a:srgbClr val="586B7E"/>
                </a:solidFill>
                <a:latin typeface="Arial"/>
                <a:ea typeface="Arial"/>
                <a:cs typeface="Arial"/>
              </a:rPr>
              <a:t>PersonaPlex reuses live request state; explicit cancel starts fresh conversation context.</a:t>
            </a:r>
          </a:p>
        </p:txBody>
      </p:sp>
      <p:sp>
        <p:nvSpPr>
          <p:cNvPr id="200" name="PersonaPlex 200"/>
          <p:cNvSpPr/>
          <p:nvPr/>
        </p:nvSpPr>
        <p:spPr>
          <a:xfrm>
            <a:off x="548640" y="2359152"/>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13232" y="2391156"/>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PersonaPlex</a:t>
            </a:r>
          </a:p>
        </p:txBody>
      </p:sp>
      <p:sp>
        <p:nvSpPr>
          <p:cNvPr id="202" name="PersonaPlex 202"/>
          <p:cNvSpPr txBox="1"/>
          <p:nvPr/>
        </p:nvSpPr>
        <p:spPr>
          <a:xfrm>
            <a:off x="2770632" y="2391156"/>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Audio frame → live request</a:t>
            </a:r>
          </a:p>
        </p:txBody>
      </p:sp>
      <p:sp>
        <p:nvSpPr>
          <p:cNvPr id="203" name="PersonaPlex 203"/>
          <p:cNvSpPr txBox="1"/>
          <p:nvPr/>
        </p:nvSpPr>
        <p:spPr>
          <a:xfrm>
            <a:off x="5532120" y="2391156"/>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Temporal KV + streaming Mimi encoder / decoder state</a:t>
            </a:r>
          </a:p>
        </p:txBody>
      </p:sp>
      <p:sp>
        <p:nvSpPr>
          <p:cNvPr id="327" name="Restored MiniCPM workflow 27"/>
          <p:cNvSpPr/>
          <p:nvPr/>
        </p:nvSpPr>
        <p:spPr>
          <a:xfrm>
            <a:off x="548640" y="4526280"/>
            <a:ext cx="11082528" cy="69494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Restored MiniCPM workflow 28"/>
          <p:cNvSpPr txBox="1"/>
          <p:nvPr/>
        </p:nvSpPr>
        <p:spPr>
          <a:xfrm>
            <a:off x="722376" y="4617720"/>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MiniCPM-o 4.5</a:t>
            </a:r>
          </a:p>
        </p:txBody>
      </p:sp>
      <p:sp>
        <p:nvSpPr>
          <p:cNvPr id="329" name="Restored MiniCPM workflow 29"/>
          <p:cNvSpPr txBox="1"/>
          <p:nvPr/>
        </p:nvSpPr>
        <p:spPr>
          <a:xfrm>
            <a:off x="722376" y="4928616"/>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327CEC"/>
                </a:solidFill>
                <a:latin typeface="Arial"/>
                <a:ea typeface="Arial"/>
                <a:cs typeface="Arial"/>
              </a:rPr>
              <a:t>native duplex · audio/video</a:t>
            </a:r>
          </a:p>
        </p:txBody>
      </p:sp>
      <p:sp>
        <p:nvSpPr>
          <p:cNvPr id="331" name="Restored MiniCPM workflow 31"/>
          <p:cNvSpPr/>
          <p:nvPr/>
        </p:nvSpPr>
        <p:spPr>
          <a:xfrm>
            <a:off x="2898648"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Restored MiniCPM workflow 32"/>
          <p:cNvSpPr txBox="1"/>
          <p:nvPr/>
        </p:nvSpPr>
        <p:spPr>
          <a:xfrm>
            <a:off x="2971800"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Multimodal LLM</a:t>
            </a:r>
          </a:p>
        </p:txBody>
      </p:sp>
      <p:sp>
        <p:nvSpPr>
          <p:cNvPr id="333" name="Restored MiniCPM workflow 33"/>
          <p:cNvSpPr txBox="1"/>
          <p:nvPr/>
        </p:nvSpPr>
        <p:spPr>
          <a:xfrm>
            <a:off x="2953512"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LLM KV + streaming audio state</a:t>
            </a:r>
          </a:p>
        </p:txBody>
      </p:sp>
      <p:sp>
        <p:nvSpPr>
          <p:cNvPr id="334" name="Restored MiniCPM workflow 34"/>
          <p:cNvSpPr/>
          <p:nvPr/>
        </p:nvSpPr>
        <p:spPr>
          <a:xfrm>
            <a:off x="5897880"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Restored MiniCPM workflow 35"/>
          <p:cNvSpPr txBox="1"/>
          <p:nvPr/>
        </p:nvSpPr>
        <p:spPr>
          <a:xfrm>
            <a:off x="5971032"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Talker</a:t>
            </a:r>
          </a:p>
        </p:txBody>
      </p:sp>
      <p:sp>
        <p:nvSpPr>
          <p:cNvPr id="336" name="Restored MiniCPM workflow 36"/>
          <p:cNvSpPr txBox="1"/>
          <p:nvPr/>
        </p:nvSpPr>
        <p:spPr>
          <a:xfrm>
            <a:off x="5952744"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Per-request TTS state</a:t>
            </a:r>
          </a:p>
        </p:txBody>
      </p:sp>
      <p:sp>
        <p:nvSpPr>
          <p:cNvPr id="337" name="Restored MiniCPM workflow 37"/>
          <p:cNvSpPr/>
          <p:nvPr/>
        </p:nvSpPr>
        <p:spPr>
          <a:xfrm>
            <a:off x="8897112"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8" name="Restored MiniCPM workflow 38"/>
          <p:cNvSpPr txBox="1"/>
          <p:nvPr/>
        </p:nvSpPr>
        <p:spPr>
          <a:xfrm>
            <a:off x="8970264"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Code2Wav</a:t>
            </a:r>
          </a:p>
        </p:txBody>
      </p:sp>
      <p:sp>
        <p:nvSpPr>
          <p:cNvPr id="339" name="Restored MiniCPM workflow 39"/>
          <p:cNvSpPr txBox="1"/>
          <p:nvPr/>
        </p:nvSpPr>
        <p:spPr>
          <a:xfrm>
            <a:off x="8951976"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Decoder cache</a:t>
            </a:r>
          </a:p>
        </p:txBody>
      </p:sp>
      <p:cxnSp>
        <p:nvCxnSpPr>
          <p:cNvPr id="340" name="Restored MiniCPM workflow 40"/>
          <p:cNvCxnSpPr/>
          <p:nvPr/>
        </p:nvCxnSpPr>
        <p:spPr>
          <a:xfrm>
            <a:off x="5157216" y="4791456"/>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1" name="Restored MiniCPM workflow 41"/>
          <p:cNvSpPr txBox="1"/>
          <p:nvPr/>
        </p:nvSpPr>
        <p:spPr>
          <a:xfrm>
            <a:off x="5175504" y="4590288"/>
            <a:ext cx="612648" cy="146304"/>
          </a:xfrm>
          <a:prstGeom prst="rect">
            <a:avLst/>
          </a:prstGeom>
          <a:noFill/>
        </p:spPr>
        <p:txBody>
          <a:bodyPr wrap="square" lIns="0" rIns="0" tIns="0" bIns="0" anchor="t">
            <a:spAutoFit/>
          </a:bodyPr>
          <a:lstStyle/>
          <a:p>
            <a:pPr algn="ctr">
              <a:lnSpc>
                <a:spcPct val="110000"/>
              </a:lnSpc>
              <a:spcAft>
                <a:spcPts val="0"/>
              </a:spcAft>
            </a:pPr>
            <a:r>
              <a:rPr sz="860" b="0">
                <a:solidFill>
                  <a:srgbClr val="327CEC"/>
                </a:solidFill>
                <a:latin typeface="Arial"/>
                <a:ea typeface="Arial"/>
                <a:cs typeface="Arial"/>
              </a:rPr>
              <a:t>SPEAK</a:t>
            </a:r>
          </a:p>
        </p:txBody>
      </p:sp>
      <p:cxnSp>
        <p:nvCxnSpPr>
          <p:cNvPr id="342" name="Restored MiniCPM workflow 42"/>
          <p:cNvCxnSpPr/>
          <p:nvPr/>
        </p:nvCxnSpPr>
        <p:spPr>
          <a:xfrm>
            <a:off x="8156448" y="4791456"/>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3" name="Restored MiniCPM workflow 43"/>
          <p:cNvSpPr txBox="1"/>
          <p:nvPr/>
        </p:nvSpPr>
        <p:spPr>
          <a:xfrm>
            <a:off x="2898648" y="5061204"/>
            <a:ext cx="8238744" cy="146304"/>
          </a:xfrm>
          <a:prstGeom prst="rect">
            <a:avLst/>
          </a:prstGeom>
          <a:noFill/>
        </p:spPr>
        <p:txBody>
          <a:bodyPr wrap="square" lIns="0" rIns="0" tIns="0" bIns="0" anchor="t">
            <a:spAutoFit/>
          </a:bodyPr>
          <a:lstStyle/>
          <a:p>
            <a:pPr algn="l">
              <a:lnSpc>
                <a:spcPct val="110000"/>
              </a:lnSpc>
              <a:spcAft>
                <a:spcPts val="0"/>
              </a:spcAft>
            </a:pPr>
            <a:r>
              <a:rPr sz="930" b="0">
                <a:solidFill>
                  <a:srgbClr val="142B45"/>
                </a:solidFill>
                <a:latin typeface="Arial"/>
                <a:ea typeface="Arial"/>
                <a:cs typeface="Arial"/>
              </a:rPr>
              <a:t>LISTEN keeps the live request; later input reuses its bound Replica and retained KV.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Connection recovery across models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12</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a:solidFill>
                  <a:srgbClr val="586B7E"/>
                </a:solidFill>
                <a:latin typeface="Arial"/>
                <a:ea typeface="Arial"/>
                <a:cs typeface="Arial"/>
              </a:rPr>
              <a:t>MiniCPM, AURA, Qwen3-Omni and Nemotron can resume a live session through the path below.</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Present session credentials</a:t>
            </a:r>
          </a:p>
          <a:p>
            <a:pPr algn="l">
              <a:lnSpc>
                <a:spcPct val="110000"/>
              </a:lnSpc>
              <a:spcAft>
                <a:spcPts val="0"/>
              </a:spcAft>
            </a:pPr>
            <a:r>
              <a:rPr sz="1080" b="0">
                <a:solidFill>
                  <a:srgbClr val="142B45"/>
                </a:solidFill>
                <a:latin typeface="Arial"/>
                <a:ea typeface="Arial"/>
                <a:cs typeface="Arial"/>
              </a:rPr>
              <a:t>Resume from the last received event position</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Validate credentials; bind the new connection</a:t>
            </a:r>
          </a:p>
          <a:p>
            <a:pPr algn="l">
              <a:lnSpc>
                <a:spcPct val="110000"/>
              </a:lnSpc>
              <a:spcAft>
                <a:spcPts val="0"/>
              </a:spcAft>
            </a:pPr>
            <a:r>
              <a:rPr sz="1080" b="0">
                <a:solidFill>
                  <a:srgbClr val="142B45"/>
                </a:solidFill>
                <a:latin typeface="Arial"/>
                <a:ea typeface="Arial"/>
                <a:cs typeface="Arial"/>
              </a:rPr>
              <a:t>Replay retained events</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Continue with existing session state</a:t>
            </a:r>
          </a:p>
          <a:p>
            <a:pPr algn="l">
              <a:lnSpc>
                <a:spcPct val="110000"/>
              </a:lnSpc>
              <a:spcAft>
                <a:spcPts val="0"/>
              </a:spcAft>
            </a:pPr>
            <a:r>
              <a:rPr sz="1080" b="0">
                <a:solidFill>
                  <a:srgbClr val="142B45"/>
                </a:solidFill>
                <a:latin typeface="Arial"/>
                <a:ea typeface="Arial"/>
                <a:cs typeface="Arial"/>
              </a:rPr>
              <a:t>Reattach input and output to the same session</a:t>
            </a:r>
          </a:p>
        </p:txBody>
      </p:sp>
      <p:sp>
        <p:nvSpPr>
          <p:cNvPr id="24" name="TextBox 23"/>
          <p:cNvSpPr txBox="1"/>
          <p:nvPr/>
        </p:nvSpPr>
        <p:spPr>
          <a:xfrm>
            <a:off x="722376" y="3310128"/>
            <a:ext cx="10744200" cy="219456"/>
          </a:xfrm>
          <a:prstGeom prst="rect">
            <a:avLst/>
          </a:prstGeom>
          <a:noFill/>
        </p:spPr>
        <p:txBody>
          <a:bodyPr wrap="square" lIns="0" rIns="0" tIns="0" bIns="0" anchor="t">
            <a:spAutoFit/>
          </a:bodyPr>
          <a:lstStyle/>
          <a:p>
            <a:pPr algn="l">
              <a:lnSpc>
                <a:spcPct val="110000"/>
              </a:lnSpc>
              <a:spcAft>
                <a:spcPts val="0"/>
              </a:spcAft>
            </a:pPr>
            <a:r>
              <a:rPr sz="1200" b="0">
                <a:solidFill>
                  <a:srgbClr val="586B7E"/>
                </a:solidFill>
                <a:latin typeface="Arial"/>
                <a:ea typeface="Arial"/>
                <a:cs typeface="Arial"/>
              </a:rPr>
              <a:t>Requires the same live owner, a valid lease and retained events. Session resume does not provide process failover.</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RESUME STEP</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FRAMEWORK ACTION</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USER CLIENT INTEGRATION</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Session identity</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Keep the same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Python SDK retains credentials automatically;</a:t>
            </a:r>
          </a:p>
          <a:p>
            <a:pPr algn="l">
              <a:lnSpc>
                <a:spcPct val="110000"/>
              </a:lnSpc>
              <a:spcAft>
                <a:spcPts val="0"/>
              </a:spcAft>
            </a:pPr>
            <a:r>
              <a:rPr sz="1180" b="0">
                <a:solidFill>
                  <a:srgbClr val="142B45"/>
                </a:solidFill>
                <a:latin typeface="Arial"/>
                <a:ea typeface="Arial"/>
                <a:cs typeface="Arial"/>
              </a:rPr>
              <a:t>custom clients store session ID / resume token</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Connection binding</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Rebind the existing session</a:t>
            </a:r>
          </a:p>
        </p:txBody>
      </p:sp>
      <p:sp>
        <p:nvSpPr>
          <p:cNvPr id="35" name="TextBox 34"/>
          <p:cNvSpPr txBox="1"/>
          <p:nvPr/>
        </p:nvSpPr>
        <p:spPr>
          <a:xfrm>
            <a:off x="5541264" y="4672584"/>
            <a:ext cx="5696712"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Reconnect the WebSocket and send session.resume</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Event replay</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Replay retained events</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Provide the last received event position</a:t>
            </a:r>
          </a:p>
          <a:p>
            <a:pPr algn="l">
              <a:lnSpc>
                <a:spcPct val="110000"/>
              </a:lnSpc>
              <a:spcAft>
                <a:spcPts val="0"/>
              </a:spcAft>
            </a:pPr>
            <a:r>
              <a:rPr sz="1150" b="0">
                <a:solidFill>
                  <a:srgbClr val="142B45"/>
                </a:solidFill>
                <a:latin typeface="Arial"/>
                <a:ea typeface="Arial"/>
                <a:cs typeface="Arial"/>
              </a:rPr>
              <a:t>Receive retained events from the replay window</a:t>
            </a:r>
          </a:p>
        </p:txBody>
      </p:sp>
      <p:sp>
        <p:nvSpPr>
          <p:cNvPr id="40" name="Rounded Rectangle 39"/>
          <p:cNvSpPr/>
          <p:nvPr/>
        </p:nvSpPr>
        <p:spPr>
          <a:xfrm>
            <a:off x="548640" y="5961888"/>
            <a:ext cx="11082528" cy="33832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a:solidFill>
                  <a:srgbClr val="526985"/>
                </a:solidFill>
                <a:latin typeface="Arial"/>
                <a:ea typeface="Arial"/>
                <a:cs typeface="Arial"/>
              </a:rPr>
              <a:t>PersonaPlex demo: reconnect with a new session and reapply the same voice + persona.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Performance optimizations and steady progress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Four methods reduce repeated work and make better use of the GPU.</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12</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CUDA Graphs: reuse prepared execution</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Replay GPU work with less CPU launch overhead.</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 · Qwen3-Omni (images) ·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Kernel fusion: combine small operations</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Reduce GPU launches and intermediate data movement.</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Session batching: process streams together</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Run new frames from several sessions in one batch.</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Incremental decoding: handle new audio only</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Skip audio that was decoded in previous chunks.</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a:solidFill>
                  <a:srgbClr val="526985"/>
                </a:solidFill>
                <a:latin typeface="Arial"/>
                <a:ea typeface="Arial"/>
                <a:cs typeface="Arial"/>
              </a:rPr>
              <a:t>H100 · 8 concurrent requests · Seed-TTS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Lower Audio RTF is better</a:t>
            </a:r>
          </a:p>
        </p:txBody>
      </p:sp>
      <p:sp>
        <p:nvSpPr>
          <p:cNvPr id="233" name="Benchmark scope and metric"/>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a:solidFill>
                  <a:srgbClr val="526985"/>
                </a:solidFill>
                <a:latin typeface="Arial"/>
                <a:ea typeface="Arial"/>
                <a:cs typeface="Arial"/>
              </a:rPr>
              <a:t>Seed-TTS speech generation via Chat Completions · Daily runs, October 5–8, 2026.</a:t>
            </a:r>
          </a:p>
          <a:p>
            <a:pPr algn="l">
              <a:lnSpc>
                <a:spcPct val="106000"/>
              </a:lnSpc>
              <a:spcAft>
                <a:spcPts val="0"/>
              </a:spcAft>
            </a:pPr>
            <a:r>
              <a:rPr sz="1050" b="0">
                <a:solidFill>
                  <a:srgbClr val="526985"/>
                </a:solidFill>
                <a:latin typeface="Arial"/>
                <a:ea typeface="Arial"/>
                <a:cs typeface="Arial"/>
              </a:rPr>
              <a:t>Audio RTF = audio generation time / output audio duration; averaged per request.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a:solidFill>
                  <a:srgbClr val="142B45"/>
                </a:solidFill>
                <a:latin typeface="Arial"/>
                <a:ea typeface="Arial"/>
                <a:cs typeface="Arial"/>
              </a:rPr>
              <a:t>From first audio to sustained conversation quality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OmniInteract and Omni-DuplexEval connect live session execution with timing and quality evaluation.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12</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Timing schematic</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a:solidFill>
                  <a:srgbClr val="142B45"/>
                </a:solidFill>
                <a:latin typeface="Arial"/>
                <a:ea typeface="Arial"/>
                <a:cs typeface="Arial"/>
              </a:rPr>
              <a:t>Timing origin</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a:solidFill>
                  <a:srgbClr val="327CEC"/>
                </a:solidFill>
                <a:latin typeface="Arial"/>
                <a:ea typeface="Arial"/>
                <a:cs typeface="Arial"/>
              </a:rPr>
              <a:t>First audio packet received</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Request / output</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Queue</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Stage compute</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Transfer</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Incremental audio generation and delivery</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Client playback</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Playback starts</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a:solidFill>
                  <a:srgbClr val="FFFFFF"/>
                </a:solidFill>
                <a:latin typeface="Arial"/>
                <a:ea typeface="Arial"/>
                <a:cs typeface="Arial"/>
              </a:rPr>
              <a:t>Playback overlaps subsequent generation</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327CEC"/>
                </a:solidFill>
                <a:latin typeface="Arial"/>
                <a:ea typeface="Arial"/>
                <a:cs typeface="Arial"/>
              </a:rPr>
              <a:t>Response speed</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TTFP · p50 / p95</a:t>
            </a:r>
          </a:p>
          <a:p>
            <a:pPr algn="l">
              <a:lnSpc>
                <a:spcPct val="110000"/>
              </a:lnSpc>
              <a:spcAft>
                <a:spcPts val="0"/>
              </a:spcAft>
            </a:pPr>
            <a:r>
              <a:rPr sz="1090" b="0">
                <a:solidFill>
                  <a:srgbClr val="21364E"/>
                </a:solidFill>
                <a:latin typeface="Arial"/>
                <a:ea typeface="Arial"/>
                <a:cs typeface="Arial"/>
              </a:rPr>
              <a:t>Queue, compute and transfer</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008E96"/>
                </a:solidFill>
                <a:latin typeface="Arial"/>
                <a:ea typeface="Arial"/>
                <a:cs typeface="Arial"/>
              </a:rPr>
              <a:t>Output cadence</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RTF · chunk intervals</a:t>
            </a:r>
          </a:p>
          <a:p>
            <a:pPr algn="l">
              <a:lnSpc>
                <a:spcPct val="110000"/>
              </a:lnSpc>
              <a:spcAft>
                <a:spcPts val="0"/>
              </a:spcAft>
            </a:pPr>
            <a:r>
              <a:rPr sz="1090" b="0">
                <a:solidFill>
                  <a:srgbClr val="21364E"/>
                </a:solidFill>
                <a:latin typeface="Arial"/>
                <a:ea typeface="Arial"/>
                <a:cs typeface="Arial"/>
              </a:rPr>
              <a:t>Pauses and playback buffers</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7855AD"/>
                </a:solidFill>
                <a:latin typeface="Arial"/>
                <a:ea typeface="Arial"/>
                <a:cs typeface="Arial"/>
              </a:rPr>
              <a:t>Duration and concurrency</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Duration · session count</a:t>
            </a:r>
          </a:p>
          <a:p>
            <a:pPr algn="l">
              <a:lnSpc>
                <a:spcPct val="110000"/>
              </a:lnSpc>
              <a:spcAft>
                <a:spcPts val="0"/>
              </a:spcAft>
            </a:pPr>
            <a:r>
              <a:rPr sz="1090" b="0">
                <a:solidFill>
                  <a:srgbClr val="21364E"/>
                </a:solidFill>
                <a:latin typeface="Arial"/>
                <a:ea typeface="Arial"/>
                <a:cs typeface="Arial"/>
              </a:rPr>
              <a:t>Peak memory · reclamation</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AD761E"/>
                </a:solidFill>
                <a:latin typeface="Arial"/>
                <a:ea typeface="Arial"/>
                <a:cs typeface="Arial"/>
              </a:rPr>
              <a:t>Speech quality</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Valid, complete audio</a:t>
            </a:r>
          </a:p>
          <a:p>
            <a:pPr algn="l">
              <a:lnSpc>
                <a:spcPct val="110000"/>
              </a:lnSpc>
              <a:spcAft>
                <a:spcPts val="0"/>
              </a:spcAft>
            </a:pPr>
            <a:r>
              <a:rPr sz="1090" b="0">
                <a:solidFill>
                  <a:srgbClr val="21364E"/>
                </a:solidFill>
                <a:latin typeface="Arial"/>
                <a:ea typeface="Arial"/>
                <a:cs typeface="Arial"/>
              </a:rPr>
              <a:t>WER / CER · listening quality</a:t>
            </a:r>
          </a:p>
        </p:txBody>
      </p:sp>
      <p:sp>
        <p:nvSpPr>
          <p:cNvPr id="55" name="TextBox 54"/>
          <p:cNvSpPr txBox="1"/>
          <p:nvPr/>
        </p:nvSpPr>
        <p:spPr>
          <a:xfrm>
            <a:off x="658368" y="6108192"/>
            <a:ext cx="10936224" cy="219456"/>
          </a:xfrm>
          <a:prstGeom prst="rect">
            <a:avLst/>
          </a:prstGeom>
          <a:noFill/>
        </p:spPr>
        <p:txBody>
          <a:bodyPr wrap="square" lIns="0" rIns="0" tIns="0" bIns="0" anchor="t">
            <a:spAutoFit/>
          </a:bodyPr>
          <a:lstStyle/>
          <a:p>
            <a:pPr algn="l">
              <a:lnSpc>
                <a:spcPct val="110000"/>
              </a:lnSpc>
              <a:spcAft>
                <a:spcPts val="0"/>
              </a:spcAft>
            </a:pPr>
            <a:r>
              <a:rPr sz="1110" b="0">
                <a:solidFill>
                  <a:srgbClr val="586B7E"/>
                </a:solidFill>
                <a:latin typeface="Arial"/>
                <a:ea typeface="Arial"/>
                <a:cs typeface="Arial"/>
              </a:rPr>
              <a:t>Fix model, hardware, concurrency and timing origin. Benchmark support and evaluation tasks are model-specific.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TOOL CALLING</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Tool calling across duplex models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Broader model coverage and consistent behavior during tool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12</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307BDB"/>
                </a:solidFill>
                <a:latin typeface="Arial"/>
                <a:ea typeface="Arial"/>
                <a:cs typeface="Arial"/>
              </a:rPr>
              <a:t>AVAILABLE TODAY</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 parser in the turn-based Realtime path</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Tool-result round trip in native duplex</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95620B"/>
                </a:solidFill>
                <a:latin typeface="Arial"/>
                <a:ea typeface="Arial"/>
                <a:cs typeface="Arial"/>
              </a:rPr>
              <a:t>UNIFIED DUPLEX ROADMAP</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emits</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Tool name + arguments</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Application executes</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External function</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Result returns</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Match the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continues</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Generate the reply</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a:solidFill>
                            <a:srgbClr val="16304E"/>
                          </a:solidFill>
                          <a:latin typeface="Arial"/>
                          <a:ea typeface="Arial"/>
                          <a:cs typeface="Arial"/>
                        </a:rPr>
                        <a:t>During execution</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Define whether user input and speech output continue while the tool runs.</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a:solidFill>
                            <a:srgbClr val="16304E"/>
                          </a:solidFill>
                          <a:latin typeface="Arial"/>
                          <a:ea typeface="Arial"/>
                          <a:cs typeface="Arial"/>
                        </a:rPr>
                        <a:t>Turn safety</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a:solidFill>
                            <a:srgbClr val="16304E"/>
                          </a:solidFill>
                          <a:latin typeface="Arial"/>
                          <a:ea typeface="Arial"/>
                          <a:cs typeface="Arial"/>
                        </a:rPr>
                        <a:t>Handle interruption, timeouts, duplicate and late results;</a:t>
                      </a:r>
                    </a:p>
                    <a:p>
                      <a:pPr>
                        <a:lnSpc>
                          <a:spcPct val="108000"/>
                        </a:lnSpc>
                        <a:spcAft>
                          <a:spcPts val="0"/>
                        </a:spcAft>
                      </a:pPr>
                      <a:r>
                        <a:rPr sz="1400" b="0">
                          <a:solidFill>
                            <a:srgbClr val="16304E"/>
                          </a:solidFill>
                          <a:latin typeface="Arial"/>
                          <a:ea typeface="Arial"/>
                          <a:cs typeface="Arial"/>
                        </a:rPr>
                        <a:t>keep old calls from affecting a new turn.</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a:solidFill>
                            <a:srgbClr val="16304E"/>
                          </a:solidFill>
                          <a:latin typeface="Arial"/>
                          <a:ea typeface="Arial"/>
                          <a:cs typeface="Arial"/>
                        </a:rPr>
                        <a:t>Framework + plugins</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Framework owns shared call handling; plugins adapt model formats and behavior.</a:t>
                      </a:r>
                    </a:p>
                    <a:p>
                      <a:pPr>
                        <a:lnSpc>
                          <a:spcPct val="108000"/>
                        </a:lnSpc>
                        <a:spcAft>
                          <a:spcPts val="0"/>
                        </a:spcAft>
                      </a:pPr>
                      <a:r>
                        <a:rPr sz="1400" b="0">
                          <a:solidFill>
                            <a:srgbClr val="16304E"/>
                          </a:solidFill>
                          <a:latin typeface="Arial"/>
                          <a:ea typeface="Arial"/>
                          <a:cs typeface="Arial"/>
                        </a:rPr>
                        <a:t>Extend coverage to Qwen3-Omni unified duplex, AURA and JoyAI.</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ROADMAP</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Full-duplex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Near-term model integration, interaction and evaluation; longer-term session duration and serving scale.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12</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307BDB"/>
                </a:solidFill>
                <a:latin typeface="Arial"/>
                <a:ea typeface="Arial"/>
                <a:cs typeface="Arial"/>
              </a:rPr>
              <a:t>NEAR TERM</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008E96"/>
                </a:solidFill>
                <a:latin typeface="Arial"/>
                <a:ea typeface="Arial"/>
                <a:cs typeface="Arial"/>
              </a:rPr>
              <a:t>LONGER TERM</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JoyAI integration</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Bring JoyAI into the unified duplex framework</a:t>
            </a:r>
          </a:p>
          <a:p>
            <a:pPr algn="l">
              <a:lnSpc>
                <a:spcPct val="106000"/>
              </a:lnSpc>
              <a:spcAft>
                <a:spcPts val="0"/>
              </a:spcAft>
            </a:pPr>
            <a:r>
              <a:rPr sz="1400" b="0">
                <a:solidFill>
                  <a:srgbClr val="586B7E"/>
                </a:solidFill>
                <a:latin typeface="Arial"/>
                <a:ea typeface="Arial"/>
                <a:cs typeface="Arial"/>
              </a:rPr>
              <a:t>with model-specific input/output adapters</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Unified tool calling</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Shared call/result handling and model adapters</a:t>
            </a:r>
          </a:p>
          <a:p>
            <a:pPr algn="l">
              <a:lnSpc>
                <a:spcPct val="106000"/>
              </a:lnSpc>
              <a:spcAft>
                <a:spcPts val="0"/>
              </a:spcAft>
            </a:pPr>
            <a:r>
              <a:rPr sz="1400" b="0">
                <a:solidFill>
                  <a:srgbClr val="586B7E"/>
                </a:solidFill>
                <a:latin typeface="Arial"/>
                <a:ea typeface="Arial"/>
                <a:cs typeface="Arial"/>
              </a:rPr>
              <a:t>Interruption, timeout and stale-result handling</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Turn completion based on meaning and context</a:t>
            </a:r>
          </a:p>
          <a:p>
            <a:pPr algn="l">
              <a:lnSpc>
                <a:spcPct val="106000"/>
              </a:lnSpc>
              <a:spcAft>
                <a:spcPts val="0"/>
              </a:spcAft>
            </a:pPr>
            <a:r>
              <a:rPr sz="1400" b="0">
                <a:solidFill>
                  <a:srgbClr val="586B7E"/>
                </a:solidFill>
                <a:latin typeface="Arial"/>
                <a:ea typeface="Arial"/>
                <a:cs typeface="Arial"/>
              </a:rPr>
              <a:t>Integration with commit and response policies</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Broader realtime evaluation</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Broader OmniInteract and Omni-DuplexEval coverage</a:t>
            </a:r>
          </a:p>
          <a:p>
            <a:pPr algn="l">
              <a:lnSpc>
                <a:spcPct val="106000"/>
              </a:lnSpc>
              <a:spcAft>
                <a:spcPts val="0"/>
              </a:spcAft>
            </a:pPr>
            <a:r>
              <a:rPr sz="1400" b="0">
                <a:solidFill>
                  <a:srgbClr val="586B7E"/>
                </a:solidFill>
                <a:latin typeface="Arial"/>
                <a:ea typeface="Arial"/>
                <a:cs typeface="Arial"/>
              </a:rPr>
              <a:t>More models, interaction tasks and regression checks</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Longer sustained conversations</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Bound context and history for extended audio/video</a:t>
            </a:r>
          </a:p>
          <a:p>
            <a:pPr algn="l">
              <a:lnSpc>
                <a:spcPct val="106000"/>
              </a:lnSpc>
              <a:spcAft>
                <a:spcPts val="0"/>
              </a:spcAft>
            </a:pPr>
            <a:r>
              <a:rPr sz="1400" b="0">
                <a:solidFill>
                  <a:srgbClr val="586B7E"/>
                </a:solidFill>
                <a:latin typeface="Arial"/>
                <a:ea typeface="Arial"/>
                <a:cs typeface="Arial"/>
              </a:rPr>
              <a:t>Maintain stable latency and memory as sessions grow</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Scaled multi-replica serving</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Higher session concurrency across Stage replicas</a:t>
            </a:r>
          </a:p>
          <a:p>
            <a:pPr algn="l">
              <a:lnSpc>
                <a:spcPct val="106000"/>
              </a:lnSpc>
              <a:spcAft>
                <a:spcPts val="0"/>
              </a:spcAft>
            </a:pPr>
            <a:r>
              <a:rPr sz="1400" b="0">
                <a:solidFill>
                  <a:srgbClr val="586B7E"/>
                </a:solidFill>
                <a:latin typeface="Arial"/>
                <a:ea typeface="Arial"/>
                <a:cs typeface="Arial"/>
              </a:rPr>
              <a:t>Session routing and ownership across API frontends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ARCHITECTURE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Duplex execution: input, model computation and output</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Normal output uses a bounded per-session buffer shared by the API and Orchestrator threads.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a:solidFill>
                  <a:srgbClr val="586B7E"/>
                </a:solidFill>
                <a:latin typeface="Arial"/>
                <a:ea typeface="Arial"/>
                <a:cs typeface="Arial"/>
              </a:rPr>
              <a:t>SAME API PROCESS</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API event loop</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Duplex Orchestrator thread</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327CEC"/>
                </a:solidFill>
                <a:latin typeface="Arial"/>
                <a:ea typeface="Arial"/>
                <a:cs typeface="Arial"/>
              </a:rPr>
              <a:t>Input / requests</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008E96"/>
                </a:solidFill>
                <a:latin typeface="Arial"/>
                <a:ea typeface="Arial"/>
                <a:cs typeface="Arial"/>
              </a:rPr>
              <a:t>Output / events</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a:solidFill>
                  <a:srgbClr val="586B7E"/>
                </a:solidFill>
                <a:latin typeface="Arial"/>
                <a:ea typeface="Arial"/>
                <a:cs typeface="Arial"/>
              </a:rPr>
              <a:t>Protocol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a:solidFill>
                  <a:srgbClr val="586B7E"/>
                </a:solidFill>
                <a:latin typeface="Arial"/>
                <a:ea typeface="Arial"/>
                <a:cs typeface="Arial"/>
              </a:rPr>
              <a:t>Ordered mailbox · session state</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Manager.emit → shared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Janus · requests</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a:solidFill>
                  <a:srgbClr val="586B7E"/>
                </a:solidFill>
                <a:latin typeface="Arial"/>
                <a:ea typeface="Arial"/>
                <a:cs typeface="Arial"/>
              </a:rPr>
              <a:t>bounded · direct</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PersonaPlex example</a:t>
            </a:r>
          </a:p>
        </p:txBody>
      </p:sp>
      <p:sp>
        <p:nvSpPr>
          <p:cNvPr id="65" name="TextBox 64"/>
          <p:cNvSpPr txBox="1"/>
          <p:nvPr/>
        </p:nvSpPr>
        <p:spPr>
          <a:xfrm>
            <a:off x="3300984"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 · Stage 0</a:t>
            </a:r>
          </a:p>
        </p:txBody>
      </p:sp>
      <p:sp>
        <p:nvSpPr>
          <p:cNvPr id="67" name="TextBox 66"/>
          <p:cNvSpPr txBox="1"/>
          <p:nvPr/>
        </p:nvSpPr>
        <p:spPr>
          <a:xfrm>
            <a:off x="9052560"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Code2Wav · Mimi</a:t>
            </a:r>
          </a:p>
        </p:txBody>
      </p:sp>
      <p:cxnSp>
        <p:nvCxnSpPr>
          <p:cNvPr id="68" name="Connector 67"/>
          <p:cNvCxnSpPr/>
          <p:nvPr/>
        </p:nvCxnSpPr>
        <p:spPr>
          <a:xfrm>
            <a:off x="5742432" y="6080760"/>
            <a:ext cx="3081528"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5577840" y="6236208"/>
            <a:ext cx="3383280" cy="155448"/>
          </a:xfrm>
          <a:prstGeom prst="rect">
            <a:avLst/>
          </a:prstGeom>
          <a:noFill/>
        </p:spPr>
        <p:txBody>
          <a:bodyPr wrap="square" lIns="0" rIns="0" tIns="0" bIns="0" anchor="t">
            <a:spAutoFit/>
          </a:bodyPr>
          <a:lstStyle/>
          <a:p>
            <a:pPr algn="ctr">
              <a:lnSpc>
                <a:spcPct val="110000"/>
              </a:lnSpc>
              <a:spcAft>
                <a:spcPts val="0"/>
              </a:spcAft>
            </a:pPr>
            <a:r>
              <a:rPr sz="840" b="0">
                <a:solidFill>
                  <a:srgbClr val="7855AD"/>
                </a:solidFill>
                <a:latin typeface="Arial"/>
                <a:ea typeface="Arial"/>
                <a:cs typeface="Arial"/>
              </a:rPr>
              <a:t>Shared-memory audio codes</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StagePool: select one ·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One stage · replica processes</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a:solidFill>
                  <a:srgbClr val="586B7E"/>
                </a:solidFill>
                <a:latin typeface="Arial"/>
                <a:ea typeface="Arial"/>
                <a:cs typeface="Arial"/>
              </a:rPr>
              <a:t>Replicas can run on local or remote nodes</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Acoustic VAD vs.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Often combined: acoustic VAD finds a pause, then a turn model checks whether the user has finished.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a:solidFill>
                            <a:srgbClr val="FFFFFF"/>
                          </a:solidFill>
                          <a:latin typeface="Arial"/>
                          <a:ea typeface="Arial"/>
                          <a:cs typeface="Arial"/>
                        </a:rPr>
                        <a:t>COMPARISON</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Semantic VAD</a:t>
                      </a:r>
                    </a:p>
                    <a:p>
                      <a:pPr algn="l">
                        <a:lnSpc>
                          <a:spcPct val="106000"/>
                        </a:lnSpc>
                        <a:spcAft>
                          <a:spcPts val="0"/>
                        </a:spcAft>
                      </a:pPr>
                      <a:r>
                        <a:rPr sz="900" b="1">
                          <a:solidFill>
                            <a:srgbClr val="F4CF91"/>
                          </a:solidFill>
                          <a:latin typeface="Arial"/>
                          <a:ea typeface="Arial"/>
                          <a:cs typeface="Arial"/>
                        </a:rPr>
                        <a:t>PROPOSED EXTENSION</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Decision signal</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Speech activity + a configured</a:t>
                      </a:r>
                    </a:p>
                    <a:p>
                      <a:pPr algn="l">
                        <a:lnSpc>
                          <a:spcPct val="106000"/>
                        </a:lnSpc>
                        <a:spcAft>
                          <a:spcPts val="0"/>
                        </a:spcAft>
                      </a:pPr>
                      <a:r>
                        <a:rPr sz="1420" b="0">
                          <a:solidFill>
                            <a:srgbClr val="16304E"/>
                          </a:solidFill>
                          <a:latin typeface="Arial"/>
                          <a:ea typeface="Arial"/>
                          <a:cs typeface="Arial"/>
                        </a:rPr>
                        <a:t>silence duration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Meaning and context</a:t>
                      </a:r>
                    </a:p>
                    <a:p>
                      <a:pPr algn="l">
                        <a:lnSpc>
                          <a:spcPct val="106000"/>
                        </a:lnSpc>
                        <a:spcAft>
                          <a:spcPts val="0"/>
                        </a:spcAft>
                      </a:pPr>
                      <a:r>
                        <a:rPr sz="1420" b="0">
                          <a:solidFill>
                            <a:srgbClr val="16304E"/>
                          </a:solidFill>
                          <a:latin typeface="Arial"/>
                          <a:ea typeface="Arial"/>
                          <a:cs typeface="Arial"/>
                        </a:rPr>
                        <a:t>Audio models can also use prosody</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Pause handling</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May commit after enough silence,</a:t>
                      </a:r>
                    </a:p>
                    <a:p>
                      <a:pPr algn="l">
                        <a:lnSpc>
                          <a:spcPct val="106000"/>
                        </a:lnSpc>
                        <a:spcAft>
                          <a:spcPts val="0"/>
                        </a:spcAft>
                      </a:pPr>
                      <a:r>
                        <a:rPr sz="1420" b="0">
                          <a:solidFill>
                            <a:srgbClr val="16304E"/>
                          </a:solidFill>
                          <a:latin typeface="Arial"/>
                          <a:ea typeface="Arial"/>
                          <a:cs typeface="Arial"/>
                        </a:rPr>
                        <a:t>even if the sentence is unfinished</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Can wait longer when the utterance</a:t>
                      </a:r>
                    </a:p>
                    <a:p>
                      <a:pPr algn="l">
                        <a:lnSpc>
                          <a:spcPct val="106000"/>
                        </a:lnSpc>
                        <a:spcAft>
                          <a:spcPts val="0"/>
                        </a:spcAft>
                      </a:pPr>
                      <a:r>
                        <a:rPr sz="1420" b="0">
                          <a:solidFill>
                            <a:srgbClr val="16304E"/>
                          </a:solidFill>
                          <a:latin typeface="Arial"/>
                          <a:ea typeface="Arial"/>
                          <a:cs typeface="Arial"/>
                        </a:rPr>
                        <a:t>appears incomplete</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System action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Commit after the silence threshold.</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Commit when the turn is judged complete.</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a:solidFill>
                            <a:srgbClr val="16304E"/>
                          </a:solidFill>
                          <a:latin typeface="Arial"/>
                          <a:ea typeface="Arial"/>
                          <a:cs typeface="Arial"/>
                        </a:rPr>
                        <a:t>Compute &amp;</a:t>
                      </a:r>
                    </a:p>
                    <a:p>
                      <a:pPr algn="l">
                        <a:lnSpc>
                          <a:spcPct val="106000"/>
                        </a:lnSpc>
                        <a:spcAft>
                          <a:spcPts val="0"/>
                        </a:spcAft>
                      </a:pPr>
                      <a:r>
                        <a:rPr sz="1350" b="1">
                          <a:solidFill>
                            <a:srgbClr val="16304E"/>
                          </a:solidFill>
                          <a:latin typeface="Arial"/>
                          <a:ea typeface="Arial"/>
                          <a:cs typeface="Arial"/>
                        </a:rPr>
                        <a:t>placement</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Low-latency CPU inference</a:t>
                      </a:r>
                    </a:p>
                    <a:p>
                      <a:pPr algn="l">
                        <a:lnSpc>
                          <a:spcPct val="106000"/>
                        </a:lnSpc>
                        <a:spcAft>
                          <a:spcPts val="0"/>
                        </a:spcAft>
                      </a:pPr>
                      <a:r>
                        <a:rPr sz="1420" b="0">
                          <a:solidFill>
                            <a:srgbClr val="16304E"/>
                          </a:solidFill>
                          <a:latin typeface="Arial"/>
                          <a:ea typeface="Arial"/>
                          <a:cs typeface="Arial"/>
                        </a:rPr>
                        <a:t>Current: 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Typically more compute per decision</a:t>
                      </a:r>
                    </a:p>
                    <a:p>
                      <a:pPr algn="l">
                        <a:lnSpc>
                          <a:spcPct val="106000"/>
                        </a:lnSpc>
                        <a:spcAft>
                          <a:spcPts val="0"/>
                        </a:spcAft>
                      </a:pPr>
                      <a:r>
                        <a:rPr sz="1420" b="0">
                          <a:solidFill>
                            <a:srgbClr val="16304E"/>
                          </a:solidFill>
                          <a:latin typeface="Arial"/>
                          <a:ea typeface="Arial"/>
                          <a:cs typeface="Arial"/>
                        </a:rPr>
                        <a:t>Planned: Omni Stage for heavier models</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a:solidFill>
                  <a:srgbClr val="586B7E"/>
                </a:solidFill>
                <a:latin typeface="Arial"/>
                <a:ea typeface="Arial"/>
                <a:cs typeface="Arial"/>
              </a:rPr>
              <a:t>OPEN-SOURCE EXAMPLE: 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a:solidFill>
                  <a:srgbClr val="16304E"/>
                </a:solidFill>
                <a:latin typeface="Arial"/>
                <a:ea typeface="Arial"/>
                <a:cs typeface="Arial"/>
              </a:rPr>
              <a:t>“Book me a flight for tomorrow to … [pause] … Beijing.”</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307BDB"/>
                </a:solidFill>
                <a:latin typeface="Arial"/>
                <a:ea typeface="Arial"/>
                <a:cs typeface="Arial"/>
              </a:rPr>
              <a:t>1. Silero: speech / non-speech and pauses</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008E96"/>
                </a:solidFill>
                <a:latin typeface="Arial"/>
                <a:ea typeface="Arial"/>
                <a:cs typeface="Arial"/>
              </a:rPr>
              <a:t>2. Smart Turn: complete / incomplete</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586B7E"/>
                </a:solidFill>
                <a:latin typeface="Arial"/>
                <a:ea typeface="Arial"/>
                <a:cs typeface="Arial"/>
              </a:rPr>
              <a:t>VAD can reduce noise-triggered events. Denoising and interruption intent detection are separate.</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16304E"/>
                </a:solidFill>
                <a:latin typeface="Arial"/>
                <a:ea typeface="Arial"/>
                <a:cs typeface="Arial"/>
              </a:rPr>
              <a:t>Session Runner owns commit and interruption. Inference is asynchronous and stale results are discarded.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Disconnect, cancel and close have different effects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MiniCPM, AURA, Qwen3-Omni and Nemotron support live-session resume; PersonaPlex closes on disconnect.</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TRIGGER</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IN-FLIGHT WORK</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SESSION / RESUME</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Disconnect · resumable model</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May keep generating; journal later events</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Disconnect grace; resume while the session lives</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Cancel response; invalidate its queued audio</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Session stays open; PersonaPlex resets model context</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session.close / lease expiry</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Terminate and clean up associated work</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Session ends; create a new session</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SESSION LIFETIME</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Resume within the disconnect grace</a:t>
            </a:r>
          </a:p>
          <a:p>
            <a:pPr algn="l">
              <a:lnSpc>
                <a:spcPct val="110000"/>
              </a:lnSpc>
              <a:spcAft>
                <a:spcPts val="0"/>
              </a:spcAft>
            </a:pPr>
            <a:r>
              <a:rPr sz="1250" b="0">
                <a:solidFill>
                  <a:srgbClr val="21364E"/>
                </a:solidFill>
                <a:latin typeface="Arial"/>
                <a:ea typeface="Arial"/>
                <a:cs typeface="Arial"/>
              </a:rPr>
              <a:t>Session remains on its live owner</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VALID CREDENTIALS</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a:solidFill>
                  <a:srgbClr val="21364E"/>
                </a:solidFill>
                <a:latin typeface="Arial"/>
                <a:ea typeface="Arial"/>
                <a:cs typeface="Arial"/>
              </a:rPr>
              <a:t>Valid resume token</a:t>
            </a:r>
          </a:p>
          <a:p>
            <a:pPr algn="l">
              <a:lnSpc>
                <a:spcPct val="110000"/>
              </a:lnSpc>
              <a:spcAft>
                <a:spcPts val="0"/>
              </a:spcAft>
            </a:pPr>
            <a:r>
              <a:rPr sz="1200" b="0">
                <a:solidFill>
                  <a:srgbClr val="21364E"/>
                </a:solidFill>
                <a:latin typeface="Arial"/>
                <a:ea typeface="Arial"/>
                <a:cs typeface="Arial"/>
              </a:rPr>
              <a:t>Matching lease generation</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REPLAY COVERAGE</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Last received event position</a:t>
            </a:r>
          </a:p>
          <a:p>
            <a:pPr algn="l">
              <a:lnSpc>
                <a:spcPct val="110000"/>
              </a:lnSpc>
              <a:spcAft>
                <a:spcPts val="0"/>
              </a:spcAft>
            </a:pPr>
            <a:r>
              <a:rPr sz="1250" b="0">
                <a:solidFill>
                  <a:srgbClr val="21364E"/>
                </a:solidFill>
                <a:latin typeface="Arial"/>
                <a:ea typeface="Arial"/>
                <a:cs typeface="Arial"/>
              </a:rPr>
              <a:t>Required events remain available</a:t>
            </a:r>
          </a:p>
        </p:txBody>
      </p:sp>
      <p:sp>
        <p:nvSpPr>
          <p:cNvPr id="36" name="TextBox 35"/>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Defaults: disconnect grace 30s · idle TTL 300s · replay 60s / 8 MiB. Resume requires the same live owner.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DEPLOYMENT</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Cross-node stages share the entrypoint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One API worker owns duplex sessions; the Head connects local and registered headless Stage processes.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a:solidFill>
                  <a:srgbClr val="008E96"/>
                </a:solidFill>
                <a:latin typeface="Arial"/>
                <a:ea typeface="Arial"/>
                <a:cs typeface="Arial"/>
              </a:rPr>
              <a:t>HEAD NODE</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a:solidFill>
                  <a:srgbClr val="142B45"/>
                </a:solidFill>
                <a:latin typeface="Arial"/>
                <a:ea typeface="Arial"/>
                <a:cs typeface="Arial"/>
              </a:rPr>
              <a:t>Local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Requests / outputs</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1  SHARED DEPLOY CONFIG</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Same topology; session_mode: duplex</a:t>
            </a:r>
          </a:p>
          <a:p>
            <a:pPr algn="l">
              <a:lnSpc>
                <a:spcPct val="110000"/>
              </a:lnSpc>
              <a:spcAft>
                <a:spcPts val="0"/>
              </a:spcAft>
            </a:pPr>
            <a:r>
              <a:rPr sz="1180" b="0">
                <a:solidFill>
                  <a:srgbClr val="21364E"/>
                </a:solidFill>
                <a:latin typeface="Arial"/>
                <a:ea typeface="Arial"/>
                <a:cs typeface="Arial"/>
              </a:rPr>
              <a:t>Configure devices and network connectors</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2  START THE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stage-id 0 starts one API worker + local stage</a:t>
            </a:r>
          </a:p>
          <a:p>
            <a:pPr algn="l">
              <a:lnSpc>
                <a:spcPct val="110000"/>
              </a:lnSpc>
              <a:spcAft>
                <a:spcPts val="0"/>
              </a:spcAft>
            </a:pPr>
            <a:r>
              <a:rPr sz="1180" b="0">
                <a:solidFill>
                  <a:srgbClr val="21364E"/>
                </a:solidFill>
                <a:latin typeface="Arial"/>
                <a:ea typeface="Arial"/>
                <a:cs typeface="Arial"/>
              </a:rPr>
              <a:t>Publish a reachable master address / port</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3  LAUNCH HEADLESS PROCESSES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Set stage-id and the same master</a:t>
            </a:r>
          </a:p>
          <a:p>
            <a:pPr algn="l">
              <a:lnSpc>
                <a:spcPct val="110000"/>
              </a:lnSpc>
              <a:spcAft>
                <a:spcPts val="0"/>
              </a:spcAft>
            </a:pPr>
            <a:r>
              <a:rPr sz="1180" b="0">
                <a:solidFill>
                  <a:srgbClr val="21364E"/>
                </a:solidFill>
                <a:latin typeface="Arial"/>
                <a:ea typeface="Arial"/>
                <a:cs typeface="Arial"/>
              </a:rPr>
              <a:t>Register with OmniMaster; launch local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Headless stages share the Head Orchestrator. Duplex rejects multiple API workers; cross-node data needs a network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CODE REFERENCES</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Arial"/>
                <a:ea typeface="Arial"/>
                <a:cs typeface="Arial"/>
              </a:rPr>
              <a:t>Code references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LAYER</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IMPLEMENTATION ENTRY</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READ FOR</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API adapter</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Wire events, attachment,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Handles, shared output buffer, events</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Transport</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Control queues; bounded session output</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Session runtime</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Leases, state, mailbox, model policy</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Stage orchestration</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Initial / update, replica affinity</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Model execution</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Batching, compute, model caches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2026-10-09T10:31:56Z</dcterms:modified>
  <cp:category/>
</cp:coreProperties>
</file>