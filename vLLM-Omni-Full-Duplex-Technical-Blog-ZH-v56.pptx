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4.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63" r:id="rId14"/>
    <p:sldId id="282" r:id="rId32"/>
    <p:sldId id="268" r:id="rId20"/>
    <p:sldId id="269" r:id="rId15"/>
    <p:sldId id="281" r:id="rId31"/>
    <p:sldId id="273" r:id="rId23"/>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3.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14.xml"/><Relationship Id="rId16" Type="http://schemas.openxmlformats.org/officeDocument/2006/relationships/slide" Target="slides/slide19.xml"/><Relationship Id="rId17" Type="http://schemas.openxmlformats.org/officeDocument/2006/relationships/notesMaster" Target="notesMasters/notesMaster1.xml"/><Relationship Id="rId18" Type="http://schemas.openxmlformats.org/officeDocument/2006/relationships/slide" Target="slides/slide1.xml"/><Relationship Id="rId20" Type="http://schemas.openxmlformats.org/officeDocument/2006/relationships/slide" Target="slides/slide13.xml"/><Relationship Id="rId21" Type="http://schemas.openxmlformats.org/officeDocument/2006/relationships/slide" Target="slides/slide10.xml"/><Relationship Id="rId23" Type="http://schemas.openxmlformats.org/officeDocument/2006/relationships/slide" Target="slides/slide16.xml"/><Relationship Id="rId25" Type="http://schemas.openxmlformats.org/officeDocument/2006/relationships/slide" Target="slides/slide18.xml"/><Relationship Id="rId27" Type="http://schemas.openxmlformats.org/officeDocument/2006/relationships/slide" Target="slides/slide17.xml"/><Relationship Id="rId30" Type="http://schemas.openxmlformats.org/officeDocument/2006/relationships/slide" Target="slides/slide9.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流式优化针对不同模型的执行路径：MiniCPM 使用 bounded KV window、原地 Re-RoPE、音视频 encoder CUDA graphs，以及 Code2Wav 常驻执行与 fused kernels；PersonaPlex 对活跃 session 的音频帧做 batching，并复用 Mimi CUDA graphs；Qwen3-Omni 对支持的视觉输入 shape 复用已捕获的计算图。各项优化的适用条件不同，应选择匹配配置，在目标负载下测量端到端 TTFP 和 RTF。</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Stage-0 basic sliding-window mode uses a block-aligned KV window and in-place Re-RoPE so retained KV need not be copied as the window advances. Its streaming audio and vision encoder CUDA graph paths reduce repeated host/launch work for supported inputs. The Code2Wav path adds resident Euler slots, a fused DiT body and HiFT graphs. These paths have model/profile-specific conditions and eager fallbacks.</a:t>
            </a:r>
          </a:p>
          <a:p>
            <a:r>
              <a:rPr lang="zh-CN">
                <a:latin typeface="Noto Sans CJK SC"/>
                <a:ea typeface="Noto Sans CJK SC"/>
                <a:cs typeface="Noto Sans CJK SC"/>
              </a:rPr>
              <a:t/>
            </a:r>
          </a:p>
          <a:p>
            <a:r>
              <a:rPr lang="zh-CN">
                <a:latin typeface="Noto Sans CJK SC"/>
                <a:ea typeface="Noto Sans CJK SC"/>
                <a:cs typeface="Noto Sans CJK SC"/>
              </a:rPr>
              <a:t>PersonaPlex batches live frame appends across sessions and replays Mimi encode/decode frame execution with model-local CUDA graphs. Session admission, Stage max_num_seqs and KV memory must be sized together. Qwen3-Omni captures supported Thinker image-encoder shapes for CUDA graph replay.</a:t>
            </a:r>
          </a:p>
          <a:p>
            <a:r>
              <a:rPr lang="zh-CN">
                <a:latin typeface="Noto Sans CJK SC"/>
                <a:ea typeface="Noto Sans CJK SC"/>
                <a:cs typeface="Noto Sans CJK SC"/>
              </a:rPr>
              <a:t/>
            </a:r>
          </a:p>
          <a:p>
            <a:r>
              <a:rPr lang="zh-CN">
                <a:latin typeface="Noto Sans CJK SC"/>
                <a:ea typeface="Noto Sans CJK SC"/>
                <a:cs typeface="Noto Sans CJK SC"/>
              </a:rPr>
              <a:t>These are implementation capabilities, not a uniform measured speedup across models or hardware. Select the corresponding CUDA profile and measure end-to-end TTFP, RTF and tail latency with the intended duration and concurrency. The performance table remains a separately labeled benchmark snapshot rather than a new measurement of these optimizations.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streaming_audio_encoder_graph.py: https://github.com/vllm-project/vllm-omni/blob/712b90de9c7bc14c595b363401588a713a87c02d/vllm_omni/model_executor/models/minicpmo_4_5/streaming_audio_encoder_graph.py</a:t>
            </a:r>
          </a:p>
          <a:p>
            <a:r>
              <a:rPr lang="zh-CN">
                <a:latin typeface="Noto Sans CJK SC"/>
                <a:ea typeface="Noto Sans CJK SC"/>
                <a:cs typeface="Noto Sans CJK SC"/>
              </a:rPr>
              <a:t>- minicpmo_4_5_duplex_h200.yaml: https://github.com/vllm-project/vllm-omni/blob/712b90de9c7bc14c595b363401588a713a87c02d/vllm_omni/deploy/minicpmo_4_5_duplex_h200.yaml</a:t>
            </a:r>
          </a:p>
          <a:p>
            <a:r>
              <a:rPr lang="zh-CN">
                <a:latin typeface="Noto Sans CJK SC"/>
                <a:ea typeface="Noto Sans CJK SC"/>
                <a:cs typeface="Noto Sans CJK SC"/>
              </a:rPr>
              <a:t>- personaplex_mimi_cudagraph.py: https://github.com/vllm-project/vllm-omni/blob/712b90de9c7bc14c595b363401588a713a87c02d/vllm_omni/model_executor/models/personaplex/personaplex_mimi_cudagraph.py</a:t>
            </a:r>
          </a:p>
          <a:p>
            <a:r>
              <a:rPr lang="zh-CN">
                <a:latin typeface="Noto Sans CJK SC"/>
                <a:ea typeface="Noto Sans CJK SC"/>
                <a:cs typeface="Noto Sans CJK SC"/>
              </a:rPr>
              <a:t>- personaplex.yaml: https://github.com/vllm-project/vllm-omni/blob/712b90de9c7bc14c595b363401588a713a87c02d/vllm_omni/deploy/personaplex.yaml</a:t>
            </a:r>
          </a:p>
          <a:p>
            <a:r>
              <a:rPr lang="zh-CN">
                <a:latin typeface="Noto Sans CJK SC"/>
                <a:ea typeface="Noto Sans CJK SC"/>
                <a:cs typeface="Noto Sans CJK SC"/>
              </a:rPr>
              <a:t>- vision_encoder_cudagraph.py: https://github.com/vllm-project/vllm-omni/blob/712b90de9c7bc14c595b363401588a713a87c02d/vllm_omni/model_executor/models/qwen3_omni/vision_encoder_cudagraph.py</a:t>
            </a:r>
          </a:p>
          <a:p>
            <a:r>
              <a:rPr lang="zh-CN">
                <a:latin typeface="Noto Sans CJK SC"/>
                <a:ea typeface="Noto Sans CJK SC"/>
                <a:cs typeface="Noto Sans CJK SC"/>
              </a:rPr>
              <a:t>- https://github.com/vllm-project/vllm-omni/pull/7821</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https://github.com/vllm-project/vllm-omni/pull/8443</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https://github.com/vllm-project/vllm-omni/pull/8215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此页分别展示单并发与 4 并发结果，不将不同硬件和任务的数据视为模型间横向排名。MiniCPM-o 4.5 使用 H100、Seed-TTS 文本转语音任务，数据为均值；AURA 使用 2×H200、OmniInteract 实时音视频，数据为语音回应中位数，2 FPS，排除 warmup。TTFT 是首个 token 延迟，TTFP 是首个音频包延迟，RTF = 生成耗时 / 音频时长，均为越低越好。</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table compares concurrency 1 and 4 within each reported workload. MiniCPM-o 4.5 uses H100 Seed-TTS text-to-speech records dated 21 September 2026. Mean TTFT is 161.8 / 252.8 ms, mean TTFP is 635.3 / 1451.9 ms, and mean request RTF is 0.27 / 0.64. These are text-to-speech measurements, not native audiovisual duplex session RTF. The source records identify H100 without establishing a GPU count.</a:t>
            </a:r>
          </a:p>
          <a:p>
            <a:r>
              <a:rPr lang="zh-CN">
                <a:latin typeface="Noto Sans CJK SC"/>
                <a:ea typeface="Noto Sans CJK SC"/>
                <a:cs typeface="Noto Sans CJK SC"/>
              </a:rPr>
              <a:t/>
            </a:r>
          </a:p>
          <a:p>
            <a:r>
              <a:rPr lang="zh-CN">
                <a:latin typeface="Noto Sans CJK SC"/>
                <a:ea typeface="Noto Sans CJK SC"/>
                <a:cs typeface="Noto Sans CJK SC"/>
              </a:rPr>
              <a:t>AURA uses the original 2×H200 OmniInteract audio/video setup: 2 FPS, warmup excluded, reported spoken-turn medians. The reported latency is C=1 TTFT 208 ms / TTFP 463.8 ms and C=4 TTFT 244 ms / TTFP 480.1 ms. The PR below describes the original benchmark setup; the latency values follow the supplied benchmark results.</a:t>
            </a:r>
          </a:p>
          <a:p>
            <a:r>
              <a:rPr lang="zh-CN">
                <a:latin typeface="Noto Sans CJK SC"/>
                <a:ea typeface="Noto Sans CJK SC"/>
                <a:cs typeface="Noto Sans CJK SC"/>
              </a:rPr>
              <a:t/>
            </a:r>
          </a:p>
          <a:p>
            <a:r>
              <a:rPr lang="zh-CN">
                <a:latin typeface="Noto Sans CJK SC"/>
                <a:ea typeface="Noto Sans CJK SC"/>
                <a:cs typeface="Noto Sans CJK SC"/>
              </a:rPr>
              <a:t>RTF means generation time divided by generated audio duration; lower is better. Audio throughput in seconds of audio per wall-clock second is a different metric and is not used as AURA RTF. Hardware, workloads and statistical summaries differ between the two models, so this table is not a head-to-head comparison. The figures are benchmark snapshots, not a new test of the latest implementation.</a:t>
            </a:r>
          </a:p>
          <a:p>
            <a:r>
              <a:rPr lang="zh-CN">
                <a:latin typeface="Noto Sans CJK SC"/>
                <a:ea typeface="Noto Sans CJK SC"/>
                <a:cs typeface="Noto Sans CJK SC"/>
              </a:rPr>
              <a:t/>
            </a:r>
          </a:p>
          <a:p>
            <a:r>
              <a:rPr lang="zh-CN">
                <a:latin typeface="Noto Sans CJK SC"/>
                <a:ea typeface="Noto Sans CJK SC"/>
                <a:cs typeface="Noto Sans CJK SC"/>
              </a:rPr>
              <a:t>Benchmark setup: https://github.com/vllm-project/vllm-omni/pull/7633</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test_minicpmo_4_5.json: https://github.com/vllm-project/vllm-omni/blob/712b90de9c7bc14c595b363401588a713a87c02d/tests/dfx/perf/tests/test_minicpmo_4_5.json</a:t>
            </a:r>
          </a:p>
          <a:p>
            <a:r>
              <a:rPr lang="zh-CN">
                <a:latin typeface="Noto Sans CJK SC"/>
                <a:ea typeface="Noto Sans CJK SC"/>
                <a:cs typeface="Noto Sans CJK SC"/>
              </a:rPr>
              <a:t>- metrics.py: https://github.com/vllm-project/vllm-omni/blob/712b90de9c7bc14c595b363401588a713a87c02d/vllm_omni/benchmarks/metrics/metrics.py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可部署于本机或远端；图中 Thinker、Talker、Code2Wav 使用 MiniCPM-o 4.5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AI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1.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xml"/><Relationship Id="rId5" Type="http://schemas.openxmlformats.org/officeDocument/2006/relationships/image" Target="../media/image5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9.xml"/><Relationship Id="rId11" Type="http://schemas.openxmlformats.org/officeDocument/2006/relationships/hyperlink" Target="https://github.com/vllm-project/vllm-omni/blob/712b90de9c7bc14c595b363401588a713a87c02d/vllm_omni/engine/duplex/delivery.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让音视频会话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同一段实时会话</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摄像头画面</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助手回应时，仍持续接收</a:t>
            </a:r>
          </a:p>
          <a:p>
            <a:pPr algn="l">
              <a:lnSpc>
                <a:spcPct val="110000"/>
              </a:lnSpc>
              <a:spcAft>
                <a:spcPts val="0"/>
              </a:spcAft>
            </a:pPr>
            <a:r>
              <a:rPr sz="1700" b="0" lang="zh-CN">
                <a:solidFill>
                  <a:srgbClr val="586B7E"/>
                </a:solidFill>
                <a:latin typeface="Noto Sans CJK SC"/>
                <a:ea typeface="Noto Sans CJK SC"/>
                <a:cs typeface="Noto Sans CJK SC"/>
              </a:rPr>
              <a:t>用户语音与画面。</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以 Web demo 为例：模型决策、Server VAD 与客户端操作共同决定交互行为。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20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20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20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清空待播音频</a:t>
            </a:r>
          </a:p>
          <a:p>
            <a:pPr algn="l">
              <a:lnSpc>
                <a:spcPct val="110000"/>
              </a:lnSpc>
              <a:spcAft>
                <a:spcPts val="0"/>
              </a:spcAft>
            </a:pPr>
            <a:r>
              <a:rPr sz="120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按住说话，松开后</a:t>
            </a:r>
          </a:p>
          <a:p>
            <a:pPr algn="l">
              <a:lnSpc>
                <a:spcPct val="110000"/>
              </a:lnSpc>
              <a:spcAft>
                <a:spcPts val="0"/>
              </a:spcAft>
            </a:pPr>
            <a:r>
              <a:rPr sz="120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lang="zh-CN">
                <a:solidFill>
                  <a:srgbClr val="142B45"/>
                </a:solidFill>
                <a:latin typeface="Noto Sans CJK SC"/>
                <a:ea typeface="Noto Sans CJK SC"/>
                <a:cs typeface="Noto Sans CJK SC"/>
              </a:rPr>
              <a:t>按住时停止本地播放</a:t>
            </a:r>
          </a:p>
          <a:p>
            <a:pPr algn="l">
              <a:lnSpc>
                <a:spcPct val="110000"/>
              </a:lnSpc>
              <a:spcAft>
                <a:spcPts val="0"/>
              </a:spcAft>
            </a:pPr>
            <a:r>
              <a:rPr sz="120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应用可接入显式 response.cancel，取消服务端当前 response。</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模型让出话语权</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模型切换到聆听状态</a:t>
            </a:r>
          </a:p>
          <a:p>
            <a:pPr algn="l">
              <a:lnSpc>
                <a:spcPct val="110000"/>
              </a:lnSpc>
              <a:spcAft>
                <a:spcPts val="0"/>
              </a:spcAft>
            </a:pPr>
            <a:r>
              <a:rPr sz="1050" b="0" lang="zh-CN">
                <a:solidFill>
                  <a:srgbClr val="142B45"/>
                </a:solidFill>
                <a:latin typeface="Noto Sans CJK SC"/>
                <a:ea typeface="Noto Sans CJK SC"/>
                <a:cs typeface="Noto Sans CJK SC"/>
              </a:rPr>
              <a:t>LISTEN 不等于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停止用户听到的声音</a:t>
            </a:r>
          </a:p>
          <a:p>
            <a:pPr algn="l">
              <a:lnSpc>
                <a:spcPct val="110000"/>
              </a:lnSpc>
              <a:spcAft>
                <a:spcPts val="0"/>
              </a:spcAft>
            </a:pPr>
            <a:r>
              <a:rPr sz="1050" b="0" lang="zh-CN">
                <a:solidFill>
                  <a:srgbClr val="142B45"/>
                </a:solidFill>
                <a:latin typeface="Noto Sans CJK SC"/>
                <a:ea typeface="Noto Sans CJK SC"/>
                <a:cs typeface="Noto Sans CJK SC"/>
              </a:rPr>
              <a:t>服务端仍可继续生成</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取消当前 response</a:t>
            </a:r>
          </a:p>
          <a:p>
            <a:pPr algn="l">
              <a:lnSpc>
                <a:spcPct val="110000"/>
              </a:lnSpc>
              <a:spcAft>
                <a:spcPts val="0"/>
              </a:spcAft>
            </a:pPr>
            <a:r>
              <a:rPr sz="1050" b="0" lang="zh-CN">
                <a:solidFill>
                  <a:srgbClr val="142B45"/>
                </a:solidFill>
                <a:latin typeface="Noto Sans CJK SC"/>
                <a:ea typeface="Noto Sans CJK SC"/>
                <a:cs typeface="Noto Sans CJK SC"/>
              </a:rPr>
              <a:t>客户端清空待播音频</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Server VAD 打断需启用 interrupt_response；具体行为取决于模型与所选 demo 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zh-CN">
                <a:solidFill>
                  <a:srgbClr val="008E96"/>
                </a:solidFill>
                <a:latin typeface="Noto Sans CJK SC"/>
                <a:ea typeface="Noto Sans CJK SC"/>
                <a:cs typeface="Noto Sans CJK SC"/>
              </a:rPr>
              <a:t>视频输入 · 播放反馈 · 会话续接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 持续更新活跃请求；AURA 与 Qwen3-Omni 按 turn 提交新请求。</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持续音视频输入</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LLM KV + 流式音频状态</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请求内 TTS 状态</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LISTEN 保留活跃请求；后续输入复用已绑定的 Replica 和保留的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50" b="0" lang="zh-CN">
                <a:solidFill>
                  <a:srgbClr val="586B7E"/>
                </a:solidFill>
                <a:latin typeface="Noto Sans CJK SC"/>
                <a:ea typeface="Noto Sans CJK SC"/>
                <a:cs typeface="Noto Sans CJK SC"/>
              </a:rPr>
              <a:t>MiniCPM 的 KV / 流式状态续用以对应请求存活为前提；AURA 的 TTS 可在同一 turn 内续算。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恢复连接，延续同一会话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凭会话凭据重新绑定仍存活的 engine session，从上次接收位置续传保留的 event。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支持活跃会话续接：MiniCPM · AURA · Qwen3-Omni · Nemotron；PersonaPlex 断连后需新建会话。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优化流式执行，减少重复计算</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针对模型优化 CUDA 执行路径，减少实时输入、生成与语音解码中的重复工作。</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Rounded Rectangle 11"/>
          <p:cNvSpPr/>
          <p:nvPr/>
        </p:nvSpPr>
        <p:spPr>
          <a:xfrm>
            <a:off x="594360" y="2267712"/>
            <a:ext cx="5330952" cy="1508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5528" y="246888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01</a:t>
            </a:r>
          </a:p>
        </p:txBody>
      </p:sp>
      <p:sp>
        <p:nvSpPr>
          <p:cNvPr id="14" name="TextBox 13"/>
          <p:cNvSpPr txBox="1"/>
          <p:nvPr/>
        </p:nvSpPr>
        <p:spPr>
          <a:xfrm>
            <a:off x="1353312" y="2450592"/>
            <a:ext cx="4370832" cy="393192"/>
          </a:xfrm>
          <a:prstGeom prst="rect">
            <a:avLst/>
          </a:prstGeom>
          <a:noFill/>
        </p:spPr>
        <p:txBody>
          <a:bodyPr wrap="square" lIns="0" rIns="0" tIns="0" bIns="0" anchor="t">
            <a:spAutoFit/>
          </a:bodyPr>
          <a:lstStyle/>
          <a:p>
            <a:pPr algn="l">
              <a:lnSpc>
                <a:spcPct val="110000"/>
              </a:lnSpc>
              <a:spcAft>
                <a:spcPts val="0"/>
              </a:spcAft>
            </a:pPr>
            <a:r>
              <a:rPr sz="1750" b="1" lang="zh-CN">
                <a:solidFill>
                  <a:srgbClr val="142B45"/>
                </a:solidFill>
                <a:latin typeface="Noto Sans CJK SC"/>
                <a:ea typeface="Noto Sans CJK SC"/>
                <a:cs typeface="Noto Sans CJK SC"/>
              </a:rPr>
              <a:t>MiniCPM：保留有界 KV window</a:t>
            </a:r>
          </a:p>
        </p:txBody>
      </p:sp>
      <p:sp>
        <p:nvSpPr>
          <p:cNvPr id="15" name="TextBox 14"/>
          <p:cNvSpPr txBox="1"/>
          <p:nvPr/>
        </p:nvSpPr>
        <p:spPr>
          <a:xfrm>
            <a:off x="1353312" y="3035808"/>
            <a:ext cx="4370832" cy="566928"/>
          </a:xfrm>
          <a:prstGeom prst="rect">
            <a:avLst/>
          </a:prstGeom>
          <a:noFill/>
        </p:spPr>
        <p:txBody>
          <a:bodyPr wrap="square" lIns="0" rIns="0" tIns="0" bIns="0" anchor="t">
            <a:spAutoFit/>
          </a:bodyPr>
          <a:lstStyle/>
          <a:p>
            <a:pPr algn="l">
              <a:lnSpc>
                <a:spcPct val="110000"/>
              </a:lnSpc>
              <a:spcAft>
                <a:spcPts val="0"/>
              </a:spcAft>
            </a:pPr>
            <a:r>
              <a:rPr sz="1260" b="0" lang="zh-CN">
                <a:solidFill>
                  <a:srgbClr val="586B7E"/>
                </a:solidFill>
                <a:latin typeface="Noto Sans CJK SC"/>
                <a:ea typeface="Noto Sans CJK SC"/>
                <a:cs typeface="Noto Sans CJK SC"/>
              </a:rPr>
              <a:t>Basic 模式：按 block 对齐的 sliding window</a:t>
            </a:r>
          </a:p>
          <a:p>
            <a:pPr algn="l">
              <a:lnSpc>
                <a:spcPct val="110000"/>
              </a:lnSpc>
              <a:spcAft>
                <a:spcPts val="0"/>
              </a:spcAft>
            </a:pPr>
            <a:r>
              <a:rPr sz="1260" b="0" lang="zh-CN">
                <a:solidFill>
                  <a:srgbClr val="586B7E"/>
                </a:solidFill>
                <a:latin typeface="Noto Sans CJK SC"/>
                <a:ea typeface="Noto Sans CJK SC"/>
                <a:cs typeface="Noto Sans CJK SC"/>
              </a:rPr>
              <a:t>原地 Re-RoPE，无需复制保留的 KV</a:t>
            </a:r>
          </a:p>
        </p:txBody>
      </p:sp>
      <p:sp>
        <p:nvSpPr>
          <p:cNvPr id="16" name="Rounded Rectangle 15"/>
          <p:cNvSpPr/>
          <p:nvPr/>
        </p:nvSpPr>
        <p:spPr>
          <a:xfrm>
            <a:off x="6263640" y="2267712"/>
            <a:ext cx="5330952" cy="1508760"/>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64807" y="246888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02</a:t>
            </a:r>
          </a:p>
        </p:txBody>
      </p:sp>
      <p:sp>
        <p:nvSpPr>
          <p:cNvPr id="18" name="TextBox 17"/>
          <p:cNvSpPr txBox="1"/>
          <p:nvPr/>
        </p:nvSpPr>
        <p:spPr>
          <a:xfrm>
            <a:off x="7022592" y="2450592"/>
            <a:ext cx="4370832" cy="393192"/>
          </a:xfrm>
          <a:prstGeom prst="rect">
            <a:avLst/>
          </a:prstGeom>
          <a:noFill/>
        </p:spPr>
        <p:txBody>
          <a:bodyPr wrap="square" lIns="0" rIns="0" tIns="0" bIns="0" anchor="t">
            <a:spAutoFit/>
          </a:bodyPr>
          <a:lstStyle/>
          <a:p>
            <a:pPr algn="l">
              <a:lnSpc>
                <a:spcPct val="110000"/>
              </a:lnSpc>
              <a:spcAft>
                <a:spcPts val="0"/>
              </a:spcAft>
            </a:pPr>
            <a:r>
              <a:rPr sz="1750" b="1" lang="zh-CN">
                <a:solidFill>
                  <a:srgbClr val="142B45"/>
                </a:solidFill>
                <a:latin typeface="Noto Sans CJK SC"/>
                <a:ea typeface="Noto Sans CJK SC"/>
                <a:cs typeface="Noto Sans CJK SC"/>
              </a:rPr>
              <a:t>MiniCPM：音视频 CUDA graphs</a:t>
            </a:r>
          </a:p>
        </p:txBody>
      </p:sp>
      <p:sp>
        <p:nvSpPr>
          <p:cNvPr id="19" name="TextBox 18"/>
          <p:cNvSpPr txBox="1"/>
          <p:nvPr/>
        </p:nvSpPr>
        <p:spPr>
          <a:xfrm>
            <a:off x="7022592" y="3035808"/>
            <a:ext cx="4370832" cy="566928"/>
          </a:xfrm>
          <a:prstGeom prst="rect">
            <a:avLst/>
          </a:prstGeom>
          <a:noFill/>
        </p:spPr>
        <p:txBody>
          <a:bodyPr wrap="square" lIns="0" rIns="0" tIns="0" bIns="0" anchor="t">
            <a:spAutoFit/>
          </a:bodyPr>
          <a:lstStyle/>
          <a:p>
            <a:pPr algn="l">
              <a:lnSpc>
                <a:spcPct val="110000"/>
              </a:lnSpc>
              <a:spcAft>
                <a:spcPts val="0"/>
              </a:spcAft>
            </a:pPr>
            <a:r>
              <a:rPr sz="1260" b="0" lang="zh-CN">
                <a:solidFill>
                  <a:srgbClr val="586B7E"/>
                </a:solidFill>
                <a:latin typeface="Noto Sans CJK SC"/>
                <a:ea typeface="Noto Sans CJK SC"/>
                <a:cs typeface="Noto Sans CJK SC"/>
              </a:rPr>
              <a:t>流式音频与视觉 encoder 使用 CUDA graphs</a:t>
            </a:r>
          </a:p>
          <a:p>
            <a:pPr algn="l">
              <a:lnSpc>
                <a:spcPct val="110000"/>
              </a:lnSpc>
              <a:spcAft>
                <a:spcPts val="0"/>
              </a:spcAft>
            </a:pPr>
            <a:r>
              <a:rPr sz="1260" b="0" lang="zh-CN">
                <a:solidFill>
                  <a:srgbClr val="586B7E"/>
                </a:solidFill>
                <a:latin typeface="Noto Sans CJK SC"/>
                <a:ea typeface="Noto Sans CJK SC"/>
                <a:cs typeface="Noto Sans CJK SC"/>
              </a:rPr>
              <a:t>Code2Wav 常驻执行，结合 fused kernels</a:t>
            </a:r>
          </a:p>
        </p:txBody>
      </p:sp>
      <p:sp>
        <p:nvSpPr>
          <p:cNvPr id="20" name="Rounded Rectangle 19"/>
          <p:cNvSpPr/>
          <p:nvPr/>
        </p:nvSpPr>
        <p:spPr>
          <a:xfrm>
            <a:off x="594360" y="4005072"/>
            <a:ext cx="5330952" cy="1508760"/>
          </a:xfrm>
          <a:prstGeom prst="roundRect">
            <a:avLst>
              <a:gd name="adj" fmla="val 10000"/>
            </a:avLst>
          </a:prstGeom>
          <a:solidFill>
            <a:srgbClr val="F3EF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95528" y="420624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7855AD"/>
                </a:solidFill>
                <a:latin typeface="Arial"/>
                <a:ea typeface="Arial"/>
                <a:cs typeface="Arial"/>
              </a:rPr>
              <a:t>03</a:t>
            </a:r>
          </a:p>
        </p:txBody>
      </p:sp>
      <p:sp>
        <p:nvSpPr>
          <p:cNvPr id="22" name="TextBox 21"/>
          <p:cNvSpPr txBox="1"/>
          <p:nvPr/>
        </p:nvSpPr>
        <p:spPr>
          <a:xfrm>
            <a:off x="1353312" y="4187952"/>
            <a:ext cx="4370832" cy="393192"/>
          </a:xfrm>
          <a:prstGeom prst="rect">
            <a:avLst/>
          </a:prstGeom>
          <a:noFill/>
        </p:spPr>
        <p:txBody>
          <a:bodyPr wrap="square" lIns="0" rIns="0" tIns="0" bIns="0" anchor="t">
            <a:spAutoFit/>
          </a:bodyPr>
          <a:lstStyle/>
          <a:p>
            <a:pPr algn="l">
              <a:lnSpc>
                <a:spcPct val="110000"/>
              </a:lnSpc>
              <a:spcAft>
                <a:spcPts val="0"/>
              </a:spcAft>
            </a:pPr>
            <a:r>
              <a:rPr sz="1750" b="1" lang="zh-CN">
                <a:solidFill>
                  <a:srgbClr val="142B45"/>
                </a:solidFill>
                <a:latin typeface="Noto Sans CJK SC"/>
                <a:ea typeface="Noto Sans CJK SC"/>
                <a:cs typeface="Noto Sans CJK SC"/>
              </a:rPr>
              <a:t>PersonaPlex：实时音频帧 batching</a:t>
            </a:r>
          </a:p>
        </p:txBody>
      </p:sp>
      <p:sp>
        <p:nvSpPr>
          <p:cNvPr id="23" name="TextBox 22"/>
          <p:cNvSpPr txBox="1"/>
          <p:nvPr/>
        </p:nvSpPr>
        <p:spPr>
          <a:xfrm>
            <a:off x="1353312" y="4773168"/>
            <a:ext cx="4370832" cy="566928"/>
          </a:xfrm>
          <a:prstGeom prst="rect">
            <a:avLst/>
          </a:prstGeom>
          <a:noFill/>
        </p:spPr>
        <p:txBody>
          <a:bodyPr wrap="square" lIns="0" rIns="0" tIns="0" bIns="0" anchor="t">
            <a:spAutoFit/>
          </a:bodyPr>
          <a:lstStyle/>
          <a:p>
            <a:pPr algn="l">
              <a:lnSpc>
                <a:spcPct val="110000"/>
              </a:lnSpc>
              <a:spcAft>
                <a:spcPts val="0"/>
              </a:spcAft>
            </a:pPr>
            <a:r>
              <a:rPr sz="1260" b="0" lang="zh-CN">
                <a:solidFill>
                  <a:srgbClr val="586B7E"/>
                </a:solidFill>
                <a:latin typeface="Noto Sans CJK SC"/>
                <a:ea typeface="Noto Sans CJK SC"/>
                <a:cs typeface="Noto Sans CJK SC"/>
              </a:rPr>
              <a:t>跨活跃 session 对追加输入进行 batching</a:t>
            </a:r>
          </a:p>
          <a:p>
            <a:pPr algn="l">
              <a:lnSpc>
                <a:spcPct val="110000"/>
              </a:lnSpc>
              <a:spcAft>
                <a:spcPts val="0"/>
              </a:spcAft>
            </a:pPr>
            <a:r>
              <a:rPr sz="1260" b="0" lang="zh-CN">
                <a:solidFill>
                  <a:srgbClr val="586B7E"/>
                </a:solidFill>
                <a:latin typeface="Noto Sans CJK SC"/>
                <a:ea typeface="Noto Sans CJK SC"/>
                <a:cs typeface="Noto Sans CJK SC"/>
              </a:rPr>
              <a:t>复用 Mimi encoder / decoder CUDA graphs</a:t>
            </a:r>
          </a:p>
        </p:txBody>
      </p:sp>
      <p:sp>
        <p:nvSpPr>
          <p:cNvPr id="24" name="Rounded Rectangle 23"/>
          <p:cNvSpPr/>
          <p:nvPr/>
        </p:nvSpPr>
        <p:spPr>
          <a:xfrm>
            <a:off x="6263640" y="4005072"/>
            <a:ext cx="5330952" cy="1508760"/>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464807" y="420624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AD761E"/>
                </a:solidFill>
                <a:latin typeface="Arial"/>
                <a:ea typeface="Arial"/>
                <a:cs typeface="Arial"/>
              </a:rPr>
              <a:t>04</a:t>
            </a:r>
          </a:p>
        </p:txBody>
      </p:sp>
      <p:sp>
        <p:nvSpPr>
          <p:cNvPr id="26" name="TextBox 25"/>
          <p:cNvSpPr txBox="1"/>
          <p:nvPr/>
        </p:nvSpPr>
        <p:spPr>
          <a:xfrm>
            <a:off x="7022592" y="4187952"/>
            <a:ext cx="4370832" cy="393192"/>
          </a:xfrm>
          <a:prstGeom prst="rect">
            <a:avLst/>
          </a:prstGeom>
          <a:noFill/>
        </p:spPr>
        <p:txBody>
          <a:bodyPr wrap="square" lIns="0" rIns="0" tIns="0" bIns="0" anchor="t">
            <a:spAutoFit/>
          </a:bodyPr>
          <a:lstStyle/>
          <a:p>
            <a:pPr algn="l">
              <a:lnSpc>
                <a:spcPct val="110000"/>
              </a:lnSpc>
              <a:spcAft>
                <a:spcPts val="0"/>
              </a:spcAft>
            </a:pPr>
            <a:r>
              <a:rPr sz="1750" b="1" lang="zh-CN">
                <a:solidFill>
                  <a:srgbClr val="142B45"/>
                </a:solidFill>
                <a:latin typeface="Noto Sans CJK SC"/>
                <a:ea typeface="Noto Sans CJK SC"/>
                <a:cs typeface="Noto Sans CJK SC"/>
              </a:rPr>
              <a:t>Qwen3-Omni：捕获视觉计算图</a:t>
            </a:r>
          </a:p>
        </p:txBody>
      </p:sp>
      <p:sp>
        <p:nvSpPr>
          <p:cNvPr id="27" name="TextBox 26"/>
          <p:cNvSpPr txBox="1"/>
          <p:nvPr/>
        </p:nvSpPr>
        <p:spPr>
          <a:xfrm>
            <a:off x="7022592" y="4773168"/>
            <a:ext cx="4370832" cy="566928"/>
          </a:xfrm>
          <a:prstGeom prst="rect">
            <a:avLst/>
          </a:prstGeom>
          <a:noFill/>
        </p:spPr>
        <p:txBody>
          <a:bodyPr wrap="square" lIns="0" rIns="0" tIns="0" bIns="0" anchor="t">
            <a:spAutoFit/>
          </a:bodyPr>
          <a:lstStyle/>
          <a:p>
            <a:pPr algn="l">
              <a:lnSpc>
                <a:spcPct val="110000"/>
              </a:lnSpc>
              <a:spcAft>
                <a:spcPts val="0"/>
              </a:spcAft>
            </a:pPr>
            <a:r>
              <a:rPr sz="1260" b="0" lang="zh-CN">
                <a:solidFill>
                  <a:srgbClr val="586B7E"/>
                </a:solidFill>
                <a:latin typeface="Noto Sans CJK SC"/>
                <a:ea typeface="Noto Sans CJK SC"/>
                <a:cs typeface="Noto Sans CJK SC"/>
              </a:rPr>
              <a:t>Thinker image encoder 使用 CUDA graphs</a:t>
            </a:r>
          </a:p>
          <a:p>
            <a:pPr algn="l">
              <a:lnSpc>
                <a:spcPct val="110000"/>
              </a:lnSpc>
              <a:spcAft>
                <a:spcPts val="0"/>
              </a:spcAft>
            </a:pPr>
            <a:r>
              <a:rPr sz="1260" b="0" lang="zh-CN">
                <a:solidFill>
                  <a:srgbClr val="586B7E"/>
                </a:solidFill>
                <a:latin typeface="Noto Sans CJK SC"/>
                <a:ea typeface="Noto Sans CJK SC"/>
                <a:cs typeface="Noto Sans CJK SC"/>
              </a:rPr>
              <a:t>在支持的 shape 下复用已捕获的计算图</a:t>
            </a:r>
          </a:p>
        </p:txBody>
      </p:sp>
      <p:sp>
        <p:nvSpPr>
          <p:cNvPr id="28" name="TextBox 27"/>
          <p:cNvSpPr txBox="1"/>
          <p:nvPr/>
        </p:nvSpPr>
        <p:spPr>
          <a:xfrm>
            <a:off x="685800" y="5925312"/>
            <a:ext cx="10835640" cy="310896"/>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选择匹配的 CUDA profile，在目标负载下测量端到端 TTFP 与 RTF。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单并发与 4 并发的性能表现</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单并发与 4 并发下的响应延迟和语音生成效率。</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594360" y="2121408"/>
            <a:ext cx="10972800" cy="292608"/>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MiniCPM-o 4.5  ·  H100  ·  Seed-TTS 文本转语音</a:t>
            </a:r>
          </a:p>
        </p:txBody>
      </p:sp>
      <p:sp>
        <p:nvSpPr>
          <p:cNvPr id="13" name="Rectangle 12"/>
          <p:cNvSpPr/>
          <p:nvPr/>
        </p:nvSpPr>
        <p:spPr>
          <a:xfrm>
            <a:off x="576072" y="2532888"/>
            <a:ext cx="11036808" cy="32004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58952" y="2583180"/>
            <a:ext cx="4681728"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指标（平均值）</a:t>
            </a:r>
          </a:p>
        </p:txBody>
      </p:sp>
      <p:sp>
        <p:nvSpPr>
          <p:cNvPr id="15" name="TextBox 14"/>
          <p:cNvSpPr txBox="1"/>
          <p:nvPr/>
        </p:nvSpPr>
        <p:spPr>
          <a:xfrm>
            <a:off x="5852160" y="2583180"/>
            <a:ext cx="2468880" cy="210312"/>
          </a:xfrm>
          <a:prstGeom prst="rect">
            <a:avLst/>
          </a:prstGeom>
          <a:noFill/>
        </p:spPr>
        <p:txBody>
          <a:bodyPr wrap="square" lIns="0" rIns="0" tIns="0" bIns="0" anchor="t">
            <a:spAutoFit/>
          </a:bodyPr>
          <a:lstStyle/>
          <a:p>
            <a:pPr algn="ctr">
              <a:lnSpc>
                <a:spcPct val="110000"/>
              </a:lnSpc>
              <a:spcAft>
                <a:spcPts val="0"/>
              </a:spcAft>
            </a:pPr>
            <a:r>
              <a:rPr sz="1200" b="1" lang="zh-CN">
                <a:solidFill>
                  <a:srgbClr val="586B7E"/>
                </a:solidFill>
                <a:latin typeface="Noto Sans CJK SC"/>
                <a:ea typeface="Noto Sans CJK SC"/>
                <a:cs typeface="Noto Sans CJK SC"/>
              </a:rPr>
              <a:t>单并发</a:t>
            </a:r>
          </a:p>
        </p:txBody>
      </p:sp>
      <p:sp>
        <p:nvSpPr>
          <p:cNvPr id="16" name="TextBox 15"/>
          <p:cNvSpPr txBox="1"/>
          <p:nvPr/>
        </p:nvSpPr>
        <p:spPr>
          <a:xfrm>
            <a:off x="8750808" y="2583180"/>
            <a:ext cx="2468880" cy="210312"/>
          </a:xfrm>
          <a:prstGeom prst="rect">
            <a:avLst/>
          </a:prstGeom>
          <a:noFill/>
        </p:spPr>
        <p:txBody>
          <a:bodyPr wrap="square" lIns="0" rIns="0" tIns="0" bIns="0" anchor="t">
            <a:spAutoFit/>
          </a:bodyPr>
          <a:lstStyle/>
          <a:p>
            <a:pPr algn="ctr">
              <a:lnSpc>
                <a:spcPct val="110000"/>
              </a:lnSpc>
              <a:spcAft>
                <a:spcPts val="0"/>
              </a:spcAft>
            </a:pPr>
            <a:r>
              <a:rPr sz="1200" b="1" lang="zh-CN">
                <a:solidFill>
                  <a:srgbClr val="586B7E"/>
                </a:solidFill>
                <a:latin typeface="Noto Sans CJK SC"/>
                <a:ea typeface="Noto Sans CJK SC"/>
                <a:cs typeface="Noto Sans CJK SC"/>
              </a:rPr>
              <a:t>4 并发</a:t>
            </a:r>
          </a:p>
        </p:txBody>
      </p:sp>
      <p:sp>
        <p:nvSpPr>
          <p:cNvPr id="17" name="TextBox 16"/>
          <p:cNvSpPr txBox="1"/>
          <p:nvPr/>
        </p:nvSpPr>
        <p:spPr>
          <a:xfrm>
            <a:off x="758952" y="292150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TTFT ↓</a:t>
            </a:r>
          </a:p>
        </p:txBody>
      </p:sp>
      <p:sp>
        <p:nvSpPr>
          <p:cNvPr id="18" name="TextBox 17"/>
          <p:cNvSpPr txBox="1"/>
          <p:nvPr/>
        </p:nvSpPr>
        <p:spPr>
          <a:xfrm>
            <a:off x="5852160" y="292150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161.8 ms</a:t>
            </a:r>
          </a:p>
        </p:txBody>
      </p:sp>
      <p:sp>
        <p:nvSpPr>
          <p:cNvPr id="19" name="TextBox 18"/>
          <p:cNvSpPr txBox="1"/>
          <p:nvPr/>
        </p:nvSpPr>
        <p:spPr>
          <a:xfrm>
            <a:off x="8750808" y="292150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252.8 ms</a:t>
            </a:r>
          </a:p>
        </p:txBody>
      </p:sp>
      <p:cxnSp>
        <p:nvCxnSpPr>
          <p:cNvPr id="20" name="Connector 19"/>
          <p:cNvCxnSpPr/>
          <p:nvPr/>
        </p:nvCxnSpPr>
        <p:spPr>
          <a:xfrm>
            <a:off x="594360" y="326440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58952" y="333298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TTFP ↓</a:t>
            </a:r>
          </a:p>
        </p:txBody>
      </p:sp>
      <p:sp>
        <p:nvSpPr>
          <p:cNvPr id="22" name="TextBox 21"/>
          <p:cNvSpPr txBox="1"/>
          <p:nvPr/>
        </p:nvSpPr>
        <p:spPr>
          <a:xfrm>
            <a:off x="5852160" y="333298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635.3 ms</a:t>
            </a:r>
          </a:p>
        </p:txBody>
      </p:sp>
      <p:sp>
        <p:nvSpPr>
          <p:cNvPr id="23" name="TextBox 22"/>
          <p:cNvSpPr txBox="1"/>
          <p:nvPr/>
        </p:nvSpPr>
        <p:spPr>
          <a:xfrm>
            <a:off x="8750808" y="333298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1451.9 ms</a:t>
            </a:r>
          </a:p>
        </p:txBody>
      </p:sp>
      <p:cxnSp>
        <p:nvCxnSpPr>
          <p:cNvPr id="24" name="Connector 23"/>
          <p:cNvCxnSpPr/>
          <p:nvPr/>
        </p:nvCxnSpPr>
        <p:spPr>
          <a:xfrm>
            <a:off x="594360" y="367588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58952" y="374446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RTF ↓</a:t>
            </a:r>
          </a:p>
        </p:txBody>
      </p:sp>
      <p:sp>
        <p:nvSpPr>
          <p:cNvPr id="26" name="TextBox 25"/>
          <p:cNvSpPr txBox="1"/>
          <p:nvPr/>
        </p:nvSpPr>
        <p:spPr>
          <a:xfrm>
            <a:off x="5852160" y="3744468"/>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0.27</a:t>
            </a:r>
          </a:p>
        </p:txBody>
      </p:sp>
      <p:sp>
        <p:nvSpPr>
          <p:cNvPr id="27" name="TextBox 26"/>
          <p:cNvSpPr txBox="1"/>
          <p:nvPr/>
        </p:nvSpPr>
        <p:spPr>
          <a:xfrm>
            <a:off x="8750808" y="3744468"/>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0.64</a:t>
            </a:r>
          </a:p>
        </p:txBody>
      </p:sp>
      <p:cxnSp>
        <p:nvCxnSpPr>
          <p:cNvPr id="28" name="Connector 27"/>
          <p:cNvCxnSpPr/>
          <p:nvPr/>
        </p:nvCxnSpPr>
        <p:spPr>
          <a:xfrm>
            <a:off x="594360" y="408736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594360" y="4251960"/>
            <a:ext cx="10972800" cy="292608"/>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AURA  ·  2×H200  ·  OmniInteract 实时音视频会话</a:t>
            </a:r>
          </a:p>
        </p:txBody>
      </p:sp>
      <p:sp>
        <p:nvSpPr>
          <p:cNvPr id="30" name="Rectangle 29"/>
          <p:cNvSpPr/>
          <p:nvPr/>
        </p:nvSpPr>
        <p:spPr>
          <a:xfrm>
            <a:off x="576072" y="4663440"/>
            <a:ext cx="11036808" cy="32004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8952" y="4713732"/>
            <a:ext cx="4681728"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指标（语音回应中位数）</a:t>
            </a:r>
          </a:p>
        </p:txBody>
      </p:sp>
      <p:sp>
        <p:nvSpPr>
          <p:cNvPr id="32" name="TextBox 31"/>
          <p:cNvSpPr txBox="1"/>
          <p:nvPr/>
        </p:nvSpPr>
        <p:spPr>
          <a:xfrm>
            <a:off x="5852160" y="4713732"/>
            <a:ext cx="2468880" cy="210312"/>
          </a:xfrm>
          <a:prstGeom prst="rect">
            <a:avLst/>
          </a:prstGeom>
          <a:noFill/>
        </p:spPr>
        <p:txBody>
          <a:bodyPr wrap="square" lIns="0" rIns="0" tIns="0" bIns="0" anchor="t">
            <a:spAutoFit/>
          </a:bodyPr>
          <a:lstStyle/>
          <a:p>
            <a:pPr algn="ctr">
              <a:lnSpc>
                <a:spcPct val="110000"/>
              </a:lnSpc>
              <a:spcAft>
                <a:spcPts val="0"/>
              </a:spcAft>
            </a:pPr>
            <a:r>
              <a:rPr sz="1200" b="1" lang="zh-CN">
                <a:solidFill>
                  <a:srgbClr val="586B7E"/>
                </a:solidFill>
                <a:latin typeface="Noto Sans CJK SC"/>
                <a:ea typeface="Noto Sans CJK SC"/>
                <a:cs typeface="Noto Sans CJK SC"/>
              </a:rPr>
              <a:t>单并发</a:t>
            </a:r>
          </a:p>
        </p:txBody>
      </p:sp>
      <p:sp>
        <p:nvSpPr>
          <p:cNvPr id="33" name="TextBox 32"/>
          <p:cNvSpPr txBox="1"/>
          <p:nvPr/>
        </p:nvSpPr>
        <p:spPr>
          <a:xfrm>
            <a:off x="8750808" y="4713732"/>
            <a:ext cx="2468880" cy="210312"/>
          </a:xfrm>
          <a:prstGeom prst="rect">
            <a:avLst/>
          </a:prstGeom>
          <a:noFill/>
        </p:spPr>
        <p:txBody>
          <a:bodyPr wrap="square" lIns="0" rIns="0" tIns="0" bIns="0" anchor="t">
            <a:spAutoFit/>
          </a:bodyPr>
          <a:lstStyle/>
          <a:p>
            <a:pPr algn="ctr">
              <a:lnSpc>
                <a:spcPct val="110000"/>
              </a:lnSpc>
              <a:spcAft>
                <a:spcPts val="0"/>
              </a:spcAft>
            </a:pPr>
            <a:r>
              <a:rPr sz="1200" b="1" lang="zh-CN">
                <a:solidFill>
                  <a:srgbClr val="586B7E"/>
                </a:solidFill>
                <a:latin typeface="Noto Sans CJK SC"/>
                <a:ea typeface="Noto Sans CJK SC"/>
                <a:cs typeface="Noto Sans CJK SC"/>
              </a:rPr>
              <a:t>4 并发</a:t>
            </a:r>
          </a:p>
        </p:txBody>
      </p:sp>
      <p:sp>
        <p:nvSpPr>
          <p:cNvPr id="34" name="TextBox 33"/>
          <p:cNvSpPr txBox="1"/>
          <p:nvPr/>
        </p:nvSpPr>
        <p:spPr>
          <a:xfrm>
            <a:off x="758952" y="5052060"/>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TTFT ↓</a:t>
            </a:r>
          </a:p>
        </p:txBody>
      </p:sp>
      <p:sp>
        <p:nvSpPr>
          <p:cNvPr id="35" name="TextBox 34"/>
          <p:cNvSpPr txBox="1"/>
          <p:nvPr/>
        </p:nvSpPr>
        <p:spPr>
          <a:xfrm>
            <a:off x="5852160" y="5052060"/>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208 ms</a:t>
            </a:r>
          </a:p>
        </p:txBody>
      </p:sp>
      <p:sp>
        <p:nvSpPr>
          <p:cNvPr id="36" name="TextBox 35"/>
          <p:cNvSpPr txBox="1"/>
          <p:nvPr/>
        </p:nvSpPr>
        <p:spPr>
          <a:xfrm>
            <a:off x="8750808" y="5052060"/>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244 ms</a:t>
            </a:r>
          </a:p>
        </p:txBody>
      </p:sp>
      <p:cxnSp>
        <p:nvCxnSpPr>
          <p:cNvPr id="37" name="Connector 36"/>
          <p:cNvCxnSpPr/>
          <p:nvPr/>
        </p:nvCxnSpPr>
        <p:spPr>
          <a:xfrm>
            <a:off x="594360" y="5394960"/>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758952" y="5463540"/>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TTFP ↓</a:t>
            </a:r>
          </a:p>
        </p:txBody>
      </p:sp>
      <p:sp>
        <p:nvSpPr>
          <p:cNvPr id="39" name="TextBox 38"/>
          <p:cNvSpPr txBox="1"/>
          <p:nvPr/>
        </p:nvSpPr>
        <p:spPr>
          <a:xfrm>
            <a:off x="5852160" y="5463540"/>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463.8 ms</a:t>
            </a:r>
          </a:p>
        </p:txBody>
      </p:sp>
      <p:sp>
        <p:nvSpPr>
          <p:cNvPr id="40" name="TextBox 39"/>
          <p:cNvSpPr txBox="1"/>
          <p:nvPr/>
        </p:nvSpPr>
        <p:spPr>
          <a:xfrm>
            <a:off x="8750808" y="5463540"/>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480.1 ms</a:t>
            </a:r>
          </a:p>
        </p:txBody>
      </p:sp>
      <p:cxnSp>
        <p:nvCxnSpPr>
          <p:cNvPr id="41" name="Connector 40"/>
          <p:cNvCxnSpPr/>
          <p:nvPr/>
        </p:nvCxnSpPr>
        <p:spPr>
          <a:xfrm>
            <a:off x="594360" y="5806440"/>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603504" y="6025896"/>
            <a:ext cx="10972800" cy="201168"/>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TTFT：首个 token 延迟；TTFP：首个音频包延迟；RTF：生成耗时 / 音频时长。均为越低越好。</a:t>
            </a:r>
          </a:p>
        </p:txBody>
      </p:sp>
      <p:sp>
        <p:nvSpPr>
          <p:cNvPr id="43" name="TextBox 42"/>
          <p:cNvSpPr txBox="1"/>
          <p:nvPr/>
        </p:nvSpPr>
        <p:spPr>
          <a:xfrm>
            <a:off x="603504" y="6236208"/>
            <a:ext cx="10972800" cy="13716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MiniCPM：2026-09-21 测试记录。AURA：2 FPS，warmup 不计入统计。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MiniCPM-o 4.5 示例</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共享内存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202936"/>
            <a:ext cx="10698480" cy="210312"/>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77256"/>
            <a:ext cx="10698480" cy="347472"/>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852160"/>
            <a:ext cx="5303520" cy="265176"/>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852160"/>
            <a:ext cx="5074920" cy="265176"/>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199632"/>
            <a:ext cx="10698480" cy="219456"/>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VAD：会话层做决策，worker 执行检测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当前 Server VAD 使用 Silero；Semantic VAD 可沿同一职责划分扩展。</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Rounded Rectangle 11"/>
          <p:cNvSpPr/>
          <p:nvPr/>
        </p:nvSpPr>
        <p:spPr>
          <a:xfrm>
            <a:off x="548640" y="2148840"/>
            <a:ext cx="2377440" cy="310896"/>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2199132"/>
            <a:ext cx="219456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327CEC"/>
                </a:solidFill>
                <a:latin typeface="Noto Sans CJK SC"/>
                <a:ea typeface="Noto Sans CJK SC"/>
                <a:cs typeface="Noto Sans CJK SC"/>
              </a:rPr>
              <a:t>当前 Server VAD</a:t>
            </a:r>
          </a:p>
        </p:txBody>
      </p:sp>
      <p:sp>
        <p:nvSpPr>
          <p:cNvPr id="14" name="TextBox 13"/>
          <p:cNvSpPr txBox="1"/>
          <p:nvPr/>
        </p:nvSpPr>
        <p:spPr>
          <a:xfrm>
            <a:off x="6126480" y="2203704"/>
            <a:ext cx="548640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Unified duplex：同一 API 进程，控制循环 + CPU 线程</a:t>
            </a:r>
          </a:p>
        </p:txBody>
      </p:sp>
      <p:sp>
        <p:nvSpPr>
          <p:cNvPr id="15" name="Rounded Rectangle 14"/>
          <p:cNvSpPr/>
          <p:nvPr/>
        </p:nvSpPr>
        <p:spPr>
          <a:xfrm>
            <a:off x="548640" y="2724912"/>
            <a:ext cx="2194560" cy="12252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843784"/>
            <a:ext cx="1901952" cy="256032"/>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Server</a:t>
            </a:r>
          </a:p>
        </p:txBody>
      </p:sp>
      <p:sp>
        <p:nvSpPr>
          <p:cNvPr id="17" name="TextBox 16"/>
          <p:cNvSpPr txBox="1"/>
          <p:nvPr/>
        </p:nvSpPr>
        <p:spPr>
          <a:xfrm>
            <a:off x="694944" y="3200400"/>
            <a:ext cx="1901952" cy="676656"/>
          </a:xfrm>
          <a:prstGeom prst="rect">
            <a:avLst/>
          </a:prstGeom>
          <a:noFill/>
        </p:spPr>
        <p:txBody>
          <a:bodyPr wrap="square" lIns="0" rIns="0" tIns="0" bIns="0" anchor="t">
            <a:spAutoFit/>
          </a:bodyPr>
          <a:lstStyle/>
          <a:p>
            <a:pPr algn="l">
              <a:lnSpc>
                <a:spcPct val="110000"/>
              </a:lnSpc>
              <a:spcAft>
                <a:spcPts val="0"/>
              </a:spcAft>
            </a:pPr>
            <a:r>
              <a:rPr sz="1300" b="0" lang="zh-CN">
                <a:solidFill>
                  <a:srgbClr val="21364E"/>
                </a:solidFill>
                <a:latin typeface="Noto Sans CJK SC"/>
                <a:ea typeface="Noto Sans CJK SC"/>
                <a:cs typeface="Noto Sans CJK SC"/>
              </a:rPr>
              <a:t>接收音频</a:t>
            </a:r>
          </a:p>
          <a:p>
            <a:pPr algn="l">
              <a:lnSpc>
                <a:spcPct val="110000"/>
              </a:lnSpc>
              <a:spcAft>
                <a:spcPts val="0"/>
              </a:spcAft>
            </a:pPr>
            <a:r>
              <a:rPr sz="1300" b="0" lang="zh-CN">
                <a:solidFill>
                  <a:srgbClr val="21364E"/>
                </a:solidFill>
                <a:latin typeface="Noto Sans CJK SC"/>
                <a:ea typeface="Noto Sans CJK SC"/>
                <a:cs typeface="Noto Sans CJK SC"/>
              </a:rPr>
              <a:t>协议与连接处理</a:t>
            </a:r>
          </a:p>
        </p:txBody>
      </p:sp>
      <p:sp>
        <p:nvSpPr>
          <p:cNvPr id="18" name="Rounded Rectangle 17"/>
          <p:cNvSpPr/>
          <p:nvPr/>
        </p:nvSpPr>
        <p:spPr>
          <a:xfrm>
            <a:off x="3090672" y="2724912"/>
            <a:ext cx="4754880" cy="122529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236976" y="2843784"/>
            <a:ext cx="4462272" cy="256032"/>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Runner / SessionManager</a:t>
            </a:r>
          </a:p>
        </p:txBody>
      </p:sp>
      <p:sp>
        <p:nvSpPr>
          <p:cNvPr id="20" name="TextBox 19"/>
          <p:cNvSpPr txBox="1"/>
          <p:nvPr/>
        </p:nvSpPr>
        <p:spPr>
          <a:xfrm>
            <a:off x="3236976" y="3200400"/>
            <a:ext cx="4462272" cy="676656"/>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每 session 独立 state；共享 ONNX backend</a:t>
            </a:r>
          </a:p>
          <a:p>
            <a:pPr algn="l">
              <a:lnSpc>
                <a:spcPct val="110000"/>
              </a:lnSpc>
              <a:spcAft>
                <a:spcPts val="0"/>
              </a:spcAft>
            </a:pPr>
            <a:r>
              <a:rPr sz="1250" b="0" lang="zh-CN">
                <a:solidFill>
                  <a:srgbClr val="21364E"/>
                </a:solidFill>
                <a:latin typeface="Noto Sans CJK SC"/>
                <a:ea typeface="Noto Sans CJK SC"/>
                <a:cs typeface="Noto Sans CJK SC"/>
              </a:rPr>
              <a:t>驱动 barge-in；turn based 会话触发 commit</a:t>
            </a:r>
          </a:p>
        </p:txBody>
      </p:sp>
      <p:sp>
        <p:nvSpPr>
          <p:cNvPr id="21" name="Rounded Rectangle 20"/>
          <p:cNvSpPr/>
          <p:nvPr/>
        </p:nvSpPr>
        <p:spPr>
          <a:xfrm>
            <a:off x="8193024" y="2724912"/>
            <a:ext cx="3438144" cy="122529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8" y="2843784"/>
            <a:ext cx="3145536" cy="256032"/>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CPU 线程池</a:t>
            </a:r>
          </a:p>
        </p:txBody>
      </p:sp>
      <p:sp>
        <p:nvSpPr>
          <p:cNvPr id="23" name="TextBox 22"/>
          <p:cNvSpPr txBox="1"/>
          <p:nvPr/>
        </p:nvSpPr>
        <p:spPr>
          <a:xfrm>
            <a:off x="8339328" y="3200400"/>
            <a:ext cx="3145536" cy="676656"/>
          </a:xfrm>
          <a:prstGeom prst="rect">
            <a:avLst/>
          </a:prstGeom>
          <a:noFill/>
        </p:spPr>
        <p:txBody>
          <a:bodyPr wrap="square" lIns="0" rIns="0" tIns="0" bIns="0" anchor="t">
            <a:spAutoFit/>
          </a:bodyPr>
          <a:lstStyle/>
          <a:p>
            <a:pPr algn="l">
              <a:lnSpc>
                <a:spcPct val="110000"/>
              </a:lnSpc>
              <a:spcAft>
                <a:spcPts val="0"/>
              </a:spcAft>
            </a:pPr>
            <a:r>
              <a:rPr sz="1300" b="0" lang="zh-CN">
                <a:solidFill>
                  <a:srgbClr val="21364E"/>
                </a:solidFill>
                <a:latin typeface="Noto Sans CJK SC"/>
                <a:ea typeface="Noto Sans CJK SC"/>
                <a:cs typeface="Noto Sans CJK SC"/>
              </a:rPr>
              <a:t>Silero / ONNX CPU</a:t>
            </a:r>
          </a:p>
          <a:p>
            <a:pPr algn="l">
              <a:lnSpc>
                <a:spcPct val="110000"/>
              </a:lnSpc>
              <a:spcAft>
                <a:spcPts val="0"/>
              </a:spcAft>
            </a:pPr>
            <a:r>
              <a:rPr sz="1300" b="0" lang="zh-CN">
                <a:solidFill>
                  <a:srgbClr val="21364E"/>
                </a:solidFill>
                <a:latin typeface="Noto Sans CJK SC"/>
                <a:ea typeface="Noto Sans CJK SC"/>
                <a:cs typeface="Noto Sans CJK SC"/>
              </a:rPr>
              <a:t>offload 异步执行检测</a:t>
            </a:r>
          </a:p>
        </p:txBody>
      </p:sp>
      <p:cxnSp>
        <p:nvCxnSpPr>
          <p:cNvPr id="24" name="Connector 23"/>
          <p:cNvCxnSpPr/>
          <p:nvPr/>
        </p:nvCxnSpPr>
        <p:spPr>
          <a:xfrm>
            <a:off x="2779776" y="3264408"/>
            <a:ext cx="256032" cy="0"/>
          </a:xfrm>
          <a:prstGeom prst="line">
            <a:avLst/>
          </a:prstGeom>
          <a:ln w="1905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7882127" y="3264408"/>
            <a:ext cx="256033" cy="0"/>
          </a:xfrm>
          <a:prstGeom prst="line">
            <a:avLst/>
          </a:prstGeom>
          <a:ln w="1905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548640" y="4251960"/>
            <a:ext cx="4937760" cy="310896"/>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4302252"/>
            <a:ext cx="4754880" cy="219456"/>
          </a:xfrm>
          <a:prstGeom prst="rect">
            <a:avLst/>
          </a:prstGeom>
          <a:noFill/>
        </p:spPr>
        <p:txBody>
          <a:bodyPr wrap="square" lIns="0" rIns="0" tIns="0" bIns="0" anchor="t">
            <a:spAutoFit/>
          </a:bodyPr>
          <a:lstStyle/>
          <a:p>
            <a:pPr algn="l">
              <a:lnSpc>
                <a:spcPct val="110000"/>
              </a:lnSpc>
              <a:spcAft>
                <a:spcPts val="0"/>
              </a:spcAft>
            </a:pPr>
            <a:r>
              <a:rPr sz="1150" b="1" lang="zh-CN">
                <a:solidFill>
                  <a:srgbClr val="AD761E"/>
                </a:solidFill>
                <a:latin typeface="Noto Sans CJK SC"/>
                <a:ea typeface="Noto Sans CJK SC"/>
                <a:cs typeface="Noto Sans CJK SC"/>
              </a:rPr>
              <a:t>Semantic VAD · 规划扩展</a:t>
            </a:r>
          </a:p>
        </p:txBody>
      </p:sp>
      <p:sp>
        <p:nvSpPr>
          <p:cNvPr id="28" name="Rounded Rectangle 27"/>
          <p:cNvSpPr/>
          <p:nvPr/>
        </p:nvSpPr>
        <p:spPr>
          <a:xfrm>
            <a:off x="548640"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94944" y="4864608"/>
            <a:ext cx="3255264" cy="256032"/>
          </a:xfrm>
          <a:prstGeom prst="rect">
            <a:avLst/>
          </a:prstGeom>
          <a:noFill/>
        </p:spPr>
        <p:txBody>
          <a:bodyPr wrap="square" lIns="0" rIns="0" tIns="0" bIns="0" anchor="t">
            <a:spAutoFit/>
          </a:bodyPr>
          <a:lstStyle/>
          <a:p>
            <a:pPr algn="l">
              <a:lnSpc>
                <a:spcPct val="110000"/>
              </a:lnSpc>
              <a:spcAft>
                <a:spcPts val="0"/>
              </a:spcAft>
            </a:pPr>
            <a:r>
              <a:rPr sz="1400" b="1" lang="zh-CN">
                <a:solidFill>
                  <a:srgbClr val="142B45"/>
                </a:solidFill>
                <a:latin typeface="Noto Sans CJK SC"/>
                <a:ea typeface="Noto Sans CJK SC"/>
                <a:cs typeface="Noto Sans CJK SC"/>
              </a:rPr>
              <a:t>轻量语义判断</a:t>
            </a:r>
          </a:p>
        </p:txBody>
      </p:sp>
      <p:sp>
        <p:nvSpPr>
          <p:cNvPr id="30" name="TextBox 29"/>
          <p:cNvSpPr txBox="1"/>
          <p:nvPr/>
        </p:nvSpPr>
        <p:spPr>
          <a:xfrm>
            <a:off x="694944" y="5221224"/>
            <a:ext cx="3255264" cy="484631"/>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轻量模型在 CPU pool 中执行</a:t>
            </a:r>
          </a:p>
          <a:p>
            <a:pPr algn="l">
              <a:lnSpc>
                <a:spcPct val="110000"/>
              </a:lnSpc>
              <a:spcAft>
                <a:spcPts val="0"/>
              </a:spcAft>
            </a:pPr>
            <a:r>
              <a:rPr sz="1200" b="0" lang="zh-CN">
                <a:solidFill>
                  <a:srgbClr val="21364E"/>
                </a:solidFill>
                <a:latin typeface="Noto Sans CJK SC"/>
                <a:ea typeface="Noto Sans CJK SC"/>
                <a:cs typeface="Noto Sans CJK SC"/>
              </a:rPr>
              <a:t>文本模型可复用流式 ASR</a:t>
            </a:r>
          </a:p>
        </p:txBody>
      </p:sp>
      <p:sp>
        <p:nvSpPr>
          <p:cNvPr id="31" name="Rounded Rectangle 30"/>
          <p:cNvSpPr/>
          <p:nvPr/>
        </p:nvSpPr>
        <p:spPr>
          <a:xfrm>
            <a:off x="4315968"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462272" y="4864608"/>
            <a:ext cx="3255264" cy="256032"/>
          </a:xfrm>
          <a:prstGeom prst="rect">
            <a:avLst/>
          </a:prstGeom>
          <a:noFill/>
        </p:spPr>
        <p:txBody>
          <a:bodyPr wrap="square" lIns="0" rIns="0" tIns="0" bIns="0" anchor="t">
            <a:spAutoFit/>
          </a:bodyPr>
          <a:lstStyle/>
          <a:p>
            <a:pPr algn="l">
              <a:lnSpc>
                <a:spcPct val="110000"/>
              </a:lnSpc>
              <a:spcAft>
                <a:spcPts val="0"/>
              </a:spcAft>
            </a:pPr>
            <a:r>
              <a:rPr sz="1400" b="1" lang="zh-CN">
                <a:solidFill>
                  <a:srgbClr val="142B45"/>
                </a:solidFill>
                <a:latin typeface="Noto Sans CJK SC"/>
                <a:ea typeface="Noto Sans CJK SC"/>
                <a:cs typeface="Noto Sans CJK SC"/>
              </a:rPr>
              <a:t>较重的语义模型</a:t>
            </a:r>
          </a:p>
        </p:txBody>
      </p:sp>
      <p:sp>
        <p:nvSpPr>
          <p:cNvPr id="33" name="TextBox 32"/>
          <p:cNvSpPr txBox="1"/>
          <p:nvPr/>
        </p:nvSpPr>
        <p:spPr>
          <a:xfrm>
            <a:off x="4462272" y="5221224"/>
            <a:ext cx="3255264" cy="484631"/>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通过 Omni Stage 在加速器上执行</a:t>
            </a:r>
          </a:p>
          <a:p>
            <a:pPr algn="l">
              <a:lnSpc>
                <a:spcPct val="110000"/>
              </a:lnSpc>
              <a:spcAft>
                <a:spcPts val="0"/>
              </a:spcAft>
            </a:pPr>
            <a:r>
              <a:rPr sz="1200" b="0" lang="zh-CN">
                <a:solidFill>
                  <a:srgbClr val="21364E"/>
                </a:solidFill>
                <a:latin typeface="Noto Sans CJK SC"/>
                <a:ea typeface="Noto Sans CJK SC"/>
                <a:cs typeface="Noto Sans CJK SC"/>
              </a:rPr>
              <a:t>按延迟预算组织 microbatch</a:t>
            </a:r>
          </a:p>
        </p:txBody>
      </p:sp>
      <p:sp>
        <p:nvSpPr>
          <p:cNvPr id="34" name="Rounded Rectangle 33"/>
          <p:cNvSpPr/>
          <p:nvPr/>
        </p:nvSpPr>
        <p:spPr>
          <a:xfrm>
            <a:off x="8083296"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229600" y="4864608"/>
            <a:ext cx="3255264" cy="256032"/>
          </a:xfrm>
          <a:prstGeom prst="rect">
            <a:avLst/>
          </a:prstGeom>
          <a:noFill/>
        </p:spPr>
        <p:txBody>
          <a:bodyPr wrap="square" lIns="0" rIns="0" tIns="0" bIns="0" anchor="t">
            <a:spAutoFit/>
          </a:bodyPr>
          <a:lstStyle/>
          <a:p>
            <a:pPr algn="l">
              <a:lnSpc>
                <a:spcPct val="110000"/>
              </a:lnSpc>
              <a:spcAft>
                <a:spcPts val="0"/>
              </a:spcAft>
            </a:pPr>
            <a:r>
              <a:rPr sz="1400" b="1" lang="zh-CN">
                <a:solidFill>
                  <a:srgbClr val="142B45"/>
                </a:solidFill>
                <a:latin typeface="Noto Sans CJK SC"/>
                <a:ea typeface="Noto Sans CJK SC"/>
                <a:cs typeface="Noto Sans CJK SC"/>
              </a:rPr>
              <a:t>结果回到 Session Runner</a:t>
            </a:r>
          </a:p>
        </p:txBody>
      </p:sp>
      <p:sp>
        <p:nvSpPr>
          <p:cNvPr id="36" name="TextBox 35"/>
          <p:cNvSpPr txBox="1"/>
          <p:nvPr/>
        </p:nvSpPr>
        <p:spPr>
          <a:xfrm>
            <a:off x="8229600" y="5221224"/>
            <a:ext cx="3255264" cy="484631"/>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携带 session、输入序号与 epoch</a:t>
            </a:r>
          </a:p>
          <a:p>
            <a:pPr algn="l">
              <a:lnSpc>
                <a:spcPct val="110000"/>
              </a:lnSpc>
              <a:spcAft>
                <a:spcPts val="0"/>
              </a:spcAft>
            </a:pPr>
            <a:r>
              <a:rPr sz="1200" b="0" lang="zh-CN">
                <a:solidFill>
                  <a:srgbClr val="21364E"/>
                </a:solidFill>
                <a:latin typeface="Noto Sans CJK SC"/>
                <a:ea typeface="Noto Sans CJK SC"/>
                <a:cs typeface="Noto Sans CJK SC"/>
              </a:rPr>
              <a:t>按序应用结果，丢弃过期判断</a:t>
            </a:r>
          </a:p>
        </p:txBody>
      </p:sp>
      <p:sp>
        <p:nvSpPr>
          <p:cNvPr id="37" name="TextBox 36"/>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Speech onset 用于及时打断；Semantic VAD 判断用户是否说完，区别于模型 LISTEN / SPEAK。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会话保留；已取消回复不恢复</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lang="zh-CN">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lang="zh-CN">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lang="zh-CN">
                <a:solidFill>
                  <a:srgbClr val="586B7E"/>
                </a:solidFill>
                <a:latin typeface="Arial"/>
                <a:ea typeface="Arial"/>
                <a:cs typeface="Arial"/>
              </a:rPr>
              <a:t>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2026-10-08T03:57:33Z</dcterms:modified>
  <cp:category/>
</cp:coreProperties>
</file>