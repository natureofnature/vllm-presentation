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AI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本页用可直接理解的行为介绍最新主仓中的代表性优化：减少每个输入片段的启动开销、合并语音合成小操作，以及跨 session 处理新音频帧。它们是针对具体模型的执行路径，不表示所有模型都支持或默认启用所有优化。</a:t>
            </a:r>
          </a:p>
          <a:p>
            <a:r>
              <a:rPr lang="zh-CN">
                <a:latin typeface="Noto Sans CJK SC"/>
                <a:ea typeface="Noto Sans CJK SC"/>
                <a:cs typeface="Noto Sans CJK SC"/>
              </a:rPr>
              <a:t/>
            </a:r>
          </a:p>
          <a:p>
            <a:r>
              <a:rPr lang="zh-CN">
                <a:latin typeface="Noto Sans CJK SC"/>
                <a:ea typeface="Noto Sans CJK SC"/>
                <a:cs typeface="Noto Sans CJK SC"/>
              </a:rPr>
              <a:t>MiniCPM-o 4.5 对符合条件的流式音频与视觉 encoder 使用 CUDA graph；Qwen3-Omni 本页涉及的是图像 encoder，不能扩展成其视频和音频也使用该路径。CUDA graph 主要减少 CPU 调度和启动开销，不代表省略模型运算。路径受输入 shape、attention 配置及部署 profile 限制，并保留 eager fallback。</a:t>
            </a:r>
          </a:p>
          <a:p>
            <a:r>
              <a:rPr lang="zh-CN">
                <a:latin typeface="Noto Sans CJK SC"/>
                <a:ea typeface="Noto Sans CJK SC"/>
                <a:cs typeface="Noto Sans CJK SC"/>
              </a:rPr>
              <a:t/>
            </a:r>
          </a:p>
          <a:p>
            <a:r>
              <a:rPr lang="zh-CN">
                <a:latin typeface="Noto Sans CJK SC"/>
                <a:ea typeface="Noto Sans CJK SC"/>
                <a:cs typeface="Noto Sans CJK SC"/>
              </a:rPr>
              <a:t>MiniCPM-o 4.5 的 Code2Wav 在支持的 CUDA 路径、TF32 开启时默认使用 fused CFM/DiT body，以合并小操作、降低任务启动和中间内存处理开销。关闭 TF32、未支持的结构或缓存类型会改变默认选择或触发 fallback。Resident slot pooling 仍是可选项，浮点融合也不保证波形逐位相同。主仓近期另有输出拷贝异步化改动，本页不展开这层实现细节。</a:t>
            </a:r>
          </a:p>
          <a:p>
            <a:r>
              <a:rPr lang="zh-CN">
                <a:latin typeface="Noto Sans CJK SC"/>
                <a:ea typeface="Noto Sans CJK SC"/>
                <a:cs typeface="Noto Sans CJK SC"/>
              </a:rPr>
              <a:t/>
            </a:r>
          </a:p>
          <a:p>
            <a:r>
              <a:rPr lang="zh-CN">
                <a:latin typeface="Noto Sans CJK SC"/>
                <a:ea typeface="Noto Sans CJK SC"/>
                <a:cs typeface="Noto Sans CJK SC"/>
              </a:rPr>
              <a:t>PersonaPlex 将符合条件的多 session 单帧实时追加合并处理，首个携带 persona prefill 的追加仍走原路径。异步 Code2Wav 输入只包含新生成的 codec 帧，同步完整输入每个请求只消费一次，避免重复解码旧内容。这不是对所有并发组合的量化性能承诺。</a:t>
            </a:r>
          </a:p>
          <a:p>
            <a:r>
              <a:rPr lang="zh-CN">
                <a:latin typeface="Noto Sans CJK SC"/>
                <a:ea typeface="Noto Sans CJK SC"/>
                <a:cs typeface="Noto Sans CJK SC"/>
              </a:rPr>
              <a:t/>
            </a:r>
          </a:p>
          <a:p>
            <a:r>
              <a:rPr lang="zh-CN">
                <a:latin typeface="Noto Sans CJK SC"/>
                <a:ea typeface="Noto Sans CJK SC"/>
                <a:cs typeface="Noto Sans CJK SC"/>
              </a:rPr>
              <a:t>性能表选取给定数据源中最新的连续四次 H100 每日记录：2026 年 10 月 5–8 日，MiniCPM-o 4.5、Seed-TTS、openai-chat-omni、配置并发 8、128 prompts，导出的 config_key 相同。mean_audio_rtf 分别为 0.9844461966498954、0.7430039011861929、0.559707561533549、0.4902875810555307，表格保留两位小数。每次均完成 128 个请求。该趋势体现近期整体运行结果，不将下降归因于某一个 PR，也不能仅凭导出记录断定部署参数或代码提交完全相同。硬件字段仅写 H100，本页不推断卡数。</a:t>
            </a:r>
          </a:p>
          <a:p>
            <a:r>
              <a:rPr lang="zh-CN">
                <a:latin typeface="Noto Sans CJK SC"/>
                <a:ea typeface="Noto Sans CJK SC"/>
                <a:cs typeface="Noto Sans CJK SC"/>
              </a:rPr>
              <a:t/>
            </a:r>
          </a:p>
          <a:p>
            <a:r>
              <a:rPr lang="zh-CN">
                <a:latin typeface="Noto Sans CJK SC"/>
                <a:ea typeface="Noto Sans CJK SC"/>
                <a:cs typeface="Noto Sans CJK SC"/>
              </a:rPr>
              <a:t>这些数据来自 Chat Completions 语音生成测试，不是 8 路 native duplex 实时音视频会话。该 chat benchmark 用请求发出至最后一个音频片段到达的时间作为音频生成耗时，以返回音频解码得到时长，再按请求计算 RTF 并取平均。它不直接证明首播延迟、打断体验或各负载下均无播放卡顿。本次仅核对现有记录，没有重新运行 GPU 测试。数据源链接仅放讲解备注。</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https://github.com/vllm-project/vllm-omni/blob/06afa310c942c0506f0ed9bdd189fa331c46bb97/vllm_omni/model_executor/models/minicpmo_4_5/streaming_audio_encoder_graph.py</a:t>
            </a:r>
          </a:p>
          <a:p>
            <a:r>
              <a:rPr lang="zh-CN">
                <a:latin typeface="Noto Sans CJK SC"/>
                <a:ea typeface="Noto Sans CJK SC"/>
                <a:cs typeface="Noto Sans CJK SC"/>
              </a:rPr>
              <a:t>- https://github.com/vllm-project/vllm-omni/blob/06afa310c942c0506f0ed9bdd189fa331c46bb97/vllm_omni/model_executor/models/minicpmo_4_5/encoder_cuda_graph.py</a:t>
            </a:r>
          </a:p>
          <a:p>
            <a:r>
              <a:rPr lang="zh-CN">
                <a:latin typeface="Noto Sans CJK SC"/>
                <a:ea typeface="Noto Sans CJK SC"/>
                <a:cs typeface="Noto Sans CJK SC"/>
              </a:rPr>
              <a:t>- https://github.com/vllm-project/vllm-omni/blob/06afa310c942c0506f0ed9bdd189fa331c46bb97/vllm_omni/model_executor/models/minicpmo_4_5/minicpmo_4_5_code2wav.py</a:t>
            </a:r>
          </a:p>
          <a:p>
            <a:r>
              <a:rPr lang="zh-CN">
                <a:latin typeface="Noto Sans CJK SC"/>
                <a:ea typeface="Noto Sans CJK SC"/>
                <a:cs typeface="Noto Sans CJK SC"/>
              </a:rPr>
              <a:t>- https://github.com/vllm-project/vllm-omni/blob/06afa310c942c0506f0ed9bdd189fa331c46bb97/vllm_omni/model_executor/models/minicpmo_4_5/dit_fused.py</a:t>
            </a:r>
          </a:p>
          <a:p>
            <a:r>
              <a:rPr lang="zh-CN">
                <a:latin typeface="Noto Sans CJK SC"/>
                <a:ea typeface="Noto Sans CJK SC"/>
                <a:cs typeface="Noto Sans CJK SC"/>
              </a:rPr>
              <a:t>- https://github.com/vllm-project/vllm-omni/blob/06afa310c942c0506f0ed9bdd189fa331c46bb97/vllm_omni/model_executor/models/qwen3_omni/vision_encoder_cudagraph.py</a:t>
            </a:r>
          </a:p>
          <a:p>
            <a:r>
              <a:rPr lang="zh-CN">
                <a:latin typeface="Noto Sans CJK SC"/>
                <a:ea typeface="Noto Sans CJK SC"/>
                <a:cs typeface="Noto Sans CJK SC"/>
              </a:rPr>
              <a:t>- https://github.com/vllm-project/vllm-omni/blob/06afa310c942c0506f0ed9bdd189fa331c46bb97/vllm_omni/model_executor/models/personaplex/duplex/stage0.py</a:t>
            </a:r>
          </a:p>
          <a:p>
            <a:r>
              <a:rPr lang="zh-CN">
                <a:latin typeface="Noto Sans CJK SC"/>
                <a:ea typeface="Noto Sans CJK SC"/>
                <a:cs typeface="Noto Sans CJK SC"/>
              </a:rPr>
              <a:t>- https://github.com/vllm-project/vllm-omni/blob/06afa310c942c0506f0ed9bdd189fa331c46bb97/vllm_omni/model_executor/models/personaplex/personaplex_code2wav.py</a:t>
            </a:r>
          </a:p>
          <a:p>
            <a:r>
              <a:rPr lang="zh-CN">
                <a:latin typeface="Noto Sans CJK SC"/>
                <a:ea typeface="Noto Sans CJK SC"/>
                <a:cs typeface="Noto Sans CJK SC"/>
              </a:rPr>
              <a:t>- https://github.com/vllm-project/vllm-omni/blob/06afa310c942c0506f0ed9bdd189fa331c46bb97/vllm_omni/worker/gpu_generation_model_runner.py</a:t>
            </a:r>
          </a:p>
          <a:p>
            <a:r>
              <a:rPr lang="zh-CN">
                <a:latin typeface="Noto Sans CJK SC"/>
                <a:ea typeface="Noto Sans CJK SC"/>
                <a:cs typeface="Noto Sans CJK SC"/>
              </a:rPr>
              <a:t>- https://github.com/vllm-project/vllm-omni/blob/06afa310c942c0506f0ed9bdd189fa331c46bb97/vllm_omni/benchmarks/patch/patch.py</a:t>
            </a:r>
          </a:p>
          <a:p>
            <a:r>
              <a:rPr lang="zh-CN">
                <a:latin typeface="Noto Sans CJK SC"/>
                <a:ea typeface="Noto Sans CJK SC"/>
                <a:cs typeface="Noto Sans CJK SC"/>
              </a:rPr>
              <a:t>- https://github.com/vllm-project/vllm-omni/blob/06afa310c942c0506f0ed9bdd189fa331c46bb97/docs/design/minicpm_o45_mrv2_performance.md</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https://github.com/vllm-project/vllm-omni/pull/8215</a:t>
            </a:r>
          </a:p>
          <a:p>
            <a:r>
              <a:rPr lang="zh-CN">
                <a:latin typeface="Noto Sans CJK SC"/>
                <a:ea typeface="Noto Sans CJK SC"/>
                <a:cs typeface="Noto Sans CJK SC"/>
              </a:rPr>
              <a:t>- https://github.com/vllm-project/vllm-omni/pull/8557</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https://github.com/vllm-project/vllm-omni/pull/7480</a:t>
            </a:r>
          </a:p>
          <a:p>
            <a:r>
              <a:rPr lang="zh-CN">
                <a:latin typeface="Noto Sans CJK SC"/>
                <a:ea typeface="Noto Sans CJK SC"/>
                <a:cs typeface="Noto Sans CJK SC"/>
              </a:rPr>
              <a:t>- https://github.com/vllm-project/vllm-omni/pull/8540</a:t>
            </a:r>
          </a:p>
          <a:p>
            <a:r>
              <a:rPr lang="zh-CN">
                <a:latin typeface="Noto Sans CJK SC"/>
                <a:ea typeface="Noto Sans CJK SC"/>
                <a:cs typeface="Noto Sans CJK SC"/>
              </a:rPr>
              <a:t>- https://hsliuustc0106.github.io/vllm-omni-kanban/pages/assets/charts/minicpmo_4_5_history.json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可部署于本机或远端；图中 Thinker、Talker、Code2Wav 使用 MiniCPM-o 4.5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Runtime placement and session policy:</a:t>
            </a:r>
          </a:p>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lang="zh-CN">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lang="zh-CN">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lang="zh-CN">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让音视频会话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同一段实时会话</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摄像头画面</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助手回应时，仍持续接收</a:t>
            </a:r>
          </a:p>
          <a:p>
            <a:pPr algn="l">
              <a:lnSpc>
                <a:spcPct val="110000"/>
              </a:lnSpc>
              <a:spcAft>
                <a:spcPts val="0"/>
              </a:spcAft>
            </a:pPr>
            <a:r>
              <a:rPr sz="1700" b="0" lang="zh-CN">
                <a:solidFill>
                  <a:srgbClr val="586B7E"/>
                </a:solidFill>
                <a:latin typeface="Noto Sans CJK SC"/>
                <a:ea typeface="Noto Sans CJK SC"/>
                <a:cs typeface="Noto Sans CJK SC"/>
              </a:rPr>
              <a:t>用户语音与画面。</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以 Web demo 为例：模型决策、Server VAD 与客户端操作共同决定交互行为。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20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20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20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清空待播音频</a:t>
            </a:r>
          </a:p>
          <a:p>
            <a:pPr algn="l">
              <a:lnSpc>
                <a:spcPct val="110000"/>
              </a:lnSpc>
              <a:spcAft>
                <a:spcPts val="0"/>
              </a:spcAft>
            </a:pPr>
            <a:r>
              <a:rPr sz="120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按住说话，松开后</a:t>
            </a:r>
          </a:p>
          <a:p>
            <a:pPr algn="l">
              <a:lnSpc>
                <a:spcPct val="110000"/>
              </a:lnSpc>
              <a:spcAft>
                <a:spcPts val="0"/>
              </a:spcAft>
            </a:pPr>
            <a:r>
              <a:rPr sz="120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按住时停止本地播放</a:t>
            </a:r>
          </a:p>
          <a:p>
            <a:pPr algn="l">
              <a:lnSpc>
                <a:spcPct val="110000"/>
              </a:lnSpc>
              <a:spcAft>
                <a:spcPts val="0"/>
              </a:spcAft>
            </a:pPr>
            <a:r>
              <a:rPr sz="120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应用可接入显式 response.cancel，取消服务端当前 response。</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模型让出话语权</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模型切换到聆听状态</a:t>
            </a:r>
          </a:p>
          <a:p>
            <a:pPr algn="l">
              <a:lnSpc>
                <a:spcPct val="110000"/>
              </a:lnSpc>
              <a:spcAft>
                <a:spcPts val="0"/>
              </a:spcAft>
            </a:pPr>
            <a:r>
              <a:rPr sz="1050" b="0" lang="zh-CN">
                <a:solidFill>
                  <a:srgbClr val="142B45"/>
                </a:solidFill>
                <a:latin typeface="Noto Sans CJK SC"/>
                <a:ea typeface="Noto Sans CJK SC"/>
                <a:cs typeface="Noto Sans CJK SC"/>
              </a:rPr>
              <a:t>LISTEN 不等于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停止用户听到的声音</a:t>
            </a:r>
          </a:p>
          <a:p>
            <a:pPr algn="l">
              <a:lnSpc>
                <a:spcPct val="110000"/>
              </a:lnSpc>
              <a:spcAft>
                <a:spcPts val="0"/>
              </a:spcAft>
            </a:pPr>
            <a:r>
              <a:rPr sz="1050" b="0" lang="zh-CN">
                <a:solidFill>
                  <a:srgbClr val="142B45"/>
                </a:solidFill>
                <a:latin typeface="Noto Sans CJK SC"/>
                <a:ea typeface="Noto Sans CJK SC"/>
                <a:cs typeface="Noto Sans CJK SC"/>
              </a:rPr>
              <a:t>服务端仍可继续生成</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取消当前 response</a:t>
            </a:r>
          </a:p>
          <a:p>
            <a:pPr algn="l">
              <a:lnSpc>
                <a:spcPct val="110000"/>
              </a:lnSpc>
              <a:spcAft>
                <a:spcPts val="0"/>
              </a:spcAft>
            </a:pPr>
            <a:r>
              <a:rPr sz="1050" b="0" lang="zh-CN">
                <a:solidFill>
                  <a:srgbClr val="142B45"/>
                </a:solidFill>
                <a:latin typeface="Noto Sans CJK SC"/>
                <a:ea typeface="Noto Sans CJK SC"/>
                <a:cs typeface="Noto Sans CJK SC"/>
              </a:rPr>
              <a:t>客户端清空待播音频</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Server VAD 打断需启用 interrupt_response；具体行为取决于模型与所选 demo 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zh-CN">
                <a:solidFill>
                  <a:srgbClr val="008E96"/>
                </a:solidFill>
                <a:latin typeface="Noto Sans CJK SC"/>
                <a:ea typeface="Noto Sans CJK SC"/>
                <a:cs typeface="Noto Sans CJK SC"/>
              </a:rPr>
              <a:t>视频输入 · 播放反馈 · 会话续接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 持续更新活跃请求；AURA 与 Qwen3-Omni 按 turn 提交新请求。</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持续音视频输入</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LLM KV + 流式音频状态</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请求内 TTS 状态</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LISTEN 保留活跃请求；后续输入复用已绑定的 Replica 和保留的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50" b="0" lang="zh-CN">
                <a:solidFill>
                  <a:srgbClr val="586B7E"/>
                </a:solidFill>
                <a:latin typeface="Noto Sans CJK SC"/>
                <a:ea typeface="Noto Sans CJK SC"/>
                <a:cs typeface="Noto Sans CJK SC"/>
              </a:rPr>
              <a:t>MiniCPM 的 KV / 流式状态续用以对应请求存活为前提；AURA 的 TTS 可在同一 turn 内续算。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恢复连接，延续同一会话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凭会话凭据重新绑定仍存活的 engine session，从上次接收位置续传保留的 event。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支持活跃会话续接：MiniCPM · AURA · Qwen3-Omni · Nemotron；PersonaPlex 断连后需新建会话。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减少重复开销，让语音生成持续提速</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从接收音视频到生成语音，减少重复调度，让 GPU 更多时间用于计算。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13" name="TextBox 12"/>
          <p:cNvSpPr txBox="1"/>
          <p:nvPr/>
        </p:nvSpPr>
        <p:spPr>
          <a:xfrm>
            <a:off x="594360" y="2066544"/>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01</a:t>
            </a:r>
          </a:p>
        </p:txBody>
      </p:sp>
      <p:sp>
        <p:nvSpPr>
          <p:cNvPr id="14" name="TextBox 13"/>
          <p:cNvSpPr txBox="1"/>
          <p:nvPr/>
        </p:nvSpPr>
        <p:spPr>
          <a:xfrm>
            <a:off x="1024128" y="2057400"/>
            <a:ext cx="10515600" cy="292608"/>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让每小段音视频更快开始计算</a:t>
            </a:r>
          </a:p>
        </p:txBody>
      </p:sp>
      <p:sp>
        <p:nvSpPr>
          <p:cNvPr id="15" name="TextBox 14"/>
          <p:cNvSpPr txBox="1"/>
          <p:nvPr/>
        </p:nvSpPr>
        <p:spPr>
          <a:xfrm>
            <a:off x="1024128" y="2395728"/>
            <a:ext cx="10424160" cy="45720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MiniCPM-o 4.5 的音视频、Qwen3-Omni 的图像计算可复用预先准备的 GPU 执行流程，</a:t>
            </a:r>
          </a:p>
          <a:p>
            <a:pPr algn="l">
              <a:lnSpc>
                <a:spcPct val="110000"/>
              </a:lnSpc>
              <a:spcAft>
                <a:spcPts val="0"/>
              </a:spcAft>
            </a:pPr>
            <a:r>
              <a:rPr sz="1350" b="0" lang="zh-CN">
                <a:solidFill>
                  <a:srgbClr val="586B7E"/>
                </a:solidFill>
                <a:latin typeface="Noto Sans CJK SC"/>
                <a:ea typeface="Noto Sans CJK SC"/>
                <a:cs typeface="Noto Sans CJK SC"/>
              </a:rPr>
              <a:t>减少 CPU 逐项启动任务的开销。</a:t>
            </a:r>
          </a:p>
        </p:txBody>
      </p:sp>
      <p:sp>
        <p:nvSpPr>
          <p:cNvPr id="17" name="TextBox 16"/>
          <p:cNvSpPr txBox="1"/>
          <p:nvPr/>
        </p:nvSpPr>
        <p:spPr>
          <a:xfrm>
            <a:off x="594360" y="2916936"/>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02</a:t>
            </a:r>
          </a:p>
        </p:txBody>
      </p:sp>
      <p:sp>
        <p:nvSpPr>
          <p:cNvPr id="18" name="TextBox 17"/>
          <p:cNvSpPr txBox="1"/>
          <p:nvPr/>
        </p:nvSpPr>
        <p:spPr>
          <a:xfrm>
            <a:off x="1024128" y="2907792"/>
            <a:ext cx="10515600" cy="292608"/>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把语音合成中的小操作合并执行</a:t>
            </a:r>
          </a:p>
        </p:txBody>
      </p:sp>
      <p:sp>
        <p:nvSpPr>
          <p:cNvPr id="19" name="TextBox 18"/>
          <p:cNvSpPr txBox="1"/>
          <p:nvPr/>
        </p:nvSpPr>
        <p:spPr>
          <a:xfrm>
            <a:off x="1024128" y="3246120"/>
            <a:ext cx="10424160" cy="45720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MiniCPM-o 4.5 将语音合成中的多个小操作合并，减少 GPU 任务启动次数，</a:t>
            </a:r>
          </a:p>
          <a:p>
            <a:pPr algn="l">
              <a:lnSpc>
                <a:spcPct val="110000"/>
              </a:lnSpc>
              <a:spcAft>
                <a:spcPts val="0"/>
              </a:spcAft>
            </a:pPr>
            <a:r>
              <a:rPr sz="1350" b="0" lang="zh-CN">
                <a:solidFill>
                  <a:srgbClr val="586B7E"/>
                </a:solidFill>
                <a:latin typeface="Noto Sans CJK SC"/>
                <a:ea typeface="Noto Sans CJK SC"/>
                <a:cs typeface="Noto Sans CJK SC"/>
              </a:rPr>
              <a:t>降低每个音频片段的处理开销。</a:t>
            </a:r>
          </a:p>
        </p:txBody>
      </p:sp>
      <p:sp>
        <p:nvSpPr>
          <p:cNvPr id="21" name="TextBox 20"/>
          <p:cNvSpPr txBox="1"/>
          <p:nvPr/>
        </p:nvSpPr>
        <p:spPr>
          <a:xfrm>
            <a:off x="594360" y="3767328"/>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7855AD"/>
                </a:solidFill>
                <a:latin typeface="Arial"/>
                <a:ea typeface="Arial"/>
                <a:cs typeface="Arial"/>
              </a:rPr>
              <a:t>03</a:t>
            </a:r>
          </a:p>
        </p:txBody>
      </p:sp>
      <p:sp>
        <p:nvSpPr>
          <p:cNvPr id="22" name="TextBox 21"/>
          <p:cNvSpPr txBox="1"/>
          <p:nvPr/>
        </p:nvSpPr>
        <p:spPr>
          <a:xfrm>
            <a:off x="1024128" y="3758184"/>
            <a:ext cx="10515600" cy="292608"/>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多路会话一起算，已生成的音频不重算</a:t>
            </a:r>
          </a:p>
        </p:txBody>
      </p:sp>
      <p:sp>
        <p:nvSpPr>
          <p:cNvPr id="23" name="TextBox 22"/>
          <p:cNvSpPr txBox="1"/>
          <p:nvPr/>
        </p:nvSpPr>
        <p:spPr>
          <a:xfrm>
            <a:off x="1024128" y="4096512"/>
            <a:ext cx="10424160" cy="45720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PersonaPlex 将不同会话的新音频帧合成一批处理，语音解码只处理新增帧，</a:t>
            </a:r>
          </a:p>
          <a:p>
            <a:pPr algn="l">
              <a:lnSpc>
                <a:spcPct val="110000"/>
              </a:lnSpc>
              <a:spcAft>
                <a:spcPts val="0"/>
              </a:spcAft>
            </a:pPr>
            <a:r>
              <a:rPr sz="1350" b="0" lang="zh-CN">
                <a:solidFill>
                  <a:srgbClr val="586B7E"/>
                </a:solidFill>
                <a:latin typeface="Noto Sans CJK SC"/>
                <a:ea typeface="Noto Sans CJK SC"/>
                <a:cs typeface="Noto Sans CJK SC"/>
              </a:rPr>
              <a:t>避免反复处理已经生成的内容。</a:t>
            </a:r>
          </a:p>
        </p:txBody>
      </p:sp>
      <p:sp>
        <p:nvSpPr>
          <p:cNvPr id="28" name="TextBox 27"/>
          <p:cNvSpPr txBox="1"/>
          <p:nvPr/>
        </p:nvSpPr>
        <p:spPr>
          <a:xfrm>
            <a:off x="594360" y="4681728"/>
            <a:ext cx="10972800" cy="246888"/>
          </a:xfrm>
          <a:prstGeom prst="rect">
            <a:avLst/>
          </a:prstGeom>
          <a:noFill/>
        </p:spPr>
        <p:txBody>
          <a:bodyPr wrap="square" lIns="0" rIns="0" tIns="0" bIns="0" anchor="t">
            <a:spAutoFit/>
          </a:bodyPr>
          <a:lstStyle/>
          <a:p>
            <a:pPr algn="l">
              <a:lnSpc>
                <a:spcPct val="110000"/>
              </a:lnSpc>
              <a:spcAft>
                <a:spcPts val="0"/>
              </a:spcAft>
            </a:pPr>
            <a:r>
              <a:rPr sz="1400" b="1" lang="zh-CN">
                <a:solidFill>
                  <a:srgbClr val="142B45"/>
                </a:solidFill>
                <a:latin typeface="Noto Sans CJK SC"/>
                <a:ea typeface="Noto Sans CJK SC"/>
                <a:cs typeface="Noto Sans CJK SC"/>
              </a:rPr>
              <a:t>MiniCPM-o 4.5，H100，8 并发请求，Seed-TTS 语音生成</a:t>
            </a:r>
          </a:p>
        </p:txBody>
      </p:sp>
      <p:graphicFrame>
        <p:nvGraphicFramePr>
          <p:cNvPr id="200" name="H100 C8 daily Audio RTF"/>
          <p:cNvGraphicFramePr/>
          <p:nvPr/>
        </p:nvGraphicFramePr>
        <p:xfrm>
          <a:off x="548640" y="5056632"/>
          <a:ext cx="11082528" cy="795528"/>
        </p:xfrm>
        <a:graphic>
          <a:graphicData uri="http://schemas.openxmlformats.org/drawingml/2006/table">
            <a:tbl>
              <a:tblPr firstRow="0" bandRow="0"/>
              <a:tblGrid>
                <a:gridCol w="2487168"/>
                <a:gridCol w="2148840"/>
                <a:gridCol w="2148840"/>
                <a:gridCol w="2148840"/>
                <a:gridCol w="2148840"/>
              </a:tblGrid>
              <a:tr h="356616">
                <a:tc>
                  <a:txBody>
                    <a:bodyPr wrap="square">
                      <a:noAutofit/>
                    </a:bodyPr>
                    <a:lstStyle/>
                    <a:p>
                      <a:pPr algn="l">
                        <a:lnSpc>
                          <a:spcPct val="106000"/>
                        </a:lnSpc>
                        <a:spcAft>
                          <a:spcPts val="0"/>
                        </a:spcAft>
                      </a:pPr>
                      <a:r>
                        <a:rPr sz="1200" b="1" lang="zh-CN">
                          <a:solidFill>
                            <a:srgbClr val="FFFFFF"/>
                          </a:solidFill>
                          <a:latin typeface="Noto Sans CJK SC"/>
                          <a:ea typeface="Noto Sans CJK SC"/>
                          <a:cs typeface="Noto Sans CJK SC"/>
                        </a:rPr>
                        <a:t>测试日期</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10 月 5 日</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10 月 6 日</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10 月 7 日</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10 月 8 日</a:t>
                      </a:r>
                    </a:p>
                  </a:txBody>
                  <a:tcPr marL="164592" marR="128016" marT="50292" marB="50292" anchor="ctr">
                    <a:lnL w="0">
                      <a:noFill/>
                    </a:lnL>
                    <a:lnR w="0">
                      <a:noFill/>
                    </a:lnR>
                    <a:lnT w="0">
                      <a:noFill/>
                    </a:lnT>
                    <a:lnB w="25400">
                      <a:solidFill>
                        <a:srgbClr val="FFFFFF"/>
                      </a:solidFill>
                    </a:lnB>
                    <a:solidFill>
                      <a:srgbClr val="16304E"/>
                    </a:solidFill>
                  </a:tcPr>
                </a:tc>
              </a:tr>
              <a:tr h="438912">
                <a:tc>
                  <a:txBody>
                    <a:bodyPr wrap="square">
                      <a:noAutofit/>
                    </a:bodyPr>
                    <a:lstStyle/>
                    <a:p>
                      <a:pPr algn="l">
                        <a:lnSpc>
                          <a:spcPct val="106000"/>
                        </a:lnSpc>
                        <a:spcAft>
                          <a:spcPts val="0"/>
                        </a:spcAft>
                      </a:pPr>
                      <a:r>
                        <a:rPr sz="1200" b="1" lang="zh-CN">
                          <a:solidFill>
                            <a:srgbClr val="16304E"/>
                          </a:solidFill>
                          <a:latin typeface="Noto Sans CJK SC"/>
                          <a:ea typeface="Noto Sans CJK SC"/>
                          <a:cs typeface="Noto Sans CJK SC"/>
                        </a:rPr>
                        <a:t>平均 Audio RTF</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lang="zh-CN">
                          <a:solidFill>
                            <a:srgbClr val="16304E"/>
                          </a:solidFill>
                          <a:latin typeface="Noto Sans CJK SC"/>
                          <a:ea typeface="Noto Sans CJK SC"/>
                          <a:cs typeface="Noto Sans CJK SC"/>
                        </a:rPr>
                        <a:t>0.98</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lang="zh-CN">
                          <a:solidFill>
                            <a:srgbClr val="16304E"/>
                          </a:solidFill>
                          <a:latin typeface="Noto Sans CJK SC"/>
                          <a:ea typeface="Noto Sans CJK SC"/>
                          <a:cs typeface="Noto Sans CJK SC"/>
                        </a:rPr>
                        <a:t>0.74</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lang="zh-CN">
                          <a:solidFill>
                            <a:srgbClr val="16304E"/>
                          </a:solidFill>
                          <a:latin typeface="Noto Sans CJK SC"/>
                          <a:ea typeface="Noto Sans CJK SC"/>
                          <a:cs typeface="Noto Sans CJK SC"/>
                        </a:rPr>
                        <a:t>0.56</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lang="zh-CN">
                          <a:solidFill>
                            <a:srgbClr val="008E96"/>
                          </a:solidFill>
                          <a:latin typeface="Noto Sans CJK SC"/>
                          <a:ea typeface="Noto Sans CJK SC"/>
                          <a:cs typeface="Noto Sans CJK SC"/>
                        </a:rPr>
                        <a:t>0.49</a:t>
                      </a:r>
                    </a:p>
                  </a:txBody>
                  <a:tcPr marL="164592" marR="128016" marT="50292" marB="50292" anchor="ctr">
                    <a:lnL w="0">
                      <a:noFill/>
                    </a:lnL>
                    <a:lnR w="0">
                      <a:noFill/>
                    </a:lnR>
                    <a:lnT w="0">
                      <a:noFill/>
                    </a:lnT>
                    <a:lnB w="25400">
                      <a:solidFill>
                        <a:srgbClr val="FFFFFF"/>
                      </a:solidFill>
                    </a:lnB>
                    <a:solidFill>
                      <a:srgbClr val="E9F6F5"/>
                    </a:solidFill>
                  </a:tcPr>
                </a:tc>
              </a:tr>
            </a:tbl>
          </a:graphicData>
        </a:graphic>
      </p:graphicFrame>
      <p:sp>
        <p:nvSpPr>
          <p:cNvPr id="201" name="Benchmark scope and RTF definition"/>
          <p:cNvSpPr txBox="1"/>
          <p:nvPr/>
        </p:nvSpPr>
        <p:spPr>
          <a:xfrm>
            <a:off x="594360" y="5980176"/>
            <a:ext cx="10972800" cy="393192"/>
          </a:xfrm>
          <a:prstGeom prst="rect">
            <a:avLst/>
          </a:prstGeom>
          <a:noFill/>
          <a:ln>
            <a:noFill/>
          </a:ln>
        </p:spPr>
        <p:txBody>
          <a:bodyPr wrap="square" lIns="0" rIns="0" tIns="0" bIns="0" anchor="t">
            <a:noAutofit/>
          </a:bodyPr>
          <a:lstStyle/>
          <a:p>
            <a:pPr algn="l">
              <a:lnSpc>
                <a:spcPct val="106000"/>
              </a:lnSpc>
              <a:spcAft>
                <a:spcPts val="0"/>
              </a:spcAft>
            </a:pPr>
            <a:r>
              <a:rPr sz="1130" b="0" lang="zh-CN">
                <a:solidFill>
                  <a:srgbClr val="586B7E"/>
                </a:solidFill>
                <a:latin typeface="Noto Sans CJK SC"/>
                <a:ea typeface="Noto Sans CJK SC"/>
                <a:cs typeface="Noto Sans CJK SC"/>
              </a:rPr>
              <a:t>Seed-TTS，Chat Completions 接口。Audio RTF = 音频生成耗时 / 输出音频时长。</a:t>
            </a:r>
          </a:p>
          <a:p>
            <a:pPr algn="l">
              <a:lnSpc>
                <a:spcPct val="106000"/>
              </a:lnSpc>
              <a:spcAft>
                <a:spcPts val="0"/>
              </a:spcAft>
            </a:pPr>
            <a:r>
              <a:rPr sz="1130" b="0" lang="zh-CN">
                <a:solidFill>
                  <a:srgbClr val="586B7E"/>
                </a:solidFill>
                <a:latin typeface="Noto Sans CJK SC"/>
                <a:ea typeface="Noto Sans CJK SC"/>
                <a:cs typeface="Noto Sans CJK SC"/>
              </a:rPr>
              <a:t>按请求取平均，越低越好。测试日期：2026 年 10 月 5–8 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MiniCPM-o 4.5 示例</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共享内存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Session Runner 负责 commit 与打断。检测异步执行，过期结果不再生效。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会话保留；已取消回复不恢复</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2026-10-09T08:31:54Z</dcterms:modified>
  <cp:category/>
</cp:coreProperties>
</file>