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4.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14.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9.xml" ContentType="application/vnd.openxmlformats-officedocument.presentationml.slide+xml"/>
  <Override PartName="/ppt/notesSlides/notesSlide9.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63" r:id="rId14"/>
    <p:sldId id="282" r:id="rId32"/>
    <p:sldId id="268" r:id="rId20"/>
    <p:sldId id="269" r:id="rId15"/>
    <p:sldId id="281" r:id="rId31"/>
    <p:sldId id="273" r:id="rId23"/>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3.xml"/><Relationship Id="rId13" Type="http://schemas.openxmlformats.org/officeDocument/2006/relationships/slide" Target="slides/slide8.xml"/><Relationship Id="rId14" Type="http://schemas.openxmlformats.org/officeDocument/2006/relationships/slide" Target="slides/slide11.xml"/><Relationship Id="rId15" Type="http://schemas.openxmlformats.org/officeDocument/2006/relationships/slide" Target="slides/slide14.xml"/><Relationship Id="rId16" Type="http://schemas.openxmlformats.org/officeDocument/2006/relationships/slide" Target="slides/slide19.xml"/><Relationship Id="rId17" Type="http://schemas.openxmlformats.org/officeDocument/2006/relationships/notesMaster" Target="notesMasters/notesMaster1.xml"/><Relationship Id="rId18" Type="http://schemas.openxmlformats.org/officeDocument/2006/relationships/slide" Target="slides/slide1.xml"/><Relationship Id="rId20" Type="http://schemas.openxmlformats.org/officeDocument/2006/relationships/slide" Target="slides/slide13.xml"/><Relationship Id="rId21" Type="http://schemas.openxmlformats.org/officeDocument/2006/relationships/slide" Target="slides/slide10.xml"/><Relationship Id="rId23" Type="http://schemas.openxmlformats.org/officeDocument/2006/relationships/slide" Target="slides/slide16.xml"/><Relationship Id="rId25" Type="http://schemas.openxmlformats.org/officeDocument/2006/relationships/slide" Target="slides/slide18.xml"/><Relationship Id="rId27" Type="http://schemas.openxmlformats.org/officeDocument/2006/relationships/slide" Target="slides/slide17.xml"/><Relationship Id="rId30" Type="http://schemas.openxmlformats.org/officeDocument/2006/relationships/slide" Target="slides/slide9.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t/>
            </a:r>
          </a:p>
          <a:p>
            <a: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t/>
            </a:r>
          </a:p>
          <a:p>
            <a:r>
              <a:t>Sources:</a:t>
            </a:r>
          </a:p>
          <a:p>
            <a:r>
              <a:t>- capabilities.py: https://github.com/vllm-project/vllm-omni/blob/712b90de9c7bc14c595b363401588a713a87c02d/vllm_omni/model_executor/models/minicpmo_4_5/duplex/capabilities.py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examples describe the MiniCPM, Qwen3-Omni and AURA Web demo profiles. Model-controlled yielding, local playback stop and server cancellation have different effects.</a:t>
            </a:r>
          </a:p>
          <a:p>
            <a:r>
              <a:t/>
            </a:r>
          </a:p>
          <a:p>
            <a:r>
              <a:t>MiniCPM accepts continuous audio/video input and uses model-native LISTEN / SPEAK without requiring Server VAD by default. LISTEN is separate from explicit cancellation.</a:t>
            </a:r>
          </a:p>
          <a:p>
            <a:r>
              <a:t/>
            </a:r>
          </a:p>
          <a:p>
            <a:r>
              <a:t>Qwen3-Omni's Server VAD profile keeps microphone input active, stops queued playback on speech_started and enables server interruption through interrupt_response. The separate manual Realtime profile uses duplex=0, pauses upload while answering and submits input_audio_buffer.commit followed by response.create; it is not the VAD profile illustrated in the table.</a:t>
            </a:r>
          </a:p>
          <a:p>
            <a:r>
              <a:t/>
            </a:r>
          </a:p>
          <a:p>
            <a:r>
              <a:t>AURA's hold-to-talk action stops local playback while server generation may continue. Releasing the button commits new input. The named demo profiles do not send response.cancel; applications can integrate that command through the shared protocol. Cancellation of generation and cleanup of audio already delivered to the client are separate responsibilities.</a:t>
            </a:r>
          </a:p>
          <a:p>
            <a:r>
              <a:t/>
            </a:r>
          </a:p>
          <a:p>
            <a:r>
              <a:t>Sources:</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t/>
            </a:r>
          </a:p>
          <a:p>
            <a: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t/>
            </a:r>
          </a:p>
          <a:p>
            <a: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t/>
            </a:r>
          </a:p>
          <a:p>
            <a:r>
              <a:t>Sources:</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t/>
            </a:r>
          </a:p>
          <a:p>
            <a: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t/>
            </a:r>
          </a:p>
          <a:p>
            <a: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manager.py: https://github.com/vllm-project/vllm-omni/blob/712b90de9c7bc14c595b363401588a713a87c02d/vllm_omni/engine/duplex/session/manager.py</a:t>
            </a:r>
          </a:p>
          <a:p>
            <a:r>
              <a:t>- delivery.py: https://github.com/vllm-project/vllm-omni/blob/712b90de9c7bc14c595b363401588a713a87c02d/vllm_omni/engine/duplex/delivery.py</a:t>
            </a:r>
          </a:p>
          <a:p>
            <a:r>
              <a:t>- stage_config.py: https://github.com/vllm-project/vllm-omni/blob/712b90de9c7bc14c595b363401588a713a87c02d/vllm_omni/config/stage_config.py</a:t>
            </a:r>
          </a:p>
          <a:p>
            <a:r>
              <a:t/>
            </a:r>
          </a:p>
          <a:p>
            <a:r>
              <a:t>Interaction control in the workflow: engine cancellation advances the response epoch, invalidates queued and held audio, and aborts the affected Stage requests. The API rechecks audio validity when committing delivery. Audio already delivered to the client still requires local playback cleanup. A model LISTEN transition is separate from this forced-cancellation path.</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t/>
            </a:r>
          </a:p>
          <a:p>
            <a: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t/>
            </a:r>
          </a:p>
          <a:p>
            <a:r>
              <a:t>A Stage is a compute step. A replica is an execution instance of that Stage, not a duplicate conversation history. The Session Manager and StagePool preserve request affinity needed by resident model state.</a:t>
            </a:r>
          </a:p>
          <a:p>
            <a:r>
              <a:t/>
            </a:r>
          </a:p>
          <a:p>
            <a:r>
              <a:t>Sources:</a:t>
            </a:r>
          </a:p>
          <a:p>
            <a:r>
              <a:t>- stage0.py: https://github.com/vllm-project/vllm-omni/blob/712b90de9c7bc14c595b363401588a713a87c02d/vllm_omni/model_executor/models/minicpmo_4_5/duplex/stage0.py</a:t>
            </a:r>
          </a:p>
          <a:p>
            <a:r>
              <a:t>- window_kv.py: https://github.com/vllm-project/vllm-omni/blob/712b90de9c7bc14c595b363401588a713a87c02d/vllm_omni/model_executor/models/minicpmo_4_5/duplex/window_kv.py</a:t>
            </a:r>
          </a:p>
          <a:p>
            <a:r>
              <a:t>- window_plan.py: https://github.com/vllm-project/vllm-omni/blob/712b90de9c7bc14c595b363401588a713a87c02d/vllm_omni/model_executor/models/minicpmo_4_5/duplex/window_plan.py</a:t>
            </a:r>
          </a:p>
          <a:p>
            <a:r>
              <a:t>- plugin.py: https://github.com/vllm-project/vllm-omni/blob/712b90de9c7bc14c595b363401588a713a87c02d/vllm_omni/model_executor/models/aura_omni/duplex/plugin.py</a:t>
            </a:r>
          </a:p>
          <a:p>
            <a:r>
              <a:t>- plugin.py: https://github.com/vllm-project/vllm-omni/blob/712b90de9c7bc14c595b363401588a713a87c02d/vllm_omni/model_executor/models/qwen3_omni/duplex/plugin.py</a:t>
            </a:r>
          </a:p>
          <a:p>
            <a:r>
              <a:t/>
            </a:r>
          </a:p>
          <a:p>
            <a:r>
              <a:t>Playback and history boundaries: playback ACKs update MiniCPM playback records without rolling back model KV. For Qwen3-Omni, complete audio and full playback ACK are required to confirm unaligned output text was fully played. AURA commits text history on Thinker completion; playback ACK does not truncate that history.</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t/>
            </a:r>
          </a:p>
          <a:p>
            <a:r>
              <a:t>PersonaPlex currently advertises supports_session_resume=false; disconnect closes that session. Reconnect therefore opens a new one. Generic turn-based Realtime connection history is also a different path and does not use the engine-owned resume protocol.</a:t>
            </a:r>
          </a:p>
          <a:p>
            <a:r>
              <a:t/>
            </a:r>
          </a:p>
          <a:p>
            <a: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capabilities.py: https://github.com/vllm-project/vllm-omni/blob/712b90de9c7bc14c595b363401588a713a87c02d/vllm_omni/model_executor/models/personaplex/duplex/capabilities.py</a:t>
            </a:r>
          </a:p>
          <a:p>
            <a:r>
              <a:t>- capabilities.py: https://github.com/vllm-project/vllm-omni/blob/712b90de9c7bc14c595b363401588a713a87c02d/vllm_omni/model_executor/models/nemotron_voicechat/duplex/capabilities.py</a:t>
            </a:r>
          </a:p>
          <a:p>
            <a:r>
              <a:t>- duplex.py: https://github.com/vllm-project/vllm-omni/blob/712b90de9c7bc14c595b363401588a713a87c02d/vllm_omni/clients/duplex.py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 Stage-0 basic sliding-window mode uses a block-aligned KV window and in-place Re-RoPE so retained KV need not be copied as the window advances. Its streaming audio and vision encoder CUDA graph paths reduce repeated host/launch work for supported inputs. The Code2Wav path adds resident Euler slots, a fused DiT body and HiFT graphs. These paths have model/profile-specific conditions and eager fallbacks.</a:t>
            </a:r>
          </a:p>
          <a:p>
            <a:r>
              <a:t/>
            </a:r>
          </a:p>
          <a:p>
            <a:r>
              <a:t>PersonaPlex batches live frame appends across sessions and replays Mimi encode/decode frame execution with model-local CUDA graphs. Session admission, Stage max_num_seqs and KV memory must be sized together. Qwen3-Omni captures supported Thinker image-encoder shapes for CUDA graph replay.</a:t>
            </a:r>
          </a:p>
          <a:p>
            <a:r>
              <a:t/>
            </a:r>
          </a:p>
          <a:p>
            <a:r>
              <a:t>These are implementation capabilities, not a uniform measured speedup across models or hardware. Select the corresponding CUDA profile and measure end-to-end TTFP, RTF and tail latency with the intended duration and concurrency. The performance table remains a separately labeled benchmark snapshot rather than a new measurement of these optimizations.</a:t>
            </a:r>
          </a:p>
          <a:p>
            <a:r>
              <a:t/>
            </a:r>
          </a:p>
          <a:p>
            <a:r>
              <a:t>Sources:</a:t>
            </a:r>
          </a:p>
          <a:p>
            <a:r>
              <a:t>- window_kv.py: https://github.com/vllm-project/vllm-omni/blob/712b90de9c7bc14c595b363401588a713a87c02d/vllm_omni/model_executor/models/minicpmo_4_5/duplex/window_kv.py</a:t>
            </a:r>
          </a:p>
          <a:p>
            <a:r>
              <a:t>- streaming_audio_encoder_graph.py: https://github.com/vllm-project/vllm-omni/blob/712b90de9c7bc14c595b363401588a713a87c02d/vllm_omni/model_executor/models/minicpmo_4_5/streaming_audio_encoder_graph.py</a:t>
            </a:r>
          </a:p>
          <a:p>
            <a:r>
              <a:t>- minicpmo_4_5_duplex_h200.yaml: https://github.com/vllm-project/vllm-omni/blob/712b90de9c7bc14c595b363401588a713a87c02d/vllm_omni/deploy/minicpmo_4_5_duplex_h200.yaml</a:t>
            </a:r>
          </a:p>
          <a:p>
            <a:r>
              <a:t>- personaplex_mimi_cudagraph.py: https://github.com/vllm-project/vllm-omni/blob/712b90de9c7bc14c595b363401588a713a87c02d/vllm_omni/model_executor/models/personaplex/personaplex_mimi_cudagraph.py</a:t>
            </a:r>
          </a:p>
          <a:p>
            <a:r>
              <a:t>- personaplex.yaml: https://github.com/vllm-project/vllm-omni/blob/712b90de9c7bc14c595b363401588a713a87c02d/vllm_omni/deploy/personaplex.yaml</a:t>
            </a:r>
          </a:p>
          <a:p>
            <a:r>
              <a:t>- vision_encoder_cudagraph.py: https://github.com/vllm-project/vllm-omni/blob/712b90de9c7bc14c595b363401588a713a87c02d/vllm_omni/model_executor/models/qwen3_omni/vision_encoder_cudagraph.py</a:t>
            </a:r>
          </a:p>
          <a:p>
            <a:r>
              <a:t>- https://github.com/vllm-project/vllm-omni/pull/7821</a:t>
            </a:r>
          </a:p>
          <a:p>
            <a:r>
              <a:t>- https://github.com/vllm-project/vllm-omni/pull/8430</a:t>
            </a:r>
          </a:p>
          <a:p>
            <a:r>
              <a:t>- https://github.com/vllm-project/vllm-omni/pull/8443</a:t>
            </a:r>
          </a:p>
          <a:p>
            <a:r>
              <a:t>- https://github.com/vllm-project/vllm-omni/pull/8356</a:t>
            </a:r>
          </a:p>
          <a:p>
            <a:r>
              <a:t>- https://github.com/vllm-project/vllm-omni/pull/8215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t/>
            </a:r>
          </a:p>
          <a:p>
            <a: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t/>
            </a:r>
          </a:p>
          <a:p>
            <a:r>
              <a:t>Sources:</a:t>
            </a:r>
          </a:p>
          <a:p>
            <a:r>
              <a:t>- omniinteract.py: https://github.com/vllm-project/vllm-omni/blob/712b90de9c7bc14c595b363401588a713a87c02d/vllm_omni/benchmarks/omniinteract.py</a:t>
            </a:r>
          </a:p>
          <a:p>
            <a:r>
              <a:t>- omniinteract_eval.py: https://github.com/vllm-project/vllm-omni/blob/712b90de9c7bc14c595b363401588a713a87c02d/vllm_omni/benchmarks/omniinteract_eval.py</a:t>
            </a:r>
          </a:p>
          <a:p>
            <a:r>
              <a:t>- omni_duplex_eval_runner.py: https://github.com/vllm-project/vllm-omni/blob/712b90de9c7bc14c595b363401588a713a87c02d/vllm_omni/benchmarks/duplex/omni_duplex_eval_runner.py</a:t>
            </a:r>
          </a:p>
          <a:p>
            <a:r>
              <a:t>- omni_duplex_eval_metrics.py: https://github.com/vllm-project/vllm-omni/blob/712b90de9c7bc14c595b363401588a713a87c02d/vllm_omni/benchmarks/duplex/omni_duplex_eval_metrics.py</a:t>
            </a:r>
          </a:p>
          <a:p>
            <a: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compares concurrency 1 and 4 within each reported workload. MiniCPM-o 4.5 uses H100 Seed-TTS text-to-speech records dated 21 September 2026. Mean TTFT is 161.8 / 252.8 ms, mean TTFP is 635.3 / 1451.9 ms, and mean request RTF is 0.27 / 0.64. These are text-to-speech measurements, not native audiovisual duplex session RTF. The source records identify H100 without establishing a GPU count.</a:t>
            </a:r>
          </a:p>
          <a:p>
            <a:r>
              <a:t/>
            </a:r>
          </a:p>
          <a:p>
            <a:r>
              <a:t>AURA uses the original 2×H200 OmniInteract audio/video setup: 2 FPS, warmup excluded, reported spoken-turn medians. The reported latency is C=1 TTFT 208 ms / TTFP 463.8 ms and C=4 TTFT 244 ms / TTFP 480.1 ms. The PR below describes the original benchmark setup; the latency values follow the supplied benchmark results.</a:t>
            </a:r>
          </a:p>
          <a:p>
            <a:r>
              <a:t/>
            </a:r>
          </a:p>
          <a:p>
            <a:r>
              <a:t>RTF means generation time divided by generated audio duration; lower is better. Audio throughput in seconds of audio per wall-clock second is a different metric and is not used as AURA RTF. Hardware, workloads and statistical summaries differ between the two models, so this table is not a head-to-head comparison. The figures are benchmark snapshots, not a new test of the latest implementation.</a:t>
            </a:r>
          </a:p>
          <a:p>
            <a:r>
              <a:t/>
            </a:r>
          </a:p>
          <a:p>
            <a:r>
              <a:t>Benchmark setup: https://github.com/vllm-project/vllm-omni/pull/7633</a:t>
            </a:r>
          </a:p>
          <a:p>
            <a:r>
              <a:t/>
            </a:r>
          </a:p>
          <a:p>
            <a:r>
              <a:t>Sources:</a:t>
            </a:r>
          </a:p>
          <a:p>
            <a:r>
              <a:t>- test_minicpmo_4_5.json: https://github.com/vllm-project/vllm-omni/blob/712b90de9c7bc14c595b363401588a713a87c02d/tests/dfx/perf/tests/test_minicpmo_4_5.json</a:t>
            </a:r>
          </a:p>
          <a:p>
            <a:r>
              <a:t>- metrics.py: https://github.com/vllm-project/vllm-omni/blob/712b90de9c7bc14c595b363401588a713a87c02d/vllm_omni/benchmarks/metrics/metrics.py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calling already exists in selected vLLM-Omni Realtime serving paths. This slide separates those integrations from the work to provide consistent tool behavior and broader model coverage in the unified duplex framework.</a:t>
            </a:r>
          </a:p>
          <a:p>
            <a:r>
              <a:t/>
            </a:r>
          </a:p>
          <a:p>
            <a:r>
              <a:t>CURRENT SUPPORT</a:t>
            </a:r>
          </a:p>
          <a:p>
            <a: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t/>
            </a:r>
          </a:p>
          <a:p>
            <a: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t/>
            </a:r>
          </a:p>
          <a:p>
            <a:r>
              <a:t>UNIFIED DUPLEX ROADMAP</a:t>
            </a:r>
          </a:p>
          <a:p>
            <a: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t/>
            </a:r>
          </a:p>
          <a:p>
            <a: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t/>
            </a:r>
          </a:p>
          <a:p>
            <a: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t/>
            </a:r>
          </a:p>
          <a:p>
            <a: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t/>
            </a:r>
          </a:p>
          <a:p>
            <a:r>
              <a:t>Implementation references (snapshot d5a3380103df2fc827f095c60dbfb6e1c5655fd3):</a:t>
            </a:r>
          </a:p>
          <a:p>
            <a:r>
              <a:t>- https://github.com/vllm-project/vllm-omni/blob/d5a3380103df2fc827f095c60dbfb6e1c5655fd3/vllm_omni/entrypoints/openai/realtime/connection.py#L386-L425</a:t>
            </a:r>
          </a:p>
          <a:p>
            <a:r>
              <a:t>- https://github.com/vllm-project/vllm-omni/blob/d5a3380103df2fc827f095c60dbfb6e1c5655fd3/vllm_omni/entrypoints/openai/realtime/connection.py#L870-L940</a:t>
            </a:r>
          </a:p>
          <a:p>
            <a:r>
              <a:t>- https://github.com/vllm-project/vllm-omni/blob/d5a3380103df2fc827f095c60dbfb6e1c5655fd3/vllm_omni/entrypoints/openai/realtime/connection.py#L1655-L1678</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https://github.com/vllm-project/vllm-omni/blob/d5a3380103df2fc827f095c60dbfb6e1c5655fd3/vllm_omni/model_executor/models/nemotron_voicechat/duplex/plugin.py#L108-L147</a:t>
            </a:r>
          </a:p>
          <a:p>
            <a:r>
              <a:t>- https://github.com/vllm-project/vllm-omni/blob/d5a3380103df2fc827f095c60dbfb6e1c5655fd3/vllm_omni/model_executor/models/nemotron_voicechat/duplex/plugin.py#L430-L501</a:t>
            </a:r>
          </a:p>
          <a:p>
            <a:r>
              <a:t>- https://github.com/vllm-project/vllm-omni/blob/d5a3380103df2fc827f095c60dbfb6e1c5655fd3/vllm_omni/engine/duplex/realtime_events.py#L1080-L1126</a:t>
            </a:r>
          </a:p>
          <a:p>
            <a:r>
              <a:t>- https://github.com/vllm-project/vllm-omni/blob/d5a3380103df2fc827f095c60dbfb6e1c5655fd3/vllm_omni/engine/duplex/realtime_events.py#L1430-L1487</a:t>
            </a:r>
          </a:p>
          <a:p>
            <a:r>
              <a:t>- https://github.com/vllm-project/vllm-omni/blob/d5a3380103df2fc827f095c60dbfb6e1c5655fd3/vllm_omni/engine/duplex/plugin.py#L513-L523</a:t>
            </a:r>
          </a:p>
          <a:p>
            <a:r>
              <a:t>- https://github.com/vllm-project/vllm-omni/blob/d5a3380103df2fc827f095c60dbfb6e1c5655fd3/vllm_omni/engine/duplex/session/control.py#L290-L327</a:t>
            </a:r>
          </a:p>
          <a:p>
            <a: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t/>
            </a:r>
          </a:p>
          <a:p>
            <a:r>
              <a:t>NEAR TERM</a:t>
            </a:r>
          </a:p>
          <a:p>
            <a: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t/>
            </a:r>
          </a:p>
          <a:p>
            <a: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t/>
            </a:r>
          </a:p>
          <a:p>
            <a: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t/>
            </a:r>
          </a:p>
          <a:p>
            <a: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t/>
            </a:r>
          </a:p>
          <a:p>
            <a:r>
              <a:t>LONGER TERM</a:t>
            </a:r>
          </a:p>
          <a:p>
            <a: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t/>
            </a:r>
          </a:p>
          <a:p>
            <a: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t/>
            </a:r>
          </a:p>
          <a:p>
            <a:r>
              <a:t>Implementation references (latest fetched mainline d5a3380103df2fc827f095c60dbfb6e1c5655fd3):</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https://github.com/vllm-project/vllm-omni/blob/d5a3380103df2fc827f095c60dbfb6e1c5655fd3/vllm_omni/model_executor/models/nemotron_voicechat/duplex/plugin.py#L444-L501</a:t>
            </a:r>
          </a:p>
          <a:p>
            <a:r>
              <a:t>- https://github.com/vllm-project/vllm-omni/blob/d5a3380103df2fc827f095c60dbfb6e1c5655fd3/vllm_omni/entrypoints/openai/realtime/connection.py#L386-L425</a:t>
            </a:r>
          </a:p>
          <a:p>
            <a:r>
              <a:t>- https://github.com/vllm-project/vllm-omni/blob/d5a3380103df2fc827f095c60dbfb6e1c5655fd3/vllm_omni/engine/duplex/realtime_events.py#L1430-L1487</a:t>
            </a:r>
          </a:p>
          <a:p>
            <a:r>
              <a:t>- https://github.com/vllm-project/vllm-omni/blob/d5a3380103df2fc827f095c60dbfb6e1c5655fd3/vllm_omni/engine/duplex/turn_detection.py#L82-L99</a:t>
            </a:r>
          </a:p>
          <a:p>
            <a:r>
              <a:t>- https://github.com/vllm-project/vllm-omni/blob/d5a3380103df2fc827f095c60dbfb6e1c5655fd3/vllm_omni/engine/duplex/vad.py#L100-L108</a:t>
            </a:r>
          </a:p>
          <a:p>
            <a:r>
              <a:t>- https://github.com/vllm-project/vllm-omni/blob/d5a3380103df2fc827f095c60dbfb6e1c5655fd3/tests/engine/duplex/test_engine_session.py#L598-L608</a:t>
            </a:r>
          </a:p>
          <a:p>
            <a:r>
              <a:t>- https://github.com/vllm-project/vllm-omni/blob/d5a3380103df2fc827f095c60dbfb6e1c5655fd3/vllm_omni/benchmarks/omniinteract.py</a:t>
            </a:r>
          </a:p>
          <a:p>
            <a:r>
              <a:t>- https://github.com/vllm-project/vllm-omni/blob/d5a3380103df2fc827f095c60dbfb6e1c5655fd3/vllm_omni/benchmarks/omniinteract_eval.py</a:t>
            </a:r>
          </a:p>
          <a:p>
            <a:r>
              <a:t>- https://github.com/vllm-project/vllm-omni/blob/d5a3380103df2fc827f095c60dbfb6e1c5655fd3/vllm_omni/benchmarks/duplex/omni_duplex_eval_runner.py</a:t>
            </a:r>
          </a:p>
          <a:p>
            <a:r>
              <a:t>- https://github.com/vllm-project/vllm-omni/blob/d5a3380103df2fc827f095c60dbfb6e1c5655fd3/tests/e2e/accuracy/omni_duplex_eval/README.md</a:t>
            </a:r>
          </a:p>
          <a:p>
            <a:r>
              <a:t>- https://github.com/vllm-project/vllm-omni/blob/d5a3380103df2fc827f095c60dbfb6e1c5655fd3/vllm_omni/model_executor/models/minicpmo_4_5/duplex/window_kv.py</a:t>
            </a:r>
          </a:p>
          <a:p>
            <a:r>
              <a:t>- https://github.com/vllm-project/vllm-omni/blob/d5a3380103df2fc827f095c60dbfb6e1c5655fd3/vllm_omni/engine/stage_pool.py#L574-L609</a:t>
            </a:r>
          </a:p>
          <a:p>
            <a:r>
              <a:t>- https://github.com/vllm-project/vllm-omni/blob/d5a3380103df2fc827f095c60dbfb6e1c5655fd3/vllm_omni/engine/duplex_orchestrator.py#L393-L424</a:t>
            </a:r>
          </a:p>
          <a:p>
            <a:r>
              <a:t>- https://github.com/vllm-project/vllm-omni/blob/d5a3380103df2fc827f095c60dbfb6e1c5655fd3/vllm_omni/entrypoints/openai/api_server.py#L1880-L1895</a:t>
            </a:r>
          </a:p>
          <a:p>
            <a:r>
              <a:t>- https://github.com/vllm-project/vllm-omni/blob/d5a3380103df2fc827f095c60dbfb6e1c5655fd3/vllm_omni/model_executor/models/joyai_vl_interaction/pipeline.py</a:t>
            </a:r>
          </a:p>
          <a:p>
            <a: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t/>
            </a:r>
          </a:p>
          <a:p>
            <a: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t/>
            </a:r>
          </a:p>
          <a:p>
            <a:r>
              <a:t>Session event ACKs are handled at the API attachment layer. Playback ACKs enter the command path. Queue-full and engine-dead errors can return immediately; later rejection arrives as an event. The MiniCPM pipeline at the bottom separates model stages from the process/replica diagram above. Network connectors are required when stages are placed on different nodes.</a:t>
            </a:r>
          </a:p>
          <a:p>
            <a:r>
              <a:t/>
            </a:r>
          </a:p>
          <a:p>
            <a: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t/>
            </a:r>
          </a:p>
          <a:p>
            <a:r>
              <a:t>Sources:</a:t>
            </a:r>
          </a:p>
          <a:p>
            <a:r>
              <a:t>- manager.py: https://github.com/vllm-project/vllm-omni/blob/712b90de9c7bc14c595b363401588a713a87c02d/vllm_omni/engine/duplex/session/manager.py</a:t>
            </a:r>
          </a:p>
          <a:p>
            <a:r>
              <a:t>- duplex_omni.py: https://github.com/vllm-project/vllm-omni/blob/712b90de9c7bc14c595b363401588a713a87c02d/vllm_omni/entrypoints/duplex_omni.py</a:t>
            </a:r>
          </a:p>
          <a:p>
            <a:r>
              <a:t>- serving.py: https://github.com/vllm-project/vllm-omni/blob/712b90de9c7bc14c595b363401588a713a87c02d/vllm_omni/entrypoints/duplex/serving.py</a:t>
            </a:r>
          </a:p>
          <a:p>
            <a:r>
              <a:t>- duplex_omni_engine.py: https://github.com/vllm-project/vllm-omni/blob/712b90de9c7bc14c595b363401588a713a87c02d/vllm_omni/engine/duplex_omni_engine.py</a:t>
            </a:r>
          </a:p>
          <a:p>
            <a:r>
              <a:t/>
            </a:r>
          </a:p>
          <a:p>
            <a:r>
              <a:t>Session-state implementation references:</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engine_session.py: https://github.com/vllm-project/vllm-omni/blob/712b90de9c7bc14c595b363401588a713a87c02d/vllm_omni/engine/duplex/session/engine_session.py</a:t>
            </a:r>
          </a:p>
          <a:p>
            <a:r>
              <a:t>- plugin.py: https://github.com/vllm-project/vllm-omni/blob/712b90de9c7bc14c595b363401588a713a87c02d/vllm_omni/engine/duplex/plugin.py</a:t>
            </a:r>
          </a:p>
          <a:p>
            <a: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classifies speech activity. A separate endpointing policy uses the detected silence duration to decide when to end a turn. The detector alone does not commit input or start model generation.</a:t>
            </a:r>
          </a:p>
          <a:p>
            <a:r>
              <a:t/>
            </a:r>
          </a:p>
          <a:p>
            <a:r>
              <a:t>Semantic VAD is used here as an umbrella term for semantic end-of-turn detection. Such models estimate whether the user's utterance is complete, using linguistic context and, for audio-native models, cues such as intonation and rhythm. Text-based and audio-based approaches both exist.</a:t>
            </a:r>
          </a:p>
          <a:p>
            <a:r>
              <a:t/>
            </a:r>
          </a:p>
          <a:p>
            <a:r>
              <a:t>Pipecat Smart Turn v3.2 is an open-source audio-native turn detector that predicts complete or incomplete. Its documented deployment pairs it with a lightweight VAD such as Silero. VAD identifies a pause, then Smart Turn analyzes the accumulated audio of the current turn. It does not require a separate transcript. The flight-booking sentence on the slide illustrates why an unfinished request may need more time; it is not a measured prediction from this model. This is a reference model combination, not a claim of vLLM-Omni integration.</a:t>
            </a:r>
          </a:p>
          <a:p>
            <a:r>
              <a:t/>
            </a:r>
          </a:p>
          <a:p>
            <a:r>
              <a:t>LiveKit also documents turn detection layered on VAD. Its current audio turn detector requires VAD and adds semantic and prosodic information. These implementations support combining acoustic activity detection with a semantic completion model, rather than treating them as mutually exclusive components.</a:t>
            </a:r>
          </a:p>
          <a:p>
            <a:r>
              <a:t/>
            </a:r>
          </a:p>
          <a:p>
            <a:r>
              <a:t>An API can nevertheless expose alternative turn-detection modes. OpenAI Realtime accepts server_vad or semantic_vad as the selected type. That configuration choice does not establish whether acoustic and semantic signals are mutually exclusive inside a provider's implementation.</a:t>
            </a:r>
          </a:p>
          <a:p>
            <a:r>
              <a:t/>
            </a:r>
          </a:p>
          <a:p>
            <a:r>
              <a:t>Once the endpointing policy ends a turn, the session can commit input and, if configured, start a response. An incomplete prediction usually allows more listening time, subject to the system's timeout policy. Recognizing a new speech start or an intention to interrupt the assistant is a separate decision. Semantic turn completion is also distinct from a native duplex model's LISTEN / SPEAK behavior.</a:t>
            </a:r>
          </a:p>
          <a:p>
            <a:r>
              <a:t/>
            </a:r>
          </a:p>
          <a:p>
            <a:r>
              <a:t>Semantic VAD remains a proposed extension in this vLLM-Omni deck. The inspected unified-runtime configuration accepts server_vad and rejects other turn-detection types.</a:t>
            </a:r>
          </a:p>
          <a:p>
            <a:r>
              <a:t/>
            </a:r>
          </a:p>
          <a:p>
            <a:r>
              <a:t>References:</a:t>
            </a:r>
          </a:p>
          <a:p>
            <a:r>
              <a:t>- https://github.com/pipecat-ai/smart-turn</a:t>
            </a:r>
          </a:p>
          <a:p>
            <a:r>
              <a:t>- https://huggingface.co/pipecat-ai/smart-turn-v3.2</a:t>
            </a:r>
          </a:p>
          <a:p>
            <a:r>
              <a:t>- https://docs.livekit.io/agents/logic/turns/turn-detector/</a:t>
            </a:r>
          </a:p>
          <a:p>
            <a:r>
              <a:t>- https://developers.openai.com/api/docs/guides/realtime-vad</a:t>
            </a:r>
          </a:p>
          <a:p>
            <a:r>
              <a:t/>
            </a:r>
          </a:p>
          <a:p>
            <a:r>
              <a:t>vLLM-Omni implementation:</a:t>
            </a:r>
          </a:p>
          <a:p>
            <a:r>
              <a:t>- https://github.com/vllm-project/vllm-omni/blob/712b90de9c7bc14c595b363401588a713a87c02d/vllm_omni/engine/duplex/turn_detection.py</a:t>
            </a:r>
          </a:p>
          <a:p>
            <a:r>
              <a:t>- https://github.com/vllm-project/vllm-omni/blob/712b90de9c7bc14c595b363401588a713a87c02d/vllm_omni/engine/duplex/vad.py</a:t>
            </a:r>
          </a:p>
          <a:p>
            <a:r>
              <a:t>- https://github.com/vllm-project/vllm-omni/blob/712b90de9c7bc14c595b363401588a713a87c02d/vllm_omni/engine/duplex/session/runner.py</a:t>
            </a:r>
          </a:p>
          <a:p>
            <a:r>
              <a:t/>
            </a:r>
          </a:p>
          <a:p>
            <a:r>
              <a:t>Compute and placement: lightweight acoustic VAD has low inference cost per audio frame. Silero's published reference reports less than 1 ms of CPU processing for a 30+ ms audio chunk. This is inference time, not end-of-turn latency: buffering, scheduling and the configured silence duration also affect when the session commits. It is not a vLLM-Omni measurement.</a:t>
            </a:r>
          </a:p>
          <a:p>
            <a:r>
              <a:t/>
            </a:r>
          </a:p>
          <a:p>
            <a:r>
              <a:t>Semantic end-of-turn models usually analyze more context per decision, but their compute requirements depend on the model, hardware and invocation frequency. Smart Turn has a CPU implementation; its project reports inference from roughly 10 ms on some CPUs to below 100 ms on most cloud instances. Those figures use different inputs and environments from Silero's, so they do not establish a same-workload speed ratio. Gating semantic inference on detected pauses reduces invocation frequency.</a:t>
            </a:r>
          </a:p>
          <a:p>
            <a:r>
              <a:t/>
            </a:r>
          </a:p>
          <a:p>
            <a:r>
              <a:t>For vLLM-Omni, the planned direction is to execute heavier semantic models through an Omni Stage, while retaining an offloaded CPU option for lightweight models. Stage placement is a proposed architecture, not an implemented Semantic VAD path or a guarantee of lower latency. Scheduling, transfers, queueing and batching must fit the interaction latency budget. The Session Runner still owns the decision to wait, commit or create a response.</a:t>
            </a:r>
          </a:p>
          <a:p>
            <a:r>
              <a:t/>
            </a:r>
          </a:p>
          <a:p>
            <a:r>
              <a:t>Noise handling: VAD estimates speech activity and can suppress false speech events from non-speech noise. It does not produce a cleaned waveform, remove noise mixed with speech, or reliably exclude another person speaking in the background. Audio denoising, echo cancellation and target-speaker filtering are separate processing capabilities. The example does not imply dropping every non-speech audio chunk from a native duplex model's input.</a:t>
            </a:r>
          </a:p>
          <a:p>
            <a:r>
              <a:t/>
            </a:r>
          </a:p>
          <a:p>
            <a:r>
              <a:t>Additional references:</a:t>
            </a:r>
          </a:p>
          <a:p>
            <a:r>
              <a:t>- https://github.com/snakers4/silero-vad</a:t>
            </a:r>
          </a:p>
          <a:p>
            <a:r>
              <a:t>- https://github.com/pipecat-ai/smart-turn</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t/>
            </a:r>
          </a:p>
          <a:p>
            <a: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t/>
            </a:r>
          </a:p>
          <a:p>
            <a:r>
              <a:t>Sources:</a:t>
            </a:r>
          </a:p>
          <a:p>
            <a:r>
              <a:t>- vad.py: https://github.com/vllm-project/vllm-omni/blob/712b90de9c7bc14c595b363401588a713a87c02d/vllm_omni/engine/duplex/vad.py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connection.py: https://github.com/vllm-project/vllm-omni/blob/712b90de9c7bc14c595b363401588a713a87c02d/vllm_omni/entrypoints/openai/realtime/connection.py</a:t>
            </a:r>
          </a:p>
          <a:p>
            <a:r>
              <a:t/>
            </a:r>
          </a:p>
          <a:p>
            <a:r>
              <a:t>Planned semantic inference placement: keep lightweight models in an offloaded CPU pool. Audio-native models such as Smart Turn do not require ASR; text-based endpointing models may reuse a streaming transcript. Execute heavier semantic models through an Omni Stage, with bounded queues and latency-aware microbatching. This is a proposed extension. The Stage returns a completion estimate; the Session Runner owns wait/commit/response policy and validates session, input sequence and epoch before applying a result. Account for queueing and transfer overhead rather than assuming accelerator placement always lowers latency.</a:t>
            </a:r>
          </a:p>
          <a:p>
            <a:r>
              <a:t/>
            </a:r>
          </a:p>
          <a:p>
            <a:r>
              <a:t>Additional references:</a:t>
            </a:r>
          </a:p>
          <a:p>
            <a:r>
              <a:t>- https://github.com/snakers4/silero-vad</a:t>
            </a:r>
          </a:p>
          <a:p>
            <a:r>
              <a:t>- https://github.com/pipecat-ai/smart-turn</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t/>
            </a:r>
          </a:p>
          <a:p>
            <a: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t/>
            </a:r>
          </a:p>
          <a:p>
            <a: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stage_config.py: https://github.com/vllm-project/vllm-omni/blob/712b90de9c7bc14c595b363401588a713a87c02d/vllm_omni/config/stage_config.py</a:t>
            </a:r>
          </a:p>
          <a:p>
            <a:r>
              <a:t>- manager.py: https://github.com/vllm-project/vllm-omni/blob/712b90de9c7bc14c595b363401588a713a87c02d/vllm_omni/engine/duplex/session/manager.py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AI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1.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2.xml"/><Relationship Id="rId5" Type="http://schemas.openxmlformats.org/officeDocument/2006/relationships/image" Target="../media/image5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9.xml"/><Relationship Id="rId11" Type="http://schemas.openxmlformats.org/officeDocument/2006/relationships/hyperlink" Target="https://github.com/vllm-project/vllm-omni/blob/712b90de9c7bc14c595b363401588a713a87c02d/vllm_omni/engine/duplex/delivery.p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 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13</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Bounded output delivery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13</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a:solidFill>
                  <a:srgbClr val="142B45"/>
                </a:solidFill>
                <a:latin typeface="Arial"/>
                <a:ea typeface="Arial"/>
                <a:cs typeface="Arial"/>
              </a:rPr>
              <a:t>Keep the</a:t>
            </a:r>
          </a:p>
          <a:p>
            <a:pPr algn="l">
              <a:lnSpc>
                <a:spcPct val="110000"/>
              </a:lnSpc>
              <a:spcAft>
                <a:spcPts val="0"/>
              </a:spcAft>
            </a:pPr>
            <a:r>
              <a:rPr sz="3800" b="1">
                <a:solidFill>
                  <a:srgbClr val="142B45"/>
                </a:solidFill>
                <a:latin typeface="Arial"/>
                <a:ea typeface="Arial"/>
                <a:cs typeface="Arial"/>
              </a:rPr>
              <a:t>conversation flowing.</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One live conversation</a:t>
            </a:r>
          </a:p>
        </p:txBody>
      </p:sp>
      <p:sp>
        <p:nvSpPr>
          <p:cNvPr id="17" name="TextBox 16"/>
          <p:cNvSpPr txBox="1"/>
          <p:nvPr/>
        </p:nvSpPr>
        <p:spPr>
          <a:xfrm>
            <a:off x="6537960" y="1846630"/>
            <a:ext cx="1143000" cy="274320"/>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Camera</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User speech</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1DFD8"/>
                </a:solidFill>
                <a:latin typeface="Arial"/>
                <a:ea typeface="Arial"/>
                <a:cs typeface="Arial"/>
              </a:rPr>
              <a:t>Assistant speech</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8211312" y="3991813"/>
            <a:ext cx="192024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barge-in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Concurrent input &amp; output</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Keep receiving speech and video</a:t>
            </a:r>
          </a:p>
          <a:p>
            <a:pPr algn="l">
              <a:lnSpc>
                <a:spcPct val="110000"/>
              </a:lnSpc>
              <a:spcAft>
                <a:spcPts val="0"/>
              </a:spcAft>
            </a:pPr>
            <a:r>
              <a:rPr sz="1700" b="0">
                <a:solidFill>
                  <a:srgbClr val="586B7E"/>
                </a:solidFill>
                <a:latin typeface="Arial"/>
                <a:ea typeface="Arial"/>
                <a:cs typeface="Arial"/>
              </a:rPr>
              <a:t>while the assistant responds.</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Streamed responses</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Deliver text and audio incrementally,</a:t>
            </a:r>
          </a:p>
          <a:p>
            <a:pPr algn="l">
              <a:lnSpc>
                <a:spcPct val="110000"/>
              </a:lnSpc>
              <a:spcAft>
                <a:spcPts val="0"/>
              </a:spcAft>
            </a:pPr>
            <a:r>
              <a:rPr sz="1700" b="0">
                <a:solidFill>
                  <a:srgbClr val="586B7E"/>
                </a:solidFill>
                <a:latin typeface="Arial"/>
                <a:ea typeface="Arial"/>
                <a:cs typeface="Arial"/>
              </a:rPr>
              <a:t>without waiting for a complete reply.</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Adaptive interaction</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Use new input to continue, adapt what comes next, or yield the floor.</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Hard interruption: forced stop</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Client / server control</a:t>
            </a:r>
          </a:p>
          <a:p>
            <a:pPr algn="l">
              <a:lnSpc>
                <a:spcPct val="110000"/>
              </a:lnSpc>
              <a:spcAft>
                <a:spcPts val="0"/>
              </a:spcAft>
            </a:pPr>
            <a:r>
              <a:rPr sz="1250" b="0">
                <a:solidFill>
                  <a:srgbClr val="142B45"/>
                </a:solidFill>
                <a:latin typeface="Arial"/>
                <a:ea typeface="Arial"/>
                <a:cs typeface="Arial"/>
              </a:rPr>
              <a:t>Explicit cancel or configured VAD policy</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a:solidFill>
                  <a:srgbClr val="008E96"/>
                </a:solidFill>
                <a:latin typeface="Arial"/>
                <a:ea typeface="Arial"/>
                <a:cs typeface="Arial"/>
              </a:rPr>
              <a:t>Soft interruption: model-driven yielding*</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The model uses ongoing input + context to decide when to stop.</a:t>
            </a:r>
          </a:p>
          <a:p>
            <a:pPr algn="l">
              <a:lnSpc>
                <a:spcPct val="110000"/>
              </a:lnSpc>
              <a:spcAft>
                <a:spcPts val="0"/>
              </a:spcAft>
            </a:pPr>
            <a:r>
              <a:rPr sz="1250" b="0">
                <a:solidFill>
                  <a:srgbClr val="142B45"/>
                </a:solidFill>
                <a:latin typeface="Arial"/>
                <a:ea typeface="Arial"/>
                <a:cs typeface="Arial"/>
              </a:rPr>
              <a:t>*Depends on model capability.</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Web demo examples: model decisions, Server VAD and client controls shape the interaction.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13</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404872"/>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2496312"/>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MiniCPM-o 4.5</a:t>
            </a:r>
          </a:p>
        </p:txBody>
      </p:sp>
      <p:sp>
        <p:nvSpPr>
          <p:cNvPr id="17" name="TextBox 16"/>
          <p:cNvSpPr txBox="1"/>
          <p:nvPr/>
        </p:nvSpPr>
        <p:spPr>
          <a:xfrm>
            <a:off x="2807208" y="2496312"/>
            <a:ext cx="4370832"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Continuous speech and video input</a:t>
            </a:r>
          </a:p>
          <a:p>
            <a:pPr algn="l">
              <a:lnSpc>
                <a:spcPct val="110000"/>
              </a:lnSpc>
              <a:spcAft>
                <a:spcPts val="0"/>
              </a:spcAft>
            </a:pPr>
            <a:r>
              <a:rPr sz="1200" b="0">
                <a:solidFill>
                  <a:srgbClr val="142B45"/>
                </a:solidFill>
                <a:latin typeface="Arial"/>
                <a:ea typeface="Arial"/>
                <a:cs typeface="Arial"/>
              </a:rPr>
              <a:t>Model decides LISTEN / SPEAK</a:t>
            </a:r>
          </a:p>
        </p:txBody>
      </p:sp>
      <p:sp>
        <p:nvSpPr>
          <p:cNvPr id="18" name="TextBox 17"/>
          <p:cNvSpPr txBox="1"/>
          <p:nvPr/>
        </p:nvSpPr>
        <p:spPr>
          <a:xfrm>
            <a:off x="7406640" y="2496312"/>
            <a:ext cx="3904487"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Listen or respond within the live session</a:t>
            </a:r>
          </a:p>
          <a:p>
            <a:pPr algn="l">
              <a:lnSpc>
                <a:spcPct val="110000"/>
              </a:lnSpc>
              <a:spcAft>
                <a:spcPts val="0"/>
              </a:spcAft>
            </a:pPr>
            <a:r>
              <a:rPr sz="1200" b="0">
                <a:solidFill>
                  <a:srgbClr val="142B45"/>
                </a:solidFill>
                <a:latin typeface="Arial"/>
                <a:ea typeface="Arial"/>
                <a:cs typeface="Arial"/>
              </a:rPr>
              <a:t>No Server VAD required by default</a:t>
            </a:r>
          </a:p>
        </p:txBody>
      </p:sp>
      <p:sp>
        <p:nvSpPr>
          <p:cNvPr id="19" name="Rounded Rectangle 18"/>
          <p:cNvSpPr/>
          <p:nvPr/>
        </p:nvSpPr>
        <p:spPr>
          <a:xfrm>
            <a:off x="548640" y="3154679"/>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246120"/>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Qwen3-Omni</a:t>
            </a:r>
          </a:p>
        </p:txBody>
      </p:sp>
      <p:sp>
        <p:nvSpPr>
          <p:cNvPr id="21" name="TextBox 20"/>
          <p:cNvSpPr txBox="1"/>
          <p:nvPr/>
        </p:nvSpPr>
        <p:spPr>
          <a:xfrm>
            <a:off x="2807208" y="3246120"/>
            <a:ext cx="4370832"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Server VAD detects user speech</a:t>
            </a:r>
          </a:p>
          <a:p>
            <a:pPr algn="l">
              <a:lnSpc>
                <a:spcPct val="110000"/>
              </a:lnSpc>
              <a:spcAft>
                <a:spcPts val="0"/>
              </a:spcAft>
            </a:pPr>
            <a:r>
              <a:rPr sz="1200" b="0">
                <a:solidFill>
                  <a:srgbClr val="142B45"/>
                </a:solidFill>
                <a:latin typeface="Arial"/>
                <a:ea typeface="Arial"/>
                <a:cs typeface="Arial"/>
              </a:rPr>
              <a:t>Microphone input stays active</a:t>
            </a:r>
          </a:p>
        </p:txBody>
      </p:sp>
      <p:sp>
        <p:nvSpPr>
          <p:cNvPr id="22" name="TextBox 21"/>
          <p:cNvSpPr txBox="1"/>
          <p:nvPr/>
        </p:nvSpPr>
        <p:spPr>
          <a:xfrm>
            <a:off x="7406640" y="3246120"/>
            <a:ext cx="3904487"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Stop queued playback</a:t>
            </a:r>
          </a:p>
          <a:p>
            <a:pPr algn="l">
              <a:lnSpc>
                <a:spcPct val="110000"/>
              </a:lnSpc>
              <a:spcAft>
                <a:spcPts val="0"/>
              </a:spcAft>
            </a:pPr>
            <a:r>
              <a:rPr sz="1200" b="0">
                <a:solidFill>
                  <a:srgbClr val="142B45"/>
                </a:solidFill>
                <a:latin typeface="Arial"/>
                <a:ea typeface="Arial"/>
                <a:cs typeface="Arial"/>
              </a:rPr>
              <a:t>Interrupt the current response*</a:t>
            </a:r>
          </a:p>
        </p:txBody>
      </p:sp>
      <p:sp>
        <p:nvSpPr>
          <p:cNvPr id="23" name="Rounded Rectangle 22"/>
          <p:cNvSpPr/>
          <p:nvPr/>
        </p:nvSpPr>
        <p:spPr>
          <a:xfrm>
            <a:off x="548640" y="3904488"/>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3995928"/>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AURA</a:t>
            </a:r>
          </a:p>
        </p:txBody>
      </p:sp>
      <p:sp>
        <p:nvSpPr>
          <p:cNvPr id="25" name="TextBox 24"/>
          <p:cNvSpPr txBox="1"/>
          <p:nvPr/>
        </p:nvSpPr>
        <p:spPr>
          <a:xfrm>
            <a:off x="2807208" y="3995928"/>
            <a:ext cx="4370832"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Hold to talk; release to submit</a:t>
            </a:r>
          </a:p>
          <a:p>
            <a:pPr algn="l">
              <a:lnSpc>
                <a:spcPct val="110000"/>
              </a:lnSpc>
              <a:spcAft>
                <a:spcPts val="0"/>
              </a:spcAft>
            </a:pPr>
            <a:r>
              <a:rPr sz="1200" b="0">
                <a:solidFill>
                  <a:srgbClr val="142B45"/>
                </a:solidFill>
                <a:latin typeface="Arial"/>
                <a:ea typeface="Arial"/>
                <a:cs typeface="Arial"/>
              </a:rPr>
              <a:t>new audio / video input</a:t>
            </a:r>
          </a:p>
        </p:txBody>
      </p:sp>
      <p:sp>
        <p:nvSpPr>
          <p:cNvPr id="26" name="TextBox 25"/>
          <p:cNvSpPr txBox="1"/>
          <p:nvPr/>
        </p:nvSpPr>
        <p:spPr>
          <a:xfrm>
            <a:off x="7406640" y="3995928"/>
            <a:ext cx="3904487"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Holding stops local playback</a:t>
            </a:r>
          </a:p>
          <a:p>
            <a:pPr algn="l">
              <a:lnSpc>
                <a:spcPct val="110000"/>
              </a:lnSpc>
              <a:spcAft>
                <a:spcPts val="0"/>
              </a:spcAft>
            </a:pPr>
            <a:r>
              <a:rPr sz="1200" b="0">
                <a:solidFill>
                  <a:srgbClr val="142B45"/>
                </a:solidFill>
                <a:latin typeface="Arial"/>
                <a:ea typeface="Arial"/>
                <a:cs typeface="Arial"/>
              </a:rPr>
              <a:t>Server generation can continue</a:t>
            </a:r>
          </a:p>
        </p:txBody>
      </p:sp>
      <p:sp>
        <p:nvSpPr>
          <p:cNvPr id="27" name="TextBox 26"/>
          <p:cNvSpPr txBox="1"/>
          <p:nvPr/>
        </p:nvSpPr>
        <p:spPr>
          <a:xfrm>
            <a:off x="722376" y="4800600"/>
            <a:ext cx="107442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Applications can add explicit response.cancel for server-side cancellation.</a:t>
            </a:r>
          </a:p>
        </p:txBody>
      </p:sp>
      <p:sp>
        <p:nvSpPr>
          <p:cNvPr id="28" name="Rounded Rectangle 27"/>
          <p:cNvSpPr/>
          <p:nvPr/>
        </p:nvSpPr>
        <p:spPr>
          <a:xfrm>
            <a:off x="54864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27608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 YIELDING</a:t>
            </a:r>
          </a:p>
        </p:txBody>
      </p:sp>
      <p:sp>
        <p:nvSpPr>
          <p:cNvPr id="30" name="TextBox 29"/>
          <p:cNvSpPr txBox="1"/>
          <p:nvPr/>
        </p:nvSpPr>
        <p:spPr>
          <a:xfrm>
            <a:off x="685800" y="555040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The model switches to listening</a:t>
            </a:r>
          </a:p>
          <a:p>
            <a:pPr algn="l">
              <a:lnSpc>
                <a:spcPct val="110000"/>
              </a:lnSpc>
              <a:spcAft>
                <a:spcPts val="0"/>
              </a:spcAft>
            </a:pPr>
            <a:r>
              <a:rPr sz="1050" b="0">
                <a:solidFill>
                  <a:srgbClr val="142B45"/>
                </a:solidFill>
                <a:latin typeface="Arial"/>
                <a:ea typeface="Arial"/>
                <a:cs typeface="Arial"/>
              </a:rPr>
              <a:t>LISTEN is not response.cancel</a:t>
            </a:r>
          </a:p>
        </p:txBody>
      </p:sp>
      <p:sp>
        <p:nvSpPr>
          <p:cNvPr id="32" name="Rounded Rectangle 31"/>
          <p:cNvSpPr/>
          <p:nvPr/>
        </p:nvSpPr>
        <p:spPr>
          <a:xfrm>
            <a:off x="438912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27608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55040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Stop what the user hears</a:t>
            </a:r>
          </a:p>
          <a:p>
            <a:pPr algn="l">
              <a:lnSpc>
                <a:spcPct val="110000"/>
              </a:lnSpc>
              <a:spcAft>
                <a:spcPts val="0"/>
              </a:spcAft>
            </a:pPr>
            <a:r>
              <a:rPr sz="1050" b="0">
                <a:solidFill>
                  <a:srgbClr val="142B45"/>
                </a:solidFill>
                <a:latin typeface="Arial"/>
                <a:ea typeface="Arial"/>
                <a:cs typeface="Arial"/>
              </a:rPr>
              <a:t>Generation may continue</a:t>
            </a:r>
          </a:p>
        </p:txBody>
      </p:sp>
      <p:sp>
        <p:nvSpPr>
          <p:cNvPr id="36" name="Rounded Rectangle 35"/>
          <p:cNvSpPr/>
          <p:nvPr/>
        </p:nvSpPr>
        <p:spPr>
          <a:xfrm>
            <a:off x="822960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27608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55040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Cancel the current response</a:t>
            </a:r>
          </a:p>
          <a:p>
            <a:pPr algn="l">
              <a:lnSpc>
                <a:spcPct val="110000"/>
              </a:lnSpc>
              <a:spcAft>
                <a:spcPts val="0"/>
              </a:spcAft>
            </a:pPr>
            <a:r>
              <a:rPr sz="1050" b="0">
                <a:solidFill>
                  <a:srgbClr val="142B45"/>
                </a:solidFill>
                <a:latin typeface="Arial"/>
                <a:ea typeface="Arial"/>
                <a:cs typeface="Arial"/>
              </a:rPr>
              <a:t>Client clears queued audio</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Server VAD interruption requires interrupt_response. Behavior depends on the model and selected demo profile.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13</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1150" b="0" lang="en-US">
                <a:solidFill>
                  <a:srgbClr val="008E96"/>
                </a:solidFill>
                <a:latin typeface="Arial"/>
                <a:ea typeface="Arial"/>
                <a:cs typeface="Arial"/>
              </a:rPr>
              <a:t>Video input · Playback feedback · Session resume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13</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session output; reap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the wire protocol; EngineClient exposes session handles; Runner / Plugin drives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13</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Worker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Compute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Plugin plan → Stage request</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a:solidFill>
                  <a:srgbClr val="142B45"/>
                </a:solidFill>
                <a:latin typeface="Arial"/>
                <a:ea typeface="Arial"/>
                <a:cs typeface="Arial"/>
              </a:rPr>
              <a:t>Continuous input · Bounded output per session · Playback progress reported separately</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State handling: live computation and conversation history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MiniCPM updates a live request; AURA and Qwen3-Omni submit a new request for each committed turn.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13</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STATE RETAINED ACROSS INPUTS</a:t>
            </a:r>
          </a:p>
        </p:txBody>
      </p:sp>
      <p:sp>
        <p:nvSpPr>
          <p:cNvPr id="15" name="Rounded Rectangle 14"/>
          <p:cNvSpPr/>
          <p:nvPr/>
        </p:nvSpPr>
        <p:spPr>
          <a:xfrm>
            <a:off x="548640" y="2386584"/>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44144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441448"/>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Chunk → continue live request</a:t>
            </a:r>
          </a:p>
        </p:txBody>
      </p:sp>
      <p:sp>
        <p:nvSpPr>
          <p:cNvPr id="18" name="TextBox 17"/>
          <p:cNvSpPr txBox="1"/>
          <p:nvPr/>
        </p:nvSpPr>
        <p:spPr>
          <a:xfrm>
            <a:off x="5532120" y="2441448"/>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LLM KV / audio state; configurable sliding window</a:t>
            </a:r>
          </a:p>
        </p:txBody>
      </p:sp>
      <p:sp>
        <p:nvSpPr>
          <p:cNvPr id="19" name="Rounded Rectangle 18"/>
          <p:cNvSpPr/>
          <p:nvPr/>
        </p:nvSpPr>
        <p:spPr>
          <a:xfrm>
            <a:off x="548640" y="2779776"/>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28346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2834640"/>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2" name="TextBox 21"/>
          <p:cNvSpPr txBox="1"/>
          <p:nvPr/>
        </p:nvSpPr>
        <p:spPr>
          <a:xfrm>
            <a:off x="5532120" y="2834640"/>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ASR text, video clips and assistant text; rebuild prompt each turn</a:t>
            </a:r>
          </a:p>
        </p:txBody>
      </p:sp>
      <p:sp>
        <p:nvSpPr>
          <p:cNvPr id="23" name="Rounded Rectangle 22"/>
          <p:cNvSpPr/>
          <p:nvPr/>
        </p:nvSpPr>
        <p:spPr>
          <a:xfrm>
            <a:off x="548640" y="3172968"/>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227832"/>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227832"/>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6" name="TextBox 25"/>
          <p:cNvSpPr txBox="1"/>
          <p:nvPr/>
        </p:nvSpPr>
        <p:spPr>
          <a:xfrm>
            <a:off x="5532120" y="3227832"/>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User audio, image frames and text; rebuild prompt each turn</a:t>
            </a:r>
          </a:p>
        </p:txBody>
      </p:sp>
      <p:sp>
        <p:nvSpPr>
          <p:cNvPr id="27" name="Rounded Rectangle 26"/>
          <p:cNvSpPr/>
          <p:nvPr/>
        </p:nvSpPr>
        <p:spPr>
          <a:xfrm>
            <a:off x="548640" y="3749039"/>
            <a:ext cx="11082528" cy="106984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913632"/>
            <a:ext cx="2029968" cy="265176"/>
          </a:xfrm>
          <a:prstGeom prst="rect">
            <a:avLst/>
          </a:prstGeom>
          <a:noFill/>
        </p:spPr>
        <p:txBody>
          <a:bodyPr wrap="square" lIns="0" rIns="0" tIns="0" bIns="0" anchor="t">
            <a:spAutoFit/>
          </a:bodyPr>
          <a:lstStyle/>
          <a:p>
            <a:pPr algn="l">
              <a:lnSpc>
                <a:spcPct val="110000"/>
              </a:lnSpc>
              <a:spcAft>
                <a:spcPts val="0"/>
              </a:spcAft>
            </a:pPr>
            <a:r>
              <a:rPr sz="1600" b="1">
                <a:solidFill>
                  <a:srgbClr val="327CEC"/>
                </a:solidFill>
                <a:latin typeface="Arial"/>
                <a:ea typeface="Arial"/>
                <a:cs typeface="Arial"/>
              </a:rPr>
              <a:t>MiniCPM-o 4.5</a:t>
            </a:r>
          </a:p>
        </p:txBody>
      </p:sp>
      <p:sp>
        <p:nvSpPr>
          <p:cNvPr id="29" name="TextBox 28"/>
          <p:cNvSpPr txBox="1"/>
          <p:nvPr/>
        </p:nvSpPr>
        <p:spPr>
          <a:xfrm>
            <a:off x="722376" y="4261104"/>
            <a:ext cx="1975104" cy="210312"/>
          </a:xfrm>
          <a:prstGeom prst="rect">
            <a:avLst/>
          </a:prstGeom>
          <a:noFill/>
        </p:spPr>
        <p:txBody>
          <a:bodyPr wrap="square" lIns="0" rIns="0" tIns="0" bIns="0" anchor="t">
            <a:spAutoFit/>
          </a:bodyPr>
          <a:lstStyle/>
          <a:p>
            <a:pPr algn="l">
              <a:lnSpc>
                <a:spcPct val="110000"/>
              </a:lnSpc>
              <a:spcAft>
                <a:spcPts val="0"/>
              </a:spcAft>
            </a:pPr>
            <a:r>
              <a:rPr sz="1200" b="0">
                <a:solidFill>
                  <a:srgbClr val="327CEC"/>
                </a:solidFill>
                <a:latin typeface="Arial"/>
                <a:ea typeface="Arial"/>
                <a:cs typeface="Arial"/>
              </a:rPr>
              <a:t>native duplex</a:t>
            </a:r>
          </a:p>
        </p:txBody>
      </p:sp>
      <p:sp>
        <p:nvSpPr>
          <p:cNvPr id="30" name="TextBox 29"/>
          <p:cNvSpPr txBox="1"/>
          <p:nvPr/>
        </p:nvSpPr>
        <p:spPr>
          <a:xfrm>
            <a:off x="722376" y="4553712"/>
            <a:ext cx="1984248" cy="1645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Continuous audio + video</a:t>
            </a:r>
          </a:p>
        </p:txBody>
      </p:sp>
      <p:sp>
        <p:nvSpPr>
          <p:cNvPr id="31" name="Rounded Rectangle 30"/>
          <p:cNvSpPr/>
          <p:nvPr/>
        </p:nvSpPr>
        <p:spPr>
          <a:xfrm>
            <a:off x="2898648"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Multimodal LLM</a:t>
            </a:r>
          </a:p>
        </p:txBody>
      </p:sp>
      <p:sp>
        <p:nvSpPr>
          <p:cNvPr id="33" name="TextBox 32"/>
          <p:cNvSpPr txBox="1"/>
          <p:nvPr/>
        </p:nvSpPr>
        <p:spPr>
          <a:xfrm>
            <a:off x="2953512"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LLM KV + streaming audio state</a:t>
            </a:r>
          </a:p>
        </p:txBody>
      </p:sp>
      <p:sp>
        <p:nvSpPr>
          <p:cNvPr id="34" name="Rounded Rectangle 33"/>
          <p:cNvSpPr/>
          <p:nvPr/>
        </p:nvSpPr>
        <p:spPr>
          <a:xfrm>
            <a:off x="5897880"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971032"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Talker</a:t>
            </a:r>
          </a:p>
        </p:txBody>
      </p:sp>
      <p:sp>
        <p:nvSpPr>
          <p:cNvPr id="36" name="TextBox 35"/>
          <p:cNvSpPr txBox="1"/>
          <p:nvPr/>
        </p:nvSpPr>
        <p:spPr>
          <a:xfrm>
            <a:off x="5952744"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Per-request TTS state</a:t>
            </a:r>
          </a:p>
        </p:txBody>
      </p:sp>
      <p:sp>
        <p:nvSpPr>
          <p:cNvPr id="37" name="Rounded Rectangle 36"/>
          <p:cNvSpPr/>
          <p:nvPr/>
        </p:nvSpPr>
        <p:spPr>
          <a:xfrm>
            <a:off x="8897112"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70264"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Code2Wav</a:t>
            </a:r>
          </a:p>
        </p:txBody>
      </p:sp>
      <p:sp>
        <p:nvSpPr>
          <p:cNvPr id="39" name="TextBox 38"/>
          <p:cNvSpPr txBox="1"/>
          <p:nvPr/>
        </p:nvSpPr>
        <p:spPr>
          <a:xfrm>
            <a:off x="8951976"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Decoder cache</a:t>
            </a:r>
          </a:p>
        </p:txBody>
      </p:sp>
      <p:cxnSp>
        <p:nvCxnSpPr>
          <p:cNvPr id="40" name="Connector 39"/>
          <p:cNvCxnSpPr/>
          <p:nvPr/>
        </p:nvCxnSpPr>
        <p:spPr>
          <a:xfrm>
            <a:off x="5157216"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5175504" y="3931920"/>
            <a:ext cx="612648" cy="155448"/>
          </a:xfrm>
          <a:prstGeom prst="rect">
            <a:avLst/>
          </a:prstGeom>
          <a:noFill/>
        </p:spPr>
        <p:txBody>
          <a:bodyPr wrap="square" lIns="0" rIns="0" tIns="0" bIns="0" anchor="t">
            <a:spAutoFit/>
          </a:bodyPr>
          <a:lstStyle/>
          <a:p>
            <a:pPr algn="ctr">
              <a:lnSpc>
                <a:spcPct val="110000"/>
              </a:lnSpc>
              <a:spcAft>
                <a:spcPts val="0"/>
              </a:spcAft>
            </a:pPr>
            <a:r>
              <a:rPr sz="900" b="0">
                <a:solidFill>
                  <a:srgbClr val="327CEC"/>
                </a:solidFill>
                <a:latin typeface="Arial"/>
                <a:ea typeface="Arial"/>
                <a:cs typeface="Arial"/>
              </a:rPr>
              <a:t>SPEAK</a:t>
            </a:r>
          </a:p>
        </p:txBody>
      </p:sp>
      <p:cxnSp>
        <p:nvCxnSpPr>
          <p:cNvPr id="42" name="Connector 41"/>
          <p:cNvCxnSpPr/>
          <p:nvPr/>
        </p:nvCxnSpPr>
        <p:spPr>
          <a:xfrm>
            <a:off x="8156448"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572000"/>
            <a:ext cx="8238744" cy="17373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LISTEN keeps the live request; later input reuses its bound Replica and retained KV.</a:t>
            </a:r>
          </a:p>
        </p:txBody>
      </p:sp>
      <p:sp>
        <p:nvSpPr>
          <p:cNvPr id="44" name="Rounded Rectangle 43"/>
          <p:cNvSpPr/>
          <p:nvPr/>
        </p:nvSpPr>
        <p:spPr>
          <a:xfrm>
            <a:off x="548640" y="4965192"/>
            <a:ext cx="11082528" cy="94183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093208"/>
            <a:ext cx="1920240" cy="265176"/>
          </a:xfrm>
          <a:prstGeom prst="rect">
            <a:avLst/>
          </a:prstGeom>
          <a:noFill/>
        </p:spPr>
        <p:txBody>
          <a:bodyPr wrap="square" lIns="0" rIns="0" tIns="0" bIns="0" anchor="t">
            <a:spAutoFit/>
          </a:bodyPr>
          <a:lstStyle/>
          <a:p>
            <a:pPr algn="l">
              <a:lnSpc>
                <a:spcPct val="110000"/>
              </a:lnSpc>
              <a:spcAft>
                <a:spcPts val="0"/>
              </a:spcAft>
            </a:pPr>
            <a:r>
              <a:rPr sz="1600" b="1">
                <a:solidFill>
                  <a:srgbClr val="008E96"/>
                </a:solidFill>
                <a:latin typeface="Arial"/>
                <a:ea typeface="Arial"/>
                <a:cs typeface="Arial"/>
              </a:rPr>
              <a:t>AURA</a:t>
            </a:r>
          </a:p>
        </p:txBody>
      </p:sp>
      <p:sp>
        <p:nvSpPr>
          <p:cNvPr id="46" name="TextBox 45"/>
          <p:cNvSpPr txBox="1"/>
          <p:nvPr/>
        </p:nvSpPr>
        <p:spPr>
          <a:xfrm>
            <a:off x="722376" y="5468112"/>
            <a:ext cx="2011680" cy="283464"/>
          </a:xfrm>
          <a:prstGeom prst="rect">
            <a:avLst/>
          </a:prstGeom>
          <a:noFill/>
        </p:spPr>
        <p:txBody>
          <a:bodyPr wrap="square" lIns="0" rIns="0" tIns="0" bIns="0" anchor="t">
            <a:spAutoFit/>
          </a:bodyPr>
          <a:lstStyle/>
          <a:p>
            <a:pPr algn="l">
              <a:lnSpc>
                <a:spcPct val="110000"/>
              </a:lnSpc>
              <a:spcAft>
                <a:spcPts val="0"/>
              </a:spcAft>
            </a:pPr>
            <a:r>
              <a:rPr sz="1070" b="0">
                <a:solidFill>
                  <a:srgbClr val="008E96"/>
                </a:solidFill>
                <a:latin typeface="Arial"/>
                <a:ea typeface="Arial"/>
                <a:cs typeface="Arial"/>
              </a:rPr>
              <a:t>Turn-based · audio/video commit</a:t>
            </a:r>
          </a:p>
        </p:txBody>
      </p:sp>
      <p:sp>
        <p:nvSpPr>
          <p:cNvPr id="47" name="Rounded Rectangle 46"/>
          <p:cNvSpPr/>
          <p:nvPr/>
        </p:nvSpPr>
        <p:spPr>
          <a:xfrm>
            <a:off x="289864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ASR</a:t>
            </a:r>
          </a:p>
        </p:txBody>
      </p:sp>
      <p:sp>
        <p:nvSpPr>
          <p:cNvPr id="49" name="TextBox 48"/>
          <p:cNvSpPr txBox="1"/>
          <p:nvPr/>
        </p:nvSpPr>
        <p:spPr>
          <a:xfrm>
            <a:off x="2926079"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Audio → text</a:t>
            </a:r>
          </a:p>
        </p:txBody>
      </p:sp>
      <p:cxnSp>
        <p:nvCxnSpPr>
          <p:cNvPr id="50" name="Connector 49"/>
          <p:cNvCxnSpPr/>
          <p:nvPr/>
        </p:nvCxnSpPr>
        <p:spPr>
          <a:xfrm>
            <a:off x="460857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Thinker</a:t>
            </a:r>
          </a:p>
        </p:txBody>
      </p:sp>
      <p:sp>
        <p:nvSpPr>
          <p:cNvPr id="53" name="TextBox 52"/>
          <p:cNvSpPr txBox="1"/>
          <p:nvPr/>
        </p:nvSpPr>
        <p:spPr>
          <a:xfrm>
            <a:off x="5120640"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Text + video + history</a:t>
            </a:r>
          </a:p>
        </p:txBody>
      </p:sp>
      <p:cxnSp>
        <p:nvCxnSpPr>
          <p:cNvPr id="54" name="Connector 53"/>
          <p:cNvCxnSpPr/>
          <p:nvPr/>
        </p:nvCxnSpPr>
        <p:spPr>
          <a:xfrm>
            <a:off x="680313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Talker</a:t>
            </a:r>
          </a:p>
        </p:txBody>
      </p:sp>
      <p:sp>
        <p:nvSpPr>
          <p:cNvPr id="57" name="TextBox 56"/>
          <p:cNvSpPr txBox="1"/>
          <p:nvPr/>
        </p:nvSpPr>
        <p:spPr>
          <a:xfrm>
            <a:off x="7315200"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Sentence speech tokens</a:t>
            </a:r>
          </a:p>
        </p:txBody>
      </p:sp>
      <p:cxnSp>
        <p:nvCxnSpPr>
          <p:cNvPr id="58" name="Connector 57"/>
          <p:cNvCxnSpPr/>
          <p:nvPr/>
        </p:nvCxnSpPr>
        <p:spPr>
          <a:xfrm>
            <a:off x="899769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Code2Wav</a:t>
            </a:r>
          </a:p>
        </p:txBody>
      </p:sp>
      <p:sp>
        <p:nvSpPr>
          <p:cNvPr id="61" name="TextBox 60"/>
          <p:cNvSpPr txBox="1"/>
          <p:nvPr/>
        </p:nvSpPr>
        <p:spPr>
          <a:xfrm>
            <a:off x="9509759"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Audio chunks</a:t>
            </a:r>
          </a:p>
        </p:txBody>
      </p:sp>
      <p:sp>
        <p:nvSpPr>
          <p:cNvPr id="62" name="TextBox 61"/>
          <p:cNvSpPr txBox="1"/>
          <p:nvPr/>
        </p:nvSpPr>
        <p:spPr>
          <a:xfrm>
            <a:off x="2898648" y="5687568"/>
            <a:ext cx="8275320" cy="17373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is also turn-based: Thinker → Talker → Code2Wav, with no separate ASR Stage.</a:t>
            </a:r>
          </a:p>
        </p:txBody>
      </p:sp>
      <p:sp>
        <p:nvSpPr>
          <p:cNvPr id="63" name="TextBox 62"/>
          <p:cNvSpPr txBox="1"/>
          <p:nvPr/>
        </p:nvSpPr>
        <p:spPr>
          <a:xfrm>
            <a:off x="722376" y="6080760"/>
            <a:ext cx="10753344" cy="32918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Stage = one model-compute step; Replica = an execution instance of that Stage.</a:t>
            </a:r>
          </a:p>
          <a:p>
            <a:pPr algn="l">
              <a:lnSpc>
                <a:spcPct val="110000"/>
              </a:lnSpc>
              <a:spcAft>
                <a:spcPts val="0"/>
              </a:spcAft>
            </a:pPr>
            <a:r>
              <a:rPr sz="1050" b="0">
                <a:solidFill>
                  <a:srgbClr val="586B7E"/>
                </a:solidFill>
                <a:latin typeface="Arial"/>
                <a:ea typeface="Arial"/>
                <a:cs typeface="Arial"/>
              </a:rPr>
              <a:t>MiniCPM state reuse requires a live request; AURA can continue sentence TTS within the same turn.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Reconnect and continue the same session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13</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Reattach to a live engine session with its credentials and replay retained events from the last received position.</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a:solidFill>
                  <a:srgbClr val="586B7E"/>
                </a:solidFill>
                <a:latin typeface="Arial"/>
                <a:ea typeface="Arial"/>
                <a:cs typeface="Arial"/>
              </a:rPr>
              <a:t>Requires the same live owner, a valid lease and retained events. Session resume does not provide process failover.</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Python SDK retains credentials automatically;</a:t>
            </a:r>
          </a:p>
          <a:p>
            <a:pPr algn="l">
              <a:lnSpc>
                <a:spcPct val="110000"/>
              </a:lnSpc>
              <a:spcAft>
                <a:spcPts val="0"/>
              </a:spcAft>
            </a:pPr>
            <a:r>
              <a:rPr sz="1180" b="0">
                <a:solidFill>
                  <a:srgbClr val="142B45"/>
                </a:solidFill>
                <a:latin typeface="Arial"/>
                <a:ea typeface="Arial"/>
                <a:cs typeface="Arial"/>
              </a:rPr>
              <a:t>custom clients store session ID /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Reconnect the WebSocket and send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Provide the last received event position</a:t>
            </a:r>
          </a:p>
          <a:p>
            <a:pPr algn="l">
              <a:lnSpc>
                <a:spcPct val="110000"/>
              </a:lnSpc>
              <a:spcAft>
                <a:spcPts val="0"/>
              </a:spcAft>
            </a:pPr>
            <a:r>
              <a:rPr sz="1150" b="0">
                <a:solidFill>
                  <a:srgbClr val="142B45"/>
                </a:solidFill>
                <a:latin typeface="Arial"/>
                <a:ea typeface="Arial"/>
                <a:cs typeface="Arial"/>
              </a:rPr>
              <a:t>Receive retained events from the replay window</a:t>
            </a:r>
          </a:p>
        </p:txBody>
      </p:sp>
      <p:sp>
        <p:nvSpPr>
          <p:cNvPr id="40" name="Rounded Rectangle 39"/>
          <p:cNvSpPr/>
          <p:nvPr/>
        </p:nvSpPr>
        <p:spPr>
          <a:xfrm>
            <a:off x="548640" y="5961888"/>
            <a:ext cx="11082528" cy="338328"/>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142B45"/>
                </a:solidFill>
                <a:latin typeface="Arial"/>
                <a:ea typeface="Arial"/>
                <a:cs typeface="Arial"/>
              </a:rPr>
              <a:t>Live-session resume: MiniCPM · AURA · Qwen3-Omni · Nemotron. PersonaPlex requires a new session after disconnect.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Optimized streaming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Model-specific CUDA paths reduce repeated work across live input, generation and speech decoding.</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13</a:t>
            </a:r>
          </a:p>
        </p:txBody>
      </p:sp>
      <p:sp>
        <p:nvSpPr>
          <p:cNvPr id="12" name="Rounded Rectangle 11"/>
          <p:cNvSpPr/>
          <p:nvPr/>
        </p:nvSpPr>
        <p:spPr>
          <a:xfrm>
            <a:off x="594360" y="2267712"/>
            <a:ext cx="5330952" cy="1508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95528" y="2468880"/>
            <a:ext cx="411480" cy="246888"/>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01</a:t>
            </a:r>
          </a:p>
        </p:txBody>
      </p:sp>
      <p:sp>
        <p:nvSpPr>
          <p:cNvPr id="14" name="TextBox 13"/>
          <p:cNvSpPr txBox="1"/>
          <p:nvPr/>
        </p:nvSpPr>
        <p:spPr>
          <a:xfrm>
            <a:off x="1353312" y="2450592"/>
            <a:ext cx="4370832" cy="393192"/>
          </a:xfrm>
          <a:prstGeom prst="rect">
            <a:avLst/>
          </a:prstGeom>
          <a:noFill/>
        </p:spPr>
        <p:txBody>
          <a:bodyPr wrap="square" lIns="0" rIns="0" tIns="0" bIns="0" anchor="t">
            <a:spAutoFit/>
          </a:bodyPr>
          <a:lstStyle/>
          <a:p>
            <a:pPr algn="l">
              <a:lnSpc>
                <a:spcPct val="110000"/>
              </a:lnSpc>
              <a:spcAft>
                <a:spcPts val="0"/>
              </a:spcAft>
            </a:pPr>
            <a:r>
              <a:rPr sz="1750" b="1">
                <a:solidFill>
                  <a:srgbClr val="142B45"/>
                </a:solidFill>
                <a:latin typeface="Arial"/>
                <a:ea typeface="Arial"/>
                <a:cs typeface="Arial"/>
              </a:rPr>
              <a:t>MiniCPM: retain a bounded KV window</a:t>
            </a:r>
          </a:p>
        </p:txBody>
      </p:sp>
      <p:sp>
        <p:nvSpPr>
          <p:cNvPr id="15" name="TextBox 14"/>
          <p:cNvSpPr txBox="1"/>
          <p:nvPr/>
        </p:nvSpPr>
        <p:spPr>
          <a:xfrm>
            <a:off x="1353312" y="3035808"/>
            <a:ext cx="4370832" cy="566928"/>
          </a:xfrm>
          <a:prstGeom prst="rect">
            <a:avLst/>
          </a:prstGeom>
          <a:noFill/>
        </p:spPr>
        <p:txBody>
          <a:bodyPr wrap="square" lIns="0" rIns="0" tIns="0" bIns="0" anchor="t">
            <a:spAutoFit/>
          </a:bodyPr>
          <a:lstStyle/>
          <a:p>
            <a:pPr algn="l">
              <a:lnSpc>
                <a:spcPct val="110000"/>
              </a:lnSpc>
              <a:spcAft>
                <a:spcPts val="0"/>
              </a:spcAft>
            </a:pPr>
            <a:r>
              <a:rPr sz="1260" b="0">
                <a:solidFill>
                  <a:srgbClr val="586B7E"/>
                </a:solidFill>
                <a:latin typeface="Arial"/>
                <a:ea typeface="Arial"/>
                <a:cs typeface="Arial"/>
              </a:rPr>
              <a:t>Basic mode: block-aligned sliding window</a:t>
            </a:r>
          </a:p>
          <a:p>
            <a:pPr algn="l">
              <a:lnSpc>
                <a:spcPct val="110000"/>
              </a:lnSpc>
              <a:spcAft>
                <a:spcPts val="0"/>
              </a:spcAft>
            </a:pPr>
            <a:r>
              <a:rPr sz="1260" b="0">
                <a:solidFill>
                  <a:srgbClr val="586B7E"/>
                </a:solidFill>
                <a:latin typeface="Arial"/>
                <a:ea typeface="Arial"/>
                <a:cs typeface="Arial"/>
              </a:rPr>
              <a:t>In-place Re-RoPE without copying retained KV</a:t>
            </a:r>
          </a:p>
        </p:txBody>
      </p:sp>
      <p:sp>
        <p:nvSpPr>
          <p:cNvPr id="16" name="Rounded Rectangle 15"/>
          <p:cNvSpPr/>
          <p:nvPr/>
        </p:nvSpPr>
        <p:spPr>
          <a:xfrm>
            <a:off x="6263640" y="2267712"/>
            <a:ext cx="5330952" cy="1508760"/>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64807" y="2468880"/>
            <a:ext cx="411480" cy="246888"/>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02</a:t>
            </a:r>
          </a:p>
        </p:txBody>
      </p:sp>
      <p:sp>
        <p:nvSpPr>
          <p:cNvPr id="18" name="TextBox 17"/>
          <p:cNvSpPr txBox="1"/>
          <p:nvPr/>
        </p:nvSpPr>
        <p:spPr>
          <a:xfrm>
            <a:off x="7022592" y="2450592"/>
            <a:ext cx="4370832" cy="393192"/>
          </a:xfrm>
          <a:prstGeom prst="rect">
            <a:avLst/>
          </a:prstGeom>
          <a:noFill/>
        </p:spPr>
        <p:txBody>
          <a:bodyPr wrap="square" lIns="0" rIns="0" tIns="0" bIns="0" anchor="t">
            <a:spAutoFit/>
          </a:bodyPr>
          <a:lstStyle/>
          <a:p>
            <a:pPr algn="l">
              <a:lnSpc>
                <a:spcPct val="110000"/>
              </a:lnSpc>
              <a:spcAft>
                <a:spcPts val="0"/>
              </a:spcAft>
            </a:pPr>
            <a:r>
              <a:rPr sz="1750" b="1">
                <a:solidFill>
                  <a:srgbClr val="142B45"/>
                </a:solidFill>
                <a:latin typeface="Arial"/>
                <a:ea typeface="Arial"/>
                <a:cs typeface="Arial"/>
              </a:rPr>
              <a:t>MiniCPM: audio / video CUDA graphs</a:t>
            </a:r>
          </a:p>
        </p:txBody>
      </p:sp>
      <p:sp>
        <p:nvSpPr>
          <p:cNvPr id="19" name="TextBox 18"/>
          <p:cNvSpPr txBox="1"/>
          <p:nvPr/>
        </p:nvSpPr>
        <p:spPr>
          <a:xfrm>
            <a:off x="7022592" y="3035808"/>
            <a:ext cx="4370832" cy="566928"/>
          </a:xfrm>
          <a:prstGeom prst="rect">
            <a:avLst/>
          </a:prstGeom>
          <a:noFill/>
        </p:spPr>
        <p:txBody>
          <a:bodyPr wrap="square" lIns="0" rIns="0" tIns="0" bIns="0" anchor="t">
            <a:spAutoFit/>
          </a:bodyPr>
          <a:lstStyle/>
          <a:p>
            <a:pPr algn="l">
              <a:lnSpc>
                <a:spcPct val="110000"/>
              </a:lnSpc>
              <a:spcAft>
                <a:spcPts val="0"/>
              </a:spcAft>
            </a:pPr>
            <a:r>
              <a:rPr sz="1260" b="0">
                <a:solidFill>
                  <a:srgbClr val="586B7E"/>
                </a:solidFill>
                <a:latin typeface="Arial"/>
                <a:ea typeface="Arial"/>
                <a:cs typeface="Arial"/>
              </a:rPr>
              <a:t>Streaming audio and vision encoder CUDA graphs</a:t>
            </a:r>
          </a:p>
          <a:p>
            <a:pPr algn="l">
              <a:lnSpc>
                <a:spcPct val="110000"/>
              </a:lnSpc>
              <a:spcAft>
                <a:spcPts val="0"/>
              </a:spcAft>
            </a:pPr>
            <a:r>
              <a:rPr sz="1260" b="0">
                <a:solidFill>
                  <a:srgbClr val="586B7E"/>
                </a:solidFill>
                <a:latin typeface="Arial"/>
                <a:ea typeface="Arial"/>
                <a:cs typeface="Arial"/>
              </a:rPr>
              <a:t>Resident Code2Wav execution and fused kernels</a:t>
            </a:r>
          </a:p>
        </p:txBody>
      </p:sp>
      <p:sp>
        <p:nvSpPr>
          <p:cNvPr id="20" name="Rounded Rectangle 19"/>
          <p:cNvSpPr/>
          <p:nvPr/>
        </p:nvSpPr>
        <p:spPr>
          <a:xfrm>
            <a:off x="594360" y="4005072"/>
            <a:ext cx="5330952" cy="1508760"/>
          </a:xfrm>
          <a:prstGeom prst="roundRect">
            <a:avLst>
              <a:gd name="adj" fmla="val 10000"/>
            </a:avLst>
          </a:prstGeom>
          <a:solidFill>
            <a:srgbClr val="F3EF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95528" y="4206240"/>
            <a:ext cx="411480" cy="246888"/>
          </a:xfrm>
          <a:prstGeom prst="rect">
            <a:avLst/>
          </a:prstGeom>
          <a:noFill/>
        </p:spPr>
        <p:txBody>
          <a:bodyPr wrap="square" lIns="0" rIns="0" tIns="0" bIns="0" anchor="t">
            <a:spAutoFit/>
          </a:bodyPr>
          <a:lstStyle/>
          <a:p>
            <a:pPr algn="l">
              <a:lnSpc>
                <a:spcPct val="110000"/>
              </a:lnSpc>
              <a:spcAft>
                <a:spcPts val="0"/>
              </a:spcAft>
            </a:pPr>
            <a:r>
              <a:rPr sz="1400" b="1">
                <a:solidFill>
                  <a:srgbClr val="7855AD"/>
                </a:solidFill>
                <a:latin typeface="Arial"/>
                <a:ea typeface="Arial"/>
                <a:cs typeface="Arial"/>
              </a:rPr>
              <a:t>03</a:t>
            </a:r>
          </a:p>
        </p:txBody>
      </p:sp>
      <p:sp>
        <p:nvSpPr>
          <p:cNvPr id="22" name="TextBox 21"/>
          <p:cNvSpPr txBox="1"/>
          <p:nvPr/>
        </p:nvSpPr>
        <p:spPr>
          <a:xfrm>
            <a:off x="1353312" y="4187952"/>
            <a:ext cx="4370832" cy="393192"/>
          </a:xfrm>
          <a:prstGeom prst="rect">
            <a:avLst/>
          </a:prstGeom>
          <a:noFill/>
        </p:spPr>
        <p:txBody>
          <a:bodyPr wrap="square" lIns="0" rIns="0" tIns="0" bIns="0" anchor="t">
            <a:spAutoFit/>
          </a:bodyPr>
          <a:lstStyle/>
          <a:p>
            <a:pPr algn="l">
              <a:lnSpc>
                <a:spcPct val="110000"/>
              </a:lnSpc>
              <a:spcAft>
                <a:spcPts val="0"/>
              </a:spcAft>
            </a:pPr>
            <a:r>
              <a:rPr sz="1750" b="1">
                <a:solidFill>
                  <a:srgbClr val="142B45"/>
                </a:solidFill>
                <a:latin typeface="Arial"/>
                <a:ea typeface="Arial"/>
                <a:cs typeface="Arial"/>
              </a:rPr>
              <a:t>PersonaPlex: batch live audio frames</a:t>
            </a:r>
          </a:p>
        </p:txBody>
      </p:sp>
      <p:sp>
        <p:nvSpPr>
          <p:cNvPr id="23" name="TextBox 22"/>
          <p:cNvSpPr txBox="1"/>
          <p:nvPr/>
        </p:nvSpPr>
        <p:spPr>
          <a:xfrm>
            <a:off x="1353312" y="4773168"/>
            <a:ext cx="4370832" cy="566928"/>
          </a:xfrm>
          <a:prstGeom prst="rect">
            <a:avLst/>
          </a:prstGeom>
          <a:noFill/>
        </p:spPr>
        <p:txBody>
          <a:bodyPr wrap="square" lIns="0" rIns="0" tIns="0" bIns="0" anchor="t">
            <a:spAutoFit/>
          </a:bodyPr>
          <a:lstStyle/>
          <a:p>
            <a:pPr algn="l">
              <a:lnSpc>
                <a:spcPct val="110000"/>
              </a:lnSpc>
              <a:spcAft>
                <a:spcPts val="0"/>
              </a:spcAft>
            </a:pPr>
            <a:r>
              <a:rPr sz="1260" b="0">
                <a:solidFill>
                  <a:srgbClr val="586B7E"/>
                </a:solidFill>
                <a:latin typeface="Arial"/>
                <a:ea typeface="Arial"/>
                <a:cs typeface="Arial"/>
              </a:rPr>
              <a:t>Batch appends across active sessions</a:t>
            </a:r>
          </a:p>
          <a:p>
            <a:pPr algn="l">
              <a:lnSpc>
                <a:spcPct val="110000"/>
              </a:lnSpc>
              <a:spcAft>
                <a:spcPts val="0"/>
              </a:spcAft>
            </a:pPr>
            <a:r>
              <a:rPr sz="1260" b="0">
                <a:solidFill>
                  <a:srgbClr val="586B7E"/>
                </a:solidFill>
                <a:latin typeface="Arial"/>
                <a:ea typeface="Arial"/>
                <a:cs typeface="Arial"/>
              </a:rPr>
              <a:t>Replay Mimi encoder / decoder CUDA graphs</a:t>
            </a:r>
          </a:p>
        </p:txBody>
      </p:sp>
      <p:sp>
        <p:nvSpPr>
          <p:cNvPr id="24" name="Rounded Rectangle 23"/>
          <p:cNvSpPr/>
          <p:nvPr/>
        </p:nvSpPr>
        <p:spPr>
          <a:xfrm>
            <a:off x="6263640" y="4005072"/>
            <a:ext cx="5330952" cy="1508760"/>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464807" y="4206240"/>
            <a:ext cx="411480" cy="246888"/>
          </a:xfrm>
          <a:prstGeom prst="rect">
            <a:avLst/>
          </a:prstGeom>
          <a:noFill/>
        </p:spPr>
        <p:txBody>
          <a:bodyPr wrap="square" lIns="0" rIns="0" tIns="0" bIns="0" anchor="t">
            <a:spAutoFit/>
          </a:bodyPr>
          <a:lstStyle/>
          <a:p>
            <a:pPr algn="l">
              <a:lnSpc>
                <a:spcPct val="110000"/>
              </a:lnSpc>
              <a:spcAft>
                <a:spcPts val="0"/>
              </a:spcAft>
            </a:pPr>
            <a:r>
              <a:rPr sz="1400" b="1">
                <a:solidFill>
                  <a:srgbClr val="AD761E"/>
                </a:solidFill>
                <a:latin typeface="Arial"/>
                <a:ea typeface="Arial"/>
                <a:cs typeface="Arial"/>
              </a:rPr>
              <a:t>04</a:t>
            </a:r>
          </a:p>
        </p:txBody>
      </p:sp>
      <p:sp>
        <p:nvSpPr>
          <p:cNvPr id="26" name="TextBox 25"/>
          <p:cNvSpPr txBox="1"/>
          <p:nvPr/>
        </p:nvSpPr>
        <p:spPr>
          <a:xfrm>
            <a:off x="7022592" y="4187952"/>
            <a:ext cx="4370832" cy="393192"/>
          </a:xfrm>
          <a:prstGeom prst="rect">
            <a:avLst/>
          </a:prstGeom>
          <a:noFill/>
        </p:spPr>
        <p:txBody>
          <a:bodyPr wrap="square" lIns="0" rIns="0" tIns="0" bIns="0" anchor="t">
            <a:spAutoFit/>
          </a:bodyPr>
          <a:lstStyle/>
          <a:p>
            <a:pPr algn="l">
              <a:lnSpc>
                <a:spcPct val="110000"/>
              </a:lnSpc>
              <a:spcAft>
                <a:spcPts val="0"/>
              </a:spcAft>
            </a:pPr>
            <a:r>
              <a:rPr sz="1750" b="1">
                <a:solidFill>
                  <a:srgbClr val="142B45"/>
                </a:solidFill>
                <a:latin typeface="Arial"/>
                <a:ea typeface="Arial"/>
                <a:cs typeface="Arial"/>
              </a:rPr>
              <a:t>Qwen3-Omni: capture vision execution</a:t>
            </a:r>
          </a:p>
        </p:txBody>
      </p:sp>
      <p:sp>
        <p:nvSpPr>
          <p:cNvPr id="27" name="TextBox 26"/>
          <p:cNvSpPr txBox="1"/>
          <p:nvPr/>
        </p:nvSpPr>
        <p:spPr>
          <a:xfrm>
            <a:off x="7022592" y="4773168"/>
            <a:ext cx="4370832" cy="566928"/>
          </a:xfrm>
          <a:prstGeom prst="rect">
            <a:avLst/>
          </a:prstGeom>
          <a:noFill/>
        </p:spPr>
        <p:txBody>
          <a:bodyPr wrap="square" lIns="0" rIns="0" tIns="0" bIns="0" anchor="t">
            <a:spAutoFit/>
          </a:bodyPr>
          <a:lstStyle/>
          <a:p>
            <a:pPr algn="l">
              <a:lnSpc>
                <a:spcPct val="110000"/>
              </a:lnSpc>
              <a:spcAft>
                <a:spcPts val="0"/>
              </a:spcAft>
            </a:pPr>
            <a:r>
              <a:rPr sz="1260" b="0">
                <a:solidFill>
                  <a:srgbClr val="586B7E"/>
                </a:solidFill>
                <a:latin typeface="Arial"/>
                <a:ea typeface="Arial"/>
                <a:cs typeface="Arial"/>
              </a:rPr>
              <a:t>Thinker image encoder CUDA graphs</a:t>
            </a:r>
          </a:p>
          <a:p>
            <a:pPr algn="l">
              <a:lnSpc>
                <a:spcPct val="110000"/>
              </a:lnSpc>
              <a:spcAft>
                <a:spcPts val="0"/>
              </a:spcAft>
            </a:pPr>
            <a:r>
              <a:rPr sz="1260" b="0">
                <a:solidFill>
                  <a:srgbClr val="586B7E"/>
                </a:solidFill>
                <a:latin typeface="Arial"/>
                <a:ea typeface="Arial"/>
                <a:cs typeface="Arial"/>
              </a:rPr>
              <a:t>Reuse captured execution for supported shapes</a:t>
            </a:r>
          </a:p>
        </p:txBody>
      </p:sp>
      <p:sp>
        <p:nvSpPr>
          <p:cNvPr id="28" name="TextBox 27"/>
          <p:cNvSpPr txBox="1"/>
          <p:nvPr/>
        </p:nvSpPr>
        <p:spPr>
          <a:xfrm>
            <a:off x="685800" y="5925312"/>
            <a:ext cx="10835640" cy="310896"/>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Select a matching CUDA profile; measure end-to-end TTFP and RTF at the target load.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connect live session execution with timing and quality evaluation.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13</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Timing origin</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Request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Response speed</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TTFP · p50 / p95</a:t>
            </a:r>
          </a:p>
          <a:p>
            <a:pPr algn="l">
              <a:lnSpc>
                <a:spcPct val="110000"/>
              </a:lnSpc>
              <a:spcAft>
                <a:spcPts val="0"/>
              </a:spcAft>
            </a:pPr>
            <a:r>
              <a:rPr sz="1090" b="0">
                <a:solidFill>
                  <a:srgbClr val="21364E"/>
                </a:solidFill>
                <a:latin typeface="Arial"/>
                <a:ea typeface="Arial"/>
                <a:cs typeface="Arial"/>
              </a:rPr>
              <a:t>Queue, compute and transfer</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RTF · chunk intervals</a:t>
            </a:r>
          </a:p>
          <a:p>
            <a:pPr algn="l">
              <a:lnSpc>
                <a:spcPct val="110000"/>
              </a:lnSpc>
              <a:spcAft>
                <a:spcPts val="0"/>
              </a:spcAft>
            </a:pPr>
            <a:r>
              <a:rPr sz="1090" b="0">
                <a:solidFill>
                  <a:srgbClr val="21364E"/>
                </a:solidFill>
                <a:latin typeface="Arial"/>
                <a:ea typeface="Arial"/>
                <a:cs typeface="Arial"/>
              </a:rPr>
              <a:t>Pauses and playback buffers</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Speech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Valid, complete audio</a:t>
            </a:r>
          </a:p>
          <a:p>
            <a:pPr algn="l">
              <a:lnSpc>
                <a:spcPct val="110000"/>
              </a:lnSpc>
              <a:spcAft>
                <a:spcPts val="0"/>
              </a:spcAft>
            </a:pPr>
            <a:r>
              <a:rPr sz="1090" b="0">
                <a:solidFill>
                  <a:srgbClr val="21364E"/>
                </a:solidFill>
                <a:latin typeface="Arial"/>
                <a:ea typeface="Arial"/>
                <a:cs typeface="Arial"/>
              </a:rPr>
              <a:t>WER / CER · listening quality</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Fix model, hardware, concurrency and timing origin. Benchmark support and evaluation tasks are model-specific.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Performance at concurrency 1 and 4</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Reported response latency and speech-generation efficiency at concurrency 1 and 4.</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13</a:t>
            </a:r>
          </a:p>
        </p:txBody>
      </p:sp>
      <p:sp>
        <p:nvSpPr>
          <p:cNvPr id="12" name="TextBox 11"/>
          <p:cNvSpPr txBox="1"/>
          <p:nvPr/>
        </p:nvSpPr>
        <p:spPr>
          <a:xfrm>
            <a:off x="594360" y="2121408"/>
            <a:ext cx="10972800" cy="292608"/>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MiniCPM-o 4.5  ·  H100  ·  Seed-TTS text-to-speech</a:t>
            </a:r>
          </a:p>
        </p:txBody>
      </p:sp>
      <p:sp>
        <p:nvSpPr>
          <p:cNvPr id="13" name="Rectangle 12"/>
          <p:cNvSpPr/>
          <p:nvPr/>
        </p:nvSpPr>
        <p:spPr>
          <a:xfrm>
            <a:off x="576072" y="2532888"/>
            <a:ext cx="11036808" cy="320040"/>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58952" y="2583180"/>
            <a:ext cx="4681728"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METRIC (MEAN)</a:t>
            </a:r>
          </a:p>
        </p:txBody>
      </p:sp>
      <p:sp>
        <p:nvSpPr>
          <p:cNvPr id="15" name="TextBox 14"/>
          <p:cNvSpPr txBox="1"/>
          <p:nvPr/>
        </p:nvSpPr>
        <p:spPr>
          <a:xfrm>
            <a:off x="5852160" y="2583180"/>
            <a:ext cx="2468880" cy="210312"/>
          </a:xfrm>
          <a:prstGeom prst="rect">
            <a:avLst/>
          </a:prstGeom>
          <a:noFill/>
        </p:spPr>
        <p:txBody>
          <a:bodyPr wrap="square" lIns="0" rIns="0" tIns="0" bIns="0" anchor="t">
            <a:spAutoFit/>
          </a:bodyPr>
          <a:lstStyle/>
          <a:p>
            <a:pPr algn="ctr">
              <a:lnSpc>
                <a:spcPct val="110000"/>
              </a:lnSpc>
              <a:spcAft>
                <a:spcPts val="0"/>
              </a:spcAft>
            </a:pPr>
            <a:r>
              <a:rPr sz="1200" b="1">
                <a:solidFill>
                  <a:srgbClr val="586B7E"/>
                </a:solidFill>
                <a:latin typeface="Arial"/>
                <a:ea typeface="Arial"/>
                <a:cs typeface="Arial"/>
              </a:rPr>
              <a:t>CONCURRENCY 1</a:t>
            </a:r>
          </a:p>
        </p:txBody>
      </p:sp>
      <p:sp>
        <p:nvSpPr>
          <p:cNvPr id="16" name="TextBox 15"/>
          <p:cNvSpPr txBox="1"/>
          <p:nvPr/>
        </p:nvSpPr>
        <p:spPr>
          <a:xfrm>
            <a:off x="8750808" y="2583180"/>
            <a:ext cx="2468880" cy="210312"/>
          </a:xfrm>
          <a:prstGeom prst="rect">
            <a:avLst/>
          </a:prstGeom>
          <a:noFill/>
        </p:spPr>
        <p:txBody>
          <a:bodyPr wrap="square" lIns="0" rIns="0" tIns="0" bIns="0" anchor="t">
            <a:spAutoFit/>
          </a:bodyPr>
          <a:lstStyle/>
          <a:p>
            <a:pPr algn="ctr">
              <a:lnSpc>
                <a:spcPct val="110000"/>
              </a:lnSpc>
              <a:spcAft>
                <a:spcPts val="0"/>
              </a:spcAft>
            </a:pPr>
            <a:r>
              <a:rPr sz="1200" b="1">
                <a:solidFill>
                  <a:srgbClr val="586B7E"/>
                </a:solidFill>
                <a:latin typeface="Arial"/>
                <a:ea typeface="Arial"/>
                <a:cs typeface="Arial"/>
              </a:rPr>
              <a:t>CONCURRENCY 4</a:t>
            </a:r>
          </a:p>
        </p:txBody>
      </p:sp>
      <p:sp>
        <p:nvSpPr>
          <p:cNvPr id="17" name="TextBox 16"/>
          <p:cNvSpPr txBox="1"/>
          <p:nvPr/>
        </p:nvSpPr>
        <p:spPr>
          <a:xfrm>
            <a:off x="758952" y="2921508"/>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TTFT ↓</a:t>
            </a:r>
          </a:p>
        </p:txBody>
      </p:sp>
      <p:sp>
        <p:nvSpPr>
          <p:cNvPr id="18" name="TextBox 17"/>
          <p:cNvSpPr txBox="1"/>
          <p:nvPr/>
        </p:nvSpPr>
        <p:spPr>
          <a:xfrm>
            <a:off x="5852160" y="2921508"/>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161.8 ms</a:t>
            </a:r>
          </a:p>
        </p:txBody>
      </p:sp>
      <p:sp>
        <p:nvSpPr>
          <p:cNvPr id="19" name="TextBox 18"/>
          <p:cNvSpPr txBox="1"/>
          <p:nvPr/>
        </p:nvSpPr>
        <p:spPr>
          <a:xfrm>
            <a:off x="8750808" y="2921508"/>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252.8 ms</a:t>
            </a:r>
          </a:p>
        </p:txBody>
      </p:sp>
      <p:cxnSp>
        <p:nvCxnSpPr>
          <p:cNvPr id="20" name="Connector 19"/>
          <p:cNvCxnSpPr/>
          <p:nvPr/>
        </p:nvCxnSpPr>
        <p:spPr>
          <a:xfrm>
            <a:off x="594360" y="3264408"/>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58952" y="3332988"/>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TTFP ↓</a:t>
            </a:r>
          </a:p>
        </p:txBody>
      </p:sp>
      <p:sp>
        <p:nvSpPr>
          <p:cNvPr id="22" name="TextBox 21"/>
          <p:cNvSpPr txBox="1"/>
          <p:nvPr/>
        </p:nvSpPr>
        <p:spPr>
          <a:xfrm>
            <a:off x="5852160" y="3332988"/>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635.3 ms</a:t>
            </a:r>
          </a:p>
        </p:txBody>
      </p:sp>
      <p:sp>
        <p:nvSpPr>
          <p:cNvPr id="23" name="TextBox 22"/>
          <p:cNvSpPr txBox="1"/>
          <p:nvPr/>
        </p:nvSpPr>
        <p:spPr>
          <a:xfrm>
            <a:off x="8750808" y="3332988"/>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1451.9 ms</a:t>
            </a:r>
          </a:p>
        </p:txBody>
      </p:sp>
      <p:cxnSp>
        <p:nvCxnSpPr>
          <p:cNvPr id="24" name="Connector 23"/>
          <p:cNvCxnSpPr/>
          <p:nvPr/>
        </p:nvCxnSpPr>
        <p:spPr>
          <a:xfrm>
            <a:off x="594360" y="3675888"/>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758952" y="3744468"/>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RTF ↓</a:t>
            </a:r>
          </a:p>
        </p:txBody>
      </p:sp>
      <p:sp>
        <p:nvSpPr>
          <p:cNvPr id="26" name="TextBox 25"/>
          <p:cNvSpPr txBox="1"/>
          <p:nvPr/>
        </p:nvSpPr>
        <p:spPr>
          <a:xfrm>
            <a:off x="5852160" y="3744468"/>
            <a:ext cx="2468880" cy="274320"/>
          </a:xfrm>
          <a:prstGeom prst="rect">
            <a:avLst/>
          </a:prstGeom>
          <a:noFill/>
        </p:spPr>
        <p:txBody>
          <a:bodyPr wrap="square" lIns="0" rIns="0" tIns="0" bIns="0" anchor="t">
            <a:spAutoFit/>
          </a:bodyPr>
          <a:lstStyle/>
          <a:p>
            <a:pPr algn="ctr">
              <a:lnSpc>
                <a:spcPct val="110000"/>
              </a:lnSpc>
              <a:spcAft>
                <a:spcPts val="0"/>
              </a:spcAft>
            </a:pPr>
            <a:r>
              <a:rPr sz="1800" b="1">
                <a:solidFill>
                  <a:srgbClr val="008E96"/>
                </a:solidFill>
                <a:latin typeface="Arial"/>
                <a:ea typeface="Arial"/>
                <a:cs typeface="Arial"/>
              </a:rPr>
              <a:t>0.27</a:t>
            </a:r>
          </a:p>
        </p:txBody>
      </p:sp>
      <p:sp>
        <p:nvSpPr>
          <p:cNvPr id="27" name="TextBox 26"/>
          <p:cNvSpPr txBox="1"/>
          <p:nvPr/>
        </p:nvSpPr>
        <p:spPr>
          <a:xfrm>
            <a:off x="8750808" y="3744468"/>
            <a:ext cx="2468880" cy="274320"/>
          </a:xfrm>
          <a:prstGeom prst="rect">
            <a:avLst/>
          </a:prstGeom>
          <a:noFill/>
        </p:spPr>
        <p:txBody>
          <a:bodyPr wrap="square" lIns="0" rIns="0" tIns="0" bIns="0" anchor="t">
            <a:spAutoFit/>
          </a:bodyPr>
          <a:lstStyle/>
          <a:p>
            <a:pPr algn="ctr">
              <a:lnSpc>
                <a:spcPct val="110000"/>
              </a:lnSpc>
              <a:spcAft>
                <a:spcPts val="0"/>
              </a:spcAft>
            </a:pPr>
            <a:r>
              <a:rPr sz="1800" b="1">
                <a:solidFill>
                  <a:srgbClr val="008E96"/>
                </a:solidFill>
                <a:latin typeface="Arial"/>
                <a:ea typeface="Arial"/>
                <a:cs typeface="Arial"/>
              </a:rPr>
              <a:t>0.64</a:t>
            </a:r>
          </a:p>
        </p:txBody>
      </p:sp>
      <p:cxnSp>
        <p:nvCxnSpPr>
          <p:cNvPr id="28" name="Connector 27"/>
          <p:cNvCxnSpPr/>
          <p:nvPr/>
        </p:nvCxnSpPr>
        <p:spPr>
          <a:xfrm>
            <a:off x="594360" y="4087368"/>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594360" y="4251960"/>
            <a:ext cx="10972800" cy="292608"/>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AURA  ·  2×H200  ·  OmniInteract realtime audio + video</a:t>
            </a:r>
          </a:p>
        </p:txBody>
      </p:sp>
      <p:sp>
        <p:nvSpPr>
          <p:cNvPr id="30" name="Rectangle 29"/>
          <p:cNvSpPr/>
          <p:nvPr/>
        </p:nvSpPr>
        <p:spPr>
          <a:xfrm>
            <a:off x="576072" y="4663440"/>
            <a:ext cx="11036808" cy="320040"/>
          </a:xfrm>
          <a:prstGeom prst="rect">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58952" y="4713732"/>
            <a:ext cx="4681728"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METRIC (SPOKEN-TURN MEDIAN)</a:t>
            </a:r>
          </a:p>
        </p:txBody>
      </p:sp>
      <p:sp>
        <p:nvSpPr>
          <p:cNvPr id="32" name="TextBox 31"/>
          <p:cNvSpPr txBox="1"/>
          <p:nvPr/>
        </p:nvSpPr>
        <p:spPr>
          <a:xfrm>
            <a:off x="5852160" y="4713732"/>
            <a:ext cx="2468880" cy="210312"/>
          </a:xfrm>
          <a:prstGeom prst="rect">
            <a:avLst/>
          </a:prstGeom>
          <a:noFill/>
        </p:spPr>
        <p:txBody>
          <a:bodyPr wrap="square" lIns="0" rIns="0" tIns="0" bIns="0" anchor="t">
            <a:spAutoFit/>
          </a:bodyPr>
          <a:lstStyle/>
          <a:p>
            <a:pPr algn="ctr">
              <a:lnSpc>
                <a:spcPct val="110000"/>
              </a:lnSpc>
              <a:spcAft>
                <a:spcPts val="0"/>
              </a:spcAft>
            </a:pPr>
            <a:r>
              <a:rPr sz="1200" b="1">
                <a:solidFill>
                  <a:srgbClr val="586B7E"/>
                </a:solidFill>
                <a:latin typeface="Arial"/>
                <a:ea typeface="Arial"/>
                <a:cs typeface="Arial"/>
              </a:rPr>
              <a:t>CONCURRENCY 1</a:t>
            </a:r>
          </a:p>
        </p:txBody>
      </p:sp>
      <p:sp>
        <p:nvSpPr>
          <p:cNvPr id="33" name="TextBox 32"/>
          <p:cNvSpPr txBox="1"/>
          <p:nvPr/>
        </p:nvSpPr>
        <p:spPr>
          <a:xfrm>
            <a:off x="8750808" y="4713732"/>
            <a:ext cx="2468880" cy="210312"/>
          </a:xfrm>
          <a:prstGeom prst="rect">
            <a:avLst/>
          </a:prstGeom>
          <a:noFill/>
        </p:spPr>
        <p:txBody>
          <a:bodyPr wrap="square" lIns="0" rIns="0" tIns="0" bIns="0" anchor="t">
            <a:spAutoFit/>
          </a:bodyPr>
          <a:lstStyle/>
          <a:p>
            <a:pPr algn="ctr">
              <a:lnSpc>
                <a:spcPct val="110000"/>
              </a:lnSpc>
              <a:spcAft>
                <a:spcPts val="0"/>
              </a:spcAft>
            </a:pPr>
            <a:r>
              <a:rPr sz="1200" b="1">
                <a:solidFill>
                  <a:srgbClr val="586B7E"/>
                </a:solidFill>
                <a:latin typeface="Arial"/>
                <a:ea typeface="Arial"/>
                <a:cs typeface="Arial"/>
              </a:rPr>
              <a:t>CONCURRENCY 4</a:t>
            </a:r>
          </a:p>
        </p:txBody>
      </p:sp>
      <p:sp>
        <p:nvSpPr>
          <p:cNvPr id="34" name="TextBox 33"/>
          <p:cNvSpPr txBox="1"/>
          <p:nvPr/>
        </p:nvSpPr>
        <p:spPr>
          <a:xfrm>
            <a:off x="758952" y="5052060"/>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TTFT ↓</a:t>
            </a:r>
          </a:p>
        </p:txBody>
      </p:sp>
      <p:sp>
        <p:nvSpPr>
          <p:cNvPr id="35" name="TextBox 34"/>
          <p:cNvSpPr txBox="1"/>
          <p:nvPr/>
        </p:nvSpPr>
        <p:spPr>
          <a:xfrm>
            <a:off x="5852160" y="5052060"/>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208 ms</a:t>
            </a:r>
          </a:p>
        </p:txBody>
      </p:sp>
      <p:sp>
        <p:nvSpPr>
          <p:cNvPr id="36" name="TextBox 35"/>
          <p:cNvSpPr txBox="1"/>
          <p:nvPr/>
        </p:nvSpPr>
        <p:spPr>
          <a:xfrm>
            <a:off x="8750808" y="5052060"/>
            <a:ext cx="2468880" cy="274320"/>
          </a:xfrm>
          <a:prstGeom prst="rect">
            <a:avLst/>
          </a:prstGeom>
          <a:noFill/>
        </p:spPr>
        <p:txBody>
          <a:bodyPr wrap="square" lIns="0" rIns="0" tIns="0" bIns="0" anchor="t">
            <a:spAutoFit/>
          </a:bodyPr>
          <a:lstStyle/>
          <a:p>
            <a:pPr algn="ctr">
              <a:lnSpc>
                <a:spcPct val="110000"/>
              </a:lnSpc>
              <a:spcAft>
                <a:spcPts val="0"/>
              </a:spcAft>
            </a:pPr>
            <a:r>
              <a:rPr sz="1800" b="0">
                <a:solidFill>
                  <a:srgbClr val="142B45"/>
                </a:solidFill>
                <a:latin typeface="Arial"/>
                <a:ea typeface="Arial"/>
                <a:cs typeface="Arial"/>
              </a:rPr>
              <a:t>244 ms</a:t>
            </a:r>
          </a:p>
        </p:txBody>
      </p:sp>
      <p:cxnSp>
        <p:nvCxnSpPr>
          <p:cNvPr id="37" name="Connector 36"/>
          <p:cNvCxnSpPr/>
          <p:nvPr/>
        </p:nvCxnSpPr>
        <p:spPr>
          <a:xfrm>
            <a:off x="594360" y="5394960"/>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758952" y="5463540"/>
            <a:ext cx="4681728" cy="274320"/>
          </a:xfrm>
          <a:prstGeom prst="rect">
            <a:avLst/>
          </a:prstGeom>
          <a:noFill/>
        </p:spPr>
        <p:txBody>
          <a:bodyPr wrap="square" lIns="0" rIns="0" tIns="0" bIns="0" anchor="t">
            <a:spAutoFit/>
          </a:bodyPr>
          <a:lstStyle/>
          <a:p>
            <a:pPr algn="l">
              <a:lnSpc>
                <a:spcPct val="110000"/>
              </a:lnSpc>
              <a:spcAft>
                <a:spcPts val="0"/>
              </a:spcAft>
            </a:pPr>
            <a:r>
              <a:rPr sz="1600" b="0">
                <a:solidFill>
                  <a:srgbClr val="142B45"/>
                </a:solidFill>
                <a:latin typeface="Arial"/>
                <a:ea typeface="Arial"/>
                <a:cs typeface="Arial"/>
              </a:rPr>
              <a:t>TTFP ↓</a:t>
            </a:r>
          </a:p>
        </p:txBody>
      </p:sp>
      <p:sp>
        <p:nvSpPr>
          <p:cNvPr id="39" name="TextBox 38"/>
          <p:cNvSpPr txBox="1"/>
          <p:nvPr/>
        </p:nvSpPr>
        <p:spPr>
          <a:xfrm>
            <a:off x="5852160" y="5463540"/>
            <a:ext cx="2468880" cy="274320"/>
          </a:xfrm>
          <a:prstGeom prst="rect">
            <a:avLst/>
          </a:prstGeom>
          <a:noFill/>
        </p:spPr>
        <p:txBody>
          <a:bodyPr wrap="square" lIns="0" rIns="0" tIns="0" bIns="0" anchor="t">
            <a:spAutoFit/>
          </a:bodyPr>
          <a:lstStyle/>
          <a:p>
            <a:pPr algn="ctr">
              <a:lnSpc>
                <a:spcPct val="110000"/>
              </a:lnSpc>
              <a:spcAft>
                <a:spcPts val="0"/>
              </a:spcAft>
            </a:pPr>
            <a:r>
              <a:rPr sz="1800" b="1">
                <a:solidFill>
                  <a:srgbClr val="008E96"/>
                </a:solidFill>
                <a:latin typeface="Arial"/>
                <a:ea typeface="Arial"/>
                <a:cs typeface="Arial"/>
              </a:rPr>
              <a:t>463.8 ms</a:t>
            </a:r>
          </a:p>
        </p:txBody>
      </p:sp>
      <p:sp>
        <p:nvSpPr>
          <p:cNvPr id="40" name="TextBox 39"/>
          <p:cNvSpPr txBox="1"/>
          <p:nvPr/>
        </p:nvSpPr>
        <p:spPr>
          <a:xfrm>
            <a:off x="8750808" y="5463540"/>
            <a:ext cx="2468880" cy="274320"/>
          </a:xfrm>
          <a:prstGeom prst="rect">
            <a:avLst/>
          </a:prstGeom>
          <a:noFill/>
        </p:spPr>
        <p:txBody>
          <a:bodyPr wrap="square" lIns="0" rIns="0" tIns="0" bIns="0" anchor="t">
            <a:spAutoFit/>
          </a:bodyPr>
          <a:lstStyle/>
          <a:p>
            <a:pPr algn="ctr">
              <a:lnSpc>
                <a:spcPct val="110000"/>
              </a:lnSpc>
              <a:spcAft>
                <a:spcPts val="0"/>
              </a:spcAft>
            </a:pPr>
            <a:r>
              <a:rPr sz="1800" b="1">
                <a:solidFill>
                  <a:srgbClr val="008E96"/>
                </a:solidFill>
                <a:latin typeface="Arial"/>
                <a:ea typeface="Arial"/>
                <a:cs typeface="Arial"/>
              </a:rPr>
              <a:t>480.1 ms</a:t>
            </a:r>
          </a:p>
        </p:txBody>
      </p:sp>
      <p:cxnSp>
        <p:nvCxnSpPr>
          <p:cNvPr id="41" name="Connector 40"/>
          <p:cNvCxnSpPr/>
          <p:nvPr/>
        </p:nvCxnSpPr>
        <p:spPr>
          <a:xfrm>
            <a:off x="594360" y="5806440"/>
            <a:ext cx="10991088" cy="0"/>
          </a:xfrm>
          <a:prstGeom prst="line">
            <a:avLst/>
          </a:prstGeom>
          <a:ln w="889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603504" y="6025896"/>
            <a:ext cx="10972800" cy="201168"/>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TTFT: time to first token. TTFP: time to first audio packet. RTF: generation time / audio duration. Lower is better.</a:t>
            </a:r>
          </a:p>
        </p:txBody>
      </p:sp>
      <p:sp>
        <p:nvSpPr>
          <p:cNvPr id="43" name="TextBox 42"/>
          <p:cNvSpPr txBox="1"/>
          <p:nvPr/>
        </p:nvSpPr>
        <p:spPr>
          <a:xfrm>
            <a:off x="603504" y="6236208"/>
            <a:ext cx="10972800" cy="13716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MiniCPM: 2026-09-21 test records. AURA: 2 FPS, warmup excluded.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Broader model coverage and consistent behavior during tool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13</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parser in the turn-based Realtime path</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Tool-result round trip in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UNIFIED DUPLEX ROADMAP</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Framework owns shared call handling; plugins adapt model formats and behavior.</a:t>
                      </a:r>
                    </a:p>
                    <a:p>
                      <a:pPr>
                        <a:lnSpc>
                          <a:spcPct val="108000"/>
                        </a:lnSpc>
                        <a:spcAft>
                          <a:spcPts val="0"/>
                        </a:spcAft>
                      </a:pPr>
                      <a:r>
                        <a:rPr sz="1400" b="0">
                          <a:solidFill>
                            <a:srgbClr val="16304E"/>
                          </a:solidFill>
                          <a:latin typeface="Arial"/>
                          <a:ea typeface="Arial"/>
                          <a:cs typeface="Arial"/>
                        </a:rPr>
                        <a:t>Extend coverage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13 / 13</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Shared call/result handling and model adapters</a:t>
            </a:r>
          </a:p>
          <a:p>
            <a:pPr algn="l">
              <a:lnSpc>
                <a:spcPct val="106000"/>
              </a:lnSpc>
              <a:spcAft>
                <a:spcPts val="0"/>
              </a:spcAft>
            </a:pPr>
            <a:r>
              <a:rPr sz="1400" b="0">
                <a:solidFill>
                  <a:srgbClr val="586B7E"/>
                </a:solidFill>
                <a:latin typeface="Arial"/>
                <a:ea typeface="Arial"/>
                <a:cs typeface="Arial"/>
              </a:rPr>
              <a:t>Interruption, timeout and stale-result handling</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Scaled multi-replica serving</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Higher session concurrency across Stage replicas</a:t>
            </a:r>
          </a:p>
          <a:p>
            <a:pPr algn="l">
              <a:lnSpc>
                <a:spcPct val="106000"/>
              </a:lnSpc>
              <a:spcAft>
                <a:spcPts val="0"/>
              </a:spcAft>
            </a:pPr>
            <a:r>
              <a:rPr sz="1400" b="0">
                <a:solidFill>
                  <a:srgbClr val="586B7E"/>
                </a:solidFill>
                <a:latin typeface="Arial"/>
                <a:ea typeface="Arial"/>
                <a:cs typeface="Arial"/>
              </a:rPr>
              <a:t>Session routing and ownership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MiniCPM-o 4.5 example</a:t>
            </a:r>
          </a:p>
        </p:txBody>
      </p:sp>
      <p:sp>
        <p:nvSpPr>
          <p:cNvPr id="65" name="TextBox 64"/>
          <p:cNvSpPr txBox="1"/>
          <p:nvPr/>
        </p:nvSpPr>
        <p:spPr>
          <a:xfrm>
            <a:off x="3300984" y="5925312"/>
            <a:ext cx="978408"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Thinker</a:t>
            </a:r>
          </a:p>
        </p:txBody>
      </p:sp>
      <p:sp>
        <p:nvSpPr>
          <p:cNvPr id="66" name="TextBox 65"/>
          <p:cNvSpPr txBox="1"/>
          <p:nvPr/>
        </p:nvSpPr>
        <p:spPr>
          <a:xfrm>
            <a:off x="6108192" y="5925312"/>
            <a:ext cx="969264"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a:t>
            </a:r>
          </a:p>
        </p:txBody>
      </p:sp>
      <p:sp>
        <p:nvSpPr>
          <p:cNvPr id="67" name="TextBox 66"/>
          <p:cNvSpPr txBox="1"/>
          <p:nvPr/>
        </p:nvSpPr>
        <p:spPr>
          <a:xfrm>
            <a:off x="9372600" y="5925312"/>
            <a:ext cx="2002536"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a:t>
            </a:r>
          </a:p>
        </p:txBody>
      </p:sp>
      <p:cxnSp>
        <p:nvCxnSpPr>
          <p:cNvPr id="68" name="Connector 67"/>
          <p:cNvCxnSpPr/>
          <p:nvPr/>
        </p:nvCxnSpPr>
        <p:spPr>
          <a:xfrm>
            <a:off x="4398264" y="6080760"/>
            <a:ext cx="1591056"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4306824" y="6236208"/>
            <a:ext cx="1773936" cy="155448"/>
          </a:xfrm>
          <a:prstGeom prst="rect">
            <a:avLst/>
          </a:prstGeom>
          <a:noFill/>
        </p:spPr>
        <p:txBody>
          <a:bodyPr wrap="square" lIns="0" rIns="0" tIns="0" bIns="0" anchor="t">
            <a:spAutoFit/>
          </a:bodyPr>
          <a:lstStyle/>
          <a:p>
            <a:pPr algn="ctr">
              <a:lnSpc>
                <a:spcPct val="110000"/>
              </a:lnSpc>
              <a:spcAft>
                <a:spcPts val="0"/>
              </a:spcAft>
            </a:pPr>
            <a:r>
              <a:rPr sz="840" b="0">
                <a:solidFill>
                  <a:srgbClr val="327CEC"/>
                </a:solidFill>
                <a:latin typeface="Arial"/>
                <a:ea typeface="Arial"/>
                <a:cs typeface="Arial"/>
              </a:rPr>
              <a:t>Orchestrator / llm2tts</a:t>
            </a:r>
          </a:p>
        </p:txBody>
      </p:sp>
      <p:cxnSp>
        <p:nvCxnSpPr>
          <p:cNvPr id="70" name="Connector 69"/>
          <p:cNvCxnSpPr/>
          <p:nvPr/>
        </p:nvCxnSpPr>
        <p:spPr>
          <a:xfrm>
            <a:off x="7178040" y="6080760"/>
            <a:ext cx="2075688" cy="0"/>
          </a:xfrm>
          <a:prstGeom prst="line">
            <a:avLst/>
          </a:prstGeom>
          <a:ln w="16510">
            <a:solidFill>
              <a:srgbClr val="7855AD"/>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7178040" y="6236208"/>
            <a:ext cx="2075688"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Shared-memory connector</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then a turn model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after the silence threshold.</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Typically more compute per decision</a:t>
                      </a:r>
                    </a:p>
                    <a:p>
                      <a:pPr algn="l">
                        <a:lnSpc>
                          <a:spcPct val="106000"/>
                        </a:lnSpc>
                        <a:spcAft>
                          <a:spcPts val="0"/>
                        </a:spcAft>
                      </a:pPr>
                      <a:r>
                        <a:rPr sz="1420" b="0">
                          <a:solidFill>
                            <a:srgbClr val="16304E"/>
                          </a:solidFill>
                          <a:latin typeface="Arial"/>
                          <a:ea typeface="Arial"/>
                          <a:cs typeface="Arial"/>
                        </a:rPr>
                        <a:t>Planned: Omni Stage for heavier models</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202936"/>
            <a:ext cx="10698480" cy="210312"/>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77256"/>
            <a:ext cx="10698480" cy="347472"/>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852160"/>
            <a:ext cx="5303520" cy="265176"/>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852160"/>
            <a:ext cx="5074920" cy="265176"/>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199632"/>
            <a:ext cx="10698480" cy="219456"/>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VAD: session policy with inference off the control loop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Server VAD uses Silero today; semantic endpointing can follow the same separation of responsibilities.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Rounded Rectangle 11"/>
          <p:cNvSpPr/>
          <p:nvPr/>
        </p:nvSpPr>
        <p:spPr>
          <a:xfrm>
            <a:off x="548640" y="2148840"/>
            <a:ext cx="2377440" cy="310896"/>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0080" y="2199132"/>
            <a:ext cx="2194560" cy="219456"/>
          </a:xfrm>
          <a:prstGeom prst="rect">
            <a:avLst/>
          </a:prstGeom>
          <a:noFill/>
        </p:spPr>
        <p:txBody>
          <a:bodyPr wrap="square" lIns="0" rIns="0" tIns="0" bIns="0" anchor="t">
            <a:spAutoFit/>
          </a:bodyPr>
          <a:lstStyle/>
          <a:p>
            <a:pPr algn="l">
              <a:lnSpc>
                <a:spcPct val="110000"/>
              </a:lnSpc>
              <a:spcAft>
                <a:spcPts val="0"/>
              </a:spcAft>
            </a:pPr>
            <a:r>
              <a:rPr sz="1200" b="1">
                <a:solidFill>
                  <a:srgbClr val="327CEC"/>
                </a:solidFill>
                <a:latin typeface="Arial"/>
                <a:ea typeface="Arial"/>
                <a:cs typeface="Arial"/>
              </a:rPr>
              <a:t>CURRENT SERVER VAD</a:t>
            </a:r>
          </a:p>
        </p:txBody>
      </p:sp>
      <p:sp>
        <p:nvSpPr>
          <p:cNvPr id="14" name="TextBox 13"/>
          <p:cNvSpPr txBox="1"/>
          <p:nvPr/>
        </p:nvSpPr>
        <p:spPr>
          <a:xfrm>
            <a:off x="6126480" y="2203704"/>
            <a:ext cx="5486400" cy="219456"/>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Unified Duplex: same API process; control loop + CPU threads</a:t>
            </a:r>
          </a:p>
        </p:txBody>
      </p:sp>
      <p:sp>
        <p:nvSpPr>
          <p:cNvPr id="15" name="Rounded Rectangle 14"/>
          <p:cNvSpPr/>
          <p:nvPr/>
        </p:nvSpPr>
        <p:spPr>
          <a:xfrm>
            <a:off x="548640" y="2724912"/>
            <a:ext cx="2194560" cy="12252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843784"/>
            <a:ext cx="1901952" cy="256032"/>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Server</a:t>
            </a:r>
          </a:p>
        </p:txBody>
      </p:sp>
      <p:sp>
        <p:nvSpPr>
          <p:cNvPr id="17" name="TextBox 16"/>
          <p:cNvSpPr txBox="1"/>
          <p:nvPr/>
        </p:nvSpPr>
        <p:spPr>
          <a:xfrm>
            <a:off x="694944" y="3200400"/>
            <a:ext cx="1901952" cy="676656"/>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Audio and protocol I/O</a:t>
            </a:r>
          </a:p>
          <a:p>
            <a:pPr algn="l">
              <a:lnSpc>
                <a:spcPct val="110000"/>
              </a:lnSpc>
              <a:spcAft>
                <a:spcPts val="0"/>
              </a:spcAft>
            </a:pPr>
            <a:r>
              <a:rPr sz="1300" b="0">
                <a:solidFill>
                  <a:srgbClr val="21364E"/>
                </a:solidFill>
                <a:latin typeface="Arial"/>
                <a:ea typeface="Arial"/>
                <a:cs typeface="Arial"/>
              </a:rPr>
              <a:t>Connection handling</a:t>
            </a:r>
          </a:p>
        </p:txBody>
      </p:sp>
      <p:sp>
        <p:nvSpPr>
          <p:cNvPr id="18" name="Rounded Rectangle 17"/>
          <p:cNvSpPr/>
          <p:nvPr/>
        </p:nvSpPr>
        <p:spPr>
          <a:xfrm>
            <a:off x="3090672" y="2724912"/>
            <a:ext cx="4754880" cy="122529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236976" y="2843784"/>
            <a:ext cx="4462272" cy="256032"/>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Runner / SessionManager</a:t>
            </a:r>
          </a:p>
        </p:txBody>
      </p:sp>
      <p:sp>
        <p:nvSpPr>
          <p:cNvPr id="20" name="TextBox 19"/>
          <p:cNvSpPr txBox="1"/>
          <p:nvPr/>
        </p:nvSpPr>
        <p:spPr>
          <a:xfrm>
            <a:off x="3236976" y="3200400"/>
            <a:ext cx="4462272" cy="676656"/>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Per-session state; shared ONNX backend</a:t>
            </a:r>
          </a:p>
          <a:p>
            <a:pPr algn="l">
              <a:lnSpc>
                <a:spcPct val="110000"/>
              </a:lnSpc>
              <a:spcAft>
                <a:spcPts val="0"/>
              </a:spcAft>
            </a:pPr>
            <a:r>
              <a:rPr sz="1250" b="0">
                <a:solidFill>
                  <a:srgbClr val="21364E"/>
                </a:solidFill>
                <a:latin typeface="Arial"/>
                <a:ea typeface="Arial"/>
                <a:cs typeface="Arial"/>
              </a:rPr>
              <a:t>Barge-in; commit for turn-based sessions</a:t>
            </a:r>
          </a:p>
        </p:txBody>
      </p:sp>
      <p:sp>
        <p:nvSpPr>
          <p:cNvPr id="21" name="Rounded Rectangle 20"/>
          <p:cNvSpPr/>
          <p:nvPr/>
        </p:nvSpPr>
        <p:spPr>
          <a:xfrm>
            <a:off x="8193024" y="2724912"/>
            <a:ext cx="3438144" cy="122529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39328" y="2843784"/>
            <a:ext cx="3145536" cy="256032"/>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CPU thread pool</a:t>
            </a:r>
          </a:p>
        </p:txBody>
      </p:sp>
      <p:sp>
        <p:nvSpPr>
          <p:cNvPr id="23" name="TextBox 22"/>
          <p:cNvSpPr txBox="1"/>
          <p:nvPr/>
        </p:nvSpPr>
        <p:spPr>
          <a:xfrm>
            <a:off x="8339328" y="3200400"/>
            <a:ext cx="3145536" cy="676656"/>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Silero / ONNX on CPU</a:t>
            </a:r>
          </a:p>
          <a:p>
            <a:pPr algn="l">
              <a:lnSpc>
                <a:spcPct val="110000"/>
              </a:lnSpc>
              <a:spcAft>
                <a:spcPts val="0"/>
              </a:spcAft>
            </a:pPr>
            <a:r>
              <a:rPr sz="1300" b="0">
                <a:solidFill>
                  <a:srgbClr val="21364E"/>
                </a:solidFill>
                <a:latin typeface="Arial"/>
                <a:ea typeface="Arial"/>
                <a:cs typeface="Arial"/>
              </a:rPr>
              <a:t>Detection via async offload</a:t>
            </a:r>
          </a:p>
        </p:txBody>
      </p:sp>
      <p:cxnSp>
        <p:nvCxnSpPr>
          <p:cNvPr id="24" name="Connector 23"/>
          <p:cNvCxnSpPr/>
          <p:nvPr/>
        </p:nvCxnSpPr>
        <p:spPr>
          <a:xfrm>
            <a:off x="2779776" y="3264408"/>
            <a:ext cx="256032" cy="0"/>
          </a:xfrm>
          <a:prstGeom prst="line">
            <a:avLst/>
          </a:prstGeom>
          <a:ln w="1905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7882127" y="3264408"/>
            <a:ext cx="256033" cy="0"/>
          </a:xfrm>
          <a:prstGeom prst="line">
            <a:avLst/>
          </a:prstGeom>
          <a:ln w="1905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Rounded Rectangle 25"/>
          <p:cNvSpPr/>
          <p:nvPr/>
        </p:nvSpPr>
        <p:spPr>
          <a:xfrm>
            <a:off x="548640" y="4251960"/>
            <a:ext cx="4937760" cy="310896"/>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0080" y="4302252"/>
            <a:ext cx="4754880" cy="219456"/>
          </a:xfrm>
          <a:prstGeom prst="rect">
            <a:avLst/>
          </a:prstGeom>
          <a:noFill/>
        </p:spPr>
        <p:txBody>
          <a:bodyPr wrap="square" lIns="0" rIns="0" tIns="0" bIns="0" anchor="t">
            <a:spAutoFit/>
          </a:bodyPr>
          <a:lstStyle/>
          <a:p>
            <a:pPr algn="l">
              <a:lnSpc>
                <a:spcPct val="110000"/>
              </a:lnSpc>
              <a:spcAft>
                <a:spcPts val="0"/>
              </a:spcAft>
            </a:pPr>
            <a:r>
              <a:rPr sz="1150" b="1">
                <a:solidFill>
                  <a:srgbClr val="AD761E"/>
                </a:solidFill>
                <a:latin typeface="Arial"/>
                <a:ea typeface="Arial"/>
                <a:cs typeface="Arial"/>
              </a:rPr>
              <a:t>SEMANTIC VAD · PROPOSED EXTENSION</a:t>
            </a:r>
          </a:p>
        </p:txBody>
      </p:sp>
      <p:sp>
        <p:nvSpPr>
          <p:cNvPr id="28" name="Rounded Rectangle 27"/>
          <p:cNvSpPr/>
          <p:nvPr/>
        </p:nvSpPr>
        <p:spPr>
          <a:xfrm>
            <a:off x="548640" y="4745736"/>
            <a:ext cx="3547872" cy="1033271"/>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94944" y="4864608"/>
            <a:ext cx="3255264" cy="256032"/>
          </a:xfrm>
          <a:prstGeom prst="rect">
            <a:avLst/>
          </a:prstGeom>
          <a:noFill/>
        </p:spPr>
        <p:txBody>
          <a:bodyPr wrap="square" lIns="0" rIns="0" tIns="0" bIns="0" anchor="t">
            <a:spAutoFit/>
          </a:bodyPr>
          <a:lstStyle/>
          <a:p>
            <a:pPr algn="l">
              <a:lnSpc>
                <a:spcPct val="110000"/>
              </a:lnSpc>
              <a:spcAft>
                <a:spcPts val="0"/>
              </a:spcAft>
            </a:pPr>
            <a:r>
              <a:rPr sz="1400" b="1">
                <a:solidFill>
                  <a:srgbClr val="142B45"/>
                </a:solidFill>
                <a:latin typeface="Arial"/>
                <a:ea typeface="Arial"/>
                <a:cs typeface="Arial"/>
              </a:rPr>
              <a:t>Lightweight endpointing</a:t>
            </a:r>
          </a:p>
        </p:txBody>
      </p:sp>
      <p:sp>
        <p:nvSpPr>
          <p:cNvPr id="30" name="TextBox 29"/>
          <p:cNvSpPr txBox="1"/>
          <p:nvPr/>
        </p:nvSpPr>
        <p:spPr>
          <a:xfrm>
            <a:off x="694944" y="5221224"/>
            <a:ext cx="3255264" cy="484631"/>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CPU pool for lightweight models</a:t>
            </a:r>
          </a:p>
          <a:p>
            <a:pPr algn="l">
              <a:lnSpc>
                <a:spcPct val="110000"/>
              </a:lnSpc>
              <a:spcAft>
                <a:spcPts val="0"/>
              </a:spcAft>
            </a:pPr>
            <a:r>
              <a:rPr sz="1200" b="0">
                <a:solidFill>
                  <a:srgbClr val="21364E"/>
                </a:solidFill>
                <a:latin typeface="Arial"/>
                <a:ea typeface="Arial"/>
                <a:cs typeface="Arial"/>
              </a:rPr>
              <a:t>Text-based models can reuse ASR</a:t>
            </a:r>
          </a:p>
        </p:txBody>
      </p:sp>
      <p:sp>
        <p:nvSpPr>
          <p:cNvPr id="31" name="Rounded Rectangle 30"/>
          <p:cNvSpPr/>
          <p:nvPr/>
        </p:nvSpPr>
        <p:spPr>
          <a:xfrm>
            <a:off x="4315968" y="4745736"/>
            <a:ext cx="3547872" cy="1033271"/>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462272" y="4864608"/>
            <a:ext cx="3255264" cy="256032"/>
          </a:xfrm>
          <a:prstGeom prst="rect">
            <a:avLst/>
          </a:prstGeom>
          <a:noFill/>
        </p:spPr>
        <p:txBody>
          <a:bodyPr wrap="square" lIns="0" rIns="0" tIns="0" bIns="0" anchor="t">
            <a:spAutoFit/>
          </a:bodyPr>
          <a:lstStyle/>
          <a:p>
            <a:pPr algn="l">
              <a:lnSpc>
                <a:spcPct val="110000"/>
              </a:lnSpc>
              <a:spcAft>
                <a:spcPts val="0"/>
              </a:spcAft>
            </a:pPr>
            <a:r>
              <a:rPr sz="1400" b="1">
                <a:solidFill>
                  <a:srgbClr val="142B45"/>
                </a:solidFill>
                <a:latin typeface="Arial"/>
                <a:ea typeface="Arial"/>
                <a:cs typeface="Arial"/>
              </a:rPr>
              <a:t>Heavier semantic models</a:t>
            </a:r>
          </a:p>
        </p:txBody>
      </p:sp>
      <p:sp>
        <p:nvSpPr>
          <p:cNvPr id="33" name="TextBox 32"/>
          <p:cNvSpPr txBox="1"/>
          <p:nvPr/>
        </p:nvSpPr>
        <p:spPr>
          <a:xfrm>
            <a:off x="4462272" y="5221224"/>
            <a:ext cx="3255264" cy="484631"/>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Omni Stage with accelerator execution</a:t>
            </a:r>
          </a:p>
          <a:p>
            <a:pPr algn="l">
              <a:lnSpc>
                <a:spcPct val="110000"/>
              </a:lnSpc>
              <a:spcAft>
                <a:spcPts val="0"/>
              </a:spcAft>
            </a:pPr>
            <a:r>
              <a:rPr sz="1200" b="0">
                <a:solidFill>
                  <a:srgbClr val="21364E"/>
                </a:solidFill>
                <a:latin typeface="Arial"/>
                <a:ea typeface="Arial"/>
                <a:cs typeface="Arial"/>
              </a:rPr>
              <a:t>Microbatching within a latency budget</a:t>
            </a:r>
          </a:p>
        </p:txBody>
      </p:sp>
      <p:sp>
        <p:nvSpPr>
          <p:cNvPr id="34" name="Rounded Rectangle 33"/>
          <p:cNvSpPr/>
          <p:nvPr/>
        </p:nvSpPr>
        <p:spPr>
          <a:xfrm>
            <a:off x="8083296" y="4745736"/>
            <a:ext cx="3547872" cy="1033271"/>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229600" y="4864608"/>
            <a:ext cx="3255264" cy="256032"/>
          </a:xfrm>
          <a:prstGeom prst="rect">
            <a:avLst/>
          </a:prstGeom>
          <a:noFill/>
        </p:spPr>
        <p:txBody>
          <a:bodyPr wrap="square" lIns="0" rIns="0" tIns="0" bIns="0" anchor="t">
            <a:spAutoFit/>
          </a:bodyPr>
          <a:lstStyle/>
          <a:p>
            <a:pPr algn="l">
              <a:lnSpc>
                <a:spcPct val="110000"/>
              </a:lnSpc>
              <a:spcAft>
                <a:spcPts val="0"/>
              </a:spcAft>
            </a:pPr>
            <a:r>
              <a:rPr sz="1400" b="1">
                <a:solidFill>
                  <a:srgbClr val="142B45"/>
                </a:solidFill>
                <a:latin typeface="Arial"/>
                <a:ea typeface="Arial"/>
                <a:cs typeface="Arial"/>
              </a:rPr>
              <a:t>Return decisions to the runner</a:t>
            </a:r>
          </a:p>
        </p:txBody>
      </p:sp>
      <p:sp>
        <p:nvSpPr>
          <p:cNvPr id="36" name="TextBox 35"/>
          <p:cNvSpPr txBox="1"/>
          <p:nvPr/>
        </p:nvSpPr>
        <p:spPr>
          <a:xfrm>
            <a:off x="8229600" y="5221224"/>
            <a:ext cx="3255264" cy="484631"/>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Tag session, input sequence and epoch</a:t>
            </a:r>
          </a:p>
          <a:p>
            <a:pPr algn="l">
              <a:lnSpc>
                <a:spcPct val="110000"/>
              </a:lnSpc>
              <a:spcAft>
                <a:spcPts val="0"/>
              </a:spcAft>
            </a:pPr>
            <a:r>
              <a:rPr sz="1200" b="0">
                <a:solidFill>
                  <a:srgbClr val="21364E"/>
                </a:solidFill>
                <a:latin typeface="Arial"/>
                <a:ea typeface="Arial"/>
                <a:cs typeface="Arial"/>
              </a:rPr>
              <a:t>Apply in order; discard stale decisions</a:t>
            </a:r>
          </a:p>
        </p:txBody>
      </p:sp>
      <p:sp>
        <p:nvSpPr>
          <p:cNvPr id="37" name="TextBox 36"/>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Speech onset enables fast interruption; semantic endpointing detects turn completion, separately from LISTEN / SPEAK.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Cancel response; invalidate its queued audio</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stays open; cancelled work stays cancelled</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Valid resume token</a:t>
            </a:r>
          </a:p>
          <a:p>
            <a:pPr algn="l">
              <a:lnSpc>
                <a:spcPct val="110000"/>
              </a:lnSpc>
              <a:spcAft>
                <a:spcPts val="0"/>
              </a:spcAft>
            </a:pPr>
            <a:r>
              <a:rPr sz="1200" b="0">
                <a:solidFill>
                  <a:srgbClr val="21364E"/>
                </a:solidFill>
                <a:latin typeface="Arial"/>
                <a:ea typeface="Arial"/>
                <a:cs typeface="Arial"/>
              </a:rPr>
              <a:t>Matching lease generation</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position</a:t>
            </a:r>
          </a:p>
          <a:p>
            <a:pPr algn="l">
              <a:lnSpc>
                <a:spcPct val="110000"/>
              </a:lnSpc>
              <a:spcAft>
                <a:spcPts val="0"/>
              </a:spcAft>
            </a:pPr>
            <a:r>
              <a:rPr sz="1250" b="0">
                <a:solidFill>
                  <a:srgbClr val="21364E"/>
                </a:solidFill>
                <a:latin typeface="Arial"/>
                <a:ea typeface="Arial"/>
                <a:cs typeface="Arial"/>
              </a:rPr>
              <a:t>Required events remain available</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Defaults: disconnect grace 30s · idle TTL 300s · replay 60s / 8 MiB. Resume requires the same live owner.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A6</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a:solidFill>
                  <a:srgbClr val="586B7E"/>
                </a:solidFill>
                <a:latin typeface="Arial"/>
                <a:ea typeface="Arial"/>
                <a:cs typeface="Arial"/>
              </a:rPr>
              <a:t>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2026-10-08T03:57:33Z</dcterms:modified>
  <cp:category/>
</cp:coreProperties>
</file>