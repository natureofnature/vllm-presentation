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Noto Sans CJK SC"/>
                  </a:defRPr>
                </a:pPr>
                <a:endParaRPr lang="en-US"/>
              </a:p>
            </c:txPr>
            <c:dLblPos val="t"/>
            <c:showLegendKey val="0"/>
            <c:showVal val="1"/>
            <c:showCatName val="0"/>
            <c:showSerName val="0"/>
            <c:showPercent val="0"/>
            <c:showBubbleSize val="0"/>
          </c:dLbls>
          <c:cat>
            <c:strRef>
              <c:f>Data!$A$2:$A$5</c:f>
              <c:strCache>
                <c:ptCount val="4"/>
                <c:pt idx="0">
                  <c:v>10 月 5 日</c:v>
                </c:pt>
                <c:pt idx="1">
                  <c:v>10 月 6 日</c:v>
                </c:pt>
                <c:pt idx="2">
                  <c:v>10 月 7 日</c:v>
                </c:pt>
                <c:pt idx="3">
                  <c:v>10 月 8 日</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Noto Sans CJK SC"/>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Noto Sans CJK SC"/>
                  </a:defRPr>
                </a:pPr>
                <a:r>
                  <a:rPr lang="en-US" sz="110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100" baseline="0">
                <a:solidFill>
                  <a:srgbClr val="526985"/>
                </a:solidFill>
                <a:latin typeface="Noto Sans CJK SC"/>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slide introduces duplex interaction using PersonaPlex as the native voice demo. Audio streams in both directions in 80 ms frames. Native yielding is model-driven and does not require Server VAD. The hard-interruption panel describes an application/server mechanism, not the default PersonaPlex demo policy. Cancelling generation and stopping buffered client playback are distinct actions. PersonaPlex does not advertise destructive barge-in or audio truncation; explicit cancel resets its conversation context.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https://github.com/vllm-project/vllm-omni/blob/712b90de9c7bc14c595b363401588a713a87c02d/vllm_omni/model_executor/models/minicpmo_4_5/duplex/capabilities.py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https://github.com/vllm-project/vllm-omni/blob/4c5541cfc17143f80bdb89bbb7a5840b08bb52c6/examples/online_serving/realtime_web/app/static/profiles/aura_ptt.js</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https://github.com/vllm-project/vllm-omni/blob/4c5541cfc17143f80bdb89bbb7a5840b08bb52c6/vllm_omni/entrypoints/duplex_omni.py</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and MiniCPM retain native streaming computation state. AURA history includes ASR/user text, retained video clips and assistant text; old video payloads are pruned separately from text. Qwen retains user audio, image inputs and text. Both turn-based models build new generation requests from committed input and history. AURA releases its concurrent-turn gate when Stage 1 Thinker completes, allowing the next turn to begin while prior TTS drains. This is overlap between requests/stages, not native appending to one continuing Thinker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https://github.com/vllm-project/vllm-omni/blob/4c5541cfc17143f80bdb89bbb7a5840b08bb52c6/vllm_omni/model_executor/models/aura_omni/duplex/history.py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https://github.com/vllm-project/vllm-omni/blob/712b90de9c7bc14c595b363401588a713a87c02d/vllm_omni/model_executor/models/minicpmo_4_5/duplex/stage0.py</a:t>
            </a:r>
          </a:p>
          <a:p>
            <a:r>
              <a:rPr lang="zh-CN">
                <a:latin typeface="Noto Sans CJK SC"/>
                <a:ea typeface="Noto Sans CJK SC"/>
                <a:cs typeface="Noto Sans CJK SC"/>
              </a:rPr>
              <a:t>https://github.com/vllm-project/vllm-omni/blob/712b90de9c7bc14c595b363401588a713a87c02d/vllm_omni/model_executor/models/minicpmo_4_5/duplex/window_kv.py</a:t>
            </a:r>
          </a:p>
          <a:p>
            <a:r>
              <a:rPr lang="zh-CN">
                <a:latin typeface="Noto Sans CJK SC"/>
                <a:ea typeface="Noto Sans CJK SC"/>
                <a:cs typeface="Noto Sans CJK SC"/>
              </a:rPr>
              <a:t>https://github.com/vllm-project/vllm-omni/blob/712b90de9c7bc14c595b363401588a713a87c02d/vllm_omni/model_executor/models/minicpmo_4_5/duplex/window_plan.py</a:t>
            </a:r>
          </a:p>
          <a:p>
            <a:r>
              <a:rPr lang="zh-CN">
                <a:latin typeface="Noto Sans CJK SC"/>
                <a:ea typeface="Noto Sans CJK SC"/>
                <a:cs typeface="Noto Sans CJK SC"/>
              </a:rPr>
              <a:t>https://github.com/vllm-project/vllm-omni/blob/712b90de9c7bc14c595b363401588a713a87c02d/vllm_omni/model_executor/models/aura_omni/duplex/plugin.py</a:t>
            </a:r>
          </a:p>
          <a:p>
            <a:r>
              <a:rPr lang="zh-CN">
                <a:latin typeface="Noto Sans CJK SC"/>
                <a:ea typeface="Noto Sans CJK SC"/>
                <a:cs typeface="Noto Sans CJK SC"/>
              </a:rPr>
              <a:t>https://github.com/vllm-project/vllm-omni/blob/712b90de9c7bc14c595b363401588a713a87c02d/vllm_omni/model_executor/models/qwen3_omni/duplex/plugin.py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https://github.com/vllm-project/vllm-omni/blob/4c5541cfc17143f80bdb89bbb7a5840b08bb52c6/vllm_omni/clients/duplex.py</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https://github.com/vllm-project/vllm-omni/blob/712b90de9c7bc14c595b363401588a713a87c02d/vllm_omni/model_executor/models/nemotron_voicechat/duplex/capabilities.py</a:t>
            </a:r>
          </a:p>
          <a:p>
            <a:r>
              <a:rPr lang="zh-CN">
                <a:latin typeface="Noto Sans CJK SC"/>
                <a:ea typeface="Noto Sans CJK SC"/>
                <a:cs typeface="Noto Sans CJK SC"/>
              </a:rPr>
              <a:t>https://github.com/vllm-project/vllm-omni/blob/712b90de9c7bc14c595b363401588a713a87c02d/vllm_omni/clients/duplex.py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method list gives model-specific optimization examples, not a claim that all four changes produced the plotted improvement. The curve is MiniCPM-o 4.5 Seed-TTS speech generation via Chat Completions on H100 at concurrency 8, with 128 prompts in each daily run. It is not eight native full-duplex conversations. All four selected records share the same config_key. Mean per-request Audio RTF values are 0.9844461966498954, 0.7430039011861929, 0.559707561533549, and 0.4902875810555307 for October 5–8, 2026. Lower is better. The RTF denominator is emitted audio duration, not wall-clock throughput. No new benchmark or one-PR causal claim is made.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https://github.com/vllm-project/vllm-omni/blob/06afa310c942c0506f0ed9bdd189fa331c46bb97/vllm_omni/model_executor/models/minicpmo_4_5/streaming_audio_encoder_graph.py</a:t>
            </a:r>
          </a:p>
          <a:p>
            <a:r>
              <a:rPr lang="zh-CN">
                <a:latin typeface="Noto Sans CJK SC"/>
                <a:ea typeface="Noto Sans CJK SC"/>
                <a:cs typeface="Noto Sans CJK SC"/>
              </a:rPr>
              <a:t>https://github.com/vllm-project/vllm-omni/blob/06afa310c942c0506f0ed9bdd189fa331c46bb97/vllm_omni/model_executor/models/minicpmo_4_5/encoder_cuda_graph.py</a:t>
            </a:r>
          </a:p>
          <a:p>
            <a:r>
              <a:rPr lang="zh-CN">
                <a:latin typeface="Noto Sans CJK SC"/>
                <a:ea typeface="Noto Sans CJK SC"/>
                <a:cs typeface="Noto Sans CJK SC"/>
              </a:rPr>
              <a:t>https://github.com/vllm-project/vllm-omni/blob/06afa310c942c0506f0ed9bdd189fa331c46bb97/vllm_omni/model_executor/models/minicpmo_4_5/minicpmo_4_5_code2wav.py</a:t>
            </a:r>
          </a:p>
          <a:p>
            <a:r>
              <a:rPr lang="zh-CN">
                <a:latin typeface="Noto Sans CJK SC"/>
                <a:ea typeface="Noto Sans CJK SC"/>
                <a:cs typeface="Noto Sans CJK SC"/>
              </a:rPr>
              <a:t>https://github.com/vllm-project/vllm-omni/blob/06afa310c942c0506f0ed9bdd189fa331c46bb97/vllm_omni/model_executor/models/minicpmo_4_5/dit_fused.py</a:t>
            </a:r>
          </a:p>
          <a:p>
            <a:r>
              <a:rPr lang="zh-CN">
                <a:latin typeface="Noto Sans CJK SC"/>
                <a:ea typeface="Noto Sans CJK SC"/>
                <a:cs typeface="Noto Sans CJK SC"/>
              </a:rPr>
              <a:t>https://github.com/vllm-project/vllm-omni/blob/06afa310c942c0506f0ed9bdd189fa331c46bb97/vllm_omni/model_executor/models/qwen3_omni/vision_encoder_cudagraph.py</a:t>
            </a:r>
          </a:p>
          <a:p>
            <a:r>
              <a:rPr lang="zh-CN">
                <a:latin typeface="Noto Sans CJK SC"/>
                <a:ea typeface="Noto Sans CJK SC"/>
                <a:cs typeface="Noto Sans CJK SC"/>
              </a:rPr>
              <a:t>https://github.com/vllm-project/vllm-omni/blob/06afa310c942c0506f0ed9bdd189fa331c46bb97/vllm_omni/model_executor/models/personaplex/duplex/stage0.py</a:t>
            </a:r>
          </a:p>
          <a:p>
            <a:r>
              <a:rPr lang="zh-CN">
                <a:latin typeface="Noto Sans CJK SC"/>
                <a:ea typeface="Noto Sans CJK SC"/>
                <a:cs typeface="Noto Sans CJK SC"/>
              </a:rPr>
              <a:t>https://github.com/vllm-project/vllm-omni/blob/06afa310c942c0506f0ed9bdd189fa331c46bb97/vllm_omni/model_executor/models/personaplex/personaplex_code2wav.py</a:t>
            </a:r>
          </a:p>
          <a:p>
            <a:r>
              <a:rPr lang="zh-CN">
                <a:latin typeface="Noto Sans CJK SC"/>
                <a:ea typeface="Noto Sans CJK SC"/>
                <a:cs typeface="Noto Sans CJK SC"/>
              </a:rPr>
              <a:t>https://github.com/vllm-project/vllm-omni/blob/06afa310c942c0506f0ed9bdd189fa331c46bb97/vllm_omni/worker/gpu_generation_model_runner.py</a:t>
            </a:r>
          </a:p>
          <a:p>
            <a:r>
              <a:rPr lang="zh-CN">
                <a:latin typeface="Noto Sans CJK SC"/>
                <a:ea typeface="Noto Sans CJK SC"/>
                <a:cs typeface="Noto Sans CJK SC"/>
              </a:rPr>
              <a:t>https://github.com/vllm-project/vllm-omni/blob/06afa310c942c0506f0ed9bdd189fa331c46bb97/vllm_omni/benchmarks/patch/patch.py</a:t>
            </a:r>
          </a:p>
          <a:p>
            <a:r>
              <a:rPr lang="zh-CN">
                <a:latin typeface="Noto Sans CJK SC"/>
                <a:ea typeface="Noto Sans CJK SC"/>
                <a:cs typeface="Noto Sans CJK SC"/>
              </a:rPr>
              <a:t>https://github.com/vllm-project/vllm-omni/blob/06afa310c942c0506f0ed9bdd189fa331c46bb97/docs/design/minicpm_o45_mrv2_performance.md</a:t>
            </a:r>
          </a:p>
          <a:p>
            <a:r>
              <a:rPr lang="zh-CN">
                <a:latin typeface="Noto Sans CJK SC"/>
                <a:ea typeface="Noto Sans CJK SC"/>
                <a:cs typeface="Noto Sans CJK SC"/>
              </a:rPr>
              <a:t>https://github.com/vllm-project/vllm-omni/pull/8430</a:t>
            </a:r>
          </a:p>
          <a:p>
            <a:r>
              <a:rPr lang="zh-CN">
                <a:latin typeface="Noto Sans CJK SC"/>
                <a:ea typeface="Noto Sans CJK SC"/>
                <a:cs typeface="Noto Sans CJK SC"/>
              </a:rPr>
              <a:t>https://github.com/vllm-project/vllm-omni/pull/8215</a:t>
            </a:r>
          </a:p>
          <a:p>
            <a:r>
              <a:rPr lang="zh-CN">
                <a:latin typeface="Noto Sans CJK SC"/>
                <a:ea typeface="Noto Sans CJK SC"/>
                <a:cs typeface="Noto Sans CJK SC"/>
              </a:rPr>
              <a:t>https://github.com/vllm-project/vllm-omni/pull/8557</a:t>
            </a:r>
          </a:p>
          <a:p>
            <a:r>
              <a:rPr lang="zh-CN">
                <a:latin typeface="Noto Sans CJK SC"/>
                <a:ea typeface="Noto Sans CJK SC"/>
                <a:cs typeface="Noto Sans CJK SC"/>
              </a:rPr>
              <a:t>https://github.com/vllm-project/vllm-omni/pull/8356</a:t>
            </a:r>
          </a:p>
          <a:p>
            <a:r>
              <a:rPr lang="zh-CN">
                <a:latin typeface="Noto Sans CJK SC"/>
                <a:ea typeface="Noto Sans CJK SC"/>
                <a:cs typeface="Noto Sans CJK SC"/>
              </a:rPr>
              <a:t>https://github.com/vllm-project/vllm-omni/pull/7480</a:t>
            </a:r>
          </a:p>
          <a:p>
            <a:r>
              <a:rPr lang="zh-CN">
                <a:latin typeface="Noto Sans CJK SC"/>
                <a:ea typeface="Noto Sans CJK SC"/>
                <a:cs typeface="Noto Sans CJK SC"/>
              </a:rPr>
              <a:t>https://github.com/vllm-project/vllm-omni/pull/8540</a:t>
            </a:r>
          </a:p>
          <a:p>
            <a:r>
              <a:rPr lang="zh-CN">
                <a:latin typeface="Noto Sans CJK SC"/>
                <a:ea typeface="Noto Sans CJK SC"/>
                <a:cs typeface="Noto Sans CJK SC"/>
              </a:rP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https://github.com/vllm-project/vllm-omni/blob/4c5541cfc17143f80bdb89bbb7a5840b08bb52c6/vllm_omni/benchmarks/duplex_session_metrics.py</a:t>
            </a:r>
          </a:p>
          <a:p>
            <a:r>
              <a:rPr lang="zh-CN">
                <a:latin typeface="Noto Sans CJK SC"/>
                <a:ea typeface="Noto Sans CJK SC"/>
                <a:cs typeface="Noto Sans CJK SC"/>
              </a:rPr>
              <a:t>https://github.com/vllm-project/vllm-omni/blob/4c5541cfc17143f80bdb89bbb7a5840b08bb52c6/vllm_omni/benchmarks/omniinteract.py</a:t>
            </a:r>
          </a:p>
          <a:p>
            <a:r>
              <a:rPr lang="zh-CN">
                <a:latin typeface="Noto Sans CJK SC"/>
                <a:ea typeface="Noto Sans CJK SC"/>
                <a:cs typeface="Noto Sans CJK SC"/>
              </a:rPr>
              <a:t>https://github.com/vllm-project/vllm-omni/blob/4c5541cfc17143f80bdb89bbb7a5840b08bb52c6/vllm_omni/benchmarks/duplex/omni_duplex_eval_metrics.py</a:t>
            </a:r>
          </a:p>
          <a:p>
            <a:r>
              <a:rPr lang="zh-CN">
                <a:latin typeface="Noto Sans CJK SC"/>
                <a:ea typeface="Noto Sans CJK SC"/>
                <a:cs typeface="Noto Sans CJK SC"/>
              </a:rPr>
              <a:t>https://github.com/vllm-project/vllm-omni/blob/712b90de9c7bc14c595b363401588a713a87c02d/vllm_omni/benchmarks/omniinteract.py</a:t>
            </a:r>
          </a:p>
          <a:p>
            <a:r>
              <a:rPr lang="zh-CN">
                <a:latin typeface="Noto Sans CJK SC"/>
                <a:ea typeface="Noto Sans CJK SC"/>
                <a:cs typeface="Noto Sans CJK SC"/>
              </a:rPr>
              <a:t>https://github.com/vllm-project/vllm-omni/blob/712b90de9c7bc14c595b363401588a713a87c02d/vllm_omni/benchmarks/omniinteract_eval.py</a:t>
            </a:r>
          </a:p>
          <a:p>
            <a:r>
              <a:rPr lang="zh-CN">
                <a:latin typeface="Noto Sans CJK SC"/>
                <a:ea typeface="Noto Sans CJK SC"/>
                <a:cs typeface="Noto Sans CJK SC"/>
              </a:rPr>
              <a:t>https://github.com/vllm-project/vllm-omni/blob/712b90de9c7bc14c595b363401588a713a87c02d/vllm_omni/benchmarks/duplex/omni_duplex_eval_runner.py</a:t>
            </a:r>
          </a:p>
          <a:p>
            <a:r>
              <a:rPr lang="zh-CN">
                <a:latin typeface="Noto Sans CJK SC"/>
                <a:ea typeface="Noto Sans CJK SC"/>
                <a:cs typeface="Noto Sans CJK SC"/>
              </a:rPr>
              <a:t>https://github.com/vllm-project/vllm-omni/blob/712b90de9c7bc14c595b363401588a713a87c02d/vllm_omni/benchmarks/duplex/omni_duplex_eval_metrics.py</a:t>
            </a:r>
          </a:p>
          <a:p>
            <a:r>
              <a:rPr lang="zh-CN">
                <a:latin typeface="Noto Sans CJK SC"/>
                <a:ea typeface="Noto Sans CJK SC"/>
                <a:cs typeface="Noto Sans CJK SC"/>
              </a:rP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https://github.com/vllm-project/vllm-omni/blob/4c5541cfc17143f80bdb89bbb7a5840b08bb52c6/vllm_omni/entrypoints/openai/realtime/session.py</a:t>
            </a:r>
          </a:p>
          <a:p>
            <a:r>
              <a:rPr lang="zh-CN">
                <a:latin typeface="Noto Sans CJK SC"/>
                <a:ea typeface="Noto Sans CJK SC"/>
                <a:cs typeface="Noto Sans CJK SC"/>
              </a:rPr>
              <a:t>https://github.com/vllm-project/vllm-omni/blob/4c5541cfc17143f80bdb89bbb7a5840b08bb52c6/vllm_omni/model_executor/models/nemotron_voicechat/duplex/plugin.py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https://github.com/vllm-project/vllm-omni/blob/d5a3380103df2fc827f095c60dbfb6e1c5655fd3/vllm_omni/entrypoints/openai/realtime/connection.py#L870-L940</a:t>
            </a:r>
          </a:p>
          <a:p>
            <a:r>
              <a:rPr lang="zh-CN">
                <a:latin typeface="Noto Sans CJK SC"/>
                <a:ea typeface="Noto Sans CJK SC"/>
                <a:cs typeface="Noto Sans CJK SC"/>
              </a:rPr>
              <a:t>https://github.com/vllm-project/vllm-omni/blob/d5a3380103df2fc827f095c60dbfb6e1c5655fd3/vllm_omni/entrypoints/openai/realtime/connection.py#L1655-L1678</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https://github.com/vllm-project/vllm-omni/blob/d5a3380103df2fc827f095c60dbfb6e1c5655fd3/vllm_omni/model_executor/models/nemotron_voicechat/duplex/plugin.py#L108-L147</a:t>
            </a:r>
          </a:p>
          <a:p>
            <a:r>
              <a:rPr lang="zh-CN">
                <a:latin typeface="Noto Sans CJK SC"/>
                <a:ea typeface="Noto Sans CJK SC"/>
                <a:cs typeface="Noto Sans CJK SC"/>
              </a:rPr>
              <a:t>https://github.com/vllm-project/vllm-omni/blob/d5a3380103df2fc827f095c60dbfb6e1c5655fd3/vllm_omni/model_executor/models/nemotron_voicechat/duplex/plugin.py#L430-L501</a:t>
            </a:r>
          </a:p>
          <a:p>
            <a:r>
              <a:rPr lang="zh-CN">
                <a:latin typeface="Noto Sans CJK SC"/>
                <a:ea typeface="Noto Sans CJK SC"/>
                <a:cs typeface="Noto Sans CJK SC"/>
              </a:rPr>
              <a:t>https://github.com/vllm-project/vllm-omni/blob/d5a3380103df2fc827f095c60dbfb6e1c5655fd3/vllm_omni/engine/duplex/realtime_events.py#L1080-L1126</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https://github.com/vllm-project/vllm-omni/blob/d5a3380103df2fc827f095c60dbfb6e1c5655fd3/vllm_omni/engine/duplex/plugin.py#L513-L523</a:t>
            </a:r>
          </a:p>
          <a:p>
            <a:r>
              <a:rPr lang="zh-CN">
                <a:latin typeface="Noto Sans CJK SC"/>
                <a:ea typeface="Noto Sans CJK SC"/>
                <a:cs typeface="Noto Sans CJK SC"/>
              </a:rPr>
              <a:t>https://github.com/vllm-project/vllm-omni/blob/d5a3380103df2fc827f095c60dbfb6e1c5655fd3/vllm_omni/engine/duplex/session/control.py#L290-L327</a:t>
            </a:r>
          </a:p>
          <a:p>
            <a:r>
              <a:rPr lang="zh-CN">
                <a:latin typeface="Noto Sans CJK SC"/>
                <a:ea typeface="Noto Sans CJK SC"/>
                <a:cs typeface="Noto Sans CJK SC"/>
              </a:rP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https://github.com/vllm-project/vllm-omni/blob/4c5541cfc17143f80bdb89bbb7a5840b08bb52c6/vllm_omni/entrypoints/openai/api_server.py</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https://github.com/vllm-project/vllm-omni/blob/d5a3380103df2fc827f095c60dbfb6e1c5655fd3/vllm_omni/model_executor/models/nemotron_voicechat/duplex/plugin.py#L444-L501</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https://github.com/vllm-project/vllm-omni/blob/d5a3380103df2fc827f095c60dbfb6e1c5655fd3/vllm_omni/engine/duplex/turn_detection.py#L82-L99</a:t>
            </a:r>
          </a:p>
          <a:p>
            <a:r>
              <a:rPr lang="zh-CN">
                <a:latin typeface="Noto Sans CJK SC"/>
                <a:ea typeface="Noto Sans CJK SC"/>
                <a:cs typeface="Noto Sans CJK SC"/>
              </a:rPr>
              <a:t>https://github.com/vllm-project/vllm-omni/blob/d5a3380103df2fc827f095c60dbfb6e1c5655fd3/vllm_omni/engine/duplex/vad.py#L100-L108</a:t>
            </a:r>
          </a:p>
          <a:p>
            <a:r>
              <a:rPr lang="zh-CN">
                <a:latin typeface="Noto Sans CJK SC"/>
                <a:ea typeface="Noto Sans CJK SC"/>
                <a:cs typeface="Noto Sans CJK SC"/>
              </a:rPr>
              <a:t>https://github.com/vllm-project/vllm-omni/blob/d5a3380103df2fc827f095c60dbfb6e1c5655fd3/tests/engine/duplex/test_engine_session.py#L598-L608</a:t>
            </a:r>
          </a:p>
          <a:p>
            <a:r>
              <a:rPr lang="zh-CN">
                <a:latin typeface="Noto Sans CJK SC"/>
                <a:ea typeface="Noto Sans CJK SC"/>
                <a:cs typeface="Noto Sans CJK SC"/>
              </a:rPr>
              <a:t>https://github.com/vllm-project/vllm-omni/blob/d5a3380103df2fc827f095c60dbfb6e1c5655fd3/vllm_omni/benchmarks/omniinteract.py</a:t>
            </a:r>
          </a:p>
          <a:p>
            <a:r>
              <a:rPr lang="zh-CN">
                <a:latin typeface="Noto Sans CJK SC"/>
                <a:ea typeface="Noto Sans CJK SC"/>
                <a:cs typeface="Noto Sans CJK SC"/>
              </a:rPr>
              <a:t>https://github.com/vllm-project/vllm-omni/blob/d5a3380103df2fc827f095c60dbfb6e1c5655fd3/vllm_omni/benchmarks/omniinteract_eval.py</a:t>
            </a:r>
          </a:p>
          <a:p>
            <a:r>
              <a:rPr lang="zh-CN">
                <a:latin typeface="Noto Sans CJK SC"/>
                <a:ea typeface="Noto Sans CJK SC"/>
                <a:cs typeface="Noto Sans CJK SC"/>
              </a:rPr>
              <a:t>https://github.com/vllm-project/vllm-omni/blob/d5a3380103df2fc827f095c60dbfb6e1c5655fd3/vllm_omni/benchmarks/duplex/omni_duplex_eval_runner.py</a:t>
            </a:r>
          </a:p>
          <a:p>
            <a:r>
              <a:rPr lang="zh-CN">
                <a:latin typeface="Noto Sans CJK SC"/>
                <a:ea typeface="Noto Sans CJK SC"/>
                <a:cs typeface="Noto Sans CJK SC"/>
              </a:rPr>
              <a:t>https://github.com/vllm-project/vllm-omni/blob/d5a3380103df2fc827f095c60dbfb6e1c5655fd3/tests/e2e/accuracy/omni_duplex_eval/README.md</a:t>
            </a:r>
          </a:p>
          <a:p>
            <a:r>
              <a:rPr lang="zh-CN">
                <a:latin typeface="Noto Sans CJK SC"/>
                <a:ea typeface="Noto Sans CJK SC"/>
                <a:cs typeface="Noto Sans CJK SC"/>
              </a:rPr>
              <a:t>https://github.com/vllm-project/vllm-omni/blob/d5a3380103df2fc827f095c60dbfb6e1c5655fd3/vllm_omni/model_executor/models/minicpmo_4_5/duplex/window_kv.py</a:t>
            </a:r>
          </a:p>
          <a:p>
            <a:r>
              <a:rPr lang="zh-CN">
                <a:latin typeface="Noto Sans CJK SC"/>
                <a:ea typeface="Noto Sans CJK SC"/>
                <a:cs typeface="Noto Sans CJK SC"/>
              </a:rPr>
              <a:t>https://github.com/vllm-project/vllm-omni/blob/d5a3380103df2fc827f095c60dbfb6e1c5655fd3/vllm_omni/engine/stage_pool.py#L574-L609</a:t>
            </a:r>
          </a:p>
          <a:p>
            <a:r>
              <a:rPr lang="zh-CN">
                <a:latin typeface="Noto Sans CJK SC"/>
                <a:ea typeface="Noto Sans CJK SC"/>
                <a:cs typeface="Noto Sans CJK SC"/>
              </a:rPr>
              <a:t>https://github.com/vllm-project/vllm-omni/blob/d5a3380103df2fc827f095c60dbfb6e1c5655fd3/vllm_omni/engine/duplex_orchestrator.py#L393-L424</a:t>
            </a:r>
          </a:p>
          <a:p>
            <a:r>
              <a:rPr lang="zh-CN">
                <a:latin typeface="Noto Sans CJK SC"/>
                <a:ea typeface="Noto Sans CJK SC"/>
                <a:cs typeface="Noto Sans CJK SC"/>
              </a:rPr>
              <a:t>https://github.com/vllm-project/vllm-omni/blob/d5a3380103df2fc827f095c60dbfb6e1c5655fd3/vllm_omni/entrypoints/openai/api_server.py#L1880-L1895</a:t>
            </a:r>
          </a:p>
          <a:p>
            <a:r>
              <a:rPr lang="zh-CN">
                <a:latin typeface="Noto Sans CJK SC"/>
                <a:ea typeface="Noto Sans CJK SC"/>
                <a:cs typeface="Noto Sans CJK SC"/>
              </a:rPr>
              <a:t>https://github.com/vllm-project/vllm-omni/blob/d5a3380103df2fc827f095c60dbfb6e1c5655fd3/vllm_omni/model_executor/models/joyai_vl_interaction/pipeline.py</a:t>
            </a:r>
          </a:p>
          <a:p>
            <a:r>
              <a:rPr lang="zh-CN">
                <a:latin typeface="Noto Sans CJK SC"/>
                <a:ea typeface="Noto Sans CJK SC"/>
                <a:cs typeface="Noto Sans CJK SC"/>
              </a:rP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https://github.com/vllm-project/vllm-omni/blob/4c5541cfc17143f80bdb89bbb7a5840b08bb52c6/vllm_omni/deploy/personaplex.yaml</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https://github.com/vllm-project/vllm-omni/blob/712b90de9c7bc14c595b363401588a713a87c02d/vllm_omni/engine/duplex/session/engine_session.py</a:t>
            </a:r>
          </a:p>
          <a:p>
            <a:r>
              <a:rPr lang="zh-CN">
                <a:latin typeface="Noto Sans CJK SC"/>
                <a:ea typeface="Noto Sans CJK SC"/>
                <a:cs typeface="Noto Sans CJK SC"/>
              </a:rPr>
              <a:t>https://github.com/vllm-project/vllm-omni/blob/712b90de9c7bc14c595b363401588a713a87c02d/vllm_omni/engine/duplex/plugin.py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https://github.com/vllm-project/vllm-omni/blob/4c5541cfc17143f80bdb89bbb7a5840b08bb52c6/vllm_omni/engine/duplex/vad.py</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https://github.com/pipecat-ai/smart-turn</a:t>
            </a:r>
          </a:p>
          <a:p>
            <a:r>
              <a:rPr lang="zh-CN">
                <a:latin typeface="Noto Sans CJK SC"/>
                <a:ea typeface="Noto Sans CJK SC"/>
                <a:cs typeface="Noto Sans CJK SC"/>
              </a:rPr>
              <a:t>https://huggingface.co/pipecat-ai/smart-turn-v3.2</a:t>
            </a:r>
          </a:p>
          <a:p>
            <a:r>
              <a:rPr lang="zh-CN">
                <a:latin typeface="Noto Sans CJK SC"/>
                <a:ea typeface="Noto Sans CJK SC"/>
                <a:cs typeface="Noto Sans CJK SC"/>
              </a:rPr>
              <a:t>https://docs.livekit.io/agents/logic/turns/turn-detector/</a:t>
            </a:r>
          </a:p>
          <a:p>
            <a:r>
              <a:rPr lang="zh-CN">
                <a:latin typeface="Noto Sans CJK SC"/>
                <a:ea typeface="Noto Sans CJK SC"/>
                <a:cs typeface="Noto Sans CJK SC"/>
              </a:rPr>
              <a:t>https://developers.openai.com/api/docs/guides/realtime-vad</a:t>
            </a:r>
          </a:p>
          <a:p>
            <a:r>
              <a:rPr lang="zh-CN">
                <a:latin typeface="Noto Sans CJK SC"/>
                <a:ea typeface="Noto Sans CJK SC"/>
                <a:cs typeface="Noto Sans CJK SC"/>
              </a:rPr>
              <a:t>https://github.com/vllm-project/vllm-omni/blob/712b90de9c7bc14c595b363401588a713a87c02d/vllm_omni/engine/duplex/turn_detection.py</a:t>
            </a:r>
          </a:p>
          <a:p>
            <a:r>
              <a:rPr lang="zh-CN">
                <a:latin typeface="Noto Sans CJK SC"/>
                <a:ea typeface="Noto Sans CJK SC"/>
                <a:cs typeface="Noto Sans CJK SC"/>
              </a:rPr>
              <a:t>https://github.com/vllm-project/vllm-omni/blob/712b90de9c7bc14c595b363401588a713a87c02d/vllm_omni/engine/duplex/vad.py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https://github.com/snakers4/silero-vad</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https://github.com/vllm-project/vllm-omni/blob/4c5541cfc17143f80bdb89bbb7a5840b08bb52c6/vllm_omni/config/stage_config.py</a:t>
            </a:r>
          </a:p>
          <a:p>
            <a:r>
              <a:rPr lang="zh-CN">
                <a:latin typeface="Noto Sans CJK SC"/>
                <a:ea typeface="Noto Sans CJK SC"/>
                <a:cs typeface="Noto Sans CJK SC"/>
              </a:rPr>
              <a:t>https://github.com/vllm-project/vllm-omni/blob/4c5541cfc17143f80bdb89bbb7a5840b08bb52c6/vllm_omni/engine/duplex/session/lease.py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让语音会话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PersonaPlex · 实时语音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lang="zh-CN">
                <a:solidFill>
                  <a:srgbClr val="AFCAE7"/>
                </a:solidFill>
                <a:latin typeface="Noto Sans CJK SC"/>
                <a:ea typeface="Noto Sans CJK SC"/>
                <a:cs typeface="Noto Sans CJK SC"/>
              </a:rPr>
              <a:t>预设音色与角色 · 持续语音输入</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用户与助手语音交叠</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助手回应期间，</a:t>
            </a:r>
          </a:p>
          <a:p>
            <a:pPr algn="l">
              <a:lnSpc>
                <a:spcPct val="110000"/>
              </a:lnSpc>
              <a:spcAft>
                <a:spcPts val="0"/>
              </a:spcAft>
            </a:pPr>
            <a:r>
              <a:rPr sz="1700" b="0" lang="zh-CN">
                <a:solidFill>
                  <a:srgbClr val="586B7E"/>
                </a:solidFill>
                <a:latin typeface="Noto Sans CJK SC"/>
                <a:ea typeface="Noto Sans CJK SC"/>
                <a:cs typeface="Noto Sans CJK SC"/>
              </a:rPr>
              <a:t>仍持续接收用户语音。</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语音边生成边输出，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 · 客户端 / 服务端控制</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取消当前 response，同时停止客户端播放。</a:t>
            </a:r>
          </a:p>
          <a:p>
            <a:pPr algn="l">
              <a:lnSpc>
                <a:spcPct val="110000"/>
              </a:lnSpc>
              <a:spcAft>
                <a:spcPts val="0"/>
              </a:spcAft>
            </a:pPr>
            <a:r>
              <a:rPr sz="1250" b="0" lang="zh-CN">
                <a:solidFill>
                  <a:srgbClr val="142B45"/>
                </a:solidFill>
                <a:latin typeface="Noto Sans CJK SC"/>
                <a:ea typeface="Noto Sans CJK SC"/>
                <a:cs typeface="Noto Sans CJK SC"/>
              </a:rPr>
              <a:t>支持相应策略的模型也可由 Server VAD 触发。</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 · 模型自主让出话语权</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模型结合新输入，自主决定何时让出话语权。</a:t>
            </a:r>
          </a:p>
          <a:p>
            <a:pPr algn="l">
              <a:lnSpc>
                <a:spcPct val="110000"/>
              </a:lnSpc>
              <a:spcAft>
                <a:spcPts val="0"/>
              </a:spcAft>
            </a:pPr>
            <a:r>
              <a:rPr sz="1250" b="0" lang="zh-CN">
                <a:solidFill>
                  <a:srgbClr val="142B45"/>
                </a:solidFill>
                <a:latin typeface="Noto Sans CJK SC"/>
                <a:ea typeface="Noto Sans CJK SC"/>
                <a:cs typeface="Noto Sans CJK SC"/>
              </a:rPr>
              <a:t>PersonaPlex 的这一路径不依赖 Server VAD。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各模型的 demo 控制方式不同；Qwen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边生成语音，边处理用户语音</a:t>
            </a:r>
          </a:p>
          <a:p>
            <a:pPr algn="l">
              <a:lnSpc>
                <a:spcPct val="110000"/>
              </a:lnSpc>
              <a:spcAft>
                <a:spcPts val="0"/>
              </a:spcAft>
            </a:pPr>
            <a:r>
              <a:rPr sz="1180" b="0" lang="zh-CN">
                <a:solidFill>
                  <a:srgbClr val="142B45"/>
                </a:solidFill>
                <a:latin typeface="Noto Sans CJK SC"/>
                <a:ea typeface="Noto Sans CJK SC"/>
                <a:cs typeface="Noto Sans CJK SC"/>
              </a:rPr>
              <a:t>音色与角色设定在本次会话中保持不变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管理有界 output buffer，清理过期会话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 / 会话操作</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路由 command 与 event；Orchestrator 协调会话执行。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Stage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lang="zh-CN">
                <a:solidFill>
                  <a:srgbClr val="586B7E"/>
                </a:solidFill>
                <a:latin typeface="Noto Sans CJK SC"/>
                <a:ea typeface="Noto Sans CJK SC"/>
                <a:cs typeface="Noto Sans CJK SC"/>
              </a:rPr>
              <a:t>Scheduler · Worker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构造输入 → 提交 Stage 执行</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Native：追加到持续请求 · Turn-based：commit 后启动新请求 · 两种模式均可持续接收输入</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PersonaPlex 与 MiniCPM 续用活跃模型状态；AURA 与 Qwen3-Omni 每个 turn 重建输入。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 帧</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Stage 0 保留 KV 与 encoder state；Stage 1 保留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792724"/>
            <a:ext cx="8275320" cy="310896"/>
          </a:xfrm>
          <a:prstGeom prst="rect">
            <a:avLst/>
          </a:prstGeom>
          <a:noFill/>
        </p:spPr>
        <p:txBody>
          <a:bodyPr wrap="square" lIns="0" rIns="0" tIns="0" bIns="0" anchor="t">
            <a:spAutoFit/>
          </a:bodyPr>
          <a:lstStyle/>
          <a:p>
            <a:pPr algn="l">
              <a:lnSpc>
                <a:spcPct val="110000"/>
              </a:lnSpc>
              <a:spcAft>
                <a:spcPts val="0"/>
              </a:spcAft>
            </a:pPr>
            <a:r>
              <a:rPr sz="910" b="0" lang="zh-CN">
                <a:solidFill>
                  <a:srgbClr val="142B45"/>
                </a:solidFill>
                <a:latin typeface="Noto Sans CJK SC"/>
                <a:ea typeface="Noto Sans CJK SC"/>
                <a:cs typeface="Noto Sans CJK SC"/>
              </a:rPr>
              <a:t>AURA：Thinker 完成后，下一轮可开始处理，同时上一轮仍在合成语音。</a:t>
            </a:r>
          </a:p>
          <a:p>
            <a:pPr algn="l">
              <a:lnSpc>
                <a:spcPct val="110000"/>
              </a:lnSpc>
              <a:spcAft>
                <a:spcPts val="0"/>
              </a:spcAft>
            </a:pPr>
            <a:r>
              <a:rPr sz="910" b="0" lang="zh-CN">
                <a:solidFill>
                  <a:srgbClr val="142B45"/>
                </a:solidFill>
                <a:latin typeface="Noto Sans CJK SC"/>
                <a:ea typeface="Noto Sans CJK SC"/>
                <a:cs typeface="Noto Sans CJK SC"/>
              </a:rPr>
              <a:t>Qwen3-Omni：Thinker → Talker → Code2Wav，没有独立的 ASR Stage。</a:t>
            </a:r>
          </a:p>
        </p:txBody>
      </p:sp>
      <p:sp>
        <p:nvSpPr>
          <p:cNvPr id="63" name="TextBox 62"/>
          <p:cNvSpPr txBox="1"/>
          <p:nvPr/>
        </p:nvSpPr>
        <p:spPr>
          <a:xfrm>
            <a:off x="722376" y="6199632"/>
            <a:ext cx="10753344" cy="173736"/>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 = 一个模型计算阶段；Replica = 该 Stage 的一个执行实例。</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音频帧 → 继续活跃请求</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Temporal KV + Mimi encoder / decoder 流式状态</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音视频</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LLM KV + 流式音频状态</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请求内 TTS 状态</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LISTEN 保留活跃请求；后续输入复用已绑定的 Replica 和保留的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支持 session resume：MiniCPM-o 4.5、AURA、Qwen3-Omni 与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在 session 有效期间，重新连接到同一个仍存活的 API 进程。</a:t>
            </a:r>
          </a:p>
          <a:p>
            <a:pPr algn="l">
              <a:lnSpc>
                <a:spcPct val="110000"/>
              </a:lnSpc>
              <a:spcAft>
                <a:spcPts val="0"/>
              </a:spcAft>
            </a:pPr>
            <a:r>
              <a:rPr sz="1150" b="0" lang="zh-CN">
                <a:solidFill>
                  <a:srgbClr val="586B7E"/>
                </a:solidFill>
                <a:latin typeface="Noto Sans CJK SC"/>
                <a:ea typeface="Noto Sans CJK SC"/>
                <a:cs typeface="Noto Sans CJK SC"/>
              </a:rPr>
              <a:t>事件 replay 依赖保留窗口；进程重启后需新建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保存 session ID 与最新的 resume token；</a:t>
            </a:r>
          </a:p>
          <a:p>
            <a:pPr algn="l">
              <a:lnSpc>
                <a:spcPct val="110000"/>
              </a:lnSpc>
              <a:spcAft>
                <a:spcPts val="0"/>
              </a:spcAft>
            </a:pPr>
            <a:r>
              <a:rPr sz="1180" b="0" lang="zh-CN">
                <a:solidFill>
                  <a:srgbClr val="142B45"/>
                </a:solidFill>
                <a:latin typeface="Noto Sans CJK SC"/>
                <a:ea typeface="Noto Sans CJK SC"/>
                <a:cs typeface="Noto Sans CJK SC"/>
              </a:rPr>
              <a:t>Python WebSocket SDK 会管理这两项凭据。</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新连接的首条消息发送 session.resume；</a:t>
            </a:r>
          </a:p>
          <a:p>
            <a:pPr algn="l">
              <a:lnSpc>
                <a:spcPct val="110000"/>
              </a:lnSpc>
              <a:spcAft>
                <a:spcPts val="0"/>
              </a:spcAft>
            </a:pPr>
            <a:r>
              <a:rPr sz="1150" b="0" lang="zh-CN">
                <a:solidFill>
                  <a:srgbClr val="142B45"/>
                </a:solidFill>
                <a:latin typeface="Noto Sans CJK SC"/>
                <a:ea typeface="Noto Sans CJK SC"/>
                <a:cs typeface="Noto Sans CJK SC"/>
              </a:rPr>
              <a:t>保存 session.resumed 返回的新 token。</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提供最后接收的 event sequence。</a:t>
            </a:r>
          </a:p>
          <a:p>
            <a:pPr algn="l">
              <a:lnSpc>
                <a:spcPct val="110000"/>
              </a:lnSpc>
              <a:spcAft>
                <a:spcPts val="0"/>
              </a:spcAft>
            </a:pPr>
            <a:r>
              <a:rPr sz="1150" b="0" lang="zh-CN">
                <a:solidFill>
                  <a:srgbClr val="142B45"/>
                </a:solidFill>
                <a:latin typeface="Noto Sans CJK SC"/>
                <a:ea typeface="Noto Sans CJK SC"/>
                <a:cs typeface="Noto Sans CJK SC"/>
              </a:rPr>
              <a:t>若所需事件已缺失，则新建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保留解码状态，只处理新增的音频 chunk。</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并发 8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 · 8 个并发请求 · 2026 年 10 月 5–8 日每日测试。</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输出音频时长；图中为请求平均值。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结合 OmniInteract、Omni-DuplexEval 与延迟、流式输出指标，评估实时交互。</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输入流开始</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输入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输入 / 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首音频延迟</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Stream TTFP · p50 / p95</a:t>
            </a:r>
          </a:p>
          <a:p>
            <a:pPr algn="l">
              <a:lnSpc>
                <a:spcPct val="110000"/>
              </a:lnSpc>
              <a:spcAft>
                <a:spcPts val="0"/>
              </a:spcAft>
            </a:pPr>
            <a:r>
              <a:rPr sz="1030" b="0" lang="zh-CN">
                <a:solidFill>
                  <a:srgbClr val="21364E"/>
                </a:solidFill>
                <a:latin typeface="Noto Sans CJK SC"/>
                <a:ea typeface="Noto Sans CJK SC"/>
                <a:cs typeface="Noto Sans CJK SC"/>
              </a:rPr>
              <a:t>输入开始 → 收到首个音频包</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Response RTF · chunk 间隔</a:t>
            </a:r>
          </a:p>
          <a:p>
            <a:pPr algn="l">
              <a:lnSpc>
                <a:spcPct val="110000"/>
              </a:lnSpc>
              <a:spcAft>
                <a:spcPts val="0"/>
              </a:spcAft>
            </a:pPr>
            <a:r>
              <a:rPr sz="1030" b="0" lang="zh-CN">
                <a:solidFill>
                  <a:srgbClr val="21364E"/>
                </a:solidFill>
                <a:latin typeface="Noto Sans CJK SC"/>
                <a:ea typeface="Noto Sans CJK SC"/>
                <a:cs typeface="Noto Sans CJK SC"/>
              </a:rPr>
              <a:t>停顿与播放缓冲</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交互质量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何时回应 · 回应内容</a:t>
            </a:r>
          </a:p>
          <a:p>
            <a:pPr algn="l">
              <a:lnSpc>
                <a:spcPct val="110000"/>
              </a:lnSpc>
              <a:spcAft>
                <a:spcPts val="0"/>
              </a:spcAft>
            </a:pPr>
            <a:r>
              <a:rPr sz="1030" b="0" lang="zh-CN">
                <a:solidFill>
                  <a:srgbClr val="21364E"/>
                </a:solidFill>
                <a:latin typeface="Noto Sans CJK SC"/>
                <a:ea typeface="Noto Sans CJK SC"/>
                <a:cs typeface="Noto Sans CJK SC"/>
              </a:rPr>
              <a:t>音视频理解</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TTFP 衡量首包到达时间；真正何时开始回答，需结合交互测评判断。</a:t>
            </a:r>
          </a:p>
          <a:p>
            <a:pPr algn="l">
              <a:lnSpc>
                <a:spcPct val="110000"/>
              </a:lnSpc>
              <a:spcAft>
                <a:spcPts val="0"/>
              </a:spcAft>
            </a:pPr>
            <a:r>
              <a:rPr sz="1050" b="0" lang="zh-CN">
                <a:solidFill>
                  <a:srgbClr val="586B7E"/>
                </a:solidFill>
                <a:latin typeface="Noto Sans CJK SC"/>
                <a:ea typeface="Noto Sans CJK SC"/>
                <a:cs typeface="Noto Sans CJK SC"/>
              </a:rPr>
              <a:t>比较指标时需统一计时窗口；测评覆盖范围因模型而异。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基于已有工具调用路径，扩展更多模型在统一双工框架中的支持。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工具调用解析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 native duplex 中的工具调用与结果回填</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下一步：扩展统一双工工具调用支持</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框架提供公共处理逻辑，各模型通过 plugin 适配。</a:t>
                      </a:r>
                    </a:p>
                    <a:p>
                      <a:pPr>
                        <a:lnSpc>
                          <a:spcPct val="108000"/>
                        </a:lnSpc>
                        <a:spcAft>
                          <a:spcPts val="0"/>
                        </a:spcAft>
                      </a:pPr>
                      <a:r>
                        <a:rPr sz="1400" b="0" lang="zh-CN">
                          <a:solidFill>
                            <a:srgbClr val="16304E"/>
                          </a:solidFill>
                          <a:latin typeface="Noto Sans CJK SC"/>
                          <a:ea typeface="Noto Sans CJK SC"/>
                          <a:cs typeface="Noto Sans CJK SC"/>
                        </a:rPr>
                        <a:t>扩展 Qwen3-Omni unified duplex、AURA 与 JoyAI 的支持。</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扩展更多模型的工具调用支持</a:t>
            </a:r>
          </a:p>
          <a:p>
            <a:pPr algn="l">
              <a:lnSpc>
                <a:spcPct val="106000"/>
              </a:lnSpc>
              <a:spcAft>
                <a:spcPts val="0"/>
              </a:spcAft>
            </a:pPr>
            <a:r>
              <a:rPr sz="1400" b="0" lang="zh-CN">
                <a:solidFill>
                  <a:srgbClr val="586B7E"/>
                </a:solidFill>
                <a:latin typeface="Noto Sans CJK SC"/>
                <a:ea typeface="Noto Sans CJK SC"/>
                <a:cs typeface="Noto Sans CJK SC"/>
              </a:rPr>
              <a:t>处理打断、超时与迟到结果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扩展到多个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在现有 Stage replica 支持上继续扩展</a:t>
            </a:r>
          </a:p>
          <a:p>
            <a:pPr algn="l">
              <a:lnSpc>
                <a:spcPct val="106000"/>
              </a:lnSpc>
              <a:spcAft>
                <a:spcPts val="0"/>
              </a:spcAft>
            </a:pPr>
            <a:r>
              <a:rPr sz="1400" b="0" lang="zh-CN">
                <a:solidFill>
                  <a:srgbClr val="586B7E"/>
                </a:solidFill>
                <a:latin typeface="Noto Sans CJK SC"/>
                <a:ea typeface="Noto Sans CJK SC"/>
                <a:cs typeface="Noto Sans CJK SC"/>
              </a:rPr>
              <a:t>增加跨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同机 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检测停顿，再由 turn-end detector 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可在静音后自动 commit。</a:t>
                      </a:r>
                    </a:p>
                    <a:p>
                      <a:pPr algn="l">
                        <a:lnSpc>
                          <a:spcPct val="106000"/>
                        </a:lnSpc>
                        <a:spcAft>
                          <a:spcPts val="0"/>
                        </a:spcAft>
                      </a:pPr>
                      <a:r>
                        <a:rPr sz="1420" b="0" lang="zh-CN">
                          <a:solidFill>
                            <a:srgbClr val="16304E"/>
                          </a:solidFill>
                          <a:latin typeface="Noto Sans CJK SC"/>
                          <a:ea typeface="Noto Sans CJK SC"/>
                          <a:cs typeface="Noto Sans CJK SC"/>
                        </a:rPr>
                        <a:t>按配置决定是否生成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轻量模型可在 CPU 上运行</a:t>
                      </a:r>
                    </a:p>
                    <a:p>
                      <a:pPr algn="l">
                        <a:lnSpc>
                          <a:spcPct val="106000"/>
                        </a:lnSpc>
                        <a:spcAft>
                          <a:spcPts val="0"/>
                        </a:spcAft>
                      </a:pPr>
                      <a:r>
                        <a:rPr sz="1420" b="0" lang="zh-CN">
                          <a:solidFill>
                            <a:srgbClr val="16304E"/>
                          </a:solidFill>
                          <a:latin typeface="Noto Sans CJK SC"/>
                          <a:ea typeface="Noto Sans CJK SC"/>
                          <a:cs typeface="Noto Sans CJK SC"/>
                        </a:rPr>
                        <a:t>较重模型：计划接入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Server VAD：Runner 执行 commit / cancel 策略；检测计算在其事件循环之外运行。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终止生成，丢弃尚未发出的输出</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session ID + 最新 resume token</a:t>
            </a:r>
          </a:p>
          <a:p>
            <a:pPr algn="l">
              <a:lnSpc>
                <a:spcPct val="110000"/>
              </a:lnSpc>
              <a:spcAft>
                <a:spcPts val="0"/>
              </a:spcAft>
            </a:pPr>
            <a:r>
              <a:rPr sz="1200" b="0" lang="zh-CN">
                <a:solidFill>
                  <a:srgbClr val="21364E"/>
                </a:solidFill>
                <a:latin typeface="Noto Sans CJK SC"/>
                <a:ea typeface="Noto Sans CJK SC"/>
                <a:cs typeface="Noto Sans CJK SC"/>
              </a:rPr>
              <a:t>成功续接后 token 会更新</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最后接收的 event sequence</a:t>
            </a:r>
          </a:p>
          <a:p>
            <a:pPr algn="l">
              <a:lnSpc>
                <a:spcPct val="110000"/>
              </a:lnSpc>
              <a:spcAft>
                <a:spcPts val="0"/>
              </a:spcAft>
            </a:pPr>
            <a:r>
              <a:rPr sz="1250" b="0" lang="zh-CN">
                <a:solidFill>
                  <a:srgbClr val="21364E"/>
                </a:solidFill>
                <a:latin typeface="Noto Sans CJK SC"/>
                <a:ea typeface="Noto Sans CJK SC"/>
                <a:cs typeface="Noto Sans CJK SC"/>
              </a:rPr>
              <a:t>所需事件缺失时需新建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默认：断连 grace 30s · idle TTL 300s · replay 60s / 8 MiB。</a:t>
            </a:r>
          </a:p>
          <a:p>
            <a:pPr algn="l">
              <a:lnSpc>
                <a:spcPct val="110000"/>
              </a:lnSpc>
              <a:spcAft>
                <a:spcPts val="0"/>
              </a:spcAft>
            </a:pPr>
            <a:r>
              <a:rPr sz="1050" b="0" lang="zh-CN">
                <a:solidFill>
                  <a:srgbClr val="586B7E"/>
                </a:solidFill>
                <a:latin typeface="Noto Sans CJK SC"/>
                <a:ea typeface="Noto Sans CJK SC"/>
                <a:cs typeface="Noto Sans CJK SC"/>
              </a:rPr>
              <a:t>客户端需另行停止已缓存的播放音频；session resume 依赖同一个仍存活的 API 进程。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2026-10-09T10:58:20Z</dcterms:modified>
  <cp:category/>
</cp:coreProperties>
</file>