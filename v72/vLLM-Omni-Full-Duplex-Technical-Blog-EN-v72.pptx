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85" r:id="rIdAgendaV71"/>
    <p:sldId id="256" r:id="rId7"/>
    <p:sldId id="261" r:id="rId12"/>
    <p:sldId id="257" r:id="rId8"/>
    <p:sldId id="258" r:id="rId9"/>
    <p:sldId id="259" r:id="rId10"/>
    <p:sldId id="260" r:id="rId11"/>
    <p:sldId id="262" r:id="rId13"/>
    <p:sldId id="280" r:id="rId30"/>
    <p:sldId id="271" r:id="rId21"/>
    <p:sldId id="282" r:id="rId32"/>
    <p:sldId id="268" r:id="rId20"/>
    <p:sldId id="269" r:id="rId15"/>
    <p:sldId id="284" r:id="rIdModelVadAppendix"/>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 Id="rIdModelVadAppendix" Type="http://schemas.openxmlformats.org/officeDocument/2006/relationships/slide" Target="slides/slide19.xml"/><Relationship Id="rIdAgendaV71"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7000000000000002"/>
          <c:w val="0.73999999999999999"/>
          <c:h val="0.56999999999999995"/>
        </c:manualLayout>
      </c:layout>
      <c:lineChart>
        <c:grouping val="standard"/>
        <c:ser>
          <c:idx val="0"/>
          <c:order val="0"/>
          <c:tx>
            <c:v>1 concurrent request</c:v>
          </c:tx>
          <c:spPr>
            <a:ln w="31750">
              <a:solidFill>
                <a:srgbClr val="347FF0"/>
              </a:solidFill>
            </a:ln>
          </c:spPr>
          <c:marker>
            <c:symbol val="circle"/>
            <c:size val="3.5"/>
            <c:spPr>
              <a:solidFill>
                <a:srgbClr val="347FF0"/>
              </a:solidFill>
              <a:ln>
                <a:solidFill>
                  <a:srgbClr val="347FF0"/>
                </a:solidFill>
              </a:ln>
            </c:spPr>
          </c:marker>
          <c:dLbls>
            <c:dLbl>
              <c:idx val="0"/>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Data!$B$2:$B$31</c:f>
              <c:numCache>
                <c:formatCode>General</c:formatCode>
                <c:ptCount val="30"/>
                <c:pt idx="0">
                  <c:v>0.2796372324453467</c:v>
                </c:pt>
                <c:pt idx="1">
                  <c:v>0.3057066610116239</c:v>
                </c:pt>
                <c:pt idx="2">
                  <c:v>0.2862686890393618</c:v>
                </c:pt>
                <c:pt idx="3">
                  <c:v>0.2996849285750839</c:v>
                </c:pt>
                <c:pt idx="4">
                  <c:v>0.2814201706698345</c:v>
                </c:pt>
                <c:pt idx="5">
                  <c:v>0.3354380315932828</c:v>
                </c:pt>
                <c:pt idx="6">
                  <c:v>0.292886297319142</c:v>
                </c:pt>
                <c:pt idx="9">
                  <c:v>0.2566866281425211</c:v>
                </c:pt>
                <c:pt idx="10">
                  <c:v>0.2574453724335966</c:v>
                </c:pt>
                <c:pt idx="11">
                  <c:v>0.2658440473115476</c:v>
                </c:pt>
                <c:pt idx="12">
                  <c:v>0.26640340325851</c:v>
                </c:pt>
                <c:pt idx="13">
                  <c:v>0.2516296008271153</c:v>
                </c:pt>
                <c:pt idx="14">
                  <c:v>0.2643693599131755</c:v>
                </c:pt>
                <c:pt idx="15">
                  <c:v>0.2615320184411149</c:v>
                </c:pt>
                <c:pt idx="16">
                  <c:v>0.2698624881757311</c:v>
                </c:pt>
                <c:pt idx="17">
                  <c:v>0.2402596326001973</c:v>
                </c:pt>
                <c:pt idx="18">
                  <c:v>0.2342349890436853</c:v>
                </c:pt>
                <c:pt idx="19">
                  <c:v>0.2309197556005091</c:v>
                </c:pt>
                <c:pt idx="20">
                  <c:v>0.2321438143465041</c:v>
                </c:pt>
                <c:pt idx="21">
                  <c:v>0.2360356775189957</c:v>
                </c:pt>
                <c:pt idx="22">
                  <c:v>0.225033587387731</c:v>
                </c:pt>
                <c:pt idx="23">
                  <c:v>0.232949219429914</c:v>
                </c:pt>
                <c:pt idx="24">
                  <c:v>0.2339812625105425</c:v>
                </c:pt>
                <c:pt idx="25">
                  <c:v>0.2321937609004436</c:v>
                </c:pt>
                <c:pt idx="26">
                  <c:v>0.2199261068144891</c:v>
                </c:pt>
                <c:pt idx="27">
                  <c:v>0.1984515588338899</c:v>
                </c:pt>
                <c:pt idx="28">
                  <c:v>0.2004860409658522</c:v>
                </c:pt>
                <c:pt idx="29">
                  <c:v>0.1980657252767292</c:v>
                </c:pt>
              </c:numCache>
            </c:numRef>
          </c:val>
          <c:smooth val="0"/>
        </c:ser>
        <c:ser>
          <c:idx val="1"/>
          <c:order val="1"/>
          <c:tx>
            <c:v>8 concurrent requests</c:v>
          </c:tx>
          <c:spPr>
            <a:ln w="31750">
              <a:solidFill>
                <a:srgbClr val="008E96"/>
              </a:solidFill>
            </a:ln>
          </c:spPr>
          <c:marker>
            <c:symbol val="circle"/>
            <c:size val="3.5"/>
            <c:spPr>
              <a:solidFill>
                <a:srgbClr val="008E96"/>
              </a:solidFill>
              <a:ln>
                <a:solidFill>
                  <a:srgbClr val="008E96"/>
                </a:solidFill>
              </a:ln>
            </c:spPr>
          </c:marker>
          <c:dLbls>
            <c:dLbl>
              <c:idx val="0"/>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Data!$C$2:$C$31</c:f>
              <c:numCache>
                <c:formatCode>General</c:formatCode>
                <c:ptCount val="30"/>
                <c:pt idx="0">
                  <c:v>1.594658488735538</c:v>
                </c:pt>
                <c:pt idx="1">
                  <c:v>1.639119254901777</c:v>
                </c:pt>
                <c:pt idx="2">
                  <c:v>1.600506823076087</c:v>
                </c:pt>
                <c:pt idx="3">
                  <c:v>1.533075325540891</c:v>
                </c:pt>
                <c:pt idx="4">
                  <c:v>1.427439952879524</c:v>
                </c:pt>
                <c:pt idx="5">
                  <c:v>1.548777177390953</c:v>
                </c:pt>
                <c:pt idx="6">
                  <c:v>1.443613136566437</c:v>
                </c:pt>
                <c:pt idx="9">
                  <c:v>1.223237542270912</c:v>
                </c:pt>
                <c:pt idx="10">
                  <c:v>1.214442790468634</c:v>
                </c:pt>
                <c:pt idx="11">
                  <c:v>1.203165919083194</c:v>
                </c:pt>
                <c:pt idx="12">
                  <c:v>1.228476333626099</c:v>
                </c:pt>
                <c:pt idx="13">
                  <c:v>1.216958569393258</c:v>
                </c:pt>
                <c:pt idx="14">
                  <c:v>1.234337931990434</c:v>
                </c:pt>
                <c:pt idx="15">
                  <c:v>1.229611216873418</c:v>
                </c:pt>
                <c:pt idx="16">
                  <c:v>1.150527558844016</c:v>
                </c:pt>
                <c:pt idx="17">
                  <c:v>1.163503890476065</c:v>
                </c:pt>
                <c:pt idx="18">
                  <c:v>1.136492505645574</c:v>
                </c:pt>
                <c:pt idx="19">
                  <c:v>1.119524658925677</c:v>
                </c:pt>
                <c:pt idx="20">
                  <c:v>0.957241651854932</c:v>
                </c:pt>
                <c:pt idx="21">
                  <c:v>0.9713509255918522</c:v>
                </c:pt>
                <c:pt idx="22">
                  <c:v>0.9541174115557042</c:v>
                </c:pt>
                <c:pt idx="23">
                  <c:v>0.9149869953254338</c:v>
                </c:pt>
                <c:pt idx="24">
                  <c:v>0.9561431470835395</c:v>
                </c:pt>
                <c:pt idx="25">
                  <c:v>0.9721078984292808</c:v>
                </c:pt>
                <c:pt idx="26">
                  <c:v>0.9844461966498954</c:v>
                </c:pt>
                <c:pt idx="27">
                  <c:v>0.7430039011861929</c:v>
                </c:pt>
                <c:pt idx="28">
                  <c:v>0.5597075615335489</c:v>
                </c:pt>
                <c:pt idx="29">
                  <c:v>0.4902875810555307</c:v>
                </c:pt>
              </c:numCache>
            </c:numRef>
          </c:val>
          <c:smooth val="0"/>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050" baseline="0">
                <a:solidFill>
                  <a:srgbClr val="526985"/>
                </a:solidFill>
                <a:latin typeface="Arial"/>
              </a:defRPr>
            </a:pPr>
            <a:endParaRPr lang="en-US"/>
          </a:p>
        </c:txPr>
        <c:crossAx val="50010002"/>
        <c:crosses val="autoZero"/>
        <c:auto val="1"/>
        <c:lblAlgn val="ctr"/>
        <c:lblOffset val="100"/>
        <c:tickLblSkip val="7"/>
      </c:catAx>
      <c:valAx>
        <c:axId val="50010002"/>
        <c:scaling>
          <c:orientation val="minMax"/>
          <c:max val="1.8"/>
          <c:min val="0"/>
        </c:scaling>
        <c:axPos val="l"/>
        <c:majorGridlines>
          <c:spPr>
            <a:ln w="9525">
              <a:solidFill>
                <a:srgbClr val="DFE7EF"/>
              </a:solidFill>
            </a:ln>
          </c:spPr>
        </c:majorGridlines>
        <c:title>
          <c:tx>
            <c:rich>
              <a:bodyPr rot="-5400000" vert="horz"/>
              <a:lstStyle/>
              <a:p>
                <a:pPr>
                  <a:defRPr sz="1050" baseline="0">
                    <a:solidFill>
                      <a:srgbClr val="526985"/>
                    </a:solidFill>
                    <a:latin typeface="Arial"/>
                  </a:defRPr>
                </a:pPr>
                <a:r>
                  <a:rPr lang="en-US" sz="105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050" baseline="0">
                <a:solidFill>
                  <a:srgbClr val="526985"/>
                </a:solidFill>
                <a:latin typeface="Arial"/>
              </a:defRPr>
            </a:pPr>
            <a:endParaRPr lang="en-US"/>
          </a:p>
        </c:txPr>
        <c:crossAx val="50010001"/>
        <c:crosses val="autoZero"/>
        <c:crossBetween val="midCat"/>
        <c:majorUnit val="0.6"/>
      </c:valAx>
      <c:spPr>
        <a:solidFill>
          <a:srgbClr val="FFFFFF"/>
        </a:solidFill>
        <a:ln>
          <a:noFill/>
        </a:ln>
      </c:spPr>
    </c:plotArea>
    <c:legend>
      <c:legendPos val="t"/>
      <c:layout/>
      <c:txPr>
        <a:bodyPr/>
        <a:lstStyle/>
        <a:p>
          <a:pPr>
            <a:defRPr sz="1050" baseline="0">
              <a:solidFill>
                <a:srgbClr val="526985"/>
              </a:solidFill>
              <a:latin typeface="Arial"/>
            </a:defRPr>
          </a:pPr>
          <a:endParaRPr lang="en-US"/>
        </a:p>
      </c:txPr>
    </c:legend>
    <c:plotVisOnly val="1"/>
    <c:dispBlanksAs val="gap"/>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SI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Duplex is the community-wide serving scope. Contributions cover native-duplex models and turn-based models served through duplex sessions; this title does not claim that every model is natively full duplex.</a:t>
            </a:r>
          </a:p>
          <a:p>
            <a:r>
              <a:t/>
            </a:r>
          </a:p>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a:p>
            <a:r>
              <a:t/>
            </a:r>
          </a:p>
          <a:p>
            <a:r>
              <a:t>PR #7644 bounds each session output buffer and rejects cancelled audio before delivery. The client must still stop audio already received.</a:t>
            </a:r>
          </a:p>
          <a:p>
            <a:r>
              <a:t>Source: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interaction experiences. Half-duplex means input and output take turns in the illustrated client experience; it is not a label for every turn-based model or transport. The half-duplex camera frames likewise accompany the accepted input segments. Full-duplex allows incoming user speech to overlap assistant output, with camera input continuing in this illustrated multimodal configuration. Waveform spacing is schematic, not a latency benchmark. Camera/video support depends on the model and configuration.</a:t>
            </a:r>
          </a:p>
          <a:p>
            <a:r>
              <a:t/>
            </a:r>
          </a:p>
          <a:p>
            <a:r>
              <a:t>Streamed responses are a shared capability: a turn-based or half-duplex experience can still generate and deliver audio/text incrementally. Native duplex models add the ability to use ongoing input within model execution to influence subsequent output or choose to yield. Qwen3-Omni + Server VAD instead buffers committed turns and supports externally triggered interruption; that distinction is detailed in Appendix A2. The detailed diagram and explicit-cancel versus VAD paths have been relocated there.</a:t>
            </a:r>
          </a:p>
          <a:p>
            <a:r>
              <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compares input handling with response control. PersonaPlex and MiniCPM-o illustrate model-driven behavior; the Qwen3-Omni + Server VAD and AURA demo rows describe configured server/client behavior. These are not universal model requirements. PersonaPlex voice/persona configuration is omitted from this table because it is not a response-control mechanism. The three bottom cards remain unchanged. Server cancellation in the Qwen VAD profile requires interrupt_response.</a:t>
            </a:r>
          </a:p>
          <a:p>
            <a: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t/>
            </a:r>
          </a:p>
          <a:p>
            <a:r>
              <a:t>Sources:</a:t>
            </a:r>
          </a:p>
          <a:p>
            <a:r>
              <a:t>https://github.com/vllm-project/vllm-omni/blob/4c5541cfc17143f80bdb89bbb7a5840b08bb52c6/examples/online_serving/realtime_web/app/static/profiles/qwen3_turn.js</a:t>
            </a:r>
          </a:p>
          <a:p>
            <a:r>
              <a:t>https://github.com/vllm-project/vllm-omni/blob/4c5541cfc17143f80bdb89bbb7a5840b08bb52c6/examples/online_serving/realtime_web/app/static/profiles/aura_ptt.js</a:t>
            </a:r>
          </a:p>
          <a:p>
            <a:r>
              <a:t>https://github.com/vllm-project/vllm-omni/blob/ee81f33001922f8d91dd09da0a57ee1531a8df82/vllm_omni/model_executor/models/personaplex/duplex/plugin.py#L236-L258</a:t>
            </a:r>
          </a:p>
          <a:p>
            <a:r>
              <a:t>https://github.com/vllm-project/vllm-omni/blob/ee81f33001922f8d91dd09da0a57ee1531a8df82/examples/online_serving/realtime_web/app/static/profiles/qwen3_turn.js#L14-L20</a:t>
            </a:r>
          </a:p>
          <a:p>
            <a:r>
              <a:t>https://github.com/vllm-project/vllm-omni/blob/ee81f33001922f8d91dd09da0a57ee1531a8df82/examples/online_serving/realtime_web/app/static/profiles/aura_ptt.js#L8-L29</a:t>
            </a:r>
          </a:p>
          <a:p>
            <a:r>
              <a:t>https://github.com/vllm-project/vllm-omni/blob/ee81f33001922f8d91dd09da0a57ee1531a8df82/vllm_omni/model_executor/models/aura_omni/duplex/plugin.py#L374-L388</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10/13 remains a MiniCPM benchmark, not a PersonaPlex measurement.</a:t>
            </a:r>
          </a:p>
          <a:p>
            <a:r>
              <a:t/>
            </a:r>
          </a:p>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t/>
            </a:r>
          </a:p>
          <a:p>
            <a:r>
              <a:t>Sources:</a:t>
            </a:r>
          </a:p>
          <a:p>
            <a:r>
              <a:t>https://github.com/vllm-project/vllm-omni/blob/4c5541cfc17143f80bdb89bbb7a5840b08bb52c6/vllm_omni/engine/duplex_omni_engine.py</a:t>
            </a:r>
          </a:p>
          <a:p>
            <a:r>
              <a:t>https://github.com/vllm-project/vllm-omni/blob/4c5541cfc17143f80bdb89bbb7a5840b08bb52c6/vllm_omni/entrypoints/duplex_omni.py</a:t>
            </a:r>
          </a:p>
          <a:p>
            <a:r>
              <a:t>https://github.com/vllm-project/vllm-omni/blob/4c5541cfc17143f80bdb89bbb7a5840b08bb52c6/vllm_omni/engine/duplex/session/manager.py</a:t>
            </a:r>
          </a:p>
          <a:p>
            <a:r>
              <a:t>https://github.com/vllm-project/vllm-omni/blob/712b90de9c7bc14c595b363401588a713a87c02d/vllm_omni/entrypoints/duplex_omni.py</a:t>
            </a:r>
          </a:p>
          <a:p>
            <a:r>
              <a:t>https://github.com/vllm-project/vllm-omni/blob/712b90de9c7bc14c595b363401588a713a87c02d/vllm_omni/engine/duplex_omni_engine.py</a:t>
            </a:r>
          </a:p>
          <a:p>
            <a:r>
              <a:t>https://github.com/vllm-project/vllm-omni/blob/712b90de9c7bc14c595b363401588a713a87c02d/vllm_omni/engine/duplex/session/manager.py</a:t>
            </a:r>
          </a:p>
          <a:p>
            <a:r>
              <a:t>https://github.com/vllm-project/vllm-omni/blob/712b90de9c7bc14c595b363401588a713a87c02d/vllm_omni/engine/duplex/session/runner.py</a:t>
            </a:r>
          </a:p>
          <a:p>
            <a: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t/>
            </a:r>
          </a:p>
          <a:p>
            <a:r>
              <a:t>Sources:</a:t>
            </a:r>
          </a:p>
          <a:p>
            <a:r>
              <a:t>https://github.com/vllm-project/vllm-omni/blob/4c5541cfc17143f80bdb89bbb7a5840b08bb52c6/vllm_omni/engine/duplex/session/runner.py</a:t>
            </a:r>
          </a:p>
          <a:p>
            <a:r>
              <a:t>https://github.com/vllm-project/vllm-omni/blob/4c5541cfc17143f80bdb89bbb7a5840b08bb52c6/vllm_omni/model_executor/models/qwen3_omni/duplex/plugin.py</a:t>
            </a:r>
          </a:p>
          <a:p>
            <a:r>
              <a:t>https://github.com/vllm-project/vllm-omni/blob/4c5541cfc17143f80bdb89bbb7a5840b08bb52c6/vllm_omni/model_executor/models/aura_omni/duplex/plugin.py</a:t>
            </a:r>
          </a:p>
          <a:p>
            <a:r>
              <a:t>https://github.com/vllm-project/vllm-omni/blob/712b90de9c7bc14c595b363401588a713a87c02d/vllm_omni/entrypoints/duplex/serving.py</a:t>
            </a:r>
          </a:p>
          <a:p>
            <a:r>
              <a:t>https://github.com/vllm-project/vllm-omni/blob/712b90de9c7bc14c595b363401588a713a87c02d/vllm_omni/entrypoints/duplex_omni.py</a:t>
            </a:r>
          </a:p>
          <a:p>
            <a:r>
              <a:t>https://github.com/vllm-project/vllm-omni/blob/712b90de9c7bc14c595b363401588a713a87c02d/vllm_omni/engine/duplex/session/manager.py</a:t>
            </a:r>
          </a:p>
          <a:p>
            <a:r>
              <a:t>https://github.com/vllm-project/vllm-omni/blob/712b90de9c7bc14c595b363401588a713a87c02d/vllm_omni/engine/duplex/delivery.py</a:t>
            </a:r>
          </a:p>
          <a:p>
            <a:r>
              <a:t>https://github.com/vllm-project/vllm-omni/blob/712b90de9c7bc14c595b363401588a713a87c02d/vllm_omni/config/stage_config.py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flow for 08/13</a:t>
            </a:r>
          </a:p>
          <a:p>
            <a:r>
              <a:t>Read one model row at a time: incoming media, compute stages, transmitted data, then the state carried into the next input. Stage numbers are local to each model pipeline, not a cross-model execution sequence. The pale rows use the same visual treatment for all models. Blue marks native duplex and teal marks turn-based execution.</a:t>
            </a:r>
          </a:p>
          <a:p>
            <a:r>
              <a:t/>
            </a:r>
          </a:p>
          <a:p>
            <a:r>
              <a:t>PersonaPlex: PCM in, audio codec tokens between stages, PCM out. The client preset sends mono 24 kHz pcm_f32le and receives 24 kHz pcm16 via Base64 WebSocket payloads. The session input buffer groups audio into 1920-sample / 80 ms units; 80 ms is a frame duration, not an end-to-end latency. Stage 0 contains streaming Mimi encoding plus Temporal Transformer and Depformer. The inter-stage adapter selects eight assistant codebooks, compensates their acoustic delays and packs them codebook-major. Stage 1 Mimi decoding emits float32 waveform samples; the output adapter performs the requested wire encoding. Stage 0 retains temporal KV and Mimi encoder state; Stage 1 retains Mimi decoder state. The encoder is not a third Stage and does not run in the API Server or Orchestrator.</a:t>
            </a:r>
          </a:p>
          <a:p>
            <a:r>
              <a:t/>
            </a:r>
          </a:p>
          <a:p>
            <a:r>
              <a:t>MiniCPM-o 4.5: stage 0 is the multimodal LLM; SPEAK passes text and model features to the Talker, followed by codec tokens to Code2Wav. LISTEN retains the live request rather than starting speech synthesis. LLM KV and streaming audio state are reused across native input appends, with the configured window policy. Downstream TTS and decoder state belongs to the speech-generation request, not a generic promise to preserve all downstream state for the whole session. The live request remains associated with its selected Stage replica.</a:t>
            </a:r>
          </a:p>
          <a:p>
            <a:r>
              <a:t/>
            </a:r>
          </a:p>
          <a:p>
            <a:r>
              <a:t>AURA: the stages are ASR, Thinker, Talker and Code2Wav. ASR produces text. Thinker uses the transcript, video and conversation context, then supplies text to the speech stages. Context carried into future turns consists of ASR text, retained video clips and assistant text, under the session context policy. A new committed turn creates a new generation request. The next turn can begin after Thinker completes while the prior speech synthesis continues.</a:t>
            </a:r>
          </a:p>
          <a:p>
            <a:r>
              <a:t/>
            </a:r>
          </a:p>
          <a:p>
            <a:r>
              <a:t>Qwen3-Omni: Thinker, Talker and Code2Wav; no separate ASR Stage. The Thinker consumes user audio/image frames plus conversation context; its text/embeddings and hidden features condition Talker. Codec tokens go to Code2Wav. Retained context includes user audio, image frames and conversation text, subject to configured limits. Input can arrive during output, but a committed turn starts fresh generation rather than appending to a continuously running native model request.</a:t>
            </a:r>
          </a:p>
          <a:p>
            <a:r>
              <a:t/>
            </a:r>
          </a:p>
          <a:p>
            <a:r>
              <a:t>Scope: the right column contrasts live computation retained across native inputs with conversation history reused for fresh turn-based requests. It is not an exhaustive list of every transient runtime buffer. Turn-based speech synthesis may retain decoder state within a response. Stage means a model-compute step; a replica is an execution instance of a Stage. A Stage can contain several internal modules.</a:t>
            </a:r>
          </a:p>
          <a:p>
            <a:r>
              <a:t/>
            </a:r>
          </a:p>
          <a:p>
            <a:r>
              <a:t>Source baseline: upstream main b65107d61331327424910c72e7a2da137dcfb3df; the relevant model pipeline/plugin/processor files are unchanged from the previously inspected f3391da7c snapshot. This is a targeted slide rewrite; the rest of the deck retains its previous source baselines.</a:t>
            </a:r>
          </a:p>
          <a:p>
            <a:r>
              <a:t>https://github.com/vllm-project/vllm-omni/blob/b65107d61331327424910c72e7a2da137dcfb3df/vllm_omni/clients/personaplex.py</a:t>
            </a:r>
          </a:p>
          <a:p>
            <a:r>
              <a:t>https://github.com/vllm-project/vllm-omni/blob/b65107d61331327424910c72e7a2da137dcfb3df/vllm_omni/model_executor/models/personaplex/pipeline.py</a:t>
            </a:r>
          </a:p>
          <a:p>
            <a:r>
              <a:t>https://github.com/vllm-project/vllm-omni/blob/b65107d61331327424910c72e7a2da137dcfb3df/vllm_omni/model_executor/models/personaplex/duplex/stage0.py</a:t>
            </a:r>
          </a:p>
          <a:p>
            <a:r>
              <a:t>https://github.com/vllm-project/vllm-omni/blob/b65107d61331327424910c72e7a2da137dcfb3df/vllm_omni/model_executor/stage_input_processors/personaplex.py</a:t>
            </a:r>
          </a:p>
          <a:p>
            <a:r>
              <a:t>https://github.com/vllm-project/vllm-omni/blob/b65107d61331327424910c72e7a2da137dcfb3df/vllm_omni/model_executor/models/personaplex/personaplex_code2wav.py</a:t>
            </a:r>
          </a:p>
          <a:p>
            <a:r>
              <a:t>https://github.com/vllm-project/vllm-omni/blob/b65107d61331327424910c72e7a2da137dcfb3df/vllm_omni/model_executor/models/minicpmo_4_5/pipeline.py</a:t>
            </a:r>
          </a:p>
          <a:p>
            <a:r>
              <a:t>https://github.com/vllm-project/vllm-omni/blob/b65107d61331327424910c72e7a2da137dcfb3df/vllm_omni/model_executor/models/minicpmo_4_5/duplex/plugin.py</a:t>
            </a:r>
          </a:p>
          <a:p>
            <a:r>
              <a:t>https://github.com/vllm-project/vllm-omni/blob/b65107d61331327424910c72e7a2da137dcfb3df/vllm_omni/model_executor/models/minicpmo_4_5/duplex/policy.py</a:t>
            </a:r>
          </a:p>
          <a:p>
            <a:r>
              <a:t>https://github.com/vllm-project/vllm-omni/blob/b65107d61331327424910c72e7a2da137dcfb3df/vllm_omni/model_executor/models/aura_omni/pipeline.py</a:t>
            </a:r>
          </a:p>
          <a:p>
            <a:r>
              <a:t>https://github.com/vllm-project/vllm-omni/blob/b65107d61331327424910c72e7a2da137dcfb3df/vllm_omni/model_executor/models/aura_omni/duplex/plugin.py</a:t>
            </a:r>
          </a:p>
          <a:p>
            <a:r>
              <a:t>https://github.com/vllm-project/vllm-omni/blob/b65107d61331327424910c72e7a2da137dcfb3df/vllm_omni/model_executor/models/qwen3_omni/pipeline.py</a:t>
            </a:r>
          </a:p>
          <a:p>
            <a:r>
              <a:t>https://github.com/vllm-project/vllm-omni/blob/b65107d61331327424910c72e7a2da137dcfb3df/vllm_omni/model_executor/models/qwen3_omni/duplex/plugin.py</a:t>
            </a:r>
          </a:p>
          <a:p>
            <a:r>
              <a:t>https://github.com/vllm-project/vllm-omni/blob/b65107d61331327424910c72e7a2da137dcfb3df/vllm_omni/model_executor/stage_input_processors/qwen3_omni.py</a:t>
            </a:r>
          </a:p>
          <a:p>
            <a:r>
              <a:t/>
            </a:r>
          </a:p>
          <a:p>
            <a:r>
              <a:t>Earlier source references retained for traceability:</a:t>
            </a:r>
          </a:p>
          <a:p>
            <a:r>
              <a:t>https://github.com/vllm-project/vllm-omni/blob/4c5541cfc17143f80bdb89bbb7a5840b08bb52c6/vllm_omni/model_executor/models/aura_omni/duplex/history.py</a:t>
            </a:r>
          </a:p>
          <a:p>
            <a:r>
              <a:t>https://github.com/vllm-project/vllm-omni/blob/4c5541cfc17143f80bdb89bbb7a5840b08bb52c6/vllm_omni/model_executor/models/aura_omni/duplex/plugin.py</a:t>
            </a:r>
          </a:p>
          <a:p>
            <a:r>
              <a:t>https://github.com/vllm-project/vllm-omni/blob/4c5541cfc17143f80bdb89bbb7a5840b08bb52c6/vllm_omni/model_executor/models/qwen3_omni/duplex/plugin.py</a:t>
            </a:r>
          </a:p>
          <a:p>
            <a:r>
              <a:t>https://github.com/vllm-project/vllm-omni/blob/712b90de9c7bc14c595b363401588a713a87c02d/vllm_omni/model_executor/models/minicpmo_4_5/duplex/stage0.py</a:t>
            </a:r>
          </a:p>
          <a:p>
            <a:r>
              <a:t>https://github.com/vllm-project/vllm-omni/blob/712b90de9c7bc14c595b363401588a713a87c02d/vllm_omni/model_executor/models/minicpmo_4_5/duplex/window_kv.py</a:t>
            </a:r>
          </a:p>
          <a:p>
            <a:r>
              <a:t>https://github.com/vllm-project/vllm-omni/blob/712b90de9c7bc14c595b363401588a713a87c02d/vllm_omni/model_executor/models/minicpmo_4_5/duplex/window_plan.py</a:t>
            </a:r>
          </a:p>
          <a:p>
            <a:r>
              <a:t>https://github.com/vllm-project/vllm-omni/blob/712b90de9c7bc14c595b363401588a713a87c02d/vllm_omni/model_executor/models/aura_omni/duplex/plugin.py</a:t>
            </a:r>
          </a:p>
          <a:p>
            <a:r>
              <a:t>https://github.com/vllm-project/vllm-omni/blob/712b90de9c7bc14c595b363401588a713a87c02d/vllm_omni/model_executor/models/qwen3_omni/duplex/plugin.py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Audio terminology clarification</a:t>
            </a:r>
          </a:p>
          <a:p>
            <a:r>
              <a:t>All four model rows accept PCM audio in their unified duplex paths. PCM describes sampled audio; it does not distinguish native duplex from turn-based execution. The MiniCPM-o 4.5 web profile sends pcm16 at 16 kHz; its Python client preset inherits the same input default and pcm16 at 24 kHz output from SessionConfig. PersonaPlex uses its own preset: pcm_f32le at 24 kHz input and pcm16 at 24 kHz output. AURA web input is pcm16 at 16 kHz. The Qwen3 turn web profile uses audio/pcm at 24 kHz, while its plugin consumes normalized 16 kHz pcm_f32le. All these are PCM representations. Codec tokens between stages are a separate representation.</a:t>
            </a:r>
          </a:p>
          <a:p>
            <a:r>
              <a:t>https://github.com/vllm-project/vllm-omni/blob/b65107d61331327424910c72e7a2da137dcfb3df/examples/online_serving/realtime_web/app/static/profiles/minicpm_native.js</a:t>
            </a:r>
          </a:p>
          <a:p>
            <a:r>
              <a:t>https://github.com/vllm-project/vllm-omni/blob/b65107d61331327424910c72e7a2da137dcfb3df/vllm_omni/clients/duplex.py</a:t>
            </a:r>
          </a:p>
          <a:p>
            <a:r>
              <a:t>https://github.com/vllm-project/vllm-omni/blob/b65107d61331327424910c72e7a2da137dcfb3df/vllm_omni/clients/minicpmo_4_5.py</a:t>
            </a:r>
          </a:p>
          <a:p>
            <a:r>
              <a:t>https://github.com/vllm-project/vllm-omni/blob/b65107d61331327424910c72e7a2da137dcfb3df/examples/online_serving/realtime_web/app/static/profiles/aura_ptt.js</a:t>
            </a:r>
          </a:p>
          <a:p>
            <a:r>
              <a:t>https://github.com/vllm-project/vllm-omni/blob/b65107d61331327424910c72e7a2da137dcfb3df/examples/online_serving/realtime_web/app/static/profiles/qwen3_turn.js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t/>
            </a:r>
          </a:p>
          <a:p>
            <a:r>
              <a:t>Sources:</a:t>
            </a:r>
          </a:p>
          <a:p>
            <a:r>
              <a:t>https://github.com/vllm-project/vllm-omni/blob/4c5541cfc17143f80bdb89bbb7a5840b08bb52c6/vllm_omni/clients/duplex.py</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https://github.com/vllm-project/vllm-omni/blob/712b90de9c7bc14c595b363401588a713a87c02d/vllm_omni/model_executor/models/personaplex/duplex/capabilities.py</a:t>
            </a:r>
          </a:p>
          <a:p>
            <a:r>
              <a:t>https://github.com/vllm-project/vllm-omni/blob/712b90de9c7bc14c595b363401588a713a87c02d/vllm_omni/model_executor/models/nemotron_voicechat/duplex/capabilities.py</a:t>
            </a:r>
          </a:p>
          <a:p>
            <a:r>
              <a:t>https://github.com/vllm-project/vllm-omni/blob/712b90de9c7bc14c595b363401588a713a87c02d/vllm_omni/clients/duplex.py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MiniCPM-o 4.5 benchmark trend for a 30-calendar-day window ending with the latest matching H100 run: September 9 to October 8, 2026. Endpoint and backend: openai-chat-omni. Dataset: Seed-TTS. Concurrency 1: 32 requests per run. Concurrency 8: 128 requests per run. All selected runs completed without failed requests. Each series uses one unchanged config_key. One latest matching record per day; no matching records on September 16 or 17, bridged by dashed visual connectors. The figure contains 28 observed points per series and does not add missing measurements. Dashed connectors join the surrounding measured endpoints as a visual guide only; the chart data and embedded workbook retain empty cells for September 16 and 17. Mean Audio RTF is the mean per-request audio-generation-time / output-audio-duration ratio, lower is better. These are Chat Completions speech-generation benchmarks, not continuous native audio/video session measurements. Changes over time are observational and not an isolated attribution to any one optimization listed on the left.</a:t>
            </a:r>
          </a:p>
          <a:p>
            <a:r>
              <a:t>First and last values: C=1 0.279637232 to 0.198065725; C=8 1.594658489 to 0.490287581.</a:t>
            </a:r>
          </a:p>
          <a:p>
            <a:r>
              <a:t>Source: https://hsliuustc0106.github.io/vllm-omni-kanban/pages/assets/charts/minicpmo_4_5_history.json</a:t>
            </a:r>
          </a:p>
          <a:p>
            <a:r>
              <a:t>Source generated_at: 2026-10-09T02:35:21.650129</a:t>
            </a:r>
          </a:p>
          <a:p>
            <a:r>
              <a:t>https://github.com/vllm-project/vllm-omni/blob/06afa310c942c0506f0ed9bdd189fa331c46bb97/vllm_omni/model_executor/models/minicpmo_4_5/streaming_audio_encoder_graph.py</a:t>
            </a:r>
          </a:p>
          <a:p>
            <a:r>
              <a:t>https://github.com/vllm-project/vllm-omni/blob/06afa310c942c0506f0ed9bdd189fa331c46bb97/vllm_omni/model_executor/models/minicpmo_4_5/encoder_cuda_graph.py</a:t>
            </a:r>
          </a:p>
          <a:p>
            <a:r>
              <a:t>https://github.com/vllm-project/vllm-omni/blob/06afa310c942c0506f0ed9bdd189fa331c46bb97/vllm_omni/model_executor/models/minicpmo_4_5/minicpmo_4_5_code2wav.py</a:t>
            </a:r>
          </a:p>
          <a:p>
            <a:r>
              <a:t>https://github.com/vllm-project/vllm-omni/blob/06afa310c942c0506f0ed9bdd189fa331c46bb97/vllm_omni/model_executor/models/minicpmo_4_5/dit_fused.py</a:t>
            </a:r>
          </a:p>
          <a:p>
            <a:r>
              <a:t>https://github.com/vllm-project/vllm-omni/blob/06afa310c942c0506f0ed9bdd189fa331c46bb97/vllm_omni/model_executor/models/qwen3_omni/vision_encoder_cudagraph.py</a:t>
            </a:r>
          </a:p>
          <a:p>
            <a:r>
              <a:t>https://github.com/vllm-project/vllm-omni/blob/06afa310c942c0506f0ed9bdd189fa331c46bb97/vllm_omni/model_executor/models/personaplex/duplex/stage0.py</a:t>
            </a:r>
          </a:p>
          <a:p>
            <a:r>
              <a:t>https://github.com/vllm-project/vllm-omni/blob/06afa310c942c0506f0ed9bdd189fa331c46bb97/vllm_omni/model_executor/models/personaplex/personaplex_code2wav.py</a:t>
            </a:r>
          </a:p>
          <a:p>
            <a:r>
              <a:t>https://github.com/vllm-project/vllm-omni/blob/06afa310c942c0506f0ed9bdd189fa331c46bb97/vllm_omni/worker/gpu_generation_model_runner.py</a:t>
            </a:r>
          </a:p>
          <a:p>
            <a:r>
              <a:t>https://github.com/vllm-project/vllm-omni/blob/06afa310c942c0506f0ed9bdd189fa331c46bb97/vllm_omni/benchmarks/patch/patch.py</a:t>
            </a:r>
          </a:p>
          <a:p>
            <a:r>
              <a:t>https://github.com/vllm-project/vllm-omni/blob/06afa310c942c0506f0ed9bdd189fa331c46bb97/docs/design/minicpm_o45_mrv2_performance.md</a:t>
            </a:r>
          </a:p>
          <a:p>
            <a:r>
              <a:t>https://github.com/vllm-project/vllm-omni/pull/8430</a:t>
            </a:r>
          </a:p>
          <a:p>
            <a:r>
              <a:t>https://github.com/vllm-project/vllm-omni/pull/8215</a:t>
            </a:r>
          </a:p>
          <a:p>
            <a:r>
              <a:t>https://github.com/vllm-project/vllm-omni/pull/8557</a:t>
            </a:r>
          </a:p>
          <a:p>
            <a:r>
              <a:t>https://github.com/vllm-project/vllm-omni/pull/8356</a:t>
            </a:r>
          </a:p>
          <a:p>
            <a:r>
              <a:t>https://github.com/vllm-project/vllm-omni/pull/7480</a:t>
            </a:r>
          </a:p>
          <a:p>
            <a:r>
              <a:t>https://github.com/vllm-project/vllm-omni/pull/8540</a:t>
            </a:r>
          </a:p>
          <a:p>
            <a: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t/>
            </a:r>
          </a:p>
          <a:p>
            <a:r>
              <a:t>Sources:</a:t>
            </a:r>
          </a:p>
          <a:p>
            <a:r>
              <a:t>https://github.com/vllm-project/vllm-omni/blob/4c5541cfc17143f80bdb89bbb7a5840b08bb52c6/vllm_omni/benchmarks/duplex_session_metrics.py</a:t>
            </a:r>
          </a:p>
          <a:p>
            <a:r>
              <a:t>https://github.com/vllm-project/vllm-omni/blob/4c5541cfc17143f80bdb89bbb7a5840b08bb52c6/vllm_omni/benchmarks/omniinteract.py</a:t>
            </a:r>
          </a:p>
          <a:p>
            <a:r>
              <a:t>https://github.com/vllm-project/vllm-omni/blob/4c5541cfc17143f80bdb89bbb7a5840b08bb52c6/vllm_omni/benchmarks/duplex/omni_duplex_eval_metrics.py</a:t>
            </a:r>
          </a:p>
          <a:p>
            <a:r>
              <a:t>https://github.com/vllm-project/vllm-omni/blob/712b90de9c7bc14c595b363401588a713a87c02d/vllm_omni/benchmarks/omniinteract.py</a:t>
            </a:r>
          </a:p>
          <a:p>
            <a:r>
              <a:t>https://github.com/vllm-project/vllm-omni/blob/712b90de9c7bc14c595b363401588a713a87c02d/vllm_omni/benchmarks/omniinteract_eval.py</a:t>
            </a:r>
          </a:p>
          <a:p>
            <a:r>
              <a:t>https://github.com/vllm-project/vllm-omni/blob/712b90de9c7bc14c595b363401588a713a87c02d/vllm_omni/benchmarks/duplex/omni_duplex_eval_runner.py</a:t>
            </a:r>
          </a:p>
          <a:p>
            <a:r>
              <a:t>https://github.com/vllm-project/vllm-omni/blob/712b90de9c7bc14c595b363401588a713a87c02d/vllm_omni/benchmarks/duplex/omni_duplex_eval_metrics.py</a:t>
            </a:r>
          </a:p>
          <a:p>
            <a: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t/>
            </a:r>
          </a:p>
          <a:p>
            <a:r>
              <a:t>Sources:</a:t>
            </a:r>
          </a:p>
          <a:p>
            <a:r>
              <a:t>https://github.com/vllm-project/vllm-omni/blob/4c5541cfc17143f80bdb89bbb7a5840b08bb52c6/vllm_omni/entrypoints/openai/realtime/session.py</a:t>
            </a:r>
          </a:p>
          <a:p>
            <a:r>
              <a:t>https://github.com/vllm-project/vllm-omni/blob/4c5541cfc17143f80bdb89bbb7a5840b08bb52c6/vllm_omni/model_executor/models/nemotron_voicechat/duplex/plugin.py</a:t>
            </a:r>
          </a:p>
          <a:p>
            <a:r>
              <a:t>https://github.com/vllm-project/vllm-omni/blob/4c5541cfc17143f80bdb89bbb7a5840b08bb52c6/vllm_omni/model_executor/models/qwen3_omni/duplex/plugin.py</a:t>
            </a:r>
          </a:p>
          <a:p>
            <a:r>
              <a:t>https://github.com/vllm-project/vllm-omni/blob/d5a3380103df2fc827f095c60dbfb6e1c5655fd3/vllm_omni/entrypoints/openai/realtime/connection.py#L386-L425</a:t>
            </a:r>
          </a:p>
          <a:p>
            <a:r>
              <a:t>https://github.com/vllm-project/vllm-omni/blob/d5a3380103df2fc827f095c60dbfb6e1c5655fd3/vllm_omni/entrypoints/openai/realtime/connection.py#L870-L940</a:t>
            </a:r>
          </a:p>
          <a:p>
            <a:r>
              <a:t>https://github.com/vllm-project/vllm-omni/blob/d5a3380103df2fc827f095c60dbfb6e1c5655fd3/vllm_omni/entrypoints/openai/realtime/connection.py#L1655-L1678</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https://github.com/vllm-project/vllm-omni/blob/d5a3380103df2fc827f095c60dbfb6e1c5655fd3/vllm_omni/model_executor/models/nemotron_voicechat/duplex/plugin.py#L108-L147</a:t>
            </a:r>
          </a:p>
          <a:p>
            <a:r>
              <a:t>https://github.com/vllm-project/vllm-omni/blob/d5a3380103df2fc827f095c60dbfb6e1c5655fd3/vllm_omni/model_executor/models/nemotron_voicechat/duplex/plugin.py#L430-L501</a:t>
            </a:r>
          </a:p>
          <a:p>
            <a:r>
              <a:t>https://github.com/vllm-project/vllm-omni/blob/d5a3380103df2fc827f095c60dbfb6e1c5655fd3/vllm_omni/engine/duplex/realtime_events.py#L1080-L1126</a:t>
            </a:r>
          </a:p>
          <a:p>
            <a:r>
              <a:t>https://github.com/vllm-project/vllm-omni/blob/d5a3380103df2fc827f095c60dbfb6e1c5655fd3/vllm_omni/engine/duplex/realtime_events.py#L1430-L1487</a:t>
            </a:r>
          </a:p>
          <a:p>
            <a:r>
              <a:t>https://github.com/vllm-project/vllm-omni/blob/d5a3380103df2fc827f095c60dbfb6e1c5655fd3/vllm_omni/engine/duplex/plugin.py#L513-L523</a:t>
            </a:r>
          </a:p>
          <a:p>
            <a:r>
              <a:t>https://github.com/vllm-project/vllm-omni/blob/d5a3380103df2fc827f095c60dbfb6e1c5655fd3/vllm_omni/engine/duplex/session/control.py#L290-L327</a:t>
            </a:r>
          </a:p>
          <a:p>
            <a: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t/>
            </a:r>
          </a:p>
          <a:p>
            <a:r>
              <a:t>Sources:</a:t>
            </a:r>
          </a:p>
          <a:p>
            <a:r>
              <a:t>https://github.com/vllm-project/vllm-omni/blob/4c5541cfc17143f80bdb89bbb7a5840b08bb52c6/vllm_omni/entrypoints/openai/api_server.py</a:t>
            </a:r>
          </a:p>
          <a:p>
            <a:r>
              <a:t>https://github.com/vllm-project/vllm-omni/blob/4c5541cfc17143f80bdb89bbb7a5840b08bb52c6/vllm_omni/engine/duplex_omni_engine.py</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https://github.com/vllm-project/vllm-omni/blob/d5a3380103df2fc827f095c60dbfb6e1c5655fd3/vllm_omni/model_executor/models/nemotron_voicechat/duplex/plugin.py#L444-L501</a:t>
            </a:r>
          </a:p>
          <a:p>
            <a:r>
              <a:t>https://github.com/vllm-project/vllm-omni/blob/d5a3380103df2fc827f095c60dbfb6e1c5655fd3/vllm_omni/entrypoints/openai/realtime/connection.py#L386-L425</a:t>
            </a:r>
          </a:p>
          <a:p>
            <a:r>
              <a:t>https://github.com/vllm-project/vllm-omni/blob/d5a3380103df2fc827f095c60dbfb6e1c5655fd3/vllm_omni/engine/duplex/realtime_events.py#L1430-L1487</a:t>
            </a:r>
          </a:p>
          <a:p>
            <a:r>
              <a:t>https://github.com/vllm-project/vllm-omni/blob/d5a3380103df2fc827f095c60dbfb6e1c5655fd3/vllm_omni/engine/duplex/turn_detection.py#L82-L99</a:t>
            </a:r>
          </a:p>
          <a:p>
            <a:r>
              <a:t>https://github.com/vllm-project/vllm-omni/blob/d5a3380103df2fc827f095c60dbfb6e1c5655fd3/vllm_omni/engine/duplex/vad.py#L100-L108</a:t>
            </a:r>
          </a:p>
          <a:p>
            <a:r>
              <a:t>https://github.com/vllm-project/vllm-omni/blob/d5a3380103df2fc827f095c60dbfb6e1c5655fd3/tests/engine/duplex/test_engine_session.py#L598-L608</a:t>
            </a:r>
          </a:p>
          <a:p>
            <a:r>
              <a:t>https://github.com/vllm-project/vllm-omni/blob/d5a3380103df2fc827f095c60dbfb6e1c5655fd3/vllm_omni/benchmarks/omniinteract.py</a:t>
            </a:r>
          </a:p>
          <a:p>
            <a:r>
              <a:t>https://github.com/vllm-project/vllm-omni/blob/d5a3380103df2fc827f095c60dbfb6e1c5655fd3/vllm_omni/benchmarks/omniinteract_eval.py</a:t>
            </a:r>
          </a:p>
          <a:p>
            <a:r>
              <a:t>https://github.com/vllm-project/vllm-omni/blob/d5a3380103df2fc827f095c60dbfb6e1c5655fd3/vllm_omni/benchmarks/duplex/omni_duplex_eval_runner.py</a:t>
            </a:r>
          </a:p>
          <a:p>
            <a:r>
              <a:t>https://github.com/vllm-project/vllm-omni/blob/d5a3380103df2fc827f095c60dbfb6e1c5655fd3/tests/e2e/accuracy/omni_duplex_eval/README.md</a:t>
            </a:r>
          </a:p>
          <a:p>
            <a:r>
              <a:t>https://github.com/vllm-project/vllm-omni/blob/d5a3380103df2fc827f095c60dbfb6e1c5655fd3/vllm_omni/model_executor/models/minicpmo_4_5/duplex/window_kv.py</a:t>
            </a:r>
          </a:p>
          <a:p>
            <a:r>
              <a:t>https://github.com/vllm-project/vllm-omni/blob/d5a3380103df2fc827f095c60dbfb6e1c5655fd3/vllm_omni/engine/stage_pool.py#L574-L609</a:t>
            </a:r>
          </a:p>
          <a:p>
            <a:r>
              <a:t>https://github.com/vllm-project/vllm-omni/blob/d5a3380103df2fc827f095c60dbfb6e1c5655fd3/vllm_omni/engine/duplex_orchestrator.py#L393-L424</a:t>
            </a:r>
          </a:p>
          <a:p>
            <a:r>
              <a:t>https://github.com/vllm-project/vllm-omni/blob/d5a3380103df2fc827f095c60dbfb6e1c5655fd3/vllm_omni/entrypoints/openai/api_server.py#L1880-L1895</a:t>
            </a:r>
          </a:p>
          <a:p>
            <a:r>
              <a:t>https://github.com/vllm-project/vllm-omni/blob/d5a3380103df2fc827f095c60dbfb6e1c5655fd3/vllm_omni/model_executor/models/joyai_vl_interaction/pipeline.py</a:t>
            </a:r>
          </a:p>
          <a:p>
            <a: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t/>
            </a:r>
          </a:p>
          <a:p>
            <a:r>
              <a:t>Sources:</a:t>
            </a:r>
          </a:p>
          <a:p>
            <a:r>
              <a:t>https://github.com/vllm-project/vllm-omni/blob/4c5541cfc17143f80bdb89bbb7a5840b08bb52c6/vllm_omni/deploy/personaplex.yaml</a:t>
            </a:r>
          </a:p>
          <a:p>
            <a:r>
              <a:t>https://github.com/vllm-project/vllm-omni/blob/4c5541cfc17143f80bdb89bbb7a5840b08bb52c6/vllm_omni/engine/duplex/session/manager.py</a:t>
            </a:r>
          </a:p>
          <a:p>
            <a:r>
              <a:t>https://github.com/vllm-project/vllm-omni/blob/712b90de9c7bc14c595b363401588a713a87c02d/vllm_omni/engine/duplex/session/manager.py</a:t>
            </a:r>
          </a:p>
          <a:p>
            <a:r>
              <a:t>https://github.com/vllm-project/vllm-omni/blob/712b90de9c7bc14c595b363401588a713a87c02d/vllm_omni/entrypoints/duplex_omni.py</a:t>
            </a:r>
          </a:p>
          <a:p>
            <a:r>
              <a:t>https://github.com/vllm-project/vllm-omni/blob/712b90de9c7bc14c595b363401588a713a87c02d/vllm_omni/entrypoints/duplex/serving.py</a:t>
            </a:r>
          </a:p>
          <a:p>
            <a:r>
              <a:t>https://github.com/vllm-project/vllm-omni/blob/712b90de9c7bc14c595b363401588a713a87c02d/vllm_omni/engine/duplex_omni_engine.py</a:t>
            </a:r>
          </a:p>
          <a:p>
            <a:r>
              <a:t>https://github.com/vllm-project/vllm-omni/blob/712b90de9c7bc14c595b363401588a713a87c02d/vllm_omni/engine/duplex/session/runner.py</a:t>
            </a:r>
          </a:p>
          <a:p>
            <a:r>
              <a:t>https://github.com/vllm-project/vllm-omni/blob/712b90de9c7bc14c595b363401588a713a87c02d/vllm_omni/engine/duplex/session/engine_session.py</a:t>
            </a:r>
          </a:p>
          <a:p>
            <a:r>
              <a:t>https://github.com/vllm-project/vllm-omni/blob/712b90de9c7bc14c595b363401588a713a87c02d/vllm_omni/engine/duplex/plugin.py</a:t>
            </a:r>
          </a:p>
          <a:p>
            <a:r>
              <a:t>https://github.com/vllm-project/vllm-omni/blob/712b90de9c7bc14c595b363401588a713a87c02d/vllm_omni/engine/duplex/delivery.py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t/>
            </a:r>
          </a:p>
          <a:p>
            <a:r>
              <a:t>Sources:</a:t>
            </a:r>
          </a:p>
          <a:p>
            <a:r>
              <a:t>https://github.com/vllm-project/vllm-omni/blob/4c5541cfc17143f80bdb89bbb7a5840b08bb52c6/vllm_omni/engine/duplex/vad.py</a:t>
            </a:r>
          </a:p>
          <a:p>
            <a:r>
              <a:t>https://github.com/vllm-project/vllm-omni/blob/4c5541cfc17143f80bdb89bbb7a5840b08bb52c6/vllm_omni/engine/duplex/session/runner.py</a:t>
            </a:r>
          </a:p>
          <a:p>
            <a:r>
              <a:t>https://github.com/pipecat-ai/smart-turn</a:t>
            </a:r>
          </a:p>
          <a:p>
            <a:r>
              <a:t>https://huggingface.co/pipecat-ai/smart-turn-v3.2</a:t>
            </a:r>
          </a:p>
          <a:p>
            <a:r>
              <a:t>https://docs.livekit.io/agents/logic/turns/turn-detector/</a:t>
            </a:r>
          </a:p>
          <a:p>
            <a:r>
              <a:t>https://developers.openai.com/api/docs/guides/realtime-vad</a:t>
            </a:r>
          </a:p>
          <a:p>
            <a:r>
              <a:t>https://github.com/vllm-project/vllm-omni/blob/712b90de9c7bc14c595b363401588a713a87c02d/vllm_omni/engine/duplex/turn_detection.py</a:t>
            </a:r>
          </a:p>
          <a:p>
            <a:r>
              <a:t>https://github.com/vllm-project/vllm-omni/blob/712b90de9c7bc14c595b363401588a713a87c02d/vllm_omni/engine/duplex/vad.py</a:t>
            </a:r>
          </a:p>
          <a:p>
            <a:r>
              <a:t>https://github.com/vllm-project/vllm-omni/blob/712b90de9c7bc14c595b363401588a713a87c02d/vllm_omni/engine/duplex/session/runner.py</a:t>
            </a:r>
          </a:p>
          <a:p>
            <a:r>
              <a:t>https://github.com/snakers4/silero-vad</a:t>
            </a:r>
          </a:p>
          <a:p>
            <a:r>
              <a:t>https://github.com/vllm-project/vllm-omni/blob/712b90de9c7bc14c595b363401588a713a87c02d/vllm_omni/engine/duplex/session/manager.py</a:t>
            </a:r>
          </a:p>
          <a:p>
            <a: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t/>
            </a:r>
          </a:p>
          <a:p>
            <a:r>
              <a:t>Sources:</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https://github.com/vllm-project/vllm-omni/blob/4c5541cfc17143f80bdb89bbb7a5840b08bb52c6/vllm_omni/config/stage_config.py</a:t>
            </a:r>
          </a:p>
          <a:p>
            <a:r>
              <a:t>https://github.com/vllm-project/vllm-omni/blob/4c5541cfc17143f80bdb89bbb7a5840b08bb52c6/vllm_omni/engine/duplex/session/lease.py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https://github.com/vllm-project/vllm-omni/blob/712b90de9c7bc14c595b363401588a713a87c02d/vllm_omni/config/stage_config.py</a:t>
            </a:r>
          </a:p>
          <a:p>
            <a:r>
              <a:t>https://github.com/vllm-project/vllm-omni/blob/712b90de9c7bc14c595b363401588a713a87c02d/vllm_omni/engine/duplex/session/manager.py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compares two execution paths using the same illustrative input. The output waveforms represent model-generated audio, not the precise time at which a device plays or stops it. The two output tracks are aligned to avoid suggesting a latency ranking or measured equality. Barge-in labels the user's overlapping speech; it is not the literal barge_in command in either illustrated path.</a:t>
            </a:r>
          </a:p>
          <a:p>
            <a:r>
              <a:t/>
            </a:r>
          </a:p>
          <a:p>
            <a:r>
              <a:t>MiniCPM-o 4.5 native example: the web profile continuously appends audio/video, enables auto_response, sends no commit messages, and does not enable Server VAD. The model chooses LISTEN / SPEAK as new chunks arrive. A model LISTEN is projected through the model-output path; it is not an automatic invocation of the runner's hard-cancel path. The web client's listen event changes model/interaction state without clearing the playback queue, so already queued audio can finish. The illustration shows one model choice to yield; the model may instead keep speaking. Later speech follows native continuation rather than a VAD commit. Explicit framework barge_in/cancel is a separate supported control mechanism for MiniCPM and is not depicted here.</a:t>
            </a:r>
          </a:p>
          <a:p>
            <a:r>
              <a:t/>
            </a:r>
          </a:p>
          <a:p>
            <a:r>
              <a:t>Qwen3-Omni + Server VAD example: the web profile keeps microphone upload enabled during playback, sets overlap_policy=barge_in_on_speech, and enables interrupt_response/create_response. VAD speech onset drives the runner overlap-cancellation path. The client's speech_started handling stops local playback and clears queued audio, including when server generation has already completed. After the configured silence threshold, VAD schedules commit and create_response. The plugin requires a committed turn and starts a fresh model request. This configuration does not wait for Qwen to autonomously decide whether to yield.</a:t>
            </a:r>
          </a:p>
          <a:p>
            <a:r>
              <a:t/>
            </a:r>
          </a:p>
          <a:p>
            <a:r>
              <a:t>Source snapshot: f3391da7c58ee8dc990829aab82166edf865d19b. The relevant runtime, plugin and web-profile files are unchanged from the preceding reviewed snapshot 4c5541cfc17143f80bdb89bbb7a5840b08bb52c6.</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a:p>
            <a:r>
              <a:t>VAD commit is shown for both Qwen turns. The first commit follows the initial user utterance and the configured silence threshold; create_response=true then starts the first model request. A later user interruption can cancel the old response, followed by a second VAD commit after that utterance and silence. No cancellation is implied for the initial turn when no assistant response exists. The commit markers are on the Qwen path only. Marker positions express event order, not measured silence durations or response latency. The current Qwen VAD web preset uses silence_duration_ms=500; this is configurable.</a:t>
            </a:r>
          </a:p>
          <a:p>
            <a:r>
              <a:t/>
            </a:r>
          </a:p>
          <a:p>
            <a:r>
              <a:t/>
            </a:r>
          </a:p>
          <a:p>
            <a:r>
              <a:t>VAD-triggered interruption names a behavior, not a protocol command. The runner handles VAD overlap with _barge_in_for_overlap and shares the core _cancel_active_response helper with explicit response.cancel. It does not synthesize a response.cancel wire message. Explicit response.cancel arrives as CancelResponse, is resolved, and enters _on_cancel. These paths also differ in input-buffer handling. Local playback stop is performed by the web client in response to speech-start/interruption events.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presentation covers duplex interaction and models, the unified architecture and execution workflow, performance optimization and evaluation metrics, and tool calling and the roadmap. The technical appendix expands the architecture and execution paths, VAD and interruption, session lifecycle and recovery, and deployment across machines. Code references follow at the end of the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9.xml"/><Relationship Id="rId5"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13</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Drop cancelled audio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13</a:t>
            </a:r>
          </a:p>
        </p:txBody>
      </p:sp>
      <p:sp>
        <p:nvSpPr>
          <p:cNvPr id="500" name="From Half-Duplex to Full-Duplex Interaction"/>
          <p:cNvSpPr txBox="1"/>
          <p:nvPr/>
        </p:nvSpPr>
        <p:spPr>
          <a:xfrm>
            <a:off x="548640" y="1005840"/>
            <a:ext cx="11082528" cy="576072"/>
          </a:xfrm>
          <a:prstGeom prst="rect">
            <a:avLst/>
          </a:prstGeom>
          <a:noFill/>
        </p:spPr>
        <p:txBody>
          <a:bodyPr wrap="square" lIns="0" rIns="0" tIns="0" bIns="0" anchor="t">
            <a:spAutoFit/>
          </a:bodyPr>
          <a:lstStyle/>
          <a:p>
            <a:pPr algn="l">
              <a:lnSpc>
                <a:spcPct val="110000"/>
              </a:lnSpc>
              <a:spcAft>
                <a:spcPts val="0"/>
              </a:spcAft>
            </a:pPr>
            <a:r>
              <a:rPr sz="3150" b="1">
                <a:solidFill>
                  <a:srgbClr val="16304E"/>
                </a:solidFill>
                <a:latin typeface="Arial"/>
                <a:ea typeface="Arial"/>
                <a:cs typeface="Arial"/>
              </a:rPr>
              <a:t>From Half-Duplex to Full-Duplex Interaction</a:t>
            </a:r>
          </a:p>
        </p:txBody>
      </p:sp>
      <p:sp>
        <p:nvSpPr>
          <p:cNvPr id="501" name="Half-duplex timeline"/>
          <p:cNvSpPr/>
          <p:nvPr/>
        </p:nvSpPr>
        <p:spPr>
          <a:xfrm>
            <a:off x="54864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Half-duplex"/>
          <p:cNvSpPr txBox="1"/>
          <p:nvPr/>
        </p:nvSpPr>
        <p:spPr>
          <a:xfrm>
            <a:off x="84124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Half-duplex</a:t>
            </a:r>
          </a:p>
        </p:txBody>
      </p:sp>
      <p:sp>
        <p:nvSpPr>
          <p:cNvPr id="503" name="Taking turns"/>
          <p:cNvSpPr txBox="1"/>
          <p:nvPr/>
        </p:nvSpPr>
        <p:spPr>
          <a:xfrm>
            <a:off x="85039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Taking turns</a:t>
            </a:r>
          </a:p>
        </p:txBody>
      </p:sp>
      <p:sp>
        <p:nvSpPr>
          <p:cNvPr id="504" name="Camera"/>
          <p:cNvSpPr txBox="1"/>
          <p:nvPr/>
        </p:nvSpPr>
        <p:spPr>
          <a:xfrm>
            <a:off x="85039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Arial"/>
                <a:ea typeface="Arial"/>
                <a:cs typeface="Arial"/>
              </a:rPr>
              <a:t>Camera</a:t>
            </a:r>
          </a:p>
        </p:txBody>
      </p:sp>
      <p:sp>
        <p:nvSpPr>
          <p:cNvPr id="505" name="User"/>
          <p:cNvSpPr txBox="1"/>
          <p:nvPr/>
        </p:nvSpPr>
        <p:spPr>
          <a:xfrm>
            <a:off x="85039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a:t>
            </a:r>
          </a:p>
        </p:txBody>
      </p:sp>
      <p:sp>
        <p:nvSpPr>
          <p:cNvPr id="506" name="Assistant"/>
          <p:cNvSpPr txBox="1"/>
          <p:nvPr/>
        </p:nvSpPr>
        <p:spPr>
          <a:xfrm>
            <a:off x="85039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Arial"/>
                <a:ea typeface="Arial"/>
                <a:cs typeface="Arial"/>
              </a:rPr>
              <a:t>Assistant</a:t>
            </a:r>
          </a:p>
        </p:txBody>
      </p:sp>
      <p:cxnSp>
        <p:nvCxnSpPr>
          <p:cNvPr id="507" name="Shared time axis"/>
          <p:cNvCxnSpPr/>
          <p:nvPr/>
        </p:nvCxnSpPr>
        <p:spPr>
          <a:xfrm>
            <a:off x="173736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08" name="Shared time axis"/>
          <p:cNvCxnSpPr/>
          <p:nvPr/>
        </p:nvCxnSpPr>
        <p:spPr>
          <a:xfrm>
            <a:off x="173736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509" name="Full-duplex timeline"/>
          <p:cNvSpPr/>
          <p:nvPr/>
        </p:nvSpPr>
        <p:spPr>
          <a:xfrm>
            <a:off x="630936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Full-duplex"/>
          <p:cNvSpPr txBox="1"/>
          <p:nvPr/>
        </p:nvSpPr>
        <p:spPr>
          <a:xfrm>
            <a:off x="660196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Full-duplex</a:t>
            </a:r>
          </a:p>
        </p:txBody>
      </p:sp>
      <p:sp>
        <p:nvSpPr>
          <p:cNvPr id="511" name="Listening while speaking"/>
          <p:cNvSpPr txBox="1"/>
          <p:nvPr/>
        </p:nvSpPr>
        <p:spPr>
          <a:xfrm>
            <a:off x="661111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Listening while speaking</a:t>
            </a:r>
          </a:p>
        </p:txBody>
      </p:sp>
      <p:sp>
        <p:nvSpPr>
          <p:cNvPr id="512" name="Camera"/>
          <p:cNvSpPr txBox="1"/>
          <p:nvPr/>
        </p:nvSpPr>
        <p:spPr>
          <a:xfrm>
            <a:off x="661111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Arial"/>
                <a:ea typeface="Arial"/>
                <a:cs typeface="Arial"/>
              </a:rPr>
              <a:t>Camera</a:t>
            </a:r>
          </a:p>
        </p:txBody>
      </p:sp>
      <p:sp>
        <p:nvSpPr>
          <p:cNvPr id="513" name="User"/>
          <p:cNvSpPr txBox="1"/>
          <p:nvPr/>
        </p:nvSpPr>
        <p:spPr>
          <a:xfrm>
            <a:off x="661111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a:t>
            </a:r>
          </a:p>
        </p:txBody>
      </p:sp>
      <p:sp>
        <p:nvSpPr>
          <p:cNvPr id="514" name="Assistant"/>
          <p:cNvSpPr txBox="1"/>
          <p:nvPr/>
        </p:nvSpPr>
        <p:spPr>
          <a:xfrm>
            <a:off x="661111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Arial"/>
                <a:ea typeface="Arial"/>
                <a:cs typeface="Arial"/>
              </a:rPr>
              <a:t>Assistant</a:t>
            </a:r>
          </a:p>
        </p:txBody>
      </p:sp>
      <p:cxnSp>
        <p:nvCxnSpPr>
          <p:cNvPr id="515" name="Shared time axis"/>
          <p:cNvCxnSpPr/>
          <p:nvPr/>
        </p:nvCxnSpPr>
        <p:spPr>
          <a:xfrm>
            <a:off x="749808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16" name="Shared time axis"/>
          <p:cNvCxnSpPr/>
          <p:nvPr/>
        </p:nvCxnSpPr>
        <p:spPr>
          <a:xfrm>
            <a:off x="749808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pic>
        <p:nvPicPr>
          <p:cNvPr id="517"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1810512" y="2697480"/>
            <a:ext cx="310896" cy="320040"/>
          </a:xfrm>
          <a:prstGeom prst="rect">
            <a:avLst/>
          </a:prstGeom>
        </p:spPr>
      </p:pic>
      <p:pic>
        <p:nvPicPr>
          <p:cNvPr id="518"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2313432" y="2697480"/>
            <a:ext cx="310896" cy="320040"/>
          </a:xfrm>
          <a:prstGeom prst="rect">
            <a:avLst/>
          </a:prstGeom>
        </p:spPr>
      </p:pic>
      <p:pic>
        <p:nvPicPr>
          <p:cNvPr id="519"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3941064" y="2697480"/>
            <a:ext cx="310896" cy="320040"/>
          </a:xfrm>
          <a:prstGeom prst="rect">
            <a:avLst/>
          </a:prstGeom>
        </p:spPr>
      </p:pic>
      <p:pic>
        <p:nvPicPr>
          <p:cNvPr id="520"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4315968" y="2697480"/>
            <a:ext cx="310896" cy="320040"/>
          </a:xfrm>
          <a:prstGeom prst="rect">
            <a:avLst/>
          </a:prstGeom>
        </p:spPr>
      </p:pic>
      <p:sp>
        <p:nvSpPr>
          <p:cNvPr id="521" name="Half-duplex user turn 1"/>
          <p:cNvSpPr/>
          <p:nvPr/>
        </p:nvSpPr>
        <p:spPr>
          <a:xfrm>
            <a:off x="181051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Half-duplex user turn 1"/>
          <p:cNvSpPr/>
          <p:nvPr/>
        </p:nvSpPr>
        <p:spPr>
          <a:xfrm>
            <a:off x="188442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Half-duplex user turn 1"/>
          <p:cNvSpPr/>
          <p:nvPr/>
        </p:nvSpPr>
        <p:spPr>
          <a:xfrm>
            <a:off x="195834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Half-duplex user turn 1"/>
          <p:cNvSpPr/>
          <p:nvPr/>
        </p:nvSpPr>
        <p:spPr>
          <a:xfrm>
            <a:off x="20322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Half-duplex user turn 1"/>
          <p:cNvSpPr/>
          <p:nvPr/>
        </p:nvSpPr>
        <p:spPr>
          <a:xfrm>
            <a:off x="210616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Half-duplex user turn 1"/>
          <p:cNvSpPr/>
          <p:nvPr/>
        </p:nvSpPr>
        <p:spPr>
          <a:xfrm>
            <a:off x="218008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7" name="Half-duplex user turn 1"/>
          <p:cNvSpPr/>
          <p:nvPr/>
        </p:nvSpPr>
        <p:spPr>
          <a:xfrm>
            <a:off x="225399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8" name="Half-duplex user turn 1"/>
          <p:cNvSpPr/>
          <p:nvPr/>
        </p:nvSpPr>
        <p:spPr>
          <a:xfrm>
            <a:off x="232791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9" name="Half-duplex user turn 1"/>
          <p:cNvSpPr/>
          <p:nvPr/>
        </p:nvSpPr>
        <p:spPr>
          <a:xfrm>
            <a:off x="240182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0" name="Half-duplex user turn 1"/>
          <p:cNvSpPr/>
          <p:nvPr/>
        </p:nvSpPr>
        <p:spPr>
          <a:xfrm>
            <a:off x="247573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Half-duplex user turn 1"/>
          <p:cNvSpPr/>
          <p:nvPr/>
        </p:nvSpPr>
        <p:spPr>
          <a:xfrm>
            <a:off x="254965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Half-duplex user turn 1"/>
          <p:cNvSpPr/>
          <p:nvPr/>
        </p:nvSpPr>
        <p:spPr>
          <a:xfrm>
            <a:off x="262356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Half-duplex user turn 1"/>
          <p:cNvSpPr/>
          <p:nvPr/>
        </p:nvSpPr>
        <p:spPr>
          <a:xfrm>
            <a:off x="269748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Half-duplex assistant turn 1"/>
          <p:cNvSpPr/>
          <p:nvPr/>
        </p:nvSpPr>
        <p:spPr>
          <a:xfrm>
            <a:off x="283464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5" name="Half-duplex assistant turn 1"/>
          <p:cNvSpPr/>
          <p:nvPr/>
        </p:nvSpPr>
        <p:spPr>
          <a:xfrm>
            <a:off x="2909199"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6" name="Half-duplex assistant turn 1"/>
          <p:cNvSpPr/>
          <p:nvPr/>
        </p:nvSpPr>
        <p:spPr>
          <a:xfrm>
            <a:off x="2983758"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7" name="Half-duplex assistant turn 1"/>
          <p:cNvSpPr/>
          <p:nvPr/>
        </p:nvSpPr>
        <p:spPr>
          <a:xfrm>
            <a:off x="3058316"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8" name="Half-duplex assistant turn 1"/>
          <p:cNvSpPr/>
          <p:nvPr/>
        </p:nvSpPr>
        <p:spPr>
          <a:xfrm>
            <a:off x="3132875"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9" name="Half-duplex assistant turn 1"/>
          <p:cNvSpPr/>
          <p:nvPr/>
        </p:nvSpPr>
        <p:spPr>
          <a:xfrm>
            <a:off x="320743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Half-duplex assistant turn 1"/>
          <p:cNvSpPr/>
          <p:nvPr/>
        </p:nvSpPr>
        <p:spPr>
          <a:xfrm>
            <a:off x="3281993"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1" name="Half-duplex assistant turn 1"/>
          <p:cNvSpPr/>
          <p:nvPr/>
        </p:nvSpPr>
        <p:spPr>
          <a:xfrm>
            <a:off x="3356551"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Half-duplex assistant turn 1"/>
          <p:cNvSpPr/>
          <p:nvPr/>
        </p:nvSpPr>
        <p:spPr>
          <a:xfrm>
            <a:off x="3431110"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3" name="Half-duplex assistant turn 1"/>
          <p:cNvSpPr/>
          <p:nvPr/>
        </p:nvSpPr>
        <p:spPr>
          <a:xfrm>
            <a:off x="3505669"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4" name="Half-duplex assistant turn 1"/>
          <p:cNvSpPr/>
          <p:nvPr/>
        </p:nvSpPr>
        <p:spPr>
          <a:xfrm>
            <a:off x="3580228"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Half-duplex assistant turn 1"/>
          <p:cNvSpPr/>
          <p:nvPr/>
        </p:nvSpPr>
        <p:spPr>
          <a:xfrm>
            <a:off x="3654786"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6" name="Half-duplex assistant turn 1"/>
          <p:cNvSpPr/>
          <p:nvPr/>
        </p:nvSpPr>
        <p:spPr>
          <a:xfrm>
            <a:off x="3729345"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7" name="Half-duplex assistant turn 1"/>
          <p:cNvSpPr/>
          <p:nvPr/>
        </p:nvSpPr>
        <p:spPr>
          <a:xfrm>
            <a:off x="380390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8" name="Half-duplex user turn 2"/>
          <p:cNvSpPr/>
          <p:nvPr/>
        </p:nvSpPr>
        <p:spPr>
          <a:xfrm>
            <a:off x="3941064"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9" name="Half-duplex user turn 2"/>
          <p:cNvSpPr/>
          <p:nvPr/>
        </p:nvSpPr>
        <p:spPr>
          <a:xfrm>
            <a:off x="4016248"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Half-duplex user turn 2"/>
          <p:cNvSpPr/>
          <p:nvPr/>
        </p:nvSpPr>
        <p:spPr>
          <a:xfrm>
            <a:off x="4091432"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1" name="Half-duplex user turn 2"/>
          <p:cNvSpPr/>
          <p:nvPr/>
        </p:nvSpPr>
        <p:spPr>
          <a:xfrm>
            <a:off x="416661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2" name="Half-duplex user turn 2"/>
          <p:cNvSpPr/>
          <p:nvPr/>
        </p:nvSpPr>
        <p:spPr>
          <a:xfrm>
            <a:off x="4241800"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Half-duplex user turn 2"/>
          <p:cNvSpPr/>
          <p:nvPr/>
        </p:nvSpPr>
        <p:spPr>
          <a:xfrm>
            <a:off x="43169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4" name="Half-duplex user turn 2"/>
          <p:cNvSpPr/>
          <p:nvPr/>
        </p:nvSpPr>
        <p:spPr>
          <a:xfrm>
            <a:off x="4392168"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5" name="Half-duplex user turn 2"/>
          <p:cNvSpPr/>
          <p:nvPr/>
        </p:nvSpPr>
        <p:spPr>
          <a:xfrm>
            <a:off x="4467352"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Half-duplex user turn 2"/>
          <p:cNvSpPr/>
          <p:nvPr/>
        </p:nvSpPr>
        <p:spPr>
          <a:xfrm>
            <a:off x="4542536"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Half-duplex user turn 2"/>
          <p:cNvSpPr/>
          <p:nvPr/>
        </p:nvSpPr>
        <p:spPr>
          <a:xfrm>
            <a:off x="4617720"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Half-duplex assistant turn 2"/>
          <p:cNvSpPr/>
          <p:nvPr/>
        </p:nvSpPr>
        <p:spPr>
          <a:xfrm>
            <a:off x="475488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Half-duplex assistant turn 2"/>
          <p:cNvSpPr/>
          <p:nvPr/>
        </p:nvSpPr>
        <p:spPr>
          <a:xfrm>
            <a:off x="4834128"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Half-duplex assistant turn 2"/>
          <p:cNvSpPr/>
          <p:nvPr/>
        </p:nvSpPr>
        <p:spPr>
          <a:xfrm>
            <a:off x="491337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Half-duplex assistant turn 2"/>
          <p:cNvSpPr/>
          <p:nvPr/>
        </p:nvSpPr>
        <p:spPr>
          <a:xfrm>
            <a:off x="499262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2" name="Half-duplex assistant turn 2"/>
          <p:cNvSpPr/>
          <p:nvPr/>
        </p:nvSpPr>
        <p:spPr>
          <a:xfrm>
            <a:off x="507187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3" name="Half-duplex assistant turn 2"/>
          <p:cNvSpPr/>
          <p:nvPr/>
        </p:nvSpPr>
        <p:spPr>
          <a:xfrm>
            <a:off x="5151120"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4" name="Half-duplex assistant turn 2"/>
          <p:cNvSpPr/>
          <p:nvPr/>
        </p:nvSpPr>
        <p:spPr>
          <a:xfrm>
            <a:off x="5230368"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5" name="Half-duplex assistant turn 2"/>
          <p:cNvSpPr/>
          <p:nvPr/>
        </p:nvSpPr>
        <p:spPr>
          <a:xfrm>
            <a:off x="530961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6" name="Half-duplex assistant turn 2"/>
          <p:cNvSpPr/>
          <p:nvPr/>
        </p:nvSpPr>
        <p:spPr>
          <a:xfrm>
            <a:off x="5388864"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7" name="Half-duplex assistant turn 2"/>
          <p:cNvSpPr/>
          <p:nvPr/>
        </p:nvSpPr>
        <p:spPr>
          <a:xfrm>
            <a:off x="5468112"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68"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516368" y="2697480"/>
            <a:ext cx="356616" cy="320040"/>
          </a:xfrm>
          <a:prstGeom prst="rect">
            <a:avLst/>
          </a:prstGeom>
        </p:spPr>
      </p:pic>
      <p:pic>
        <p:nvPicPr>
          <p:cNvPr id="569"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046720" y="2697480"/>
            <a:ext cx="356616" cy="320040"/>
          </a:xfrm>
          <a:prstGeom prst="rect">
            <a:avLst/>
          </a:prstGeom>
        </p:spPr>
      </p:pic>
      <p:pic>
        <p:nvPicPr>
          <p:cNvPr id="570" name="Camera input frame"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577072" y="2697480"/>
            <a:ext cx="356616" cy="320040"/>
          </a:xfrm>
          <a:prstGeom prst="rect">
            <a:avLst/>
          </a:prstGeom>
        </p:spPr>
      </p:pic>
      <p:pic>
        <p:nvPicPr>
          <p:cNvPr id="571" name="Camera input frame"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107424" y="2697480"/>
            <a:ext cx="356616" cy="320040"/>
          </a:xfrm>
          <a:prstGeom prst="rect">
            <a:avLst/>
          </a:prstGeom>
        </p:spPr>
      </p:pic>
      <p:pic>
        <p:nvPicPr>
          <p:cNvPr id="572"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637776" y="2697480"/>
            <a:ext cx="356616" cy="320040"/>
          </a:xfrm>
          <a:prstGeom prst="rect">
            <a:avLst/>
          </a:prstGeom>
        </p:spPr>
      </p:pic>
      <p:pic>
        <p:nvPicPr>
          <p:cNvPr id="573"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168128" y="2697480"/>
            <a:ext cx="356616" cy="320040"/>
          </a:xfrm>
          <a:prstGeom prst="rect">
            <a:avLst/>
          </a:prstGeom>
        </p:spPr>
      </p:pic>
      <p:pic>
        <p:nvPicPr>
          <p:cNvPr id="574" name="Camera input frame"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698480" y="2697480"/>
            <a:ext cx="356616" cy="320040"/>
          </a:xfrm>
          <a:prstGeom prst="rect">
            <a:avLst/>
          </a:prstGeom>
        </p:spPr>
      </p:pic>
      <p:sp>
        <p:nvSpPr>
          <p:cNvPr id="575" name="Full-duplex initial user turn"/>
          <p:cNvSpPr/>
          <p:nvPr/>
        </p:nvSpPr>
        <p:spPr>
          <a:xfrm>
            <a:off x="757123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6" name="Full-duplex initial user turn"/>
          <p:cNvSpPr/>
          <p:nvPr/>
        </p:nvSpPr>
        <p:spPr>
          <a:xfrm>
            <a:off x="764514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7" name="Full-duplex initial user turn"/>
          <p:cNvSpPr/>
          <p:nvPr/>
        </p:nvSpPr>
        <p:spPr>
          <a:xfrm>
            <a:off x="771906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8" name="Full-duplex initial user turn"/>
          <p:cNvSpPr/>
          <p:nvPr/>
        </p:nvSpPr>
        <p:spPr>
          <a:xfrm>
            <a:off x="779297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9" name="Full-duplex initial user turn"/>
          <p:cNvSpPr/>
          <p:nvPr/>
        </p:nvSpPr>
        <p:spPr>
          <a:xfrm>
            <a:off x="786688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0" name="Full-duplex initial user turn"/>
          <p:cNvSpPr/>
          <p:nvPr/>
        </p:nvSpPr>
        <p:spPr>
          <a:xfrm>
            <a:off x="794080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1" name="Full-duplex initial user turn"/>
          <p:cNvSpPr/>
          <p:nvPr/>
        </p:nvSpPr>
        <p:spPr>
          <a:xfrm>
            <a:off x="801471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2" name="Full-duplex initial user turn"/>
          <p:cNvSpPr/>
          <p:nvPr/>
        </p:nvSpPr>
        <p:spPr>
          <a:xfrm>
            <a:off x="80886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3" name="Full-duplex initial user turn"/>
          <p:cNvSpPr/>
          <p:nvPr/>
        </p:nvSpPr>
        <p:spPr>
          <a:xfrm>
            <a:off x="816254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4" name="Full-duplex initial user turn"/>
          <p:cNvSpPr/>
          <p:nvPr/>
        </p:nvSpPr>
        <p:spPr>
          <a:xfrm>
            <a:off x="823645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5" name="Full-duplex initial user turn"/>
          <p:cNvSpPr/>
          <p:nvPr/>
        </p:nvSpPr>
        <p:spPr>
          <a:xfrm>
            <a:off x="831037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6" name="Full-duplex initial user turn"/>
          <p:cNvSpPr/>
          <p:nvPr/>
        </p:nvSpPr>
        <p:spPr>
          <a:xfrm>
            <a:off x="838428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7" name="Full-duplex initial user turn"/>
          <p:cNvSpPr/>
          <p:nvPr/>
        </p:nvSpPr>
        <p:spPr>
          <a:xfrm>
            <a:off x="845820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8" name="Full-duplex user interjection"/>
          <p:cNvSpPr/>
          <p:nvPr/>
        </p:nvSpPr>
        <p:spPr>
          <a:xfrm>
            <a:off x="9226296"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9" name="Full-duplex user interjection"/>
          <p:cNvSpPr/>
          <p:nvPr/>
        </p:nvSpPr>
        <p:spPr>
          <a:xfrm>
            <a:off x="9303715"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Full-duplex user interjection"/>
          <p:cNvSpPr/>
          <p:nvPr/>
        </p:nvSpPr>
        <p:spPr>
          <a:xfrm>
            <a:off x="9381134"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1" name="Full-duplex user interjection"/>
          <p:cNvSpPr/>
          <p:nvPr/>
        </p:nvSpPr>
        <p:spPr>
          <a:xfrm>
            <a:off x="94585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2" name="Full-duplex user interjection"/>
          <p:cNvSpPr/>
          <p:nvPr/>
        </p:nvSpPr>
        <p:spPr>
          <a:xfrm>
            <a:off x="9535973"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3" name="Full-duplex user interjection"/>
          <p:cNvSpPr/>
          <p:nvPr/>
        </p:nvSpPr>
        <p:spPr>
          <a:xfrm>
            <a:off x="961339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4" name="Full-duplex user interjection"/>
          <p:cNvSpPr/>
          <p:nvPr/>
        </p:nvSpPr>
        <p:spPr>
          <a:xfrm>
            <a:off x="9690811"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5" name="Full-duplex user interjection"/>
          <p:cNvSpPr/>
          <p:nvPr/>
        </p:nvSpPr>
        <p:spPr>
          <a:xfrm>
            <a:off x="97682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6" name="Full-duplex user interjection"/>
          <p:cNvSpPr/>
          <p:nvPr/>
        </p:nvSpPr>
        <p:spPr>
          <a:xfrm>
            <a:off x="9845650"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7" name="Full-duplex user interjection"/>
          <p:cNvSpPr/>
          <p:nvPr/>
        </p:nvSpPr>
        <p:spPr>
          <a:xfrm>
            <a:off x="9923069"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8" name="Full-duplex user interjection"/>
          <p:cNvSpPr/>
          <p:nvPr/>
        </p:nvSpPr>
        <p:spPr>
          <a:xfrm>
            <a:off x="10000488"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9" name="Full-duplex user interjection"/>
          <p:cNvSpPr/>
          <p:nvPr/>
        </p:nvSpPr>
        <p:spPr>
          <a:xfrm>
            <a:off x="10077907"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0" name="Full-duplex user interjection"/>
          <p:cNvSpPr/>
          <p:nvPr/>
        </p:nvSpPr>
        <p:spPr>
          <a:xfrm>
            <a:off x="10155326"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1" name="Full-duplex user interjection"/>
          <p:cNvSpPr/>
          <p:nvPr/>
        </p:nvSpPr>
        <p:spPr>
          <a:xfrm>
            <a:off x="1023274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2" name="Full-duplex user interjection"/>
          <p:cNvSpPr/>
          <p:nvPr/>
        </p:nvSpPr>
        <p:spPr>
          <a:xfrm>
            <a:off x="10310165"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3" name="Full-duplex user interjection"/>
          <p:cNvSpPr/>
          <p:nvPr/>
        </p:nvSpPr>
        <p:spPr>
          <a:xfrm>
            <a:off x="103875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4" name="Full-duplex output receives new input"/>
          <p:cNvSpPr/>
          <p:nvPr/>
        </p:nvSpPr>
        <p:spPr>
          <a:xfrm>
            <a:off x="859536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5" name="Full-duplex output receives new input"/>
          <p:cNvSpPr/>
          <p:nvPr/>
        </p:nvSpPr>
        <p:spPr>
          <a:xfrm>
            <a:off x="8669165"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6" name="Full-duplex output receives new input"/>
          <p:cNvSpPr/>
          <p:nvPr/>
        </p:nvSpPr>
        <p:spPr>
          <a:xfrm>
            <a:off x="8742970"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7" name="Full-duplex output receives new input"/>
          <p:cNvSpPr/>
          <p:nvPr/>
        </p:nvSpPr>
        <p:spPr>
          <a:xfrm>
            <a:off x="8816775"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8" name="Full-duplex output receives new input"/>
          <p:cNvSpPr/>
          <p:nvPr/>
        </p:nvSpPr>
        <p:spPr>
          <a:xfrm>
            <a:off x="8890581"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9" name="Full-duplex output receives new input"/>
          <p:cNvSpPr/>
          <p:nvPr/>
        </p:nvSpPr>
        <p:spPr>
          <a:xfrm>
            <a:off x="8964386"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0" name="Full-duplex output receives new input"/>
          <p:cNvSpPr/>
          <p:nvPr/>
        </p:nvSpPr>
        <p:spPr>
          <a:xfrm>
            <a:off x="9038191"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1" name="Full-duplex output receives new input"/>
          <p:cNvSpPr/>
          <p:nvPr/>
        </p:nvSpPr>
        <p:spPr>
          <a:xfrm>
            <a:off x="911199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2" name="Full-duplex output receives new input"/>
          <p:cNvSpPr/>
          <p:nvPr/>
        </p:nvSpPr>
        <p:spPr>
          <a:xfrm>
            <a:off x="9185801"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3" name="Full-duplex output receives new input"/>
          <p:cNvSpPr/>
          <p:nvPr/>
        </p:nvSpPr>
        <p:spPr>
          <a:xfrm>
            <a:off x="9259606"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4" name="Full-duplex output receives new input"/>
          <p:cNvSpPr/>
          <p:nvPr/>
        </p:nvSpPr>
        <p:spPr>
          <a:xfrm>
            <a:off x="9333411"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5" name="Full-duplex output receives new input"/>
          <p:cNvSpPr/>
          <p:nvPr/>
        </p:nvSpPr>
        <p:spPr>
          <a:xfrm>
            <a:off x="9407217"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6" name="Full-duplex output receives new input"/>
          <p:cNvSpPr/>
          <p:nvPr/>
        </p:nvSpPr>
        <p:spPr>
          <a:xfrm>
            <a:off x="9481022"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7" name="Full-duplex output receives new input"/>
          <p:cNvSpPr/>
          <p:nvPr/>
        </p:nvSpPr>
        <p:spPr>
          <a:xfrm>
            <a:off x="9554827"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8" name="Full-duplex output receives new input"/>
          <p:cNvSpPr/>
          <p:nvPr/>
        </p:nvSpPr>
        <p:spPr>
          <a:xfrm>
            <a:off x="962863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9" name="Full-duplex later output"/>
          <p:cNvSpPr/>
          <p:nvPr/>
        </p:nvSpPr>
        <p:spPr>
          <a:xfrm>
            <a:off x="10570464"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0" name="Full-duplex later output"/>
          <p:cNvSpPr/>
          <p:nvPr/>
        </p:nvSpPr>
        <p:spPr>
          <a:xfrm>
            <a:off x="10652760"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1" name="Full-duplex later output"/>
          <p:cNvSpPr/>
          <p:nvPr/>
        </p:nvSpPr>
        <p:spPr>
          <a:xfrm>
            <a:off x="1073505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2" name="Full-duplex later output"/>
          <p:cNvSpPr/>
          <p:nvPr/>
        </p:nvSpPr>
        <p:spPr>
          <a:xfrm>
            <a:off x="10817352"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3" name="Full-duplex later output"/>
          <p:cNvSpPr/>
          <p:nvPr/>
        </p:nvSpPr>
        <p:spPr>
          <a:xfrm>
            <a:off x="10899648"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4" name="Full-duplex later output"/>
          <p:cNvSpPr/>
          <p:nvPr/>
        </p:nvSpPr>
        <p:spPr>
          <a:xfrm>
            <a:off x="1098194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5" name="Full-duplex later output"/>
          <p:cNvSpPr/>
          <p:nvPr/>
        </p:nvSpPr>
        <p:spPr>
          <a:xfrm>
            <a:off x="11064240"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6" name="Full-duplex later output"/>
          <p:cNvSpPr/>
          <p:nvPr/>
        </p:nvSpPr>
        <p:spPr>
          <a:xfrm>
            <a:off x="1114653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7" name="Full-duplex later output"/>
          <p:cNvSpPr/>
          <p:nvPr/>
        </p:nvSpPr>
        <p:spPr>
          <a:xfrm>
            <a:off x="11228832"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8" name="User interjects during output"/>
          <p:cNvCxnSpPr/>
          <p:nvPr/>
        </p:nvCxnSpPr>
        <p:spPr>
          <a:xfrm>
            <a:off x="9226296" y="3136392"/>
            <a:ext cx="0" cy="996696"/>
          </a:xfrm>
          <a:prstGeom prst="line">
            <a:avLst/>
          </a:prstGeom>
          <a:ln w="1651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629" name="User interjects"/>
          <p:cNvSpPr txBox="1"/>
          <p:nvPr/>
        </p:nvSpPr>
        <p:spPr>
          <a:xfrm>
            <a:off x="9272016" y="4142232"/>
            <a:ext cx="1920240" cy="210312"/>
          </a:xfrm>
          <a:prstGeom prst="rect">
            <a:avLst/>
          </a:prstGeom>
          <a:noFill/>
        </p:spPr>
        <p:txBody>
          <a:bodyPr wrap="square" lIns="0" rIns="0" tIns="0" bIns="0" anchor="t">
            <a:spAutoFit/>
          </a:bodyPr>
          <a:lstStyle/>
          <a:p>
            <a:pPr algn="l">
              <a:lnSpc>
                <a:spcPct val="110000"/>
              </a:lnSpc>
              <a:spcAft>
                <a:spcPts val="0"/>
              </a:spcAft>
            </a:pPr>
            <a:r>
              <a:rPr sz="1100" b="0">
                <a:solidFill>
                  <a:srgbClr val="FFCB78"/>
                </a:solidFill>
                <a:latin typeface="Arial"/>
                <a:ea typeface="Arial"/>
                <a:cs typeface="Arial"/>
              </a:rPr>
              <a:t>User interjects</a:t>
            </a:r>
          </a:p>
        </p:txBody>
      </p:sp>
      <p:sp>
        <p:nvSpPr>
          <p:cNvPr id="630" name="→"/>
          <p:cNvSpPr txBox="1"/>
          <p:nvPr/>
        </p:nvSpPr>
        <p:spPr>
          <a:xfrm>
            <a:off x="5888736" y="3154680"/>
            <a:ext cx="365760" cy="365760"/>
          </a:xfrm>
          <a:prstGeom prst="rect">
            <a:avLst/>
          </a:prstGeom>
          <a:noFill/>
        </p:spPr>
        <p:txBody>
          <a:bodyPr wrap="square" lIns="0" rIns="0" tIns="0" bIns="0" anchor="t">
            <a:spAutoFit/>
          </a:bodyPr>
          <a:lstStyle/>
          <a:p>
            <a:pPr algn="ctr">
              <a:lnSpc>
                <a:spcPct val="110000"/>
              </a:lnSpc>
              <a:spcAft>
                <a:spcPts val="0"/>
              </a:spcAft>
            </a:pPr>
            <a:r>
              <a:rPr sz="2500" b="0">
                <a:solidFill>
                  <a:srgbClr val="526985"/>
                </a:solidFill>
                <a:latin typeface="Arial"/>
                <a:ea typeface="Arial"/>
                <a:cs typeface="Arial"/>
              </a:rPr>
              <a:t>→</a:t>
            </a:r>
          </a:p>
        </p:txBody>
      </p:sp>
      <p:sp>
        <p:nvSpPr>
          <p:cNvPr id="631" name="Shared capability"/>
          <p:cNvSpPr/>
          <p:nvPr/>
        </p:nvSpPr>
        <p:spPr>
          <a:xfrm>
            <a:off x="548640" y="4599432"/>
            <a:ext cx="11082528" cy="502920"/>
          </a:xfrm>
          <a:prstGeom prst="roundRect">
            <a:avLst>
              <a:gd name="adj" fmla="val 10000"/>
            </a:avLst>
          </a:prstGeom>
          <a:solidFill>
            <a:srgbClr val="ED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2" name="Shared: streamed responses"/>
          <p:cNvSpPr txBox="1"/>
          <p:nvPr/>
        </p:nvSpPr>
        <p:spPr>
          <a:xfrm>
            <a:off x="768096" y="4736592"/>
            <a:ext cx="4270248" cy="265176"/>
          </a:xfrm>
          <a:prstGeom prst="rect">
            <a:avLst/>
          </a:prstGeom>
          <a:noFill/>
        </p:spPr>
        <p:txBody>
          <a:bodyPr wrap="square" lIns="0" rIns="0" tIns="0" bIns="0" anchor="t">
            <a:spAutoFit/>
          </a:bodyPr>
          <a:lstStyle/>
          <a:p>
            <a:pPr algn="l">
              <a:lnSpc>
                <a:spcPct val="110000"/>
              </a:lnSpc>
              <a:spcAft>
                <a:spcPts val="0"/>
              </a:spcAft>
            </a:pPr>
            <a:r>
              <a:rPr sz="1700" b="1">
                <a:solidFill>
                  <a:srgbClr val="16304E"/>
                </a:solidFill>
                <a:latin typeface="Arial"/>
                <a:ea typeface="Arial"/>
                <a:cs typeface="Arial"/>
              </a:rPr>
              <a:t>Shared: streamed responses</a:t>
            </a:r>
          </a:p>
        </p:txBody>
      </p:sp>
      <p:sp>
        <p:nvSpPr>
          <p:cNvPr id="633" name="Both modes can deliver text and audio incrementally."/>
          <p:cNvSpPr txBox="1"/>
          <p:nvPr/>
        </p:nvSpPr>
        <p:spPr>
          <a:xfrm>
            <a:off x="5047488" y="4754880"/>
            <a:ext cx="6327648" cy="237744"/>
          </a:xfrm>
          <a:prstGeom prst="rect">
            <a:avLst/>
          </a:prstGeom>
          <a:noFill/>
        </p:spPr>
        <p:txBody>
          <a:bodyPr wrap="square" lIns="0" rIns="0" tIns="0" bIns="0" anchor="t">
            <a:spAutoFit/>
          </a:bodyPr>
          <a:lstStyle/>
          <a:p>
            <a:pPr algn="l">
              <a:lnSpc>
                <a:spcPct val="110000"/>
              </a:lnSpc>
              <a:spcAft>
                <a:spcPts val="0"/>
              </a:spcAft>
            </a:pPr>
            <a:r>
              <a:rPr sz="1370" b="0">
                <a:solidFill>
                  <a:srgbClr val="526985"/>
                </a:solidFill>
                <a:latin typeface="Arial"/>
                <a:ea typeface="Arial"/>
                <a:cs typeface="Arial"/>
              </a:rPr>
              <a:t>Both modes can deliver text and audio incrementally.</a:t>
            </a:r>
          </a:p>
        </p:txBody>
      </p:sp>
      <p:sp>
        <p:nvSpPr>
          <p:cNvPr id="634" name="Full-duplex capabilities"/>
          <p:cNvSpPr/>
          <p:nvPr/>
        </p:nvSpPr>
        <p:spPr>
          <a:xfrm>
            <a:off x="548640" y="5330952"/>
            <a:ext cx="11082528" cy="987552"/>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5" name="Full-duplex accent"/>
          <p:cNvSpPr/>
          <p:nvPr/>
        </p:nvSpPr>
        <p:spPr>
          <a:xfrm>
            <a:off x="548640" y="5330952"/>
            <a:ext cx="36576" cy="987552"/>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36" name="Feature divider"/>
          <p:cNvCxnSpPr/>
          <p:nvPr/>
        </p:nvCxnSpPr>
        <p:spPr>
          <a:xfrm>
            <a:off x="6062472" y="5495544"/>
            <a:ext cx="0" cy="640080"/>
          </a:xfrm>
          <a:prstGeom prst="line">
            <a:avLst/>
          </a:prstGeom>
          <a:ln w="10160">
            <a:solidFill>
              <a:srgbClr val="DFE7EF"/>
            </a:solidFill>
          </a:ln>
          <a:effectLst/>
        </p:spPr>
        <p:style>
          <a:lnRef idx="2">
            <a:schemeClr val="accent1"/>
          </a:lnRef>
          <a:fillRef idx="0">
            <a:schemeClr val="accent1"/>
          </a:fillRef>
          <a:effectRef idx="0">
            <a:schemeClr val="accent1"/>
          </a:effectRef>
          <a:fontRef idx="minor">
            <a:schemeClr val="tx1"/>
          </a:fontRef>
        </p:style>
      </p:cxnSp>
      <p:sp>
        <p:nvSpPr>
          <p:cNvPr id="637" name="Concurrent input &amp; output"/>
          <p:cNvSpPr txBox="1"/>
          <p:nvPr/>
        </p:nvSpPr>
        <p:spPr>
          <a:xfrm>
            <a:off x="777240" y="5477256"/>
            <a:ext cx="5020056" cy="283464"/>
          </a:xfrm>
          <a:prstGeom prst="rect">
            <a:avLst/>
          </a:prstGeom>
          <a:noFill/>
        </p:spPr>
        <p:txBody>
          <a:bodyPr wrap="square" lIns="0" rIns="0" tIns="0" bIns="0" anchor="t">
            <a:spAutoFit/>
          </a:bodyPr>
          <a:lstStyle/>
          <a:p>
            <a:pPr algn="l">
              <a:lnSpc>
                <a:spcPct val="110000"/>
              </a:lnSpc>
              <a:spcAft>
                <a:spcPts val="0"/>
              </a:spcAft>
            </a:pPr>
            <a:r>
              <a:rPr sz="1800" b="1">
                <a:solidFill>
                  <a:srgbClr val="347FF0"/>
                </a:solidFill>
                <a:latin typeface="Arial"/>
                <a:ea typeface="Arial"/>
                <a:cs typeface="Arial"/>
              </a:rPr>
              <a:t>Concurrent input &amp; output</a:t>
            </a:r>
          </a:p>
        </p:txBody>
      </p:sp>
      <p:sp>
        <p:nvSpPr>
          <p:cNvPr id="638" name="Keep receiving new input&#10;while the assistant responds."/>
          <p:cNvSpPr txBox="1"/>
          <p:nvPr/>
        </p:nvSpPr>
        <p:spPr>
          <a:xfrm>
            <a:off x="777240" y="5806440"/>
            <a:ext cx="5020056"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Arial"/>
                <a:ea typeface="Arial"/>
                <a:cs typeface="Arial"/>
              </a:rPr>
              <a:t>Keep receiving new input</a:t>
            </a:r>
          </a:p>
          <a:p>
            <a:pPr algn="l">
              <a:lnSpc>
                <a:spcPct val="110000"/>
              </a:lnSpc>
              <a:spcAft>
                <a:spcPts val="0"/>
              </a:spcAft>
            </a:pPr>
            <a:r>
              <a:rPr sz="1400" b="0">
                <a:solidFill>
                  <a:srgbClr val="16304E"/>
                </a:solidFill>
                <a:latin typeface="Arial"/>
                <a:ea typeface="Arial"/>
                <a:cs typeface="Arial"/>
              </a:rPr>
              <a:t>while the assistant responds.</a:t>
            </a:r>
          </a:p>
        </p:txBody>
      </p:sp>
      <p:sp>
        <p:nvSpPr>
          <p:cNvPr id="639" name="Adaptive interaction"/>
          <p:cNvSpPr txBox="1"/>
          <p:nvPr/>
        </p:nvSpPr>
        <p:spPr>
          <a:xfrm>
            <a:off x="6318504" y="5477256"/>
            <a:ext cx="5029200" cy="283464"/>
          </a:xfrm>
          <a:prstGeom prst="rect">
            <a:avLst/>
          </a:prstGeom>
          <a:noFill/>
        </p:spPr>
        <p:txBody>
          <a:bodyPr wrap="square" lIns="0" rIns="0" tIns="0" bIns="0" anchor="t">
            <a:spAutoFit/>
          </a:bodyPr>
          <a:lstStyle/>
          <a:p>
            <a:pPr algn="l">
              <a:lnSpc>
                <a:spcPct val="110000"/>
              </a:lnSpc>
              <a:spcAft>
                <a:spcPts val="0"/>
              </a:spcAft>
            </a:pPr>
            <a:r>
              <a:rPr sz="1800" b="1">
                <a:solidFill>
                  <a:srgbClr val="008E96"/>
                </a:solidFill>
                <a:latin typeface="Arial"/>
                <a:ea typeface="Arial"/>
                <a:cs typeface="Arial"/>
              </a:rPr>
              <a:t>Adaptive interaction</a:t>
            </a:r>
          </a:p>
        </p:txBody>
      </p:sp>
      <p:sp>
        <p:nvSpPr>
          <p:cNvPr id="640" name="Native duplex models can use new input&#10;to shape the next output or yield."/>
          <p:cNvSpPr txBox="1"/>
          <p:nvPr/>
        </p:nvSpPr>
        <p:spPr>
          <a:xfrm>
            <a:off x="6318504" y="5806440"/>
            <a:ext cx="5029200"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Arial"/>
                <a:ea typeface="Arial"/>
                <a:cs typeface="Arial"/>
              </a:rPr>
              <a:t>Native duplex models can use new input</a:t>
            </a:r>
          </a:p>
          <a:p>
            <a:pPr algn="l">
              <a:lnSpc>
                <a:spcPct val="110000"/>
              </a:lnSpc>
              <a:spcAft>
                <a:spcPts val="0"/>
              </a:spcAft>
            </a:pPr>
            <a:r>
              <a:rPr sz="1400" b="0">
                <a:solidFill>
                  <a:srgbClr val="16304E"/>
                </a:solidFill>
                <a:latin typeface="Arial"/>
                <a:ea typeface="Arial"/>
                <a:cs typeface="Arial"/>
              </a:rPr>
              <a:t>to shape the next output or yield.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Interaction controls depend on the model and demo profile.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13</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RESPONSE CONTROL</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audio and video input</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The model chooses LISTEN or SPEAK</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 + VAD</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microphone input</a:t>
            </a:r>
          </a:p>
          <a:p>
            <a:pPr algn="l">
              <a:lnSpc>
                <a:spcPct val="110000"/>
              </a:lnSpc>
              <a:spcAft>
                <a:spcPts val="0"/>
              </a:spcAft>
            </a:pPr>
            <a:r>
              <a:rPr sz="1180" b="0">
                <a:solidFill>
                  <a:srgbClr val="142B45"/>
                </a:solidFill>
                <a:latin typeface="Arial"/>
                <a:ea typeface="Arial"/>
                <a:cs typeface="Arial"/>
              </a:rPr>
              <a:t>with Server VAD</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VAD triggers playback stop</a:t>
            </a:r>
          </a:p>
          <a:p>
            <a:pPr algn="l">
              <a:lnSpc>
                <a:spcPct val="110000"/>
              </a:lnSpc>
              <a:spcAft>
                <a:spcPts val="0"/>
              </a:spcAft>
            </a:pPr>
            <a:r>
              <a:rPr sz="1180" b="0">
                <a:solidFill>
                  <a:srgbClr val="142B45"/>
                </a:solidFill>
                <a:latin typeface="Arial"/>
                <a:ea typeface="Arial"/>
                <a:cs typeface="Arial"/>
              </a:rPr>
              <a:t>and server cancellation*</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 demo</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 to talk; release to submit</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Holding stops local playback;</a:t>
            </a:r>
          </a:p>
          <a:p>
            <a:pPr algn="l">
              <a:lnSpc>
                <a:spcPct val="110000"/>
              </a:lnSpc>
              <a:spcAft>
                <a:spcPts val="0"/>
              </a:spcAft>
            </a:pPr>
            <a:r>
              <a:rPr sz="1180" b="0">
                <a:solidFill>
                  <a:srgbClr val="142B45"/>
                </a:solidFill>
                <a:latin typeface="Arial"/>
                <a:ea typeface="Arial"/>
                <a:cs typeface="Arial"/>
              </a:rPr>
              <a:t>server generation may continue</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a:solidFill>
                  <a:srgbClr val="586B7E"/>
                </a:solidFill>
                <a:latin typeface="Arial"/>
                <a:ea typeface="Arial"/>
                <a:cs typeface="Arial"/>
              </a:rPr>
              <a:t>PersonaPlex: explicit cancel restarts conversation context; disconnect requires a new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MODEL-DRIVEN SPEECH</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PersonaPlex · MiniCPM-o 4.5</a:t>
            </a:r>
          </a:p>
          <a:p>
            <a:pPr algn="l">
              <a:lnSpc>
                <a:spcPct val="110000"/>
              </a:lnSpc>
              <a:spcAft>
                <a:spcPts val="0"/>
              </a:spcAft>
            </a:pPr>
            <a:r>
              <a:rPr sz="1050" b="0">
                <a:solidFill>
                  <a:srgbClr val="142B45"/>
                </a:solidFill>
                <a:latin typeface="Arial"/>
                <a:ea typeface="Arial"/>
                <a:cs typeface="Arial"/>
              </a:rPr>
              <a:t>The model controls when to speak</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AURA button · Qwen VAD demo</a:t>
            </a:r>
          </a:p>
          <a:p>
            <a:pPr algn="l">
              <a:lnSpc>
                <a:spcPct val="110000"/>
              </a:lnSpc>
              <a:spcAft>
                <a:spcPts val="0"/>
              </a:spcAft>
            </a:pPr>
            <a:r>
              <a:rPr sz="1050" b="0">
                <a:solidFill>
                  <a:srgbClr val="142B45"/>
                </a:solidFill>
                <a:latin typeface="Arial"/>
                <a:ea typeface="Arial"/>
                <a:cs typeface="Arial"/>
              </a:rPr>
              <a:t>Stops playback; inference may continue</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 Server VAD*</a:t>
            </a:r>
          </a:p>
          <a:p>
            <a:pPr algn="l">
              <a:lnSpc>
                <a:spcPct val="110000"/>
              </a:lnSpc>
              <a:spcAft>
                <a:spcPts val="0"/>
              </a:spcAft>
            </a:pPr>
            <a:r>
              <a:rPr sz="1050" b="0">
                <a:solidFill>
                  <a:srgbClr val="142B45"/>
                </a:solidFill>
                <a:latin typeface="Arial"/>
                <a:ea typeface="Arial"/>
                <a:cs typeface="Arial"/>
              </a:rPr>
              <a:t>Cancels the active generation</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Demo controls vary by model. Qwen VAD cancellation requires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audio streaming</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The model generates speech or silence</a:t>
            </a:r>
          </a:p>
          <a:p>
            <a:pPr algn="l">
              <a:lnSpc>
                <a:spcPct val="110000"/>
              </a:lnSpc>
              <a:spcAft>
                <a:spcPts val="0"/>
              </a:spcAft>
            </a:pPr>
            <a:r>
              <a:rPr sz="1180" b="0">
                <a:solidFill>
                  <a:srgbClr val="142B45"/>
                </a:solidFill>
                <a:latin typeface="Arial"/>
                <a:ea typeface="Arial"/>
                <a:cs typeface="Arial"/>
              </a:rPr>
              <a:t>while receiving audio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13</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en-US">
                <a:solidFill>
                  <a:srgbClr val="008E96"/>
                </a:solidFill>
                <a:latin typeface="Arial"/>
                <a:ea typeface="Arial"/>
                <a:cs typeface="Arial"/>
              </a:rPr>
              <a:t>Model-dependent extensions: video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13</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handles</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output buffers; close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commands / session ops</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events</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protocol; EngineClient routes commands and events; Orchestrator coordinates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13</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Stage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a:solidFill>
                  <a:srgbClr val="586B7E"/>
                </a:solidFill>
                <a:latin typeface="Arial"/>
                <a:ea typeface="Arial"/>
                <a:cs typeface="Arial"/>
              </a:rPr>
              <a:t>Scheduler · workers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Prepared input → Stage execution</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a:solidFill>
                  <a:srgbClr val="142B45"/>
                </a:solidFill>
                <a:latin typeface="Arial"/>
                <a:ea typeface="Arial"/>
                <a:cs typeface="Arial"/>
              </a:rPr>
              <a:t>Native: append to a live request · Turn-based: generate after commit · Input can continue in both modes</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13</a:t>
            </a:r>
          </a:p>
        </p:txBody>
      </p:sp>
      <p:sp>
        <p:nvSpPr>
          <p:cNvPr id="501" name="From live input to speech: stages and state"/>
          <p:cNvSpPr txBox="1"/>
          <p:nvPr/>
        </p:nvSpPr>
        <p:spPr>
          <a:xfrm>
            <a:off x="548640" y="1005840"/>
            <a:ext cx="11082528" cy="539496"/>
          </a:xfrm>
          <a:prstGeom prst="rect">
            <a:avLst/>
          </a:prstGeom>
          <a:noFill/>
        </p:spPr>
        <p:txBody>
          <a:bodyPr wrap="square" lIns="0" rIns="0" tIns="0" bIns="0" anchor="t">
            <a:noAutofit/>
          </a:bodyPr>
          <a:lstStyle/>
          <a:p>
            <a:pPr algn="l">
              <a:lnSpc>
                <a:spcPct val="108000"/>
              </a:lnSpc>
              <a:spcAft>
                <a:spcPts val="0"/>
              </a:spcAft>
            </a:pPr>
            <a:r>
              <a:rPr sz="3000" b="1">
                <a:solidFill>
                  <a:srgbClr val="16304E"/>
                </a:solidFill>
                <a:latin typeface="Arial"/>
                <a:ea typeface="Arial"/>
                <a:cs typeface="Arial"/>
              </a:rPr>
              <a:t>From live input to speech: stages and state</a:t>
            </a:r>
          </a:p>
        </p:txBody>
      </p:sp>
      <p:sp>
        <p:nvSpPr>
          <p:cNvPr id="502" name="Native duplex reuses live compute state. Turn-based execution builds a new request from history."/>
          <p:cNvSpPr txBox="1"/>
          <p:nvPr/>
        </p:nvSpPr>
        <p:spPr>
          <a:xfrm>
            <a:off x="576072" y="1655064"/>
            <a:ext cx="10991088" cy="310896"/>
          </a:xfrm>
          <a:prstGeom prst="rect">
            <a:avLst/>
          </a:prstGeom>
          <a:noFill/>
        </p:spPr>
        <p:txBody>
          <a:bodyPr wrap="square" lIns="0" rIns="0" tIns="0" bIns="0" anchor="t">
            <a:noAutofit/>
          </a:bodyPr>
          <a:lstStyle/>
          <a:p>
            <a:pPr algn="l">
              <a:lnSpc>
                <a:spcPct val="108000"/>
              </a:lnSpc>
              <a:spcAft>
                <a:spcPts val="0"/>
              </a:spcAft>
            </a:pPr>
            <a:r>
              <a:rPr sz="1440" b="0">
                <a:solidFill>
                  <a:srgbClr val="526985"/>
                </a:solidFill>
                <a:latin typeface="Arial"/>
                <a:ea typeface="Arial"/>
                <a:cs typeface="Arial"/>
              </a:rPr>
              <a:t>Native duplex reuses live compute state. Turn-based execution builds a new request from history.</a:t>
            </a:r>
          </a:p>
        </p:txBody>
      </p:sp>
      <p:sp>
        <p:nvSpPr>
          <p:cNvPr id="503" name="MODEL / INPUT"/>
          <p:cNvSpPr txBox="1"/>
          <p:nvPr/>
        </p:nvSpPr>
        <p:spPr>
          <a:xfrm>
            <a:off x="694944" y="2057400"/>
            <a:ext cx="1664208"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Arial"/>
                <a:ea typeface="Arial"/>
                <a:cs typeface="Arial"/>
              </a:rPr>
              <a:t>MODEL / INPUT</a:t>
            </a:r>
          </a:p>
        </p:txBody>
      </p:sp>
      <p:sp>
        <p:nvSpPr>
          <p:cNvPr id="504" name="STAGES → SPOKEN OUTPUT"/>
          <p:cNvSpPr txBox="1"/>
          <p:nvPr/>
        </p:nvSpPr>
        <p:spPr>
          <a:xfrm>
            <a:off x="2441448" y="2057400"/>
            <a:ext cx="6309360"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Arial"/>
                <a:ea typeface="Arial"/>
                <a:cs typeface="Arial"/>
              </a:rPr>
              <a:t>STAGES → SPOKEN OUTPUT</a:t>
            </a:r>
          </a:p>
        </p:txBody>
      </p:sp>
      <p:sp>
        <p:nvSpPr>
          <p:cNvPr id="505" name="WHAT CARRIES FORWARD"/>
          <p:cNvSpPr txBox="1"/>
          <p:nvPr/>
        </p:nvSpPr>
        <p:spPr>
          <a:xfrm>
            <a:off x="9253728" y="2057400"/>
            <a:ext cx="2286000" cy="210312"/>
          </a:xfrm>
          <a:prstGeom prst="rect">
            <a:avLst/>
          </a:prstGeom>
          <a:noFill/>
        </p:spPr>
        <p:txBody>
          <a:bodyPr wrap="square" lIns="0" rIns="0" tIns="0" bIns="0" anchor="t">
            <a:noAutofit/>
          </a:bodyPr>
          <a:lstStyle/>
          <a:p>
            <a:pPr algn="l">
              <a:lnSpc>
                <a:spcPct val="108000"/>
              </a:lnSpc>
              <a:spcAft>
                <a:spcPts val="0"/>
              </a:spcAft>
            </a:pPr>
            <a:r>
              <a:rPr sz="1150" b="1">
                <a:solidFill>
                  <a:srgbClr val="526985"/>
                </a:solidFill>
                <a:latin typeface="Arial"/>
                <a:ea typeface="Arial"/>
                <a:cs typeface="Arial"/>
              </a:rPr>
              <a:t>WHAT CARRIES FORWARD</a:t>
            </a:r>
          </a:p>
        </p:txBody>
      </p:sp>
      <p:sp>
        <p:nvSpPr>
          <p:cNvPr id="506" name="PersonaPlex row"/>
          <p:cNvSpPr/>
          <p:nvPr/>
        </p:nvSpPr>
        <p:spPr>
          <a:xfrm>
            <a:off x="548640" y="2368296"/>
            <a:ext cx="11082528" cy="886968"/>
          </a:xfrm>
          <a:prstGeom prst="rect">
            <a:avLst/>
          </a:prstGeom>
          <a:solidFill>
            <a:srgbClr val="F3F6FA"/>
          </a:solidFill>
          <a:ln w="11430">
            <a:noFill/>
          </a:ln>
        </p:spPr>
      </p:sp>
      <p:sp>
        <p:nvSpPr>
          <p:cNvPr id="507" name="PersonaPlex mode accent"/>
          <p:cNvSpPr/>
          <p:nvPr/>
        </p:nvSpPr>
        <p:spPr>
          <a:xfrm>
            <a:off x="548640" y="2368296"/>
            <a:ext cx="32004" cy="886968"/>
          </a:xfrm>
          <a:prstGeom prst="rect">
            <a:avLst/>
          </a:prstGeom>
          <a:solidFill>
            <a:srgbClr val="347FF0"/>
          </a:solidFill>
          <a:ln w="11430">
            <a:noFill/>
          </a:ln>
        </p:spPr>
      </p:sp>
      <p:cxnSp>
        <p:nvCxnSpPr>
          <p:cNvPr id="508" name="PersonaPlex state separator"/>
          <p:cNvCxnSpPr/>
          <p:nvPr/>
        </p:nvCxnSpPr>
        <p:spPr>
          <a:xfrm>
            <a:off x="9079992" y="2496312"/>
            <a:ext cx="0" cy="658368"/>
          </a:xfrm>
          <a:prstGeom prst="line">
            <a:avLst/>
          </a:prstGeom>
          <a:ln w="10795">
            <a:solidFill>
              <a:srgbClr val="CAD5E2"/>
            </a:solidFill>
            <a:tailEnd type="none" w="sm" len="sm"/>
          </a:ln>
        </p:spPr>
      </p:cxnSp>
      <p:sp>
        <p:nvSpPr>
          <p:cNvPr id="509" name="PersonaPlex"/>
          <p:cNvSpPr txBox="1"/>
          <p:nvPr/>
        </p:nvSpPr>
        <p:spPr>
          <a:xfrm>
            <a:off x="694944" y="2478024"/>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PersonaPlex</a:t>
            </a:r>
          </a:p>
        </p:txBody>
      </p:sp>
      <p:sp>
        <p:nvSpPr>
          <p:cNvPr id="510" name="Native duplex"/>
          <p:cNvSpPr txBox="1"/>
          <p:nvPr/>
        </p:nvSpPr>
        <p:spPr>
          <a:xfrm>
            <a:off x="694944" y="2779776"/>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1" name="PCM audio · 80 ms frames"/>
          <p:cNvSpPr txBox="1"/>
          <p:nvPr/>
        </p:nvSpPr>
        <p:spPr>
          <a:xfrm>
            <a:off x="694944" y="3017520"/>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80 ms frames</a:t>
            </a:r>
          </a:p>
        </p:txBody>
      </p:sp>
      <p:sp>
        <p:nvSpPr>
          <p:cNvPr id="512" name="Live compute state"/>
          <p:cNvSpPr txBox="1"/>
          <p:nvPr/>
        </p:nvSpPr>
        <p:spPr>
          <a:xfrm>
            <a:off x="9253728" y="2532888"/>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Arial"/>
                <a:ea typeface="Arial"/>
                <a:cs typeface="Arial"/>
              </a:rPr>
              <a:t>Live compute state</a:t>
            </a:r>
          </a:p>
        </p:txBody>
      </p:sp>
      <p:sp>
        <p:nvSpPr>
          <p:cNvPr id="513" name="S0: KV + Mimi encoder&#10;S1: Mimi decoder"/>
          <p:cNvSpPr txBox="1"/>
          <p:nvPr/>
        </p:nvSpPr>
        <p:spPr>
          <a:xfrm>
            <a:off x="9253728" y="2816352"/>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S0: KV + Mimi encoder</a:t>
            </a:r>
          </a:p>
          <a:p>
            <a:pPr algn="l">
              <a:lnSpc>
                <a:spcPct val="108000"/>
              </a:lnSpc>
              <a:spcAft>
                <a:spcPts val="0"/>
              </a:spcAft>
            </a:pPr>
            <a:r>
              <a:rPr sz="1200" b="0">
                <a:solidFill>
                  <a:srgbClr val="16304E"/>
                </a:solidFill>
                <a:latin typeface="Arial"/>
                <a:ea typeface="Arial"/>
                <a:cs typeface="Arial"/>
              </a:rPr>
              <a:t>S1: Mimi decoder</a:t>
            </a:r>
          </a:p>
        </p:txBody>
      </p:sp>
      <p:sp>
        <p:nvSpPr>
          <p:cNvPr id="514" name="MiniCPM-o 4.5 row"/>
          <p:cNvSpPr/>
          <p:nvPr/>
        </p:nvSpPr>
        <p:spPr>
          <a:xfrm>
            <a:off x="548640" y="3310128"/>
            <a:ext cx="11082528" cy="886968"/>
          </a:xfrm>
          <a:prstGeom prst="rect">
            <a:avLst/>
          </a:prstGeom>
          <a:solidFill>
            <a:srgbClr val="F3F6FA"/>
          </a:solidFill>
          <a:ln w="11430">
            <a:noFill/>
          </a:ln>
        </p:spPr>
      </p:sp>
      <p:sp>
        <p:nvSpPr>
          <p:cNvPr id="515" name="MiniCPM-o 4.5 mode accent"/>
          <p:cNvSpPr/>
          <p:nvPr/>
        </p:nvSpPr>
        <p:spPr>
          <a:xfrm>
            <a:off x="548640" y="3310128"/>
            <a:ext cx="32004" cy="886968"/>
          </a:xfrm>
          <a:prstGeom prst="rect">
            <a:avLst/>
          </a:prstGeom>
          <a:solidFill>
            <a:srgbClr val="347FF0"/>
          </a:solidFill>
          <a:ln w="11430">
            <a:noFill/>
          </a:ln>
        </p:spPr>
      </p:sp>
      <p:cxnSp>
        <p:nvCxnSpPr>
          <p:cNvPr id="516" name="MiniCPM-o 4.5 state separator"/>
          <p:cNvCxnSpPr/>
          <p:nvPr/>
        </p:nvCxnSpPr>
        <p:spPr>
          <a:xfrm>
            <a:off x="9079992" y="3438144"/>
            <a:ext cx="0" cy="658368"/>
          </a:xfrm>
          <a:prstGeom prst="line">
            <a:avLst/>
          </a:prstGeom>
          <a:ln w="10795">
            <a:solidFill>
              <a:srgbClr val="CAD5E2"/>
            </a:solidFill>
            <a:tailEnd type="none" w="sm" len="sm"/>
          </a:ln>
        </p:spPr>
      </p:cxnSp>
      <p:sp>
        <p:nvSpPr>
          <p:cNvPr id="517" name="MiniCPM-o 4.5"/>
          <p:cNvSpPr txBox="1"/>
          <p:nvPr/>
        </p:nvSpPr>
        <p:spPr>
          <a:xfrm>
            <a:off x="694944" y="3419856"/>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MiniCPM-o 4.5</a:t>
            </a:r>
          </a:p>
        </p:txBody>
      </p:sp>
      <p:sp>
        <p:nvSpPr>
          <p:cNvPr id="518" name="Native duplex"/>
          <p:cNvSpPr txBox="1"/>
          <p:nvPr/>
        </p:nvSpPr>
        <p:spPr>
          <a:xfrm>
            <a:off x="694944" y="3721608"/>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9" name="PCM audio + video"/>
          <p:cNvSpPr txBox="1"/>
          <p:nvPr/>
        </p:nvSpPr>
        <p:spPr>
          <a:xfrm>
            <a:off x="694944" y="3959352"/>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video</a:t>
            </a:r>
          </a:p>
        </p:txBody>
      </p:sp>
      <p:sp>
        <p:nvSpPr>
          <p:cNvPr id="520" name="Live compute state"/>
          <p:cNvSpPr txBox="1"/>
          <p:nvPr/>
        </p:nvSpPr>
        <p:spPr>
          <a:xfrm>
            <a:off x="9253728" y="3474720"/>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Arial"/>
                <a:ea typeface="Arial"/>
                <a:cs typeface="Arial"/>
              </a:rPr>
              <a:t>Live compute state</a:t>
            </a:r>
          </a:p>
        </p:txBody>
      </p:sp>
      <p:sp>
        <p:nvSpPr>
          <p:cNvPr id="521" name="S0: LLM KV + audio state&#10;LISTEN keeps request alive."/>
          <p:cNvSpPr txBox="1"/>
          <p:nvPr/>
        </p:nvSpPr>
        <p:spPr>
          <a:xfrm>
            <a:off x="9253728" y="3758184"/>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S0: LLM KV + audio state</a:t>
            </a:r>
          </a:p>
          <a:p>
            <a:pPr algn="l">
              <a:lnSpc>
                <a:spcPct val="108000"/>
              </a:lnSpc>
              <a:spcAft>
                <a:spcPts val="0"/>
              </a:spcAft>
            </a:pPr>
            <a:r>
              <a:rPr sz="1200" b="0">
                <a:solidFill>
                  <a:srgbClr val="16304E"/>
                </a:solidFill>
                <a:latin typeface="Arial"/>
                <a:ea typeface="Arial"/>
                <a:cs typeface="Arial"/>
              </a:rPr>
              <a:t>LISTEN keeps request alive.</a:t>
            </a:r>
          </a:p>
        </p:txBody>
      </p:sp>
      <p:sp>
        <p:nvSpPr>
          <p:cNvPr id="522" name="AURA row"/>
          <p:cNvSpPr/>
          <p:nvPr/>
        </p:nvSpPr>
        <p:spPr>
          <a:xfrm>
            <a:off x="548640" y="4251960"/>
            <a:ext cx="11082528" cy="886968"/>
          </a:xfrm>
          <a:prstGeom prst="rect">
            <a:avLst/>
          </a:prstGeom>
          <a:solidFill>
            <a:srgbClr val="F3F6FA"/>
          </a:solidFill>
          <a:ln w="11430">
            <a:noFill/>
          </a:ln>
        </p:spPr>
      </p:sp>
      <p:sp>
        <p:nvSpPr>
          <p:cNvPr id="523" name="AURA mode accent"/>
          <p:cNvSpPr/>
          <p:nvPr/>
        </p:nvSpPr>
        <p:spPr>
          <a:xfrm>
            <a:off x="548640" y="4251960"/>
            <a:ext cx="32004" cy="886968"/>
          </a:xfrm>
          <a:prstGeom prst="rect">
            <a:avLst/>
          </a:prstGeom>
          <a:solidFill>
            <a:srgbClr val="008E96"/>
          </a:solidFill>
          <a:ln w="11430">
            <a:noFill/>
          </a:ln>
        </p:spPr>
      </p:sp>
      <p:cxnSp>
        <p:nvCxnSpPr>
          <p:cNvPr id="524" name="AURA state separator"/>
          <p:cNvCxnSpPr/>
          <p:nvPr/>
        </p:nvCxnSpPr>
        <p:spPr>
          <a:xfrm>
            <a:off x="9079992" y="4379976"/>
            <a:ext cx="0" cy="658368"/>
          </a:xfrm>
          <a:prstGeom prst="line">
            <a:avLst/>
          </a:prstGeom>
          <a:ln w="10795">
            <a:solidFill>
              <a:srgbClr val="CAD5E2"/>
            </a:solidFill>
            <a:tailEnd type="none" w="sm" len="sm"/>
          </a:ln>
        </p:spPr>
      </p:cxnSp>
      <p:sp>
        <p:nvSpPr>
          <p:cNvPr id="525" name="AURA"/>
          <p:cNvSpPr txBox="1"/>
          <p:nvPr/>
        </p:nvSpPr>
        <p:spPr>
          <a:xfrm>
            <a:off x="694944" y="4361688"/>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AURA</a:t>
            </a:r>
          </a:p>
        </p:txBody>
      </p:sp>
      <p:sp>
        <p:nvSpPr>
          <p:cNvPr id="526" name="Turn-based · commit"/>
          <p:cNvSpPr txBox="1"/>
          <p:nvPr/>
        </p:nvSpPr>
        <p:spPr>
          <a:xfrm>
            <a:off x="694944" y="4663440"/>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27" name="PCM audio + video"/>
          <p:cNvSpPr txBox="1"/>
          <p:nvPr/>
        </p:nvSpPr>
        <p:spPr>
          <a:xfrm>
            <a:off x="694944" y="4901184"/>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video</a:t>
            </a:r>
          </a:p>
        </p:txBody>
      </p:sp>
      <p:sp>
        <p:nvSpPr>
          <p:cNvPr id="528" name="Conversation history"/>
          <p:cNvSpPr txBox="1"/>
          <p:nvPr/>
        </p:nvSpPr>
        <p:spPr>
          <a:xfrm>
            <a:off x="9253728" y="4416552"/>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Arial"/>
                <a:ea typeface="Arial"/>
                <a:cs typeface="Arial"/>
              </a:rPr>
              <a:t>Conversation history</a:t>
            </a:r>
          </a:p>
        </p:txBody>
      </p:sp>
      <p:sp>
        <p:nvSpPr>
          <p:cNvPr id="529" name="ASR text + video clips&#10;+ assistant text"/>
          <p:cNvSpPr txBox="1"/>
          <p:nvPr/>
        </p:nvSpPr>
        <p:spPr>
          <a:xfrm>
            <a:off x="9253728" y="4700016"/>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ASR text + video clips</a:t>
            </a:r>
          </a:p>
          <a:p>
            <a:pPr algn="l">
              <a:lnSpc>
                <a:spcPct val="108000"/>
              </a:lnSpc>
              <a:spcAft>
                <a:spcPts val="0"/>
              </a:spcAft>
            </a:pPr>
            <a:r>
              <a:rPr sz="1200" b="0">
                <a:solidFill>
                  <a:srgbClr val="16304E"/>
                </a:solidFill>
                <a:latin typeface="Arial"/>
                <a:ea typeface="Arial"/>
                <a:cs typeface="Arial"/>
              </a:rPr>
              <a:t>+ assistant text</a:t>
            </a:r>
          </a:p>
        </p:txBody>
      </p:sp>
      <p:sp>
        <p:nvSpPr>
          <p:cNvPr id="530" name="Qwen3-Omni row"/>
          <p:cNvSpPr/>
          <p:nvPr/>
        </p:nvSpPr>
        <p:spPr>
          <a:xfrm>
            <a:off x="548640" y="5193792"/>
            <a:ext cx="11082528" cy="886968"/>
          </a:xfrm>
          <a:prstGeom prst="rect">
            <a:avLst/>
          </a:prstGeom>
          <a:solidFill>
            <a:srgbClr val="F3F6FA"/>
          </a:solidFill>
          <a:ln w="11430">
            <a:noFill/>
          </a:ln>
        </p:spPr>
      </p:sp>
      <p:sp>
        <p:nvSpPr>
          <p:cNvPr id="531" name="Qwen3-Omni mode accent"/>
          <p:cNvSpPr/>
          <p:nvPr/>
        </p:nvSpPr>
        <p:spPr>
          <a:xfrm>
            <a:off x="548640" y="5193792"/>
            <a:ext cx="32004" cy="886968"/>
          </a:xfrm>
          <a:prstGeom prst="rect">
            <a:avLst/>
          </a:prstGeom>
          <a:solidFill>
            <a:srgbClr val="008E96"/>
          </a:solidFill>
          <a:ln w="11430">
            <a:noFill/>
          </a:ln>
        </p:spPr>
      </p:sp>
      <p:cxnSp>
        <p:nvCxnSpPr>
          <p:cNvPr id="532" name="Qwen3-Omni state separator"/>
          <p:cNvCxnSpPr/>
          <p:nvPr/>
        </p:nvCxnSpPr>
        <p:spPr>
          <a:xfrm>
            <a:off x="9079992" y="5321808"/>
            <a:ext cx="0" cy="658368"/>
          </a:xfrm>
          <a:prstGeom prst="line">
            <a:avLst/>
          </a:prstGeom>
          <a:ln w="10795">
            <a:solidFill>
              <a:srgbClr val="CAD5E2"/>
            </a:solidFill>
            <a:tailEnd type="none" w="sm" len="sm"/>
          </a:ln>
        </p:spPr>
      </p:cxnSp>
      <p:sp>
        <p:nvSpPr>
          <p:cNvPr id="533" name="Qwen3-Omni"/>
          <p:cNvSpPr txBox="1"/>
          <p:nvPr/>
        </p:nvSpPr>
        <p:spPr>
          <a:xfrm>
            <a:off x="694944" y="5303520"/>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Qwen3-Omni</a:t>
            </a:r>
          </a:p>
        </p:txBody>
      </p:sp>
      <p:sp>
        <p:nvSpPr>
          <p:cNvPr id="534" name="Turn-based · commit"/>
          <p:cNvSpPr txBox="1"/>
          <p:nvPr/>
        </p:nvSpPr>
        <p:spPr>
          <a:xfrm>
            <a:off x="694944" y="5605272"/>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35" name="PCM audio + images"/>
          <p:cNvSpPr txBox="1"/>
          <p:nvPr/>
        </p:nvSpPr>
        <p:spPr>
          <a:xfrm>
            <a:off x="694944" y="5843016"/>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images</a:t>
            </a:r>
          </a:p>
        </p:txBody>
      </p:sp>
      <p:sp>
        <p:nvSpPr>
          <p:cNvPr id="536" name="Conversation history"/>
          <p:cNvSpPr txBox="1"/>
          <p:nvPr/>
        </p:nvSpPr>
        <p:spPr>
          <a:xfrm>
            <a:off x="9253728" y="5358384"/>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Arial"/>
                <a:ea typeface="Arial"/>
                <a:cs typeface="Arial"/>
              </a:rPr>
              <a:t>Conversation history</a:t>
            </a:r>
          </a:p>
        </p:txBody>
      </p:sp>
      <p:sp>
        <p:nvSpPr>
          <p:cNvPr id="537" name="User audio + images&#10;+ conversation text"/>
          <p:cNvSpPr txBox="1"/>
          <p:nvPr/>
        </p:nvSpPr>
        <p:spPr>
          <a:xfrm>
            <a:off x="9253728" y="5641848"/>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User audio + images</a:t>
            </a:r>
          </a:p>
          <a:p>
            <a:pPr algn="l">
              <a:lnSpc>
                <a:spcPct val="108000"/>
              </a:lnSpc>
              <a:spcAft>
                <a:spcPts val="0"/>
              </a:spcAft>
            </a:pPr>
            <a:r>
              <a:rPr sz="1200" b="0">
                <a:solidFill>
                  <a:srgbClr val="16304E"/>
                </a:solidFill>
                <a:latin typeface="Arial"/>
                <a:ea typeface="Arial"/>
                <a:cs typeface="Arial"/>
              </a:rPr>
              <a:t>+ conversation text</a:t>
            </a:r>
          </a:p>
        </p:txBody>
      </p:sp>
      <p:sp>
        <p:nvSpPr>
          <p:cNvPr id="538" name="S0 · Talker Stage"/>
          <p:cNvSpPr/>
          <p:nvPr/>
        </p:nvSpPr>
        <p:spPr>
          <a:xfrm>
            <a:off x="2441448" y="2569464"/>
            <a:ext cx="3337560" cy="603504"/>
          </a:xfrm>
          <a:prstGeom prst="roundRect">
            <a:avLst>
              <a:gd name="adj" fmla="val 6000"/>
            </a:avLst>
          </a:prstGeom>
          <a:solidFill>
            <a:srgbClr val="FFFFFF"/>
          </a:solidFill>
          <a:ln w="11430">
            <a:solidFill>
              <a:srgbClr val="9EB3CB"/>
            </a:solidFill>
          </a:ln>
        </p:spPr>
      </p:sp>
      <p:sp>
        <p:nvSpPr>
          <p:cNvPr id="539" name="S0 · Talker"/>
          <p:cNvSpPr txBox="1"/>
          <p:nvPr/>
        </p:nvSpPr>
        <p:spPr>
          <a:xfrm>
            <a:off x="2482596" y="2647188"/>
            <a:ext cx="3255264"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Talker</a:t>
            </a:r>
          </a:p>
        </p:txBody>
      </p:sp>
      <p:sp>
        <p:nvSpPr>
          <p:cNvPr id="540" name="Mimi encode · Temporal · Depformer"/>
          <p:cNvSpPr txBox="1"/>
          <p:nvPr/>
        </p:nvSpPr>
        <p:spPr>
          <a:xfrm>
            <a:off x="2473452" y="2926080"/>
            <a:ext cx="32735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Mimi encode · Temporal · Depformer</a:t>
            </a:r>
          </a:p>
        </p:txBody>
      </p:sp>
      <p:sp>
        <p:nvSpPr>
          <p:cNvPr id="541" name="S1 · Code2Wav Stage"/>
          <p:cNvSpPr/>
          <p:nvPr/>
        </p:nvSpPr>
        <p:spPr>
          <a:xfrm>
            <a:off x="6693408" y="2569464"/>
            <a:ext cx="2176272" cy="603504"/>
          </a:xfrm>
          <a:prstGeom prst="roundRect">
            <a:avLst>
              <a:gd name="adj" fmla="val 6000"/>
            </a:avLst>
          </a:prstGeom>
          <a:solidFill>
            <a:srgbClr val="FFFFFF"/>
          </a:solidFill>
          <a:ln w="11430">
            <a:solidFill>
              <a:srgbClr val="9EB3CB"/>
            </a:solidFill>
          </a:ln>
        </p:spPr>
      </p:sp>
      <p:sp>
        <p:nvSpPr>
          <p:cNvPr id="542" name="S1 · Code2Wav"/>
          <p:cNvSpPr txBox="1"/>
          <p:nvPr/>
        </p:nvSpPr>
        <p:spPr>
          <a:xfrm>
            <a:off x="6734556" y="2647188"/>
            <a:ext cx="20939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Code2Wav</a:t>
            </a:r>
          </a:p>
        </p:txBody>
      </p:sp>
      <p:sp>
        <p:nvSpPr>
          <p:cNvPr id="543" name="Mimi → 24 kHz PCM"/>
          <p:cNvSpPr txBox="1"/>
          <p:nvPr/>
        </p:nvSpPr>
        <p:spPr>
          <a:xfrm>
            <a:off x="6725412" y="2926080"/>
            <a:ext cx="21122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Mimi → 24 kHz PCM</a:t>
            </a:r>
          </a:p>
        </p:txBody>
      </p:sp>
      <p:cxnSp>
        <p:nvCxnSpPr>
          <p:cNvPr id="544" name="8 audio codebooks transfer"/>
          <p:cNvCxnSpPr/>
          <p:nvPr/>
        </p:nvCxnSpPr>
        <p:spPr>
          <a:xfrm>
            <a:off x="5833872" y="2871216"/>
            <a:ext cx="795528" cy="0"/>
          </a:xfrm>
          <a:prstGeom prst="line">
            <a:avLst/>
          </a:prstGeom>
          <a:ln w="17145">
            <a:solidFill>
              <a:srgbClr val="347FF0"/>
            </a:solidFill>
            <a:tailEnd type="triangle" w="sm" len="sm"/>
          </a:ln>
        </p:spPr>
      </p:cxnSp>
      <p:sp>
        <p:nvSpPr>
          <p:cNvPr id="545" name="8 audio codebooks"/>
          <p:cNvSpPr txBox="1"/>
          <p:nvPr/>
        </p:nvSpPr>
        <p:spPr>
          <a:xfrm>
            <a:off x="5445252" y="2400300"/>
            <a:ext cx="1581912"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8 audio codebooks</a:t>
            </a:r>
          </a:p>
        </p:txBody>
      </p:sp>
      <p:sp>
        <p:nvSpPr>
          <p:cNvPr id="546" name="S0 · LLM Stage"/>
          <p:cNvSpPr/>
          <p:nvPr/>
        </p:nvSpPr>
        <p:spPr>
          <a:xfrm>
            <a:off x="2441448" y="3511296"/>
            <a:ext cx="1719072" cy="603504"/>
          </a:xfrm>
          <a:prstGeom prst="roundRect">
            <a:avLst>
              <a:gd name="adj" fmla="val 6000"/>
            </a:avLst>
          </a:prstGeom>
          <a:solidFill>
            <a:srgbClr val="FFFFFF"/>
          </a:solidFill>
          <a:ln w="11430">
            <a:solidFill>
              <a:srgbClr val="9EB3CB"/>
            </a:solidFill>
          </a:ln>
        </p:spPr>
      </p:sp>
      <p:sp>
        <p:nvSpPr>
          <p:cNvPr id="547" name="S0 · LLM"/>
          <p:cNvSpPr txBox="1"/>
          <p:nvPr/>
        </p:nvSpPr>
        <p:spPr>
          <a:xfrm>
            <a:off x="2482596" y="3589020"/>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LLM</a:t>
            </a:r>
          </a:p>
        </p:txBody>
      </p:sp>
      <p:sp>
        <p:nvSpPr>
          <p:cNvPr id="548" name="Audio + video"/>
          <p:cNvSpPr txBox="1"/>
          <p:nvPr/>
        </p:nvSpPr>
        <p:spPr>
          <a:xfrm>
            <a:off x="2473452" y="3867912"/>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Audio + video</a:t>
            </a:r>
          </a:p>
        </p:txBody>
      </p:sp>
      <p:sp>
        <p:nvSpPr>
          <p:cNvPr id="549" name="S1 · Talker Stage"/>
          <p:cNvSpPr/>
          <p:nvPr/>
        </p:nvSpPr>
        <p:spPr>
          <a:xfrm>
            <a:off x="5093208" y="3511296"/>
            <a:ext cx="1481328" cy="603504"/>
          </a:xfrm>
          <a:prstGeom prst="roundRect">
            <a:avLst>
              <a:gd name="adj" fmla="val 6000"/>
            </a:avLst>
          </a:prstGeom>
          <a:solidFill>
            <a:srgbClr val="FFFFFF"/>
          </a:solidFill>
          <a:ln w="11430">
            <a:solidFill>
              <a:srgbClr val="9EB3CB"/>
            </a:solidFill>
          </a:ln>
        </p:spPr>
      </p:sp>
      <p:sp>
        <p:nvSpPr>
          <p:cNvPr id="550" name="S1 · Talker"/>
          <p:cNvSpPr txBox="1"/>
          <p:nvPr/>
        </p:nvSpPr>
        <p:spPr>
          <a:xfrm>
            <a:off x="5134356" y="3589020"/>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Talker</a:t>
            </a:r>
          </a:p>
        </p:txBody>
      </p:sp>
      <p:sp>
        <p:nvSpPr>
          <p:cNvPr id="551" name="Predicts audio tokens"/>
          <p:cNvSpPr txBox="1"/>
          <p:nvPr/>
        </p:nvSpPr>
        <p:spPr>
          <a:xfrm>
            <a:off x="5125212" y="3867912"/>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Predicts audio tokens</a:t>
            </a:r>
          </a:p>
        </p:txBody>
      </p:sp>
      <p:sp>
        <p:nvSpPr>
          <p:cNvPr id="552" name="S2 · Code2Wav Stage"/>
          <p:cNvSpPr/>
          <p:nvPr/>
        </p:nvSpPr>
        <p:spPr>
          <a:xfrm>
            <a:off x="7443216" y="3511296"/>
            <a:ext cx="1426464" cy="603504"/>
          </a:xfrm>
          <a:prstGeom prst="roundRect">
            <a:avLst>
              <a:gd name="adj" fmla="val 6000"/>
            </a:avLst>
          </a:prstGeom>
          <a:solidFill>
            <a:srgbClr val="FFFFFF"/>
          </a:solidFill>
          <a:ln w="11430">
            <a:solidFill>
              <a:srgbClr val="9EB3CB"/>
            </a:solidFill>
          </a:ln>
        </p:spPr>
      </p:sp>
      <p:sp>
        <p:nvSpPr>
          <p:cNvPr id="553" name="S2 · Code2Wav"/>
          <p:cNvSpPr txBox="1"/>
          <p:nvPr/>
        </p:nvSpPr>
        <p:spPr>
          <a:xfrm>
            <a:off x="7484364" y="3589020"/>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S2 · Code2Wav</a:t>
            </a:r>
          </a:p>
        </p:txBody>
      </p:sp>
      <p:sp>
        <p:nvSpPr>
          <p:cNvPr id="554" name="Tokens → PCM"/>
          <p:cNvSpPr txBox="1"/>
          <p:nvPr/>
        </p:nvSpPr>
        <p:spPr>
          <a:xfrm>
            <a:off x="7475220" y="3867912"/>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55" name="SPEAK: text + features transfer"/>
          <p:cNvCxnSpPr/>
          <p:nvPr/>
        </p:nvCxnSpPr>
        <p:spPr>
          <a:xfrm>
            <a:off x="4215384" y="3813048"/>
            <a:ext cx="813816" cy="0"/>
          </a:xfrm>
          <a:prstGeom prst="line">
            <a:avLst/>
          </a:prstGeom>
          <a:ln w="17145">
            <a:solidFill>
              <a:srgbClr val="347FF0"/>
            </a:solidFill>
            <a:tailEnd type="triangle" w="sm" len="sm"/>
          </a:ln>
        </p:spPr>
      </p:cxnSp>
      <p:sp>
        <p:nvSpPr>
          <p:cNvPr id="556" name="SPEAK: text + features"/>
          <p:cNvSpPr txBox="1"/>
          <p:nvPr/>
        </p:nvSpPr>
        <p:spPr>
          <a:xfrm>
            <a:off x="3657600" y="3342132"/>
            <a:ext cx="193852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SPEAK: text + features</a:t>
            </a:r>
          </a:p>
        </p:txBody>
      </p:sp>
      <p:cxnSp>
        <p:nvCxnSpPr>
          <p:cNvPr id="557" name="Audio tokens transfer"/>
          <p:cNvCxnSpPr/>
          <p:nvPr/>
        </p:nvCxnSpPr>
        <p:spPr>
          <a:xfrm>
            <a:off x="6629400" y="3813048"/>
            <a:ext cx="749808" cy="0"/>
          </a:xfrm>
          <a:prstGeom prst="line">
            <a:avLst/>
          </a:prstGeom>
          <a:ln w="17145">
            <a:solidFill>
              <a:srgbClr val="347FF0"/>
            </a:solidFill>
            <a:tailEnd type="triangle" w="sm" len="sm"/>
          </a:ln>
        </p:spPr>
      </p:cxnSp>
      <p:sp>
        <p:nvSpPr>
          <p:cNvPr id="558" name="Audio tokens"/>
          <p:cNvSpPr txBox="1"/>
          <p:nvPr/>
        </p:nvSpPr>
        <p:spPr>
          <a:xfrm>
            <a:off x="6437376" y="3342132"/>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59" name="S0 · ASR Stage"/>
          <p:cNvSpPr/>
          <p:nvPr/>
        </p:nvSpPr>
        <p:spPr>
          <a:xfrm>
            <a:off x="2441448" y="4453128"/>
            <a:ext cx="1005840" cy="603504"/>
          </a:xfrm>
          <a:prstGeom prst="roundRect">
            <a:avLst>
              <a:gd name="adj" fmla="val 6000"/>
            </a:avLst>
          </a:prstGeom>
          <a:solidFill>
            <a:srgbClr val="FFFFFF"/>
          </a:solidFill>
          <a:ln w="11430">
            <a:solidFill>
              <a:srgbClr val="9EB3CB"/>
            </a:solidFill>
          </a:ln>
        </p:spPr>
      </p:sp>
      <p:sp>
        <p:nvSpPr>
          <p:cNvPr id="560" name="S0 · ASR"/>
          <p:cNvSpPr txBox="1"/>
          <p:nvPr/>
        </p:nvSpPr>
        <p:spPr>
          <a:xfrm>
            <a:off x="2482596" y="4530852"/>
            <a:ext cx="92354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ASR</a:t>
            </a:r>
          </a:p>
        </p:txBody>
      </p:sp>
      <p:sp>
        <p:nvSpPr>
          <p:cNvPr id="561" name="Audio → text"/>
          <p:cNvSpPr txBox="1"/>
          <p:nvPr/>
        </p:nvSpPr>
        <p:spPr>
          <a:xfrm>
            <a:off x="2473452" y="4809744"/>
            <a:ext cx="94183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Audio → text</a:t>
            </a:r>
          </a:p>
        </p:txBody>
      </p:sp>
      <p:sp>
        <p:nvSpPr>
          <p:cNvPr id="562" name="S1 · Thinker Stage"/>
          <p:cNvSpPr/>
          <p:nvPr/>
        </p:nvSpPr>
        <p:spPr>
          <a:xfrm>
            <a:off x="3959352" y="4453128"/>
            <a:ext cx="1316736" cy="603504"/>
          </a:xfrm>
          <a:prstGeom prst="roundRect">
            <a:avLst>
              <a:gd name="adj" fmla="val 6000"/>
            </a:avLst>
          </a:prstGeom>
          <a:solidFill>
            <a:srgbClr val="FFFFFF"/>
          </a:solidFill>
          <a:ln w="11430">
            <a:solidFill>
              <a:srgbClr val="9EB3CB"/>
            </a:solidFill>
          </a:ln>
        </p:spPr>
      </p:sp>
      <p:sp>
        <p:nvSpPr>
          <p:cNvPr id="563" name="S1 · Thinker"/>
          <p:cNvSpPr txBox="1"/>
          <p:nvPr/>
        </p:nvSpPr>
        <p:spPr>
          <a:xfrm>
            <a:off x="4000500" y="4530852"/>
            <a:ext cx="1234440"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Thinker</a:t>
            </a:r>
          </a:p>
        </p:txBody>
      </p:sp>
      <p:sp>
        <p:nvSpPr>
          <p:cNvPr id="564" name="Text + video"/>
          <p:cNvSpPr txBox="1"/>
          <p:nvPr/>
        </p:nvSpPr>
        <p:spPr>
          <a:xfrm>
            <a:off x="3991356" y="4809744"/>
            <a:ext cx="1252728"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Text + video</a:t>
            </a:r>
          </a:p>
        </p:txBody>
      </p:sp>
      <p:sp>
        <p:nvSpPr>
          <p:cNvPr id="565" name="S2 · Talker Stage"/>
          <p:cNvSpPr/>
          <p:nvPr/>
        </p:nvSpPr>
        <p:spPr>
          <a:xfrm>
            <a:off x="5788152" y="4453128"/>
            <a:ext cx="1280160" cy="603504"/>
          </a:xfrm>
          <a:prstGeom prst="roundRect">
            <a:avLst>
              <a:gd name="adj" fmla="val 6000"/>
            </a:avLst>
          </a:prstGeom>
          <a:solidFill>
            <a:srgbClr val="FFFFFF"/>
          </a:solidFill>
          <a:ln w="11430">
            <a:solidFill>
              <a:srgbClr val="9EB3CB"/>
            </a:solidFill>
          </a:ln>
        </p:spPr>
      </p:sp>
      <p:sp>
        <p:nvSpPr>
          <p:cNvPr id="566" name="S2 · Talker"/>
          <p:cNvSpPr txBox="1"/>
          <p:nvPr/>
        </p:nvSpPr>
        <p:spPr>
          <a:xfrm>
            <a:off x="5829300" y="4530852"/>
            <a:ext cx="119786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Talker</a:t>
            </a:r>
          </a:p>
        </p:txBody>
      </p:sp>
      <p:sp>
        <p:nvSpPr>
          <p:cNvPr id="567" name="Text → tokens"/>
          <p:cNvSpPr txBox="1"/>
          <p:nvPr/>
        </p:nvSpPr>
        <p:spPr>
          <a:xfrm>
            <a:off x="5820156" y="4809744"/>
            <a:ext cx="12161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Text → tokens</a:t>
            </a:r>
          </a:p>
        </p:txBody>
      </p:sp>
      <p:sp>
        <p:nvSpPr>
          <p:cNvPr id="568" name="S3 · Code2Wav Stage"/>
          <p:cNvSpPr/>
          <p:nvPr/>
        </p:nvSpPr>
        <p:spPr>
          <a:xfrm>
            <a:off x="7543800" y="4453128"/>
            <a:ext cx="1325880" cy="603504"/>
          </a:xfrm>
          <a:prstGeom prst="roundRect">
            <a:avLst>
              <a:gd name="adj" fmla="val 6000"/>
            </a:avLst>
          </a:prstGeom>
          <a:solidFill>
            <a:srgbClr val="FFFFFF"/>
          </a:solidFill>
          <a:ln w="11430">
            <a:solidFill>
              <a:srgbClr val="9EB3CB"/>
            </a:solidFill>
          </a:ln>
        </p:spPr>
      </p:sp>
      <p:sp>
        <p:nvSpPr>
          <p:cNvPr id="569" name="S3 · Code2Wav"/>
          <p:cNvSpPr txBox="1"/>
          <p:nvPr/>
        </p:nvSpPr>
        <p:spPr>
          <a:xfrm>
            <a:off x="7584948" y="4530852"/>
            <a:ext cx="1243584" cy="219456"/>
          </a:xfrm>
          <a:prstGeom prst="rect">
            <a:avLst/>
          </a:prstGeom>
          <a:noFill/>
        </p:spPr>
        <p:txBody>
          <a:bodyPr wrap="square" lIns="0" rIns="0" tIns="0" bIns="0" anchor="t">
            <a:noAutofit/>
          </a:bodyPr>
          <a:lstStyle/>
          <a:p>
            <a:pPr algn="ctr">
              <a:lnSpc>
                <a:spcPct val="108000"/>
              </a:lnSpc>
              <a:spcAft>
                <a:spcPts val="0"/>
              </a:spcAft>
            </a:pPr>
            <a:r>
              <a:rPr sz="1300" b="1">
                <a:solidFill>
                  <a:srgbClr val="008E96"/>
                </a:solidFill>
                <a:latin typeface="Arial"/>
                <a:ea typeface="Arial"/>
                <a:cs typeface="Arial"/>
              </a:rPr>
              <a:t>S3 · Code2Wav</a:t>
            </a:r>
          </a:p>
        </p:txBody>
      </p:sp>
      <p:sp>
        <p:nvSpPr>
          <p:cNvPr id="570" name="Tokens → PCM"/>
          <p:cNvSpPr txBox="1"/>
          <p:nvPr/>
        </p:nvSpPr>
        <p:spPr>
          <a:xfrm>
            <a:off x="7575804" y="4809744"/>
            <a:ext cx="126187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71" name="Text transfer"/>
          <p:cNvCxnSpPr/>
          <p:nvPr/>
        </p:nvCxnSpPr>
        <p:spPr>
          <a:xfrm>
            <a:off x="3502152" y="4754880"/>
            <a:ext cx="393192" cy="0"/>
          </a:xfrm>
          <a:prstGeom prst="line">
            <a:avLst/>
          </a:prstGeom>
          <a:ln w="17145">
            <a:solidFill>
              <a:srgbClr val="008E96"/>
            </a:solidFill>
            <a:tailEnd type="triangle" w="sm" len="sm"/>
          </a:ln>
        </p:spPr>
      </p:cxnSp>
      <p:sp>
        <p:nvSpPr>
          <p:cNvPr id="572" name="Text"/>
          <p:cNvSpPr txBox="1"/>
          <p:nvPr/>
        </p:nvSpPr>
        <p:spPr>
          <a:xfrm>
            <a:off x="33604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Text</a:t>
            </a:r>
          </a:p>
        </p:txBody>
      </p:sp>
      <p:cxnSp>
        <p:nvCxnSpPr>
          <p:cNvPr id="573" name="Text transfer"/>
          <p:cNvCxnSpPr/>
          <p:nvPr/>
        </p:nvCxnSpPr>
        <p:spPr>
          <a:xfrm>
            <a:off x="5330952" y="4754880"/>
            <a:ext cx="393192" cy="0"/>
          </a:xfrm>
          <a:prstGeom prst="line">
            <a:avLst/>
          </a:prstGeom>
          <a:ln w="17145">
            <a:solidFill>
              <a:srgbClr val="008E96"/>
            </a:solidFill>
            <a:tailEnd type="triangle" w="sm" len="sm"/>
          </a:ln>
        </p:spPr>
      </p:cxnSp>
      <p:sp>
        <p:nvSpPr>
          <p:cNvPr id="574" name="Text"/>
          <p:cNvSpPr txBox="1"/>
          <p:nvPr/>
        </p:nvSpPr>
        <p:spPr>
          <a:xfrm>
            <a:off x="51892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Text</a:t>
            </a:r>
          </a:p>
        </p:txBody>
      </p:sp>
      <p:cxnSp>
        <p:nvCxnSpPr>
          <p:cNvPr id="575" name="Audio tokens transfer"/>
          <p:cNvCxnSpPr/>
          <p:nvPr/>
        </p:nvCxnSpPr>
        <p:spPr>
          <a:xfrm>
            <a:off x="7123176" y="4754880"/>
            <a:ext cx="356616" cy="0"/>
          </a:xfrm>
          <a:prstGeom prst="line">
            <a:avLst/>
          </a:prstGeom>
          <a:ln w="17145">
            <a:solidFill>
              <a:srgbClr val="008E96"/>
            </a:solidFill>
            <a:tailEnd type="triangle" w="sm" len="sm"/>
          </a:ln>
        </p:spPr>
      </p:cxnSp>
      <p:sp>
        <p:nvSpPr>
          <p:cNvPr id="576" name="Audio tokens"/>
          <p:cNvSpPr txBox="1"/>
          <p:nvPr/>
        </p:nvSpPr>
        <p:spPr>
          <a:xfrm>
            <a:off x="6748272" y="4283964"/>
            <a:ext cx="111556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77" name="S0 · Thinker Stage"/>
          <p:cNvSpPr/>
          <p:nvPr/>
        </p:nvSpPr>
        <p:spPr>
          <a:xfrm>
            <a:off x="2441448" y="5394960"/>
            <a:ext cx="1719072" cy="603504"/>
          </a:xfrm>
          <a:prstGeom prst="roundRect">
            <a:avLst>
              <a:gd name="adj" fmla="val 6000"/>
            </a:avLst>
          </a:prstGeom>
          <a:solidFill>
            <a:srgbClr val="FFFFFF"/>
          </a:solidFill>
          <a:ln w="11430">
            <a:solidFill>
              <a:srgbClr val="9EB3CB"/>
            </a:solidFill>
          </a:ln>
        </p:spPr>
      </p:sp>
      <p:sp>
        <p:nvSpPr>
          <p:cNvPr id="578" name="S0 · Thinker"/>
          <p:cNvSpPr txBox="1"/>
          <p:nvPr/>
        </p:nvSpPr>
        <p:spPr>
          <a:xfrm>
            <a:off x="2482596" y="5472684"/>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Thinker</a:t>
            </a:r>
          </a:p>
        </p:txBody>
      </p:sp>
      <p:sp>
        <p:nvSpPr>
          <p:cNvPr id="579" name="Audio + images"/>
          <p:cNvSpPr txBox="1"/>
          <p:nvPr/>
        </p:nvSpPr>
        <p:spPr>
          <a:xfrm>
            <a:off x="2473452" y="5751576"/>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Audio + images</a:t>
            </a:r>
          </a:p>
        </p:txBody>
      </p:sp>
      <p:sp>
        <p:nvSpPr>
          <p:cNvPr id="580" name="S1 · Talker Stage"/>
          <p:cNvSpPr/>
          <p:nvPr/>
        </p:nvSpPr>
        <p:spPr>
          <a:xfrm>
            <a:off x="5093208" y="5394960"/>
            <a:ext cx="1481328" cy="603504"/>
          </a:xfrm>
          <a:prstGeom prst="roundRect">
            <a:avLst>
              <a:gd name="adj" fmla="val 6000"/>
            </a:avLst>
          </a:prstGeom>
          <a:solidFill>
            <a:srgbClr val="FFFFFF"/>
          </a:solidFill>
          <a:ln w="11430">
            <a:solidFill>
              <a:srgbClr val="9EB3CB"/>
            </a:solidFill>
          </a:ln>
        </p:spPr>
      </p:sp>
      <p:sp>
        <p:nvSpPr>
          <p:cNvPr id="581" name="S1 · Talker"/>
          <p:cNvSpPr txBox="1"/>
          <p:nvPr/>
        </p:nvSpPr>
        <p:spPr>
          <a:xfrm>
            <a:off x="5134356" y="5472684"/>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Talker</a:t>
            </a:r>
          </a:p>
        </p:txBody>
      </p:sp>
      <p:sp>
        <p:nvSpPr>
          <p:cNvPr id="582" name="Predicts audio tokens"/>
          <p:cNvSpPr txBox="1"/>
          <p:nvPr/>
        </p:nvSpPr>
        <p:spPr>
          <a:xfrm>
            <a:off x="5125212" y="5751576"/>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Predicts audio tokens</a:t>
            </a:r>
          </a:p>
        </p:txBody>
      </p:sp>
      <p:sp>
        <p:nvSpPr>
          <p:cNvPr id="583" name="S2 · Code2Wav Stage"/>
          <p:cNvSpPr/>
          <p:nvPr/>
        </p:nvSpPr>
        <p:spPr>
          <a:xfrm>
            <a:off x="7443216" y="5394960"/>
            <a:ext cx="1426464" cy="603504"/>
          </a:xfrm>
          <a:prstGeom prst="roundRect">
            <a:avLst>
              <a:gd name="adj" fmla="val 6000"/>
            </a:avLst>
          </a:prstGeom>
          <a:solidFill>
            <a:srgbClr val="FFFFFF"/>
          </a:solidFill>
          <a:ln w="11430">
            <a:solidFill>
              <a:srgbClr val="9EB3CB"/>
            </a:solidFill>
          </a:ln>
        </p:spPr>
      </p:sp>
      <p:sp>
        <p:nvSpPr>
          <p:cNvPr id="584" name="S2 · Code2Wav"/>
          <p:cNvSpPr txBox="1"/>
          <p:nvPr/>
        </p:nvSpPr>
        <p:spPr>
          <a:xfrm>
            <a:off x="7484364" y="5472684"/>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Code2Wav</a:t>
            </a:r>
          </a:p>
        </p:txBody>
      </p:sp>
      <p:sp>
        <p:nvSpPr>
          <p:cNvPr id="585" name="Tokens → PCM"/>
          <p:cNvSpPr txBox="1"/>
          <p:nvPr/>
        </p:nvSpPr>
        <p:spPr>
          <a:xfrm>
            <a:off x="7475220" y="5751576"/>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86" name="Text + features transfer"/>
          <p:cNvCxnSpPr/>
          <p:nvPr/>
        </p:nvCxnSpPr>
        <p:spPr>
          <a:xfrm>
            <a:off x="4215384" y="5696712"/>
            <a:ext cx="813816" cy="0"/>
          </a:xfrm>
          <a:prstGeom prst="line">
            <a:avLst/>
          </a:prstGeom>
          <a:ln w="17145">
            <a:solidFill>
              <a:srgbClr val="008E96"/>
            </a:solidFill>
            <a:tailEnd type="triangle" w="sm" len="sm"/>
          </a:ln>
        </p:spPr>
      </p:cxnSp>
      <p:sp>
        <p:nvSpPr>
          <p:cNvPr id="587" name="Text + features"/>
          <p:cNvSpPr txBox="1"/>
          <p:nvPr/>
        </p:nvSpPr>
        <p:spPr>
          <a:xfrm>
            <a:off x="3918204" y="5225796"/>
            <a:ext cx="141732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Text + features</a:t>
            </a:r>
          </a:p>
        </p:txBody>
      </p:sp>
      <p:cxnSp>
        <p:nvCxnSpPr>
          <p:cNvPr id="588" name="Audio tokens transfer"/>
          <p:cNvCxnSpPr/>
          <p:nvPr/>
        </p:nvCxnSpPr>
        <p:spPr>
          <a:xfrm>
            <a:off x="6629400" y="5696712"/>
            <a:ext cx="749808" cy="0"/>
          </a:xfrm>
          <a:prstGeom prst="line">
            <a:avLst/>
          </a:prstGeom>
          <a:ln w="17145">
            <a:solidFill>
              <a:srgbClr val="008E96"/>
            </a:solidFill>
            <a:tailEnd type="triangle" w="sm" len="sm"/>
          </a:ln>
        </p:spPr>
      </p:cxnSp>
      <p:sp>
        <p:nvSpPr>
          <p:cNvPr id="589" name="Audio tokens"/>
          <p:cNvSpPr txBox="1"/>
          <p:nvPr/>
        </p:nvSpPr>
        <p:spPr>
          <a:xfrm>
            <a:off x="6437376" y="5225796"/>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90" name="PCM = audio waveform   ·   Audio tokens = codec codes   ·   KV = model attention cache"/>
          <p:cNvSpPr txBox="1"/>
          <p:nvPr/>
        </p:nvSpPr>
        <p:spPr>
          <a:xfrm>
            <a:off x="713232" y="6217920"/>
            <a:ext cx="10835640" cy="201168"/>
          </a:xfrm>
          <a:prstGeom prst="rect">
            <a:avLst/>
          </a:prstGeom>
          <a:noFill/>
        </p:spPr>
        <p:txBody>
          <a:bodyPr wrap="square" lIns="0" rIns="0" tIns="0" bIns="0" anchor="t">
            <a:noAutofit/>
          </a:bodyPr>
          <a:lstStyle/>
          <a:p>
            <a:pPr algn="l">
              <a:lnSpc>
                <a:spcPct val="108000"/>
              </a:lnSpc>
              <a:spcAft>
                <a:spcPts val="0"/>
              </a:spcAft>
            </a:pPr>
            <a:r>
              <a:rPr sz="1180" b="0">
                <a:solidFill>
                  <a:srgbClr val="526985"/>
                </a:solidFill>
                <a:latin typeface="Arial"/>
                <a:ea typeface="Arial"/>
                <a:cs typeface="Arial"/>
              </a:rPr>
              <a:t>PCM = audio waveform   ·   Audio tokens = codec codes   ·   KV = model attention cache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Connection recovery across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13</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Session resume: MiniCPM-o 4.5, AURA, Qwen3-Omni and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Reconnect to the same live API process while the session is valid.</a:t>
            </a:r>
          </a:p>
          <a:p>
            <a:pPr algn="l">
              <a:lnSpc>
                <a:spcPct val="110000"/>
              </a:lnSpc>
              <a:spcAft>
                <a:spcPts val="0"/>
              </a:spcAft>
            </a:pPr>
            <a:r>
              <a:rPr sz="1150" b="0">
                <a:solidFill>
                  <a:srgbClr val="586B7E"/>
                </a:solidFill>
                <a:latin typeface="Arial"/>
                <a:ea typeface="Arial"/>
                <a:cs typeface="Arial"/>
              </a:rPr>
              <a:t>Replay requires retained events; process restarts require a new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Store session ID and the latest resume token;</a:t>
            </a:r>
          </a:p>
          <a:p>
            <a:pPr algn="l">
              <a:lnSpc>
                <a:spcPct val="110000"/>
              </a:lnSpc>
              <a:spcAft>
                <a:spcPts val="0"/>
              </a:spcAft>
            </a:pPr>
            <a:r>
              <a:rPr sz="1180" b="0">
                <a:solidFill>
                  <a:srgbClr val="142B45"/>
                </a:solidFill>
                <a:latin typeface="Arial"/>
                <a:ea typeface="Arial"/>
                <a:cs typeface="Arial"/>
              </a:rPr>
              <a:t>the Python WebSocket SDK manages both.</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session.resume first on the new connection;</a:t>
            </a:r>
          </a:p>
          <a:p>
            <a:pPr algn="l">
              <a:lnSpc>
                <a:spcPct val="110000"/>
              </a:lnSpc>
              <a:spcAft>
                <a:spcPts val="0"/>
              </a:spcAft>
            </a:pPr>
            <a:r>
              <a:rPr sz="1150" b="0">
                <a:solidFill>
                  <a:srgbClr val="142B45"/>
                </a:solidFill>
                <a:latin typeface="Arial"/>
                <a:ea typeface="Arial"/>
                <a:cs typeface="Arial"/>
              </a:rPr>
              <a:t>save the new token returned in session.resumed.</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the last received event sequence.</a:t>
            </a:r>
          </a:p>
          <a:p>
            <a:pPr algn="l">
              <a:lnSpc>
                <a:spcPct val="110000"/>
              </a:lnSpc>
              <a:spcAft>
                <a:spcPts val="0"/>
              </a:spcAft>
            </a:pPr>
            <a:r>
              <a:rPr sz="1150" b="0">
                <a:solidFill>
                  <a:srgbClr val="142B45"/>
                </a:solidFill>
                <a:latin typeface="Arial"/>
                <a:ea typeface="Arial"/>
                <a:cs typeface="Arial"/>
              </a:rPr>
              <a:t>If replay has a gap, start a new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526985"/>
                </a:solidFill>
                <a:latin typeface="Arial"/>
                <a:ea typeface="Arial"/>
                <a:cs typeface="Arial"/>
              </a:rPr>
              <a:t>PersonaPlex demo: reconnect with a new session and reapply the same voice +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13</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Keep decoder state; decode only new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 Sep 9–Oct 8, 2026. Dashed segments bridge dates without matching runs.</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cxnSp>
        <p:nvCxnSpPr>
          <p:cNvPr id="234" name="Dashed gap bridge: 1 concurrent request" descr="Visual connection between measured Sep 15 and Sep 18 values; Sep 16–17 have no matching measurements."/>
          <p:cNvCxnSpPr/>
          <p:nvPr/>
        </p:nvCxnSpPr>
        <p:spPr>
          <a:xfrm>
            <a:off x="8333779" y="4880283"/>
            <a:ext cx="386394" cy="39517"/>
          </a:xfrm>
          <a:prstGeom prst="line">
            <a:avLst/>
          </a:prstGeom>
          <a:ln w="25400" cap="flat">
            <a:solidFill>
              <a:srgbClr val="347FF0"/>
            </a:solidFill>
            <a:prstDash val="sysDash"/>
            <a:headEnd type="none" w="med" len="med"/>
            <a:tailEnd type="none" w="med" len="med"/>
          </a:ln>
        </p:spPr>
      </p:cxnSp>
      <p:cxnSp>
        <p:nvCxnSpPr>
          <p:cNvPr id="235" name="Dashed gap bridge: 8 concurrent requests" descr="Visual connection between measured Sep 15 and Sep 18 values; Sep 16–17 have no matching measurements."/>
          <p:cNvCxnSpPr/>
          <p:nvPr/>
        </p:nvCxnSpPr>
        <p:spPr>
          <a:xfrm>
            <a:off x="8333779" y="3624102"/>
            <a:ext cx="386394" cy="240571"/>
          </a:xfrm>
          <a:prstGeom prst="line">
            <a:avLst/>
          </a:prstGeom>
          <a:ln w="25400" cap="flat">
            <a:solidFill>
              <a:srgbClr val="008E96"/>
            </a:solidFill>
            <a:prstDash val="sysDash"/>
            <a:headEnd type="none" w="med" len="med"/>
            <a:tailEnd type="none" w="med" len="med"/>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evaluate live interaction alongside latency and streaming metrics.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13</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Input stream starts</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Input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Input / 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First-audio latency</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Stream TTFP · p50 / p95</a:t>
            </a:r>
          </a:p>
          <a:p>
            <a:pPr algn="l">
              <a:lnSpc>
                <a:spcPct val="110000"/>
              </a:lnSpc>
              <a:spcAft>
                <a:spcPts val="0"/>
              </a:spcAft>
            </a:pPr>
            <a:r>
              <a:rPr sz="1030" b="0">
                <a:solidFill>
                  <a:srgbClr val="21364E"/>
                </a:solidFill>
                <a:latin typeface="Arial"/>
                <a:ea typeface="Arial"/>
                <a:cs typeface="Arial"/>
              </a:rPr>
              <a:t>Input start → first audio received</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Response RTF · chunk intervals</a:t>
            </a:r>
          </a:p>
          <a:p>
            <a:pPr algn="l">
              <a:lnSpc>
                <a:spcPct val="110000"/>
              </a:lnSpc>
              <a:spcAft>
                <a:spcPts val="0"/>
              </a:spcAft>
            </a:pPr>
            <a:r>
              <a:rPr sz="1030" b="0">
                <a:solidFill>
                  <a:srgbClr val="21364E"/>
                </a:solidFill>
                <a:latin typeface="Arial"/>
                <a:ea typeface="Arial"/>
                <a:cs typeface="Arial"/>
              </a:rPr>
              <a:t>Pauses and playback buffering</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Interaction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When to speak · what to answer</a:t>
            </a:r>
          </a:p>
          <a:p>
            <a:pPr algn="l">
              <a:lnSpc>
                <a:spcPct val="110000"/>
              </a:lnSpc>
              <a:spcAft>
                <a:spcPts val="0"/>
              </a:spcAft>
            </a:pPr>
            <a:r>
              <a:rPr sz="1030" b="0">
                <a:solidFill>
                  <a:srgbClr val="21364E"/>
                </a:solidFill>
                <a:latin typeface="Arial"/>
                <a:ea typeface="Arial"/>
                <a:cs typeface="Arial"/>
              </a:rPr>
              <a:t>Audio / video understanding</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TTFP measures first-packet arrival; conversational response timing is evaluated separately.</a:t>
            </a:r>
          </a:p>
          <a:p>
            <a:pPr algn="l">
              <a:lnSpc>
                <a:spcPct val="110000"/>
              </a:lnSpc>
              <a:spcAft>
                <a:spcPts val="0"/>
              </a:spcAft>
            </a:pPr>
            <a:r>
              <a:rPr sz="1050" b="0">
                <a:solidFill>
                  <a:srgbClr val="586B7E"/>
                </a:solidFill>
                <a:latin typeface="Arial"/>
                <a:ea typeface="Arial"/>
                <a:cs typeface="Arial"/>
              </a:rPr>
              <a:t>Compare matching timing windows. Benchmark coverage varies by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Existing tool paths provide a foundation for broader support across duplex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13</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Tool-call parsing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calls + results in unified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NEXT: BROADER UNIFIED DUPLEX SUPPORT</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Shared framework handling, with model-specific adapters.</a:t>
                      </a:r>
                    </a:p>
                    <a:p>
                      <a:pPr>
                        <a:lnSpc>
                          <a:spcPct val="108000"/>
                        </a:lnSpc>
                        <a:spcAft>
                          <a:spcPts val="0"/>
                        </a:spcAft>
                      </a:pPr>
                      <a:r>
                        <a:rPr sz="1400" b="0">
                          <a:solidFill>
                            <a:srgbClr val="16304E"/>
                          </a:solidFill>
                          <a:latin typeface="Arial"/>
                          <a:ea typeface="Arial"/>
                          <a:cs typeface="Arial"/>
                        </a:rPr>
                        <a:t>Extend support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13 / 13</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Extend tool-call support across models</a:t>
            </a:r>
          </a:p>
          <a:p>
            <a:pPr algn="l">
              <a:lnSpc>
                <a:spcPct val="106000"/>
              </a:lnSpc>
              <a:spcAft>
                <a:spcPts val="0"/>
              </a:spcAft>
            </a:pPr>
            <a:r>
              <a:rPr sz="1400" b="0">
                <a:solidFill>
                  <a:srgbClr val="586B7E"/>
                </a:solidFill>
                <a:latin typeface="Arial"/>
                <a:ea typeface="Arial"/>
                <a:cs typeface="Arial"/>
              </a:rPr>
              <a:t>Handle interruption, timeout and late results</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 beyond one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Build on existing Stage replicas</a:t>
            </a:r>
          </a:p>
          <a:p>
            <a:pPr algn="l">
              <a:lnSpc>
                <a:spcPct val="106000"/>
              </a:lnSpc>
              <a:spcAft>
                <a:spcPts val="0"/>
              </a:spcAft>
            </a:pPr>
            <a:r>
              <a:rPr sz="1400" b="0">
                <a:solidFill>
                  <a:srgbClr val="586B7E"/>
                </a:solidFill>
                <a:latin typeface="Arial"/>
                <a:ea typeface="Arial"/>
                <a:cs typeface="Arial"/>
              </a:rPr>
              <a:t>Route sessions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PersonaPlex example</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Local shared-memory audio codes</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a turn-end detector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auto-commit after silence.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Small models can run on CPU</a:t>
                      </a:r>
                    </a:p>
                    <a:p>
                      <a:pPr algn="l">
                        <a:lnSpc>
                          <a:spcPct val="106000"/>
                        </a:lnSpc>
                        <a:spcAft>
                          <a:spcPts val="0"/>
                        </a:spcAft>
                      </a:pPr>
                      <a:r>
                        <a:rPr sz="1420" b="0">
                          <a:solidFill>
                            <a:srgbClr val="16304E"/>
                          </a:solidFill>
                          <a:latin typeface="Arial"/>
                          <a:ea typeface="Arial"/>
                          <a:cs typeface="Arial"/>
                        </a:rPr>
                        <a:t>Heavier models: proposed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Server VAD: Runner applies commit / cancel policies; inference runs outside its event loop.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Abort generation; discard unsent output</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Session stays open; PersonaPlex resets model context</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Session ID + latest resume token</a:t>
            </a:r>
          </a:p>
          <a:p>
            <a:pPr algn="l">
              <a:lnSpc>
                <a:spcPct val="110000"/>
              </a:lnSpc>
              <a:spcAft>
                <a:spcPts val="0"/>
              </a:spcAft>
            </a:pPr>
            <a:r>
              <a:rPr sz="1200" b="0">
                <a:solidFill>
                  <a:srgbClr val="21364E"/>
                </a:solidFill>
                <a:latin typeface="Arial"/>
                <a:ea typeface="Arial"/>
                <a:cs typeface="Arial"/>
              </a:rPr>
              <a:t>Tokens rotate after successful resume</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sequence</a:t>
            </a:r>
          </a:p>
          <a:p>
            <a:pPr algn="l">
              <a:lnSpc>
                <a:spcPct val="110000"/>
              </a:lnSpc>
              <a:spcAft>
                <a:spcPts val="0"/>
              </a:spcAft>
            </a:pPr>
            <a:r>
              <a:rPr sz="1250" b="0">
                <a:solidFill>
                  <a:srgbClr val="21364E"/>
                </a:solidFill>
                <a:latin typeface="Arial"/>
                <a:ea typeface="Arial"/>
                <a:cs typeface="Arial"/>
              </a:rPr>
              <a:t>A replay gap requires a new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Defaults: disconnect grace 30s · idle TTL 300s · replay 60s / 8 MiB.</a:t>
            </a:r>
          </a:p>
          <a:p>
            <a:pPr algn="l">
              <a:lnSpc>
                <a:spcPct val="110000"/>
              </a:lnSpc>
              <a:spcAft>
                <a:spcPts val="0"/>
              </a:spcAft>
            </a:pPr>
            <a:r>
              <a:rPr sz="1050" b="0">
                <a:solidFill>
                  <a:srgbClr val="586B7E"/>
                </a:solidFill>
                <a:latin typeface="Arial"/>
                <a:ea typeface="Arial"/>
                <a:cs typeface="Arial"/>
              </a:rPr>
              <a:t>Clients must stop buffered playback separately; resume stays on the same live API process.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A6</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Model decisions</a:t>
            </a:r>
          </a:p>
          <a:p>
            <a:pPr algn="l">
              <a:lnSpc>
                <a:spcPct val="110000"/>
              </a:lnSpc>
              <a:spcAft>
                <a:spcPts val="0"/>
              </a:spcAft>
            </a:pPr>
            <a:r>
              <a:rPr sz="3100" b="1">
                <a:solidFill>
                  <a:srgbClr val="142B45"/>
                </a:solidFill>
                <a:latin typeface="Arial"/>
                <a:ea typeface="Arial"/>
                <a:cs typeface="Arial"/>
              </a:rPr>
              <a:t>and VAD interruption</a:t>
            </a:r>
          </a:p>
        </p:txBody>
      </p:sp>
      <p:sp>
        <p:nvSpPr>
          <p:cNvPr id="15" name="Rounded Rectangle 14"/>
          <p:cNvSpPr/>
          <p:nvPr/>
        </p:nvSpPr>
        <p:spPr>
          <a:xfrm>
            <a:off x="6236208" y="1170432"/>
            <a:ext cx="5394960" cy="3694176"/>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One live conversation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Arial"/>
                <a:ea typeface="Arial"/>
                <a:cs typeface="Arial"/>
              </a:rPr>
              <a:t>Model-driven speech</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New input reaches ongoing model execution.</a:t>
            </a:r>
          </a:p>
          <a:p>
            <a:pPr algn="l">
              <a:lnSpc>
                <a:spcPct val="110000"/>
              </a:lnSpc>
              <a:spcAft>
                <a:spcPts val="0"/>
              </a:spcAft>
            </a:pPr>
            <a:r>
              <a:rPr sz="1400" b="0">
                <a:solidFill>
                  <a:srgbClr val="586B7E"/>
                </a:solidFill>
                <a:latin typeface="Arial"/>
                <a:ea typeface="Arial"/>
                <a:cs typeface="Arial"/>
              </a:rPr>
              <a:t>The model chooses whether to keep speaking.</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Arial"/>
                <a:ea typeface="Arial"/>
                <a:cs typeface="Arial"/>
              </a:rPr>
              <a:t>VAD-driven turn-taking</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Speech onset interrupts the active reply.</a:t>
            </a:r>
          </a:p>
          <a:p>
            <a:pPr algn="l">
              <a:lnSpc>
                <a:spcPct val="110000"/>
              </a:lnSpc>
              <a:spcAft>
                <a:spcPts val="0"/>
              </a:spcAft>
            </a:pPr>
            <a:r>
              <a:rPr sz="1400" b="0">
                <a:solidFill>
                  <a:srgbClr val="586B7E"/>
                </a:solidFill>
                <a:latin typeface="Arial"/>
                <a:ea typeface="Arial"/>
                <a:cs typeface="Arial"/>
              </a:rPr>
              <a:t>Silence triggers commit and a fresh request.</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
            </a:r>
          </a:p>
        </p:txBody>
      </p:sp>
      <p:sp>
        <p:nvSpPr>
          <p:cNvPr id="109" name="TextBox 108"/>
          <p:cNvSpPr txBox="1"/>
          <p:nvPr/>
        </p:nvSpPr>
        <p:spPr>
          <a:xfrm>
            <a:off x="786384" y="5166360"/>
            <a:ext cx="5166360" cy="283464"/>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Two cancellation entry points</a:t>
            </a:r>
          </a:p>
        </p:txBody>
      </p:sp>
      <p:sp>
        <p:nvSpPr>
          <p:cNvPr id="110" name="TextBox 109"/>
          <p:cNvSpPr txBox="1"/>
          <p:nvPr/>
        </p:nvSpPr>
        <p:spPr>
          <a:xfrm>
            <a:off x="6318504" y="5202936"/>
            <a:ext cx="5029200" cy="228600"/>
          </a:xfrm>
          <a:prstGeom prst="rect">
            <a:avLst/>
          </a:prstGeom>
          <a:noFill/>
        </p:spPr>
        <p:txBody>
          <a:bodyPr wrap="square" lIns="0" rIns="0" tIns="0" bIns="0" anchor="t">
            <a:spAutoFit/>
          </a:bodyPr>
          <a:lstStyle/>
          <a:p>
            <a:pPr algn="l">
              <a:lnSpc>
                <a:spcPct val="110000"/>
              </a:lnSpc>
              <a:spcAft>
                <a:spcPts val="0"/>
              </a:spcAft>
            </a:pPr>
            <a:r>
              <a:rPr sz="1140" b="0">
                <a:solidFill>
                  <a:srgbClr val="586B7E"/>
                </a:solidFill>
                <a:latin typeface="Arial"/>
                <a:ea typeface="Arial"/>
                <a:cs typeface="Arial"/>
              </a:rPr>
              <a:t>LISTEN is a model decision, separate from these paths.</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Explicit response.cancel</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Client command enters the session cancellation handler.</a:t>
            </a:r>
          </a:p>
          <a:p>
            <a:pPr algn="l">
              <a:lnSpc>
                <a:spcPct val="110000"/>
              </a:lnSpc>
              <a:spcAft>
                <a:spcPts val="0"/>
              </a:spcAft>
            </a:pPr>
            <a:r>
              <a:rPr sz="1200" b="0">
                <a:solidFill>
                  <a:srgbClr val="142B45"/>
                </a:solidFill>
                <a:latin typeface="Arial"/>
                <a:ea typeface="Arial"/>
                <a:cs typeface="Arial"/>
              </a:rPr>
              <a:t>Core cancellation stops the active generation.</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VAD-triggered interruption</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Speech onset activates the overlap policy.</a:t>
            </a:r>
          </a:p>
          <a:p>
            <a:pPr algn="l">
              <a:lnSpc>
                <a:spcPct val="110000"/>
              </a:lnSpc>
              <a:spcAft>
                <a:spcPts val="0"/>
              </a:spcAft>
            </a:pPr>
            <a:r>
              <a:rPr sz="1200" b="0">
                <a:solidFill>
                  <a:srgbClr val="142B45"/>
                </a:solidFill>
                <a:latin typeface="Arial"/>
                <a:ea typeface="Arial"/>
                <a:cs typeface="Arial"/>
              </a:rPr>
              <a:t>It reuses core cancellation; the client stops playback.</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
        <p:nvSpPr>
          <p:cNvPr id="200" name="Camera"/>
          <p:cNvSpPr txBox="1"/>
          <p:nvPr/>
        </p:nvSpPr>
        <p:spPr>
          <a:xfrm>
            <a:off x="6537960" y="1847088"/>
            <a:ext cx="1115568" cy="228600"/>
          </a:xfrm>
          <a:prstGeom prst="rect">
            <a:avLst/>
          </a:prstGeom>
          <a:noFill/>
        </p:spPr>
        <p:txBody>
          <a:bodyPr wrap="square" lIns="0" rIns="0" tIns="0" bIns="0" anchor="t">
            <a:spAutoFit/>
          </a:bodyPr>
          <a:lstStyle/>
          <a:p>
            <a:pPr algn="l">
              <a:lnSpc>
                <a:spcPct val="110000"/>
              </a:lnSpc>
              <a:spcAft>
                <a:spcPts val="0"/>
              </a:spcAft>
            </a:pPr>
            <a:r>
              <a:rPr sz="1250" b="0">
                <a:solidFill>
                  <a:srgbClr val="AFCAE7"/>
                </a:solidFill>
                <a:latin typeface="Arial"/>
                <a:ea typeface="Arial"/>
                <a:cs typeface="Arial"/>
              </a:rPr>
              <a:t>Camera</a:t>
            </a:r>
          </a:p>
        </p:txBody>
      </p:sp>
      <p:sp>
        <p:nvSpPr>
          <p:cNvPr id="201" name="User speech"/>
          <p:cNvSpPr txBox="1"/>
          <p:nvPr/>
        </p:nvSpPr>
        <p:spPr>
          <a:xfrm>
            <a:off x="6537960" y="2267712"/>
            <a:ext cx="2377440" cy="22860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 speech</a:t>
            </a:r>
          </a:p>
        </p:txBody>
      </p:sp>
      <p:sp>
        <p:nvSpPr>
          <p:cNvPr id="202" name="New speech"/>
          <p:cNvSpPr txBox="1"/>
          <p:nvPr/>
        </p:nvSpPr>
        <p:spPr>
          <a:xfrm>
            <a:off x="9171432" y="2267712"/>
            <a:ext cx="2103120" cy="228600"/>
          </a:xfrm>
          <a:prstGeom prst="rect">
            <a:avLst/>
          </a:prstGeom>
          <a:noFill/>
        </p:spPr>
        <p:txBody>
          <a:bodyPr wrap="square" lIns="0" rIns="0" tIns="0" bIns="0" anchor="t">
            <a:spAutoFit/>
          </a:bodyPr>
          <a:lstStyle/>
          <a:p>
            <a:pPr algn="l">
              <a:lnSpc>
                <a:spcPct val="110000"/>
              </a:lnSpc>
              <a:spcAft>
                <a:spcPts val="0"/>
              </a:spcAft>
            </a:pPr>
            <a:r>
              <a:rPr sz="1120" b="0">
                <a:solidFill>
                  <a:srgbClr val="FFCB78"/>
                </a:solidFill>
                <a:latin typeface="Arial"/>
                <a:ea typeface="Arial"/>
                <a:cs typeface="Arial"/>
              </a:rPr>
              <a:t>Barge-in: user speaks</a:t>
            </a:r>
          </a:p>
        </p:txBody>
      </p:sp>
      <p:sp>
        <p:nvSpPr>
          <p:cNvPr id="203" name="MiniCPM-o 4.5 · Native duplex"/>
          <p:cNvSpPr txBox="1"/>
          <p:nvPr/>
        </p:nvSpPr>
        <p:spPr>
          <a:xfrm>
            <a:off x="6537960" y="2871216"/>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MiniCPM-o 4.5 · Native duplex</a:t>
            </a:r>
          </a:p>
        </p:txBody>
      </p:sp>
      <p:sp>
        <p:nvSpPr>
          <p:cNvPr id="204" name="New input can change the ongoing reply."/>
          <p:cNvSpPr txBox="1"/>
          <p:nvPr/>
        </p:nvSpPr>
        <p:spPr>
          <a:xfrm>
            <a:off x="6537960" y="3447288"/>
            <a:ext cx="4736592" cy="219456"/>
          </a:xfrm>
          <a:prstGeom prst="rect">
            <a:avLst/>
          </a:prstGeom>
          <a:noFill/>
        </p:spPr>
        <p:txBody>
          <a:bodyPr wrap="square" lIns="0" rIns="0" tIns="0" bIns="0" anchor="t">
            <a:spAutoFit/>
          </a:bodyPr>
          <a:lstStyle/>
          <a:p>
            <a:pPr algn="l">
              <a:lnSpc>
                <a:spcPct val="110000"/>
              </a:lnSpc>
              <a:spcAft>
                <a:spcPts val="0"/>
              </a:spcAft>
            </a:pPr>
            <a:r>
              <a:rPr sz="1050" b="0">
                <a:solidFill>
                  <a:srgbClr val="AFCAE7"/>
                </a:solidFill>
                <a:latin typeface="Arial"/>
                <a:ea typeface="Arial"/>
                <a:cs typeface="Arial"/>
              </a:rPr>
              <a:t>Model chooses LISTEN / SPEAK; queued audio can finish.</a:t>
            </a:r>
          </a:p>
        </p:txBody>
      </p:sp>
      <p:sp>
        <p:nvSpPr>
          <p:cNvPr id="205" name="Qwen3-Omni + VAD · Turn-based"/>
          <p:cNvSpPr txBox="1"/>
          <p:nvPr/>
        </p:nvSpPr>
        <p:spPr>
          <a:xfrm>
            <a:off x="6537960" y="3721608"/>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Qwen3-Omni + VAD · Turn-based</a:t>
            </a:r>
          </a:p>
        </p:txBody>
      </p:sp>
      <p:sp>
        <p:nvSpPr>
          <p:cNvPr id="206" name="VAD stops the reply. Commit starts a new request."/>
          <p:cNvSpPr txBox="1"/>
          <p:nvPr/>
        </p:nvSpPr>
        <p:spPr>
          <a:xfrm>
            <a:off x="6537960" y="4489704"/>
            <a:ext cx="4773168" cy="210312"/>
          </a:xfrm>
          <a:prstGeom prst="rect">
            <a:avLst/>
          </a:prstGeom>
          <a:noFill/>
        </p:spPr>
        <p:txBody>
          <a:bodyPr wrap="square" lIns="0" rIns="0" tIns="0" bIns="0" anchor="t">
            <a:spAutoFit/>
          </a:bodyPr>
          <a:lstStyle/>
          <a:p>
            <a:pPr algn="l">
              <a:lnSpc>
                <a:spcPct val="110000"/>
              </a:lnSpc>
              <a:spcAft>
                <a:spcPts val="0"/>
              </a:spcAft>
            </a:pPr>
            <a:r>
              <a:rPr sz="1020" b="0">
                <a:solidFill>
                  <a:srgbClr val="AFCAE7"/>
                </a:solidFill>
                <a:latin typeface="Arial"/>
                <a:ea typeface="Arial"/>
                <a:cs typeface="Arial"/>
              </a:rPr>
              <a:t>Speech onset stops generation and playback. Silence triggers commit.</a:t>
            </a:r>
          </a:p>
        </p:txBody>
      </p:sp>
      <p:sp>
        <p:nvSpPr>
          <p:cNvPr id="207" name="VAD stop"/>
          <p:cNvSpPr txBox="1"/>
          <p:nvPr/>
        </p:nvSpPr>
        <p:spPr>
          <a:xfrm>
            <a:off x="8549640" y="4215384"/>
            <a:ext cx="1554480"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VAD-triggered interruption</a:t>
            </a:r>
          </a:p>
        </p:txBody>
      </p:sp>
      <p:sp>
        <p:nvSpPr>
          <p:cNvPr id="208" name="commit"/>
          <p:cNvSpPr txBox="1"/>
          <p:nvPr/>
        </p:nvSpPr>
        <p:spPr>
          <a:xfrm>
            <a:off x="1013155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cxnSp>
        <p:nvCxnSpPr>
          <p:cNvPr id="300" name="Audio timeline"/>
          <p:cNvCxnSpPr/>
          <p:nvPr/>
        </p:nvCxnSpPr>
        <p:spPr>
          <a:xfrm>
            <a:off x="6547104" y="2642616"/>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1" name="Audio timeline"/>
          <p:cNvCxnSpPr/>
          <p:nvPr/>
        </p:nvCxnSpPr>
        <p:spPr>
          <a:xfrm>
            <a:off x="6547104" y="3246120"/>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2" name="Audio timeline"/>
          <p:cNvCxnSpPr/>
          <p:nvPr/>
        </p:nvCxnSpPr>
        <p:spPr>
          <a:xfrm>
            <a:off x="6547104" y="4096512"/>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303" name="Initial user utterance"/>
          <p:cNvSpPr/>
          <p:nvPr/>
        </p:nvSpPr>
        <p:spPr>
          <a:xfrm>
            <a:off x="6611112"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Initial user utterance"/>
          <p:cNvSpPr/>
          <p:nvPr/>
        </p:nvSpPr>
        <p:spPr>
          <a:xfrm>
            <a:off x="6688029"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Initial user utterance"/>
          <p:cNvSpPr/>
          <p:nvPr/>
        </p:nvSpPr>
        <p:spPr>
          <a:xfrm>
            <a:off x="6764946"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Initial user utterance"/>
          <p:cNvSpPr/>
          <p:nvPr/>
        </p:nvSpPr>
        <p:spPr>
          <a:xfrm>
            <a:off x="6841864"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Initial user utterance"/>
          <p:cNvSpPr/>
          <p:nvPr/>
        </p:nvSpPr>
        <p:spPr>
          <a:xfrm>
            <a:off x="6918781"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Initial user utterance"/>
          <p:cNvSpPr/>
          <p:nvPr/>
        </p:nvSpPr>
        <p:spPr>
          <a:xfrm>
            <a:off x="699569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Initial user utterance"/>
          <p:cNvSpPr/>
          <p:nvPr/>
        </p:nvSpPr>
        <p:spPr>
          <a:xfrm>
            <a:off x="707261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Initial user utterance"/>
          <p:cNvSpPr/>
          <p:nvPr/>
        </p:nvSpPr>
        <p:spPr>
          <a:xfrm>
            <a:off x="714953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Initial user utterance"/>
          <p:cNvSpPr/>
          <p:nvPr/>
        </p:nvSpPr>
        <p:spPr>
          <a:xfrm>
            <a:off x="7226449"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Initial user utterance"/>
          <p:cNvSpPr/>
          <p:nvPr/>
        </p:nvSpPr>
        <p:spPr>
          <a:xfrm>
            <a:off x="7303367"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Initial user utterance"/>
          <p:cNvSpPr/>
          <p:nvPr/>
        </p:nvSpPr>
        <p:spPr>
          <a:xfrm>
            <a:off x="7380284"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Initial user utterance"/>
          <p:cNvSpPr/>
          <p:nvPr/>
        </p:nvSpPr>
        <p:spPr>
          <a:xfrm>
            <a:off x="7457201"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Initial user utterance"/>
          <p:cNvSpPr/>
          <p:nvPr/>
        </p:nvSpPr>
        <p:spPr>
          <a:xfrm>
            <a:off x="7534118"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Initial user utterance"/>
          <p:cNvSpPr/>
          <p:nvPr/>
        </p:nvSpPr>
        <p:spPr>
          <a:xfrm>
            <a:off x="7611035"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Initial user utterance"/>
          <p:cNvSpPr/>
          <p:nvPr/>
        </p:nvSpPr>
        <p:spPr>
          <a:xfrm>
            <a:off x="768795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Initial user utterance"/>
          <p:cNvSpPr/>
          <p:nvPr/>
        </p:nvSpPr>
        <p:spPr>
          <a:xfrm>
            <a:off x="7764870"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Initial user utterance"/>
          <p:cNvSpPr/>
          <p:nvPr/>
        </p:nvSpPr>
        <p:spPr>
          <a:xfrm>
            <a:off x="7841787"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Initial user utterance"/>
          <p:cNvSpPr/>
          <p:nvPr/>
        </p:nvSpPr>
        <p:spPr>
          <a:xfrm>
            <a:off x="7918704"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User adds information"/>
          <p:cNvSpPr/>
          <p:nvPr/>
        </p:nvSpPr>
        <p:spPr>
          <a:xfrm>
            <a:off x="9180576"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User adds information"/>
          <p:cNvSpPr/>
          <p:nvPr/>
        </p:nvSpPr>
        <p:spPr>
          <a:xfrm>
            <a:off x="9255442"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User adds information"/>
          <p:cNvSpPr/>
          <p:nvPr/>
        </p:nvSpPr>
        <p:spPr>
          <a:xfrm>
            <a:off x="9330309"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User adds information"/>
          <p:cNvSpPr/>
          <p:nvPr/>
        </p:nvSpPr>
        <p:spPr>
          <a:xfrm>
            <a:off x="9405176"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User adds information"/>
          <p:cNvSpPr/>
          <p:nvPr/>
        </p:nvSpPr>
        <p:spPr>
          <a:xfrm>
            <a:off x="948004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User adds information"/>
          <p:cNvSpPr/>
          <p:nvPr/>
        </p:nvSpPr>
        <p:spPr>
          <a:xfrm>
            <a:off x="955490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User adds information"/>
          <p:cNvSpPr/>
          <p:nvPr/>
        </p:nvSpPr>
        <p:spPr>
          <a:xfrm>
            <a:off x="962977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User adds information"/>
          <p:cNvSpPr/>
          <p:nvPr/>
        </p:nvSpPr>
        <p:spPr>
          <a:xfrm>
            <a:off x="970464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User adds information"/>
          <p:cNvSpPr/>
          <p:nvPr/>
        </p:nvSpPr>
        <p:spPr>
          <a:xfrm>
            <a:off x="9779508"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User adds information"/>
          <p:cNvSpPr/>
          <p:nvPr/>
        </p:nvSpPr>
        <p:spPr>
          <a:xfrm>
            <a:off x="9854374"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User adds information"/>
          <p:cNvSpPr/>
          <p:nvPr/>
        </p:nvSpPr>
        <p:spPr>
          <a:xfrm>
            <a:off x="9929241"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User adds information"/>
          <p:cNvSpPr/>
          <p:nvPr/>
        </p:nvSpPr>
        <p:spPr>
          <a:xfrm>
            <a:off x="10004107"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User adds information"/>
          <p:cNvSpPr/>
          <p:nvPr/>
        </p:nvSpPr>
        <p:spPr>
          <a:xfrm>
            <a:off x="10078974"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User adds information"/>
          <p:cNvSpPr/>
          <p:nvPr/>
        </p:nvSpPr>
        <p:spPr>
          <a:xfrm>
            <a:off x="10153840"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User adds information"/>
          <p:cNvSpPr/>
          <p:nvPr/>
        </p:nvSpPr>
        <p:spPr>
          <a:xfrm>
            <a:off x="10228707"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User adds information"/>
          <p:cNvSpPr/>
          <p:nvPr/>
        </p:nvSpPr>
        <p:spPr>
          <a:xfrm>
            <a:off x="10303574"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User adds information"/>
          <p:cNvSpPr/>
          <p:nvPr/>
        </p:nvSpPr>
        <p:spPr>
          <a:xfrm>
            <a:off x="10378440"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Turn response before VAD cancellation"/>
          <p:cNvSpPr/>
          <p:nvPr/>
        </p:nvSpPr>
        <p:spPr>
          <a:xfrm>
            <a:off x="8174736"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Turn response before VAD cancellation"/>
          <p:cNvSpPr/>
          <p:nvPr/>
        </p:nvSpPr>
        <p:spPr>
          <a:xfrm>
            <a:off x="8250501"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Turn response before VAD cancellation"/>
          <p:cNvSpPr/>
          <p:nvPr/>
        </p:nvSpPr>
        <p:spPr>
          <a:xfrm>
            <a:off x="8326265"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urn response before VAD cancellation"/>
          <p:cNvSpPr/>
          <p:nvPr/>
        </p:nvSpPr>
        <p:spPr>
          <a:xfrm>
            <a:off x="8402030"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Turn response before VAD cancellation"/>
          <p:cNvSpPr/>
          <p:nvPr/>
        </p:nvSpPr>
        <p:spPr>
          <a:xfrm>
            <a:off x="8477794"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Turn response before VAD cancellation"/>
          <p:cNvSpPr/>
          <p:nvPr/>
        </p:nvSpPr>
        <p:spPr>
          <a:xfrm>
            <a:off x="8553559" y="4000500"/>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Turn response before VAD cancellation"/>
          <p:cNvSpPr/>
          <p:nvPr/>
        </p:nvSpPr>
        <p:spPr>
          <a:xfrm>
            <a:off x="8629323" y="3968496"/>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Turn response before VAD cancellation"/>
          <p:cNvSpPr/>
          <p:nvPr/>
        </p:nvSpPr>
        <p:spPr>
          <a:xfrm>
            <a:off x="8705088" y="4018788"/>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Turn response before VAD cancellation"/>
          <p:cNvSpPr/>
          <p:nvPr/>
        </p:nvSpPr>
        <p:spPr>
          <a:xfrm>
            <a:off x="8780853" y="3991356"/>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Turn response before VAD cancellation"/>
          <p:cNvSpPr/>
          <p:nvPr/>
        </p:nvSpPr>
        <p:spPr>
          <a:xfrm>
            <a:off x="8856617" y="4027932"/>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Turn response before VAD cancellation"/>
          <p:cNvSpPr/>
          <p:nvPr/>
        </p:nvSpPr>
        <p:spPr>
          <a:xfrm>
            <a:off x="8932382"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Turn response before VAD cancellation"/>
          <p:cNvSpPr/>
          <p:nvPr/>
        </p:nvSpPr>
        <p:spPr>
          <a:xfrm>
            <a:off x="9008146"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Turn response before VAD cancellation"/>
          <p:cNvSpPr/>
          <p:nvPr/>
        </p:nvSpPr>
        <p:spPr>
          <a:xfrm>
            <a:off x="9083911"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Turn response before VAD cancellation"/>
          <p:cNvSpPr/>
          <p:nvPr/>
        </p:nvSpPr>
        <p:spPr>
          <a:xfrm>
            <a:off x="9159675"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Turn response before VAD cancellation"/>
          <p:cNvSpPr/>
          <p:nvPr/>
        </p:nvSpPr>
        <p:spPr>
          <a:xfrm>
            <a:off x="9235440"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New request after commit"/>
          <p:cNvSpPr/>
          <p:nvPr/>
        </p:nvSpPr>
        <p:spPr>
          <a:xfrm>
            <a:off x="10808208"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New request after commit"/>
          <p:cNvSpPr/>
          <p:nvPr/>
        </p:nvSpPr>
        <p:spPr>
          <a:xfrm>
            <a:off x="10901934"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New request after commit"/>
          <p:cNvSpPr/>
          <p:nvPr/>
        </p:nvSpPr>
        <p:spPr>
          <a:xfrm>
            <a:off x="10995660"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New request after commit"/>
          <p:cNvSpPr/>
          <p:nvPr/>
        </p:nvSpPr>
        <p:spPr>
          <a:xfrm>
            <a:off x="11089386"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New request after commit"/>
          <p:cNvSpPr/>
          <p:nvPr/>
        </p:nvSpPr>
        <p:spPr>
          <a:xfrm>
            <a:off x="11183112"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3" name="New user speech alignment"/>
          <p:cNvCxnSpPr/>
          <p:nvPr/>
        </p:nvCxnSpPr>
        <p:spPr>
          <a:xfrm>
            <a:off x="9171432" y="2487168"/>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4" name="New user speech alignment"/>
          <p:cNvCxnSpPr/>
          <p:nvPr/>
        </p:nvCxnSpPr>
        <p:spPr>
          <a:xfrm>
            <a:off x="9171432" y="3090672"/>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5" name="New user speech alignment"/>
          <p:cNvCxnSpPr/>
          <p:nvPr/>
        </p:nvCxnSpPr>
        <p:spPr>
          <a:xfrm>
            <a:off x="9171432" y="3941064"/>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6" name="VAD cancels the old reply"/>
          <p:cNvCxnSpPr/>
          <p:nvPr/>
        </p:nvCxnSpPr>
        <p:spPr>
          <a:xfrm>
            <a:off x="9281160" y="3977640"/>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cxnSp>
        <p:nvCxnSpPr>
          <p:cNvPr id="387" name="Commit after user speech and silence"/>
          <p:cNvCxnSpPr/>
          <p:nvPr/>
        </p:nvCxnSpPr>
        <p:spPr>
          <a:xfrm>
            <a:off x="10597896"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50" name="Native model audio output"/>
          <p:cNvSpPr/>
          <p:nvPr/>
        </p:nvSpPr>
        <p:spPr>
          <a:xfrm>
            <a:off x="817473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Native model audio output"/>
          <p:cNvSpPr/>
          <p:nvPr/>
        </p:nvSpPr>
        <p:spPr>
          <a:xfrm>
            <a:off x="8250501"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Native model audio output"/>
          <p:cNvSpPr/>
          <p:nvPr/>
        </p:nvSpPr>
        <p:spPr>
          <a:xfrm>
            <a:off x="8326265"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Native model audio output"/>
          <p:cNvSpPr/>
          <p:nvPr/>
        </p:nvSpPr>
        <p:spPr>
          <a:xfrm>
            <a:off x="8402030"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Native model audio output"/>
          <p:cNvSpPr/>
          <p:nvPr/>
        </p:nvSpPr>
        <p:spPr>
          <a:xfrm>
            <a:off x="8477794"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Native model audio output"/>
          <p:cNvSpPr/>
          <p:nvPr/>
        </p:nvSpPr>
        <p:spPr>
          <a:xfrm>
            <a:off x="8553559"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Native model audio output"/>
          <p:cNvSpPr/>
          <p:nvPr/>
        </p:nvSpPr>
        <p:spPr>
          <a:xfrm>
            <a:off x="8629323"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Native model audio output"/>
          <p:cNvSpPr/>
          <p:nvPr/>
        </p:nvSpPr>
        <p:spPr>
          <a:xfrm>
            <a:off x="8705088"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Native model audio output"/>
          <p:cNvSpPr/>
          <p:nvPr/>
        </p:nvSpPr>
        <p:spPr>
          <a:xfrm>
            <a:off x="8780853" y="3140964"/>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Native model audio output"/>
          <p:cNvSpPr/>
          <p:nvPr/>
        </p:nvSpPr>
        <p:spPr>
          <a:xfrm>
            <a:off x="8856617" y="3177540"/>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Native model audio output"/>
          <p:cNvSpPr/>
          <p:nvPr/>
        </p:nvSpPr>
        <p:spPr>
          <a:xfrm>
            <a:off x="8932382"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Native model audio output"/>
          <p:cNvSpPr/>
          <p:nvPr/>
        </p:nvSpPr>
        <p:spPr>
          <a:xfrm>
            <a:off x="9008146"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Native model audio output"/>
          <p:cNvSpPr/>
          <p:nvPr/>
        </p:nvSpPr>
        <p:spPr>
          <a:xfrm>
            <a:off x="9083911"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Native model audio output"/>
          <p:cNvSpPr/>
          <p:nvPr/>
        </p:nvSpPr>
        <p:spPr>
          <a:xfrm>
            <a:off x="9159675"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Native model audio output"/>
          <p:cNvSpPr/>
          <p:nvPr/>
        </p:nvSpPr>
        <p:spPr>
          <a:xfrm>
            <a:off x="9235440"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Native model audio output"/>
          <p:cNvSpPr/>
          <p:nvPr/>
        </p:nvSpPr>
        <p:spPr>
          <a:xfrm>
            <a:off x="10808208"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Native model audio output"/>
          <p:cNvSpPr/>
          <p:nvPr/>
        </p:nvSpPr>
        <p:spPr>
          <a:xfrm>
            <a:off x="10901934"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Native model audio output"/>
          <p:cNvSpPr/>
          <p:nvPr/>
        </p:nvSpPr>
        <p:spPr>
          <a:xfrm>
            <a:off x="10995660"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Native model audio output"/>
          <p:cNvSpPr/>
          <p:nvPr/>
        </p:nvSpPr>
        <p:spPr>
          <a:xfrm>
            <a:off x="11089386"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Native model audio output"/>
          <p:cNvSpPr/>
          <p:nvPr/>
        </p:nvSpPr>
        <p:spPr>
          <a:xfrm>
            <a:off x="1118311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0" name="Model chooses LISTEN"/>
          <p:cNvCxnSpPr/>
          <p:nvPr/>
        </p:nvCxnSpPr>
        <p:spPr>
          <a:xfrm>
            <a:off x="9281160" y="3127248"/>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sp>
        <p:nvSpPr>
          <p:cNvPr id="491" name="Model LISTEN decision"/>
          <p:cNvSpPr txBox="1"/>
          <p:nvPr/>
        </p:nvSpPr>
        <p:spPr>
          <a:xfrm>
            <a:off x="9400032" y="3127248"/>
            <a:ext cx="1325880" cy="210312"/>
          </a:xfrm>
          <a:prstGeom prst="rect">
            <a:avLst/>
          </a:prstGeom>
          <a:noFill/>
        </p:spPr>
        <p:txBody>
          <a:bodyPr wrap="square" lIns="0" rIns="0" tIns="0" bIns="0" anchor="t">
            <a:spAutoFit/>
          </a:bodyPr>
          <a:lstStyle/>
          <a:p>
            <a:pPr algn="l">
              <a:lnSpc>
                <a:spcPct val="110000"/>
              </a:lnSpc>
              <a:spcAft>
                <a:spcPts val="0"/>
              </a:spcAft>
            </a:pPr>
            <a:r>
              <a:rPr sz="1050" b="0">
                <a:solidFill>
                  <a:srgbClr val="FFCB78"/>
                </a:solidFill>
                <a:latin typeface="Arial"/>
                <a:ea typeface="Arial"/>
                <a:cs typeface="Arial"/>
              </a:rPr>
              <a:t>Model: LISTEN</a:t>
            </a:r>
          </a:p>
        </p:txBody>
      </p:sp>
      <p:cxnSp>
        <p:nvCxnSpPr>
          <p:cNvPr id="492" name="First VAD commit after user speech and silence"/>
          <p:cNvCxnSpPr/>
          <p:nvPr/>
        </p:nvCxnSpPr>
        <p:spPr>
          <a:xfrm>
            <a:off x="8046720"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93" name="First VAD commit label"/>
          <p:cNvSpPr txBox="1"/>
          <p:nvPr/>
        </p:nvSpPr>
        <p:spPr>
          <a:xfrm>
            <a:off x="757123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OVERVIEW</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Agenda</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13</a:t>
            </a:r>
          </a:p>
        </p:txBody>
      </p:sp>
      <p:cxnSp>
        <p:nvCxnSpPr>
          <p:cNvPr id="501" name="Column separator"/>
          <p:cNvCxnSpPr/>
          <p:nvPr/>
        </p:nvCxnSpPr>
        <p:spPr>
          <a:xfrm>
            <a:off x="6099048" y="1984248"/>
            <a:ext cx="0" cy="3657600"/>
          </a:xfrm>
          <a:prstGeom prst="line">
            <a:avLst/>
          </a:prstGeom>
          <a:ln w="12700">
            <a:solidFill>
              <a:srgbClr val="D5E0ED"/>
            </a:solidFill>
          </a:ln>
        </p:spPr>
      </p:cxnSp>
      <p:sp>
        <p:nvSpPr>
          <p:cNvPr id="502" name="Main Presentation"/>
          <p:cNvSpPr/>
          <p:nvPr/>
        </p:nvSpPr>
        <p:spPr>
          <a:xfrm>
            <a:off x="731520" y="1993392"/>
            <a:ext cx="5010912" cy="438912"/>
          </a:xfrm>
          <a:prstGeom prst="rect">
            <a:avLst/>
          </a:prstGeom>
          <a:noFill/>
        </p:spPr>
        <p:txBody>
          <a:bodyPr wrap="square" lIns="0" rIns="0" tIns="0" bIns="0" anchor="t">
            <a:noAutofit/>
          </a:bodyPr>
          <a:lstStyle/>
          <a:p>
            <a:pPr algn="l">
              <a:lnSpc>
                <a:spcPct val="108000"/>
              </a:lnSpc>
              <a:spcAft>
                <a:spcPts val="0"/>
              </a:spcAft>
            </a:pPr>
            <a:r>
              <a:rPr sz="2300" b="1">
                <a:solidFill>
                  <a:srgbClr val="347FF0"/>
                </a:solidFill>
                <a:latin typeface="Arial"/>
                <a:ea typeface="Arial"/>
                <a:cs typeface="Arial"/>
              </a:rPr>
              <a:t>Main Presentation</a:t>
            </a:r>
          </a:p>
        </p:txBody>
      </p:sp>
      <p:cxnSp>
        <p:nvCxnSpPr>
          <p:cNvPr id="503" name="Section underline"/>
          <p:cNvCxnSpPr/>
          <p:nvPr/>
        </p:nvCxnSpPr>
        <p:spPr>
          <a:xfrm>
            <a:off x="731520" y="2542032"/>
            <a:ext cx="5001768" cy="0"/>
          </a:xfrm>
          <a:prstGeom prst="line">
            <a:avLst/>
          </a:prstGeom>
          <a:ln w="12700">
            <a:solidFill>
              <a:srgbClr val="A7BAD0"/>
            </a:solidFill>
          </a:ln>
        </p:spPr>
      </p:cxnSp>
      <p:sp>
        <p:nvSpPr>
          <p:cNvPr id="504" name="Duplex Interaction &amp; Models"/>
          <p:cNvSpPr/>
          <p:nvPr/>
        </p:nvSpPr>
        <p:spPr>
          <a:xfrm>
            <a:off x="731520" y="285292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Duplex Interaction &amp; Models</a:t>
            </a:r>
          </a:p>
        </p:txBody>
      </p:sp>
      <p:sp>
        <p:nvSpPr>
          <p:cNvPr id="505" name="Unified Architecture &amp; Workflow"/>
          <p:cNvSpPr/>
          <p:nvPr/>
        </p:nvSpPr>
        <p:spPr>
          <a:xfrm>
            <a:off x="731520" y="358444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Unified Architecture &amp; Workflow</a:t>
            </a:r>
          </a:p>
        </p:txBody>
      </p:sp>
      <p:sp>
        <p:nvSpPr>
          <p:cNvPr id="506" name="Performance Optimization &amp; Metrics"/>
          <p:cNvSpPr/>
          <p:nvPr/>
        </p:nvSpPr>
        <p:spPr>
          <a:xfrm>
            <a:off x="731520" y="431596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Performance Optimization &amp; Metrics</a:t>
            </a:r>
          </a:p>
        </p:txBody>
      </p:sp>
      <p:sp>
        <p:nvSpPr>
          <p:cNvPr id="507" name="Tool Calling &amp; Roadmap"/>
          <p:cNvSpPr/>
          <p:nvPr/>
        </p:nvSpPr>
        <p:spPr>
          <a:xfrm>
            <a:off x="731520" y="504748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Tool Calling &amp; Roadmap</a:t>
            </a:r>
          </a:p>
        </p:txBody>
      </p:sp>
      <p:sp>
        <p:nvSpPr>
          <p:cNvPr id="508" name="Technical Appendix"/>
          <p:cNvSpPr/>
          <p:nvPr/>
        </p:nvSpPr>
        <p:spPr>
          <a:xfrm>
            <a:off x="6455664" y="1993392"/>
            <a:ext cx="5010912" cy="438912"/>
          </a:xfrm>
          <a:prstGeom prst="rect">
            <a:avLst/>
          </a:prstGeom>
          <a:noFill/>
        </p:spPr>
        <p:txBody>
          <a:bodyPr wrap="square" lIns="0" rIns="0" tIns="0" bIns="0" anchor="t">
            <a:noAutofit/>
          </a:bodyPr>
          <a:lstStyle/>
          <a:p>
            <a:pPr algn="l">
              <a:lnSpc>
                <a:spcPct val="108000"/>
              </a:lnSpc>
              <a:spcAft>
                <a:spcPts val="0"/>
              </a:spcAft>
            </a:pPr>
            <a:r>
              <a:rPr sz="2300" b="1">
                <a:solidFill>
                  <a:srgbClr val="008E96"/>
                </a:solidFill>
                <a:latin typeface="Arial"/>
                <a:ea typeface="Arial"/>
                <a:cs typeface="Arial"/>
              </a:rPr>
              <a:t>Technical Appendix</a:t>
            </a:r>
          </a:p>
        </p:txBody>
      </p:sp>
      <p:cxnSp>
        <p:nvCxnSpPr>
          <p:cNvPr id="509" name="Section underline"/>
          <p:cNvCxnSpPr/>
          <p:nvPr/>
        </p:nvCxnSpPr>
        <p:spPr>
          <a:xfrm>
            <a:off x="6455664" y="2542032"/>
            <a:ext cx="5001768" cy="0"/>
          </a:xfrm>
          <a:prstGeom prst="line">
            <a:avLst/>
          </a:prstGeom>
          <a:ln w="12700">
            <a:solidFill>
              <a:srgbClr val="A7BAD0"/>
            </a:solidFill>
          </a:ln>
        </p:spPr>
      </p:cxnSp>
      <p:sp>
        <p:nvSpPr>
          <p:cNvPr id="510" name="Architecture &amp; Execution Details"/>
          <p:cNvSpPr/>
          <p:nvPr/>
        </p:nvSpPr>
        <p:spPr>
          <a:xfrm>
            <a:off x="6455664" y="285292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Architecture &amp; Execution Details</a:t>
            </a:r>
          </a:p>
        </p:txBody>
      </p:sp>
      <p:sp>
        <p:nvSpPr>
          <p:cNvPr id="511" name="VAD &amp; Interruption"/>
          <p:cNvSpPr/>
          <p:nvPr/>
        </p:nvSpPr>
        <p:spPr>
          <a:xfrm>
            <a:off x="6455664" y="358444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VAD &amp; Interruption</a:t>
            </a:r>
          </a:p>
        </p:txBody>
      </p:sp>
      <p:sp>
        <p:nvSpPr>
          <p:cNvPr id="512" name="Session Lifecycle &amp; Recovery"/>
          <p:cNvSpPr/>
          <p:nvPr/>
        </p:nvSpPr>
        <p:spPr>
          <a:xfrm>
            <a:off x="6455664" y="431596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Session Lifecycle &amp; Recovery</a:t>
            </a:r>
          </a:p>
        </p:txBody>
      </p:sp>
      <p:sp>
        <p:nvSpPr>
          <p:cNvPr id="513" name="Distributed Deployment"/>
          <p:cNvSpPr/>
          <p:nvPr/>
        </p:nvSpPr>
        <p:spPr>
          <a:xfrm>
            <a:off x="6455664" y="504748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Distributed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2026-10-10T02:11:11Z</dcterms:modified>
  <cp:category/>
</cp:coreProperties>
</file>