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85" r:id="rIdAgendaV71"/>
    <p:sldId id="256" r:id="rId7"/>
    <p:sldId id="261" r:id="rId12"/>
    <p:sldId id="257" r:id="rId8"/>
    <p:sldId id="258" r:id="rId9"/>
    <p:sldId id="259" r:id="rId10"/>
    <p:sldId id="260" r:id="rId11"/>
    <p:sldId id="262" r:id="rId13"/>
    <p:sldId id="280" r:id="rId30"/>
    <p:sldId id="271" r:id="rId21"/>
    <p:sldId id="282" r:id="rId32"/>
    <p:sldId id="268" r:id="rId20"/>
    <p:sldId id="269" r:id="rId15"/>
    <p:sldId id="284" r:id="rIdModelVadAppendix"/>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 Id="rIdModelVadAppendix" Type="http://schemas.openxmlformats.org/officeDocument/2006/relationships/slide" Target="slides/slide19.xml"/><Relationship Id="rIdAgendaV71"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Noto Sans CJK SC"/>
              </a:defRPr>
            </a:pPr>
            <a:r>
              <a:rPr lang="en-US" sz="1600" b="1" baseline="0">
                <a:solidFill>
                  <a:srgbClr val="16304E"/>
                </a:solidFill>
                <a:latin typeface="Noto Sans CJK SC"/>
              </a:rPr>
              <a:t>MiniCPM-o 4.5</a:t>
            </a:r>
          </a:p>
        </c:rich>
      </c:tx>
      <c:layout/>
    </c:title>
    <c:plotArea>
      <c:layout>
        <c:manualLayout>
          <c:layoutTarget val="inner"/>
          <c:xMode val="edge"/>
          <c:yMode val="edge"/>
          <c:x val="0.19"/>
          <c:y val="0.27000000000000002"/>
          <c:w val="0.73999999999999999"/>
          <c:h val="0.56999999999999995"/>
        </c:manualLayout>
      </c:layout>
      <c:lineChart>
        <c:grouping val="standard"/>
        <c:ser>
          <c:idx val="0"/>
          <c:order val="0"/>
          <c:tx>
            <c:v>单并发</c:v>
          </c:tx>
          <c:spPr>
            <a:ln w="31750">
              <a:solidFill>
                <a:srgbClr val="347FF0"/>
              </a:solidFill>
            </a:ln>
          </c:spPr>
          <c:marker>
            <c:symbol val="circle"/>
            <c:size val="3.5"/>
            <c:spPr>
              <a:solidFill>
                <a:srgbClr val="347FF0"/>
              </a:solidFill>
              <a:ln>
                <a:solidFill>
                  <a:srgbClr val="347FF0"/>
                </a:solidFill>
              </a:ln>
            </c:spPr>
          </c:marker>
          <c:dLbls>
            <c:dLbl>
              <c:idx val="0"/>
              <c:numFmt formatCode="0.00" sourceLinked="0"/>
              <c:txPr>
                <a:bodyPr/>
                <a:lstStyle/>
                <a:p>
                  <a:pPr>
                    <a:defRPr sz="1200" b="1" baseline="0">
                      <a:solidFill>
                        <a:srgbClr val="347FF0"/>
                      </a:solidFill>
                      <a:latin typeface="Noto Sans CJK SC"/>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347FF0"/>
                      </a:solidFill>
                      <a:latin typeface="Noto Sans CJK SC"/>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347FF0"/>
                    </a:solidFill>
                    <a:latin typeface="Noto Sans CJK SC"/>
                  </a:defRPr>
                </a:pPr>
                <a:endParaRPr lang="en-US"/>
              </a:p>
            </c:txPr>
            <c:dLblPos val="t"/>
            <c:showLegendKey val="0"/>
            <c:showVal val="1"/>
            <c:showCatName val="0"/>
            <c:showSerName val="0"/>
            <c:showPercent val="0"/>
            <c:showBubbleSize val="0"/>
          </c:dLbls>
          <c:cat>
            <c:strRef>
              <c:f>Data!$A$2:$A$31</c:f>
              <c:strCache>
                <c:ptCount val="30"/>
                <c:pt idx="0">
                  <c:v>9/9</c:v>
                </c:pt>
                <c:pt idx="1">
                  <c:v>9/10</c:v>
                </c:pt>
                <c:pt idx="2">
                  <c:v>9/11</c:v>
                </c:pt>
                <c:pt idx="3">
                  <c:v>9/12</c:v>
                </c:pt>
                <c:pt idx="4">
                  <c:v>9/13</c:v>
                </c:pt>
                <c:pt idx="5">
                  <c:v>9/14</c:v>
                </c:pt>
                <c:pt idx="6">
                  <c:v>9/15</c:v>
                </c:pt>
                <c:pt idx="7">
                  <c:v>9/16</c:v>
                </c:pt>
                <c:pt idx="8">
                  <c:v>9/17</c:v>
                </c:pt>
                <c:pt idx="9">
                  <c:v>9/18</c:v>
                </c:pt>
                <c:pt idx="10">
                  <c:v>9/19</c:v>
                </c:pt>
                <c:pt idx="11">
                  <c:v>9/20</c:v>
                </c:pt>
                <c:pt idx="12">
                  <c:v>9/21</c:v>
                </c:pt>
                <c:pt idx="13">
                  <c:v>9/22</c:v>
                </c:pt>
                <c:pt idx="14">
                  <c:v>9/23</c:v>
                </c:pt>
                <c:pt idx="15">
                  <c:v>9/24</c:v>
                </c:pt>
                <c:pt idx="16">
                  <c:v>9/25</c:v>
                </c:pt>
                <c:pt idx="17">
                  <c:v>9/26</c:v>
                </c:pt>
                <c:pt idx="18">
                  <c:v>9/27</c:v>
                </c:pt>
                <c:pt idx="19">
                  <c:v>9/28</c:v>
                </c:pt>
                <c:pt idx="20">
                  <c:v>9/29</c:v>
                </c:pt>
                <c:pt idx="21">
                  <c:v>9/30</c:v>
                </c:pt>
                <c:pt idx="22">
                  <c:v>10/1</c:v>
                </c:pt>
                <c:pt idx="23">
                  <c:v>10/2</c:v>
                </c:pt>
                <c:pt idx="24">
                  <c:v>10/3</c:v>
                </c:pt>
                <c:pt idx="25">
                  <c:v>10/4</c:v>
                </c:pt>
                <c:pt idx="26">
                  <c:v>10/5</c:v>
                </c:pt>
                <c:pt idx="27">
                  <c:v>10/6</c:v>
                </c:pt>
                <c:pt idx="28">
                  <c:v>10/7</c:v>
                </c:pt>
                <c:pt idx="29">
                  <c:v>10/8</c:v>
                </c:pt>
              </c:strCache>
            </c:strRef>
          </c:cat>
          <c:val>
            <c:numRef>
              <c:f>Data!$B$2:$B$31</c:f>
              <c:numCache>
                <c:formatCode>General</c:formatCode>
                <c:ptCount val="30"/>
                <c:pt idx="0">
                  <c:v>0.2796372324453467</c:v>
                </c:pt>
                <c:pt idx="1">
                  <c:v>0.3057066610116239</c:v>
                </c:pt>
                <c:pt idx="2">
                  <c:v>0.2862686890393618</c:v>
                </c:pt>
                <c:pt idx="3">
                  <c:v>0.2996849285750839</c:v>
                </c:pt>
                <c:pt idx="4">
                  <c:v>0.2814201706698345</c:v>
                </c:pt>
                <c:pt idx="5">
                  <c:v>0.3354380315932828</c:v>
                </c:pt>
                <c:pt idx="6">
                  <c:v>0.292886297319142</c:v>
                </c:pt>
                <c:pt idx="9">
                  <c:v>0.2566866281425211</c:v>
                </c:pt>
                <c:pt idx="10">
                  <c:v>0.2574453724335966</c:v>
                </c:pt>
                <c:pt idx="11">
                  <c:v>0.2658440473115476</c:v>
                </c:pt>
                <c:pt idx="12">
                  <c:v>0.26640340325851</c:v>
                </c:pt>
                <c:pt idx="13">
                  <c:v>0.2516296008271153</c:v>
                </c:pt>
                <c:pt idx="14">
                  <c:v>0.2643693599131755</c:v>
                </c:pt>
                <c:pt idx="15">
                  <c:v>0.2615320184411149</c:v>
                </c:pt>
                <c:pt idx="16">
                  <c:v>0.2698624881757311</c:v>
                </c:pt>
                <c:pt idx="17">
                  <c:v>0.2402596326001973</c:v>
                </c:pt>
                <c:pt idx="18">
                  <c:v>0.2342349890436853</c:v>
                </c:pt>
                <c:pt idx="19">
                  <c:v>0.2309197556005091</c:v>
                </c:pt>
                <c:pt idx="20">
                  <c:v>0.2321438143465041</c:v>
                </c:pt>
                <c:pt idx="21">
                  <c:v>0.2360356775189957</c:v>
                </c:pt>
                <c:pt idx="22">
                  <c:v>0.225033587387731</c:v>
                </c:pt>
                <c:pt idx="23">
                  <c:v>0.232949219429914</c:v>
                </c:pt>
                <c:pt idx="24">
                  <c:v>0.2339812625105425</c:v>
                </c:pt>
                <c:pt idx="25">
                  <c:v>0.2321937609004436</c:v>
                </c:pt>
                <c:pt idx="26">
                  <c:v>0.2199261068144891</c:v>
                </c:pt>
                <c:pt idx="27">
                  <c:v>0.1984515588338899</c:v>
                </c:pt>
                <c:pt idx="28">
                  <c:v>0.2004860409658522</c:v>
                </c:pt>
                <c:pt idx="29">
                  <c:v>0.1980657252767292</c:v>
                </c:pt>
              </c:numCache>
            </c:numRef>
          </c:val>
          <c:smooth val="0"/>
        </c:ser>
        <c:ser>
          <c:idx val="1"/>
          <c:order val="1"/>
          <c:tx>
            <c:v>8 并发</c:v>
          </c:tx>
          <c:spPr>
            <a:ln w="31750">
              <a:solidFill>
                <a:srgbClr val="008E96"/>
              </a:solidFill>
            </a:ln>
          </c:spPr>
          <c:marker>
            <c:symbol val="circle"/>
            <c:size val="3.5"/>
            <c:spPr>
              <a:solidFill>
                <a:srgbClr val="008E96"/>
              </a:solidFill>
              <a:ln>
                <a:solidFill>
                  <a:srgbClr val="008E96"/>
                </a:solidFill>
              </a:ln>
            </c:spPr>
          </c:marker>
          <c:dLbls>
            <c:dLbl>
              <c:idx val="0"/>
              <c:numFmt formatCode="0.00" sourceLinked="0"/>
              <c:txPr>
                <a:bodyPr/>
                <a:lstStyle/>
                <a:p>
                  <a:pPr>
                    <a:defRPr sz="1200" b="1" baseline="0">
                      <a:solidFill>
                        <a:srgbClr val="008E96"/>
                      </a:solidFill>
                      <a:latin typeface="Noto Sans CJK SC"/>
                    </a:defRPr>
                  </a:pPr>
                  <a:endParaRPr lang="en-US"/>
                </a:p>
              </c:txPr>
              <c:dLblPos val="t"/>
              <c:showLegendKey val="0"/>
              <c:showVal val="1"/>
              <c:showCatName val="0"/>
              <c:showSerName val="0"/>
              <c:showPercent val="0"/>
              <c:showBubbleSize val="0"/>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numFmt formatCode="0.00" sourceLinked="0"/>
              <c:txPr>
                <a:bodyPr/>
                <a:lstStyle/>
                <a:p>
                  <a:pPr>
                    <a:defRPr sz="1200" b="1" baseline="0">
                      <a:solidFill>
                        <a:srgbClr val="008E96"/>
                      </a:solidFill>
                      <a:latin typeface="Noto Sans CJK SC"/>
                    </a:defRPr>
                  </a:pPr>
                  <a:endParaRPr lang="en-US"/>
                </a:p>
              </c:txPr>
              <c:dLblPos val="t"/>
              <c:showLegendKey val="0"/>
              <c:showVal val="1"/>
              <c:showCatName val="0"/>
              <c:showSerName val="0"/>
              <c:showPercent val="0"/>
              <c:showBubbleSize val="0"/>
            </c:dLbl>
            <c:numFmt formatCode="0.00" sourceLinked="0"/>
            <c:txPr>
              <a:bodyPr/>
              <a:lstStyle/>
              <a:p>
                <a:pPr>
                  <a:defRPr sz="1200" b="1" baseline="0">
                    <a:solidFill>
                      <a:srgbClr val="008E96"/>
                    </a:solidFill>
                    <a:latin typeface="Noto Sans CJK SC"/>
                  </a:defRPr>
                </a:pPr>
                <a:endParaRPr lang="en-US"/>
              </a:p>
            </c:txPr>
            <c:dLblPos val="t"/>
            <c:showLegendKey val="0"/>
            <c:showVal val="1"/>
            <c:showCatName val="0"/>
            <c:showSerName val="0"/>
            <c:showPercent val="0"/>
            <c:showBubbleSize val="0"/>
          </c:dLbls>
          <c:cat>
            <c:strRef>
              <c:f>Data!$A$2:$A$31</c:f>
              <c:strCache>
                <c:ptCount val="30"/>
                <c:pt idx="0">
                  <c:v>9/9</c:v>
                </c:pt>
                <c:pt idx="1">
                  <c:v>9/10</c:v>
                </c:pt>
                <c:pt idx="2">
                  <c:v>9/11</c:v>
                </c:pt>
                <c:pt idx="3">
                  <c:v>9/12</c:v>
                </c:pt>
                <c:pt idx="4">
                  <c:v>9/13</c:v>
                </c:pt>
                <c:pt idx="5">
                  <c:v>9/14</c:v>
                </c:pt>
                <c:pt idx="6">
                  <c:v>9/15</c:v>
                </c:pt>
                <c:pt idx="7">
                  <c:v>9/16</c:v>
                </c:pt>
                <c:pt idx="8">
                  <c:v>9/17</c:v>
                </c:pt>
                <c:pt idx="9">
                  <c:v>9/18</c:v>
                </c:pt>
                <c:pt idx="10">
                  <c:v>9/19</c:v>
                </c:pt>
                <c:pt idx="11">
                  <c:v>9/20</c:v>
                </c:pt>
                <c:pt idx="12">
                  <c:v>9/21</c:v>
                </c:pt>
                <c:pt idx="13">
                  <c:v>9/22</c:v>
                </c:pt>
                <c:pt idx="14">
                  <c:v>9/23</c:v>
                </c:pt>
                <c:pt idx="15">
                  <c:v>9/24</c:v>
                </c:pt>
                <c:pt idx="16">
                  <c:v>9/25</c:v>
                </c:pt>
                <c:pt idx="17">
                  <c:v>9/26</c:v>
                </c:pt>
                <c:pt idx="18">
                  <c:v>9/27</c:v>
                </c:pt>
                <c:pt idx="19">
                  <c:v>9/28</c:v>
                </c:pt>
                <c:pt idx="20">
                  <c:v>9/29</c:v>
                </c:pt>
                <c:pt idx="21">
                  <c:v>9/30</c:v>
                </c:pt>
                <c:pt idx="22">
                  <c:v>10/1</c:v>
                </c:pt>
                <c:pt idx="23">
                  <c:v>10/2</c:v>
                </c:pt>
                <c:pt idx="24">
                  <c:v>10/3</c:v>
                </c:pt>
                <c:pt idx="25">
                  <c:v>10/4</c:v>
                </c:pt>
                <c:pt idx="26">
                  <c:v>10/5</c:v>
                </c:pt>
                <c:pt idx="27">
                  <c:v>10/6</c:v>
                </c:pt>
                <c:pt idx="28">
                  <c:v>10/7</c:v>
                </c:pt>
                <c:pt idx="29">
                  <c:v>10/8</c:v>
                </c:pt>
              </c:strCache>
            </c:strRef>
          </c:cat>
          <c:val>
            <c:numRef>
              <c:f>Data!$C$2:$C$31</c:f>
              <c:numCache>
                <c:formatCode>General</c:formatCode>
                <c:ptCount val="30"/>
                <c:pt idx="0">
                  <c:v>1.594658488735538</c:v>
                </c:pt>
                <c:pt idx="1">
                  <c:v>1.639119254901777</c:v>
                </c:pt>
                <c:pt idx="2">
                  <c:v>1.600506823076087</c:v>
                </c:pt>
                <c:pt idx="3">
                  <c:v>1.533075325540891</c:v>
                </c:pt>
                <c:pt idx="4">
                  <c:v>1.427439952879524</c:v>
                </c:pt>
                <c:pt idx="5">
                  <c:v>1.548777177390953</c:v>
                </c:pt>
                <c:pt idx="6">
                  <c:v>1.443613136566437</c:v>
                </c:pt>
                <c:pt idx="9">
                  <c:v>1.223237542270912</c:v>
                </c:pt>
                <c:pt idx="10">
                  <c:v>1.214442790468634</c:v>
                </c:pt>
                <c:pt idx="11">
                  <c:v>1.203165919083194</c:v>
                </c:pt>
                <c:pt idx="12">
                  <c:v>1.228476333626099</c:v>
                </c:pt>
                <c:pt idx="13">
                  <c:v>1.216958569393258</c:v>
                </c:pt>
                <c:pt idx="14">
                  <c:v>1.234337931990434</c:v>
                </c:pt>
                <c:pt idx="15">
                  <c:v>1.229611216873418</c:v>
                </c:pt>
                <c:pt idx="16">
                  <c:v>1.150527558844016</c:v>
                </c:pt>
                <c:pt idx="17">
                  <c:v>1.163503890476065</c:v>
                </c:pt>
                <c:pt idx="18">
                  <c:v>1.136492505645574</c:v>
                </c:pt>
                <c:pt idx="19">
                  <c:v>1.119524658925677</c:v>
                </c:pt>
                <c:pt idx="20">
                  <c:v>0.957241651854932</c:v>
                </c:pt>
                <c:pt idx="21">
                  <c:v>0.9713509255918522</c:v>
                </c:pt>
                <c:pt idx="22">
                  <c:v>0.9541174115557042</c:v>
                </c:pt>
                <c:pt idx="23">
                  <c:v>0.9149869953254338</c:v>
                </c:pt>
                <c:pt idx="24">
                  <c:v>0.9561431470835395</c:v>
                </c:pt>
                <c:pt idx="25">
                  <c:v>0.9721078984292808</c:v>
                </c:pt>
                <c:pt idx="26">
                  <c:v>0.9844461966498954</c:v>
                </c:pt>
                <c:pt idx="27">
                  <c:v>0.7430039011861929</c:v>
                </c:pt>
                <c:pt idx="28">
                  <c:v>0.5597075615335489</c:v>
                </c:pt>
                <c:pt idx="29">
                  <c:v>0.4902875810555307</c:v>
                </c:pt>
              </c:numCache>
            </c:numRef>
          </c:val>
          <c:smooth val="0"/>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050" baseline="0">
                <a:solidFill>
                  <a:srgbClr val="526985"/>
                </a:solidFill>
                <a:latin typeface="Noto Sans CJK SC"/>
              </a:defRPr>
            </a:pPr>
            <a:endParaRPr lang="en-US"/>
          </a:p>
        </c:txPr>
        <c:crossAx val="50010002"/>
        <c:crosses val="autoZero"/>
        <c:auto val="1"/>
        <c:lblAlgn val="ctr"/>
        <c:lblOffset val="100"/>
        <c:tickLblSkip val="7"/>
      </c:catAx>
      <c:valAx>
        <c:axId val="50010002"/>
        <c:scaling>
          <c:orientation val="minMax"/>
          <c:max val="1.8"/>
          <c:min val="0"/>
        </c:scaling>
        <c:axPos val="l"/>
        <c:majorGridlines>
          <c:spPr>
            <a:ln w="9525">
              <a:solidFill>
                <a:srgbClr val="DFE7EF"/>
              </a:solidFill>
            </a:ln>
          </c:spPr>
        </c:majorGridlines>
        <c:title>
          <c:tx>
            <c:rich>
              <a:bodyPr rot="-5400000" vert="horz"/>
              <a:lstStyle/>
              <a:p>
                <a:pPr>
                  <a:defRPr sz="1050" baseline="0">
                    <a:solidFill>
                      <a:srgbClr val="526985"/>
                    </a:solidFill>
                    <a:latin typeface="Noto Sans CJK SC"/>
                  </a:defRPr>
                </a:pPr>
                <a:r>
                  <a:rPr lang="en-US" sz="1050" baseline="0">
                    <a:solidFill>
                      <a:srgbClr val="526985"/>
                    </a:solidFill>
                    <a:latin typeface="Noto Sans CJK SC"/>
                  </a:rPr>
                  <a:t>平均 Audio RTF</a:t>
                </a:r>
              </a:p>
            </c:rich>
          </c:tx>
          <c:layout/>
        </c:title>
        <c:numFmt formatCode="0.0" sourceLinked="0"/>
        <c:majorTickMark val="none"/>
        <c:tickLblPos val="nextTo"/>
        <c:spPr>
          <a:ln>
            <a:noFill/>
          </a:ln>
        </c:spPr>
        <c:txPr>
          <a:bodyPr/>
          <a:lstStyle/>
          <a:p>
            <a:pPr>
              <a:defRPr sz="1050" baseline="0">
                <a:solidFill>
                  <a:srgbClr val="526985"/>
                </a:solidFill>
                <a:latin typeface="Noto Sans CJK SC"/>
              </a:defRPr>
            </a:pPr>
            <a:endParaRPr lang="en-US"/>
          </a:p>
        </c:txPr>
        <c:crossAx val="50010001"/>
        <c:crosses val="autoZero"/>
        <c:crossBetween val="midCat"/>
        <c:majorUnit val="0.6"/>
      </c:valAx>
      <c:spPr>
        <a:solidFill>
          <a:srgbClr val="FFFFFF"/>
        </a:solidFill>
        <a:ln>
          <a:noFill/>
        </a:ln>
      </c:spPr>
    </c:plotArea>
    <c:legend>
      <c:legendPos val="t"/>
      <c:layout/>
      <c:txPr>
        <a:bodyPr/>
        <a:lstStyle/>
        <a:p>
          <a:pPr>
            <a:defRPr sz="1050" baseline="0">
              <a:solidFill>
                <a:srgbClr val="526985"/>
              </a:solidFill>
              <a:latin typeface="Noto Sans CJK SC"/>
            </a:defRPr>
          </a:pPr>
          <a:endParaRPr lang="en-US"/>
        </a:p>
      </c:txPr>
    </c:legend>
    <c:plotVisOnly val="1"/>
    <c:dispBlanksAs val="gap"/>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Next Inflection Point in SI Interaction</a:t>
            </a:r>
          </a:p>
          <a:p>
            <a:r>
              <a:rPr lang="zh-CN">
                <a:latin typeface="Noto Sans CJK SC"/>
                <a:ea typeface="Noto Sans CJK SC"/>
                <a:cs typeface="Noto Sans CJK SC"/>
              </a:rPr>
              <a:t>How vLLM-Omni Enables Models to Listen and Speak Simultaneously</a:t>
            </a:r>
          </a:p>
          <a:p>
            <a:r>
              <a:rPr lang="zh-CN">
                <a:latin typeface="Noto Sans CJK SC"/>
                <a:ea typeface="Noto Sans CJK SC"/>
                <a:cs typeface="Noto Sans CJK SC"/>
              </a:rPr>
              <a:t/>
            </a:r>
          </a:p>
          <a:p>
            <a:r>
              <a:rPr lang="zh-CN">
                <a:latin typeface="Noto Sans CJK SC"/>
                <a:ea typeface="Noto Sans CJK SC"/>
                <a:cs typeface="Noto Sans CJK SC"/>
              </a:rPr>
              <a:t>全双工让模型在说话时仍能持续接收用户输入。本次分享介绍 vLLM-Omni 的交互方式、统一运行时架构与性能表现。具体能力随模型和执行模式而异。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这里的双工指整个社区建设的服务能力，覆盖 native duplex 模型以及通过 duplex session 服务的 turn-based 模型，并不表示每个模型都具备原生全双工能力。</a:t>
            </a:r>
          </a:p>
          <a:p>
            <a:r>
              <a:rPr lang="zh-CN">
                <a:latin typeface="Noto Sans CJK SC"/>
                <a:ea typeface="Noto Sans CJK SC"/>
                <a:cs typeface="Noto Sans CJK SC"/>
              </a:rPr>
              <a:t/>
            </a:r>
          </a:p>
          <a:p>
            <a:r>
              <a:rPr lang="zh-CN">
                <a:latin typeface="Noto Sans CJK SC"/>
                <a:ea typeface="Noto Sans CJK SC"/>
                <a:cs typeface="Noto Sans CJK SC"/>
              </a:rPr>
              <a:t>全双工能力来自社区持续协作。此页以截至 2026 年 10 月 7 日的社区贡献统计与代表性已合入 PR，展示模型接入、统一框架、Realtime API 和输出传输的共同演进。头像对应社区贡献者，PR 卡片保留可点击链接。</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is built with the vLLM-Omni community. This edition recognizes 62 GitHub-linked human contributors across 166 related pull requests merged to main through 7 October 2026. The slide uses rounded lower bounds of 60+ contributors and 160+ PRs.</a:t>
            </a:r>
          </a:p>
          <a:p>
            <a:r>
              <a:rPr lang="zh-CN">
                <a:latin typeface="Noto Sans CJK SC"/>
                <a:ea typeface="Noto Sans CJK SC"/>
                <a:cs typeface="Noto Sans CJK SC"/>
              </a:rPr>
              <a:t/>
            </a:r>
          </a:p>
          <a:p>
            <a:r>
              <a:rPr lang="zh-CN">
                <a:latin typeface="Noto Sans CJK SC"/>
                <a:ea typeface="Noto Sans CJK SC"/>
                <a:cs typeface="Noto Sans CJK SC"/>
              </a:rP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rPr lang="zh-CN">
                <a:latin typeface="Noto Sans CJK SC"/>
                <a:ea typeface="Noto Sans CJK SC"/>
                <a:cs typeface="Noto Sans CJK SC"/>
              </a:rPr>
              <a:t/>
            </a:r>
          </a:p>
          <a:p>
            <a:r>
              <a:rPr lang="zh-CN">
                <a:latin typeface="Noto Sans CJK SC"/>
                <a:ea typeface="Noto Sans CJK SC"/>
                <a:cs typeface="Noto Sans CJK SC"/>
              </a:rPr>
              <a:t>Selected milestones connect native duplex, the unified framework, Realtime interoperability, model integrations and bounded output delivery. The complete attribution is in the companion Community Credits document.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https://github.com/vllm-project/vllm-omni/pull/3907</a:t>
            </a:r>
          </a:p>
          <a:p>
            <a:r>
              <a:rPr lang="zh-CN">
                <a:latin typeface="Noto Sans CJK SC"/>
                <a:ea typeface="Noto Sans CJK SC"/>
                <a:cs typeface="Noto Sans CJK SC"/>
              </a:rPr>
              <a:t>- https://github.com/vllm-project/vllm-omni/pull/7413</a:t>
            </a:r>
          </a:p>
          <a:p>
            <a:r>
              <a:rPr lang="zh-CN">
                <a:latin typeface="Noto Sans CJK SC"/>
                <a:ea typeface="Noto Sans CJK SC"/>
                <a:cs typeface="Noto Sans CJK SC"/>
              </a:rPr>
              <a:t>- https://github.com/vllm-project/vllm-omni/pull/7285</a:t>
            </a:r>
          </a:p>
          <a:p>
            <a:r>
              <a:rPr lang="zh-CN">
                <a:latin typeface="Noto Sans CJK SC"/>
                <a:ea typeface="Noto Sans CJK SC"/>
                <a:cs typeface="Noto Sans CJK SC"/>
              </a:rPr>
              <a:t>- https://github.com/vllm-project/vllm-omni/pull/7585</a:t>
            </a:r>
          </a:p>
          <a:p>
            <a:r>
              <a:rPr lang="zh-CN">
                <a:latin typeface="Noto Sans CJK SC"/>
                <a:ea typeface="Noto Sans CJK SC"/>
                <a:cs typeface="Noto Sans CJK SC"/>
              </a:rPr>
              <a:t>- https://github.com/vllm-project/vllm-omni/pull/7695</a:t>
            </a:r>
          </a:p>
          <a:p>
            <a:r>
              <a:rPr lang="zh-CN">
                <a:latin typeface="Noto Sans CJK SC"/>
                <a:ea typeface="Noto Sans CJK SC"/>
                <a:cs typeface="Noto Sans CJK SC"/>
              </a:rPr>
              <a:t>- https://github.com/vllm-project/vllm-omni/pull/6089</a:t>
            </a:r>
          </a:p>
          <a:p>
            <a:r>
              <a:rPr lang="zh-CN">
                <a:latin typeface="Noto Sans CJK SC"/>
                <a:ea typeface="Noto Sans CJK SC"/>
                <a:cs typeface="Noto Sans CJK SC"/>
              </a:rPr>
              <a:t>- https://github.com/vllm-project/vllm-omni/pull/7633</a:t>
            </a:r>
          </a:p>
          <a:p>
            <a:r>
              <a:rPr lang="zh-CN">
                <a:latin typeface="Noto Sans CJK SC"/>
                <a:ea typeface="Noto Sans CJK SC"/>
                <a:cs typeface="Noto Sans CJK SC"/>
              </a:rPr>
              <a:t>- https://github.com/vllm-project/vllm-omni/pull/7644</a:t>
            </a:r>
          </a:p>
          <a:p>
            <a:r>
              <a:rPr lang="zh-CN">
                <a:latin typeface="Noto Sans CJK SC"/>
                <a:ea typeface="Noto Sans CJK SC"/>
                <a:cs typeface="Noto Sans CJK SC"/>
              </a:rPr>
              <a:t/>
            </a:r>
          </a:p>
          <a:p>
            <a:r>
              <a:rPr lang="zh-CN">
                <a:latin typeface="Noto Sans CJK SC"/>
                <a:ea typeface="Noto Sans CJK SC"/>
                <a:cs typeface="Noto Sans CJK SC"/>
              </a:rPr>
              <a:t>PR #7644 bounds each session output buffer and rejects cancelled audio before delivery. The client must still stop audio already received.</a:t>
            </a:r>
          </a:p>
          <a:p>
            <a:r>
              <a:rPr lang="zh-CN">
                <a:latin typeface="Noto Sans CJK SC"/>
                <a:ea typeface="Noto Sans CJK SC"/>
                <a:cs typeface="Noto Sans CJK SC"/>
              </a:rPr>
              <a:t>Source: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讲解顺序：先看左侧半双工，再看右侧全双工，最后看下方能力对比。</a:t>
            </a:r>
          </a:p>
          <a:p>
            <a:r>
              <a:t>半双工示例按用户发言、助手回应交替进行。全双工示例展示助手发言时用户继续输入，模型可结合后续输入调整输出或让出话语权。共有能力是文本和音频的流式输出；这不是全双工独有能力。</a:t>
            </a:r>
          </a:p>
          <a:p>
            <a:r>
              <a:t>本页比较交互体验，不把所有 turn-based execution 一概等同于半双工。Qwen3-Omni + VAD 的会话可在播放期间接收输入，后续由 VAD 与 commit 驱动新请求；模型级持续输入与控制机制在 A2 展开。</a:t>
            </a:r>
          </a:p>
          <a:p>
            <a:r>
              <a:t>时间线只是说明先后关系和输入输出重叠，不表示真实延迟或模型性能排名。摄像头轨道代表具备相应视觉输入能力的示例，并非所有模型都支持视频。</a:t>
            </a:r>
          </a:p>
          <a:p>
            <a:r>
              <a:t/>
            </a:r>
          </a:p>
          <a:p>
            <a:r>
              <a:t>Technical detail and source references</a:t>
            </a:r>
          </a:p>
          <a:p>
            <a:r>
              <a:t>This slide compares interaction experiences. Half-duplex means input and output take turns in the illustrated client experience; it is not a label for every turn-based model or transport. The half-duplex camera frames likewise accompany the accepted input segments. Full-duplex allows incoming user speech to overlap assistant output, with camera input continuing in this illustrated multimodal configuration. Waveform spacing is schematic, not a latency benchmark. Camera/video support depends on the model and configuration.</a:t>
            </a:r>
          </a:p>
          <a:p>
            <a:r>
              <a:t/>
            </a:r>
          </a:p>
          <a:p>
            <a:r>
              <a:t>Streamed responses are a shared capability: a turn-based or half-duplex experience can still generate and deliver audio/text incrementally. Native duplex models add the ability to use ongoing input within model execution to influence subsequent output or choose to yield. Qwen3-Omni + Server VAD instead buffers committed turns and supports externally triggered interruption; that distinction is detailed in Appendix A2. The detailed diagram and explicit-cancel versus VAD paths have been relocated there.</a:t>
            </a:r>
          </a:p>
          <a:p>
            <a:r>
              <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本表按“输入处理”和“回复控制”比较。PersonaPlex 与 MiniCPM-o 展示模型自主行为；Qwen3-Omni + Server VAD、AURA demo 展示所选服务端策略与客户端操作，不代表模型固有且唯一的交互方式。PersonaPlex 的音色和角色配置不属于回复控制，因此从表中移除。下方三个机制说明框保持不变。Qwen VAD 取消服务端生成需要启用 interrupt_response。</a:t>
            </a:r>
          </a:p>
          <a:p>
            <a:r>
              <a:rPr lang="zh-CN">
                <a:latin typeface="Noto Sans CJK SC"/>
                <a:ea typeface="Noto Sans CJK SC"/>
                <a:cs typeface="Noto Sans CJK SC"/>
              </a:rPr>
              <a:t>The bottom cards are examples of mechanisms, not a feature checklist shared by every model. Native models continuously process input during output; AURA can make a per-commit silent/speak decision but does not append new input to one live Thinker request. Local playback stop does not by itself cancel inference.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https://github.com/vllm-project/vllm-omni/blob/4c5541cfc17143f80bdb89bbb7a5840b08bb52c6/examples/online_serving/realtime_web/app/static/profiles/qwen3_turn.js</a:t>
            </a:r>
          </a:p>
          <a:p>
            <a:r>
              <a:rPr lang="zh-CN">
                <a:latin typeface="Noto Sans CJK SC"/>
                <a:ea typeface="Noto Sans CJK SC"/>
                <a:cs typeface="Noto Sans CJK SC"/>
              </a:rPr>
              <a:t>https://github.com/vllm-project/vllm-omni/blob/4c5541cfc17143f80bdb89bbb7a5840b08bb52c6/examples/online_serving/realtime_web/app/static/profiles/aura_ptt.js</a:t>
            </a:r>
          </a:p>
          <a:p>
            <a:r>
              <a:rPr lang="zh-CN">
                <a:latin typeface="Noto Sans CJK SC"/>
                <a:ea typeface="Noto Sans CJK SC"/>
                <a:cs typeface="Noto Sans CJK SC"/>
              </a:rPr>
              <a:t>https://github.com/vllm-project/vllm-omni/blob/ee81f33001922f8d91dd09da0a57ee1531a8df82/vllm_omni/model_executor/models/personaplex/duplex/plugin.py#L236-L258</a:t>
            </a:r>
          </a:p>
          <a:p>
            <a:r>
              <a:rPr lang="zh-CN">
                <a:latin typeface="Noto Sans CJK SC"/>
                <a:ea typeface="Noto Sans CJK SC"/>
                <a:cs typeface="Noto Sans CJK SC"/>
              </a:rPr>
              <a:t>https://github.com/vllm-project/vllm-omni/blob/ee81f33001922f8d91dd09da0a57ee1531a8df82/examples/online_serving/realtime_web/app/static/profiles/qwen3_turn.js#L14-L20</a:t>
            </a:r>
          </a:p>
          <a:p>
            <a:r>
              <a:rPr lang="zh-CN">
                <a:latin typeface="Noto Sans CJK SC"/>
                <a:ea typeface="Noto Sans CJK SC"/>
                <a:cs typeface="Noto Sans CJK SC"/>
              </a:rPr>
              <a:t>https://github.com/vllm-project/vllm-omni/blob/ee81f33001922f8d91dd09da0a57ee1531a8df82/examples/online_serving/realtime_web/app/static/profiles/aura_ptt.js#L8-L29</a:t>
            </a:r>
          </a:p>
          <a:p>
            <a:r>
              <a:rPr lang="zh-CN">
                <a:latin typeface="Noto Sans CJK SC"/>
                <a:ea typeface="Noto Sans CJK SC"/>
                <a:cs typeface="Noto Sans CJK SC"/>
              </a:rPr>
              <a:t>https://github.com/vllm-project/vllm-omni/blob/ee81f33001922f8d91dd09da0a57ee1531a8df82/vllm_omni/model_executor/models/aura_omni/duplex/plugin.py#L374-L388</a:t>
            </a:r>
          </a:p>
          <a:p>
            <a:r>
              <a:rPr lang="zh-CN">
                <a:latin typeface="Noto Sans CJK SC"/>
                <a:ea typeface="Noto Sans CJK SC"/>
                <a:cs typeface="Noto Sans CJK SC"/>
              </a:rPr>
              <a:t>https://github.com/vllm-project/vllm-omni/blob/712b90de9c7bc14c595b363401588a713a87c02d/examples/online_serving/realtime_web/app/static/profiles/qwen3_turn.js</a:t>
            </a:r>
          </a:p>
          <a:p>
            <a:r>
              <a:rPr lang="zh-CN">
                <a:latin typeface="Noto Sans CJK SC"/>
                <a:ea typeface="Noto Sans CJK SC"/>
                <a:cs typeface="Noto Sans CJK SC"/>
              </a:rPr>
              <a:t>https://github.com/vllm-project/vllm-omni/blob/712b90de9c7bc14c595b363401588a713a87c02d/examples/online_serving/realtime_web/app/static/profiles/aura_ptt.js</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10/13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Duplex 消息协议沿用 OpenAI Realtime 的事件体系与消息结构，并扩展视频输入、播放反馈和会话续接能力。/v1/duplex 是 /v1/realtime?duplex=1 的别名，两者使用相同 handler 与消息协议。这里说明协议来源及扩展方向，不表示每个模型都支持全部协议能力，也不承诺所有语义完全等价。</a:t>
            </a:r>
          </a:p>
          <a:p>
            <a:r>
              <a:rPr lang="zh-CN">
                <a:latin typeface="Noto Sans CJK SC"/>
                <a:ea typeface="Noto Sans CJK SC"/>
                <a:cs typeface="Noto Sans CJK SC"/>
              </a:rPr>
              <a:t/>
            </a:r>
          </a:p>
          <a:p>
            <a:r>
              <a:rPr lang="zh-CN">
                <a:latin typeface="Noto Sans CJK SC"/>
                <a:ea typeface="Noto Sans CJK SC"/>
                <a:cs typeface="Noto Sans CJK SC"/>
              </a:rPr>
              <a:t>参考：https://github.com/vllm-project/vllm-omni/blob/d5a3380103df2fc827f095c60dbfb6e1c5655fd3/docs/serving/realtime_duplex_api.md#compatibility-with-the-openai-realtime-protocol</a:t>
            </a:r>
          </a:p>
          <a:p>
            <a:r>
              <a:rPr lang="zh-CN">
                <a:latin typeface="Noto Sans CJK SC"/>
                <a:ea typeface="Noto Sans CJK SC"/>
                <a:cs typeface="Noto Sans CJK SC"/>
              </a:rPr>
              <a:t/>
            </a:r>
          </a:p>
          <a:p>
            <a:r>
              <a:rPr lang="zh-CN">
                <a:latin typeface="Noto Sans CJK SC"/>
                <a:ea typeface="Noto Sans CJK SC"/>
                <a:cs typeface="Noto Sans CJK SC"/>
              </a:rPr>
              <a:t>区分三个层次：接口、会话交互方式和模型执行方式。Chat Completions 承载 Request–response；Realtime Duplex 承载持续的 Duplex session。在同一个 Duplex session 中，Qwen3-Omni + Server VAD 与 AURA 按 turn 执行，MiniCPM-o 4.5、PersonaPlex 和 Nemotron VoiceChat 采用 native duplex execution。Realtime 还保留独立的 turn-based 路径 /v1/realtime?duplex=0；不能仅凭 Realtime 接口名称判断底层执行方式。</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rPr lang="zh-CN">
                <a:latin typeface="Noto Sans CJK SC"/>
                <a:ea typeface="Noto Sans CJK SC"/>
                <a:cs typeface="Noto Sans CJK SC"/>
              </a:rPr>
              <a:t/>
            </a:r>
          </a:p>
          <a:p>
            <a:r>
              <a:rPr lang="zh-CN">
                <a:latin typeface="Noto Sans CJK SC"/>
                <a:ea typeface="Noto Sans CJK SC"/>
                <a:cs typeface="Noto Sans CJK SC"/>
              </a:rP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rPr lang="zh-CN">
                <a:latin typeface="Noto Sans CJK SC"/>
                <a:ea typeface="Noto Sans CJK SC"/>
                <a:cs typeface="Noto Sans CJK SC"/>
              </a:rPr>
              <a:t/>
            </a:r>
          </a:p>
          <a:p>
            <a:r>
              <a:rPr lang="zh-CN">
                <a:latin typeface="Noto Sans CJK SC"/>
                <a:ea typeface="Noto Sans CJK SC"/>
                <a:cs typeface="Noto Sans CJK SC"/>
              </a:rP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rPr lang="zh-CN">
                <a:latin typeface="Noto Sans CJK SC"/>
                <a:ea typeface="Noto Sans CJK SC"/>
                <a:cs typeface="Noto Sans CJK SC"/>
              </a:rPr>
              <a:t/>
            </a:r>
          </a:p>
          <a:p>
            <a:r>
              <a:rPr lang="zh-CN">
                <a:latin typeface="Noto Sans CJK SC"/>
                <a:ea typeface="Noto Sans CJK SC"/>
                <a:cs typeface="Noto Sans CJK SC"/>
              </a:rP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https://github.com/vllm-project/vllm-omni/blob/712b90de9c7bc14c595b363401588a713a87c02d/vllm_omni/entrypoints/openai/api_server.py</a:t>
            </a:r>
          </a:p>
          <a:p>
            <a:r>
              <a:rPr lang="zh-CN">
                <a:latin typeface="Noto Sans CJK SC"/>
                <a:ea typeface="Noto Sans CJK SC"/>
                <a:cs typeface="Noto Sans CJK SC"/>
              </a:rPr>
              <a:t>- https://github.com/vllm-project/vllm-omni/blob/712b90de9c7bc14c595b363401588a713a87c02d/vllm_omni/entrypoints/duplex/openai.py</a:t>
            </a:r>
          </a:p>
          <a:p>
            <a:r>
              <a:rPr lang="zh-CN">
                <a:latin typeface="Noto Sans CJK SC"/>
                <a:ea typeface="Noto Sans CJK SC"/>
                <a:cs typeface="Noto Sans CJK SC"/>
              </a:rPr>
              <a:t>- https://github.com/vllm-project/vllm-omni/blob/712b90de9c7bc14c595b363401588a713a87c02d/vllm_omni/entrypoints/openai/realtime/connection.py</a:t>
            </a:r>
          </a:p>
          <a:p>
            <a:r>
              <a:rPr lang="zh-CN">
                <a:latin typeface="Noto Sans CJK SC"/>
                <a:ea typeface="Noto Sans CJK SC"/>
                <a:cs typeface="Noto Sans CJK SC"/>
              </a:rPr>
              <a:t>- https://github.com/vllm-project/vllm-omni/blob/712b90de9c7bc14c595b363401588a713a87c02d/vllm_omni/model_executor/models/minicpmo_4_5/duplex/capabilities.py</a:t>
            </a:r>
          </a:p>
          <a:p>
            <a:r>
              <a:rPr lang="zh-CN">
                <a:latin typeface="Noto Sans CJK SC"/>
                <a:ea typeface="Noto Sans CJK SC"/>
                <a:cs typeface="Noto Sans CJK SC"/>
              </a:rPr>
              <a:t>- https://github.com/vllm-project/vllm-omni/blob/712b90de9c7bc14c595b363401588a713a87c02d/vllm_omni/model_executor/models/qwen3_omni/duplex/plugin.py</a:t>
            </a:r>
          </a:p>
          <a:p>
            <a:r>
              <a:rPr lang="zh-CN">
                <a:latin typeface="Noto Sans CJK SC"/>
                <a:ea typeface="Noto Sans CJK SC"/>
                <a:cs typeface="Noto Sans CJK SC"/>
              </a:rPr>
              <a:t>- https://github.com/vllm-project/vllm-omni/blob/712b90de9c7bc14c595b363401588a713a87c02d/vllm_omni/model_executor/models/aura_omni/duplex/plugin.py</a:t>
            </a:r>
          </a:p>
          <a:p>
            <a:r>
              <a:rPr lang="zh-CN">
                <a:latin typeface="Noto Sans CJK SC"/>
                <a:ea typeface="Noto Sans CJK SC"/>
                <a:cs typeface="Noto Sans CJK SC"/>
              </a:rPr>
              <a:t>- https://github.com/vllm-project/vllm-omni/blob/712b90de9c7bc14c595b363401588a713a87c02d/vllm_omni/model_executor/models/personaplex/duplex/plugin.py</a:t>
            </a:r>
          </a:p>
          <a:p>
            <a:r>
              <a:rPr lang="zh-CN">
                <a:latin typeface="Noto Sans CJK SC"/>
                <a:ea typeface="Noto Sans CJK SC"/>
                <a:cs typeface="Noto Sans CJK SC"/>
              </a:rPr>
              <a:t>- https://github.com/vllm-project/vllm-omni/blob/712b90de9c7bc14c595b363401588a713a87c02d/vllm_omni/model_executor/models/nemotron_voicechat/duplex/plugin.py</a:t>
            </a:r>
          </a:p>
          <a:p>
            <a:r>
              <a:rPr lang="zh-CN">
                <a:latin typeface="Noto Sans CJK SC"/>
                <a:ea typeface="Noto Sans CJK SC"/>
                <a:cs typeface="Noto Sans CJK SC"/>
              </a:rPr>
              <a:t>- https://github.com/vllm-project/vllm-omni/blob/712b90de9c7bc14c595b363401588a713a87c02d/examples/online_serving/realtime_web/app/static/profiles/qwen3_turn.js</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Commands and lifecycle operations cross the same engine request transport. Open, close and resume use control-result correlation; ordinary session outputs go directly to the bounded buffer shared with the handle. EngineClient owns handles and routes command/event traffic; the Orchestrator runs session control and Stage dispatch on its own event loop in the same process.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https://github.com/vllm-project/vllm-omni/blob/4c5541cfc17143f80bdb89bbb7a5840b08bb52c6/vllm_omni/engine/duplex_omni_engine.py</a:t>
            </a:r>
          </a:p>
          <a:p>
            <a:r>
              <a:rPr lang="zh-CN">
                <a:latin typeface="Noto Sans CJK SC"/>
                <a:ea typeface="Noto Sans CJK SC"/>
                <a:cs typeface="Noto Sans CJK SC"/>
              </a:rPr>
              <a:t>https://github.com/vllm-project/vllm-omni/blob/4c5541cfc17143f80bdb89bbb7a5840b08bb52c6/vllm_omni/entrypoints/duplex_omni.py</a:t>
            </a:r>
          </a:p>
          <a:p>
            <a:r>
              <a:rPr lang="zh-CN">
                <a:latin typeface="Noto Sans CJK SC"/>
                <a:ea typeface="Noto Sans CJK SC"/>
                <a:cs typeface="Noto Sans CJK SC"/>
              </a:rPr>
              <a:t>https://github.com/vllm-project/vllm-omni/blob/4c5541cfc17143f80bdb89bbb7a5840b08bb52c6/vllm_omni/engine/duplex/session/manager.py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https://github.com/vllm-project/vllm-omni/blob/712b90de9c7bc14c595b363401588a713a87c02d/vllm_omni/engine/duplex_omni_engine.py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diagram represents framework I/O concurrency. Continued input reception does not mean every model immediately incorporates it into a running generation. Native plugins append to a live request; Qwen3-Omni and AURA wait for committed input to start fresh requests. Stage execution includes EngineCore scheduling and workers. Event acknowledgments terminate at the API; playback acknowledgments go to the session runtime.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https://github.com/vllm-project/vllm-omni/blob/4c5541cfc17143f80bdb89bbb7a5840b08bb52c6/vllm_omni/engine/duplex/session/runner.py</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https://github.com/vllm-project/vllm-omni/blob/4c5541cfc17143f80bdb89bbb7a5840b08bb52c6/vllm_omni/model_executor/models/aura_omni/duplex/plugin.py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https://github.com/vllm-project/vllm-omni/blob/712b90de9c7bc14c595b363401588a713a87c02d/vllm_omni/config/stage_config.py</a:t>
            </a:r>
          </a:p>
          <a:p>
            <a:r>
              <a:rPr lang="zh-CN">
                <a:latin typeface="Noto Sans CJK SC"/>
                <a:ea typeface="Noto Sans CJK SC"/>
                <a:cs typeface="Noto Sans CJK SC"/>
              </a:rPr>
              <a:t>https://github.com/vllm-project/vllm-omni/blob/712b90de9c7bc14c595b363401588a713a87c02d/examples/online_serving/realtime_web/app/static/profiles/qwen3_turn.js</a:t>
            </a:r>
          </a:p>
          <a:p>
            <a:r>
              <a:rPr lang="zh-CN">
                <a:latin typeface="Noto Sans CJK SC"/>
                <a:ea typeface="Noto Sans CJK SC"/>
                <a:cs typeface="Noto Sans CJK SC"/>
              </a:rPr>
              <a:t>https://github.com/vllm-project/vllm-omni/blob/712b90de9c7bc14c595b363401588a713a87c02d/examples/online_serving/realtime_web/app/static/profiles/aura_ptt.js</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讲解顺序：每次看一行，依次说明输入、Stage、箭头上的数据，以及右侧保留的状态。S0、S1 等编号属于各模型自己的 pipeline。</a:t>
            </a:r>
          </a:p>
          <a:p>
            <a:r>
              <a:t>PersonaPlex：PCM 音频输入，Stage 0 内部包含 Mimi encoder、Temporal Transformer 和 Depformer；Stage 间传助手侧 8 组 audio codebooks，经时间对齐后送至 Stage 1 的 Mimi decoder，输出 PCM。encoder 不是第三个 Stage，也不在 API Server 或 Orchestrator 中执行。80 ms 是模型音频帧时长，不是端到端延迟。Stage 0 保留 KV 与 encoder state，Stage 1 保留 decoder state。</a:t>
            </a:r>
          </a:p>
          <a:p>
            <a:r>
              <a:t>MiniCPM-o 4.5：S0 多模态 LLM 处理音频与视频；SPEAK 将文本与模型特征送至 Talker，再以 audio tokens 送至 Code2Wav。LISTEN 保留活跃请求。后续 native 输入续用 LLM KV 与流式音频状态，并受配置的窗口策略管理。TTS 与解码状态用于语音生成请求，不能扩大为所有下游状态始终跨整个会话保留。</a:t>
            </a:r>
          </a:p>
          <a:p>
            <a:r>
              <a:t>AURA：ASR → Thinker → Talker → Code2Wav。ASR 输出文本，Thinker 结合文本、视频和历史生成回复文本；语音阶段生成 tokens 并解码为音频。按上下文策略保留 ASR 文本、视频片段和助手文本，每个 commit 启动新生成请求。Thinker 完成后，下一轮可开始，而上一轮语音合成仍可继续。</a:t>
            </a:r>
          </a:p>
          <a:p>
            <a:r>
              <a:t>Qwen3-Omni：Thinker → Talker → Code2Wav，没有单独的 ASR Stage。Thinker 接收用户音频、图像帧和上下文，其文本及模型特征供 Talker 使用。后续 turn 复用用户音频、图像帧和对话文本等历史，在 commit 后构建新请求。</a:t>
            </a:r>
          </a:p>
          <a:p>
            <a:r>
              <a:t>右列区分跨 native 输入续用的计算状态，以及跨 turn 复用的会话历史。turn-based 模型在单个回复内也可保留流式解码状态。Stage 是一个模型计算阶段；Replica 是 Stage 的执行实例；一个 Stage 可以包含多个内部模块。</a:t>
            </a:r>
          </a:p>
          <a:p>
            <a:r>
              <a:t>四种模型都使用 PCM 音频。MiniCPM 官方 Web demo 使用 16 kHz pcm16 输入，Python preset 默认 24 kHz pcm16 输出；PersonaPlex preset 使用 24 kHz pcm_f32le 输入与 24 kHz pcm16 输出。AURA Web 使用 16 kHz pcm16，Qwen3 turn Web 使用 24 kHz PCM，插件侧消费归一化后的 16 kHz pcm_f32le。PCM 格式与 native / turn-based 执行方式属于不同维度。</a:t>
            </a:r>
          </a:p>
          <a:p>
            <a:r>
              <a:t/>
            </a:r>
          </a:p>
          <a:p>
            <a:r>
              <a:t>Technical detail and source references</a:t>
            </a:r>
          </a:p>
          <a:p>
            <a:r>
              <a:t>Presenter flow for 08/13</a:t>
            </a:r>
          </a:p>
          <a:p>
            <a:r>
              <a:t>Read one model row at a time: incoming media, compute stages, transmitted data, then the state carried into the next input. Stage numbers are local to each model pipeline, not a cross-model execution sequence. The pale rows use the same visual treatment for all models. Blue marks native duplex and teal marks turn-based execution.</a:t>
            </a:r>
          </a:p>
          <a:p>
            <a:r>
              <a:t/>
            </a:r>
          </a:p>
          <a:p>
            <a:r>
              <a:t>PersonaPlex: PCM in, audio codec tokens between stages, PCM out. The client preset sends mono 24 kHz pcm_f32le and receives 24 kHz pcm16 via Base64 WebSocket payloads. The session input buffer groups audio into 1920-sample / 80 ms units; 80 ms is a frame duration, not an end-to-end latency. Stage 0 contains streaming Mimi encoding plus Temporal Transformer and Depformer. The inter-stage adapter selects eight assistant codebooks, compensates their acoustic delays and packs them codebook-major. Stage 1 Mimi decoding emits float32 waveform samples; the output adapter performs the requested wire encoding. Stage 0 retains temporal KV and Mimi encoder state; Stage 1 retains Mimi decoder state. The encoder is not a third Stage and does not run in the API Server or Orchestrator.</a:t>
            </a:r>
          </a:p>
          <a:p>
            <a:r>
              <a:t/>
            </a:r>
          </a:p>
          <a:p>
            <a:r>
              <a:t>MiniCPM-o 4.5: stage 0 is the multimodal LLM; SPEAK passes text and model features to the Talker, followed by codec tokens to Code2Wav. LISTEN retains the live request rather than starting speech synthesis. LLM KV and streaming audio state are reused across native input appends, with the configured window policy. Downstream TTS and decoder state belongs to the speech-generation request, not a generic promise to preserve all downstream state for the whole session. The live request remains associated with its selected Stage replica.</a:t>
            </a:r>
          </a:p>
          <a:p>
            <a:r>
              <a:t/>
            </a:r>
          </a:p>
          <a:p>
            <a:r>
              <a:t>AURA: the stages are ASR, Thinker, Talker and Code2Wav. ASR produces text. Thinker uses the transcript, video and conversation context, then supplies text to the speech stages. Context carried into future turns consists of ASR text, retained video clips and assistant text, under the session context policy. A new committed turn creates a new generation request. The next turn can begin after Thinker completes while the prior speech synthesis continues.</a:t>
            </a:r>
          </a:p>
          <a:p>
            <a:r>
              <a:t/>
            </a:r>
          </a:p>
          <a:p>
            <a:r>
              <a:t>Qwen3-Omni: Thinker, Talker and Code2Wav; no separate ASR Stage. The Thinker consumes user audio/image frames plus conversation context; its text/embeddings and hidden features condition Talker. Codec tokens go to Code2Wav. Retained context includes user audio, image frames and conversation text, subject to configured limits. Input can arrive during output, but a committed turn starts fresh generation rather than appending to a continuously running native model request.</a:t>
            </a:r>
          </a:p>
          <a:p>
            <a:r>
              <a:t/>
            </a:r>
          </a:p>
          <a:p>
            <a:r>
              <a:t>Scope: the right column contrasts live computation retained across native inputs with conversation history reused for fresh turn-based requests. It is not an exhaustive list of every transient runtime buffer. Turn-based speech synthesis may retain decoder state within a response. Stage means a model-compute step; a replica is an execution instance of a Stage. A Stage can contain several internal modules.</a:t>
            </a:r>
          </a:p>
          <a:p>
            <a:r>
              <a:t/>
            </a:r>
          </a:p>
          <a:p>
            <a:r>
              <a:t>Source baseline: upstream main b65107d61331327424910c72e7a2da137dcfb3df; the relevant model pipeline/plugin/processor files are unchanged from the previously inspected f3391da7c snapshot. This is a targeted slide rewrite; the rest of the deck retains its previous source baselines.</a:t>
            </a:r>
          </a:p>
          <a:p>
            <a:r>
              <a:t>https://github.com/vllm-project/vllm-omni/blob/b65107d61331327424910c72e7a2da137dcfb3df/vllm_omni/clients/personaplex.py</a:t>
            </a:r>
          </a:p>
          <a:p>
            <a:r>
              <a:t>https://github.com/vllm-project/vllm-omni/blob/b65107d61331327424910c72e7a2da137dcfb3df/vllm_omni/model_executor/models/personaplex/pipeline.py</a:t>
            </a:r>
          </a:p>
          <a:p>
            <a:r>
              <a:t>https://github.com/vllm-project/vllm-omni/blob/b65107d61331327424910c72e7a2da137dcfb3df/vllm_omni/model_executor/models/personaplex/duplex/stage0.py</a:t>
            </a:r>
          </a:p>
          <a:p>
            <a:r>
              <a:t>https://github.com/vllm-project/vllm-omni/blob/b65107d61331327424910c72e7a2da137dcfb3df/vllm_omni/model_executor/stage_input_processors/personaplex.py</a:t>
            </a:r>
          </a:p>
          <a:p>
            <a:r>
              <a:t>https://github.com/vllm-project/vllm-omni/blob/b65107d61331327424910c72e7a2da137dcfb3df/vllm_omni/model_executor/models/personaplex/personaplex_code2wav.py</a:t>
            </a:r>
          </a:p>
          <a:p>
            <a:r>
              <a:t>https://github.com/vllm-project/vllm-omni/blob/b65107d61331327424910c72e7a2da137dcfb3df/vllm_omni/model_executor/models/minicpmo_4_5/pipeline.py</a:t>
            </a:r>
          </a:p>
          <a:p>
            <a:r>
              <a:t>https://github.com/vllm-project/vllm-omni/blob/b65107d61331327424910c72e7a2da137dcfb3df/vllm_omni/model_executor/models/minicpmo_4_5/duplex/plugin.py</a:t>
            </a:r>
          </a:p>
          <a:p>
            <a:r>
              <a:t>https://github.com/vllm-project/vllm-omni/blob/b65107d61331327424910c72e7a2da137dcfb3df/vllm_omni/model_executor/models/minicpmo_4_5/duplex/policy.py</a:t>
            </a:r>
          </a:p>
          <a:p>
            <a:r>
              <a:t>https://github.com/vllm-project/vllm-omni/blob/b65107d61331327424910c72e7a2da137dcfb3df/vllm_omni/model_executor/models/aura_omni/pipeline.py</a:t>
            </a:r>
          </a:p>
          <a:p>
            <a:r>
              <a:t>https://github.com/vllm-project/vllm-omni/blob/b65107d61331327424910c72e7a2da137dcfb3df/vllm_omni/model_executor/models/aura_omni/duplex/plugin.py</a:t>
            </a:r>
          </a:p>
          <a:p>
            <a:r>
              <a:t>https://github.com/vllm-project/vllm-omni/blob/b65107d61331327424910c72e7a2da137dcfb3df/vllm_omni/model_executor/models/qwen3_omni/pipeline.py</a:t>
            </a:r>
          </a:p>
          <a:p>
            <a:r>
              <a:t>https://github.com/vllm-project/vllm-omni/blob/b65107d61331327424910c72e7a2da137dcfb3df/vllm_omni/model_executor/models/qwen3_omni/duplex/plugin.py</a:t>
            </a:r>
          </a:p>
          <a:p>
            <a:r>
              <a:t>https://github.com/vllm-project/vllm-omni/blob/b65107d61331327424910c72e7a2da137dcfb3df/vllm_omni/model_executor/stage_input_processors/qwen3_omni.py</a:t>
            </a:r>
          </a:p>
          <a:p>
            <a:r>
              <a:t/>
            </a:r>
          </a:p>
          <a:p>
            <a:r>
              <a:t>Earlier source references retained for traceability:</a:t>
            </a:r>
          </a:p>
          <a:p>
            <a:r>
              <a:t>https://github.com/vllm-project/vllm-omni/blob/4c5541cfc17143f80bdb89bbb7a5840b08bb52c6/vllm_omni/model_executor/models/aura_omni/duplex/history.py</a:t>
            </a:r>
          </a:p>
          <a:p>
            <a:r>
              <a:t>https://github.com/vllm-project/vllm-omni/blob/4c5541cfc17143f80bdb89bbb7a5840b08bb52c6/vllm_omni/model_executor/models/aura_omni/duplex/plugin.py</a:t>
            </a:r>
          </a:p>
          <a:p>
            <a:r>
              <a:t>https://github.com/vllm-project/vllm-omni/blob/4c5541cfc17143f80bdb89bbb7a5840b08bb52c6/vllm_omni/model_executor/models/qwen3_omni/duplex/plugin.py</a:t>
            </a:r>
          </a:p>
          <a:p>
            <a:r>
              <a:t>https://github.com/vllm-project/vllm-omni/blob/712b90de9c7bc14c595b363401588a713a87c02d/vllm_omni/model_executor/models/minicpmo_4_5/duplex/stage0.py</a:t>
            </a:r>
          </a:p>
          <a:p>
            <a:r>
              <a:t>https://github.com/vllm-project/vllm-omni/blob/712b90de9c7bc14c595b363401588a713a87c02d/vllm_omni/model_executor/models/minicpmo_4_5/duplex/window_kv.py</a:t>
            </a:r>
          </a:p>
          <a:p>
            <a:r>
              <a:t>https://github.com/vllm-project/vllm-omni/blob/712b90de9c7bc14c595b363401588a713a87c02d/vllm_omni/model_executor/models/minicpmo_4_5/duplex/window_plan.py</a:t>
            </a:r>
          </a:p>
          <a:p>
            <a:r>
              <a:t>https://github.com/vllm-project/vllm-omni/blob/712b90de9c7bc14c595b363401588a713a87c02d/vllm_omni/model_executor/models/aura_omni/duplex/plugin.py</a:t>
            </a:r>
          </a:p>
          <a:p>
            <a:r>
              <a:t>https://github.com/vllm-project/vllm-omni/blob/712b90de9c7bc14c595b363401588a713a87c02d/vllm_omni/model_executor/models/qwen3_omni/duplex/plugin.py</a:t>
            </a:r>
          </a:p>
          <a:p>
            <a:r>
              <a:t>https://github.com/vllm-project/vllm-omni/blob/712b90de9c7bc14c595b363401588a713a87c02d/examples/online_serving/realtime_web/app/static/profiles/qwen3_turn.js</a:t>
            </a:r>
          </a:p>
          <a:p>
            <a:r>
              <a:t>https://github.com/vllm-project/vllm-omni/blob/712b90de9c7bc14c595b363401588a713a87c02d/examples/online_serving/realtime_web/app/static/profiles/aura_ptt.js</a:t>
            </a:r>
          </a:p>
          <a:p>
            <a:r>
              <a:t>https://github.com/vllm-project/vllm-omni/blob/712b90de9c7bc14c595b363401588a713a87c02d/vllm_omni/engine/duplex/session/runner.py</a:t>
            </a:r>
          </a:p>
          <a:p>
            <a:r>
              <a:t>https://github.com/vllm-project/vllm-omni/blob/712b90de9c7bc14c595b363401588a713a87c02d/vllm_omni/engine/duplex/delivery.py</a:t>
            </a:r>
          </a:p>
          <a:p>
            <a:r>
              <a:t>https://github.com/vllm-project/vllm-omni/blob/712b90de9c7bc14c595b363401588a713a87c02d/vllm_omni/entrypoints/duplex/session_attachment.py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Audio terminology clarification</a:t>
            </a:r>
          </a:p>
          <a:p>
            <a:r>
              <a:t>All four model rows accept PCM audio in their unified duplex paths. PCM describes sampled audio; it does not distinguish native duplex from turn-based execution. The MiniCPM-o 4.5 web profile sends pcm16 at 16 kHz; its Python client preset inherits the same input default and pcm16 at 24 kHz output from SessionConfig. PersonaPlex uses its own preset: pcm_f32le at 24 kHz input and pcm16 at 24 kHz output. AURA web input is pcm16 at 16 kHz. The Qwen3 turn web profile uses audio/pcm at 24 kHz, while its plugin consumes normalized 16 kHz pcm_f32le. All these are PCM representations. Codec tokens between stages are a separate representation.</a:t>
            </a:r>
          </a:p>
          <a:p>
            <a:r>
              <a:t>https://github.com/vllm-project/vllm-omni/blob/b65107d61331327424910c72e7a2da137dcfb3df/examples/online_serving/realtime_web/app/static/profiles/minicpm_native.js</a:t>
            </a:r>
          </a:p>
          <a:p>
            <a:r>
              <a:t>https://github.com/vllm-project/vllm-omni/blob/b65107d61331327424910c72e7a2da137dcfb3df/vllm_omni/clients/duplex.py</a:t>
            </a:r>
          </a:p>
          <a:p>
            <a:r>
              <a:t>https://github.com/vllm-project/vllm-omni/blob/b65107d61331327424910c72e7a2da137dcfb3df/vllm_omni/clients/minicpmo_4_5.py</a:t>
            </a:r>
          </a:p>
          <a:p>
            <a:r>
              <a:t>https://github.com/vllm-project/vllm-omni/blob/b65107d61331327424910c72e7a2da137dcfb3df/examples/online_serving/realtime_web/app/static/profiles/aura_ptt.js</a:t>
            </a:r>
          </a:p>
          <a:p>
            <a:r>
              <a:t>https://github.com/vllm-project/vllm-omni/blob/b65107d61331327424910c72e7a2da137dcfb3df/examples/online_serving/realtime_web/app/static/profiles/qwen3_turn.js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Resume is a model-dependent serving capability and is separate from automatic reconnect in a particular demo. The Python WebSocket client retains credentials and can reconnect with its configured reconnect policy. A reconnect sends session.resume as its first message, with session ID, resume token and last received server-event sequence. Successful attachment rotates the token and returns it in session.resumed. The client saves the latest token. Replay gaps return session.resync_required and cannot transparently reconstruct missing output. Process restart or loss of the owner requires a fresh session. PersonaPlex does not support resume and closes on disconnect.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https://github.com/vllm-project/vllm-omni/blob/4c5541cfc17143f80bdb89bbb7a5840b08bb52c6/vllm_omni/clients/duplex.py</a:t>
            </a:r>
          </a:p>
          <a:p>
            <a:r>
              <a:rPr lang="zh-CN">
                <a:latin typeface="Noto Sans CJK SC"/>
                <a:ea typeface="Noto Sans CJK SC"/>
                <a:cs typeface="Noto Sans CJK SC"/>
              </a:rPr>
              <a:t>https://github.com/vllm-project/vllm-omni/blob/4c5541cfc17143f80bdb89bbb7a5840b08bb52c6/vllm_omni/entrypoints/duplex/serving.py</a:t>
            </a:r>
          </a:p>
          <a:p>
            <a:r>
              <a:rPr lang="zh-CN">
                <a:latin typeface="Noto Sans CJK SC"/>
                <a:ea typeface="Noto Sans CJK SC"/>
                <a:cs typeface="Noto Sans CJK SC"/>
              </a:rPr>
              <a:t>https://github.com/vllm-project/vllm-omni/blob/4c5541cfc17143f80bdb89bbb7a5840b08bb52c6/vllm_omni/entrypoints/duplex/session_attachment.py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https://github.com/vllm-project/vllm-omni/blob/712b90de9c7bc14c595b363401588a713a87c02d/vllm_omni/model_executor/models/personaplex/duplex/capabilities.py</a:t>
            </a:r>
          </a:p>
          <a:p>
            <a:r>
              <a:rPr lang="zh-CN">
                <a:latin typeface="Noto Sans CJK SC"/>
                <a:ea typeface="Noto Sans CJK SC"/>
                <a:cs typeface="Noto Sans CJK SC"/>
              </a:rPr>
              <a:t>https://github.com/vllm-project/vllm-omni/blob/712b90de9c7bc14c595b363401588a713a87c02d/vllm_omni/model_executor/models/nemotron_voicechat/duplex/capabilities.py</a:t>
            </a:r>
          </a:p>
          <a:p>
            <a:r>
              <a:rPr lang="zh-CN">
                <a:latin typeface="Noto Sans CJK SC"/>
                <a:ea typeface="Noto Sans CJK SC"/>
                <a:cs typeface="Noto Sans CJK SC"/>
              </a:rPr>
              <a:t>https://github.com/vllm-project/vllm-omni/blob/712b90de9c7bc14c595b363401588a713a87c02d/vllm_omni/clients/duplex.py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单并发与 8 并发曲线使用同配置的 H100 Seed-TTS 测试记录，覆盖 2026 年 9 月 9 日至 10 月 8 日。</a:t>
            </a:r>
          </a:p>
          <a:p>
            <a:r>
              <a:t>9 月 16、17 日没有匹配配置的记录。虚线仅连接两侧真实测量点，表示缺测区间；原始数据、真实点数量和嵌入 Excel 中的空单元格都不变。</a:t>
            </a:r>
          </a:p>
          <a:p>
            <a:r>
              <a:t>Audio RTF 是每个请求的音频生成耗时除以输出音频时长，再取平均，越低越好。这是 Chat Completions 语音生成测试，不是连续音视频 native duplex 会话测试。趋势与左侧优化方法并列展示，不把时间变化归因于某一个独立优化。</a:t>
            </a:r>
          </a:p>
          <a:p>
            <a:r>
              <a:t/>
            </a:r>
          </a:p>
          <a:p>
            <a:r>
              <a:t>Technical detail and source references</a:t>
            </a:r>
          </a:p>
          <a:p>
            <a:r>
              <a:t>MiniCPM-o 4.5 benchmark trend for a 30-calendar-day window ending with the latest matching H100 run: September 9 to October 8, 2026. Endpoint and backend: openai-chat-omni. Dataset: Seed-TTS. Concurrency 1: 32 requests per run. Concurrency 8: 128 requests per run. All selected runs completed without failed requests. Each series uses one unchanged config_key. One latest matching record per day; no matching records on September 16 or 17, bridged by dashed visual connectors. The figure contains 28 observed points per series and does not add missing measurements. Dashed connectors join the surrounding measured endpoints as a visual guide only; the chart data and embedded workbook retain empty cells for September 16 and 17. Mean Audio RTF is the mean per-request audio-generation-time / output-audio-duration ratio, lower is better. These are Chat Completions speech-generation benchmarks, not continuous native audio/video session measurements. Changes over time are observational and not an isolated attribution to any one optimization listed on the left.</a:t>
            </a:r>
          </a:p>
          <a:p>
            <a:r>
              <a:t>First and last values: C=1 0.279637232 to 0.198065725; C=8 1.594658489 to 0.490287581.</a:t>
            </a:r>
          </a:p>
          <a:p>
            <a:r>
              <a:t>Source: https://hsliuustc0106.github.io/vllm-omni-kanban/pages/assets/charts/minicpmo_4_5_history.json</a:t>
            </a:r>
          </a:p>
          <a:p>
            <a:r>
              <a:t>Source generated_at: 2026-10-09T02:35:21.650129</a:t>
            </a:r>
          </a:p>
          <a:p>
            <a:r>
              <a:t>https://github.com/vllm-project/vllm-omni/blob/06afa310c942c0506f0ed9bdd189fa331c46bb97/vllm_omni/model_executor/models/minicpmo_4_5/streaming_audio_encoder_graph.py</a:t>
            </a:r>
          </a:p>
          <a:p>
            <a:r>
              <a:t>https://github.com/vllm-project/vllm-omni/blob/06afa310c942c0506f0ed9bdd189fa331c46bb97/vllm_omni/model_executor/models/minicpmo_4_5/encoder_cuda_graph.py</a:t>
            </a:r>
          </a:p>
          <a:p>
            <a:r>
              <a:t>https://github.com/vllm-project/vllm-omni/blob/06afa310c942c0506f0ed9bdd189fa331c46bb97/vllm_omni/model_executor/models/minicpmo_4_5/minicpmo_4_5_code2wav.py</a:t>
            </a:r>
          </a:p>
          <a:p>
            <a:r>
              <a:t>https://github.com/vllm-project/vllm-omni/blob/06afa310c942c0506f0ed9bdd189fa331c46bb97/vllm_omni/model_executor/models/minicpmo_4_5/dit_fused.py</a:t>
            </a:r>
          </a:p>
          <a:p>
            <a:r>
              <a:t>https://github.com/vllm-project/vllm-omni/blob/06afa310c942c0506f0ed9bdd189fa331c46bb97/vllm_omni/model_executor/models/qwen3_omni/vision_encoder_cudagraph.py</a:t>
            </a:r>
          </a:p>
          <a:p>
            <a:r>
              <a:t>https://github.com/vllm-project/vllm-omni/blob/06afa310c942c0506f0ed9bdd189fa331c46bb97/vllm_omni/model_executor/models/personaplex/duplex/stage0.py</a:t>
            </a:r>
          </a:p>
          <a:p>
            <a:r>
              <a:t>https://github.com/vllm-project/vllm-omni/blob/06afa310c942c0506f0ed9bdd189fa331c46bb97/vllm_omni/model_executor/models/personaplex/personaplex_code2wav.py</a:t>
            </a:r>
          </a:p>
          <a:p>
            <a:r>
              <a:t>https://github.com/vllm-project/vllm-omni/blob/06afa310c942c0506f0ed9bdd189fa331c46bb97/vllm_omni/worker/gpu_generation_model_runner.py</a:t>
            </a:r>
          </a:p>
          <a:p>
            <a:r>
              <a:t>https://github.com/vllm-project/vllm-omni/blob/06afa310c942c0506f0ed9bdd189fa331c46bb97/vllm_omni/benchmarks/patch/patch.py</a:t>
            </a:r>
          </a:p>
          <a:p>
            <a:r>
              <a:t>https://github.com/vllm-project/vllm-omni/blob/06afa310c942c0506f0ed9bdd189fa331c46bb97/docs/design/minicpm_o45_mrv2_performance.md</a:t>
            </a:r>
          </a:p>
          <a:p>
            <a:r>
              <a:t>https://github.com/vllm-project/vllm-omni/pull/8430</a:t>
            </a:r>
          </a:p>
          <a:p>
            <a:r>
              <a:t>https://github.com/vllm-project/vllm-omni/pull/8215</a:t>
            </a:r>
          </a:p>
          <a:p>
            <a:r>
              <a:t>https://github.com/vllm-project/vllm-omni/pull/8557</a:t>
            </a:r>
          </a:p>
          <a:p>
            <a:r>
              <a:t>https://github.com/vllm-project/vllm-omni/pull/8356</a:t>
            </a:r>
          </a:p>
          <a:p>
            <a:r>
              <a:t>https://github.com/vllm-project/vllm-omni/pull/7480</a:t>
            </a:r>
          </a:p>
          <a:p>
            <a:r>
              <a:t>https://github.com/vllm-project/vllm-omni/pull/8540</a:t>
            </a:r>
          </a:p>
          <a:p>
            <a:r>
              <a:t>https://hsliuustc0106.github.io/vllm-omni-kanban/pages/assets/charts/minicpmo_4_5_history.json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timing illustration now explicitly uses stream TTFP: input-stream start until the client receives its first audio packet. It is not end-of-utterance latency or per-response server TTFP. The current metric collector has separate stream and response origins; comparisons must use the same origin, model, hardware and concurrency. Response RTF and stream RTF are not interchangeable. OmniInteract and Omni-DuplexEval provide model/task-specific interaction evaluation; the quality card emphasizes response timing and audiovisual understanding rather than implying all listed models share a speech-quality score. The figure is a schematic, not a measured timing trace.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https://github.com/vllm-project/vllm-omni/blob/4c5541cfc17143f80bdb89bbb7a5840b08bb52c6/vllm_omni/benchmarks/duplex_session_metrics.py</a:t>
            </a:r>
          </a:p>
          <a:p>
            <a:r>
              <a:rPr lang="zh-CN">
                <a:latin typeface="Noto Sans CJK SC"/>
                <a:ea typeface="Noto Sans CJK SC"/>
                <a:cs typeface="Noto Sans CJK SC"/>
              </a:rPr>
              <a:t>https://github.com/vllm-project/vllm-omni/blob/4c5541cfc17143f80bdb89bbb7a5840b08bb52c6/vllm_omni/benchmarks/omniinteract.py</a:t>
            </a:r>
          </a:p>
          <a:p>
            <a:r>
              <a:rPr lang="zh-CN">
                <a:latin typeface="Noto Sans CJK SC"/>
                <a:ea typeface="Noto Sans CJK SC"/>
                <a:cs typeface="Noto Sans CJK SC"/>
              </a:rPr>
              <a:t>https://github.com/vllm-project/vllm-omni/blob/4c5541cfc17143f80bdb89bbb7a5840b08bb52c6/vllm_omni/benchmarks/duplex/omni_duplex_eval_metrics.py</a:t>
            </a:r>
          </a:p>
          <a:p>
            <a:r>
              <a:rPr lang="zh-CN">
                <a:latin typeface="Noto Sans CJK SC"/>
                <a:ea typeface="Noto Sans CJK SC"/>
                <a:cs typeface="Noto Sans CJK SC"/>
              </a:rPr>
              <a:t>https://github.com/vllm-project/vllm-omni/blob/712b90de9c7bc14c595b363401588a713a87c02d/vllm_omni/benchmarks/omniinteract.py</a:t>
            </a:r>
          </a:p>
          <a:p>
            <a:r>
              <a:rPr lang="zh-CN">
                <a:latin typeface="Noto Sans CJK SC"/>
                <a:ea typeface="Noto Sans CJK SC"/>
                <a:cs typeface="Noto Sans CJK SC"/>
              </a:rPr>
              <a:t>https://github.com/vllm-project/vllm-omni/blob/712b90de9c7bc14c595b363401588a713a87c02d/vllm_omni/benchmarks/omniinteract_eval.py</a:t>
            </a:r>
          </a:p>
          <a:p>
            <a:r>
              <a:rPr lang="zh-CN">
                <a:latin typeface="Noto Sans CJK SC"/>
                <a:ea typeface="Noto Sans CJK SC"/>
                <a:cs typeface="Noto Sans CJK SC"/>
              </a:rPr>
              <a:t>https://github.com/vllm-project/vllm-omni/blob/712b90de9c7bc14c595b363401588a713a87c02d/vllm_omni/benchmarks/duplex/omni_duplex_eval_runner.py</a:t>
            </a:r>
          </a:p>
          <a:p>
            <a:r>
              <a:rPr lang="zh-CN">
                <a:latin typeface="Noto Sans CJK SC"/>
                <a:ea typeface="Noto Sans CJK SC"/>
                <a:cs typeface="Noto Sans CJK SC"/>
              </a:rPr>
              <a:t>https://github.com/vllm-project/vllm-omni/blob/712b90de9c7bc14c595b363401588a713a87c02d/vllm_omni/benchmarks/duplex/omni_duplex_eval_metrics.py</a:t>
            </a:r>
          </a:p>
          <a:p>
            <a:r>
              <a:rPr lang="zh-CN">
                <a:latin typeface="Noto Sans CJK SC"/>
                <a:ea typeface="Noto Sans CJK SC"/>
                <a:cs typeface="Noto Sans CJK SC"/>
              </a:rPr>
              <a:t>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Qwen3-Omni tool-call parsing exists in the separate Realtime turn endpoint (duplex=0). It must not be confused with the Qwen unified duplex + Server VAD adapter. Nemotron VoiceChat already supports tool calls and tool results through unified native duplex. The lower sequence and table describe broader common handling and model coverage to build on these implementations. Work includes interruption, timeout and duplicate/late-result handling, plus explicit input/output behavior while tools execute.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https://github.com/vllm-project/vllm-omni/blob/4c5541cfc17143f80bdb89bbb7a5840b08bb52c6/vllm_omni/entrypoints/openai/realtime/session.py</a:t>
            </a:r>
          </a:p>
          <a:p>
            <a:r>
              <a:rPr lang="zh-CN">
                <a:latin typeface="Noto Sans CJK SC"/>
                <a:ea typeface="Noto Sans CJK SC"/>
                <a:cs typeface="Noto Sans CJK SC"/>
              </a:rPr>
              <a:t>https://github.com/vllm-project/vllm-omni/blob/4c5541cfc17143f80bdb89bbb7a5840b08bb52c6/vllm_omni/model_executor/models/nemotron_voicechat/duplex/plugin.py</a:t>
            </a:r>
          </a:p>
          <a:p>
            <a:r>
              <a:rPr lang="zh-CN">
                <a:latin typeface="Noto Sans CJK SC"/>
                <a:ea typeface="Noto Sans CJK SC"/>
                <a:cs typeface="Noto Sans CJK SC"/>
              </a:rPr>
              <a:t>https://github.com/vllm-project/vllm-omni/blob/4c5541cfc17143f80bdb89bbb7a5840b08bb52c6/vllm_omni/model_executor/models/qwen3_omni/duplex/plugin.py</a:t>
            </a:r>
          </a:p>
          <a:p>
            <a:r>
              <a:rPr lang="zh-CN">
                <a:latin typeface="Noto Sans CJK SC"/>
                <a:ea typeface="Noto Sans CJK SC"/>
                <a:cs typeface="Noto Sans CJK SC"/>
              </a:rPr>
              <a:t>https://github.com/vllm-project/vllm-omni/blob/d5a3380103df2fc827f095c60dbfb6e1c5655fd3/vllm_omni/entrypoints/openai/realtime/connection.py#L386-L425</a:t>
            </a:r>
          </a:p>
          <a:p>
            <a:r>
              <a:rPr lang="zh-CN">
                <a:latin typeface="Noto Sans CJK SC"/>
                <a:ea typeface="Noto Sans CJK SC"/>
                <a:cs typeface="Noto Sans CJK SC"/>
              </a:rPr>
              <a:t>https://github.com/vllm-project/vllm-omni/blob/d5a3380103df2fc827f095c60dbfb6e1c5655fd3/vllm_omni/entrypoints/openai/realtime/connection.py#L870-L940</a:t>
            </a:r>
          </a:p>
          <a:p>
            <a:r>
              <a:rPr lang="zh-CN">
                <a:latin typeface="Noto Sans CJK SC"/>
                <a:ea typeface="Noto Sans CJK SC"/>
                <a:cs typeface="Noto Sans CJK SC"/>
              </a:rPr>
              <a:t>https://github.com/vllm-project/vllm-omni/blob/d5a3380103df2fc827f095c60dbfb6e1c5655fd3/vllm_omni/entrypoints/openai/realtime/connection.py#L1655-L1678</a:t>
            </a:r>
          </a:p>
          <a:p>
            <a:r>
              <a:rPr lang="zh-CN">
                <a:latin typeface="Noto Sans CJK SC"/>
                <a:ea typeface="Noto Sans CJK SC"/>
                <a:cs typeface="Noto Sans CJK SC"/>
              </a:rPr>
              <a:t>https://github.com/vllm-project/vllm-omni/blob/d5a3380103df2fc827f095c60dbfb6e1c5655fd3/vllm_omni/model_executor/models/qwen3_omni/duplex/plugin.py#L160-L169</a:t>
            </a:r>
          </a:p>
          <a:p>
            <a:r>
              <a:rPr lang="zh-CN">
                <a:latin typeface="Noto Sans CJK SC"/>
                <a:ea typeface="Noto Sans CJK SC"/>
                <a:cs typeface="Noto Sans CJK SC"/>
              </a:rPr>
              <a:t>https://github.com/vllm-project/vllm-omni/blob/d5a3380103df2fc827f095c60dbfb6e1c5655fd3/vllm_omni/model_executor/models/nemotron_voicechat/duplex/plugin.py#L108-L147</a:t>
            </a:r>
          </a:p>
          <a:p>
            <a:r>
              <a:rPr lang="zh-CN">
                <a:latin typeface="Noto Sans CJK SC"/>
                <a:ea typeface="Noto Sans CJK SC"/>
                <a:cs typeface="Noto Sans CJK SC"/>
              </a:rPr>
              <a:t>https://github.com/vllm-project/vllm-omni/blob/d5a3380103df2fc827f095c60dbfb6e1c5655fd3/vllm_omni/model_executor/models/nemotron_voicechat/duplex/plugin.py#L430-L501</a:t>
            </a:r>
          </a:p>
          <a:p>
            <a:r>
              <a:rPr lang="zh-CN">
                <a:latin typeface="Noto Sans CJK SC"/>
                <a:ea typeface="Noto Sans CJK SC"/>
                <a:cs typeface="Noto Sans CJK SC"/>
              </a:rPr>
              <a:t>https://github.com/vllm-project/vllm-omni/blob/d5a3380103df2fc827f095c60dbfb6e1c5655fd3/vllm_omni/engine/duplex/realtime_events.py#L1080-L1126</a:t>
            </a:r>
          </a:p>
          <a:p>
            <a:r>
              <a:rPr lang="zh-CN">
                <a:latin typeface="Noto Sans CJK SC"/>
                <a:ea typeface="Noto Sans CJK SC"/>
                <a:cs typeface="Noto Sans CJK SC"/>
              </a:rPr>
              <a:t>https://github.com/vllm-project/vllm-omni/blob/d5a3380103df2fc827f095c60dbfb6e1c5655fd3/vllm_omni/engine/duplex/realtime_events.py#L1430-L1487</a:t>
            </a:r>
          </a:p>
          <a:p>
            <a:r>
              <a:rPr lang="zh-CN">
                <a:latin typeface="Noto Sans CJK SC"/>
                <a:ea typeface="Noto Sans CJK SC"/>
                <a:cs typeface="Noto Sans CJK SC"/>
              </a:rPr>
              <a:t>https://github.com/vllm-project/vllm-omni/blob/d5a3380103df2fc827f095c60dbfb6e1c5655fd3/vllm_omni/engine/duplex/plugin.py#L513-L523</a:t>
            </a:r>
          </a:p>
          <a:p>
            <a:r>
              <a:rPr lang="zh-CN">
                <a:latin typeface="Noto Sans CJK SC"/>
                <a:ea typeface="Noto Sans CJK SC"/>
                <a:cs typeface="Noto Sans CJK SC"/>
              </a:rPr>
              <a:t>https://github.com/vllm-project/vllm-omni/blob/d5a3380103df2fc827f095c60dbfb6e1c5655fd3/vllm_omni/engine/duplex/session/control.py#L290-L327</a:t>
            </a:r>
          </a:p>
          <a:p>
            <a:r>
              <a:rPr lang="zh-CN">
                <a:latin typeface="Noto Sans CJK SC"/>
                <a:ea typeface="Noto Sans CJK SC"/>
                <a:cs typeface="Noto Sans CJK SC"/>
              </a:rPr>
              <a:t>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longer-term scale goal builds on existing StagePool replica routing and request affinity. It is not the first introduction of Stage replicas. The current unified duplex WebSocket path requires one API worker because session credentials and replay state are process-local. Routing/ownership across multiple API frontends is future work. Longer sessions extend existing context/history controls rather than claim that current sessions are necessarily short. JoyAI unified adaptation, broader tool handling, semantic endpointing and broader evaluation are proposed priorities, not release-date commitments.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https://github.com/vllm-project/vllm-omni/blob/4c5541cfc17143f80bdb89bbb7a5840b08bb52c6/vllm_omni/entrypoints/openai/api_server.py</a:t>
            </a:r>
          </a:p>
          <a:p>
            <a:r>
              <a:rPr lang="zh-CN">
                <a:latin typeface="Noto Sans CJK SC"/>
                <a:ea typeface="Noto Sans CJK SC"/>
                <a:cs typeface="Noto Sans CJK SC"/>
              </a:rPr>
              <a:t>https://github.com/vllm-project/vllm-omni/blob/4c5541cfc17143f80bdb89bbb7a5840b08bb52c6/vllm_omni/engine/duplex_omni_engine.py</a:t>
            </a:r>
          </a:p>
          <a:p>
            <a:r>
              <a:rPr lang="zh-CN">
                <a:latin typeface="Noto Sans CJK SC"/>
                <a:ea typeface="Noto Sans CJK SC"/>
                <a:cs typeface="Noto Sans CJK SC"/>
              </a:rPr>
              <a:t>https://github.com/vllm-project/vllm-omni/blob/d5a3380103df2fc827f095c60dbfb6e1c5655fd3/vllm_omni/model_executor/models/qwen3_omni/duplex/plugin.py#L160-L169</a:t>
            </a:r>
          </a:p>
          <a:p>
            <a:r>
              <a:rPr lang="zh-CN">
                <a:latin typeface="Noto Sans CJK SC"/>
                <a:ea typeface="Noto Sans CJK SC"/>
                <a:cs typeface="Noto Sans CJK SC"/>
              </a:rPr>
              <a:t>https://github.com/vllm-project/vllm-omni/blob/d5a3380103df2fc827f095c60dbfb6e1c5655fd3/vllm_omni/model_executor/models/nemotron_voicechat/duplex/plugin.py#L444-L501</a:t>
            </a:r>
          </a:p>
          <a:p>
            <a:r>
              <a:rPr lang="zh-CN">
                <a:latin typeface="Noto Sans CJK SC"/>
                <a:ea typeface="Noto Sans CJK SC"/>
                <a:cs typeface="Noto Sans CJK SC"/>
              </a:rPr>
              <a:t>https://github.com/vllm-project/vllm-omni/blob/d5a3380103df2fc827f095c60dbfb6e1c5655fd3/vllm_omni/entrypoints/openai/realtime/connection.py#L386-L425</a:t>
            </a:r>
          </a:p>
          <a:p>
            <a:r>
              <a:rPr lang="zh-CN">
                <a:latin typeface="Noto Sans CJK SC"/>
                <a:ea typeface="Noto Sans CJK SC"/>
                <a:cs typeface="Noto Sans CJK SC"/>
              </a:rPr>
              <a:t>https://github.com/vllm-project/vllm-omni/blob/d5a3380103df2fc827f095c60dbfb6e1c5655fd3/vllm_omni/engine/duplex/realtime_events.py#L1430-L1487</a:t>
            </a:r>
          </a:p>
          <a:p>
            <a:r>
              <a:rPr lang="zh-CN">
                <a:latin typeface="Noto Sans CJK SC"/>
                <a:ea typeface="Noto Sans CJK SC"/>
                <a:cs typeface="Noto Sans CJK SC"/>
              </a:rPr>
              <a:t>https://github.com/vllm-project/vllm-omni/blob/d5a3380103df2fc827f095c60dbfb6e1c5655fd3/vllm_omni/engine/duplex/turn_detection.py#L82-L99</a:t>
            </a:r>
          </a:p>
          <a:p>
            <a:r>
              <a:rPr lang="zh-CN">
                <a:latin typeface="Noto Sans CJK SC"/>
                <a:ea typeface="Noto Sans CJK SC"/>
                <a:cs typeface="Noto Sans CJK SC"/>
              </a:rPr>
              <a:t>https://github.com/vllm-project/vllm-omni/blob/d5a3380103df2fc827f095c60dbfb6e1c5655fd3/vllm_omni/engine/duplex/vad.py#L100-L108</a:t>
            </a:r>
          </a:p>
          <a:p>
            <a:r>
              <a:rPr lang="zh-CN">
                <a:latin typeface="Noto Sans CJK SC"/>
                <a:ea typeface="Noto Sans CJK SC"/>
                <a:cs typeface="Noto Sans CJK SC"/>
              </a:rPr>
              <a:t>https://github.com/vllm-project/vllm-omni/blob/d5a3380103df2fc827f095c60dbfb6e1c5655fd3/tests/engine/duplex/test_engine_session.py#L598-L608</a:t>
            </a:r>
          </a:p>
          <a:p>
            <a:r>
              <a:rPr lang="zh-CN">
                <a:latin typeface="Noto Sans CJK SC"/>
                <a:ea typeface="Noto Sans CJK SC"/>
                <a:cs typeface="Noto Sans CJK SC"/>
              </a:rPr>
              <a:t>https://github.com/vllm-project/vllm-omni/blob/d5a3380103df2fc827f095c60dbfb6e1c5655fd3/vllm_omni/benchmarks/omniinteract.py</a:t>
            </a:r>
          </a:p>
          <a:p>
            <a:r>
              <a:rPr lang="zh-CN">
                <a:latin typeface="Noto Sans CJK SC"/>
                <a:ea typeface="Noto Sans CJK SC"/>
                <a:cs typeface="Noto Sans CJK SC"/>
              </a:rPr>
              <a:t>https://github.com/vllm-project/vllm-omni/blob/d5a3380103df2fc827f095c60dbfb6e1c5655fd3/vllm_omni/benchmarks/omniinteract_eval.py</a:t>
            </a:r>
          </a:p>
          <a:p>
            <a:r>
              <a:rPr lang="zh-CN">
                <a:latin typeface="Noto Sans CJK SC"/>
                <a:ea typeface="Noto Sans CJK SC"/>
                <a:cs typeface="Noto Sans CJK SC"/>
              </a:rPr>
              <a:t>https://github.com/vllm-project/vllm-omni/blob/d5a3380103df2fc827f095c60dbfb6e1c5655fd3/vllm_omni/benchmarks/duplex/omni_duplex_eval_runner.py</a:t>
            </a:r>
          </a:p>
          <a:p>
            <a:r>
              <a:rPr lang="zh-CN">
                <a:latin typeface="Noto Sans CJK SC"/>
                <a:ea typeface="Noto Sans CJK SC"/>
                <a:cs typeface="Noto Sans CJK SC"/>
              </a:rPr>
              <a:t>https://github.com/vllm-project/vllm-omni/blob/d5a3380103df2fc827f095c60dbfb6e1c5655fd3/tests/e2e/accuracy/omni_duplex_eval/README.md</a:t>
            </a:r>
          </a:p>
          <a:p>
            <a:r>
              <a:rPr lang="zh-CN">
                <a:latin typeface="Noto Sans CJK SC"/>
                <a:ea typeface="Noto Sans CJK SC"/>
                <a:cs typeface="Noto Sans CJK SC"/>
              </a:rPr>
              <a:t>https://github.com/vllm-project/vllm-omni/blob/d5a3380103df2fc827f095c60dbfb6e1c5655fd3/vllm_omni/model_executor/models/minicpmo_4_5/duplex/window_kv.py</a:t>
            </a:r>
          </a:p>
          <a:p>
            <a:r>
              <a:rPr lang="zh-CN">
                <a:latin typeface="Noto Sans CJK SC"/>
                <a:ea typeface="Noto Sans CJK SC"/>
                <a:cs typeface="Noto Sans CJK SC"/>
              </a:rPr>
              <a:t>https://github.com/vllm-project/vllm-omni/blob/d5a3380103df2fc827f095c60dbfb6e1c5655fd3/vllm_omni/engine/stage_pool.py#L574-L609</a:t>
            </a:r>
          </a:p>
          <a:p>
            <a:r>
              <a:rPr lang="zh-CN">
                <a:latin typeface="Noto Sans CJK SC"/>
                <a:ea typeface="Noto Sans CJK SC"/>
                <a:cs typeface="Noto Sans CJK SC"/>
              </a:rPr>
              <a:t>https://github.com/vllm-project/vllm-omni/blob/d5a3380103df2fc827f095c60dbfb6e1c5655fd3/vllm_omni/engine/duplex_orchestrator.py#L393-L424</a:t>
            </a:r>
          </a:p>
          <a:p>
            <a:r>
              <a:rPr lang="zh-CN">
                <a:latin typeface="Noto Sans CJK SC"/>
                <a:ea typeface="Noto Sans CJK SC"/>
                <a:cs typeface="Noto Sans CJK SC"/>
              </a:rPr>
              <a:t>https://github.com/vllm-project/vllm-omni/blob/d5a3380103df2fc827f095c60dbfb6e1c5655fd3/vllm_omni/entrypoints/openai/api_server.py#L1880-L1895</a:t>
            </a:r>
          </a:p>
          <a:p>
            <a:r>
              <a:rPr lang="zh-CN">
                <a:latin typeface="Noto Sans CJK SC"/>
                <a:ea typeface="Noto Sans CJK SC"/>
                <a:cs typeface="Noto Sans CJK SC"/>
              </a:rPr>
              <a:t>https://github.com/vllm-project/vllm-omni/blob/d5a3380103df2fc827f095c60dbfb6e1c5655fd3/vllm_omni/model_executor/models/joyai_vl_interaction/pipeline.py</a:t>
            </a:r>
          </a:p>
          <a:p>
            <a:r>
              <a:rPr lang="zh-CN">
                <a:latin typeface="Noto Sans CJK SC"/>
                <a:ea typeface="Noto Sans CJK SC"/>
                <a:cs typeface="Noto Sans CJK SC"/>
              </a:rPr>
              <a:t>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two PersonaPlex compute stages are Talker (Stage 0) and Mimi Code2Wav (Stage 1). The connector example at the bottom is shared-memory transfer on one host. The upper replica topology can also be distributed, in which case Stage-to-Stage data requires a network-capable connector as shown in A4. Per-session ordinary output remains a bounded shared buffer within the API process.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https://github.com/vllm-project/vllm-omni/blob/4c5541cfc17143f80bdb89bbb7a5840b08bb52c6/vllm_omni/deploy/personaplex.yaml</a:t>
            </a:r>
          </a:p>
          <a:p>
            <a:r>
              <a:rPr lang="zh-CN">
                <a:latin typeface="Noto Sans CJK SC"/>
                <a:ea typeface="Noto Sans CJK SC"/>
                <a:cs typeface="Noto Sans CJK SC"/>
              </a:rPr>
              <a:t>https://github.com/vllm-project/vllm-omni/blob/4c5541cfc17143f80bdb89bbb7a5840b08bb52c6/vllm_omni/engine/duplex/session/manager.py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https://github.com/vllm-project/vllm-omni/blob/712b90de9c7bc14c595b363401588a713a87c02d/vllm_omni/entrypoints/duplex_omni.py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https://github.com/vllm-project/vllm-omni/blob/712b90de9c7bc14c595b363401588a713a87c02d/vllm_omni/engine/duplex_omni_engine.py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https://github.com/vllm-project/vllm-omni/blob/712b90de9c7bc14c595b363401588a713a87c02d/vllm_omni/engine/duplex/session/engine_session.py</a:t>
            </a:r>
          </a:p>
          <a:p>
            <a:r>
              <a:rPr lang="zh-CN">
                <a:latin typeface="Noto Sans CJK SC"/>
                <a:ea typeface="Noto Sans CJK SC"/>
                <a:cs typeface="Noto Sans CJK SC"/>
              </a:rPr>
              <a:t>https://github.com/vllm-project/vllm-omni/blob/712b90de9c7bc14c595b363401588a713a87c02d/vllm_omni/engine/duplex/plugin.py</a:t>
            </a:r>
          </a:p>
          <a:p>
            <a:r>
              <a:rPr lang="zh-CN">
                <a:latin typeface="Noto Sans CJK SC"/>
                <a:ea typeface="Noto Sans CJK SC"/>
                <a:cs typeface="Noto Sans CJK SC"/>
              </a:rPr>
              <a:t>https://github.com/vllm-project/vllm-omni/blob/712b90de9c7bc14c595b363401588a713a87c02d/vllm_omni/engine/duplex/delivery.py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Acoustic VAD identifies speech/non-speech; endpointing also uses a silence policy. Semantic turn-end detection uses learned linguistic/acoustic cues to judge whether the user has finished. The two can be combined: Silero detects a pause and Smart Turn checks completion. Smart Turn v3.2 is a lightweight CPU-capable example; semantic detection does not inherently require a GPU Stage. An Omni Stage for heavier models is a proposed integration, not current implementation. Current Server VAD inference is asynchronous in a CPU executor outside the Orchestrator event loop; the Runner applies configured commit/cancel policy. VAD is not a denoiser, and utterance completion is not interruption-intent detection.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https://github.com/vllm-project/vllm-omni/blob/4c5541cfc17143f80bdb89bbb7a5840b08bb52c6/vllm_omni/engine/duplex/vad.py</a:t>
            </a:r>
          </a:p>
          <a:p>
            <a:r>
              <a:rPr lang="zh-CN">
                <a:latin typeface="Noto Sans CJK SC"/>
                <a:ea typeface="Noto Sans CJK SC"/>
                <a:cs typeface="Noto Sans CJK SC"/>
              </a:rPr>
              <a:t>https://github.com/vllm-project/vllm-omni/blob/4c5541cfc17143f80bdb89bbb7a5840b08bb52c6/vllm_omni/engine/duplex/session/runner.py</a:t>
            </a:r>
          </a:p>
          <a:p>
            <a:r>
              <a:rPr lang="zh-CN">
                <a:latin typeface="Noto Sans CJK SC"/>
                <a:ea typeface="Noto Sans CJK SC"/>
                <a:cs typeface="Noto Sans CJK SC"/>
              </a:rPr>
              <a:t>https://github.com/pipecat-ai/smart-turn</a:t>
            </a:r>
          </a:p>
          <a:p>
            <a:r>
              <a:rPr lang="zh-CN">
                <a:latin typeface="Noto Sans CJK SC"/>
                <a:ea typeface="Noto Sans CJK SC"/>
                <a:cs typeface="Noto Sans CJK SC"/>
              </a:rPr>
              <a:t>https://huggingface.co/pipecat-ai/smart-turn-v3.2</a:t>
            </a:r>
          </a:p>
          <a:p>
            <a:r>
              <a:rPr lang="zh-CN">
                <a:latin typeface="Noto Sans CJK SC"/>
                <a:ea typeface="Noto Sans CJK SC"/>
                <a:cs typeface="Noto Sans CJK SC"/>
              </a:rPr>
              <a:t>https://docs.livekit.io/agents/logic/turns/turn-detector/</a:t>
            </a:r>
          </a:p>
          <a:p>
            <a:r>
              <a:rPr lang="zh-CN">
                <a:latin typeface="Noto Sans CJK SC"/>
                <a:ea typeface="Noto Sans CJK SC"/>
                <a:cs typeface="Noto Sans CJK SC"/>
              </a:rPr>
              <a:t>https://developers.openai.com/api/docs/guides/realtime-vad</a:t>
            </a:r>
          </a:p>
          <a:p>
            <a:r>
              <a:rPr lang="zh-CN">
                <a:latin typeface="Noto Sans CJK SC"/>
                <a:ea typeface="Noto Sans CJK SC"/>
                <a:cs typeface="Noto Sans CJK SC"/>
              </a:rPr>
              <a:t>https://github.com/vllm-project/vllm-omni/blob/712b90de9c7bc14c595b363401588a713a87c02d/vllm_omni/engine/duplex/turn_detection.py</a:t>
            </a:r>
          </a:p>
          <a:p>
            <a:r>
              <a:rPr lang="zh-CN">
                <a:latin typeface="Noto Sans CJK SC"/>
                <a:ea typeface="Noto Sans CJK SC"/>
                <a:cs typeface="Noto Sans CJK SC"/>
              </a:rPr>
              <a:t>https://github.com/vllm-project/vllm-omni/blob/712b90de9c7bc14c595b363401588a713a87c02d/vllm_omni/engine/duplex/vad.py</a:t>
            </a:r>
          </a:p>
          <a:p>
            <a:r>
              <a:rPr lang="zh-CN">
                <a:latin typeface="Noto Sans CJK SC"/>
                <a:ea typeface="Noto Sans CJK SC"/>
                <a:cs typeface="Noto Sans CJK SC"/>
              </a:rPr>
              <a:t>https://github.com/vllm-project/vllm-omni/blob/712b90de9c7bc14c595b363401588a713a87c02d/vllm_omni/engine/duplex/session/runner.py</a:t>
            </a:r>
          </a:p>
          <a:p>
            <a:r>
              <a:rPr lang="zh-CN">
                <a:latin typeface="Noto Sans CJK SC"/>
                <a:ea typeface="Noto Sans CJK SC"/>
                <a:cs typeface="Noto Sans CJK SC"/>
              </a:rPr>
              <a:t>https://github.com/snakers4/silero-vad</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https://github.com/vllm-project/vllm-omni/blob/712b90de9c7bc14c595b363401588a713a87c02d/vllm_omni/entrypoints/openai/realtime/connection.py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Disconnect, response.cancel and close are different actions. A resumable session may continue generating during the disconnect grace; PersonaPlex closes. Cancel invalidates server-side in-flight/unsent output, while the client separately stops and clears audio already delivered to its playback buffer. Cancel leaves the session open; PersonaPlex resets model context. Resume credentials are session ID plus the latest token; lease-generation checks are internal engine synchronization, not an additional WebSocket client credential. Successful resumes rotate tokens. A journal gap produces session.resync_required. The session must remain on the same live API owner. Defaults are disconnect grace 30s, idle TTL 300s, replay TTL 60s and replay cap 8 MiB. A session whose session.created could not be delivered is closed immediately rather than held for an impossible resume.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https://github.com/vllm-project/vllm-omni/blob/4c5541cfc17143f80bdb89bbb7a5840b08bb52c6/vllm_omni/entrypoints/duplex/serving.py</a:t>
            </a:r>
          </a:p>
          <a:p>
            <a:r>
              <a:rPr lang="zh-CN">
                <a:latin typeface="Noto Sans CJK SC"/>
                <a:ea typeface="Noto Sans CJK SC"/>
                <a:cs typeface="Noto Sans CJK SC"/>
              </a:rPr>
              <a:t>https://github.com/vllm-project/vllm-omni/blob/4c5541cfc17143f80bdb89bbb7a5840b08bb52c6/vllm_omni/entrypoints/duplex/session_attachment.py</a:t>
            </a:r>
          </a:p>
          <a:p>
            <a:r>
              <a:rPr lang="zh-CN">
                <a:latin typeface="Noto Sans CJK SC"/>
                <a:ea typeface="Noto Sans CJK SC"/>
                <a:cs typeface="Noto Sans CJK SC"/>
              </a:rPr>
              <a:t>https://github.com/vllm-project/vllm-omni/blob/4c5541cfc17143f80bdb89bbb7a5840b08bb52c6/vllm_omni/config/stage_config.py</a:t>
            </a:r>
          </a:p>
          <a:p>
            <a:r>
              <a:rPr lang="zh-CN">
                <a:latin typeface="Noto Sans CJK SC"/>
                <a:ea typeface="Noto Sans CJK SC"/>
                <a:cs typeface="Noto Sans CJK SC"/>
              </a:rPr>
              <a:t>https://github.com/vllm-project/vllm-omni/blob/4c5541cfc17143f80bdb89bbb7a5840b08bb52c6/vllm_omni/engine/duplex/session/lease.py</a:t>
            </a:r>
          </a:p>
          <a:p>
            <a:r>
              <a:rPr lang="zh-CN">
                <a:latin typeface="Noto Sans CJK SC"/>
                <a:ea typeface="Noto Sans CJK SC"/>
                <a:cs typeface="Noto Sans CJK SC"/>
              </a:rPr>
              <a:t>https://github.com/vllm-project/vllm-omni/blob/712b90de9c7bc14c595b363401588a713a87c02d/vllm_omni/entrypoints/duplex/serving.py</a:t>
            </a:r>
          </a:p>
          <a:p>
            <a:r>
              <a:rPr lang="zh-CN">
                <a:latin typeface="Noto Sans CJK SC"/>
                <a:ea typeface="Noto Sans CJK SC"/>
                <a:cs typeface="Noto Sans CJK SC"/>
              </a:rPr>
              <a:t>https://github.com/vllm-project/vllm-omni/blob/712b90de9c7bc14c595b363401588a713a87c02d/vllm_omni/entrypoints/duplex/session_attachment.py</a:t>
            </a:r>
          </a:p>
          <a:p>
            <a:r>
              <a:rPr lang="zh-CN">
                <a:latin typeface="Noto Sans CJK SC"/>
                <a:ea typeface="Noto Sans CJK SC"/>
                <a:cs typeface="Noto Sans CJK SC"/>
              </a:rPr>
              <a:t>https://github.com/vllm-project/vllm-omni/blob/712b90de9c7bc14c595b363401588a713a87c02d/vllm_omni/config/stage_config.py</a:t>
            </a:r>
          </a:p>
          <a:p>
            <a:r>
              <a:rPr lang="zh-CN">
                <a:latin typeface="Noto Sans CJK SC"/>
                <a:ea typeface="Noto Sans CJK SC"/>
                <a:cs typeface="Noto Sans CJK SC"/>
              </a:rPr>
              <a:t>https://github.com/vllm-project/vllm-omni/blob/712b90de9c7bc14c595b363401588a713a87c02d/vllm_omni/engine/duplex/session/manager.py</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跨节点部署时，入口 Head 持有 API、EngineClient 和 Duplex Orchestrator，本机或远端 headless Stage 向 OmniMaster 注册，由同一入口侧 Orchestrator 调度。部署侧使用同一拓扑配置，指定 session_mode: duplex、设备与网络 connector；先启动 Head，再启动指定 stage-id 的 headless 进程。当前 duplex 不支持多个 API worker；多个 Stage 或 Replica 不意味着每个 Stage 各自持有一个 Duplex Orchestrator。</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rPr lang="zh-CN">
                <a:latin typeface="Noto Sans CJK SC"/>
                <a:ea typeface="Noto Sans CJK SC"/>
                <a:cs typeface="Noto Sans CJK SC"/>
              </a:rPr>
              <a:t/>
            </a:r>
          </a:p>
          <a:p>
            <a:r>
              <a:rPr lang="zh-CN">
                <a:latin typeface="Noto Sans CJK SC"/>
                <a:ea typeface="Noto Sans CJK SC"/>
                <a:cs typeface="Noto Sans CJK SC"/>
              </a:rPr>
              <a:t>Use a consistent deploy topology, reachable master address/port and network-capable connectors for cross-node Stage data. SharedMemory connectors are local-host transports. The Head Orchestrator dispatches to StagePool clients and preserves request affinity.</a:t>
            </a:r>
          </a:p>
          <a:p>
            <a:r>
              <a:rPr lang="zh-CN">
                <a:latin typeface="Noto Sans CJK SC"/>
                <a:ea typeface="Noto Sans CJK SC"/>
                <a:cs typeface="Noto Sans CJK SC"/>
              </a:rPr>
              <a:t/>
            </a:r>
          </a:p>
          <a:p>
            <a:r>
              <a:rPr lang="zh-CN">
                <a:latin typeface="Noto Sans CJK SC"/>
                <a:ea typeface="Noto Sans CJK SC"/>
                <a:cs typeface="Noto Sans CJK SC"/>
              </a:rP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api_server.py: https://github.com/vllm-project/vllm-omni/blob/712b90de9c7bc14c595b363401588a713a87c02d/vllm_omni/entrypoints/openai/api_server.py</a:t>
            </a:r>
          </a:p>
          <a:p>
            <a:r>
              <a:rPr lang="zh-CN">
                <a:latin typeface="Noto Sans CJK SC"/>
                <a:ea typeface="Noto Sans CJK SC"/>
                <a:cs typeface="Noto Sans CJK SC"/>
              </a:rPr>
              <a:t>- stage_runtime.py: https://github.com/vllm-project/vllm-omni/blob/712b90de9c7bc14c595b363401588a713a87c02d/vllm_omni/engine/stage_runtime.py</a:t>
            </a:r>
          </a:p>
          <a:p>
            <a:r>
              <a:rPr lang="zh-CN">
                <a:latin typeface="Noto Sans CJK SC"/>
                <a:ea typeface="Noto Sans CJK SC"/>
                <a:cs typeface="Noto Sans CJK SC"/>
              </a:rP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参考代码按职责列出阅读入口：API 通信适配、EngineClient、通信与传输、会话运行时、Stage 编排和模型执行。先区分 command、控制操作结果与普通 session 输出，再对应到 Manager / Runner、StagePool、Scheduler 和 Model Worker。图中的类名与方法名保留英文，便于对应源码。</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本页承接体验对比，分别说明 MiniCPM 的模型决策路径和 Qwen3-Omni + VAD 的控制路径。</a:t>
            </a:r>
          </a:p>
          <a:p>
            <a:r>
              <a:t>MiniCPM 接收持续输入，由模型决定 LISTEN / SPEAK。LISTEN 不是 response.cancel，也不会清空客户端已排队的播放音频。时间线表示模型生成状态，已排队音频可能继续播放。</a:t>
            </a:r>
          </a:p>
          <a:p>
            <a:r>
              <a:t>Qwen3-Omni + VAD：首次用户语音结束并达到静音阈值后，VAD 自动 commit 并启动回复。播放期间用户再次发声，服务端按 overlap policy 取消当前生成，客户端停止并清理播放；这一段输入结束后再次 VAD commit，启动新的生成请求。</a:t>
            </a:r>
          </a:p>
          <a:p>
            <a:r>
              <a:t>显式 response.cancel 与 VAD 触发打断是两个入口。前者是客户端发送的 command，后者由服务端语音活动检测触发 overlap policy。二者复用底层取消逻辑，但 VAD 并不是发送了同一个 response.cancel 协议消息；输入缓冲的处理也可能不同。</a:t>
            </a:r>
          </a:p>
          <a:p>
            <a:r>
              <a:t>时间线对齐用于说明事件顺序，不比较实测延迟，不代表所有模型支持相同打断行为。</a:t>
            </a:r>
          </a:p>
          <a:p>
            <a:r>
              <a:t/>
            </a:r>
          </a:p>
          <a:p>
            <a:r>
              <a:t>Technical detail and source references</a:t>
            </a:r>
          </a:p>
          <a:p>
            <a:r>
              <a:t>The figure compares two execution paths using the same illustrative input. The output waveforms represent model-generated audio, not the precise time at which a device plays or stops it. The two output tracks are aligned to avoid suggesting a latency ranking or measured equality. Barge-in labels the user's overlapping speech; it is not the literal barge_in command in either illustrated path.</a:t>
            </a:r>
          </a:p>
          <a:p>
            <a:r>
              <a:t/>
            </a:r>
          </a:p>
          <a:p>
            <a:r>
              <a:t>MiniCPM-o 4.5 native example: the web profile continuously appends audio/video, enables auto_response, sends no commit messages, and does not enable Server VAD. The model chooses LISTEN / SPEAK as new chunks arrive. A model LISTEN is projected through the model-output path; it is not an automatic invocation of the runner's hard-cancel path. The web client's listen event changes model/interaction state without clearing the playback queue, so already queued audio can finish. The illustration shows one model choice to yield; the model may instead keep speaking. Later speech follows native continuation rather than a VAD commit. Explicit framework barge_in/cancel is a separate supported control mechanism for MiniCPM and is not depicted here.</a:t>
            </a:r>
          </a:p>
          <a:p>
            <a:r>
              <a:t/>
            </a:r>
          </a:p>
          <a:p>
            <a:r>
              <a:t>Qwen3-Omni + Server VAD example: the web profile keeps microphone upload enabled during playback, sets overlap_policy=barge_in_on_speech, and enables interrupt_response/create_response. VAD speech onset drives the runner overlap-cancellation path. The client's speech_started handling stops local playback and clears queued audio, including when server generation has already completed. After the configured silence threshold, VAD schedules commit and create_response. The plugin requires a committed turn and starts a fresh model request. This configuration does not wait for Qwen to autonomously decide whether to yield.</a:t>
            </a:r>
          </a:p>
          <a:p>
            <a:r>
              <a:t/>
            </a:r>
          </a:p>
          <a:p>
            <a:r>
              <a:t>Source snapshot: f3391da7c58ee8dc990829aab82166edf865d19b. The relevant runtime, plugin and web-profile files are unchanged from the preceding reviewed snapshot 4c5541cfc17143f80bdb89bbb7a5840b08bb52c6.</a:t>
            </a:r>
          </a:p>
          <a:p>
            <a:r>
              <a:t>Sources:</a:t>
            </a:r>
          </a:p>
          <a:p>
            <a:r>
              <a:t>https://github.com/vllm-project/vllm-omni/blob/f3391da7c58ee8dc990829aab82166edf865d19b/examples/online_serving/realtime_web/app/static/profiles/minicpm_native.js</a:t>
            </a:r>
          </a:p>
          <a:p>
            <a:r>
              <a:t>https://github.com/vllm-project/vllm-omni/blob/f3391da7c58ee8dc990829aab82166edf865d19b/examples/online_serving/realtime_web/app/static/profiles/qwen3_turn.js</a:t>
            </a:r>
          </a:p>
          <a:p>
            <a:r>
              <a:t>https://github.com/vllm-project/vllm-omni/blob/f3391da7c58ee8dc990829aab82166edf865d19b/examples/online_serving/realtime_web/app/static/app.js</a:t>
            </a:r>
          </a:p>
          <a:p>
            <a:r>
              <a:t>https://github.com/vllm-project/vllm-omni/blob/f3391da7c58ee8dc990829aab82166edf865d19b/vllm_omni/model_executor/models/minicpmo_4_5/duplex/capabilities.py</a:t>
            </a:r>
          </a:p>
          <a:p>
            <a:r>
              <a:t>https://github.com/vllm-project/vllm-omni/blob/f3391da7c58ee8dc990829aab82166edf865d19b/vllm_omni/model_executor/models/minicpmo_4_5/duplex/plugin.py</a:t>
            </a:r>
          </a:p>
          <a:p>
            <a:r>
              <a:t>https://github.com/vllm-project/vllm-omni/blob/f3391da7c58ee8dc990829aab82166edf865d19b/vllm_omni/model_executor/models/qwen3_omni/duplex/plugin.py</a:t>
            </a:r>
          </a:p>
          <a:p>
            <a:r>
              <a:t>https://github.com/vllm-project/vllm-omni/blob/f3391da7c58ee8dc990829aab82166edf865d19b/vllm_omni/engine/duplex/session/model_channel.py</a:t>
            </a:r>
          </a:p>
          <a:p>
            <a:r>
              <a:t>https://github.com/vllm-project/vllm-omni/blob/f3391da7c58ee8dc990829aab82166edf865d19b/vllm_omni/engine/duplex/session/overlap_policy.py</a:t>
            </a:r>
          </a:p>
          <a:p>
            <a:r>
              <a:t>https://github.com/vllm-project/vllm-omni/blob/f3391da7c58ee8dc990829aab82166edf865d19b/vllm_omni/engine/duplex/session/runner.py</a:t>
            </a:r>
          </a:p>
          <a:p>
            <a:r>
              <a:t>https://github.com/vllm-project/vllm-omni/blob/f3391da7c58ee8dc990829aab82166edf865d19b/vllm_omni/engine/duplex/vad.py</a:t>
            </a:r>
          </a:p>
          <a:p>
            <a:r>
              <a:t>https://github.com/vllm-project/vllm-omni/blob/4c5541cfc17143f80bdb89bbb7a5840b08bb52c6/vllm_omni/model_executor/models/qwen3_omni/duplex/plugin.py</a:t>
            </a:r>
          </a:p>
          <a:p>
            <a:r>
              <a:t>https://github.com/vllm-project/vllm-omni/blob/4c5541cfc17143f80bdb89bbb7a5840b08bb52c6/examples/online_serving/realtime_web/app/static/profiles/qwen3_turn.js</a:t>
            </a:r>
          </a:p>
          <a:p>
            <a:r>
              <a:t>https://github.com/vllm-project/vllm-omni/blob/4c5541cfc17143f80bdb89bbb7a5840b08bb52c6/vllm_omni/model_executor/models/minicpmo_4_5/duplex/plugin.py</a:t>
            </a:r>
          </a:p>
          <a:p>
            <a:r>
              <a:t>https://github.com/vllm-project/vllm-omni/blob/4c5541cfc17143f80bdb89bbb7a5840b08bb52c6/vllm_omni/model_executor/models/personaplex/duplex/capabilities.py</a:t>
            </a:r>
          </a:p>
          <a:p>
            <a:r>
              <a:t>https://github.com/vllm-project/vllm-omni/blob/712b90de9c7bc14c595b363401588a713a87c02d/vllm_omni/model_executor/models/minicpmo_4_5/duplex/capabilities.py</a:t>
            </a:r>
          </a:p>
          <a:p>
            <a:r>
              <a:t>https://github.com/vllm-project/vllm-omni/blob/712b90de9c7bc14c595b363401588a713a87c02d/vllm_omni/engine/duplex/session/runner.py</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a:p>
            <a:r>
              <a:t>VAD commit is shown for both Qwen turns. The first commit follows the initial user utterance and the configured silence threshold; create_response=true then starts the first model request. A later user interruption can cancel the old response, followed by a second VAD commit after that utterance and silence. No cancellation is implied for the initial turn when no assistant response exists. The commit markers are on the Qwen path only. Marker positions express event order, not measured silence durations or response latency. The current Qwen VAD web preset uses silence_duration_ms=500; this is configurable.</a:t>
            </a:r>
          </a:p>
          <a:p>
            <a:r>
              <a:t/>
            </a:r>
          </a:p>
          <a:p>
            <a:r>
              <a:t/>
            </a:r>
          </a:p>
          <a:p>
            <a:r>
              <a:t>VAD-triggered interruption names a behavior, not a protocol command. The runner handles VAD overlap with _barge_in_for_overlap and shares the core _cancel_active_response helper with explicit response.cancel. It does not synthesize a response.cancel wire message. Explicit response.cancel arrives as CancelResponse, is resolved, and enters _on_cancel. These paths also differ in input-buffer handling. Local playback stop is performed by the web client in response to speech-start/interruption events.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正文依次介绍全双工背景、交互方式与模型，vLLM-Omni 统一架构和执行流程，性能优化和评测指标，以及工具调用和演进方向。技术附录进一步展开架构与执行路径、VAD 与打断机制、会话生命周期与恢复、跨机部署；参考代码位于附录末尾。</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4c5541cfc17143f80bdb89bbb7a5840b08bb52c6/vllm_omni/entrypoints/duplex/serving.py" TargetMode="External"/><Relationship Id="rId5" Type="http://schemas.openxmlformats.org/officeDocument/2006/relationships/hyperlink" Target="https://github.com/vllm-project/vllm-omni/blob/4c5541cfc17143f80bdb89bbb7a5840b08bb52c6/vllm_omni/entrypoints/duplex_omni.py" TargetMode="External"/><Relationship Id="rId6" Type="http://schemas.openxmlformats.org/officeDocument/2006/relationships/hyperlink" Target="https://github.com/vllm-project/vllm-omni/blob/4c5541cfc17143f80bdb89bbb7a5840b08bb52c6/vllm_omni/engine/duplex_omni_engine.py" TargetMode="External"/><Relationship Id="rId7" Type="http://schemas.openxmlformats.org/officeDocument/2006/relationships/hyperlink" Target="https://github.com/vllm-project/vllm-omni/blob/4c5541cfc17143f80bdb89bbb7a5840b08bb52c6/vllm_omni/engine/duplex/session/runner.py" TargetMode="External"/><Relationship Id="rId8" Type="http://schemas.openxmlformats.org/officeDocument/2006/relationships/hyperlink" Target="https://github.com/vllm-project/vllm-omni/blob/4c5541cfc17143f80bdb89bbb7a5840b08bb52c6/vllm_omni/engine/duplex_orchestrator.py" TargetMode="External"/><Relationship Id="rId9" Type="http://schemas.openxmlformats.org/officeDocument/2006/relationships/hyperlink" Target="https://github.com/vllm-project/vllm-omni/blob/4c5541cfc17143f80bdb89bbb7a5840b08bb52c6/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4c5541cfc17143f80bdb89bbb7a5840b08bb52c6/vllm_omni/engine/duplex/delivery.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9.xml"/><Relationship Id="rId5" Type="http://schemas.openxmlformats.org/officeDocument/2006/relationships/image" Target="../media/image5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lang="zh-CN">
                <a:solidFill>
                  <a:srgbClr val="142B45"/>
                </a:solidFill>
                <a:latin typeface="Arial"/>
                <a:ea typeface="Arial"/>
                <a:cs typeface="Arial"/>
              </a:rPr>
              <a:t>The Next Inflection Point</a:t>
            </a:r>
          </a:p>
          <a:p>
            <a:pPr algn="l">
              <a:lnSpc>
                <a:spcPct val="110000"/>
              </a:lnSpc>
              <a:spcAft>
                <a:spcPts val="0"/>
              </a:spcAft>
            </a:pPr>
            <a:r>
              <a:rPr sz="4400" b="1" lang="zh-CN">
                <a:solidFill>
                  <a:srgbClr val="008E96"/>
                </a:solidFill>
                <a:latin typeface="Arial"/>
                <a:ea typeface="Arial"/>
                <a:cs typeface="Arial"/>
              </a:rPr>
              <a:t>in SI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lang="zh-CN">
                <a:solidFill>
                  <a:srgbClr val="586B7E"/>
                </a:solidFill>
                <a:latin typeface="Arial"/>
                <a:ea typeface="Arial"/>
                <a:cs typeface="Arial"/>
              </a:rPr>
              <a:t>How vLLM-Omni Enables Models to</a:t>
            </a:r>
          </a:p>
          <a:p>
            <a:pPr algn="l">
              <a:lnSpc>
                <a:spcPct val="110000"/>
              </a:lnSpc>
              <a:spcAft>
                <a:spcPts val="0"/>
              </a:spcAft>
            </a:pPr>
            <a:r>
              <a:rPr sz="2400" b="1" lang="zh-CN">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社区共建</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双工，与社区共同构建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lang="zh-CN">
                <a:solidFill>
                  <a:srgbClr val="586B7E"/>
                </a:solidFill>
                <a:latin typeface="Noto Sans CJK SC"/>
                <a:ea typeface="Noto Sans CJK SC"/>
                <a:cs typeface="Noto Sans CJK SC"/>
              </a:rPr>
              <a:t>致谢 60+ 贡献者 · 160+ 相关 PR 已合入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13</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586B7E"/>
                </a:solidFill>
                <a:latin typeface="Noto Sans CJK SC"/>
                <a:ea typeface="Noto Sans CJK SC"/>
                <a:cs typeface="Noto Sans CJK SC"/>
              </a:rPr>
              <a:t>代表性已合入 PR</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截至 2026 年 10 月 7 日</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Native duplex 运行时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Unified duplex 框架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Qwen3-Omni 接入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AURA 接入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取消后丢弃待发音频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全双工"/>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Noto Sans CJK SC"/>
                <a:ea typeface="Noto Sans CJK SC"/>
                <a:cs typeface="Noto Sans CJK SC"/>
              </a:rPr>
              <a:t>全双工</a:t>
            </a:r>
          </a:p>
        </p:txBody>
      </p:sp>
      <p:sp>
        <p:nvSpPr>
          <p:cNvPr id="5" name="体验与交互方式"/>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Noto Sans CJK SC"/>
                <a:ea typeface="Noto Sans CJK SC"/>
                <a:cs typeface="Noto Sans CJK SC"/>
              </a:rPr>
              <a:t>体验与交互方式</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vLLM-Omni  /  实时音视频会话"/>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Noto Sans CJK SC"/>
                <a:ea typeface="Noto Sans CJK SC"/>
                <a:cs typeface="Noto Sans CJK SC"/>
              </a:rPr>
              <a:t>vLLM-Omni  /  实时音视频会话</a:t>
            </a:r>
          </a:p>
        </p:txBody>
      </p:sp>
      <p:sp>
        <p:nvSpPr>
          <p:cNvPr id="8" name="2026 年 10 月"/>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13</a:t>
            </a:r>
          </a:p>
        </p:txBody>
      </p:sp>
      <p:sp>
        <p:nvSpPr>
          <p:cNvPr id="500" name="从半双工到全双工交互"/>
          <p:cNvSpPr txBox="1"/>
          <p:nvPr/>
        </p:nvSpPr>
        <p:spPr>
          <a:xfrm>
            <a:off x="548640" y="1005840"/>
            <a:ext cx="11082528" cy="576072"/>
          </a:xfrm>
          <a:prstGeom prst="rect">
            <a:avLst/>
          </a:prstGeom>
          <a:noFill/>
        </p:spPr>
        <p:txBody>
          <a:bodyPr wrap="square" lIns="0" rIns="0" tIns="0" bIns="0" anchor="t">
            <a:spAutoFit/>
          </a:bodyPr>
          <a:lstStyle/>
          <a:p>
            <a:pPr algn="l">
              <a:lnSpc>
                <a:spcPct val="110000"/>
              </a:lnSpc>
              <a:spcAft>
                <a:spcPts val="0"/>
              </a:spcAft>
            </a:pPr>
            <a:r>
              <a:rPr sz="3150" b="1">
                <a:solidFill>
                  <a:srgbClr val="16304E"/>
                </a:solidFill>
                <a:latin typeface="Noto Sans CJK SC"/>
                <a:ea typeface="Noto Sans CJK SC"/>
                <a:cs typeface="Noto Sans CJK SC"/>
              </a:rPr>
              <a:t>从半双工到全双工交互</a:t>
            </a:r>
          </a:p>
        </p:txBody>
      </p:sp>
      <p:sp>
        <p:nvSpPr>
          <p:cNvPr id="501" name="Half-duplex timeline"/>
          <p:cNvSpPr/>
          <p:nvPr/>
        </p:nvSpPr>
        <p:spPr>
          <a:xfrm>
            <a:off x="54864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2" name="半双工"/>
          <p:cNvSpPr txBox="1"/>
          <p:nvPr/>
        </p:nvSpPr>
        <p:spPr>
          <a:xfrm>
            <a:off x="84124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Noto Sans CJK SC"/>
                <a:ea typeface="Noto Sans CJK SC"/>
                <a:cs typeface="Noto Sans CJK SC"/>
              </a:rPr>
              <a:t>半双工</a:t>
            </a:r>
          </a:p>
        </p:txBody>
      </p:sp>
      <p:sp>
        <p:nvSpPr>
          <p:cNvPr id="503" name="轮流发言"/>
          <p:cNvSpPr txBox="1"/>
          <p:nvPr/>
        </p:nvSpPr>
        <p:spPr>
          <a:xfrm>
            <a:off x="85039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Noto Sans CJK SC"/>
                <a:ea typeface="Noto Sans CJK SC"/>
                <a:cs typeface="Noto Sans CJK SC"/>
              </a:rPr>
              <a:t>轮流发言</a:t>
            </a:r>
          </a:p>
        </p:txBody>
      </p:sp>
      <p:sp>
        <p:nvSpPr>
          <p:cNvPr id="504" name="摄像头"/>
          <p:cNvSpPr txBox="1"/>
          <p:nvPr/>
        </p:nvSpPr>
        <p:spPr>
          <a:xfrm>
            <a:off x="85039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Noto Sans CJK SC"/>
                <a:ea typeface="Noto Sans CJK SC"/>
                <a:cs typeface="Noto Sans CJK SC"/>
              </a:rPr>
              <a:t>摄像头</a:t>
            </a:r>
          </a:p>
        </p:txBody>
      </p:sp>
      <p:sp>
        <p:nvSpPr>
          <p:cNvPr id="505" name="用户"/>
          <p:cNvSpPr txBox="1"/>
          <p:nvPr/>
        </p:nvSpPr>
        <p:spPr>
          <a:xfrm>
            <a:off x="85039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Noto Sans CJK SC"/>
                <a:ea typeface="Noto Sans CJK SC"/>
                <a:cs typeface="Noto Sans CJK SC"/>
              </a:rPr>
              <a:t>用户</a:t>
            </a:r>
          </a:p>
        </p:txBody>
      </p:sp>
      <p:sp>
        <p:nvSpPr>
          <p:cNvPr id="506" name="助手"/>
          <p:cNvSpPr txBox="1"/>
          <p:nvPr/>
        </p:nvSpPr>
        <p:spPr>
          <a:xfrm>
            <a:off x="85039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Noto Sans CJK SC"/>
                <a:ea typeface="Noto Sans CJK SC"/>
                <a:cs typeface="Noto Sans CJK SC"/>
              </a:rPr>
              <a:t>助手</a:t>
            </a:r>
          </a:p>
        </p:txBody>
      </p:sp>
      <p:cxnSp>
        <p:nvCxnSpPr>
          <p:cNvPr id="507" name="Shared time axis"/>
          <p:cNvCxnSpPr/>
          <p:nvPr/>
        </p:nvCxnSpPr>
        <p:spPr>
          <a:xfrm>
            <a:off x="173736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08" name="Shared time axis"/>
          <p:cNvCxnSpPr/>
          <p:nvPr/>
        </p:nvCxnSpPr>
        <p:spPr>
          <a:xfrm>
            <a:off x="173736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509" name="Full-duplex timeline"/>
          <p:cNvSpPr/>
          <p:nvPr/>
        </p:nvSpPr>
        <p:spPr>
          <a:xfrm>
            <a:off x="6309360" y="1828800"/>
            <a:ext cx="5321808" cy="2615184"/>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0" name="全双工"/>
          <p:cNvSpPr txBox="1"/>
          <p:nvPr/>
        </p:nvSpPr>
        <p:spPr>
          <a:xfrm>
            <a:off x="6601968" y="1975104"/>
            <a:ext cx="4709160" cy="338328"/>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Noto Sans CJK SC"/>
                <a:ea typeface="Noto Sans CJK SC"/>
                <a:cs typeface="Noto Sans CJK SC"/>
              </a:rPr>
              <a:t>全双工</a:t>
            </a:r>
          </a:p>
        </p:txBody>
      </p:sp>
      <p:sp>
        <p:nvSpPr>
          <p:cNvPr id="511" name="边听边说"/>
          <p:cNvSpPr txBox="1"/>
          <p:nvPr/>
        </p:nvSpPr>
        <p:spPr>
          <a:xfrm>
            <a:off x="6611112" y="2368296"/>
            <a:ext cx="4681728" cy="246888"/>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Noto Sans CJK SC"/>
                <a:ea typeface="Noto Sans CJK SC"/>
                <a:cs typeface="Noto Sans CJK SC"/>
              </a:rPr>
              <a:t>边听边说</a:t>
            </a:r>
          </a:p>
        </p:txBody>
      </p:sp>
      <p:sp>
        <p:nvSpPr>
          <p:cNvPr id="512" name="摄像头"/>
          <p:cNvSpPr txBox="1"/>
          <p:nvPr/>
        </p:nvSpPr>
        <p:spPr>
          <a:xfrm>
            <a:off x="6611112" y="2752344"/>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FCAE7"/>
                </a:solidFill>
                <a:latin typeface="Noto Sans CJK SC"/>
                <a:ea typeface="Noto Sans CJK SC"/>
                <a:cs typeface="Noto Sans CJK SC"/>
              </a:rPr>
              <a:t>摄像头</a:t>
            </a:r>
          </a:p>
        </p:txBody>
      </p:sp>
      <p:sp>
        <p:nvSpPr>
          <p:cNvPr id="513" name="用户"/>
          <p:cNvSpPr txBox="1"/>
          <p:nvPr/>
        </p:nvSpPr>
        <p:spPr>
          <a:xfrm>
            <a:off x="6611112" y="3227832"/>
            <a:ext cx="786384" cy="219456"/>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Noto Sans CJK SC"/>
                <a:ea typeface="Noto Sans CJK SC"/>
                <a:cs typeface="Noto Sans CJK SC"/>
              </a:rPr>
              <a:t>用户</a:t>
            </a:r>
          </a:p>
        </p:txBody>
      </p:sp>
      <p:sp>
        <p:nvSpPr>
          <p:cNvPr id="514" name="助手"/>
          <p:cNvSpPr txBox="1"/>
          <p:nvPr/>
        </p:nvSpPr>
        <p:spPr>
          <a:xfrm>
            <a:off x="6611112" y="3822192"/>
            <a:ext cx="786384" cy="219456"/>
          </a:xfrm>
          <a:prstGeom prst="rect">
            <a:avLst/>
          </a:prstGeom>
          <a:noFill/>
        </p:spPr>
        <p:txBody>
          <a:bodyPr wrap="square" lIns="0" rIns="0" tIns="0" bIns="0" anchor="t">
            <a:spAutoFit/>
          </a:bodyPr>
          <a:lstStyle/>
          <a:p>
            <a:pPr algn="l">
              <a:lnSpc>
                <a:spcPct val="110000"/>
              </a:lnSpc>
              <a:spcAft>
                <a:spcPts val="0"/>
              </a:spcAft>
            </a:pPr>
            <a:r>
              <a:rPr sz="1150" b="0">
                <a:solidFill>
                  <a:srgbClr val="A9E5DF"/>
                </a:solidFill>
                <a:latin typeface="Noto Sans CJK SC"/>
                <a:ea typeface="Noto Sans CJK SC"/>
                <a:cs typeface="Noto Sans CJK SC"/>
              </a:rPr>
              <a:t>助手</a:t>
            </a:r>
          </a:p>
        </p:txBody>
      </p:sp>
      <p:cxnSp>
        <p:nvCxnSpPr>
          <p:cNvPr id="515" name="Shared time axis"/>
          <p:cNvCxnSpPr/>
          <p:nvPr/>
        </p:nvCxnSpPr>
        <p:spPr>
          <a:xfrm>
            <a:off x="7498080" y="334670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516" name="Shared time axis"/>
          <p:cNvCxnSpPr/>
          <p:nvPr/>
        </p:nvCxnSpPr>
        <p:spPr>
          <a:xfrm>
            <a:off x="7498080" y="3941064"/>
            <a:ext cx="3749040"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pic>
        <p:nvPicPr>
          <p:cNvPr id="517"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1810512" y="2697480"/>
            <a:ext cx="310896" cy="320040"/>
          </a:xfrm>
          <a:prstGeom prst="rect">
            <a:avLst/>
          </a:prstGeom>
        </p:spPr>
      </p:pic>
      <p:pic>
        <p:nvPicPr>
          <p:cNvPr id="518"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2313432" y="2697480"/>
            <a:ext cx="310896" cy="320040"/>
          </a:xfrm>
          <a:prstGeom prst="rect">
            <a:avLst/>
          </a:prstGeom>
        </p:spPr>
      </p:pic>
      <p:pic>
        <p:nvPicPr>
          <p:cNvPr id="519"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3941064" y="2697480"/>
            <a:ext cx="310896" cy="320040"/>
          </a:xfrm>
          <a:prstGeom prst="rect">
            <a:avLst/>
          </a:prstGeom>
        </p:spPr>
      </p:pic>
      <p:pic>
        <p:nvPicPr>
          <p:cNvPr id="520"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4315968" y="2697480"/>
            <a:ext cx="310896" cy="320040"/>
          </a:xfrm>
          <a:prstGeom prst="rect">
            <a:avLst/>
          </a:prstGeom>
        </p:spPr>
      </p:pic>
      <p:sp>
        <p:nvSpPr>
          <p:cNvPr id="521" name="Half-duplex user turn 1"/>
          <p:cNvSpPr/>
          <p:nvPr/>
        </p:nvSpPr>
        <p:spPr>
          <a:xfrm>
            <a:off x="181051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2" name="Half-duplex user turn 1"/>
          <p:cNvSpPr/>
          <p:nvPr/>
        </p:nvSpPr>
        <p:spPr>
          <a:xfrm>
            <a:off x="188442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3" name="Half-duplex user turn 1"/>
          <p:cNvSpPr/>
          <p:nvPr/>
        </p:nvSpPr>
        <p:spPr>
          <a:xfrm>
            <a:off x="195834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4" name="Half-duplex user turn 1"/>
          <p:cNvSpPr/>
          <p:nvPr/>
        </p:nvSpPr>
        <p:spPr>
          <a:xfrm>
            <a:off x="20322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5" name="Half-duplex user turn 1"/>
          <p:cNvSpPr/>
          <p:nvPr/>
        </p:nvSpPr>
        <p:spPr>
          <a:xfrm>
            <a:off x="210616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6" name="Half-duplex user turn 1"/>
          <p:cNvSpPr/>
          <p:nvPr/>
        </p:nvSpPr>
        <p:spPr>
          <a:xfrm>
            <a:off x="218008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7" name="Half-duplex user turn 1"/>
          <p:cNvSpPr/>
          <p:nvPr/>
        </p:nvSpPr>
        <p:spPr>
          <a:xfrm>
            <a:off x="225399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8" name="Half-duplex user turn 1"/>
          <p:cNvSpPr/>
          <p:nvPr/>
        </p:nvSpPr>
        <p:spPr>
          <a:xfrm>
            <a:off x="232791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9" name="Half-duplex user turn 1"/>
          <p:cNvSpPr/>
          <p:nvPr/>
        </p:nvSpPr>
        <p:spPr>
          <a:xfrm>
            <a:off x="240182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0" name="Half-duplex user turn 1"/>
          <p:cNvSpPr/>
          <p:nvPr/>
        </p:nvSpPr>
        <p:spPr>
          <a:xfrm>
            <a:off x="247573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1" name="Half-duplex user turn 1"/>
          <p:cNvSpPr/>
          <p:nvPr/>
        </p:nvSpPr>
        <p:spPr>
          <a:xfrm>
            <a:off x="254965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2" name="Half-duplex user turn 1"/>
          <p:cNvSpPr/>
          <p:nvPr/>
        </p:nvSpPr>
        <p:spPr>
          <a:xfrm>
            <a:off x="262356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3" name="Half-duplex user turn 1"/>
          <p:cNvSpPr/>
          <p:nvPr/>
        </p:nvSpPr>
        <p:spPr>
          <a:xfrm>
            <a:off x="269748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4" name="Half-duplex assistant turn 1"/>
          <p:cNvSpPr/>
          <p:nvPr/>
        </p:nvSpPr>
        <p:spPr>
          <a:xfrm>
            <a:off x="283464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5" name="Half-duplex assistant turn 1"/>
          <p:cNvSpPr/>
          <p:nvPr/>
        </p:nvSpPr>
        <p:spPr>
          <a:xfrm>
            <a:off x="2909199"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6" name="Half-duplex assistant turn 1"/>
          <p:cNvSpPr/>
          <p:nvPr/>
        </p:nvSpPr>
        <p:spPr>
          <a:xfrm>
            <a:off x="2983758"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7" name="Half-duplex assistant turn 1"/>
          <p:cNvSpPr/>
          <p:nvPr/>
        </p:nvSpPr>
        <p:spPr>
          <a:xfrm>
            <a:off x="3058316"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8" name="Half-duplex assistant turn 1"/>
          <p:cNvSpPr/>
          <p:nvPr/>
        </p:nvSpPr>
        <p:spPr>
          <a:xfrm>
            <a:off x="3132875"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9" name="Half-duplex assistant turn 1"/>
          <p:cNvSpPr/>
          <p:nvPr/>
        </p:nvSpPr>
        <p:spPr>
          <a:xfrm>
            <a:off x="320743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0" name="Half-duplex assistant turn 1"/>
          <p:cNvSpPr/>
          <p:nvPr/>
        </p:nvSpPr>
        <p:spPr>
          <a:xfrm>
            <a:off x="3281993"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1" name="Half-duplex assistant turn 1"/>
          <p:cNvSpPr/>
          <p:nvPr/>
        </p:nvSpPr>
        <p:spPr>
          <a:xfrm>
            <a:off x="3356551"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2" name="Half-duplex assistant turn 1"/>
          <p:cNvSpPr/>
          <p:nvPr/>
        </p:nvSpPr>
        <p:spPr>
          <a:xfrm>
            <a:off x="3431110"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3" name="Half-duplex assistant turn 1"/>
          <p:cNvSpPr/>
          <p:nvPr/>
        </p:nvSpPr>
        <p:spPr>
          <a:xfrm>
            <a:off x="3505669"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4" name="Half-duplex assistant turn 1"/>
          <p:cNvSpPr/>
          <p:nvPr/>
        </p:nvSpPr>
        <p:spPr>
          <a:xfrm>
            <a:off x="3580228"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5" name="Half-duplex assistant turn 1"/>
          <p:cNvSpPr/>
          <p:nvPr/>
        </p:nvSpPr>
        <p:spPr>
          <a:xfrm>
            <a:off x="3654786"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6" name="Half-duplex assistant turn 1"/>
          <p:cNvSpPr/>
          <p:nvPr/>
        </p:nvSpPr>
        <p:spPr>
          <a:xfrm>
            <a:off x="3729345"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7" name="Half-duplex assistant turn 1"/>
          <p:cNvSpPr/>
          <p:nvPr/>
        </p:nvSpPr>
        <p:spPr>
          <a:xfrm>
            <a:off x="380390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8" name="Half-duplex user turn 2"/>
          <p:cNvSpPr/>
          <p:nvPr/>
        </p:nvSpPr>
        <p:spPr>
          <a:xfrm>
            <a:off x="3941064"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9" name="Half-duplex user turn 2"/>
          <p:cNvSpPr/>
          <p:nvPr/>
        </p:nvSpPr>
        <p:spPr>
          <a:xfrm>
            <a:off x="4016248"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0" name="Half-duplex user turn 2"/>
          <p:cNvSpPr/>
          <p:nvPr/>
        </p:nvSpPr>
        <p:spPr>
          <a:xfrm>
            <a:off x="4091432"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1" name="Half-duplex user turn 2"/>
          <p:cNvSpPr/>
          <p:nvPr/>
        </p:nvSpPr>
        <p:spPr>
          <a:xfrm>
            <a:off x="416661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2" name="Half-duplex user turn 2"/>
          <p:cNvSpPr/>
          <p:nvPr/>
        </p:nvSpPr>
        <p:spPr>
          <a:xfrm>
            <a:off x="4241800"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3" name="Half-duplex user turn 2"/>
          <p:cNvSpPr/>
          <p:nvPr/>
        </p:nvSpPr>
        <p:spPr>
          <a:xfrm>
            <a:off x="43169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4" name="Half-duplex user turn 2"/>
          <p:cNvSpPr/>
          <p:nvPr/>
        </p:nvSpPr>
        <p:spPr>
          <a:xfrm>
            <a:off x="4392168"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5" name="Half-duplex user turn 2"/>
          <p:cNvSpPr/>
          <p:nvPr/>
        </p:nvSpPr>
        <p:spPr>
          <a:xfrm>
            <a:off x="4467352"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6" name="Half-duplex user turn 2"/>
          <p:cNvSpPr/>
          <p:nvPr/>
        </p:nvSpPr>
        <p:spPr>
          <a:xfrm>
            <a:off x="4542536"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7" name="Half-duplex user turn 2"/>
          <p:cNvSpPr/>
          <p:nvPr/>
        </p:nvSpPr>
        <p:spPr>
          <a:xfrm>
            <a:off x="4617720"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8" name="Half-duplex assistant turn 2"/>
          <p:cNvSpPr/>
          <p:nvPr/>
        </p:nvSpPr>
        <p:spPr>
          <a:xfrm>
            <a:off x="475488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9" name="Half-duplex assistant turn 2"/>
          <p:cNvSpPr/>
          <p:nvPr/>
        </p:nvSpPr>
        <p:spPr>
          <a:xfrm>
            <a:off x="4834128"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0" name="Half-duplex assistant turn 2"/>
          <p:cNvSpPr/>
          <p:nvPr/>
        </p:nvSpPr>
        <p:spPr>
          <a:xfrm>
            <a:off x="491337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1" name="Half-duplex assistant turn 2"/>
          <p:cNvSpPr/>
          <p:nvPr/>
        </p:nvSpPr>
        <p:spPr>
          <a:xfrm>
            <a:off x="4992624"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2" name="Half-duplex assistant turn 2"/>
          <p:cNvSpPr/>
          <p:nvPr/>
        </p:nvSpPr>
        <p:spPr>
          <a:xfrm>
            <a:off x="507187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3" name="Half-duplex assistant turn 2"/>
          <p:cNvSpPr/>
          <p:nvPr/>
        </p:nvSpPr>
        <p:spPr>
          <a:xfrm>
            <a:off x="5151120"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4" name="Half-duplex assistant turn 2"/>
          <p:cNvSpPr/>
          <p:nvPr/>
        </p:nvSpPr>
        <p:spPr>
          <a:xfrm>
            <a:off x="5230368"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5" name="Half-duplex assistant turn 2"/>
          <p:cNvSpPr/>
          <p:nvPr/>
        </p:nvSpPr>
        <p:spPr>
          <a:xfrm>
            <a:off x="530961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6" name="Half-duplex assistant turn 2"/>
          <p:cNvSpPr/>
          <p:nvPr/>
        </p:nvSpPr>
        <p:spPr>
          <a:xfrm>
            <a:off x="5388864"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7" name="Half-duplex assistant turn 2"/>
          <p:cNvSpPr/>
          <p:nvPr/>
        </p:nvSpPr>
        <p:spPr>
          <a:xfrm>
            <a:off x="5468112"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68" name="Camera input frame"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516368" y="2697480"/>
            <a:ext cx="356616" cy="320040"/>
          </a:xfrm>
          <a:prstGeom prst="rect">
            <a:avLst/>
          </a:prstGeom>
        </p:spPr>
      </p:pic>
      <p:pic>
        <p:nvPicPr>
          <p:cNvPr id="569" name="Camera input frame"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046720" y="2697480"/>
            <a:ext cx="356616" cy="320040"/>
          </a:xfrm>
          <a:prstGeom prst="rect">
            <a:avLst/>
          </a:prstGeom>
        </p:spPr>
      </p:pic>
      <p:pic>
        <p:nvPicPr>
          <p:cNvPr id="570" name="Camera input frame"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577072" y="2697480"/>
            <a:ext cx="356616" cy="320040"/>
          </a:xfrm>
          <a:prstGeom prst="rect">
            <a:avLst/>
          </a:prstGeom>
        </p:spPr>
      </p:pic>
      <p:pic>
        <p:nvPicPr>
          <p:cNvPr id="571" name="Camera input frame"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107424" y="2697480"/>
            <a:ext cx="356616" cy="320040"/>
          </a:xfrm>
          <a:prstGeom prst="rect">
            <a:avLst/>
          </a:prstGeom>
        </p:spPr>
      </p:pic>
      <p:pic>
        <p:nvPicPr>
          <p:cNvPr id="572" name="Camera input frame"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637776" y="2697480"/>
            <a:ext cx="356616" cy="320040"/>
          </a:xfrm>
          <a:prstGeom prst="rect">
            <a:avLst/>
          </a:prstGeom>
        </p:spPr>
      </p:pic>
      <p:pic>
        <p:nvPicPr>
          <p:cNvPr id="573" name="Camera input frame"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168128" y="2697480"/>
            <a:ext cx="356616" cy="320040"/>
          </a:xfrm>
          <a:prstGeom prst="rect">
            <a:avLst/>
          </a:prstGeom>
        </p:spPr>
      </p:pic>
      <p:pic>
        <p:nvPicPr>
          <p:cNvPr id="574" name="Camera input frame"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698480" y="2697480"/>
            <a:ext cx="356616" cy="320040"/>
          </a:xfrm>
          <a:prstGeom prst="rect">
            <a:avLst/>
          </a:prstGeom>
        </p:spPr>
      </p:pic>
      <p:sp>
        <p:nvSpPr>
          <p:cNvPr id="575" name="Full-duplex initial user turn"/>
          <p:cNvSpPr/>
          <p:nvPr/>
        </p:nvSpPr>
        <p:spPr>
          <a:xfrm>
            <a:off x="757123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6" name="Full-duplex initial user turn"/>
          <p:cNvSpPr/>
          <p:nvPr/>
        </p:nvSpPr>
        <p:spPr>
          <a:xfrm>
            <a:off x="764514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7" name="Full-duplex initial user turn"/>
          <p:cNvSpPr/>
          <p:nvPr/>
        </p:nvSpPr>
        <p:spPr>
          <a:xfrm>
            <a:off x="771906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8" name="Full-duplex initial user turn"/>
          <p:cNvSpPr/>
          <p:nvPr/>
        </p:nvSpPr>
        <p:spPr>
          <a:xfrm>
            <a:off x="779297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9" name="Full-duplex initial user turn"/>
          <p:cNvSpPr/>
          <p:nvPr/>
        </p:nvSpPr>
        <p:spPr>
          <a:xfrm>
            <a:off x="7866888"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0" name="Full-duplex initial user turn"/>
          <p:cNvSpPr/>
          <p:nvPr/>
        </p:nvSpPr>
        <p:spPr>
          <a:xfrm>
            <a:off x="794080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1" name="Full-duplex initial user turn"/>
          <p:cNvSpPr/>
          <p:nvPr/>
        </p:nvSpPr>
        <p:spPr>
          <a:xfrm>
            <a:off x="8014716"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2" name="Full-duplex initial user turn"/>
          <p:cNvSpPr/>
          <p:nvPr/>
        </p:nvSpPr>
        <p:spPr>
          <a:xfrm>
            <a:off x="80886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3" name="Full-duplex initial user turn"/>
          <p:cNvSpPr/>
          <p:nvPr/>
        </p:nvSpPr>
        <p:spPr>
          <a:xfrm>
            <a:off x="8162544"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4" name="Full-duplex initial user turn"/>
          <p:cNvSpPr/>
          <p:nvPr/>
        </p:nvSpPr>
        <p:spPr>
          <a:xfrm>
            <a:off x="8236458"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5" name="Full-duplex initial user turn"/>
          <p:cNvSpPr/>
          <p:nvPr/>
        </p:nvSpPr>
        <p:spPr>
          <a:xfrm>
            <a:off x="8310372"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6" name="Full-duplex initial user turn"/>
          <p:cNvSpPr/>
          <p:nvPr/>
        </p:nvSpPr>
        <p:spPr>
          <a:xfrm>
            <a:off x="8384286"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7" name="Full-duplex initial user turn"/>
          <p:cNvSpPr/>
          <p:nvPr/>
        </p:nvSpPr>
        <p:spPr>
          <a:xfrm>
            <a:off x="8458200"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8" name="Full-duplex user interjection"/>
          <p:cNvSpPr/>
          <p:nvPr/>
        </p:nvSpPr>
        <p:spPr>
          <a:xfrm>
            <a:off x="9226296"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9" name="Full-duplex user interjection"/>
          <p:cNvSpPr/>
          <p:nvPr/>
        </p:nvSpPr>
        <p:spPr>
          <a:xfrm>
            <a:off x="9303715"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0" name="Full-duplex user interjection"/>
          <p:cNvSpPr/>
          <p:nvPr/>
        </p:nvSpPr>
        <p:spPr>
          <a:xfrm>
            <a:off x="9381134"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1" name="Full-duplex user interjection"/>
          <p:cNvSpPr/>
          <p:nvPr/>
        </p:nvSpPr>
        <p:spPr>
          <a:xfrm>
            <a:off x="9458554"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2" name="Full-duplex user interjection"/>
          <p:cNvSpPr/>
          <p:nvPr/>
        </p:nvSpPr>
        <p:spPr>
          <a:xfrm>
            <a:off x="9535973"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3" name="Full-duplex user interjection"/>
          <p:cNvSpPr/>
          <p:nvPr/>
        </p:nvSpPr>
        <p:spPr>
          <a:xfrm>
            <a:off x="9613392"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4" name="Full-duplex user interjection"/>
          <p:cNvSpPr/>
          <p:nvPr/>
        </p:nvSpPr>
        <p:spPr>
          <a:xfrm>
            <a:off x="9690811" y="3218688"/>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5" name="Full-duplex user interjection"/>
          <p:cNvSpPr/>
          <p:nvPr/>
        </p:nvSpPr>
        <p:spPr>
          <a:xfrm>
            <a:off x="9768230" y="3273552"/>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6" name="Full-duplex user interjection"/>
          <p:cNvSpPr/>
          <p:nvPr/>
        </p:nvSpPr>
        <p:spPr>
          <a:xfrm>
            <a:off x="9845650" y="3246120"/>
            <a:ext cx="22860" cy="20116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7" name="Full-duplex user interjection"/>
          <p:cNvSpPr/>
          <p:nvPr/>
        </p:nvSpPr>
        <p:spPr>
          <a:xfrm>
            <a:off x="9923069" y="3264408"/>
            <a:ext cx="22860" cy="16459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8" name="Full-duplex user interjection"/>
          <p:cNvSpPr/>
          <p:nvPr/>
        </p:nvSpPr>
        <p:spPr>
          <a:xfrm>
            <a:off x="10000488" y="3241548"/>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9" name="Full-duplex user interjection"/>
          <p:cNvSpPr/>
          <p:nvPr/>
        </p:nvSpPr>
        <p:spPr>
          <a:xfrm>
            <a:off x="10077907" y="3268980"/>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0" name="Full-duplex user interjection"/>
          <p:cNvSpPr/>
          <p:nvPr/>
        </p:nvSpPr>
        <p:spPr>
          <a:xfrm>
            <a:off x="10155326" y="3214116"/>
            <a:ext cx="22860" cy="2651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1" name="Full-duplex user interjection"/>
          <p:cNvSpPr/>
          <p:nvPr/>
        </p:nvSpPr>
        <p:spPr>
          <a:xfrm>
            <a:off x="10232746" y="3259836"/>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2" name="Full-duplex user interjection"/>
          <p:cNvSpPr/>
          <p:nvPr/>
        </p:nvSpPr>
        <p:spPr>
          <a:xfrm>
            <a:off x="10310165" y="3287268"/>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3" name="Full-duplex user interjection"/>
          <p:cNvSpPr/>
          <p:nvPr/>
        </p:nvSpPr>
        <p:spPr>
          <a:xfrm>
            <a:off x="10387584" y="3236976"/>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4" name="Full-duplex output receives new input"/>
          <p:cNvSpPr/>
          <p:nvPr/>
        </p:nvSpPr>
        <p:spPr>
          <a:xfrm>
            <a:off x="8595360"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5" name="Full-duplex output receives new input"/>
          <p:cNvSpPr/>
          <p:nvPr/>
        </p:nvSpPr>
        <p:spPr>
          <a:xfrm>
            <a:off x="8669165"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6" name="Full-duplex output receives new input"/>
          <p:cNvSpPr/>
          <p:nvPr/>
        </p:nvSpPr>
        <p:spPr>
          <a:xfrm>
            <a:off x="8742970"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7" name="Full-duplex output receives new input"/>
          <p:cNvSpPr/>
          <p:nvPr/>
        </p:nvSpPr>
        <p:spPr>
          <a:xfrm>
            <a:off x="8816775"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8" name="Full-duplex output receives new input"/>
          <p:cNvSpPr/>
          <p:nvPr/>
        </p:nvSpPr>
        <p:spPr>
          <a:xfrm>
            <a:off x="8890581"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9" name="Full-duplex output receives new input"/>
          <p:cNvSpPr/>
          <p:nvPr/>
        </p:nvSpPr>
        <p:spPr>
          <a:xfrm>
            <a:off x="8964386"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0" name="Full-duplex output receives new input"/>
          <p:cNvSpPr/>
          <p:nvPr/>
        </p:nvSpPr>
        <p:spPr>
          <a:xfrm>
            <a:off x="9038191"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1" name="Full-duplex output receives new input"/>
          <p:cNvSpPr/>
          <p:nvPr/>
        </p:nvSpPr>
        <p:spPr>
          <a:xfrm>
            <a:off x="911199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2" name="Full-duplex output receives new input"/>
          <p:cNvSpPr/>
          <p:nvPr/>
        </p:nvSpPr>
        <p:spPr>
          <a:xfrm>
            <a:off x="9185801"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3" name="Full-duplex output receives new input"/>
          <p:cNvSpPr/>
          <p:nvPr/>
        </p:nvSpPr>
        <p:spPr>
          <a:xfrm>
            <a:off x="9259606" y="3858768"/>
            <a:ext cx="22860" cy="16459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4" name="Full-duplex output receives new input"/>
          <p:cNvSpPr/>
          <p:nvPr/>
        </p:nvSpPr>
        <p:spPr>
          <a:xfrm>
            <a:off x="9333411"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5" name="Full-duplex output receives new input"/>
          <p:cNvSpPr/>
          <p:nvPr/>
        </p:nvSpPr>
        <p:spPr>
          <a:xfrm>
            <a:off x="9407217"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6" name="Full-duplex output receives new input"/>
          <p:cNvSpPr/>
          <p:nvPr/>
        </p:nvSpPr>
        <p:spPr>
          <a:xfrm>
            <a:off x="9481022"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7" name="Full-duplex output receives new input"/>
          <p:cNvSpPr/>
          <p:nvPr/>
        </p:nvSpPr>
        <p:spPr>
          <a:xfrm>
            <a:off x="9554827"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8" name="Full-duplex output receives new input"/>
          <p:cNvSpPr/>
          <p:nvPr/>
        </p:nvSpPr>
        <p:spPr>
          <a:xfrm>
            <a:off x="9628632"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9" name="Full-duplex later output"/>
          <p:cNvSpPr/>
          <p:nvPr/>
        </p:nvSpPr>
        <p:spPr>
          <a:xfrm>
            <a:off x="10570464" y="3835908"/>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0" name="Full-duplex later output"/>
          <p:cNvSpPr/>
          <p:nvPr/>
        </p:nvSpPr>
        <p:spPr>
          <a:xfrm>
            <a:off x="10652760" y="3863340"/>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1" name="Full-duplex later output"/>
          <p:cNvSpPr/>
          <p:nvPr/>
        </p:nvSpPr>
        <p:spPr>
          <a:xfrm>
            <a:off x="10735056" y="3808476"/>
            <a:ext cx="22860" cy="26517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2" name="Full-duplex later output"/>
          <p:cNvSpPr/>
          <p:nvPr/>
        </p:nvSpPr>
        <p:spPr>
          <a:xfrm>
            <a:off x="10817352" y="3854196"/>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3" name="Full-duplex later output"/>
          <p:cNvSpPr/>
          <p:nvPr/>
        </p:nvSpPr>
        <p:spPr>
          <a:xfrm>
            <a:off x="10899648" y="3881628"/>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4" name="Full-duplex later output"/>
          <p:cNvSpPr/>
          <p:nvPr/>
        </p:nvSpPr>
        <p:spPr>
          <a:xfrm>
            <a:off x="10981944" y="3831336"/>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5" name="Full-duplex later output"/>
          <p:cNvSpPr/>
          <p:nvPr/>
        </p:nvSpPr>
        <p:spPr>
          <a:xfrm>
            <a:off x="11064240" y="3813048"/>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6" name="Full-duplex later output"/>
          <p:cNvSpPr/>
          <p:nvPr/>
        </p:nvSpPr>
        <p:spPr>
          <a:xfrm>
            <a:off x="11146536" y="3867912"/>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7" name="Full-duplex later output"/>
          <p:cNvSpPr/>
          <p:nvPr/>
        </p:nvSpPr>
        <p:spPr>
          <a:xfrm>
            <a:off x="11228832" y="3840480"/>
            <a:ext cx="22860" cy="2011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28" name="User interjects during output"/>
          <p:cNvCxnSpPr/>
          <p:nvPr/>
        </p:nvCxnSpPr>
        <p:spPr>
          <a:xfrm>
            <a:off x="9226296" y="3136392"/>
            <a:ext cx="0" cy="996696"/>
          </a:xfrm>
          <a:prstGeom prst="line">
            <a:avLst/>
          </a:prstGeom>
          <a:ln w="1651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629" name="用户插话"/>
          <p:cNvSpPr txBox="1"/>
          <p:nvPr/>
        </p:nvSpPr>
        <p:spPr>
          <a:xfrm>
            <a:off x="9272016" y="4142232"/>
            <a:ext cx="1920240" cy="210312"/>
          </a:xfrm>
          <a:prstGeom prst="rect">
            <a:avLst/>
          </a:prstGeom>
          <a:noFill/>
        </p:spPr>
        <p:txBody>
          <a:bodyPr wrap="square" lIns="0" rIns="0" tIns="0" bIns="0" anchor="t">
            <a:spAutoFit/>
          </a:bodyPr>
          <a:lstStyle/>
          <a:p>
            <a:pPr algn="l">
              <a:lnSpc>
                <a:spcPct val="110000"/>
              </a:lnSpc>
              <a:spcAft>
                <a:spcPts val="0"/>
              </a:spcAft>
            </a:pPr>
            <a:r>
              <a:rPr sz="1100" b="0">
                <a:solidFill>
                  <a:srgbClr val="FFCB78"/>
                </a:solidFill>
                <a:latin typeface="Noto Sans CJK SC"/>
                <a:ea typeface="Noto Sans CJK SC"/>
                <a:cs typeface="Noto Sans CJK SC"/>
              </a:rPr>
              <a:t>用户插话</a:t>
            </a:r>
          </a:p>
        </p:txBody>
      </p:sp>
      <p:sp>
        <p:nvSpPr>
          <p:cNvPr id="630" name="→"/>
          <p:cNvSpPr txBox="1"/>
          <p:nvPr/>
        </p:nvSpPr>
        <p:spPr>
          <a:xfrm>
            <a:off x="5888736" y="3154680"/>
            <a:ext cx="365760" cy="365760"/>
          </a:xfrm>
          <a:prstGeom prst="rect">
            <a:avLst/>
          </a:prstGeom>
          <a:noFill/>
        </p:spPr>
        <p:txBody>
          <a:bodyPr wrap="square" lIns="0" rIns="0" tIns="0" bIns="0" anchor="t">
            <a:spAutoFit/>
          </a:bodyPr>
          <a:lstStyle/>
          <a:p>
            <a:pPr algn="ctr">
              <a:lnSpc>
                <a:spcPct val="110000"/>
              </a:lnSpc>
              <a:spcAft>
                <a:spcPts val="0"/>
              </a:spcAft>
            </a:pPr>
            <a:r>
              <a:rPr sz="2500" b="0">
                <a:solidFill>
                  <a:srgbClr val="526985"/>
                </a:solidFill>
                <a:latin typeface="Arial"/>
                <a:ea typeface="Arial"/>
                <a:cs typeface="Arial"/>
              </a:rPr>
              <a:t>→</a:t>
            </a:r>
          </a:p>
        </p:txBody>
      </p:sp>
      <p:sp>
        <p:nvSpPr>
          <p:cNvPr id="631" name="Shared capability"/>
          <p:cNvSpPr/>
          <p:nvPr/>
        </p:nvSpPr>
        <p:spPr>
          <a:xfrm>
            <a:off x="548640" y="4599432"/>
            <a:ext cx="11082528" cy="502920"/>
          </a:xfrm>
          <a:prstGeom prst="roundRect">
            <a:avLst>
              <a:gd name="adj" fmla="val 10000"/>
            </a:avLst>
          </a:prstGeom>
          <a:solidFill>
            <a:srgbClr val="EDF3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2" name="共有能力：流式响应"/>
          <p:cNvSpPr txBox="1"/>
          <p:nvPr/>
        </p:nvSpPr>
        <p:spPr>
          <a:xfrm>
            <a:off x="768096" y="4736592"/>
            <a:ext cx="4270248" cy="265176"/>
          </a:xfrm>
          <a:prstGeom prst="rect">
            <a:avLst/>
          </a:prstGeom>
          <a:noFill/>
        </p:spPr>
        <p:txBody>
          <a:bodyPr wrap="square" lIns="0" rIns="0" tIns="0" bIns="0" anchor="t">
            <a:spAutoFit/>
          </a:bodyPr>
          <a:lstStyle/>
          <a:p>
            <a:pPr algn="l">
              <a:lnSpc>
                <a:spcPct val="110000"/>
              </a:lnSpc>
              <a:spcAft>
                <a:spcPts val="0"/>
              </a:spcAft>
            </a:pPr>
            <a:r>
              <a:rPr sz="1700" b="1">
                <a:solidFill>
                  <a:srgbClr val="16304E"/>
                </a:solidFill>
                <a:latin typeface="Noto Sans CJK SC"/>
                <a:ea typeface="Noto Sans CJK SC"/>
                <a:cs typeface="Noto Sans CJK SC"/>
              </a:rPr>
              <a:t>共有能力：流式响应</a:t>
            </a:r>
          </a:p>
        </p:txBody>
      </p:sp>
      <p:sp>
        <p:nvSpPr>
          <p:cNvPr id="633" name="两种模式都可增量输出文本与音频。"/>
          <p:cNvSpPr txBox="1"/>
          <p:nvPr/>
        </p:nvSpPr>
        <p:spPr>
          <a:xfrm>
            <a:off x="5047488" y="4754880"/>
            <a:ext cx="6327648" cy="237744"/>
          </a:xfrm>
          <a:prstGeom prst="rect">
            <a:avLst/>
          </a:prstGeom>
          <a:noFill/>
        </p:spPr>
        <p:txBody>
          <a:bodyPr wrap="square" lIns="0" rIns="0" tIns="0" bIns="0" anchor="t">
            <a:spAutoFit/>
          </a:bodyPr>
          <a:lstStyle/>
          <a:p>
            <a:pPr algn="l">
              <a:lnSpc>
                <a:spcPct val="110000"/>
              </a:lnSpc>
              <a:spcAft>
                <a:spcPts val="0"/>
              </a:spcAft>
            </a:pPr>
            <a:r>
              <a:rPr sz="1370" b="0">
                <a:solidFill>
                  <a:srgbClr val="526985"/>
                </a:solidFill>
                <a:latin typeface="Noto Sans CJK SC"/>
                <a:ea typeface="Noto Sans CJK SC"/>
                <a:cs typeface="Noto Sans CJK SC"/>
              </a:rPr>
              <a:t>两种模式都可增量输出文本与音频。</a:t>
            </a:r>
          </a:p>
        </p:txBody>
      </p:sp>
      <p:sp>
        <p:nvSpPr>
          <p:cNvPr id="634" name="Full-duplex capabilities"/>
          <p:cNvSpPr/>
          <p:nvPr/>
        </p:nvSpPr>
        <p:spPr>
          <a:xfrm>
            <a:off x="548640" y="5330952"/>
            <a:ext cx="11082528" cy="987552"/>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5" name="Full-duplex accent"/>
          <p:cNvSpPr/>
          <p:nvPr/>
        </p:nvSpPr>
        <p:spPr>
          <a:xfrm>
            <a:off x="548640" y="5330952"/>
            <a:ext cx="36576" cy="987552"/>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36" name="Feature divider"/>
          <p:cNvCxnSpPr/>
          <p:nvPr/>
        </p:nvCxnSpPr>
        <p:spPr>
          <a:xfrm>
            <a:off x="6062472" y="5495544"/>
            <a:ext cx="0" cy="640080"/>
          </a:xfrm>
          <a:prstGeom prst="line">
            <a:avLst/>
          </a:prstGeom>
          <a:ln w="10160">
            <a:solidFill>
              <a:srgbClr val="DFE7EF"/>
            </a:solidFill>
          </a:ln>
          <a:effectLst/>
        </p:spPr>
        <p:style>
          <a:lnRef idx="2">
            <a:schemeClr val="accent1"/>
          </a:lnRef>
          <a:fillRef idx="0">
            <a:schemeClr val="accent1"/>
          </a:fillRef>
          <a:effectRef idx="0">
            <a:schemeClr val="accent1"/>
          </a:effectRef>
          <a:fontRef idx="minor">
            <a:schemeClr val="tx1"/>
          </a:fontRef>
        </p:style>
      </p:cxnSp>
      <p:sp>
        <p:nvSpPr>
          <p:cNvPr id="637" name="输入输出并行"/>
          <p:cNvSpPr txBox="1"/>
          <p:nvPr/>
        </p:nvSpPr>
        <p:spPr>
          <a:xfrm>
            <a:off x="777240" y="5477256"/>
            <a:ext cx="5020056" cy="283464"/>
          </a:xfrm>
          <a:prstGeom prst="rect">
            <a:avLst/>
          </a:prstGeom>
          <a:noFill/>
        </p:spPr>
        <p:txBody>
          <a:bodyPr wrap="square" lIns="0" rIns="0" tIns="0" bIns="0" anchor="t">
            <a:spAutoFit/>
          </a:bodyPr>
          <a:lstStyle/>
          <a:p>
            <a:pPr algn="l">
              <a:lnSpc>
                <a:spcPct val="110000"/>
              </a:lnSpc>
              <a:spcAft>
                <a:spcPts val="0"/>
              </a:spcAft>
            </a:pPr>
            <a:r>
              <a:rPr sz="1800" b="1">
                <a:solidFill>
                  <a:srgbClr val="347FF0"/>
                </a:solidFill>
                <a:latin typeface="Noto Sans CJK SC"/>
                <a:ea typeface="Noto Sans CJK SC"/>
                <a:cs typeface="Noto Sans CJK SC"/>
              </a:rPr>
              <a:t>输入输出并行</a:t>
            </a:r>
          </a:p>
        </p:txBody>
      </p:sp>
      <p:sp>
        <p:nvSpPr>
          <p:cNvPr id="638" name="助手回应期间， / 仍持续接收新输入。"/>
          <p:cNvSpPr txBox="1"/>
          <p:nvPr/>
        </p:nvSpPr>
        <p:spPr>
          <a:xfrm>
            <a:off x="777240" y="5806440"/>
            <a:ext cx="5020056"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Noto Sans CJK SC"/>
                <a:ea typeface="Noto Sans CJK SC"/>
                <a:cs typeface="Noto Sans CJK SC"/>
              </a:rPr>
              <a:t>助手回应期间，</a:t>
            </a:r>
          </a:p>
          <a:p>
            <a:pPr algn="l">
              <a:lnSpc>
                <a:spcPct val="110000"/>
              </a:lnSpc>
              <a:spcAft>
                <a:spcPts val="0"/>
              </a:spcAft>
            </a:pPr>
            <a:r>
              <a:rPr sz="1400" b="0">
                <a:solidFill>
                  <a:srgbClr val="16304E"/>
                </a:solidFill>
                <a:latin typeface="Noto Sans CJK SC"/>
                <a:ea typeface="Noto Sans CJK SC"/>
                <a:cs typeface="Noto Sans CJK SC"/>
              </a:rPr>
              <a:t>仍持续接收新输入。</a:t>
            </a:r>
          </a:p>
        </p:txBody>
      </p:sp>
      <p:sp>
        <p:nvSpPr>
          <p:cNvPr id="639" name="实时交互调整"/>
          <p:cNvSpPr txBox="1"/>
          <p:nvPr/>
        </p:nvSpPr>
        <p:spPr>
          <a:xfrm>
            <a:off x="6318504" y="5477256"/>
            <a:ext cx="5029200" cy="283464"/>
          </a:xfrm>
          <a:prstGeom prst="rect">
            <a:avLst/>
          </a:prstGeom>
          <a:noFill/>
        </p:spPr>
        <p:txBody>
          <a:bodyPr wrap="square" lIns="0" rIns="0" tIns="0" bIns="0" anchor="t">
            <a:spAutoFit/>
          </a:bodyPr>
          <a:lstStyle/>
          <a:p>
            <a:pPr algn="l">
              <a:lnSpc>
                <a:spcPct val="110000"/>
              </a:lnSpc>
              <a:spcAft>
                <a:spcPts val="0"/>
              </a:spcAft>
            </a:pPr>
            <a:r>
              <a:rPr sz="1800" b="1">
                <a:solidFill>
                  <a:srgbClr val="008E96"/>
                </a:solidFill>
                <a:latin typeface="Noto Sans CJK SC"/>
                <a:ea typeface="Noto Sans CJK SC"/>
                <a:cs typeface="Noto Sans CJK SC"/>
              </a:rPr>
              <a:t>实时交互调整</a:t>
            </a:r>
          </a:p>
        </p:txBody>
      </p:sp>
      <p:sp>
        <p:nvSpPr>
          <p:cNvPr id="640" name="native duplex 模型结合新输入， / 调整后续输出或让出话语权。"/>
          <p:cNvSpPr txBox="1"/>
          <p:nvPr/>
        </p:nvSpPr>
        <p:spPr>
          <a:xfrm>
            <a:off x="6318504" y="5806440"/>
            <a:ext cx="5029200" cy="429768"/>
          </a:xfrm>
          <a:prstGeom prst="rect">
            <a:avLst/>
          </a:prstGeom>
          <a:noFill/>
        </p:spPr>
        <p:txBody>
          <a:bodyPr wrap="square" lIns="0" rIns="0" tIns="0" bIns="0" anchor="t">
            <a:spAutoFit/>
          </a:bodyPr>
          <a:lstStyle/>
          <a:p>
            <a:pPr algn="l">
              <a:lnSpc>
                <a:spcPct val="110000"/>
              </a:lnSpc>
              <a:spcAft>
                <a:spcPts val="0"/>
              </a:spcAft>
            </a:pPr>
            <a:r>
              <a:rPr sz="1400" b="0">
                <a:solidFill>
                  <a:srgbClr val="16304E"/>
                </a:solidFill>
                <a:latin typeface="Noto Sans CJK SC"/>
                <a:ea typeface="Noto Sans CJK SC"/>
                <a:cs typeface="Noto Sans CJK SC"/>
              </a:rPr>
              <a:t>native duplex 模型结合新输入，</a:t>
            </a:r>
          </a:p>
          <a:p>
            <a:pPr algn="l">
              <a:lnSpc>
                <a:spcPct val="110000"/>
              </a:lnSpc>
              <a:spcAft>
                <a:spcPts val="0"/>
              </a:spcAft>
            </a:pPr>
            <a:r>
              <a:rPr sz="1400" b="0">
                <a:solidFill>
                  <a:srgbClr val="16304E"/>
                </a:solidFill>
                <a:latin typeface="Noto Sans CJK SC"/>
                <a:ea typeface="Noto Sans CJK SC"/>
                <a:cs typeface="Noto Sans CJK SC"/>
              </a:rPr>
              <a:t>调整后续输出或让出话语权。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不同模型如何处理实时交互</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交互控制方式取决于模型能力与所选 demo。</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13</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输入处理</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回复控制</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持续接收语音与视频</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模型决定 LISTEN 或 SPEAK</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 + VAD</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持续接收麦克风输入</a:t>
            </a:r>
          </a:p>
          <a:p>
            <a:pPr algn="l">
              <a:lnSpc>
                <a:spcPct val="110000"/>
              </a:lnSpc>
              <a:spcAft>
                <a:spcPts val="0"/>
              </a:spcAft>
            </a:pPr>
            <a:r>
              <a:rPr sz="1180" b="0" lang="zh-CN">
                <a:solidFill>
                  <a:srgbClr val="142B45"/>
                </a:solidFill>
                <a:latin typeface="Noto Sans CJK SC"/>
                <a:ea typeface="Noto Sans CJK SC"/>
                <a:cs typeface="Noto Sans CJK SC"/>
              </a:rPr>
              <a:t>配合 Server VAD</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VAD 触发停止播放</a:t>
            </a:r>
          </a:p>
          <a:p>
            <a:pPr algn="l">
              <a:lnSpc>
                <a:spcPct val="110000"/>
              </a:lnSpc>
              <a:spcAft>
                <a:spcPts val="0"/>
              </a:spcAft>
            </a:pPr>
            <a:r>
              <a:rPr sz="1180" b="0" lang="zh-CN">
                <a:solidFill>
                  <a:srgbClr val="142B45"/>
                </a:solidFill>
                <a:latin typeface="Noto Sans CJK SC"/>
                <a:ea typeface="Noto Sans CJK SC"/>
                <a:cs typeface="Noto Sans CJK SC"/>
              </a:rPr>
              <a:t>以及服务端取消生成*</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 demo</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按住说话，松开提交</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按住时停止本地播放；</a:t>
            </a:r>
          </a:p>
          <a:p>
            <a:pPr algn="l">
              <a:lnSpc>
                <a:spcPct val="110000"/>
              </a:lnSpc>
              <a:spcAft>
                <a:spcPts val="0"/>
              </a:spcAft>
            </a:pPr>
            <a:r>
              <a:rPr sz="1180" b="0" lang="zh-CN">
                <a:solidFill>
                  <a:srgbClr val="142B45"/>
                </a:solidFill>
                <a:latin typeface="Noto Sans CJK SC"/>
                <a:ea typeface="Noto Sans CJK SC"/>
                <a:cs typeface="Noto Sans CJK SC"/>
              </a:rPr>
              <a:t>服务端仍可能继续生成</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lang="zh-CN">
                <a:solidFill>
                  <a:srgbClr val="586B7E"/>
                </a:solidFill>
                <a:latin typeface="Noto Sans CJK SC"/>
                <a:ea typeface="Noto Sans CJK SC"/>
                <a:cs typeface="Noto Sans CJK SC"/>
              </a:rPr>
              <a:t>PersonaPlex：显式 cancel 会重置对话上下文；断连后需新建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模型自主发言</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PersonaPlex · MiniCPM-o 4.5</a:t>
            </a:r>
          </a:p>
          <a:p>
            <a:pPr algn="l">
              <a:lnSpc>
                <a:spcPct val="110000"/>
              </a:lnSpc>
              <a:spcAft>
                <a:spcPts val="0"/>
              </a:spcAft>
            </a:pPr>
            <a:r>
              <a:rPr sz="1050" b="0" lang="zh-CN">
                <a:solidFill>
                  <a:srgbClr val="142B45"/>
                </a:solidFill>
                <a:latin typeface="Noto Sans CJK SC"/>
                <a:ea typeface="Noto Sans CJK SC"/>
                <a:cs typeface="Noto Sans CJK SC"/>
              </a:rPr>
              <a:t>模型决定何时发言</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本地停播</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AURA 按钮 · Qwen VAD demo</a:t>
            </a:r>
          </a:p>
          <a:p>
            <a:pPr algn="l">
              <a:lnSpc>
                <a:spcPct val="110000"/>
              </a:lnSpc>
              <a:spcAft>
                <a:spcPts val="0"/>
              </a:spcAft>
            </a:pPr>
            <a:r>
              <a:rPr sz="1050" b="0" lang="zh-CN">
                <a:solidFill>
                  <a:srgbClr val="142B45"/>
                </a:solidFill>
                <a:latin typeface="Noto Sans CJK SC"/>
                <a:ea typeface="Noto Sans CJK SC"/>
                <a:cs typeface="Noto Sans CJK SC"/>
              </a:rPr>
              <a:t>停止本地播放，推理仍可能继续</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服务端取消</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Qwen3-Omni + Server VAD*</a:t>
            </a:r>
          </a:p>
          <a:p>
            <a:pPr algn="l">
              <a:lnSpc>
                <a:spcPct val="110000"/>
              </a:lnSpc>
              <a:spcAft>
                <a:spcPts val="0"/>
              </a:spcAft>
            </a:pPr>
            <a:r>
              <a:rPr sz="1050" b="0" lang="zh-CN">
                <a:solidFill>
                  <a:srgbClr val="142B45"/>
                </a:solidFill>
                <a:latin typeface="Noto Sans CJK SC"/>
                <a:ea typeface="Noto Sans CJK SC"/>
                <a:cs typeface="Noto Sans CJK SC"/>
              </a:rPr>
              <a:t>取消当前生成</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 各模型的 demo 控制方式不同；Qwen VAD 取消需启用 interrupt_response。</a:t>
            </a:r>
          </a:p>
        </p:txBody>
      </p:sp>
      <p:sp>
        <p:nvSpPr>
          <p:cNvPr id="200" name="PersonaPlex 200"/>
          <p:cNvSpPr/>
          <p:nvPr/>
        </p:nvSpPr>
        <p:spPr>
          <a:xfrm>
            <a:off x="548640" y="240487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持续接收流式语音</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持续接收语音的同时，</a:t>
            </a:r>
          </a:p>
          <a:p>
            <a:pPr algn="l">
              <a:lnSpc>
                <a:spcPct val="110000"/>
              </a:lnSpc>
              <a:spcAft>
                <a:spcPts val="0"/>
              </a:spcAft>
            </a:pPr>
            <a:r>
              <a:rPr sz="1180" b="0" lang="zh-CN">
                <a:solidFill>
                  <a:srgbClr val="142B45"/>
                </a:solidFill>
                <a:latin typeface="Noto Sans CJK SC"/>
                <a:ea typeface="Noto Sans CJK SC"/>
                <a:cs typeface="Noto Sans CJK SC"/>
              </a:rPr>
              <a:t>模型生成语音或保持静默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lang="zh-CN">
                <a:solidFill>
                  <a:srgbClr val="142B45"/>
                </a:solidFill>
                <a:latin typeface="Noto Sans CJK SC"/>
                <a:ea typeface="Noto Sans CJK SC"/>
                <a:cs typeface="Noto Sans CJK SC"/>
              </a:rPr>
              <a:t>接口、会话交互与模型执行方式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13</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lang="zh-CN">
                <a:solidFill>
                  <a:srgbClr val="586B7E"/>
                </a:solidFill>
                <a:latin typeface="Noto Sans CJK SC"/>
                <a:ea typeface="Noto Sans CJK SC"/>
                <a:cs typeface="Noto Sans CJK SC"/>
              </a:rPr>
              <a:t>接口承载会话交互；执行方式决定模型如何处理输入。</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接口</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会话交互方式</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模型执行方式</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典型模型</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lang="zh-CN">
                <a:solidFill>
                  <a:srgbClr val="586B7E"/>
                </a:solidFill>
                <a:latin typeface="Noto Sans CJK SC"/>
                <a:ea typeface="Noto Sans CJK SC"/>
                <a:cs typeface="Noto Sans CJK SC"/>
              </a:rPr>
              <a:t>/v1/duplex  或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lang="zh-CN">
                <a:solidFill>
                  <a:srgbClr val="586B7E"/>
                </a:solidFill>
                <a:latin typeface="Noto Sans CJK SC"/>
                <a:ea typeface="Noto Sans CJK SC"/>
                <a:cs typeface="Noto Sans CJK SC"/>
              </a:rPr>
              <a:t>每次请求对应一次响应</a:t>
            </a:r>
          </a:p>
          <a:p>
            <a:pPr algn="ctr">
              <a:lnSpc>
                <a:spcPct val="106000"/>
              </a:lnSpc>
              <a:spcAft>
                <a:spcPts val="0"/>
              </a:spcAft>
            </a:pPr>
            <a:r>
              <a:rPr sz="1400" b="0" lang="zh-CN">
                <a:solidFill>
                  <a:srgbClr val="586B7E"/>
                </a:solidFill>
                <a:latin typeface="Noto Sans CJK SC"/>
                <a:ea typeface="Noto Sans CJK SC"/>
                <a:cs typeface="Noto Sans CJK SC"/>
              </a:rPr>
              <a:t>可选择流式输出</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持续推理过程中</a:t>
            </a:r>
          </a:p>
          <a:p>
            <a:pPr algn="ctr">
              <a:lnSpc>
                <a:spcPct val="106000"/>
              </a:lnSpc>
              <a:spcAft>
                <a:spcPts val="0"/>
              </a:spcAft>
            </a:pPr>
            <a:r>
              <a:rPr sz="1200" b="0" lang="zh-CN">
                <a:solidFill>
                  <a:srgbClr val="586B7E"/>
                </a:solidFill>
                <a:latin typeface="Noto Sans CJK SC"/>
                <a:ea typeface="Noto Sans CJK SC"/>
                <a:cs typeface="Noto Sans CJK SC"/>
              </a:rPr>
              <a:t>连续接收输入、输出回应</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每个已 commit 的 turn</a:t>
            </a:r>
          </a:p>
          <a:p>
            <a:pPr algn="ctr">
              <a:lnSpc>
                <a:spcPct val="106000"/>
              </a:lnSpc>
              <a:spcAft>
                <a:spcPts val="0"/>
              </a:spcAft>
            </a:pPr>
            <a:r>
              <a:rPr sz="1200" b="0" lang="zh-CN">
                <a:solidFill>
                  <a:srgbClr val="586B7E"/>
                </a:solidFill>
                <a:latin typeface="Noto Sans CJK SC"/>
                <a:ea typeface="Noto Sans CJK SC"/>
                <a:cs typeface="Noto Sans CJK SC"/>
              </a:rPr>
              <a:t>启动一次新的生成请求</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lang="zh-CN">
                <a:solidFill>
                  <a:srgbClr val="16304E"/>
                </a:solidFill>
                <a:latin typeface="Noto Sans CJK SC"/>
                <a:ea typeface="Noto Sans CJK SC"/>
                <a:cs typeface="Noto Sans CJK SC"/>
              </a:rPr>
              <a:t>Qwen3-Omni</a:t>
            </a:r>
          </a:p>
          <a:p>
            <a:pPr algn="ctr">
              <a:lnSpc>
                <a:spcPct val="106000"/>
              </a:lnSpc>
              <a:spcAft>
                <a:spcPts val="0"/>
              </a:spcAft>
            </a:pPr>
            <a:r>
              <a:rPr sz="1520" b="1" lang="zh-CN">
                <a:solidFill>
                  <a:srgbClr val="16304E"/>
                </a:solidFill>
                <a:latin typeface="Noto Sans CJK SC"/>
                <a:ea typeface="Noto Sans CJK SC"/>
                <a:cs typeface="Noto Sans CJK SC"/>
              </a:rPr>
              <a:t>MiniCPM-o 4.5</a:t>
            </a:r>
          </a:p>
          <a:p>
            <a:pPr algn="ctr">
              <a:lnSpc>
                <a:spcPct val="106000"/>
              </a:lnSpc>
              <a:spcAft>
                <a:spcPts val="0"/>
              </a:spcAft>
            </a:pPr>
            <a:r>
              <a:rPr sz="1520" b="1" lang="zh-CN">
                <a:solidFill>
                  <a:srgbClr val="16304E"/>
                </a:solidFill>
                <a:latin typeface="Noto Sans CJK SC"/>
                <a:ea typeface="Noto Sans CJK SC"/>
                <a:cs typeface="Noto Sans CJK SC"/>
              </a:rPr>
              <a:t>（turn 模式）</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lang="zh-CN">
                <a:solidFill>
                  <a:srgbClr val="586B7E"/>
                </a:solidFill>
                <a:latin typeface="Noto Sans CJK SC"/>
                <a:ea typeface="Noto Sans CJK SC"/>
                <a:cs typeface="Noto Sans CJK SC"/>
              </a:rPr>
              <a:t>Realtime 另有独立的 turn-based 路径：/v1/realtime?duplex=0。</a:t>
            </a:r>
          </a:p>
        </p:txBody>
      </p:sp>
      <p:sp>
        <p:nvSpPr>
          <p:cNvPr id="236" name="基于 OpenAI Realtime 消息协议，扩展全双工能力"/>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16304E"/>
                </a:solidFill>
                <a:latin typeface="Noto Sans CJK SC"/>
                <a:ea typeface="Noto Sans CJK SC"/>
                <a:cs typeface="Noto Sans CJK SC"/>
              </a:rPr>
              <a:t>基于 OpenAI Realtime 消息协议，扩展全双工能力</a:t>
            </a:r>
          </a:p>
        </p:txBody>
      </p:sp>
      <p:sp>
        <p:nvSpPr>
          <p:cNvPr id="237" name="视频输入 · 播放反馈 · 会话续接"/>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zh-CN">
                <a:solidFill>
                  <a:srgbClr val="008E96"/>
                </a:solidFill>
                <a:latin typeface="Noto Sans CJK SC"/>
                <a:ea typeface="Noto Sans CJK SC"/>
                <a:cs typeface="Noto Sans CJK SC"/>
              </a:rPr>
              <a:t>扩展能力按模型提供：视频输入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Duplex WebSocket 与 Python 会话共用引擎侧会话控制、模型插件和有界输出传输。</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13</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统一全双工架构，通信、会话控制与模型计算按层分工</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 / API 进程</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API / Python 事件循环</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lang="zh-CN">
                <a:solidFill>
                  <a:srgbClr val="586B7E"/>
                </a:solidFill>
                <a:latin typeface="Noto Sans CJK SC"/>
                <a:ea typeface="Noto Sans CJK SC"/>
                <a:cs typeface="Noto Sans CJK SC"/>
              </a:rPr>
              <a:t>协议收发 · attach</a:t>
            </a:r>
          </a:p>
          <a:p>
            <a:pPr algn="l">
              <a:lnSpc>
                <a:spcPct val="110000"/>
              </a:lnSpc>
              <a:spcAft>
                <a:spcPts val="0"/>
              </a:spcAft>
            </a:pPr>
            <a:r>
              <a:rPr sz="1100" b="0" lang="zh-CN">
                <a:solidFill>
                  <a:srgbClr val="586B7E"/>
                </a:solidFill>
                <a:latin typeface="Noto Sans CJK SC"/>
                <a:ea typeface="Noto Sans CJK SC"/>
                <a:cs typeface="Noto Sans CJK SC"/>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session handle</a:t>
            </a:r>
          </a:p>
          <a:p>
            <a:pPr algn="l">
              <a:lnSpc>
                <a:spcPct val="110000"/>
              </a:lnSpc>
              <a:spcAft>
                <a:spcPts val="0"/>
              </a:spcAft>
            </a:pPr>
            <a:r>
              <a:rPr sz="969" b="0">
                <a:solidFill>
                  <a:srgbClr val="586B7E"/>
                </a:solidFill>
                <a:latin typeface="Arial"/>
                <a:ea typeface="Arial"/>
                <a:cs typeface="Arial"/>
              </a:rPr>
              <a:t>command / event routing</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创建 / 关闭 / 恢复会话，管理 lease</a:t>
            </a:r>
          </a:p>
          <a:p>
            <a:pPr algn="l">
              <a:lnSpc>
                <a:spcPct val="110000"/>
              </a:lnSpc>
              <a:spcAft>
                <a:spcPts val="0"/>
              </a:spcAft>
            </a:pPr>
            <a:r>
              <a:rPr sz="1050" b="0" lang="zh-CN">
                <a:solidFill>
                  <a:srgbClr val="142B45"/>
                </a:solidFill>
                <a:latin typeface="Noto Sans CJK SC"/>
                <a:ea typeface="Noto Sans CJK SC"/>
                <a:cs typeface="Noto Sans CJK SC"/>
              </a:rPr>
              <a:t>2. 检查容量与积压，分发 command</a:t>
            </a:r>
          </a:p>
          <a:p>
            <a:pPr algn="l">
              <a:lnSpc>
                <a:spcPct val="110000"/>
              </a:lnSpc>
              <a:spcAft>
                <a:spcPts val="0"/>
              </a:spcAft>
            </a:pPr>
            <a:r>
              <a:rPr sz="1050" b="0" lang="zh-CN">
                <a:solidFill>
                  <a:srgbClr val="142B45"/>
                </a:solidFill>
                <a:latin typeface="Noto Sans CJK SC"/>
                <a:ea typeface="Noto Sans CJK SC"/>
                <a:cs typeface="Noto Sans CJK SC"/>
              </a:rPr>
              <a:t>3. 管理有界 output buffer，清理过期会话</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每个 session 一个，按序消费 mailbox</a:t>
            </a:r>
          </a:p>
          <a:p>
            <a:pPr algn="l">
              <a:lnSpc>
                <a:spcPct val="110000"/>
              </a:lnSpc>
              <a:spcAft>
                <a:spcPts val="0"/>
              </a:spcAft>
            </a:pPr>
            <a:r>
              <a:rPr sz="1050" b="0" lang="zh-CN">
                <a:solidFill>
                  <a:srgbClr val="142B45"/>
                </a:solidFill>
                <a:latin typeface="Noto Sans CJK SC"/>
                <a:ea typeface="Noto Sans CJK SC"/>
                <a:cs typeface="Noto Sans CJK SC"/>
              </a:rPr>
              <a:t>2. 处理 input / commit / cancel / Stage output</a:t>
            </a:r>
          </a:p>
          <a:p>
            <a:pPr algn="l">
              <a:lnSpc>
                <a:spcPct val="110000"/>
              </a:lnSpc>
              <a:spcAft>
                <a:spcPts val="0"/>
              </a:spcAft>
            </a:pPr>
            <a:r>
              <a:rPr sz="1050" b="0" lang="zh-CN">
                <a:solidFill>
                  <a:srgbClr val="142B45"/>
                </a:solidFill>
                <a:latin typeface="Noto Sans CJK SC"/>
                <a:ea typeface="Noto Sans CJK SC"/>
                <a:cs typeface="Noto Sans CJK SC"/>
              </a:rPr>
              <a:t>3. 推进 response，更新 history /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声明能力，准备运行与采样参数</a:t>
            </a:r>
          </a:p>
          <a:p>
            <a:pPr algn="l">
              <a:lnSpc>
                <a:spcPct val="110000"/>
              </a:lnSpc>
              <a:spcAft>
                <a:spcPts val="0"/>
              </a:spcAft>
            </a:pPr>
            <a:r>
              <a:rPr sz="1050" b="0" lang="zh-CN">
                <a:solidFill>
                  <a:srgbClr val="142B45"/>
                </a:solidFill>
                <a:latin typeface="Noto Sans CJK SC"/>
                <a:ea typeface="Noto Sans CJK SC"/>
                <a:cs typeface="Noto Sans CJK SC"/>
              </a:rPr>
              <a:t>2. 提供会话缓冲，构造 chunk / turn 输入</a:t>
            </a:r>
          </a:p>
          <a:p>
            <a:pPr algn="l">
              <a:lnSpc>
                <a:spcPct val="110000"/>
              </a:lnSpc>
              <a:spcAft>
                <a:spcPts val="0"/>
              </a:spcAft>
            </a:pPr>
            <a:r>
              <a:rPr sz="1050" b="0" lang="zh-CN">
                <a:solidFill>
                  <a:srgbClr val="142B45"/>
                </a:solidFill>
                <a:latin typeface="Noto Sans CJK SC"/>
                <a:ea typeface="Noto Sans CJK SC"/>
                <a:cs typeface="Noto Sans CJK SC"/>
              </a:rPr>
              <a:t>3. 解释模型输出，适配后续 Stage 策略</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950" b="1">
                <a:solidFill>
                  <a:srgbClr val="327CEC"/>
                </a:solidFill>
                <a:latin typeface="Arial"/>
                <a:ea typeface="Arial"/>
                <a:cs typeface="Arial"/>
              </a:rPr>
              <a:t>command / 会话操作</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event</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lang="zh-CN">
                <a:solidFill>
                  <a:srgbClr val="586B7E"/>
                </a:solidFill>
                <a:latin typeface="Noto Sans CJK SC"/>
                <a:ea typeface="Noto Sans CJK SC"/>
                <a:cs typeface="Noto Sans CJK SC"/>
              </a:rPr>
              <a:t>同一进程 · 独立事件循环</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lang="zh-CN">
                <a:solidFill>
                  <a:srgbClr val="142B45"/>
                </a:solidFill>
                <a:latin typeface="Noto Sans CJK SC"/>
                <a:ea typeface="Noto Sans CJK SC"/>
                <a:cs typeface="Noto Sans CJK SC"/>
              </a:rPr>
              <a:t>API Server：协议、连接绑定与 event replay</a:t>
            </a:r>
          </a:p>
          <a:p>
            <a:pPr algn="l">
              <a:lnSpc>
                <a:spcPct val="110000"/>
              </a:lnSpc>
              <a:spcAft>
                <a:spcPts val="0"/>
              </a:spcAft>
            </a:pPr>
            <a:r>
              <a:rPr sz="1200" b="1" lang="zh-CN">
                <a:solidFill>
                  <a:srgbClr val="142B45"/>
                </a:solidFill>
                <a:latin typeface="Noto Sans CJK SC"/>
                <a:ea typeface="Noto Sans CJK SC"/>
                <a:cs typeface="Noto Sans CJK SC"/>
              </a:rPr>
              <a:t>EngineClient：handle、event stream 与控制操作结果</a:t>
            </a:r>
          </a:p>
          <a:p>
            <a:pPr algn="l">
              <a:lnSpc>
                <a:spcPct val="110000"/>
              </a:lnSpc>
              <a:spcAft>
                <a:spcPts val="0"/>
              </a:spcAft>
            </a:pPr>
            <a:r>
              <a:rPr sz="1200" b="1" lang="zh-CN">
                <a:solidFill>
                  <a:srgbClr val="142B45"/>
                </a:solidFill>
                <a:latin typeface="Noto Sans CJK SC"/>
                <a:ea typeface="Noto Sans CJK SC"/>
                <a:cs typeface="Noto Sans CJK SC"/>
              </a:rPr>
              <a:t>Duplex Orchestrator：会话执行与 Stage 调度</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lang="zh-CN">
                <a:solidFill>
                  <a:srgbClr val="008E96"/>
                </a:solidFill>
                <a:latin typeface="Noto Sans CJK SC"/>
                <a:ea typeface="Noto Sans CJK SC"/>
                <a:cs typeface="Noto Sans CJK SC"/>
              </a:rPr>
              <a:t>Stage 请求</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lang="zh-CN">
                <a:solidFill>
                  <a:srgbClr val="FFFFFF"/>
                </a:solidFill>
                <a:latin typeface="Noto Sans CJK SC"/>
                <a:ea typeface="Noto Sans CJK SC"/>
                <a:cs typeface="Noto Sans CJK SC"/>
              </a:rPr>
              <a:t>Stage 执行进程</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lang="zh-CN">
                <a:solidFill>
                  <a:srgbClr val="B7C8D9"/>
                </a:solidFill>
                <a:latin typeface="Noto Sans CJK SC"/>
                <a:ea typeface="Noto Sans CJK SC"/>
                <a:cs typeface="Noto Sans CJK SC"/>
              </a:rPr>
              <a:t>Scheduler + Worker · 计算、KV 与流式缓存</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lang="zh-CN">
                <a:solidFill>
                  <a:srgbClr val="586B7E"/>
                </a:solidFill>
                <a:latin typeface="Noto Sans CJK SC"/>
                <a:ea typeface="Noto Sans CJK SC"/>
                <a:cs typeface="Noto Sans CJK SC"/>
              </a:rPr>
              <a:t>open / close / resume</a:t>
            </a:r>
          </a:p>
          <a:p>
            <a:pPr algn="ctr">
              <a:lnSpc>
                <a:spcPct val="110000"/>
              </a:lnSpc>
              <a:spcAft>
                <a:spcPts val="0"/>
              </a:spcAft>
            </a:pPr>
            <a:r>
              <a:rPr sz="860" b="0" lang="zh-CN">
                <a:solidFill>
                  <a:srgbClr val="586B7E"/>
                </a:solidFill>
                <a:latin typeface="Noto Sans CJK SC"/>
                <a:ea typeface="Noto Sans CJK SC"/>
                <a:cs typeface="Noto Sans CJK SC"/>
              </a:rPr>
              <a:t>成功、失败与错误原因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API Server 处理协议；EngineClient 路由 command 与 event；Orchestrator 协调会话执行。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13</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API / Python 事件循环</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独立 Orchestrator 线程</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Stage 进程</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采集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engines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40" b="0" lang="zh-CN">
                <a:solidFill>
                  <a:srgbClr val="586B7E"/>
                </a:solidFill>
                <a:latin typeface="Noto Sans CJK SC"/>
                <a:ea typeface="Noto Sans CJK SC"/>
                <a:cs typeface="Noto Sans CJK SC"/>
              </a:rPr>
              <a:t>Scheduler · Worker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lang="zh-CN">
                <a:solidFill>
                  <a:srgbClr val="586B7E"/>
                </a:solidFill>
                <a:latin typeface="Noto Sans CJK SC"/>
                <a:ea typeface="Noto Sans CJK SC"/>
                <a:cs typeface="Noto Sans CJK SC"/>
              </a:rPr>
              <a:t>建立会话：EngineClient 创建 handle + buffer → Manager 完成准入并共用该 buffer → 返回结果</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音频 / 视频</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提交到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008E96"/>
                </a:solidFill>
                <a:latin typeface="Noto Sans CJK SC"/>
                <a:ea typeface="Noto Sans CJK SC"/>
                <a:cs typeface="Noto Sans CJK SC"/>
              </a:rPr>
              <a:t>构造输入 → 提交 Stage 执行</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下一块输入持续到达 · 与 Stage 计算 / 输出交叠</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每会话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文本 / 音频</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lang="zh-CN">
                <a:solidFill>
                  <a:srgbClr val="AD761E"/>
                </a:solidFill>
                <a:latin typeface="Noto Sans CJK SC"/>
                <a:ea typeface="Noto Sans CJK SC"/>
                <a:cs typeface="Noto Sans CJK SC"/>
              </a:rPr>
              <a:t>ACK → 更新播放进度</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142B45"/>
                </a:solidFill>
                <a:latin typeface="Noto Sans CJK SC"/>
                <a:ea typeface="Noto Sans CJK SC"/>
                <a:cs typeface="Noto Sans CJK SC"/>
              </a:rPr>
              <a:t>Native：追加到持续请求 · Turn-based：commit 后启动新请求 · 两种模式均可持续接收输入</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lang="zh-CN">
                <a:solidFill>
                  <a:srgbClr val="586B7E"/>
                </a:solidFill>
                <a:latin typeface="Noto Sans CJK SC"/>
                <a:ea typeface="Noto Sans CJK SC"/>
                <a:cs typeface="Noto Sans CJK SC"/>
              </a:rPr>
              <a:t>Session event ACK 在 API 层处理；playback ACK 进入 Runner，history 更新依模型能力而定。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全双工"/>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Noto Sans CJK SC"/>
                <a:ea typeface="Noto Sans CJK SC"/>
                <a:cs typeface="Noto Sans CJK SC"/>
              </a:rPr>
              <a:t>全双工</a:t>
            </a:r>
          </a:p>
        </p:txBody>
      </p:sp>
      <p:sp>
        <p:nvSpPr>
          <p:cNvPr id="5" name="架构与执行流程"/>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Noto Sans CJK SC"/>
                <a:ea typeface="Noto Sans CJK SC"/>
                <a:cs typeface="Noto Sans CJK SC"/>
              </a:rPr>
              <a:t>架构与执行流程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vLLM-Omni  /  实时音视频会话"/>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Noto Sans CJK SC"/>
                <a:ea typeface="Noto Sans CJK SC"/>
                <a:cs typeface="Noto Sans CJK SC"/>
              </a:rPr>
              <a:t>vLLM-Omni  /  实时音视频会话</a:t>
            </a:r>
          </a:p>
        </p:txBody>
      </p:sp>
      <p:sp>
        <p:nvSpPr>
          <p:cNvPr id="10" name="2026 年 10 月"/>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13</a:t>
            </a:r>
          </a:p>
        </p:txBody>
      </p:sp>
      <p:sp>
        <p:nvSpPr>
          <p:cNvPr id="501" name="从实时输入到语音输出：Stage 与状态"/>
          <p:cNvSpPr txBox="1"/>
          <p:nvPr/>
        </p:nvSpPr>
        <p:spPr>
          <a:xfrm>
            <a:off x="548640" y="1005840"/>
            <a:ext cx="11082528" cy="539496"/>
          </a:xfrm>
          <a:prstGeom prst="rect">
            <a:avLst/>
          </a:prstGeom>
          <a:noFill/>
        </p:spPr>
        <p:txBody>
          <a:bodyPr wrap="square" lIns="0" rIns="0" tIns="0" bIns="0" anchor="t">
            <a:noAutofit/>
          </a:bodyPr>
          <a:lstStyle/>
          <a:p>
            <a:pPr algn="l">
              <a:lnSpc>
                <a:spcPct val="108000"/>
              </a:lnSpc>
              <a:spcAft>
                <a:spcPts val="0"/>
              </a:spcAft>
            </a:pPr>
            <a:r>
              <a:rPr sz="3000" b="1">
                <a:solidFill>
                  <a:srgbClr val="16304E"/>
                </a:solidFill>
                <a:latin typeface="Noto Sans CJK SC"/>
                <a:ea typeface="Noto Sans CJK SC"/>
                <a:cs typeface="Noto Sans CJK SC"/>
              </a:rPr>
              <a:t>从实时输入到语音输出：Stage 与状态</a:t>
            </a:r>
          </a:p>
        </p:txBody>
      </p:sp>
      <p:sp>
        <p:nvSpPr>
          <p:cNvPr id="502" name="native duplex 续用计算状态；turn-based execution 根据历史构建新请求。"/>
          <p:cNvSpPr txBox="1"/>
          <p:nvPr/>
        </p:nvSpPr>
        <p:spPr>
          <a:xfrm>
            <a:off x="576072" y="1655064"/>
            <a:ext cx="10991088" cy="310896"/>
          </a:xfrm>
          <a:prstGeom prst="rect">
            <a:avLst/>
          </a:prstGeom>
          <a:noFill/>
        </p:spPr>
        <p:txBody>
          <a:bodyPr wrap="square" lIns="0" rIns="0" tIns="0" bIns="0" anchor="t">
            <a:noAutofit/>
          </a:bodyPr>
          <a:lstStyle/>
          <a:p>
            <a:pPr algn="l">
              <a:lnSpc>
                <a:spcPct val="108000"/>
              </a:lnSpc>
              <a:spcAft>
                <a:spcPts val="0"/>
              </a:spcAft>
            </a:pPr>
            <a:r>
              <a:rPr sz="1440" b="0">
                <a:solidFill>
                  <a:srgbClr val="526985"/>
                </a:solidFill>
                <a:latin typeface="Noto Sans CJK SC"/>
                <a:ea typeface="Noto Sans CJK SC"/>
                <a:cs typeface="Noto Sans CJK SC"/>
              </a:rPr>
              <a:t>native duplex 续用计算状态；turn-based execution 根据历史构建新请求。</a:t>
            </a:r>
          </a:p>
        </p:txBody>
      </p:sp>
      <p:sp>
        <p:nvSpPr>
          <p:cNvPr id="503" name="模型 / 输入"/>
          <p:cNvSpPr txBox="1"/>
          <p:nvPr/>
        </p:nvSpPr>
        <p:spPr>
          <a:xfrm>
            <a:off x="694944" y="2057400"/>
            <a:ext cx="1664208" cy="210312"/>
          </a:xfrm>
          <a:prstGeom prst="rect">
            <a:avLst/>
          </a:prstGeom>
          <a:noFill/>
        </p:spPr>
        <p:txBody>
          <a:bodyPr wrap="square" lIns="0" rIns="0" tIns="0" bIns="0" anchor="t">
            <a:noAutofit/>
          </a:bodyPr>
          <a:lstStyle/>
          <a:p>
            <a:pPr algn="l">
              <a:lnSpc>
                <a:spcPct val="108000"/>
              </a:lnSpc>
              <a:spcAft>
                <a:spcPts val="0"/>
              </a:spcAft>
            </a:pPr>
            <a:r>
              <a:rPr sz="1200" b="1">
                <a:solidFill>
                  <a:srgbClr val="526985"/>
                </a:solidFill>
                <a:latin typeface="Noto Sans CJK SC"/>
                <a:ea typeface="Noto Sans CJK SC"/>
                <a:cs typeface="Noto Sans CJK SC"/>
              </a:rPr>
              <a:t>模型 / 输入</a:t>
            </a:r>
          </a:p>
        </p:txBody>
      </p:sp>
      <p:sp>
        <p:nvSpPr>
          <p:cNvPr id="504" name="Stage → 语音输出"/>
          <p:cNvSpPr txBox="1"/>
          <p:nvPr/>
        </p:nvSpPr>
        <p:spPr>
          <a:xfrm>
            <a:off x="2441448" y="2057400"/>
            <a:ext cx="6309360" cy="210312"/>
          </a:xfrm>
          <a:prstGeom prst="rect">
            <a:avLst/>
          </a:prstGeom>
          <a:noFill/>
        </p:spPr>
        <p:txBody>
          <a:bodyPr wrap="square" lIns="0" rIns="0" tIns="0" bIns="0" anchor="t">
            <a:noAutofit/>
          </a:bodyPr>
          <a:lstStyle/>
          <a:p>
            <a:pPr algn="l">
              <a:lnSpc>
                <a:spcPct val="108000"/>
              </a:lnSpc>
              <a:spcAft>
                <a:spcPts val="0"/>
              </a:spcAft>
            </a:pPr>
            <a:r>
              <a:rPr sz="1200" b="1">
                <a:solidFill>
                  <a:srgbClr val="526985"/>
                </a:solidFill>
                <a:latin typeface="Noto Sans CJK SC"/>
                <a:ea typeface="Noto Sans CJK SC"/>
                <a:cs typeface="Noto Sans CJK SC"/>
              </a:rPr>
              <a:t>Stage → 语音输出</a:t>
            </a:r>
          </a:p>
        </p:txBody>
      </p:sp>
      <p:sp>
        <p:nvSpPr>
          <p:cNvPr id="505" name="持续保留的内容"/>
          <p:cNvSpPr txBox="1"/>
          <p:nvPr/>
        </p:nvSpPr>
        <p:spPr>
          <a:xfrm>
            <a:off x="9253728" y="2057400"/>
            <a:ext cx="2286000" cy="210312"/>
          </a:xfrm>
          <a:prstGeom prst="rect">
            <a:avLst/>
          </a:prstGeom>
          <a:noFill/>
        </p:spPr>
        <p:txBody>
          <a:bodyPr wrap="square" lIns="0" rIns="0" tIns="0" bIns="0" anchor="t">
            <a:noAutofit/>
          </a:bodyPr>
          <a:lstStyle/>
          <a:p>
            <a:pPr algn="l">
              <a:lnSpc>
                <a:spcPct val="108000"/>
              </a:lnSpc>
              <a:spcAft>
                <a:spcPts val="0"/>
              </a:spcAft>
            </a:pPr>
            <a:r>
              <a:rPr sz="1150" b="1">
                <a:solidFill>
                  <a:srgbClr val="526985"/>
                </a:solidFill>
                <a:latin typeface="Noto Sans CJK SC"/>
                <a:ea typeface="Noto Sans CJK SC"/>
                <a:cs typeface="Noto Sans CJK SC"/>
              </a:rPr>
              <a:t>持续保留的内容</a:t>
            </a:r>
          </a:p>
        </p:txBody>
      </p:sp>
      <p:sp>
        <p:nvSpPr>
          <p:cNvPr id="506" name="PersonaPlex row"/>
          <p:cNvSpPr/>
          <p:nvPr/>
        </p:nvSpPr>
        <p:spPr>
          <a:xfrm>
            <a:off x="548640" y="2368296"/>
            <a:ext cx="11082528" cy="886968"/>
          </a:xfrm>
          <a:prstGeom prst="rect">
            <a:avLst/>
          </a:prstGeom>
          <a:solidFill>
            <a:srgbClr val="F3F6FA"/>
          </a:solidFill>
          <a:ln w="11430">
            <a:noFill/>
          </a:ln>
        </p:spPr>
      </p:sp>
      <p:sp>
        <p:nvSpPr>
          <p:cNvPr id="507" name="PersonaPlex mode accent"/>
          <p:cNvSpPr/>
          <p:nvPr/>
        </p:nvSpPr>
        <p:spPr>
          <a:xfrm>
            <a:off x="548640" y="2368296"/>
            <a:ext cx="32004" cy="886968"/>
          </a:xfrm>
          <a:prstGeom prst="rect">
            <a:avLst/>
          </a:prstGeom>
          <a:solidFill>
            <a:srgbClr val="347FF0"/>
          </a:solidFill>
          <a:ln w="11430">
            <a:noFill/>
          </a:ln>
        </p:spPr>
      </p:sp>
      <p:cxnSp>
        <p:nvCxnSpPr>
          <p:cNvPr id="508" name="PersonaPlex state separator"/>
          <p:cNvCxnSpPr/>
          <p:nvPr/>
        </p:nvCxnSpPr>
        <p:spPr>
          <a:xfrm>
            <a:off x="9079992" y="2496312"/>
            <a:ext cx="0" cy="658368"/>
          </a:xfrm>
          <a:prstGeom prst="line">
            <a:avLst/>
          </a:prstGeom>
          <a:ln w="10795">
            <a:solidFill>
              <a:srgbClr val="CAD5E2"/>
            </a:solidFill>
            <a:tailEnd type="none" w="sm" len="sm"/>
          </a:ln>
        </p:spPr>
      </p:cxnSp>
      <p:sp>
        <p:nvSpPr>
          <p:cNvPr id="509" name="PersonaPlex"/>
          <p:cNvSpPr txBox="1"/>
          <p:nvPr/>
        </p:nvSpPr>
        <p:spPr>
          <a:xfrm>
            <a:off x="694944" y="2478024"/>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PersonaPlex</a:t>
            </a:r>
          </a:p>
        </p:txBody>
      </p:sp>
      <p:sp>
        <p:nvSpPr>
          <p:cNvPr id="510" name="native duplex"/>
          <p:cNvSpPr txBox="1"/>
          <p:nvPr/>
        </p:nvSpPr>
        <p:spPr>
          <a:xfrm>
            <a:off x="694944" y="2779776"/>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347FF0"/>
                </a:solidFill>
                <a:latin typeface="Arial"/>
                <a:ea typeface="Arial"/>
                <a:cs typeface="Arial"/>
              </a:rPr>
              <a:t>native duplex</a:t>
            </a:r>
          </a:p>
        </p:txBody>
      </p:sp>
      <p:sp>
        <p:nvSpPr>
          <p:cNvPr id="511" name="PCM 音频 · 80 ms / 帧"/>
          <p:cNvSpPr txBox="1"/>
          <p:nvPr/>
        </p:nvSpPr>
        <p:spPr>
          <a:xfrm>
            <a:off x="694944" y="3017520"/>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Noto Sans CJK SC"/>
                <a:ea typeface="Noto Sans CJK SC"/>
                <a:cs typeface="Noto Sans CJK SC"/>
              </a:rPr>
              <a:t>PCM 音频 · 80 ms / 帧</a:t>
            </a:r>
          </a:p>
        </p:txBody>
      </p:sp>
      <p:sp>
        <p:nvSpPr>
          <p:cNvPr id="512" name="计算状态"/>
          <p:cNvSpPr txBox="1"/>
          <p:nvPr/>
        </p:nvSpPr>
        <p:spPr>
          <a:xfrm>
            <a:off x="9253728" y="2532888"/>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347FF0"/>
                </a:solidFill>
                <a:latin typeface="Noto Sans CJK SC"/>
                <a:ea typeface="Noto Sans CJK SC"/>
                <a:cs typeface="Noto Sans CJK SC"/>
              </a:rPr>
              <a:t>计算状态</a:t>
            </a:r>
          </a:p>
        </p:txBody>
      </p:sp>
      <p:sp>
        <p:nvSpPr>
          <p:cNvPr id="513" name="S0：KV + Mimi encoder / S1：Mimi decoder"/>
          <p:cNvSpPr txBox="1"/>
          <p:nvPr/>
        </p:nvSpPr>
        <p:spPr>
          <a:xfrm>
            <a:off x="9253728" y="2816352"/>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Arial"/>
                <a:ea typeface="Arial"/>
                <a:cs typeface="Arial"/>
              </a:rPr>
              <a:t>S0：KV + Mimi encoder</a:t>
            </a:r>
          </a:p>
          <a:p>
            <a:pPr algn="l">
              <a:lnSpc>
                <a:spcPct val="108000"/>
              </a:lnSpc>
              <a:spcAft>
                <a:spcPts val="0"/>
              </a:spcAft>
            </a:pPr>
            <a:r>
              <a:rPr sz="1200" b="0">
                <a:solidFill>
                  <a:srgbClr val="16304E"/>
                </a:solidFill>
                <a:latin typeface="Arial"/>
                <a:ea typeface="Arial"/>
                <a:cs typeface="Arial"/>
              </a:rPr>
              <a:t>S1：Mimi decoder</a:t>
            </a:r>
          </a:p>
        </p:txBody>
      </p:sp>
      <p:sp>
        <p:nvSpPr>
          <p:cNvPr id="514" name="MiniCPM-o 4.5 row"/>
          <p:cNvSpPr/>
          <p:nvPr/>
        </p:nvSpPr>
        <p:spPr>
          <a:xfrm>
            <a:off x="548640" y="3310128"/>
            <a:ext cx="11082528" cy="886968"/>
          </a:xfrm>
          <a:prstGeom prst="rect">
            <a:avLst/>
          </a:prstGeom>
          <a:solidFill>
            <a:srgbClr val="F3F6FA"/>
          </a:solidFill>
          <a:ln w="11430">
            <a:noFill/>
          </a:ln>
        </p:spPr>
      </p:sp>
      <p:sp>
        <p:nvSpPr>
          <p:cNvPr id="515" name="MiniCPM-o 4.5 mode accent"/>
          <p:cNvSpPr/>
          <p:nvPr/>
        </p:nvSpPr>
        <p:spPr>
          <a:xfrm>
            <a:off x="548640" y="3310128"/>
            <a:ext cx="32004" cy="886968"/>
          </a:xfrm>
          <a:prstGeom prst="rect">
            <a:avLst/>
          </a:prstGeom>
          <a:solidFill>
            <a:srgbClr val="347FF0"/>
          </a:solidFill>
          <a:ln w="11430">
            <a:noFill/>
          </a:ln>
        </p:spPr>
      </p:sp>
      <p:cxnSp>
        <p:nvCxnSpPr>
          <p:cNvPr id="516" name="MiniCPM-o 4.5 state separator"/>
          <p:cNvCxnSpPr/>
          <p:nvPr/>
        </p:nvCxnSpPr>
        <p:spPr>
          <a:xfrm>
            <a:off x="9079992" y="3438144"/>
            <a:ext cx="0" cy="658368"/>
          </a:xfrm>
          <a:prstGeom prst="line">
            <a:avLst/>
          </a:prstGeom>
          <a:ln w="10795">
            <a:solidFill>
              <a:srgbClr val="CAD5E2"/>
            </a:solidFill>
            <a:tailEnd type="none" w="sm" len="sm"/>
          </a:ln>
        </p:spPr>
      </p:cxnSp>
      <p:sp>
        <p:nvSpPr>
          <p:cNvPr id="517" name="MiniCPM-o 4.5"/>
          <p:cNvSpPr txBox="1"/>
          <p:nvPr/>
        </p:nvSpPr>
        <p:spPr>
          <a:xfrm>
            <a:off x="694944" y="3419856"/>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MiniCPM-o 4.5</a:t>
            </a:r>
          </a:p>
        </p:txBody>
      </p:sp>
      <p:sp>
        <p:nvSpPr>
          <p:cNvPr id="518" name="native duplex"/>
          <p:cNvSpPr txBox="1"/>
          <p:nvPr/>
        </p:nvSpPr>
        <p:spPr>
          <a:xfrm>
            <a:off x="694944" y="3721608"/>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347FF0"/>
                </a:solidFill>
                <a:latin typeface="Arial"/>
                <a:ea typeface="Arial"/>
                <a:cs typeface="Arial"/>
              </a:rPr>
              <a:t>native duplex</a:t>
            </a:r>
          </a:p>
        </p:txBody>
      </p:sp>
      <p:sp>
        <p:nvSpPr>
          <p:cNvPr id="519" name="PCM 音频 + 视频"/>
          <p:cNvSpPr txBox="1"/>
          <p:nvPr/>
        </p:nvSpPr>
        <p:spPr>
          <a:xfrm>
            <a:off x="694944" y="3959352"/>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Noto Sans CJK SC"/>
                <a:ea typeface="Noto Sans CJK SC"/>
                <a:cs typeface="Noto Sans CJK SC"/>
              </a:rPr>
              <a:t>PCM 音频 + 视频</a:t>
            </a:r>
          </a:p>
        </p:txBody>
      </p:sp>
      <p:sp>
        <p:nvSpPr>
          <p:cNvPr id="520" name="计算状态"/>
          <p:cNvSpPr txBox="1"/>
          <p:nvPr/>
        </p:nvSpPr>
        <p:spPr>
          <a:xfrm>
            <a:off x="9253728" y="3474720"/>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347FF0"/>
                </a:solidFill>
                <a:latin typeface="Noto Sans CJK SC"/>
                <a:ea typeface="Noto Sans CJK SC"/>
                <a:cs typeface="Noto Sans CJK SC"/>
              </a:rPr>
              <a:t>计算状态</a:t>
            </a:r>
          </a:p>
        </p:txBody>
      </p:sp>
      <p:sp>
        <p:nvSpPr>
          <p:cNvPr id="521" name="S0：LLM KV + 音频状态 / LISTEN 保留活跃请求"/>
          <p:cNvSpPr txBox="1"/>
          <p:nvPr/>
        </p:nvSpPr>
        <p:spPr>
          <a:xfrm>
            <a:off x="9253728" y="3758184"/>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Noto Sans CJK SC"/>
                <a:ea typeface="Noto Sans CJK SC"/>
                <a:cs typeface="Noto Sans CJK SC"/>
              </a:rPr>
              <a:t>S0：LLM KV + 音频状态</a:t>
            </a:r>
          </a:p>
          <a:p>
            <a:pPr algn="l">
              <a:lnSpc>
                <a:spcPct val="108000"/>
              </a:lnSpc>
              <a:spcAft>
                <a:spcPts val="0"/>
              </a:spcAft>
            </a:pPr>
            <a:r>
              <a:rPr sz="1200" b="0">
                <a:solidFill>
                  <a:srgbClr val="16304E"/>
                </a:solidFill>
                <a:latin typeface="Noto Sans CJK SC"/>
                <a:ea typeface="Noto Sans CJK SC"/>
                <a:cs typeface="Noto Sans CJK SC"/>
              </a:rPr>
              <a:t>LISTEN 保留活跃请求</a:t>
            </a:r>
          </a:p>
        </p:txBody>
      </p:sp>
      <p:sp>
        <p:nvSpPr>
          <p:cNvPr id="522" name="AURA row"/>
          <p:cNvSpPr/>
          <p:nvPr/>
        </p:nvSpPr>
        <p:spPr>
          <a:xfrm>
            <a:off x="548640" y="4251960"/>
            <a:ext cx="11082528" cy="886968"/>
          </a:xfrm>
          <a:prstGeom prst="rect">
            <a:avLst/>
          </a:prstGeom>
          <a:solidFill>
            <a:srgbClr val="F3F6FA"/>
          </a:solidFill>
          <a:ln w="11430">
            <a:noFill/>
          </a:ln>
        </p:spPr>
      </p:sp>
      <p:sp>
        <p:nvSpPr>
          <p:cNvPr id="523" name="AURA mode accent"/>
          <p:cNvSpPr/>
          <p:nvPr/>
        </p:nvSpPr>
        <p:spPr>
          <a:xfrm>
            <a:off x="548640" y="4251960"/>
            <a:ext cx="32004" cy="886968"/>
          </a:xfrm>
          <a:prstGeom prst="rect">
            <a:avLst/>
          </a:prstGeom>
          <a:solidFill>
            <a:srgbClr val="008E96"/>
          </a:solidFill>
          <a:ln w="11430">
            <a:noFill/>
          </a:ln>
        </p:spPr>
      </p:sp>
      <p:cxnSp>
        <p:nvCxnSpPr>
          <p:cNvPr id="524" name="AURA state separator"/>
          <p:cNvCxnSpPr/>
          <p:nvPr/>
        </p:nvCxnSpPr>
        <p:spPr>
          <a:xfrm>
            <a:off x="9079992" y="4379976"/>
            <a:ext cx="0" cy="658368"/>
          </a:xfrm>
          <a:prstGeom prst="line">
            <a:avLst/>
          </a:prstGeom>
          <a:ln w="10795">
            <a:solidFill>
              <a:srgbClr val="CAD5E2"/>
            </a:solidFill>
            <a:tailEnd type="none" w="sm" len="sm"/>
          </a:ln>
        </p:spPr>
      </p:cxnSp>
      <p:sp>
        <p:nvSpPr>
          <p:cNvPr id="525" name="AURA"/>
          <p:cNvSpPr txBox="1"/>
          <p:nvPr/>
        </p:nvSpPr>
        <p:spPr>
          <a:xfrm>
            <a:off x="694944" y="4361688"/>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AURA</a:t>
            </a:r>
          </a:p>
        </p:txBody>
      </p:sp>
      <p:sp>
        <p:nvSpPr>
          <p:cNvPr id="526" name="turn-based · commit"/>
          <p:cNvSpPr txBox="1"/>
          <p:nvPr/>
        </p:nvSpPr>
        <p:spPr>
          <a:xfrm>
            <a:off x="694944" y="4663440"/>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008E96"/>
                </a:solidFill>
                <a:latin typeface="Arial"/>
                <a:ea typeface="Arial"/>
                <a:cs typeface="Arial"/>
              </a:rPr>
              <a:t>turn-based · commit</a:t>
            </a:r>
          </a:p>
        </p:txBody>
      </p:sp>
      <p:sp>
        <p:nvSpPr>
          <p:cNvPr id="527" name="PCM 音频 + 视频"/>
          <p:cNvSpPr txBox="1"/>
          <p:nvPr/>
        </p:nvSpPr>
        <p:spPr>
          <a:xfrm>
            <a:off x="694944" y="4901184"/>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Noto Sans CJK SC"/>
                <a:ea typeface="Noto Sans CJK SC"/>
                <a:cs typeface="Noto Sans CJK SC"/>
              </a:rPr>
              <a:t>PCM 音频 + 视频</a:t>
            </a:r>
          </a:p>
        </p:txBody>
      </p:sp>
      <p:sp>
        <p:nvSpPr>
          <p:cNvPr id="528" name="对话历史"/>
          <p:cNvSpPr txBox="1"/>
          <p:nvPr/>
        </p:nvSpPr>
        <p:spPr>
          <a:xfrm>
            <a:off x="9253728" y="4416552"/>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008E96"/>
                </a:solidFill>
                <a:latin typeface="Noto Sans CJK SC"/>
                <a:ea typeface="Noto Sans CJK SC"/>
                <a:cs typeface="Noto Sans CJK SC"/>
              </a:rPr>
              <a:t>对话历史</a:t>
            </a:r>
          </a:p>
        </p:txBody>
      </p:sp>
      <p:sp>
        <p:nvSpPr>
          <p:cNvPr id="529" name="ASR 文本 + 视频片段 / + 助手文本"/>
          <p:cNvSpPr txBox="1"/>
          <p:nvPr/>
        </p:nvSpPr>
        <p:spPr>
          <a:xfrm>
            <a:off x="9253728" y="4700016"/>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Noto Sans CJK SC"/>
                <a:ea typeface="Noto Sans CJK SC"/>
                <a:cs typeface="Noto Sans CJK SC"/>
              </a:rPr>
              <a:t>ASR 文本 + 视频片段</a:t>
            </a:r>
          </a:p>
          <a:p>
            <a:pPr algn="l">
              <a:lnSpc>
                <a:spcPct val="108000"/>
              </a:lnSpc>
              <a:spcAft>
                <a:spcPts val="0"/>
              </a:spcAft>
            </a:pPr>
            <a:r>
              <a:rPr sz="1200" b="0">
                <a:solidFill>
                  <a:srgbClr val="16304E"/>
                </a:solidFill>
                <a:latin typeface="Noto Sans CJK SC"/>
                <a:ea typeface="Noto Sans CJK SC"/>
                <a:cs typeface="Noto Sans CJK SC"/>
              </a:rPr>
              <a:t>+ 助手文本</a:t>
            </a:r>
          </a:p>
        </p:txBody>
      </p:sp>
      <p:sp>
        <p:nvSpPr>
          <p:cNvPr id="530" name="Qwen3-Omni row"/>
          <p:cNvSpPr/>
          <p:nvPr/>
        </p:nvSpPr>
        <p:spPr>
          <a:xfrm>
            <a:off x="548640" y="5193792"/>
            <a:ext cx="11082528" cy="886968"/>
          </a:xfrm>
          <a:prstGeom prst="rect">
            <a:avLst/>
          </a:prstGeom>
          <a:solidFill>
            <a:srgbClr val="F3F6FA"/>
          </a:solidFill>
          <a:ln w="11430">
            <a:noFill/>
          </a:ln>
        </p:spPr>
      </p:sp>
      <p:sp>
        <p:nvSpPr>
          <p:cNvPr id="531" name="Qwen3-Omni mode accent"/>
          <p:cNvSpPr/>
          <p:nvPr/>
        </p:nvSpPr>
        <p:spPr>
          <a:xfrm>
            <a:off x="548640" y="5193792"/>
            <a:ext cx="32004" cy="886968"/>
          </a:xfrm>
          <a:prstGeom prst="rect">
            <a:avLst/>
          </a:prstGeom>
          <a:solidFill>
            <a:srgbClr val="008E96"/>
          </a:solidFill>
          <a:ln w="11430">
            <a:noFill/>
          </a:ln>
        </p:spPr>
      </p:sp>
      <p:cxnSp>
        <p:nvCxnSpPr>
          <p:cNvPr id="532" name="Qwen3-Omni state separator"/>
          <p:cNvCxnSpPr/>
          <p:nvPr/>
        </p:nvCxnSpPr>
        <p:spPr>
          <a:xfrm>
            <a:off x="9079992" y="5321808"/>
            <a:ext cx="0" cy="658368"/>
          </a:xfrm>
          <a:prstGeom prst="line">
            <a:avLst/>
          </a:prstGeom>
          <a:ln w="10795">
            <a:solidFill>
              <a:srgbClr val="CAD5E2"/>
            </a:solidFill>
            <a:tailEnd type="none" w="sm" len="sm"/>
          </a:ln>
        </p:spPr>
      </p:cxnSp>
      <p:sp>
        <p:nvSpPr>
          <p:cNvPr id="533" name="Qwen3-Omni"/>
          <p:cNvSpPr txBox="1"/>
          <p:nvPr/>
        </p:nvSpPr>
        <p:spPr>
          <a:xfrm>
            <a:off x="694944" y="5303520"/>
            <a:ext cx="1691640" cy="237744"/>
          </a:xfrm>
          <a:prstGeom prst="rect">
            <a:avLst/>
          </a:prstGeom>
          <a:noFill/>
        </p:spPr>
        <p:txBody>
          <a:bodyPr wrap="square" lIns="0" rIns="0" tIns="0" bIns="0" anchor="t">
            <a:noAutofit/>
          </a:bodyPr>
          <a:lstStyle/>
          <a:p>
            <a:pPr algn="l">
              <a:lnSpc>
                <a:spcPct val="108000"/>
              </a:lnSpc>
              <a:spcAft>
                <a:spcPts val="0"/>
              </a:spcAft>
            </a:pPr>
            <a:r>
              <a:rPr sz="1500" b="1">
                <a:solidFill>
                  <a:srgbClr val="16304E"/>
                </a:solidFill>
                <a:latin typeface="Arial"/>
                <a:ea typeface="Arial"/>
                <a:cs typeface="Arial"/>
              </a:rPr>
              <a:t>Qwen3-Omni</a:t>
            </a:r>
          </a:p>
        </p:txBody>
      </p:sp>
      <p:sp>
        <p:nvSpPr>
          <p:cNvPr id="534" name="turn-based · commit"/>
          <p:cNvSpPr txBox="1"/>
          <p:nvPr/>
        </p:nvSpPr>
        <p:spPr>
          <a:xfrm>
            <a:off x="694944" y="5605272"/>
            <a:ext cx="1682496" cy="182880"/>
          </a:xfrm>
          <a:prstGeom prst="rect">
            <a:avLst/>
          </a:prstGeom>
          <a:noFill/>
        </p:spPr>
        <p:txBody>
          <a:bodyPr wrap="square" lIns="0" rIns="0" tIns="0" bIns="0" anchor="t">
            <a:noAutofit/>
          </a:bodyPr>
          <a:lstStyle/>
          <a:p>
            <a:pPr algn="l">
              <a:lnSpc>
                <a:spcPct val="108000"/>
              </a:lnSpc>
              <a:spcAft>
                <a:spcPts val="0"/>
              </a:spcAft>
            </a:pPr>
            <a:r>
              <a:rPr sz="1130" b="0">
                <a:solidFill>
                  <a:srgbClr val="008E96"/>
                </a:solidFill>
                <a:latin typeface="Arial"/>
                <a:ea typeface="Arial"/>
                <a:cs typeface="Arial"/>
              </a:rPr>
              <a:t>turn-based · commit</a:t>
            </a:r>
          </a:p>
        </p:txBody>
      </p:sp>
      <p:sp>
        <p:nvSpPr>
          <p:cNvPr id="535" name="PCM 音频 + 图像"/>
          <p:cNvSpPr txBox="1"/>
          <p:nvPr/>
        </p:nvSpPr>
        <p:spPr>
          <a:xfrm>
            <a:off x="694944" y="5843016"/>
            <a:ext cx="1700784" cy="164592"/>
          </a:xfrm>
          <a:prstGeom prst="rect">
            <a:avLst/>
          </a:prstGeom>
          <a:noFill/>
        </p:spPr>
        <p:txBody>
          <a:bodyPr wrap="square" lIns="0" rIns="0" tIns="0" bIns="0" anchor="t">
            <a:noAutofit/>
          </a:bodyPr>
          <a:lstStyle/>
          <a:p>
            <a:pPr algn="l">
              <a:lnSpc>
                <a:spcPct val="108000"/>
              </a:lnSpc>
              <a:spcAft>
                <a:spcPts val="0"/>
              </a:spcAft>
            </a:pPr>
            <a:r>
              <a:rPr sz="1110" b="0">
                <a:solidFill>
                  <a:srgbClr val="526985"/>
                </a:solidFill>
                <a:latin typeface="Noto Sans CJK SC"/>
                <a:ea typeface="Noto Sans CJK SC"/>
                <a:cs typeface="Noto Sans CJK SC"/>
              </a:rPr>
              <a:t>PCM 音频 + 图像</a:t>
            </a:r>
          </a:p>
        </p:txBody>
      </p:sp>
      <p:sp>
        <p:nvSpPr>
          <p:cNvPr id="536" name="对话历史"/>
          <p:cNvSpPr txBox="1"/>
          <p:nvPr/>
        </p:nvSpPr>
        <p:spPr>
          <a:xfrm>
            <a:off x="9253728" y="5358384"/>
            <a:ext cx="2221992" cy="210312"/>
          </a:xfrm>
          <a:prstGeom prst="rect">
            <a:avLst/>
          </a:prstGeom>
          <a:noFill/>
        </p:spPr>
        <p:txBody>
          <a:bodyPr wrap="square" lIns="0" rIns="0" tIns="0" bIns="0" anchor="t">
            <a:noAutofit/>
          </a:bodyPr>
          <a:lstStyle/>
          <a:p>
            <a:pPr algn="l">
              <a:lnSpc>
                <a:spcPct val="108000"/>
              </a:lnSpc>
              <a:spcAft>
                <a:spcPts val="0"/>
              </a:spcAft>
            </a:pPr>
            <a:r>
              <a:rPr sz="1250" b="1">
                <a:solidFill>
                  <a:srgbClr val="008E96"/>
                </a:solidFill>
                <a:latin typeface="Noto Sans CJK SC"/>
                <a:ea typeface="Noto Sans CJK SC"/>
                <a:cs typeface="Noto Sans CJK SC"/>
              </a:rPr>
              <a:t>对话历史</a:t>
            </a:r>
          </a:p>
        </p:txBody>
      </p:sp>
      <p:sp>
        <p:nvSpPr>
          <p:cNvPr id="537" name="用户音频 + 图像 / + 对话文本"/>
          <p:cNvSpPr txBox="1"/>
          <p:nvPr/>
        </p:nvSpPr>
        <p:spPr>
          <a:xfrm>
            <a:off x="9253728" y="5641848"/>
            <a:ext cx="2221992" cy="365760"/>
          </a:xfrm>
          <a:prstGeom prst="rect">
            <a:avLst/>
          </a:prstGeom>
          <a:noFill/>
        </p:spPr>
        <p:txBody>
          <a:bodyPr wrap="square" lIns="0" rIns="0" tIns="0" bIns="0" anchor="t">
            <a:noAutofit/>
          </a:bodyPr>
          <a:lstStyle/>
          <a:p>
            <a:pPr algn="l">
              <a:lnSpc>
                <a:spcPct val="108000"/>
              </a:lnSpc>
              <a:spcAft>
                <a:spcPts val="0"/>
              </a:spcAft>
            </a:pPr>
            <a:r>
              <a:rPr sz="1200" b="0">
                <a:solidFill>
                  <a:srgbClr val="16304E"/>
                </a:solidFill>
                <a:latin typeface="Noto Sans CJK SC"/>
                <a:ea typeface="Noto Sans CJK SC"/>
                <a:cs typeface="Noto Sans CJK SC"/>
              </a:rPr>
              <a:t>用户音频 + 图像</a:t>
            </a:r>
          </a:p>
          <a:p>
            <a:pPr algn="l">
              <a:lnSpc>
                <a:spcPct val="108000"/>
              </a:lnSpc>
              <a:spcAft>
                <a:spcPts val="0"/>
              </a:spcAft>
            </a:pPr>
            <a:r>
              <a:rPr sz="1200" b="0">
                <a:solidFill>
                  <a:srgbClr val="16304E"/>
                </a:solidFill>
                <a:latin typeface="Noto Sans CJK SC"/>
                <a:ea typeface="Noto Sans CJK SC"/>
                <a:cs typeface="Noto Sans CJK SC"/>
              </a:rPr>
              <a:t>+ 对话文本</a:t>
            </a:r>
          </a:p>
        </p:txBody>
      </p:sp>
      <p:sp>
        <p:nvSpPr>
          <p:cNvPr id="538" name="S0 · Talker Stage"/>
          <p:cNvSpPr/>
          <p:nvPr/>
        </p:nvSpPr>
        <p:spPr>
          <a:xfrm>
            <a:off x="2441448" y="2569464"/>
            <a:ext cx="3337560" cy="603504"/>
          </a:xfrm>
          <a:prstGeom prst="roundRect">
            <a:avLst>
              <a:gd name="adj" fmla="val 6000"/>
            </a:avLst>
          </a:prstGeom>
          <a:solidFill>
            <a:srgbClr val="FFFFFF"/>
          </a:solidFill>
          <a:ln w="11430">
            <a:solidFill>
              <a:srgbClr val="9EB3CB"/>
            </a:solidFill>
          </a:ln>
        </p:spPr>
      </p:sp>
      <p:sp>
        <p:nvSpPr>
          <p:cNvPr id="539" name="S0 · Talker"/>
          <p:cNvSpPr txBox="1"/>
          <p:nvPr/>
        </p:nvSpPr>
        <p:spPr>
          <a:xfrm>
            <a:off x="2482596" y="2647188"/>
            <a:ext cx="3255264"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S0 · Talker</a:t>
            </a:r>
          </a:p>
        </p:txBody>
      </p:sp>
      <p:sp>
        <p:nvSpPr>
          <p:cNvPr id="540" name="Mimi 编码 · Temporal · Depformer"/>
          <p:cNvSpPr txBox="1"/>
          <p:nvPr/>
        </p:nvSpPr>
        <p:spPr>
          <a:xfrm>
            <a:off x="2473452" y="2926080"/>
            <a:ext cx="327355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Mimi 编码 · Temporal · Depformer</a:t>
            </a:r>
          </a:p>
        </p:txBody>
      </p:sp>
      <p:sp>
        <p:nvSpPr>
          <p:cNvPr id="541" name="S1 · Code2Wav Stage"/>
          <p:cNvSpPr/>
          <p:nvPr/>
        </p:nvSpPr>
        <p:spPr>
          <a:xfrm>
            <a:off x="6693408" y="2569464"/>
            <a:ext cx="2176272" cy="603504"/>
          </a:xfrm>
          <a:prstGeom prst="roundRect">
            <a:avLst>
              <a:gd name="adj" fmla="val 6000"/>
            </a:avLst>
          </a:prstGeom>
          <a:solidFill>
            <a:srgbClr val="FFFFFF"/>
          </a:solidFill>
          <a:ln w="11430">
            <a:solidFill>
              <a:srgbClr val="9EB3CB"/>
            </a:solidFill>
          </a:ln>
        </p:spPr>
      </p:sp>
      <p:sp>
        <p:nvSpPr>
          <p:cNvPr id="542" name="S1 · Code2Wav"/>
          <p:cNvSpPr txBox="1"/>
          <p:nvPr/>
        </p:nvSpPr>
        <p:spPr>
          <a:xfrm>
            <a:off x="6734556" y="2647188"/>
            <a:ext cx="2093976"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S1 · Code2Wav</a:t>
            </a:r>
          </a:p>
        </p:txBody>
      </p:sp>
      <p:sp>
        <p:nvSpPr>
          <p:cNvPr id="543" name="Mimi → 24 kHz PCM"/>
          <p:cNvSpPr txBox="1"/>
          <p:nvPr/>
        </p:nvSpPr>
        <p:spPr>
          <a:xfrm>
            <a:off x="6725412" y="2926080"/>
            <a:ext cx="21122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Mimi → 24 kHz PCM</a:t>
            </a:r>
          </a:p>
        </p:txBody>
      </p:sp>
      <p:cxnSp>
        <p:nvCxnSpPr>
          <p:cNvPr id="544" name="8 audio codebooks transfer"/>
          <p:cNvCxnSpPr/>
          <p:nvPr/>
        </p:nvCxnSpPr>
        <p:spPr>
          <a:xfrm>
            <a:off x="5833872" y="2871216"/>
            <a:ext cx="795528" cy="0"/>
          </a:xfrm>
          <a:prstGeom prst="line">
            <a:avLst/>
          </a:prstGeom>
          <a:ln w="17145">
            <a:solidFill>
              <a:srgbClr val="347FF0"/>
            </a:solidFill>
            <a:tailEnd type="triangle" w="sm" len="sm"/>
          </a:ln>
        </p:spPr>
      </p:cxnSp>
      <p:sp>
        <p:nvSpPr>
          <p:cNvPr id="545" name="8 组 audio codebooks"/>
          <p:cNvSpPr txBox="1"/>
          <p:nvPr/>
        </p:nvSpPr>
        <p:spPr>
          <a:xfrm>
            <a:off x="5445252" y="2400300"/>
            <a:ext cx="1581912"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8 组 audio codebooks</a:t>
            </a:r>
          </a:p>
        </p:txBody>
      </p:sp>
      <p:sp>
        <p:nvSpPr>
          <p:cNvPr id="546" name="S0 · LLM Stage"/>
          <p:cNvSpPr/>
          <p:nvPr/>
        </p:nvSpPr>
        <p:spPr>
          <a:xfrm>
            <a:off x="2441448" y="3511296"/>
            <a:ext cx="1719072" cy="603504"/>
          </a:xfrm>
          <a:prstGeom prst="roundRect">
            <a:avLst>
              <a:gd name="adj" fmla="val 6000"/>
            </a:avLst>
          </a:prstGeom>
          <a:solidFill>
            <a:srgbClr val="FFFFFF"/>
          </a:solidFill>
          <a:ln w="11430">
            <a:solidFill>
              <a:srgbClr val="9EB3CB"/>
            </a:solidFill>
          </a:ln>
        </p:spPr>
      </p:sp>
      <p:sp>
        <p:nvSpPr>
          <p:cNvPr id="547" name="S0 · LLM"/>
          <p:cNvSpPr txBox="1"/>
          <p:nvPr/>
        </p:nvSpPr>
        <p:spPr>
          <a:xfrm>
            <a:off x="2482596" y="3589020"/>
            <a:ext cx="1636776"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S0 · LLM</a:t>
            </a:r>
          </a:p>
        </p:txBody>
      </p:sp>
      <p:sp>
        <p:nvSpPr>
          <p:cNvPr id="548" name="音频 + 视频"/>
          <p:cNvSpPr txBox="1"/>
          <p:nvPr/>
        </p:nvSpPr>
        <p:spPr>
          <a:xfrm>
            <a:off x="2473452" y="3867912"/>
            <a:ext cx="16550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音频 + 视频</a:t>
            </a:r>
          </a:p>
        </p:txBody>
      </p:sp>
      <p:sp>
        <p:nvSpPr>
          <p:cNvPr id="549" name="S1 · Talker Stage"/>
          <p:cNvSpPr/>
          <p:nvPr/>
        </p:nvSpPr>
        <p:spPr>
          <a:xfrm>
            <a:off x="5093208" y="3511296"/>
            <a:ext cx="1481328" cy="603504"/>
          </a:xfrm>
          <a:prstGeom prst="roundRect">
            <a:avLst>
              <a:gd name="adj" fmla="val 6000"/>
            </a:avLst>
          </a:prstGeom>
          <a:solidFill>
            <a:srgbClr val="FFFFFF"/>
          </a:solidFill>
          <a:ln w="11430">
            <a:solidFill>
              <a:srgbClr val="9EB3CB"/>
            </a:solidFill>
          </a:ln>
        </p:spPr>
      </p:sp>
      <p:sp>
        <p:nvSpPr>
          <p:cNvPr id="550" name="S1 · Talker"/>
          <p:cNvSpPr txBox="1"/>
          <p:nvPr/>
        </p:nvSpPr>
        <p:spPr>
          <a:xfrm>
            <a:off x="5134356" y="3589020"/>
            <a:ext cx="1399032"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S1 · Talker</a:t>
            </a:r>
          </a:p>
        </p:txBody>
      </p:sp>
      <p:sp>
        <p:nvSpPr>
          <p:cNvPr id="551" name="生成 audio tokens"/>
          <p:cNvSpPr txBox="1"/>
          <p:nvPr/>
        </p:nvSpPr>
        <p:spPr>
          <a:xfrm>
            <a:off x="5125212" y="3867912"/>
            <a:ext cx="1417320"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生成 audio tokens</a:t>
            </a:r>
          </a:p>
        </p:txBody>
      </p:sp>
      <p:sp>
        <p:nvSpPr>
          <p:cNvPr id="552" name="S2 · Code2Wav Stage"/>
          <p:cNvSpPr/>
          <p:nvPr/>
        </p:nvSpPr>
        <p:spPr>
          <a:xfrm>
            <a:off x="7443216" y="3511296"/>
            <a:ext cx="1426464" cy="603504"/>
          </a:xfrm>
          <a:prstGeom prst="roundRect">
            <a:avLst>
              <a:gd name="adj" fmla="val 6000"/>
            </a:avLst>
          </a:prstGeom>
          <a:solidFill>
            <a:srgbClr val="FFFFFF"/>
          </a:solidFill>
          <a:ln w="11430">
            <a:solidFill>
              <a:srgbClr val="9EB3CB"/>
            </a:solidFill>
          </a:ln>
        </p:spPr>
      </p:sp>
      <p:sp>
        <p:nvSpPr>
          <p:cNvPr id="553" name="S2 · Code2Wav"/>
          <p:cNvSpPr txBox="1"/>
          <p:nvPr/>
        </p:nvSpPr>
        <p:spPr>
          <a:xfrm>
            <a:off x="7484364" y="3589020"/>
            <a:ext cx="1344168" cy="219456"/>
          </a:xfrm>
          <a:prstGeom prst="rect">
            <a:avLst/>
          </a:prstGeom>
          <a:noFill/>
        </p:spPr>
        <p:txBody>
          <a:bodyPr wrap="square" lIns="0" rIns="0" tIns="0" bIns="0" anchor="t">
            <a:noAutofit/>
          </a:bodyPr>
          <a:lstStyle/>
          <a:p>
            <a:pPr algn="ctr">
              <a:lnSpc>
                <a:spcPct val="108000"/>
              </a:lnSpc>
              <a:spcAft>
                <a:spcPts val="0"/>
              </a:spcAft>
            </a:pPr>
            <a:r>
              <a:rPr sz="1400" b="1">
                <a:solidFill>
                  <a:srgbClr val="347FF0"/>
                </a:solidFill>
                <a:latin typeface="Arial"/>
                <a:ea typeface="Arial"/>
                <a:cs typeface="Arial"/>
              </a:rPr>
              <a:t>S2 · Code2Wav</a:t>
            </a:r>
          </a:p>
        </p:txBody>
      </p:sp>
      <p:sp>
        <p:nvSpPr>
          <p:cNvPr id="554" name="Tokens → PCM"/>
          <p:cNvSpPr txBox="1"/>
          <p:nvPr/>
        </p:nvSpPr>
        <p:spPr>
          <a:xfrm>
            <a:off x="7475220" y="3867912"/>
            <a:ext cx="1362456"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55" name="SPEAK: text + features transfer"/>
          <p:cNvCxnSpPr/>
          <p:nvPr/>
        </p:nvCxnSpPr>
        <p:spPr>
          <a:xfrm>
            <a:off x="4215384" y="3813048"/>
            <a:ext cx="813816" cy="0"/>
          </a:xfrm>
          <a:prstGeom prst="line">
            <a:avLst/>
          </a:prstGeom>
          <a:ln w="17145">
            <a:solidFill>
              <a:srgbClr val="347FF0"/>
            </a:solidFill>
            <a:tailEnd type="triangle" w="sm" len="sm"/>
          </a:ln>
        </p:spPr>
      </p:cxnSp>
      <p:sp>
        <p:nvSpPr>
          <p:cNvPr id="556" name="SPEAK：文本 + 特征"/>
          <p:cNvSpPr txBox="1"/>
          <p:nvPr/>
        </p:nvSpPr>
        <p:spPr>
          <a:xfrm>
            <a:off x="3657600" y="3342132"/>
            <a:ext cx="1938528"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SPEAK：文本 + 特征</a:t>
            </a:r>
          </a:p>
        </p:txBody>
      </p:sp>
      <p:cxnSp>
        <p:nvCxnSpPr>
          <p:cNvPr id="557" name="Audio tokens transfer"/>
          <p:cNvCxnSpPr/>
          <p:nvPr/>
        </p:nvCxnSpPr>
        <p:spPr>
          <a:xfrm>
            <a:off x="6629400" y="3813048"/>
            <a:ext cx="749808" cy="0"/>
          </a:xfrm>
          <a:prstGeom prst="line">
            <a:avLst/>
          </a:prstGeom>
          <a:ln w="17145">
            <a:solidFill>
              <a:srgbClr val="347FF0"/>
            </a:solidFill>
            <a:tailEnd type="triangle" w="sm" len="sm"/>
          </a:ln>
        </p:spPr>
      </p:cxnSp>
      <p:sp>
        <p:nvSpPr>
          <p:cNvPr id="558" name="Audio tokens"/>
          <p:cNvSpPr txBox="1"/>
          <p:nvPr/>
        </p:nvSpPr>
        <p:spPr>
          <a:xfrm>
            <a:off x="6437376" y="3342132"/>
            <a:ext cx="11430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59" name="S0 · ASR Stage"/>
          <p:cNvSpPr/>
          <p:nvPr/>
        </p:nvSpPr>
        <p:spPr>
          <a:xfrm>
            <a:off x="2441448" y="4453128"/>
            <a:ext cx="1005840" cy="603504"/>
          </a:xfrm>
          <a:prstGeom prst="roundRect">
            <a:avLst>
              <a:gd name="adj" fmla="val 6000"/>
            </a:avLst>
          </a:prstGeom>
          <a:solidFill>
            <a:srgbClr val="FFFFFF"/>
          </a:solidFill>
          <a:ln w="11430">
            <a:solidFill>
              <a:srgbClr val="9EB3CB"/>
            </a:solidFill>
          </a:ln>
        </p:spPr>
      </p:sp>
      <p:sp>
        <p:nvSpPr>
          <p:cNvPr id="560" name="S0 · ASR"/>
          <p:cNvSpPr txBox="1"/>
          <p:nvPr/>
        </p:nvSpPr>
        <p:spPr>
          <a:xfrm>
            <a:off x="2482596" y="4530852"/>
            <a:ext cx="923544"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S0 · ASR</a:t>
            </a:r>
          </a:p>
        </p:txBody>
      </p:sp>
      <p:sp>
        <p:nvSpPr>
          <p:cNvPr id="561" name="音频 → 文本"/>
          <p:cNvSpPr txBox="1"/>
          <p:nvPr/>
        </p:nvSpPr>
        <p:spPr>
          <a:xfrm>
            <a:off x="2473452" y="4809744"/>
            <a:ext cx="94183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音频 → 文本</a:t>
            </a:r>
          </a:p>
        </p:txBody>
      </p:sp>
      <p:sp>
        <p:nvSpPr>
          <p:cNvPr id="562" name="S1 · Thinker Stage"/>
          <p:cNvSpPr/>
          <p:nvPr/>
        </p:nvSpPr>
        <p:spPr>
          <a:xfrm>
            <a:off x="3959352" y="4453128"/>
            <a:ext cx="1316736" cy="603504"/>
          </a:xfrm>
          <a:prstGeom prst="roundRect">
            <a:avLst>
              <a:gd name="adj" fmla="val 6000"/>
            </a:avLst>
          </a:prstGeom>
          <a:solidFill>
            <a:srgbClr val="FFFFFF"/>
          </a:solidFill>
          <a:ln w="11430">
            <a:solidFill>
              <a:srgbClr val="9EB3CB"/>
            </a:solidFill>
          </a:ln>
        </p:spPr>
      </p:sp>
      <p:sp>
        <p:nvSpPr>
          <p:cNvPr id="563" name="S1 · Thinker"/>
          <p:cNvSpPr txBox="1"/>
          <p:nvPr/>
        </p:nvSpPr>
        <p:spPr>
          <a:xfrm>
            <a:off x="4000500" y="4530852"/>
            <a:ext cx="1234440"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S1 · Thinker</a:t>
            </a:r>
          </a:p>
        </p:txBody>
      </p:sp>
      <p:sp>
        <p:nvSpPr>
          <p:cNvPr id="564" name="文本 + 视频"/>
          <p:cNvSpPr txBox="1"/>
          <p:nvPr/>
        </p:nvSpPr>
        <p:spPr>
          <a:xfrm>
            <a:off x="3991356" y="4809744"/>
            <a:ext cx="1252728"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文本 + 视频</a:t>
            </a:r>
          </a:p>
        </p:txBody>
      </p:sp>
      <p:sp>
        <p:nvSpPr>
          <p:cNvPr id="565" name="S2 · Talker Stage"/>
          <p:cNvSpPr/>
          <p:nvPr/>
        </p:nvSpPr>
        <p:spPr>
          <a:xfrm>
            <a:off x="5788152" y="4453128"/>
            <a:ext cx="1280160" cy="603504"/>
          </a:xfrm>
          <a:prstGeom prst="roundRect">
            <a:avLst>
              <a:gd name="adj" fmla="val 6000"/>
            </a:avLst>
          </a:prstGeom>
          <a:solidFill>
            <a:srgbClr val="FFFFFF"/>
          </a:solidFill>
          <a:ln w="11430">
            <a:solidFill>
              <a:srgbClr val="9EB3CB"/>
            </a:solidFill>
          </a:ln>
        </p:spPr>
      </p:sp>
      <p:sp>
        <p:nvSpPr>
          <p:cNvPr id="566" name="S2 · Talker"/>
          <p:cNvSpPr txBox="1"/>
          <p:nvPr/>
        </p:nvSpPr>
        <p:spPr>
          <a:xfrm>
            <a:off x="5829300" y="4530852"/>
            <a:ext cx="1197864"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S2 · Talker</a:t>
            </a:r>
          </a:p>
        </p:txBody>
      </p:sp>
      <p:sp>
        <p:nvSpPr>
          <p:cNvPr id="567" name="文本 → tokens"/>
          <p:cNvSpPr txBox="1"/>
          <p:nvPr/>
        </p:nvSpPr>
        <p:spPr>
          <a:xfrm>
            <a:off x="5820156" y="4809744"/>
            <a:ext cx="121615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文本 → tokens</a:t>
            </a:r>
          </a:p>
        </p:txBody>
      </p:sp>
      <p:sp>
        <p:nvSpPr>
          <p:cNvPr id="568" name="S3 · Code2Wav Stage"/>
          <p:cNvSpPr/>
          <p:nvPr/>
        </p:nvSpPr>
        <p:spPr>
          <a:xfrm>
            <a:off x="7543800" y="4453128"/>
            <a:ext cx="1325880" cy="603504"/>
          </a:xfrm>
          <a:prstGeom prst="roundRect">
            <a:avLst>
              <a:gd name="adj" fmla="val 6000"/>
            </a:avLst>
          </a:prstGeom>
          <a:solidFill>
            <a:srgbClr val="FFFFFF"/>
          </a:solidFill>
          <a:ln w="11430">
            <a:solidFill>
              <a:srgbClr val="9EB3CB"/>
            </a:solidFill>
          </a:ln>
        </p:spPr>
      </p:sp>
      <p:sp>
        <p:nvSpPr>
          <p:cNvPr id="569" name="S3 · Code2Wav"/>
          <p:cNvSpPr txBox="1"/>
          <p:nvPr/>
        </p:nvSpPr>
        <p:spPr>
          <a:xfrm>
            <a:off x="7584948" y="4530852"/>
            <a:ext cx="1243584" cy="219456"/>
          </a:xfrm>
          <a:prstGeom prst="rect">
            <a:avLst/>
          </a:prstGeom>
          <a:noFill/>
        </p:spPr>
        <p:txBody>
          <a:bodyPr wrap="square" lIns="0" rIns="0" tIns="0" bIns="0" anchor="t">
            <a:noAutofit/>
          </a:bodyPr>
          <a:lstStyle/>
          <a:p>
            <a:pPr algn="ctr">
              <a:lnSpc>
                <a:spcPct val="108000"/>
              </a:lnSpc>
              <a:spcAft>
                <a:spcPts val="0"/>
              </a:spcAft>
            </a:pPr>
            <a:r>
              <a:rPr sz="1300" b="1">
                <a:solidFill>
                  <a:srgbClr val="008E96"/>
                </a:solidFill>
                <a:latin typeface="Arial"/>
                <a:ea typeface="Arial"/>
                <a:cs typeface="Arial"/>
              </a:rPr>
              <a:t>S3 · Code2Wav</a:t>
            </a:r>
          </a:p>
        </p:txBody>
      </p:sp>
      <p:sp>
        <p:nvSpPr>
          <p:cNvPr id="570" name="Tokens → PCM"/>
          <p:cNvSpPr txBox="1"/>
          <p:nvPr/>
        </p:nvSpPr>
        <p:spPr>
          <a:xfrm>
            <a:off x="7575804" y="4809744"/>
            <a:ext cx="1261872"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71" name="Text transfer"/>
          <p:cNvCxnSpPr/>
          <p:nvPr/>
        </p:nvCxnSpPr>
        <p:spPr>
          <a:xfrm>
            <a:off x="3502152" y="4754880"/>
            <a:ext cx="393192" cy="0"/>
          </a:xfrm>
          <a:prstGeom prst="line">
            <a:avLst/>
          </a:prstGeom>
          <a:ln w="17145">
            <a:solidFill>
              <a:srgbClr val="008E96"/>
            </a:solidFill>
            <a:tailEnd type="triangle" w="sm" len="sm"/>
          </a:ln>
        </p:spPr>
      </p:cxnSp>
      <p:sp>
        <p:nvSpPr>
          <p:cNvPr id="572" name="文本"/>
          <p:cNvSpPr txBox="1"/>
          <p:nvPr/>
        </p:nvSpPr>
        <p:spPr>
          <a:xfrm>
            <a:off x="3360420" y="4283964"/>
            <a:ext cx="6858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文本</a:t>
            </a:r>
          </a:p>
        </p:txBody>
      </p:sp>
      <p:cxnSp>
        <p:nvCxnSpPr>
          <p:cNvPr id="573" name="Text transfer"/>
          <p:cNvCxnSpPr/>
          <p:nvPr/>
        </p:nvCxnSpPr>
        <p:spPr>
          <a:xfrm>
            <a:off x="5330952" y="4754880"/>
            <a:ext cx="393192" cy="0"/>
          </a:xfrm>
          <a:prstGeom prst="line">
            <a:avLst/>
          </a:prstGeom>
          <a:ln w="17145">
            <a:solidFill>
              <a:srgbClr val="008E96"/>
            </a:solidFill>
            <a:tailEnd type="triangle" w="sm" len="sm"/>
          </a:ln>
        </p:spPr>
      </p:cxnSp>
      <p:sp>
        <p:nvSpPr>
          <p:cNvPr id="574" name="文本"/>
          <p:cNvSpPr txBox="1"/>
          <p:nvPr/>
        </p:nvSpPr>
        <p:spPr>
          <a:xfrm>
            <a:off x="5189220" y="4283964"/>
            <a:ext cx="6858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文本</a:t>
            </a:r>
          </a:p>
        </p:txBody>
      </p:sp>
      <p:cxnSp>
        <p:nvCxnSpPr>
          <p:cNvPr id="575" name="Audio tokens transfer"/>
          <p:cNvCxnSpPr/>
          <p:nvPr/>
        </p:nvCxnSpPr>
        <p:spPr>
          <a:xfrm>
            <a:off x="7123176" y="4754880"/>
            <a:ext cx="356616" cy="0"/>
          </a:xfrm>
          <a:prstGeom prst="line">
            <a:avLst/>
          </a:prstGeom>
          <a:ln w="17145">
            <a:solidFill>
              <a:srgbClr val="008E96"/>
            </a:solidFill>
            <a:tailEnd type="triangle" w="sm" len="sm"/>
          </a:ln>
        </p:spPr>
      </p:cxnSp>
      <p:sp>
        <p:nvSpPr>
          <p:cNvPr id="576" name="Audio tokens"/>
          <p:cNvSpPr txBox="1"/>
          <p:nvPr/>
        </p:nvSpPr>
        <p:spPr>
          <a:xfrm>
            <a:off x="6748272" y="4283964"/>
            <a:ext cx="1115568"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77" name="S0 · Thinker Stage"/>
          <p:cNvSpPr/>
          <p:nvPr/>
        </p:nvSpPr>
        <p:spPr>
          <a:xfrm>
            <a:off x="2441448" y="5394960"/>
            <a:ext cx="1719072" cy="603504"/>
          </a:xfrm>
          <a:prstGeom prst="roundRect">
            <a:avLst>
              <a:gd name="adj" fmla="val 6000"/>
            </a:avLst>
          </a:prstGeom>
          <a:solidFill>
            <a:srgbClr val="FFFFFF"/>
          </a:solidFill>
          <a:ln w="11430">
            <a:solidFill>
              <a:srgbClr val="9EB3CB"/>
            </a:solidFill>
          </a:ln>
        </p:spPr>
      </p:sp>
      <p:sp>
        <p:nvSpPr>
          <p:cNvPr id="578" name="S0 · Thinker"/>
          <p:cNvSpPr txBox="1"/>
          <p:nvPr/>
        </p:nvSpPr>
        <p:spPr>
          <a:xfrm>
            <a:off x="2482596" y="5472684"/>
            <a:ext cx="1636776"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S0 · Thinker</a:t>
            </a:r>
          </a:p>
        </p:txBody>
      </p:sp>
      <p:sp>
        <p:nvSpPr>
          <p:cNvPr id="579" name="音频 + 图像"/>
          <p:cNvSpPr txBox="1"/>
          <p:nvPr/>
        </p:nvSpPr>
        <p:spPr>
          <a:xfrm>
            <a:off x="2473452" y="5751576"/>
            <a:ext cx="1655064"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音频 + 图像</a:t>
            </a:r>
          </a:p>
        </p:txBody>
      </p:sp>
      <p:sp>
        <p:nvSpPr>
          <p:cNvPr id="580" name="S1 · Talker Stage"/>
          <p:cNvSpPr/>
          <p:nvPr/>
        </p:nvSpPr>
        <p:spPr>
          <a:xfrm>
            <a:off x="5093208" y="5394960"/>
            <a:ext cx="1481328" cy="603504"/>
          </a:xfrm>
          <a:prstGeom prst="roundRect">
            <a:avLst>
              <a:gd name="adj" fmla="val 6000"/>
            </a:avLst>
          </a:prstGeom>
          <a:solidFill>
            <a:srgbClr val="FFFFFF"/>
          </a:solidFill>
          <a:ln w="11430">
            <a:solidFill>
              <a:srgbClr val="9EB3CB"/>
            </a:solidFill>
          </a:ln>
        </p:spPr>
      </p:sp>
      <p:sp>
        <p:nvSpPr>
          <p:cNvPr id="581" name="S1 · Talker"/>
          <p:cNvSpPr txBox="1"/>
          <p:nvPr/>
        </p:nvSpPr>
        <p:spPr>
          <a:xfrm>
            <a:off x="5134356" y="5472684"/>
            <a:ext cx="1399032"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S1 · Talker</a:t>
            </a:r>
          </a:p>
        </p:txBody>
      </p:sp>
      <p:sp>
        <p:nvSpPr>
          <p:cNvPr id="582" name="生成 audio tokens"/>
          <p:cNvSpPr txBox="1"/>
          <p:nvPr/>
        </p:nvSpPr>
        <p:spPr>
          <a:xfrm>
            <a:off x="5125212" y="5751576"/>
            <a:ext cx="1417320"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Noto Sans CJK SC"/>
                <a:ea typeface="Noto Sans CJK SC"/>
                <a:cs typeface="Noto Sans CJK SC"/>
              </a:rPr>
              <a:t>生成 audio tokens</a:t>
            </a:r>
          </a:p>
        </p:txBody>
      </p:sp>
      <p:sp>
        <p:nvSpPr>
          <p:cNvPr id="583" name="S2 · Code2Wav Stage"/>
          <p:cNvSpPr/>
          <p:nvPr/>
        </p:nvSpPr>
        <p:spPr>
          <a:xfrm>
            <a:off x="7443216" y="5394960"/>
            <a:ext cx="1426464" cy="603504"/>
          </a:xfrm>
          <a:prstGeom prst="roundRect">
            <a:avLst>
              <a:gd name="adj" fmla="val 6000"/>
            </a:avLst>
          </a:prstGeom>
          <a:solidFill>
            <a:srgbClr val="FFFFFF"/>
          </a:solidFill>
          <a:ln w="11430">
            <a:solidFill>
              <a:srgbClr val="9EB3CB"/>
            </a:solidFill>
          </a:ln>
        </p:spPr>
      </p:sp>
      <p:sp>
        <p:nvSpPr>
          <p:cNvPr id="584" name="S2 · Code2Wav"/>
          <p:cNvSpPr txBox="1"/>
          <p:nvPr/>
        </p:nvSpPr>
        <p:spPr>
          <a:xfrm>
            <a:off x="7484364" y="5472684"/>
            <a:ext cx="1344168" cy="219456"/>
          </a:xfrm>
          <a:prstGeom prst="rect">
            <a:avLst/>
          </a:prstGeom>
          <a:noFill/>
        </p:spPr>
        <p:txBody>
          <a:bodyPr wrap="square" lIns="0" rIns="0" tIns="0" bIns="0" anchor="t">
            <a:noAutofit/>
          </a:bodyPr>
          <a:lstStyle/>
          <a:p>
            <a:pPr algn="ctr">
              <a:lnSpc>
                <a:spcPct val="108000"/>
              </a:lnSpc>
              <a:spcAft>
                <a:spcPts val="0"/>
              </a:spcAft>
            </a:pPr>
            <a:r>
              <a:rPr sz="1400" b="1">
                <a:solidFill>
                  <a:srgbClr val="008E96"/>
                </a:solidFill>
                <a:latin typeface="Arial"/>
                <a:ea typeface="Arial"/>
                <a:cs typeface="Arial"/>
              </a:rPr>
              <a:t>S2 · Code2Wav</a:t>
            </a:r>
          </a:p>
        </p:txBody>
      </p:sp>
      <p:sp>
        <p:nvSpPr>
          <p:cNvPr id="585" name="Tokens → PCM"/>
          <p:cNvSpPr txBox="1"/>
          <p:nvPr/>
        </p:nvSpPr>
        <p:spPr>
          <a:xfrm>
            <a:off x="7475220" y="5751576"/>
            <a:ext cx="1362456" cy="173736"/>
          </a:xfrm>
          <a:prstGeom prst="rect">
            <a:avLst/>
          </a:prstGeom>
          <a:noFill/>
        </p:spPr>
        <p:txBody>
          <a:bodyPr wrap="square" lIns="0" rIns="0" tIns="0" bIns="0" anchor="t">
            <a:noAutofit/>
          </a:bodyPr>
          <a:lstStyle/>
          <a:p>
            <a:pPr algn="ctr">
              <a:lnSpc>
                <a:spcPct val="108000"/>
              </a:lnSpc>
              <a:spcAft>
                <a:spcPts val="0"/>
              </a:spcAft>
            </a:pPr>
            <a:r>
              <a:rPr sz="1140" b="0">
                <a:solidFill>
                  <a:srgbClr val="526985"/>
                </a:solidFill>
                <a:latin typeface="Arial"/>
                <a:ea typeface="Arial"/>
                <a:cs typeface="Arial"/>
              </a:rPr>
              <a:t>Tokens → PCM</a:t>
            </a:r>
          </a:p>
        </p:txBody>
      </p:sp>
      <p:cxnSp>
        <p:nvCxnSpPr>
          <p:cNvPr id="586" name="Text + features transfer"/>
          <p:cNvCxnSpPr/>
          <p:nvPr/>
        </p:nvCxnSpPr>
        <p:spPr>
          <a:xfrm>
            <a:off x="4215384" y="5696712"/>
            <a:ext cx="813816" cy="0"/>
          </a:xfrm>
          <a:prstGeom prst="line">
            <a:avLst/>
          </a:prstGeom>
          <a:ln w="17145">
            <a:solidFill>
              <a:srgbClr val="008E96"/>
            </a:solidFill>
            <a:tailEnd type="triangle" w="sm" len="sm"/>
          </a:ln>
        </p:spPr>
      </p:cxnSp>
      <p:sp>
        <p:nvSpPr>
          <p:cNvPr id="587" name="文本 + 特征"/>
          <p:cNvSpPr txBox="1"/>
          <p:nvPr/>
        </p:nvSpPr>
        <p:spPr>
          <a:xfrm>
            <a:off x="3918204" y="5225796"/>
            <a:ext cx="141732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Noto Sans CJK SC"/>
                <a:ea typeface="Noto Sans CJK SC"/>
                <a:cs typeface="Noto Sans CJK SC"/>
              </a:rPr>
              <a:t>文本 + 特征</a:t>
            </a:r>
          </a:p>
        </p:txBody>
      </p:sp>
      <p:cxnSp>
        <p:nvCxnSpPr>
          <p:cNvPr id="588" name="Audio tokens transfer"/>
          <p:cNvCxnSpPr/>
          <p:nvPr/>
        </p:nvCxnSpPr>
        <p:spPr>
          <a:xfrm>
            <a:off x="6629400" y="5696712"/>
            <a:ext cx="749808" cy="0"/>
          </a:xfrm>
          <a:prstGeom prst="line">
            <a:avLst/>
          </a:prstGeom>
          <a:ln w="17145">
            <a:solidFill>
              <a:srgbClr val="008E96"/>
            </a:solidFill>
            <a:tailEnd type="triangle" w="sm" len="sm"/>
          </a:ln>
        </p:spPr>
      </p:cxnSp>
      <p:sp>
        <p:nvSpPr>
          <p:cNvPr id="589" name="Audio tokens"/>
          <p:cNvSpPr txBox="1"/>
          <p:nvPr/>
        </p:nvSpPr>
        <p:spPr>
          <a:xfrm>
            <a:off x="6437376" y="5225796"/>
            <a:ext cx="1143000" cy="164592"/>
          </a:xfrm>
          <a:prstGeom prst="rect">
            <a:avLst/>
          </a:prstGeom>
          <a:noFill/>
        </p:spPr>
        <p:txBody>
          <a:bodyPr wrap="square" lIns="0" rIns="0" tIns="0" bIns="0" anchor="t">
            <a:noAutofit/>
          </a:bodyPr>
          <a:lstStyle/>
          <a:p>
            <a:pPr algn="ctr">
              <a:lnSpc>
                <a:spcPct val="108000"/>
              </a:lnSpc>
              <a:spcAft>
                <a:spcPts val="0"/>
              </a:spcAft>
            </a:pPr>
            <a:r>
              <a:rPr sz="1110" b="0">
                <a:solidFill>
                  <a:srgbClr val="526985"/>
                </a:solidFill>
                <a:latin typeface="Arial"/>
                <a:ea typeface="Arial"/>
                <a:cs typeface="Arial"/>
              </a:rPr>
              <a:t>Audio tokens</a:t>
            </a:r>
          </a:p>
        </p:txBody>
      </p:sp>
      <p:sp>
        <p:nvSpPr>
          <p:cNvPr id="590" name="PCM = 音频波形   ·   Audio tokens = codec 编码   ·   KV = 模型 attention cache"/>
          <p:cNvSpPr txBox="1"/>
          <p:nvPr/>
        </p:nvSpPr>
        <p:spPr>
          <a:xfrm>
            <a:off x="713232" y="6217920"/>
            <a:ext cx="10835640" cy="201168"/>
          </a:xfrm>
          <a:prstGeom prst="rect">
            <a:avLst/>
          </a:prstGeom>
          <a:noFill/>
        </p:spPr>
        <p:txBody>
          <a:bodyPr wrap="square" lIns="0" rIns="0" tIns="0" bIns="0" anchor="t">
            <a:noAutofit/>
          </a:bodyPr>
          <a:lstStyle/>
          <a:p>
            <a:pPr algn="l">
              <a:lnSpc>
                <a:spcPct val="108000"/>
              </a:lnSpc>
              <a:spcAft>
                <a:spcPts val="0"/>
              </a:spcAft>
            </a:pPr>
            <a:r>
              <a:rPr sz="1180" b="0">
                <a:solidFill>
                  <a:srgbClr val="526985"/>
                </a:solidFill>
                <a:latin typeface="Noto Sans CJK SC"/>
                <a:ea typeface="Noto Sans CJK SC"/>
                <a:cs typeface="Noto Sans CJK SC"/>
              </a:rPr>
              <a:t>PCM = 音频波形   ·   Audio tokens = codec 编码   ·   KV = 模型 attention cache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连接恢复：按模型能力处理</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13</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支持 session resume：MiniCPM-o 4.5、AURA、Qwen3-Omni 与 Nemotron VoiceChat。</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携带会话凭据</a:t>
            </a:r>
          </a:p>
          <a:p>
            <a:pPr algn="l">
              <a:lnSpc>
                <a:spcPct val="110000"/>
              </a:lnSpc>
              <a:spcAft>
                <a:spcPts val="0"/>
              </a:spcAft>
            </a:pPr>
            <a:r>
              <a:rPr sz="1080" b="0" lang="zh-CN">
                <a:solidFill>
                  <a:srgbClr val="142B45"/>
                </a:solidFill>
                <a:latin typeface="Noto Sans CJK SC"/>
                <a:ea typeface="Noto Sans CJK SC"/>
                <a:cs typeface="Noto Sans CJK SC"/>
              </a:rPr>
              <a:t>从已接收的 event position 发起恢复</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验证凭据并绑定新连接</a:t>
            </a:r>
          </a:p>
          <a:p>
            <a:pPr algn="l">
              <a:lnSpc>
                <a:spcPct val="110000"/>
              </a:lnSpc>
              <a:spcAft>
                <a:spcPts val="0"/>
              </a:spcAft>
            </a:pPr>
            <a:r>
              <a:rPr sz="1080" b="0" lang="zh-CN">
                <a:solidFill>
                  <a:srgbClr val="142B45"/>
                </a:solidFill>
                <a:latin typeface="Noto Sans CJK SC"/>
                <a:ea typeface="Noto Sans CJK SC"/>
                <a:cs typeface="Noto Sans CJK SC"/>
              </a:rPr>
              <a:t>event replay 补齐保留事件</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继续使用原有 session state</a:t>
            </a:r>
          </a:p>
          <a:p>
            <a:pPr algn="l">
              <a:lnSpc>
                <a:spcPct val="110000"/>
              </a:lnSpc>
              <a:spcAft>
                <a:spcPts val="0"/>
              </a:spcAft>
            </a:pPr>
            <a:r>
              <a:rPr sz="1080" b="0" lang="zh-CN">
                <a:solidFill>
                  <a:srgbClr val="142B45"/>
                </a:solidFill>
                <a:latin typeface="Noto Sans CJK SC"/>
                <a:ea typeface="Noto Sans CJK SC"/>
                <a:cs typeface="Noto Sans CJK SC"/>
              </a:rPr>
              <a:t>输入与输出接回同一会话</a:t>
            </a:r>
          </a:p>
        </p:txBody>
      </p:sp>
      <p:sp>
        <p:nvSpPr>
          <p:cNvPr id="24" name="TextBox 23"/>
          <p:cNvSpPr txBox="1"/>
          <p:nvPr/>
        </p:nvSpPr>
        <p:spPr>
          <a:xfrm>
            <a:off x="722376" y="3264408"/>
            <a:ext cx="10744200" cy="402336"/>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在 session 有效期间，重新连接到同一个仍存活的 API 进程。</a:t>
            </a:r>
          </a:p>
          <a:p>
            <a:pPr algn="l">
              <a:lnSpc>
                <a:spcPct val="110000"/>
              </a:lnSpc>
              <a:spcAft>
                <a:spcPts val="0"/>
              </a:spcAft>
            </a:pPr>
            <a:r>
              <a:rPr sz="1150" b="0" lang="zh-CN">
                <a:solidFill>
                  <a:srgbClr val="586B7E"/>
                </a:solidFill>
                <a:latin typeface="Noto Sans CJK SC"/>
                <a:ea typeface="Noto Sans CJK SC"/>
                <a:cs typeface="Noto Sans CJK SC"/>
              </a:rPr>
              <a:t>事件 replay 依赖保留窗口；进程重启后需新建 session。</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恢复环节</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框架行为</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User Client 接入</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会话身份</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沿用同一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保存 session ID 与最新的 resume token；</a:t>
            </a:r>
          </a:p>
          <a:p>
            <a:pPr algn="l">
              <a:lnSpc>
                <a:spcPct val="110000"/>
              </a:lnSpc>
              <a:spcAft>
                <a:spcPts val="0"/>
              </a:spcAft>
            </a:pPr>
            <a:r>
              <a:rPr sz="1180" b="0" lang="zh-CN">
                <a:solidFill>
                  <a:srgbClr val="142B45"/>
                </a:solidFill>
                <a:latin typeface="Noto Sans CJK SC"/>
                <a:ea typeface="Noto Sans CJK SC"/>
                <a:cs typeface="Noto Sans CJK SC"/>
              </a:rPr>
              <a:t>Python WebSocket SDK 会管理这两项凭据。</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连接绑定</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新连接接管原会话</a:t>
            </a:r>
          </a:p>
        </p:txBody>
      </p:sp>
      <p:sp>
        <p:nvSpPr>
          <p:cNvPr id="35" name="TextBox 34"/>
          <p:cNvSpPr txBox="1"/>
          <p:nvPr/>
        </p:nvSpPr>
        <p:spPr>
          <a:xfrm>
            <a:off x="5541264" y="4626864"/>
            <a:ext cx="5696712" cy="429768"/>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新连接的首条消息发送 session.resume；</a:t>
            </a:r>
          </a:p>
          <a:p>
            <a:pPr algn="l">
              <a:lnSpc>
                <a:spcPct val="110000"/>
              </a:lnSpc>
              <a:spcAft>
                <a:spcPts val="0"/>
              </a:spcAft>
            </a:pPr>
            <a:r>
              <a:rPr sz="1150" b="0" lang="zh-CN">
                <a:solidFill>
                  <a:srgbClr val="142B45"/>
                </a:solidFill>
                <a:latin typeface="Noto Sans CJK SC"/>
                <a:ea typeface="Noto Sans CJK SC"/>
                <a:cs typeface="Noto Sans CJK SC"/>
              </a:rPr>
              <a:t>保存 session.resumed 返回的新 token。</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事件续传</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续传保留的 event</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提供最后接收的 event sequence。</a:t>
            </a:r>
          </a:p>
          <a:p>
            <a:pPr algn="l">
              <a:lnSpc>
                <a:spcPct val="110000"/>
              </a:lnSpc>
              <a:spcAft>
                <a:spcPts val="0"/>
              </a:spcAft>
            </a:pPr>
            <a:r>
              <a:rPr sz="1150" b="0" lang="zh-CN">
                <a:solidFill>
                  <a:srgbClr val="142B45"/>
                </a:solidFill>
                <a:latin typeface="Noto Sans CJK SC"/>
                <a:ea typeface="Noto Sans CJK SC"/>
                <a:cs typeface="Noto Sans CJK SC"/>
              </a:rPr>
              <a:t>若所需事件已缺失，则新建 session。</a:t>
            </a:r>
          </a:p>
        </p:txBody>
      </p:sp>
      <p:sp>
        <p:nvSpPr>
          <p:cNvPr id="40" name="Rounded Rectangle 39"/>
          <p:cNvSpPr/>
          <p:nvPr/>
        </p:nvSpPr>
        <p:spPr>
          <a:xfrm>
            <a:off x="548640" y="5961888"/>
            <a:ext cx="11082528" cy="33832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526985"/>
                </a:solidFill>
                <a:latin typeface="Noto Sans CJK SC"/>
                <a:ea typeface="Noto Sans CJK SC"/>
                <a:cs typeface="Noto Sans CJK SC"/>
              </a:rPr>
              <a:t>PersonaPlex demo：断连后新建 session，并重新应用原有音色与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性能优化方法与持续改进</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减少重复工作，让 GPU 更多时间用于有效计算。</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13</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CUDA Graphs：减少重复调度</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复用准备好的 GPU 执行流程，降低 CPU 调度开销。</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 · Qwen3-Omni（图像）·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Kernel fusion：合并小操作</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减少 GPU 任务启动次数和中间数据搬运。</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Session batching：多路会话一起算</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将多个会话的新音频帧合成一批处理。</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Incremental decoding：只解码新音频</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保留解码状态，只处理新增的音频 chunk。</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lang="zh-CN">
                <a:solidFill>
                  <a:srgbClr val="526985"/>
                </a:solidFill>
                <a:latin typeface="Noto Sans CJK SC"/>
                <a:ea typeface="Noto Sans CJK SC"/>
                <a:cs typeface="Noto Sans CJK SC"/>
              </a:rPr>
              <a:t>H100 · Chat Completions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Audio RTF 越低越好</a:t>
            </a:r>
          </a:p>
        </p:txBody>
      </p:sp>
      <p:sp>
        <p:nvSpPr>
          <p:cNvPr id="233" name="Seed-TTS · 2026 年 9 月 9 日至 10 月 8 日；虚线跨越无同配置测试记录的日期。 / Audio RTF = 音频生成耗时 / 输出音频时长，按请求取平均。"/>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lang="zh-CN">
                <a:solidFill>
                  <a:srgbClr val="526985"/>
                </a:solidFill>
                <a:latin typeface="Noto Sans CJK SC"/>
                <a:ea typeface="Noto Sans CJK SC"/>
                <a:cs typeface="Noto Sans CJK SC"/>
              </a:rPr>
              <a:t>Seed-TTS · 2026 年 9 月 9 日至 10 月 8 日；虚线跨越无同配置测试记录的日期。</a:t>
            </a:r>
          </a:p>
          <a:p>
            <a:pPr algn="l">
              <a:lnSpc>
                <a:spcPct val="106000"/>
              </a:lnSpc>
              <a:spcAft>
                <a:spcPts val="0"/>
              </a:spcAft>
            </a:pPr>
            <a:r>
              <a:rPr sz="1050" b="0" lang="zh-CN">
                <a:solidFill>
                  <a:srgbClr val="526985"/>
                </a:solidFill>
                <a:latin typeface="Noto Sans CJK SC"/>
                <a:ea typeface="Noto Sans CJK SC"/>
                <a:cs typeface="Noto Sans CJK SC"/>
              </a:rPr>
              <a:t>Audio RTF = 音频生成耗时 / 输出音频时长，按请求取平均。</a:t>
            </a:r>
          </a:p>
        </p:txBody>
      </p:sp>
      <p:cxnSp>
        <p:nvCxnSpPr>
          <p:cNvPr id="234" name="Dashed gap bridge: 1 concurrent request" descr="Visual connection between measured Sep 15 and Sep 18 values; Sep 16–17 have no matching measurements."/>
          <p:cNvCxnSpPr/>
          <p:nvPr/>
        </p:nvCxnSpPr>
        <p:spPr>
          <a:xfrm>
            <a:off x="8333779" y="4880283"/>
            <a:ext cx="386394" cy="39517"/>
          </a:xfrm>
          <a:prstGeom prst="line">
            <a:avLst/>
          </a:prstGeom>
          <a:ln w="25400" cap="flat">
            <a:solidFill>
              <a:srgbClr val="347FF0"/>
            </a:solidFill>
            <a:prstDash val="sysDash"/>
            <a:headEnd type="none" w="med" len="med"/>
            <a:tailEnd type="none" w="med" len="med"/>
          </a:ln>
        </p:spPr>
      </p:cxnSp>
      <p:cxnSp>
        <p:nvCxnSpPr>
          <p:cNvPr id="235" name="Dashed gap bridge: 8 concurrent requests" descr="Visual connection between measured Sep 15 and Sep 18 values; Sep 16–17 have no matching measurements."/>
          <p:cNvCxnSpPr/>
          <p:nvPr/>
        </p:nvCxnSpPr>
        <p:spPr>
          <a:xfrm>
            <a:off x="8333779" y="3624102"/>
            <a:ext cx="386394" cy="240571"/>
          </a:xfrm>
          <a:prstGeom prst="line">
            <a:avLst/>
          </a:prstGeom>
          <a:ln w="25400" cap="flat">
            <a:solidFill>
              <a:srgbClr val="008E96"/>
            </a:solidFill>
            <a:prstDash val="sysDash"/>
            <a:headEnd type="none" w="med" len="med"/>
            <a:tailEnd type="none" w="med" len="med"/>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lang="zh-CN">
                <a:solidFill>
                  <a:srgbClr val="142B45"/>
                </a:solidFill>
                <a:latin typeface="Noto Sans CJK SC"/>
                <a:ea typeface="Noto Sans CJK SC"/>
                <a:cs typeface="Noto Sans CJK SC"/>
              </a:rPr>
              <a:t>从首包速度到持续交互质量</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结合 OmniInteract、Omni-DuplexEval 与延迟、流式输出指标，评估实时交互。</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13</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时间关系示意</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142B45"/>
                </a:solidFill>
                <a:latin typeface="Noto Sans CJK SC"/>
                <a:ea typeface="Noto Sans CJK SC"/>
                <a:cs typeface="Noto Sans CJK SC"/>
              </a:rPr>
              <a:t>输入流开始</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327CEC"/>
                </a:solidFill>
                <a:latin typeface="Noto Sans CJK SC"/>
                <a:ea typeface="Noto Sans CJK SC"/>
                <a:cs typeface="Noto Sans CJK SC"/>
              </a:rPr>
              <a:t>首个音频包到达</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Stream 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输入 / 输出</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输入 / 排队</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Stage 计算</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传输</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音频增量生成与传输</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客户端播放</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首播</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lang="zh-CN">
                <a:solidFill>
                  <a:srgbClr val="FFFFFF"/>
                </a:solidFill>
                <a:latin typeface="Noto Sans CJK SC"/>
                <a:ea typeface="Noto Sans CJK SC"/>
                <a:cs typeface="Noto Sans CJK SC"/>
              </a:rPr>
              <a:t>播放与后续生成交叠</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327CEC"/>
                </a:solidFill>
                <a:latin typeface="Noto Sans CJK SC"/>
                <a:ea typeface="Noto Sans CJK SC"/>
                <a:cs typeface="Noto Sans CJK SC"/>
              </a:rPr>
              <a:t>首音频延迟</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Stream TTFP · p50 / p95</a:t>
            </a:r>
          </a:p>
          <a:p>
            <a:pPr algn="l">
              <a:lnSpc>
                <a:spcPct val="110000"/>
              </a:lnSpc>
              <a:spcAft>
                <a:spcPts val="0"/>
              </a:spcAft>
            </a:pPr>
            <a:r>
              <a:rPr sz="1030" b="0" lang="zh-CN">
                <a:solidFill>
                  <a:srgbClr val="21364E"/>
                </a:solidFill>
                <a:latin typeface="Noto Sans CJK SC"/>
                <a:ea typeface="Noto Sans CJK SC"/>
                <a:cs typeface="Noto Sans CJK SC"/>
              </a:rPr>
              <a:t>输入开始 → 收到首个音频包</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008E96"/>
                </a:solidFill>
                <a:latin typeface="Noto Sans CJK SC"/>
                <a:ea typeface="Noto Sans CJK SC"/>
                <a:cs typeface="Noto Sans CJK SC"/>
              </a:rPr>
              <a:t>持续输出</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Response RTF · chunk 间隔</a:t>
            </a:r>
          </a:p>
          <a:p>
            <a:pPr algn="l">
              <a:lnSpc>
                <a:spcPct val="110000"/>
              </a:lnSpc>
              <a:spcAft>
                <a:spcPts val="0"/>
              </a:spcAft>
            </a:pPr>
            <a:r>
              <a:rPr sz="1030" b="0" lang="zh-CN">
                <a:solidFill>
                  <a:srgbClr val="21364E"/>
                </a:solidFill>
                <a:latin typeface="Noto Sans CJK SC"/>
                <a:ea typeface="Noto Sans CJK SC"/>
                <a:cs typeface="Noto Sans CJK SC"/>
              </a:rPr>
              <a:t>停顿与播放缓冲</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7855AD"/>
                </a:solidFill>
                <a:latin typeface="Noto Sans CJK SC"/>
                <a:ea typeface="Noto Sans CJK SC"/>
                <a:cs typeface="Noto Sans CJK SC"/>
              </a:rPr>
              <a:t>长会话与并发</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持续时长 · session 数</a:t>
            </a:r>
          </a:p>
          <a:p>
            <a:pPr algn="l">
              <a:lnSpc>
                <a:spcPct val="110000"/>
              </a:lnSpc>
              <a:spcAft>
                <a:spcPts val="0"/>
              </a:spcAft>
            </a:pPr>
            <a:r>
              <a:rPr sz="1090" b="0" lang="zh-CN">
                <a:solidFill>
                  <a:srgbClr val="21364E"/>
                </a:solidFill>
                <a:latin typeface="Noto Sans CJK SC"/>
                <a:ea typeface="Noto Sans CJK SC"/>
                <a:cs typeface="Noto Sans CJK SC"/>
              </a:rPr>
              <a:t>峰值显存 · 资源回收</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AD761E"/>
                </a:solidFill>
                <a:latin typeface="Noto Sans CJK SC"/>
                <a:ea typeface="Noto Sans CJK SC"/>
                <a:cs typeface="Noto Sans CJK SC"/>
              </a:rPr>
              <a:t>交互质量</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30" b="0" lang="zh-CN">
                <a:solidFill>
                  <a:srgbClr val="21364E"/>
                </a:solidFill>
                <a:latin typeface="Noto Sans CJK SC"/>
                <a:ea typeface="Noto Sans CJK SC"/>
                <a:cs typeface="Noto Sans CJK SC"/>
              </a:rPr>
              <a:t>何时回应 · 回应内容</a:t>
            </a:r>
          </a:p>
          <a:p>
            <a:pPr algn="l">
              <a:lnSpc>
                <a:spcPct val="110000"/>
              </a:lnSpc>
              <a:spcAft>
                <a:spcPts val="0"/>
              </a:spcAft>
            </a:pPr>
            <a:r>
              <a:rPr sz="1030" b="0" lang="zh-CN">
                <a:solidFill>
                  <a:srgbClr val="21364E"/>
                </a:solidFill>
                <a:latin typeface="Noto Sans CJK SC"/>
                <a:ea typeface="Noto Sans CJK SC"/>
                <a:cs typeface="Noto Sans CJK SC"/>
              </a:rPr>
              <a:t>音视频理解</a:t>
            </a:r>
          </a:p>
        </p:txBody>
      </p:sp>
      <p:sp>
        <p:nvSpPr>
          <p:cNvPr id="55" name="TextBox 54"/>
          <p:cNvSpPr txBox="1"/>
          <p:nvPr/>
        </p:nvSpPr>
        <p:spPr>
          <a:xfrm>
            <a:off x="658368" y="6025896"/>
            <a:ext cx="10936224" cy="356616"/>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TTFP 衡量首包到达时间；真正何时开始回答，需结合交互测评判断。</a:t>
            </a:r>
          </a:p>
          <a:p>
            <a:pPr algn="l">
              <a:lnSpc>
                <a:spcPct val="110000"/>
              </a:lnSpc>
              <a:spcAft>
                <a:spcPts val="0"/>
              </a:spcAft>
            </a:pPr>
            <a:r>
              <a:rPr sz="1050" b="0" lang="zh-CN">
                <a:solidFill>
                  <a:srgbClr val="586B7E"/>
                </a:solidFill>
                <a:latin typeface="Noto Sans CJK SC"/>
                <a:ea typeface="Noto Sans CJK SC"/>
                <a:cs typeface="Noto Sans CJK SC"/>
              </a:rPr>
              <a:t>比较指标时需统一计时窗口；测评覆盖范围因模型而异。</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工具调用</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全双工模型的工具调用</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基于已有工具调用路径，扩展更多模型在统一双工框架中的支持。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13</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307BDB"/>
                </a:solidFill>
                <a:latin typeface="Noto Sans CJK SC"/>
                <a:ea typeface="Noto Sans CJK SC"/>
                <a:cs typeface="Noto Sans CJK SC"/>
              </a:rPr>
              <a:t>当前已支持</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工具调用解析 · /v1/realtime?duplex=0</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统一 native duplex 中的工具调用与结果回填</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95620B"/>
                </a:solidFill>
                <a:latin typeface="Noto Sans CJK SC"/>
                <a:ea typeface="Noto Sans CJK SC"/>
                <a:cs typeface="Noto Sans CJK SC"/>
              </a:rPr>
              <a:t>下一步：扩展统一双工工具调用支持</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模型输出</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工具名称 + 参数</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应用执行</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外部函数</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结果回填</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匹配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模型续生成</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生成后续回复</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执行期间</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明确工具执行期间是否继续接收用户输入、输出语音。</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轮次隔离</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处理打断、超时、重复及迟到结果，</a:t>
                      </a:r>
                    </a:p>
                    <a:p>
                      <a:pPr>
                        <a:lnSpc>
                          <a:spcPct val="108000"/>
                        </a:lnSpc>
                        <a:spcAft>
                          <a:spcPts val="0"/>
                        </a:spcAft>
                      </a:pPr>
                      <a:r>
                        <a:rPr sz="1400" b="0" lang="zh-CN">
                          <a:solidFill>
                            <a:srgbClr val="16304E"/>
                          </a:solidFill>
                          <a:latin typeface="Noto Sans CJK SC"/>
                          <a:ea typeface="Noto Sans CJK SC"/>
                          <a:cs typeface="Noto Sans CJK SC"/>
                        </a:rPr>
                        <a:t>避免旧调用影响新一轮交互。</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框架与插件分工</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框架提供公共处理逻辑，各模型通过 plugin 适配。</a:t>
                      </a:r>
                    </a:p>
                    <a:p>
                      <a:pPr>
                        <a:lnSpc>
                          <a:spcPct val="108000"/>
                        </a:lnSpc>
                        <a:spcAft>
                          <a:spcPts val="0"/>
                        </a:spcAft>
                      </a:pPr>
                      <a:r>
                        <a:rPr sz="1400" b="0" lang="zh-CN">
                          <a:solidFill>
                            <a:srgbClr val="16304E"/>
                          </a:solidFill>
                          <a:latin typeface="Noto Sans CJK SC"/>
                          <a:ea typeface="Noto Sans CJK SC"/>
                          <a:cs typeface="Noto Sans CJK SC"/>
                        </a:rPr>
                        <a:t>扩展 Qwen3-Omni unified duplex、AURA 与 JoyAI 的支持。</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演进方向</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全双工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近期完善模型接入、交互能力与测评；远期扩展会话时长和服务规模。</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13 / 13</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307BDB"/>
                </a:solidFill>
                <a:latin typeface="Noto Sans CJK SC"/>
                <a:ea typeface="Noto Sans CJK SC"/>
                <a:cs typeface="Noto Sans CJK SC"/>
              </a:rPr>
              <a:t>近期</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008E96"/>
                </a:solidFill>
                <a:latin typeface="Noto Sans CJK SC"/>
                <a:ea typeface="Noto Sans CJK SC"/>
                <a:cs typeface="Noto Sans CJK SC"/>
              </a:rPr>
              <a:t>远期</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JoyAI 接入</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将 JoyAI 接入 unified duplex 框架</a:t>
            </a:r>
          </a:p>
          <a:p>
            <a:pPr algn="l">
              <a:lnSpc>
                <a:spcPct val="106000"/>
              </a:lnSpc>
              <a:spcAft>
                <a:spcPts val="0"/>
              </a:spcAft>
            </a:pPr>
            <a:r>
              <a:rPr sz="1400" b="0" lang="zh-CN">
                <a:solidFill>
                  <a:srgbClr val="586B7E"/>
                </a:solidFill>
                <a:latin typeface="Noto Sans CJK SC"/>
                <a:ea typeface="Noto Sans CJK SC"/>
                <a:cs typeface="Noto Sans CJK SC"/>
              </a:rPr>
              <a:t>完成模型输入与输出适配</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通用工具调用</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扩展更多模型的工具调用支持</a:t>
            </a:r>
          </a:p>
          <a:p>
            <a:pPr algn="l">
              <a:lnSpc>
                <a:spcPct val="106000"/>
              </a:lnSpc>
              <a:spcAft>
                <a:spcPts val="0"/>
              </a:spcAft>
            </a:pPr>
            <a:r>
              <a:rPr sz="1400" b="0" lang="zh-CN">
                <a:solidFill>
                  <a:srgbClr val="586B7E"/>
                </a:solidFill>
                <a:latin typeface="Noto Sans CJK SC"/>
                <a:ea typeface="Noto Sans CJK SC"/>
                <a:cs typeface="Noto Sans CJK SC"/>
              </a:rPr>
              <a:t>处理打断、超时与迟到结果</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结合语义与上下文判断用户是否说完</a:t>
            </a:r>
          </a:p>
          <a:p>
            <a:pPr algn="l">
              <a:lnSpc>
                <a:spcPct val="106000"/>
              </a:lnSpc>
              <a:spcAft>
                <a:spcPts val="0"/>
              </a:spcAft>
            </a:pPr>
            <a:r>
              <a:rPr sz="1400" b="0" lang="zh-CN">
                <a:solidFill>
                  <a:srgbClr val="586B7E"/>
                </a:solidFill>
                <a:latin typeface="Noto Sans CJK SC"/>
                <a:ea typeface="Noto Sans CJK SC"/>
                <a:cs typeface="Noto Sans CJK SC"/>
              </a:rPr>
              <a:t>接入 commit 与 response 策略</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扩展实时交互测评</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 OmniInteract / Omni-DuplexEval 覆盖</a:t>
            </a:r>
          </a:p>
          <a:p>
            <a:pPr algn="l">
              <a:lnSpc>
                <a:spcPct val="106000"/>
              </a:lnSpc>
              <a:spcAft>
                <a:spcPts val="0"/>
              </a:spcAft>
            </a:pPr>
            <a:r>
              <a:rPr sz="1400" b="0" lang="zh-CN">
                <a:solidFill>
                  <a:srgbClr val="586B7E"/>
                </a:solidFill>
                <a:latin typeface="Noto Sans CJK SC"/>
                <a:ea typeface="Noto Sans CJK SC"/>
                <a:cs typeface="Noto Sans CJK SC"/>
              </a:rPr>
              <a:t>增加模型、交互任务与回归检查</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更长且稳定的连续会话</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管理长时间音视频会话的 context 与 history</a:t>
            </a:r>
          </a:p>
          <a:p>
            <a:pPr algn="l">
              <a:lnSpc>
                <a:spcPct val="106000"/>
              </a:lnSpc>
              <a:spcAft>
                <a:spcPts val="0"/>
              </a:spcAft>
            </a:pPr>
            <a:r>
              <a:rPr sz="1400" b="0" lang="zh-CN">
                <a:solidFill>
                  <a:srgbClr val="586B7E"/>
                </a:solidFill>
                <a:latin typeface="Noto Sans CJK SC"/>
                <a:ea typeface="Noto Sans CJK SC"/>
                <a:cs typeface="Noto Sans CJK SC"/>
              </a:rPr>
              <a:t>随会话延长，保持稳定的延迟与内存占用</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扩展到多个 API worker</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在现有 Stage replica 支持上继续扩展</a:t>
            </a:r>
          </a:p>
          <a:p>
            <a:pPr algn="l">
              <a:lnSpc>
                <a:spcPct val="106000"/>
              </a:lnSpc>
              <a:spcAft>
                <a:spcPts val="0"/>
              </a:spcAft>
            </a:pPr>
            <a:r>
              <a:rPr sz="1400" b="0" lang="zh-CN">
                <a:solidFill>
                  <a:srgbClr val="586B7E"/>
                </a:solidFill>
                <a:latin typeface="Noto Sans CJK SC"/>
                <a:ea typeface="Noto Sans CJK SC"/>
                <a:cs typeface="Noto Sans CJK SC"/>
              </a:rPr>
              <a:t>增加跨 API frontend 的会话路由与归属管理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架构</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全双工执行链路：从输入到模型，再到输出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普通输出通过每个 session 的有界 buffer 传递，由 API 与 Orchestrator 线程共用。</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lang="zh-CN">
                <a:solidFill>
                  <a:srgbClr val="586B7E"/>
                </a:solidFill>
                <a:latin typeface="Noto Sans CJK SC"/>
                <a:ea typeface="Noto Sans CJK SC"/>
                <a:cs typeface="Noto Sans CJK SC"/>
              </a:rPr>
              <a:t>同一 API 进程</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API 事件循环</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Duplex Orchestrator 线程</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327CEC"/>
                </a:solidFill>
                <a:latin typeface="Noto Sans CJK SC"/>
                <a:ea typeface="Noto Sans CJK SC"/>
                <a:cs typeface="Noto Sans CJK SC"/>
              </a:rPr>
              <a:t>输入 / 请求提交</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008E96"/>
                </a:solidFill>
                <a:latin typeface="Noto Sans CJK SC"/>
                <a:ea typeface="Noto Sans CJK SC"/>
                <a:cs typeface="Noto Sans CJK SC"/>
              </a:rPr>
              <a:t>输出 / 事件回传</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lang="zh-CN">
                <a:solidFill>
                  <a:srgbClr val="586B7E"/>
                </a:solidFill>
                <a:latin typeface="Noto Sans CJK SC"/>
                <a:ea typeface="Noto Sans CJK SC"/>
                <a:cs typeface="Noto Sans CJK SC"/>
              </a:rPr>
              <a:t>协议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mailbox 按序处理 · 会话状态</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Manager.emit → 共用的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lang="zh-CN">
                <a:solidFill>
                  <a:srgbClr val="586B7E"/>
                </a:solidFill>
                <a:latin typeface="Noto Sans CJK SC"/>
                <a:ea typeface="Noto Sans CJK SC"/>
                <a:cs typeface="Noto Sans CJK SC"/>
              </a:rPr>
              <a:t>Janus · 请求</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lang="zh-CN">
                <a:solidFill>
                  <a:srgbClr val="586B7E"/>
                </a:solidFill>
                <a:latin typeface="Noto Sans CJK SC"/>
                <a:ea typeface="Noto Sans CJK SC"/>
                <a:cs typeface="Noto Sans CJK SC"/>
              </a:rPr>
              <a:t>有界 · 直接传递</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PersonaPlex 示例</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Mimi Code2Wav · Stage 1</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lang="zh-CN">
                <a:solidFill>
                  <a:srgbClr val="7855AD"/>
                </a:solidFill>
                <a:latin typeface="Noto Sans CJK SC"/>
                <a:ea typeface="Noto Sans CJK SC"/>
                <a:cs typeface="Noto Sans CJK SC"/>
              </a:rPr>
              <a:t>同机 shared-memory 音频编码传输</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StagePool：选择 Replica · 保持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同一 Stage 的 Replica · 独立进程</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lang="zh-CN">
                <a:solidFill>
                  <a:srgbClr val="586B7E"/>
                </a:solidFill>
                <a:latin typeface="Noto Sans CJK SC"/>
                <a:ea typeface="Noto Sans CJK SC"/>
                <a:cs typeface="Noto Sans CJK SC"/>
              </a:rPr>
              <a:t>Replica 可位于本机或远端节点</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Acoustic VAD 与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常见组合：Acoustic VAD 检测停顿，再由 turn-end detector 判断用户是否说完。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A3"/>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对比维度</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Semantic VAD</a:t>
                      </a:r>
                    </a:p>
                    <a:p>
                      <a:pPr algn="l">
                        <a:lnSpc>
                          <a:spcPct val="106000"/>
                        </a:lnSpc>
                        <a:spcAft>
                          <a:spcPts val="0"/>
                        </a:spcAft>
                      </a:pPr>
                      <a:r>
                        <a:rPr sz="900" b="1" lang="zh-CN">
                          <a:solidFill>
                            <a:srgbClr val="F4CF91"/>
                          </a:solidFill>
                          <a:latin typeface="Noto Sans CJK SC"/>
                          <a:ea typeface="Noto Sans CJK SC"/>
                          <a:cs typeface="Noto Sans CJK SC"/>
                        </a:rPr>
                        <a:t>规划扩展</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判断依据</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语音活动</a:t>
                      </a:r>
                    </a:p>
                    <a:p>
                      <a:pPr algn="l">
                        <a:lnSpc>
                          <a:spcPct val="106000"/>
                        </a:lnSpc>
                        <a:spcAft>
                          <a:spcPts val="0"/>
                        </a:spcAft>
                      </a:pPr>
                      <a:r>
                        <a:rPr sz="1420" b="0" lang="zh-CN">
                          <a:solidFill>
                            <a:srgbClr val="16304E"/>
                          </a:solidFill>
                          <a:latin typeface="Noto Sans CJK SC"/>
                          <a:ea typeface="Noto Sans CJK SC"/>
                          <a:cs typeface="Noto Sans CJK SC"/>
                        </a:rPr>
                        <a:t>+ 配置的静音时长</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语义与上下文</a:t>
                      </a:r>
                    </a:p>
                    <a:p>
                      <a:pPr algn="l">
                        <a:lnSpc>
                          <a:spcPct val="106000"/>
                        </a:lnSpc>
                        <a:spcAft>
                          <a:spcPts val="0"/>
                        </a:spcAft>
                      </a:pPr>
                      <a:r>
                        <a:rPr sz="1420" b="0" lang="zh-CN">
                          <a:solidFill>
                            <a:srgbClr val="16304E"/>
                          </a:solidFill>
                          <a:latin typeface="Noto Sans CJK SC"/>
                          <a:ea typeface="Noto Sans CJK SC"/>
                          <a:cs typeface="Noto Sans CJK SC"/>
                        </a:rPr>
                        <a:t>音频模型还可结合语调等线索</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停顿处理</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静音达到阈值时可能 commit</a:t>
                      </a:r>
                    </a:p>
                    <a:p>
                      <a:pPr algn="l">
                        <a:lnSpc>
                          <a:spcPct val="106000"/>
                        </a:lnSpc>
                        <a:spcAft>
                          <a:spcPts val="0"/>
                        </a:spcAft>
                      </a:pPr>
                      <a:r>
                        <a:rPr sz="1420" b="0" lang="zh-CN">
                          <a:solidFill>
                            <a:srgbClr val="16304E"/>
                          </a:solidFill>
                          <a:latin typeface="Noto Sans CJK SC"/>
                          <a:ea typeface="Noto Sans CJK SC"/>
                          <a:cs typeface="Noto Sans CJK SC"/>
                        </a:rPr>
                        <a:t>即使句子尚未说完</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判断话语尚未完整时</a:t>
                      </a:r>
                    </a:p>
                    <a:p>
                      <a:pPr algn="l">
                        <a:lnSpc>
                          <a:spcPct val="106000"/>
                        </a:lnSpc>
                        <a:spcAft>
                          <a:spcPts val="0"/>
                        </a:spcAft>
                      </a:pPr>
                      <a:r>
                        <a:rPr sz="1420" b="0" lang="zh-CN">
                          <a:solidFill>
                            <a:srgbClr val="16304E"/>
                          </a:solidFill>
                          <a:latin typeface="Noto Sans CJK SC"/>
                          <a:ea typeface="Noto Sans CJK SC"/>
                          <a:cs typeface="Noto Sans CJK SC"/>
                        </a:rPr>
                        <a:t>可继续等待</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系统动作</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可在静音后自动 commit。</a:t>
                      </a:r>
                    </a:p>
                    <a:p>
                      <a:pPr algn="l">
                        <a:lnSpc>
                          <a:spcPct val="106000"/>
                        </a:lnSpc>
                        <a:spcAft>
                          <a:spcPts val="0"/>
                        </a:spcAft>
                      </a:pPr>
                      <a:r>
                        <a:rPr sz="1420" b="0" lang="zh-CN">
                          <a:solidFill>
                            <a:srgbClr val="16304E"/>
                          </a:solidFill>
                          <a:latin typeface="Noto Sans CJK SC"/>
                          <a:ea typeface="Noto Sans CJK SC"/>
                          <a:cs typeface="Noto Sans CJK SC"/>
                        </a:rPr>
                        <a:t>按配置决定是否生成 response。</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判断用户说完后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计算与部署</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CPU 推理开销低</a:t>
                      </a:r>
                    </a:p>
                    <a:p>
                      <a:pPr algn="l">
                        <a:lnSpc>
                          <a:spcPct val="106000"/>
                        </a:lnSpc>
                        <a:spcAft>
                          <a:spcPts val="0"/>
                        </a:spcAft>
                      </a:pPr>
                      <a:r>
                        <a:rPr sz="1420" b="0" lang="zh-CN">
                          <a:solidFill>
                            <a:srgbClr val="16304E"/>
                          </a:solidFill>
                          <a:latin typeface="Noto Sans CJK SC"/>
                          <a:ea typeface="Noto Sans CJK SC"/>
                          <a:cs typeface="Noto Sans CJK SC"/>
                        </a:rPr>
                        <a:t>当前：CPU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轻量模型可在 CPU 上运行</a:t>
                      </a:r>
                    </a:p>
                    <a:p>
                      <a:pPr algn="l">
                        <a:lnSpc>
                          <a:spcPct val="106000"/>
                        </a:lnSpc>
                        <a:spcAft>
                          <a:spcPts val="0"/>
                        </a:spcAft>
                      </a:pPr>
                      <a:r>
                        <a:rPr sz="1420" b="0" lang="zh-CN">
                          <a:solidFill>
                            <a:srgbClr val="16304E"/>
                          </a:solidFill>
                          <a:latin typeface="Noto Sans CJK SC"/>
                          <a:ea typeface="Noto Sans CJK SC"/>
                          <a:cs typeface="Noto Sans CJK SC"/>
                        </a:rPr>
                        <a:t>较重模型：计划接入 Omni Stage</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lang="zh-CN">
                <a:solidFill>
                  <a:srgbClr val="586B7E"/>
                </a:solidFill>
                <a:latin typeface="Noto Sans CJK SC"/>
                <a:ea typeface="Noto Sans CJK SC"/>
                <a:cs typeface="Noto Sans CJK SC"/>
              </a:rPr>
              <a:t>开源组合示例：SILERO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lang="zh-CN">
                <a:solidFill>
                  <a:srgbClr val="16304E"/>
                </a:solidFill>
                <a:latin typeface="Noto Sans CJK SC"/>
                <a:ea typeface="Noto Sans CJK SC"/>
                <a:cs typeface="Noto Sans CJK SC"/>
              </a:rPr>
              <a:t>“帮我订明天的……［停顿］……去北京的机票。”</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307BDB"/>
                </a:solidFill>
                <a:latin typeface="Noto Sans CJK SC"/>
                <a:ea typeface="Noto Sans CJK SC"/>
                <a:cs typeface="Noto Sans CJK SC"/>
              </a:rPr>
              <a:t>1. Silero：区分语音 / 非语音，检测停顿</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008E96"/>
                </a:solidFill>
                <a:latin typeface="Noto Sans CJK SC"/>
                <a:ea typeface="Noto Sans CJK SC"/>
                <a:cs typeface="Noto Sans CJK SC"/>
              </a:rPr>
              <a:t>2. Smart Turn：判断话轮完整 / 尚未完整</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586B7E"/>
                </a:solidFill>
                <a:latin typeface="Noto Sans CJK SC"/>
                <a:ea typeface="Noto Sans CJK SC"/>
                <a:cs typeface="Noto Sans CJK SC"/>
              </a:rPr>
              <a:t>VAD 可减少非语音噪声造成的误触发。音频降噪与打断意图识别是独立能力。</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16304E"/>
                </a:solidFill>
                <a:latin typeface="Noto Sans CJK SC"/>
                <a:ea typeface="Noto Sans CJK SC"/>
                <a:cs typeface="Noto Sans CJK SC"/>
              </a:rPr>
              <a:t>Server VAD：Runner 执行 commit / cancel 策略；检测计算在其事件循环之外运行。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断连、cancel 与 close，各自影响什么</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MiniCPM、AURA、Qwen3-Omni 与 Nemotron 支持活跃会话续接；PersonaPlex 断连即关闭会话。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A4"/>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触发操作</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正在执行的工作</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会话与恢复</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断连 · 支持续接的模型</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可继续生成；记录后续事件</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断连 grace 内、会话仍存活时可续接</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终止生成，丢弃尚未发出的输出</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session 保留；PersonaPlex 重置模型上下文</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session.close / lease 过期</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终止并清理关联请求</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会话结束；重新交互需新建</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会话仍存活</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在断连 grace 内恢复</a:t>
            </a:r>
          </a:p>
          <a:p>
            <a:pPr algn="l">
              <a:lnSpc>
                <a:spcPct val="110000"/>
              </a:lnSpc>
              <a:spcAft>
                <a:spcPts val="0"/>
              </a:spcAft>
            </a:pPr>
            <a:r>
              <a:rPr sz="1250" b="0" lang="zh-CN">
                <a:solidFill>
                  <a:srgbClr val="21364E"/>
                </a:solidFill>
                <a:latin typeface="Noto Sans CJK SC"/>
                <a:ea typeface="Noto Sans CJK SC"/>
                <a:cs typeface="Noto Sans CJK SC"/>
              </a:rPr>
              <a:t>session 仍由存活的 owner 持有</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会话凭据有效</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session ID + 最新 resume token</a:t>
            </a:r>
          </a:p>
          <a:p>
            <a:pPr algn="l">
              <a:lnSpc>
                <a:spcPct val="110000"/>
              </a:lnSpc>
              <a:spcAft>
                <a:spcPts val="0"/>
              </a:spcAft>
            </a:pPr>
            <a:r>
              <a:rPr sz="1200" b="0" lang="zh-CN">
                <a:solidFill>
                  <a:srgbClr val="21364E"/>
                </a:solidFill>
                <a:latin typeface="Noto Sans CJK SC"/>
                <a:ea typeface="Noto Sans CJK SC"/>
                <a:cs typeface="Noto Sans CJK SC"/>
              </a:rPr>
              <a:t>成功续接后 token 会更新</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保留事件可续传</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最后接收的 event sequence</a:t>
            </a:r>
          </a:p>
          <a:p>
            <a:pPr algn="l">
              <a:lnSpc>
                <a:spcPct val="110000"/>
              </a:lnSpc>
              <a:spcAft>
                <a:spcPts val="0"/>
              </a:spcAft>
            </a:pPr>
            <a:r>
              <a:rPr sz="1250" b="0" lang="zh-CN">
                <a:solidFill>
                  <a:srgbClr val="21364E"/>
                </a:solidFill>
                <a:latin typeface="Noto Sans CJK SC"/>
                <a:ea typeface="Noto Sans CJK SC"/>
                <a:cs typeface="Noto Sans CJK SC"/>
              </a:rPr>
              <a:t>所需事件缺失时需新建 session</a:t>
            </a:r>
          </a:p>
        </p:txBody>
      </p:sp>
      <p:sp>
        <p:nvSpPr>
          <p:cNvPr id="36" name="TextBox 35"/>
          <p:cNvSpPr txBox="1"/>
          <p:nvPr/>
        </p:nvSpPr>
        <p:spPr>
          <a:xfrm>
            <a:off x="722376" y="5971032"/>
            <a:ext cx="10744200"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默认：断连 grace 30s · idle TTL 300s · replay 60s / 8 MiB。</a:t>
            </a:r>
          </a:p>
          <a:p>
            <a:pPr algn="l">
              <a:lnSpc>
                <a:spcPct val="110000"/>
              </a:lnSpc>
              <a:spcAft>
                <a:spcPts val="0"/>
              </a:spcAft>
            </a:pPr>
            <a:r>
              <a:rPr sz="1050" b="0" lang="zh-CN">
                <a:solidFill>
                  <a:srgbClr val="586B7E"/>
                </a:solidFill>
                <a:latin typeface="Noto Sans CJK SC"/>
                <a:ea typeface="Noto Sans CJK SC"/>
                <a:cs typeface="Noto Sans CJK SC"/>
              </a:rPr>
              <a:t>客户端需另行停止已缓存的播放音频；session resume 依赖同一个仍存活的 API 进程。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部署</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跨机 Stage 共用入口侧的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单个 API worker 持有 duplex session；Head 连接本机及已注册的 headless Stage 进程。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A5"/>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lang="zh-CN">
                <a:solidFill>
                  <a:srgbClr val="008E96"/>
                </a:solidFill>
                <a:latin typeface="Noto Sans CJK SC"/>
                <a:ea typeface="Noto Sans CJK SC"/>
                <a:cs typeface="Noto Sans CJK SC"/>
              </a:rPr>
              <a:t>Head 节点</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142B45"/>
                </a:solidFill>
                <a:latin typeface="Noto Sans CJK SC"/>
                <a:ea typeface="Noto Sans CJK SC"/>
                <a:cs typeface="Noto Sans CJK SC"/>
              </a:rPr>
              <a:t>本机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请求 / 输出</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1 统一部署配置</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统一模型拓扑；session_mode: duplex</a:t>
            </a:r>
          </a:p>
          <a:p>
            <a:pPr algn="l">
              <a:lnSpc>
                <a:spcPct val="110000"/>
              </a:lnSpc>
              <a:spcAft>
                <a:spcPts val="0"/>
              </a:spcAft>
            </a:pPr>
            <a:r>
              <a:rPr sz="1180" b="0" lang="zh-CN">
                <a:solidFill>
                  <a:srgbClr val="21364E"/>
                </a:solidFill>
                <a:latin typeface="Noto Sans CJK SC"/>
                <a:ea typeface="Noto Sans CJK SC"/>
                <a:cs typeface="Noto Sans CJK SC"/>
              </a:rPr>
              <a:t>配置设备与网络 connector</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2 启动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stage-id 0 启动单个 API worker 与本机 Stage</a:t>
            </a:r>
          </a:p>
          <a:p>
            <a:pPr algn="l">
              <a:lnSpc>
                <a:spcPct val="110000"/>
              </a:lnSpc>
              <a:spcAft>
                <a:spcPts val="0"/>
              </a:spcAft>
            </a:pPr>
            <a:r>
              <a:rPr sz="1180" b="0" lang="zh-CN">
                <a:solidFill>
                  <a:srgbClr val="21364E"/>
                </a:solidFill>
                <a:latin typeface="Noto Sans CJK SC"/>
                <a:ea typeface="Noto Sans CJK SC"/>
                <a:cs typeface="Noto Sans CJK SC"/>
              </a:rPr>
              <a:t>提供可访问的 master 地址与端口</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3 部署侧启动 headless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指定 stage-id 与同一 master</a:t>
            </a:r>
          </a:p>
          <a:p>
            <a:pPr algn="l">
              <a:lnSpc>
                <a:spcPct val="110000"/>
              </a:lnSpc>
              <a:spcAft>
                <a:spcPts val="0"/>
              </a:spcAft>
            </a:pPr>
            <a:r>
              <a:rPr sz="1180" b="0" lang="zh-CN">
                <a:solidFill>
                  <a:srgbClr val="21364E"/>
                </a:solidFill>
                <a:latin typeface="Noto Sans CJK SC"/>
                <a:ea typeface="Noto Sans CJK SC"/>
                <a:cs typeface="Noto Sans CJK SC"/>
              </a:rPr>
              <a:t>向 OmniMaster 注册，启动本机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Headless Stage 共用 Head Orchestrator；duplex 不支持多 API worker，跨机传输需配置网络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参考代码</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lang="zh-CN">
                <a:solidFill>
                  <a:srgbClr val="142B45"/>
                </a:solidFill>
                <a:latin typeface="Noto Sans CJK SC"/>
                <a:ea typeface="Noto Sans CJK SC"/>
                <a:cs typeface="Noto Sans CJK SC"/>
              </a:rPr>
              <a:t>参考代码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A6"/>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A6</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层次</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实现入口</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阅读重点</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API 通信适配</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协议 event、连接绑定与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handle、共享 output buffer 与 event</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通信与传输</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控制队列与有界 session 输出</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会话运行时</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lease、状态、mailbox 与模型策略</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Stage 编排</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初始请求、后续更新与副本绑定</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模型执行</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batching、计算与模型缓存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全双工"/>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Noto Sans CJK SC"/>
                <a:ea typeface="Noto Sans CJK SC"/>
                <a:cs typeface="Noto Sans CJK SC"/>
              </a:rPr>
              <a:t>全双工</a:t>
            </a:r>
          </a:p>
        </p:txBody>
      </p:sp>
      <p:sp>
        <p:nvSpPr>
          <p:cNvPr id="5" name="附录 · 会话控制"/>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Noto Sans CJK SC"/>
                <a:ea typeface="Noto Sans CJK SC"/>
                <a:cs typeface="Noto Sans CJK SC"/>
              </a:rPr>
              <a:t>附录 · 会话控制</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vLLM-Omni  /  实时音视频会话"/>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Noto Sans CJK SC"/>
                <a:ea typeface="Noto Sans CJK SC"/>
                <a:cs typeface="Noto Sans CJK SC"/>
              </a:rPr>
              <a:t>vLLM-Omni  /  实时音视频会话</a:t>
            </a:r>
          </a:p>
        </p:txBody>
      </p:sp>
      <p:sp>
        <p:nvSpPr>
          <p:cNvPr id="8" name="2026 年 10 月"/>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sp>
        <p:nvSpPr>
          <p:cNvPr id="10" name="模型发言决策 / 与 VAD 打断"/>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Noto Sans CJK SC"/>
                <a:ea typeface="Noto Sans CJK SC"/>
                <a:cs typeface="Noto Sans CJK SC"/>
              </a:rPr>
              <a:t>模型发言决策</a:t>
            </a:r>
          </a:p>
          <a:p>
            <a:pPr algn="l">
              <a:lnSpc>
                <a:spcPct val="110000"/>
              </a:lnSpc>
              <a:spcAft>
                <a:spcPts val="0"/>
              </a:spcAft>
            </a:pPr>
            <a:r>
              <a:rPr sz="3100" b="1">
                <a:solidFill>
                  <a:srgbClr val="142B45"/>
                </a:solidFill>
                <a:latin typeface="Noto Sans CJK SC"/>
                <a:ea typeface="Noto Sans CJK SC"/>
                <a:cs typeface="Noto Sans CJK SC"/>
              </a:rPr>
              <a:t>与 VAD 打断</a:t>
            </a:r>
          </a:p>
        </p:txBody>
      </p:sp>
      <p:sp>
        <p:nvSpPr>
          <p:cNvPr id="15" name="Rounded Rectangle 14"/>
          <p:cNvSpPr/>
          <p:nvPr/>
        </p:nvSpPr>
        <p:spPr>
          <a:xfrm>
            <a:off x="6236208" y="1170432"/>
            <a:ext cx="5394960" cy="3694176"/>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同一段实时会话"/>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Noto Sans CJK SC"/>
                <a:ea typeface="Noto Sans CJK SC"/>
                <a:cs typeface="Noto Sans CJK SC"/>
              </a:rPr>
              <a:t>同一段实时会话</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模型决定何时发言"/>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Noto Sans CJK SC"/>
                <a:ea typeface="Noto Sans CJK SC"/>
                <a:cs typeface="Noto Sans CJK SC"/>
              </a:rPr>
              <a:t>模型决定何时发言</a:t>
            </a:r>
          </a:p>
        </p:txBody>
      </p:sp>
      <p:sp>
        <p:nvSpPr>
          <p:cNvPr id="102" name="新输入持续进入模型计算。 / 模型自主决定继续发言或让出话语权。"/>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Noto Sans CJK SC"/>
                <a:ea typeface="Noto Sans CJK SC"/>
                <a:cs typeface="Noto Sans CJK SC"/>
              </a:rPr>
              <a:t>新输入持续进入模型计算。</a:t>
            </a:r>
          </a:p>
          <a:p>
            <a:pPr algn="l">
              <a:lnSpc>
                <a:spcPct val="110000"/>
              </a:lnSpc>
              <a:spcAft>
                <a:spcPts val="0"/>
              </a:spcAft>
            </a:pPr>
            <a:r>
              <a:rPr sz="1400" b="0">
                <a:solidFill>
                  <a:srgbClr val="586B7E"/>
                </a:solidFill>
                <a:latin typeface="Noto Sans CJK SC"/>
                <a:ea typeface="Noto Sans CJK SC"/>
                <a:cs typeface="Noto Sans CJK SC"/>
              </a:rPr>
              <a:t>模型自主决定继续发言或让出话语权。</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VAD 驱动的 turn-taking"/>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1900" b="1">
                <a:solidFill>
                  <a:srgbClr val="142B45"/>
                </a:solidFill>
                <a:latin typeface="Noto Sans CJK SC"/>
                <a:ea typeface="Noto Sans CJK SC"/>
                <a:cs typeface="Noto Sans CJK SC"/>
              </a:rPr>
              <a:t>VAD 驱动的 turn-taking</a:t>
            </a:r>
          </a:p>
        </p:txBody>
      </p:sp>
      <p:sp>
        <p:nvSpPr>
          <p:cNvPr id="105" name="检测到用户发声时，打断当前回复。 / 静音达到阈值后 commit，启动新请求。"/>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Noto Sans CJK SC"/>
                <a:ea typeface="Noto Sans CJK SC"/>
                <a:cs typeface="Noto Sans CJK SC"/>
              </a:rPr>
              <a:t>检测到用户发声时，打断当前回复。</a:t>
            </a:r>
          </a:p>
          <a:p>
            <a:pPr algn="l">
              <a:lnSpc>
                <a:spcPct val="110000"/>
              </a:lnSpc>
              <a:spcAft>
                <a:spcPts val="0"/>
              </a:spcAft>
            </a:pPr>
            <a:r>
              <a:rPr sz="1400" b="0">
                <a:solidFill>
                  <a:srgbClr val="586B7E"/>
                </a:solidFill>
                <a:latin typeface="Noto Sans CJK SC"/>
                <a:ea typeface="Noto Sans CJK SC"/>
                <a:cs typeface="Noto Sans CJK SC"/>
              </a:rPr>
              <a:t>静音达到阈值后 commit，启动新请求。</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
            </a:r>
          </a:p>
        </p:txBody>
      </p:sp>
      <p:sp>
        <p:nvSpPr>
          <p:cNvPr id="109" name="两种取消入口"/>
          <p:cNvSpPr txBox="1"/>
          <p:nvPr/>
        </p:nvSpPr>
        <p:spPr>
          <a:xfrm>
            <a:off x="786384" y="5166360"/>
            <a:ext cx="5166360" cy="283464"/>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Noto Sans CJK SC"/>
                <a:ea typeface="Noto Sans CJK SC"/>
                <a:cs typeface="Noto Sans CJK SC"/>
              </a:rPr>
              <a:t>两种取消入口</a:t>
            </a:r>
          </a:p>
        </p:txBody>
      </p:sp>
      <p:sp>
        <p:nvSpPr>
          <p:cNvPr id="110" name="LISTEN 是模型决策，与这两条路径不同。"/>
          <p:cNvSpPr txBox="1"/>
          <p:nvPr/>
        </p:nvSpPr>
        <p:spPr>
          <a:xfrm>
            <a:off x="6318504" y="5202936"/>
            <a:ext cx="5029200" cy="228600"/>
          </a:xfrm>
          <a:prstGeom prst="rect">
            <a:avLst/>
          </a:prstGeom>
          <a:noFill/>
        </p:spPr>
        <p:txBody>
          <a:bodyPr wrap="square" lIns="0" rIns="0" tIns="0" bIns="0" anchor="t">
            <a:spAutoFit/>
          </a:bodyPr>
          <a:lstStyle/>
          <a:p>
            <a:pPr algn="l">
              <a:lnSpc>
                <a:spcPct val="110000"/>
              </a:lnSpc>
              <a:spcAft>
                <a:spcPts val="0"/>
              </a:spcAft>
            </a:pPr>
            <a:r>
              <a:rPr sz="1140" b="0">
                <a:solidFill>
                  <a:srgbClr val="586B7E"/>
                </a:solidFill>
                <a:latin typeface="Noto Sans CJK SC"/>
                <a:ea typeface="Noto Sans CJK SC"/>
                <a:cs typeface="Noto Sans CJK SC"/>
              </a:rPr>
              <a:t>LISTEN 是模型决策，与这两条路径不同。</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显式 response.cancel"/>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Noto Sans CJK SC"/>
                <a:ea typeface="Noto Sans CJK SC"/>
                <a:cs typeface="Noto Sans CJK SC"/>
              </a:rPr>
              <a:t>显式 response.cancel</a:t>
            </a:r>
          </a:p>
        </p:txBody>
      </p:sp>
      <p:sp>
        <p:nvSpPr>
          <p:cNvPr id="114" name="客户端 command 进入会话取消处理。 / 底层取消逻辑停止当前生成。"/>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Noto Sans CJK SC"/>
                <a:ea typeface="Noto Sans CJK SC"/>
                <a:cs typeface="Noto Sans CJK SC"/>
              </a:rPr>
              <a:t>客户端 command 进入会话取消处理。</a:t>
            </a:r>
          </a:p>
          <a:p>
            <a:pPr algn="l">
              <a:lnSpc>
                <a:spcPct val="110000"/>
              </a:lnSpc>
              <a:spcAft>
                <a:spcPts val="0"/>
              </a:spcAft>
            </a:pPr>
            <a:r>
              <a:rPr sz="1200" b="0">
                <a:solidFill>
                  <a:srgbClr val="142B45"/>
                </a:solidFill>
                <a:latin typeface="Noto Sans CJK SC"/>
                <a:ea typeface="Noto Sans CJK SC"/>
                <a:cs typeface="Noto Sans CJK SC"/>
              </a:rPr>
              <a:t>底层取消逻辑停止当前生成。</a:t>
            </a:r>
          </a:p>
        </p:txBody>
      </p:sp>
      <p:sp>
        <p:nvSpPr>
          <p:cNvPr id="115" name="VAD 触发打断"/>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Noto Sans CJK SC"/>
                <a:ea typeface="Noto Sans CJK SC"/>
                <a:cs typeface="Noto Sans CJK SC"/>
              </a:rPr>
              <a:t>VAD 触发打断</a:t>
            </a:r>
          </a:p>
        </p:txBody>
      </p:sp>
      <p:sp>
        <p:nvSpPr>
          <p:cNvPr id="116" name="用户发声触发 overlap policy。 / 复用底层取消逻辑；客户端停止播放。"/>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Noto Sans CJK SC"/>
                <a:ea typeface="Noto Sans CJK SC"/>
                <a:cs typeface="Noto Sans CJK SC"/>
              </a:rPr>
              <a:t>用户发声触发 overlap policy。</a:t>
            </a:r>
          </a:p>
          <a:p>
            <a:pPr algn="l">
              <a:lnSpc>
                <a:spcPct val="110000"/>
              </a:lnSpc>
              <a:spcAft>
                <a:spcPts val="0"/>
              </a:spcAft>
            </a:pPr>
            <a:r>
              <a:rPr sz="1200" b="0">
                <a:solidFill>
                  <a:srgbClr val="142B45"/>
                </a:solidFill>
                <a:latin typeface="Noto Sans CJK SC"/>
                <a:ea typeface="Noto Sans CJK SC"/>
                <a:cs typeface="Noto Sans CJK SC"/>
              </a:rPr>
              <a:t>复用底层取消逻辑；客户端停止播放。</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
        <p:nvSpPr>
          <p:cNvPr id="200" name="摄像头"/>
          <p:cNvSpPr txBox="1"/>
          <p:nvPr/>
        </p:nvSpPr>
        <p:spPr>
          <a:xfrm>
            <a:off x="6537960" y="1847088"/>
            <a:ext cx="1115568" cy="228600"/>
          </a:xfrm>
          <a:prstGeom prst="rect">
            <a:avLst/>
          </a:prstGeom>
          <a:noFill/>
        </p:spPr>
        <p:txBody>
          <a:bodyPr wrap="square" lIns="0" rIns="0" tIns="0" bIns="0" anchor="t">
            <a:spAutoFit/>
          </a:bodyPr>
          <a:lstStyle/>
          <a:p>
            <a:pPr algn="l">
              <a:lnSpc>
                <a:spcPct val="110000"/>
              </a:lnSpc>
              <a:spcAft>
                <a:spcPts val="0"/>
              </a:spcAft>
            </a:pPr>
            <a:r>
              <a:rPr sz="1250" b="0">
                <a:solidFill>
                  <a:srgbClr val="AFCAE7"/>
                </a:solidFill>
                <a:latin typeface="Noto Sans CJK SC"/>
                <a:ea typeface="Noto Sans CJK SC"/>
                <a:cs typeface="Noto Sans CJK SC"/>
              </a:rPr>
              <a:t>摄像头</a:t>
            </a:r>
          </a:p>
        </p:txBody>
      </p:sp>
      <p:sp>
        <p:nvSpPr>
          <p:cNvPr id="201" name="用户语音"/>
          <p:cNvSpPr txBox="1"/>
          <p:nvPr/>
        </p:nvSpPr>
        <p:spPr>
          <a:xfrm>
            <a:off x="6537960" y="2267712"/>
            <a:ext cx="2377440" cy="228600"/>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Noto Sans CJK SC"/>
                <a:ea typeface="Noto Sans CJK SC"/>
                <a:cs typeface="Noto Sans CJK SC"/>
              </a:rPr>
              <a:t>用户语音</a:t>
            </a:r>
          </a:p>
        </p:txBody>
      </p:sp>
      <p:sp>
        <p:nvSpPr>
          <p:cNvPr id="202" name="Barge-in：用户插话"/>
          <p:cNvSpPr txBox="1"/>
          <p:nvPr/>
        </p:nvSpPr>
        <p:spPr>
          <a:xfrm>
            <a:off x="9171432" y="2267712"/>
            <a:ext cx="2103120" cy="228600"/>
          </a:xfrm>
          <a:prstGeom prst="rect">
            <a:avLst/>
          </a:prstGeom>
          <a:noFill/>
        </p:spPr>
        <p:txBody>
          <a:bodyPr wrap="square" lIns="0" rIns="0" tIns="0" bIns="0" anchor="t">
            <a:spAutoFit/>
          </a:bodyPr>
          <a:lstStyle/>
          <a:p>
            <a:pPr algn="l">
              <a:lnSpc>
                <a:spcPct val="110000"/>
              </a:lnSpc>
              <a:spcAft>
                <a:spcPts val="0"/>
              </a:spcAft>
            </a:pPr>
            <a:r>
              <a:rPr sz="1120" b="0">
                <a:solidFill>
                  <a:srgbClr val="FFCB78"/>
                </a:solidFill>
                <a:latin typeface="Noto Sans CJK SC"/>
                <a:ea typeface="Noto Sans CJK SC"/>
                <a:cs typeface="Noto Sans CJK SC"/>
              </a:rPr>
              <a:t>Barge-in：用户插话</a:t>
            </a:r>
          </a:p>
        </p:txBody>
      </p:sp>
      <p:sp>
        <p:nvSpPr>
          <p:cNvPr id="203" name="MiniCPM-o 4.5 · native duplex"/>
          <p:cNvSpPr txBox="1"/>
          <p:nvPr/>
        </p:nvSpPr>
        <p:spPr>
          <a:xfrm>
            <a:off x="6537960" y="2871216"/>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MiniCPM-o 4.5 · native duplex</a:t>
            </a:r>
          </a:p>
        </p:txBody>
      </p:sp>
      <p:sp>
        <p:nvSpPr>
          <p:cNvPr id="204" name="模型决定 LISTEN / SPEAK；已排队音频可继续播放。"/>
          <p:cNvSpPr txBox="1"/>
          <p:nvPr/>
        </p:nvSpPr>
        <p:spPr>
          <a:xfrm>
            <a:off x="6537960" y="3447288"/>
            <a:ext cx="4736592" cy="219456"/>
          </a:xfrm>
          <a:prstGeom prst="rect">
            <a:avLst/>
          </a:prstGeom>
          <a:noFill/>
        </p:spPr>
        <p:txBody>
          <a:bodyPr wrap="square" lIns="0" rIns="0" tIns="0" bIns="0" anchor="t">
            <a:spAutoFit/>
          </a:bodyPr>
          <a:lstStyle/>
          <a:p>
            <a:pPr algn="l">
              <a:lnSpc>
                <a:spcPct val="110000"/>
              </a:lnSpc>
              <a:spcAft>
                <a:spcPts val="0"/>
              </a:spcAft>
            </a:pPr>
            <a:r>
              <a:rPr sz="1050" b="0">
                <a:solidFill>
                  <a:srgbClr val="AFCAE7"/>
                </a:solidFill>
                <a:latin typeface="Noto Sans CJK SC"/>
                <a:ea typeface="Noto Sans CJK SC"/>
                <a:cs typeface="Noto Sans CJK SC"/>
              </a:rPr>
              <a:t>模型决定 LISTEN / SPEAK；已排队音频可继续播放。</a:t>
            </a:r>
          </a:p>
        </p:txBody>
      </p:sp>
      <p:sp>
        <p:nvSpPr>
          <p:cNvPr id="205" name="Qwen3-Omni + VAD · turn-based"/>
          <p:cNvSpPr txBox="1"/>
          <p:nvPr/>
        </p:nvSpPr>
        <p:spPr>
          <a:xfrm>
            <a:off x="6537960" y="3721608"/>
            <a:ext cx="4736592" cy="237744"/>
          </a:xfrm>
          <a:prstGeom prst="rect">
            <a:avLst/>
          </a:prstGeom>
          <a:noFill/>
        </p:spPr>
        <p:txBody>
          <a:bodyPr wrap="square" lIns="0" rIns="0" tIns="0" bIns="0" anchor="t">
            <a:spAutoFit/>
          </a:bodyPr>
          <a:lstStyle/>
          <a:p>
            <a:pPr algn="l">
              <a:lnSpc>
                <a:spcPct val="110000"/>
              </a:lnSpc>
              <a:spcAft>
                <a:spcPts val="0"/>
              </a:spcAft>
            </a:pPr>
            <a:r>
              <a:rPr sz="1250" b="1">
                <a:solidFill>
                  <a:srgbClr val="A9E5DF"/>
                </a:solidFill>
                <a:latin typeface="Arial"/>
                <a:ea typeface="Arial"/>
                <a:cs typeface="Arial"/>
              </a:rPr>
              <a:t>Qwen3-Omni + VAD · turn-based</a:t>
            </a:r>
          </a:p>
        </p:txBody>
      </p:sp>
      <p:sp>
        <p:nvSpPr>
          <p:cNvPr id="206" name="用户发声停止生成与播放；静音达到阈值后 commit。"/>
          <p:cNvSpPr txBox="1"/>
          <p:nvPr/>
        </p:nvSpPr>
        <p:spPr>
          <a:xfrm>
            <a:off x="6537960" y="4489704"/>
            <a:ext cx="4773168" cy="210312"/>
          </a:xfrm>
          <a:prstGeom prst="rect">
            <a:avLst/>
          </a:prstGeom>
          <a:noFill/>
        </p:spPr>
        <p:txBody>
          <a:bodyPr wrap="square" lIns="0" rIns="0" tIns="0" bIns="0" anchor="t">
            <a:spAutoFit/>
          </a:bodyPr>
          <a:lstStyle/>
          <a:p>
            <a:pPr algn="l">
              <a:lnSpc>
                <a:spcPct val="110000"/>
              </a:lnSpc>
              <a:spcAft>
                <a:spcPts val="0"/>
              </a:spcAft>
            </a:pPr>
            <a:r>
              <a:rPr sz="1020" b="0">
                <a:solidFill>
                  <a:srgbClr val="AFCAE7"/>
                </a:solidFill>
                <a:latin typeface="Noto Sans CJK SC"/>
                <a:ea typeface="Noto Sans CJK SC"/>
                <a:cs typeface="Noto Sans CJK SC"/>
              </a:rPr>
              <a:t>用户发声停止生成与播放；静音达到阈值后 commit。</a:t>
            </a:r>
          </a:p>
        </p:txBody>
      </p:sp>
      <p:sp>
        <p:nvSpPr>
          <p:cNvPr id="207" name="VAD 触发打断"/>
          <p:cNvSpPr txBox="1"/>
          <p:nvPr/>
        </p:nvSpPr>
        <p:spPr>
          <a:xfrm>
            <a:off x="8549640" y="4215384"/>
            <a:ext cx="1554480"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Noto Sans CJK SC"/>
                <a:ea typeface="Noto Sans CJK SC"/>
                <a:cs typeface="Noto Sans CJK SC"/>
              </a:rPr>
              <a:t>VAD 触发打断</a:t>
            </a:r>
          </a:p>
        </p:txBody>
      </p:sp>
      <p:sp>
        <p:nvSpPr>
          <p:cNvPr id="208" name="commit"/>
          <p:cNvSpPr txBox="1"/>
          <p:nvPr/>
        </p:nvSpPr>
        <p:spPr>
          <a:xfrm>
            <a:off x="1013155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cxnSp>
        <p:nvCxnSpPr>
          <p:cNvPr id="300" name="Audio timeline"/>
          <p:cNvCxnSpPr/>
          <p:nvPr/>
        </p:nvCxnSpPr>
        <p:spPr>
          <a:xfrm>
            <a:off x="6547104" y="2642616"/>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1" name="Audio timeline"/>
          <p:cNvCxnSpPr/>
          <p:nvPr/>
        </p:nvCxnSpPr>
        <p:spPr>
          <a:xfrm>
            <a:off x="6547104" y="3246120"/>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cxnSp>
        <p:nvCxnSpPr>
          <p:cNvPr id="302" name="Audio timeline"/>
          <p:cNvCxnSpPr/>
          <p:nvPr/>
        </p:nvCxnSpPr>
        <p:spPr>
          <a:xfrm>
            <a:off x="6547104" y="4096512"/>
            <a:ext cx="4718304" cy="0"/>
          </a:xfrm>
          <a:prstGeom prst="line">
            <a:avLst/>
          </a:prstGeom>
          <a:ln w="1270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303" name="Initial user utterance"/>
          <p:cNvSpPr/>
          <p:nvPr/>
        </p:nvSpPr>
        <p:spPr>
          <a:xfrm>
            <a:off x="6611112"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4" name="Initial user utterance"/>
          <p:cNvSpPr/>
          <p:nvPr/>
        </p:nvSpPr>
        <p:spPr>
          <a:xfrm>
            <a:off x="6688029"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5" name="Initial user utterance"/>
          <p:cNvSpPr/>
          <p:nvPr/>
        </p:nvSpPr>
        <p:spPr>
          <a:xfrm>
            <a:off x="6764946"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6" name="Initial user utterance"/>
          <p:cNvSpPr/>
          <p:nvPr/>
        </p:nvSpPr>
        <p:spPr>
          <a:xfrm>
            <a:off x="6841864"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7" name="Initial user utterance"/>
          <p:cNvSpPr/>
          <p:nvPr/>
        </p:nvSpPr>
        <p:spPr>
          <a:xfrm>
            <a:off x="6918781"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8" name="Initial user utterance"/>
          <p:cNvSpPr/>
          <p:nvPr/>
        </p:nvSpPr>
        <p:spPr>
          <a:xfrm>
            <a:off x="699569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9" name="Initial user utterance"/>
          <p:cNvSpPr/>
          <p:nvPr/>
        </p:nvSpPr>
        <p:spPr>
          <a:xfrm>
            <a:off x="707261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0" name="Initial user utterance"/>
          <p:cNvSpPr/>
          <p:nvPr/>
        </p:nvSpPr>
        <p:spPr>
          <a:xfrm>
            <a:off x="714953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1" name="Initial user utterance"/>
          <p:cNvSpPr/>
          <p:nvPr/>
        </p:nvSpPr>
        <p:spPr>
          <a:xfrm>
            <a:off x="7226449"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2" name="Initial user utterance"/>
          <p:cNvSpPr/>
          <p:nvPr/>
        </p:nvSpPr>
        <p:spPr>
          <a:xfrm>
            <a:off x="7303367"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3" name="Initial user utterance"/>
          <p:cNvSpPr/>
          <p:nvPr/>
        </p:nvSpPr>
        <p:spPr>
          <a:xfrm>
            <a:off x="7380284"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4" name="Initial user utterance"/>
          <p:cNvSpPr/>
          <p:nvPr/>
        </p:nvSpPr>
        <p:spPr>
          <a:xfrm>
            <a:off x="7457201"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5" name="Initial user utterance"/>
          <p:cNvSpPr/>
          <p:nvPr/>
        </p:nvSpPr>
        <p:spPr>
          <a:xfrm>
            <a:off x="7534118"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6" name="Initial user utterance"/>
          <p:cNvSpPr/>
          <p:nvPr/>
        </p:nvSpPr>
        <p:spPr>
          <a:xfrm>
            <a:off x="7611035"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7" name="Initial user utterance"/>
          <p:cNvSpPr/>
          <p:nvPr/>
        </p:nvSpPr>
        <p:spPr>
          <a:xfrm>
            <a:off x="768795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8" name="Initial user utterance"/>
          <p:cNvSpPr/>
          <p:nvPr/>
        </p:nvSpPr>
        <p:spPr>
          <a:xfrm>
            <a:off x="7764870"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9" name="Initial user utterance"/>
          <p:cNvSpPr/>
          <p:nvPr/>
        </p:nvSpPr>
        <p:spPr>
          <a:xfrm>
            <a:off x="7841787"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0" name="Initial user utterance"/>
          <p:cNvSpPr/>
          <p:nvPr/>
        </p:nvSpPr>
        <p:spPr>
          <a:xfrm>
            <a:off x="7918704"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1" name="User adds information"/>
          <p:cNvSpPr/>
          <p:nvPr/>
        </p:nvSpPr>
        <p:spPr>
          <a:xfrm>
            <a:off x="9180576"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2" name="User adds information"/>
          <p:cNvSpPr/>
          <p:nvPr/>
        </p:nvSpPr>
        <p:spPr>
          <a:xfrm>
            <a:off x="9255442"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3" name="User adds information"/>
          <p:cNvSpPr/>
          <p:nvPr/>
        </p:nvSpPr>
        <p:spPr>
          <a:xfrm>
            <a:off x="9330309"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4" name="User adds information"/>
          <p:cNvSpPr/>
          <p:nvPr/>
        </p:nvSpPr>
        <p:spPr>
          <a:xfrm>
            <a:off x="9405176"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5" name="User adds information"/>
          <p:cNvSpPr/>
          <p:nvPr/>
        </p:nvSpPr>
        <p:spPr>
          <a:xfrm>
            <a:off x="9480042"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6" name="User adds information"/>
          <p:cNvSpPr/>
          <p:nvPr/>
        </p:nvSpPr>
        <p:spPr>
          <a:xfrm>
            <a:off x="9554908"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7" name="User adds information"/>
          <p:cNvSpPr/>
          <p:nvPr/>
        </p:nvSpPr>
        <p:spPr>
          <a:xfrm>
            <a:off x="9629775"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8" name="User adds information"/>
          <p:cNvSpPr/>
          <p:nvPr/>
        </p:nvSpPr>
        <p:spPr>
          <a:xfrm>
            <a:off x="9704642" y="2564892"/>
            <a:ext cx="22860" cy="15544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9" name="User adds information"/>
          <p:cNvSpPr/>
          <p:nvPr/>
        </p:nvSpPr>
        <p:spPr>
          <a:xfrm>
            <a:off x="9779508" y="2537460"/>
            <a:ext cx="22860" cy="2103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0" name="User adds information"/>
          <p:cNvSpPr/>
          <p:nvPr/>
        </p:nvSpPr>
        <p:spPr>
          <a:xfrm>
            <a:off x="9854374" y="2574036"/>
            <a:ext cx="22860" cy="13716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1" name="User adds information"/>
          <p:cNvSpPr/>
          <p:nvPr/>
        </p:nvSpPr>
        <p:spPr>
          <a:xfrm>
            <a:off x="9929241" y="2532888"/>
            <a:ext cx="22860" cy="21945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2" name="User adds information"/>
          <p:cNvSpPr/>
          <p:nvPr/>
        </p:nvSpPr>
        <p:spPr>
          <a:xfrm>
            <a:off x="10004107" y="2569464"/>
            <a:ext cx="22860" cy="1463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3" name="User adds information"/>
          <p:cNvSpPr/>
          <p:nvPr/>
        </p:nvSpPr>
        <p:spPr>
          <a:xfrm>
            <a:off x="10078974" y="2519172"/>
            <a:ext cx="22860" cy="246888"/>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4" name="User adds information"/>
          <p:cNvSpPr/>
          <p:nvPr/>
        </p:nvSpPr>
        <p:spPr>
          <a:xfrm>
            <a:off x="10153840" y="2555748"/>
            <a:ext cx="22860" cy="1737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5" name="User adds information"/>
          <p:cNvSpPr/>
          <p:nvPr/>
        </p:nvSpPr>
        <p:spPr>
          <a:xfrm>
            <a:off x="10228707" y="2583180"/>
            <a:ext cx="22860" cy="11887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6" name="User adds information"/>
          <p:cNvSpPr/>
          <p:nvPr/>
        </p:nvSpPr>
        <p:spPr>
          <a:xfrm>
            <a:off x="10303574" y="2546604"/>
            <a:ext cx="22860" cy="19202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7" name="User adds information"/>
          <p:cNvSpPr/>
          <p:nvPr/>
        </p:nvSpPr>
        <p:spPr>
          <a:xfrm>
            <a:off x="10378440" y="2514600"/>
            <a:ext cx="22860" cy="25603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3" name="Turn response before VAD cancellation"/>
          <p:cNvSpPr/>
          <p:nvPr/>
        </p:nvSpPr>
        <p:spPr>
          <a:xfrm>
            <a:off x="8174736"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4" name="Turn response before VAD cancellation"/>
          <p:cNvSpPr/>
          <p:nvPr/>
        </p:nvSpPr>
        <p:spPr>
          <a:xfrm>
            <a:off x="8250501"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5" name="Turn response before VAD cancellation"/>
          <p:cNvSpPr/>
          <p:nvPr/>
        </p:nvSpPr>
        <p:spPr>
          <a:xfrm>
            <a:off x="8326265"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6" name="Turn response before VAD cancellation"/>
          <p:cNvSpPr/>
          <p:nvPr/>
        </p:nvSpPr>
        <p:spPr>
          <a:xfrm>
            <a:off x="8402030"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7" name="Turn response before VAD cancellation"/>
          <p:cNvSpPr/>
          <p:nvPr/>
        </p:nvSpPr>
        <p:spPr>
          <a:xfrm>
            <a:off x="8477794"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8" name="Turn response before VAD cancellation"/>
          <p:cNvSpPr/>
          <p:nvPr/>
        </p:nvSpPr>
        <p:spPr>
          <a:xfrm>
            <a:off x="8553559" y="4000500"/>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9" name="Turn response before VAD cancellation"/>
          <p:cNvSpPr/>
          <p:nvPr/>
        </p:nvSpPr>
        <p:spPr>
          <a:xfrm>
            <a:off x="8629323" y="3968496"/>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0" name="Turn response before VAD cancellation"/>
          <p:cNvSpPr/>
          <p:nvPr/>
        </p:nvSpPr>
        <p:spPr>
          <a:xfrm>
            <a:off x="8705088" y="4018788"/>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1" name="Turn response before VAD cancellation"/>
          <p:cNvSpPr/>
          <p:nvPr/>
        </p:nvSpPr>
        <p:spPr>
          <a:xfrm>
            <a:off x="8780853" y="3991356"/>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2" name="Turn response before VAD cancellation"/>
          <p:cNvSpPr/>
          <p:nvPr/>
        </p:nvSpPr>
        <p:spPr>
          <a:xfrm>
            <a:off x="8856617" y="4027932"/>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3" name="Turn response before VAD cancellation"/>
          <p:cNvSpPr/>
          <p:nvPr/>
        </p:nvSpPr>
        <p:spPr>
          <a:xfrm>
            <a:off x="8932382"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4" name="Turn response before VAD cancellation"/>
          <p:cNvSpPr/>
          <p:nvPr/>
        </p:nvSpPr>
        <p:spPr>
          <a:xfrm>
            <a:off x="9008146"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5" name="Turn response before VAD cancellation"/>
          <p:cNvSpPr/>
          <p:nvPr/>
        </p:nvSpPr>
        <p:spPr>
          <a:xfrm>
            <a:off x="9083911"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6" name="Turn response before VAD cancellation"/>
          <p:cNvSpPr/>
          <p:nvPr/>
        </p:nvSpPr>
        <p:spPr>
          <a:xfrm>
            <a:off x="9159675"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7" name="Turn response before VAD cancellation"/>
          <p:cNvSpPr/>
          <p:nvPr/>
        </p:nvSpPr>
        <p:spPr>
          <a:xfrm>
            <a:off x="9235440"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8" name="New request after commit"/>
          <p:cNvSpPr/>
          <p:nvPr/>
        </p:nvSpPr>
        <p:spPr>
          <a:xfrm>
            <a:off x="10808208" y="3986784"/>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9" name="New request after commit"/>
          <p:cNvSpPr/>
          <p:nvPr/>
        </p:nvSpPr>
        <p:spPr>
          <a:xfrm>
            <a:off x="10901934" y="4023360"/>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0" name="New request after commit"/>
          <p:cNvSpPr/>
          <p:nvPr/>
        </p:nvSpPr>
        <p:spPr>
          <a:xfrm>
            <a:off x="10995660" y="3973068"/>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1" name="New request after commit"/>
          <p:cNvSpPr/>
          <p:nvPr/>
        </p:nvSpPr>
        <p:spPr>
          <a:xfrm>
            <a:off x="11089386" y="4009644"/>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2" name="New request after commit"/>
          <p:cNvSpPr/>
          <p:nvPr/>
        </p:nvSpPr>
        <p:spPr>
          <a:xfrm>
            <a:off x="11183112" y="4037076"/>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83" name="New user speech alignment"/>
          <p:cNvCxnSpPr/>
          <p:nvPr/>
        </p:nvCxnSpPr>
        <p:spPr>
          <a:xfrm>
            <a:off x="9171432" y="2487168"/>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4" name="New user speech alignment"/>
          <p:cNvCxnSpPr/>
          <p:nvPr/>
        </p:nvCxnSpPr>
        <p:spPr>
          <a:xfrm>
            <a:off x="9171432" y="3090672"/>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5" name="New user speech alignment"/>
          <p:cNvCxnSpPr/>
          <p:nvPr/>
        </p:nvCxnSpPr>
        <p:spPr>
          <a:xfrm>
            <a:off x="9171432" y="3941064"/>
            <a:ext cx="0" cy="310896"/>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86" name="VAD cancels the old reply"/>
          <p:cNvCxnSpPr/>
          <p:nvPr/>
        </p:nvCxnSpPr>
        <p:spPr>
          <a:xfrm>
            <a:off x="9281160" y="3977640"/>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cxnSp>
        <p:nvCxnSpPr>
          <p:cNvPr id="387" name="Commit after user speech and silence"/>
          <p:cNvCxnSpPr/>
          <p:nvPr/>
        </p:nvCxnSpPr>
        <p:spPr>
          <a:xfrm>
            <a:off x="10597896"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50" name="Native model audio output"/>
          <p:cNvSpPr/>
          <p:nvPr/>
        </p:nvSpPr>
        <p:spPr>
          <a:xfrm>
            <a:off x="8174736"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1" name="Native model audio output"/>
          <p:cNvSpPr/>
          <p:nvPr/>
        </p:nvSpPr>
        <p:spPr>
          <a:xfrm>
            <a:off x="8250501"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2" name="Native model audio output"/>
          <p:cNvSpPr/>
          <p:nvPr/>
        </p:nvSpPr>
        <p:spPr>
          <a:xfrm>
            <a:off x="8326265"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3" name="Native model audio output"/>
          <p:cNvSpPr/>
          <p:nvPr/>
        </p:nvSpPr>
        <p:spPr>
          <a:xfrm>
            <a:off x="8402030"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4" name="Native model audio output"/>
          <p:cNvSpPr/>
          <p:nvPr/>
        </p:nvSpPr>
        <p:spPr>
          <a:xfrm>
            <a:off x="8477794"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5" name="Native model audio output"/>
          <p:cNvSpPr/>
          <p:nvPr/>
        </p:nvSpPr>
        <p:spPr>
          <a:xfrm>
            <a:off x="8553559" y="3150108"/>
            <a:ext cx="22860" cy="19202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6" name="Native model audio output"/>
          <p:cNvSpPr/>
          <p:nvPr/>
        </p:nvSpPr>
        <p:spPr>
          <a:xfrm>
            <a:off x="8629323" y="3118104"/>
            <a:ext cx="22860" cy="25603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7" name="Native model audio output"/>
          <p:cNvSpPr/>
          <p:nvPr/>
        </p:nvSpPr>
        <p:spPr>
          <a:xfrm>
            <a:off x="8705088" y="3168396"/>
            <a:ext cx="22860" cy="1554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8" name="Native model audio output"/>
          <p:cNvSpPr/>
          <p:nvPr/>
        </p:nvSpPr>
        <p:spPr>
          <a:xfrm>
            <a:off x="8780853" y="3140964"/>
            <a:ext cx="22860" cy="21031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9" name="Native model audio output"/>
          <p:cNvSpPr/>
          <p:nvPr/>
        </p:nvSpPr>
        <p:spPr>
          <a:xfrm>
            <a:off x="8856617" y="3177540"/>
            <a:ext cx="22860" cy="13716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0" name="Native model audio output"/>
          <p:cNvSpPr/>
          <p:nvPr/>
        </p:nvSpPr>
        <p:spPr>
          <a:xfrm>
            <a:off x="8932382"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1" name="Native model audio output"/>
          <p:cNvSpPr/>
          <p:nvPr/>
        </p:nvSpPr>
        <p:spPr>
          <a:xfrm>
            <a:off x="9008146"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2" name="Native model audio output"/>
          <p:cNvSpPr/>
          <p:nvPr/>
        </p:nvSpPr>
        <p:spPr>
          <a:xfrm>
            <a:off x="9083911"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3" name="Native model audio output"/>
          <p:cNvSpPr/>
          <p:nvPr/>
        </p:nvSpPr>
        <p:spPr>
          <a:xfrm>
            <a:off x="9159675"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4" name="Native model audio output"/>
          <p:cNvSpPr/>
          <p:nvPr/>
        </p:nvSpPr>
        <p:spPr>
          <a:xfrm>
            <a:off x="9235440"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5" name="Native model audio output"/>
          <p:cNvSpPr/>
          <p:nvPr/>
        </p:nvSpPr>
        <p:spPr>
          <a:xfrm>
            <a:off x="10808208" y="3136392"/>
            <a:ext cx="22860" cy="2194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6" name="Native model audio output"/>
          <p:cNvSpPr/>
          <p:nvPr/>
        </p:nvSpPr>
        <p:spPr>
          <a:xfrm>
            <a:off x="10901934" y="3172968"/>
            <a:ext cx="22860" cy="146304"/>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7" name="Native model audio output"/>
          <p:cNvSpPr/>
          <p:nvPr/>
        </p:nvSpPr>
        <p:spPr>
          <a:xfrm>
            <a:off x="10995660" y="3122676"/>
            <a:ext cx="22860" cy="24688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8" name="Native model audio output"/>
          <p:cNvSpPr/>
          <p:nvPr/>
        </p:nvSpPr>
        <p:spPr>
          <a:xfrm>
            <a:off x="11089386" y="3159252"/>
            <a:ext cx="22860" cy="1737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9" name="Native model audio output"/>
          <p:cNvSpPr/>
          <p:nvPr/>
        </p:nvSpPr>
        <p:spPr>
          <a:xfrm>
            <a:off x="11183112" y="3186684"/>
            <a:ext cx="22860" cy="118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0" name="Model chooses LISTEN"/>
          <p:cNvCxnSpPr/>
          <p:nvPr/>
        </p:nvCxnSpPr>
        <p:spPr>
          <a:xfrm>
            <a:off x="9281160" y="3127248"/>
            <a:ext cx="0" cy="237744"/>
          </a:xfrm>
          <a:prstGeom prst="line">
            <a:avLst/>
          </a:prstGeom>
          <a:ln w="21590">
            <a:solidFill>
              <a:srgbClr val="FFCB78"/>
            </a:solidFill>
          </a:ln>
          <a:effectLst/>
        </p:spPr>
        <p:style>
          <a:lnRef idx="2">
            <a:schemeClr val="accent1"/>
          </a:lnRef>
          <a:fillRef idx="0">
            <a:schemeClr val="accent1"/>
          </a:fillRef>
          <a:effectRef idx="0">
            <a:schemeClr val="accent1"/>
          </a:effectRef>
          <a:fontRef idx="minor">
            <a:schemeClr val="tx1"/>
          </a:fontRef>
        </p:style>
      </p:cxnSp>
      <p:sp>
        <p:nvSpPr>
          <p:cNvPr id="491" name="模型：LISTEN"/>
          <p:cNvSpPr txBox="1"/>
          <p:nvPr/>
        </p:nvSpPr>
        <p:spPr>
          <a:xfrm>
            <a:off x="9400032" y="3127248"/>
            <a:ext cx="1325880" cy="210312"/>
          </a:xfrm>
          <a:prstGeom prst="rect">
            <a:avLst/>
          </a:prstGeom>
          <a:noFill/>
        </p:spPr>
        <p:txBody>
          <a:bodyPr wrap="square" lIns="0" rIns="0" tIns="0" bIns="0" anchor="t">
            <a:spAutoFit/>
          </a:bodyPr>
          <a:lstStyle/>
          <a:p>
            <a:pPr algn="l">
              <a:lnSpc>
                <a:spcPct val="110000"/>
              </a:lnSpc>
              <a:spcAft>
                <a:spcPts val="0"/>
              </a:spcAft>
            </a:pPr>
            <a:r>
              <a:rPr sz="1050" b="0">
                <a:solidFill>
                  <a:srgbClr val="FFCB78"/>
                </a:solidFill>
                <a:latin typeface="Noto Sans CJK SC"/>
                <a:ea typeface="Noto Sans CJK SC"/>
                <a:cs typeface="Noto Sans CJK SC"/>
              </a:rPr>
              <a:t>模型：LISTEN</a:t>
            </a:r>
          </a:p>
        </p:txBody>
      </p:sp>
      <p:cxnSp>
        <p:nvCxnSpPr>
          <p:cNvPr id="492" name="First VAD commit after user speech and silence"/>
          <p:cNvCxnSpPr/>
          <p:nvPr/>
        </p:nvCxnSpPr>
        <p:spPr>
          <a:xfrm>
            <a:off x="8046720" y="3977640"/>
            <a:ext cx="0" cy="237744"/>
          </a:xfrm>
          <a:prstGeom prst="line">
            <a:avLst/>
          </a:prstGeom>
          <a:ln w="1524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493" name="First VAD commit label"/>
          <p:cNvSpPr txBox="1"/>
          <p:nvPr/>
        </p:nvSpPr>
        <p:spPr>
          <a:xfrm>
            <a:off x="7571232" y="4215384"/>
            <a:ext cx="950976" cy="201168"/>
          </a:xfrm>
          <a:prstGeom prst="rect">
            <a:avLst/>
          </a:prstGeom>
          <a:noFill/>
        </p:spPr>
        <p:txBody>
          <a:bodyPr wrap="square" lIns="0" rIns="0" tIns="0" bIns="0" anchor="t">
            <a:spAutoFit/>
          </a:bodyPr>
          <a:lstStyle/>
          <a:p>
            <a:pPr algn="ctr">
              <a:lnSpc>
                <a:spcPct val="110000"/>
              </a:lnSpc>
              <a:spcAft>
                <a:spcPts val="0"/>
              </a:spcAft>
            </a:pPr>
            <a:r>
              <a:rPr sz="1000" b="0">
                <a:solidFill>
                  <a:srgbClr val="FFCB78"/>
                </a:solidFill>
                <a:latin typeface="Arial"/>
                <a:ea typeface="Arial"/>
                <a:cs typeface="Arial"/>
              </a:rPr>
              <a:t>VAD commit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概览</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目录</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13</a:t>
            </a:r>
          </a:p>
        </p:txBody>
      </p:sp>
      <p:cxnSp>
        <p:nvCxnSpPr>
          <p:cNvPr id="501" name="Column separator"/>
          <p:cNvCxnSpPr/>
          <p:nvPr/>
        </p:nvCxnSpPr>
        <p:spPr>
          <a:xfrm>
            <a:off x="6099048" y="1984248"/>
            <a:ext cx="0" cy="3657600"/>
          </a:xfrm>
          <a:prstGeom prst="line">
            <a:avLst/>
          </a:prstGeom>
          <a:ln w="12700">
            <a:solidFill>
              <a:srgbClr val="D5E0ED"/>
            </a:solidFill>
          </a:ln>
        </p:spPr>
      </p:cxnSp>
      <p:sp>
        <p:nvSpPr>
          <p:cNvPr id="502" name="核心内容"/>
          <p:cNvSpPr/>
          <p:nvPr/>
        </p:nvSpPr>
        <p:spPr>
          <a:xfrm>
            <a:off x="731520" y="1993392"/>
            <a:ext cx="5010912" cy="438912"/>
          </a:xfrm>
          <a:prstGeom prst="rect">
            <a:avLst/>
          </a:prstGeom>
          <a:noFill/>
        </p:spPr>
        <p:txBody>
          <a:bodyPr wrap="square" lIns="0" rIns="0" tIns="0" bIns="0" anchor="t">
            <a:noAutofit/>
          </a:bodyPr>
          <a:lstStyle/>
          <a:p>
            <a:pPr algn="l">
              <a:lnSpc>
                <a:spcPct val="108000"/>
              </a:lnSpc>
              <a:spcAft>
                <a:spcPts val="0"/>
              </a:spcAft>
            </a:pPr>
            <a:r>
              <a:rPr sz="2300" b="1">
                <a:solidFill>
                  <a:srgbClr val="347FF0"/>
                </a:solidFill>
                <a:latin typeface="Noto Sans CJK SC"/>
                <a:ea typeface="Noto Sans CJK SC"/>
                <a:cs typeface="Noto Sans CJK SC"/>
              </a:rPr>
              <a:t>核心内容</a:t>
            </a:r>
          </a:p>
        </p:txBody>
      </p:sp>
      <p:cxnSp>
        <p:nvCxnSpPr>
          <p:cNvPr id="503" name="Section underline"/>
          <p:cNvCxnSpPr/>
          <p:nvPr/>
        </p:nvCxnSpPr>
        <p:spPr>
          <a:xfrm>
            <a:off x="731520" y="2542032"/>
            <a:ext cx="5001768" cy="0"/>
          </a:xfrm>
          <a:prstGeom prst="line">
            <a:avLst/>
          </a:prstGeom>
          <a:ln w="12700">
            <a:solidFill>
              <a:srgbClr val="A7BAD0"/>
            </a:solidFill>
          </a:ln>
        </p:spPr>
      </p:cxnSp>
      <p:sp>
        <p:nvSpPr>
          <p:cNvPr id="504" name="全双工背景、交互方式与模型"/>
          <p:cNvSpPr/>
          <p:nvPr/>
        </p:nvSpPr>
        <p:spPr>
          <a:xfrm>
            <a:off x="731520" y="285292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全双工背景、交互方式与模型</a:t>
            </a:r>
          </a:p>
        </p:txBody>
      </p:sp>
      <p:sp>
        <p:nvSpPr>
          <p:cNvPr id="505" name="vLLM-Omni 统一架构与流程"/>
          <p:cNvSpPr/>
          <p:nvPr/>
        </p:nvSpPr>
        <p:spPr>
          <a:xfrm>
            <a:off x="731520" y="358444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vLLM-Omni 统一架构与流程</a:t>
            </a:r>
          </a:p>
        </p:txBody>
      </p:sp>
      <p:sp>
        <p:nvSpPr>
          <p:cNvPr id="506" name="性能优化与评测指标"/>
          <p:cNvSpPr/>
          <p:nvPr/>
        </p:nvSpPr>
        <p:spPr>
          <a:xfrm>
            <a:off x="731520" y="431596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性能优化与评测指标</a:t>
            </a:r>
          </a:p>
        </p:txBody>
      </p:sp>
      <p:sp>
        <p:nvSpPr>
          <p:cNvPr id="507" name="工具调用与演进方向"/>
          <p:cNvSpPr/>
          <p:nvPr/>
        </p:nvSpPr>
        <p:spPr>
          <a:xfrm>
            <a:off x="731520" y="504748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工具调用与演进方向</a:t>
            </a:r>
          </a:p>
        </p:txBody>
      </p:sp>
      <p:sp>
        <p:nvSpPr>
          <p:cNvPr id="508" name="技术附录"/>
          <p:cNvSpPr/>
          <p:nvPr/>
        </p:nvSpPr>
        <p:spPr>
          <a:xfrm>
            <a:off x="6455664" y="1993392"/>
            <a:ext cx="5010912" cy="438912"/>
          </a:xfrm>
          <a:prstGeom prst="rect">
            <a:avLst/>
          </a:prstGeom>
          <a:noFill/>
        </p:spPr>
        <p:txBody>
          <a:bodyPr wrap="square" lIns="0" rIns="0" tIns="0" bIns="0" anchor="t">
            <a:noAutofit/>
          </a:bodyPr>
          <a:lstStyle/>
          <a:p>
            <a:pPr algn="l">
              <a:lnSpc>
                <a:spcPct val="108000"/>
              </a:lnSpc>
              <a:spcAft>
                <a:spcPts val="0"/>
              </a:spcAft>
            </a:pPr>
            <a:r>
              <a:rPr sz="2300" b="1">
                <a:solidFill>
                  <a:srgbClr val="008E96"/>
                </a:solidFill>
                <a:latin typeface="Noto Sans CJK SC"/>
                <a:ea typeface="Noto Sans CJK SC"/>
                <a:cs typeface="Noto Sans CJK SC"/>
              </a:rPr>
              <a:t>技术附录</a:t>
            </a:r>
          </a:p>
        </p:txBody>
      </p:sp>
      <p:cxnSp>
        <p:nvCxnSpPr>
          <p:cNvPr id="509" name="Section underline"/>
          <p:cNvCxnSpPr/>
          <p:nvPr/>
        </p:nvCxnSpPr>
        <p:spPr>
          <a:xfrm>
            <a:off x="6455664" y="2542032"/>
            <a:ext cx="5001768" cy="0"/>
          </a:xfrm>
          <a:prstGeom prst="line">
            <a:avLst/>
          </a:prstGeom>
          <a:ln w="12700">
            <a:solidFill>
              <a:srgbClr val="A7BAD0"/>
            </a:solidFill>
          </a:ln>
        </p:spPr>
      </p:cxnSp>
      <p:sp>
        <p:nvSpPr>
          <p:cNvPr id="510" name="更详细的架构与执行流程"/>
          <p:cNvSpPr/>
          <p:nvPr/>
        </p:nvSpPr>
        <p:spPr>
          <a:xfrm>
            <a:off x="6455664" y="285292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更详细的架构与执行流程</a:t>
            </a:r>
          </a:p>
        </p:txBody>
      </p:sp>
      <p:sp>
        <p:nvSpPr>
          <p:cNvPr id="511" name="VAD 与打断机制"/>
          <p:cNvSpPr/>
          <p:nvPr/>
        </p:nvSpPr>
        <p:spPr>
          <a:xfrm>
            <a:off x="6455664" y="358444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VAD 与打断机制</a:t>
            </a:r>
          </a:p>
        </p:txBody>
      </p:sp>
      <p:sp>
        <p:nvSpPr>
          <p:cNvPr id="512" name="会话生命周期与恢复"/>
          <p:cNvSpPr/>
          <p:nvPr/>
        </p:nvSpPr>
        <p:spPr>
          <a:xfrm>
            <a:off x="6455664" y="431596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会话生命周期与恢复</a:t>
            </a:r>
          </a:p>
        </p:txBody>
      </p:sp>
      <p:sp>
        <p:nvSpPr>
          <p:cNvPr id="513" name="跨机部署"/>
          <p:cNvSpPr/>
          <p:nvPr/>
        </p:nvSpPr>
        <p:spPr>
          <a:xfrm>
            <a:off x="6455664" y="5047488"/>
            <a:ext cx="5029200" cy="585216"/>
          </a:xfrm>
          <a:prstGeom prst="rect">
            <a:avLst/>
          </a:prstGeom>
          <a:noFill/>
        </p:spPr>
        <p:txBody>
          <a:bodyPr wrap="square" lIns="0" rIns="0" tIns="0" bIns="0" anchor="t">
            <a:noAutofit/>
          </a:bodyPr>
          <a:lstStyle/>
          <a:p>
            <a:pPr algn="l">
              <a:lnSpc>
                <a:spcPct val="108000"/>
              </a:lnSpc>
              <a:spcAft>
                <a:spcPts val="0"/>
              </a:spcAft>
            </a:pPr>
            <a:r>
              <a:rPr sz="2200" b="1">
                <a:solidFill>
                  <a:srgbClr val="16304E"/>
                </a:solidFill>
                <a:latin typeface="Noto Sans CJK SC"/>
                <a:ea typeface="Noto Sans CJK SC"/>
                <a:cs typeface="Noto Sans CJK SC"/>
              </a:rPr>
              <a:t>跨机部署</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2026-10-10T02:11:11Z</dcterms:modified>
  <cp:category/>
</cp:coreProperties>
</file>