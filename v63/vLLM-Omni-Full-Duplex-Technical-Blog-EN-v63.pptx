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1 concurrent request</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concurrent requests</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Arial"/>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Arial"/>
                  </a:defRPr>
                </a:pPr>
                <a:r>
                  <a:rPr lang="en-US" sz="105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050" baseline="0">
                <a:solidFill>
                  <a:srgbClr val="526985"/>
                </a:solidFill>
                <a:latin typeface="Arial"/>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Arial"/>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a:p>
            <a:r>
              <a:t/>
            </a:r>
          </a:p>
          <a:p>
            <a:r>
              <a:t>PR #7644 bounds each session output buffer and rejects cancelled audio before delivery. The client must still stop audio already received.</a:t>
            </a:r>
          </a:p>
          <a:p>
            <a: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shared camera and microphone tracks represent the same illustrative input for two separate model examples. Both configurations keep accepting input during output. MiniCPM-o 4.5 appends chunks to live model execution, which can change subsequent output or yield. Qwen3-Omni + Server VAD uses turn-based execution: speech onset can cancel the old response; after the user stops and VAD commits, a fresh model request uses the accumulated input. The waveform spacing illustrates behavior, not measured timing. MiniCPM is used here for the audio/video example; PersonaPlex remains the voice demo on the model-interaction slide.</a:t>
            </a:r>
          </a:p>
          <a:p>
            <a:r>
              <a:t>Sources:</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t/>
            </a:r>
          </a:p>
          <a:p>
            <a:r>
              <a:t>Sources:</a:t>
            </a:r>
          </a:p>
          <a:p>
            <a:r>
              <a:t>https://github.com/vllm-project/vllm-omni/blob/4c5541cfc17143f80bdb89bbb7a5840b08bb52c6/examples/online_serving/realtime_web/app/static/profiles/qwen3_turn.js</a:t>
            </a:r>
          </a:p>
          <a:p>
            <a:r>
              <a:t>https://github.com/vllm-project/vllm-omni/blob/4c5541cfc17143f80bdb89bbb7a5840b08bb52c6/examples/online_serving/realtime_web/app/static/profiles/aura_ptt.js</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t/>
            </a:r>
          </a:p>
          <a:p>
            <a:r>
              <a:t>Sources:</a:t>
            </a:r>
          </a:p>
          <a:p>
            <a:r>
              <a:t>https://github.com/vllm-project/vllm-omni/blob/4c5541cfc17143f80bdb89bbb7a5840b08bb52c6/vllm_omni/engine/duplex_omni_engine.py</a:t>
            </a:r>
          </a:p>
          <a:p>
            <a:r>
              <a:t>https://github.com/vllm-project/vllm-omni/blob/4c5541cfc17143f80bdb89bbb7a5840b08bb52c6/vllm_omni/entrypoints/duplex_omni.py</a:t>
            </a:r>
          </a:p>
          <a:p>
            <a:r>
              <a:t>https://github.com/vllm-project/vllm-omni/blob/4c5541cfc17143f80bdb89bbb7a5840b08bb52c6/vllm_omni/engine/duplex/session/manager.py</a:t>
            </a:r>
          </a:p>
          <a:p>
            <a:r>
              <a:t>https://github.com/vllm-project/vllm-omni/blob/712b90de9c7bc14c595b363401588a713a87c02d/vllm_omni/entrypoints/duplex_omni.py</a:t>
            </a:r>
          </a:p>
          <a:p>
            <a:r>
              <a:t>https://github.com/vllm-project/vllm-omni/blob/712b90de9c7bc14c595b363401588a713a87c02d/vllm_omni/engine/duplex_omni_engine.py</a:t>
            </a:r>
          </a:p>
          <a:p>
            <a:r>
              <a:t>https://github.com/vllm-project/vllm-omni/blob/712b90de9c7bc14c595b363401588a713a87c02d/vllm_omni/engine/duplex/session/manager.py</a:t>
            </a:r>
          </a:p>
          <a:p>
            <a:r>
              <a:t>https://github.com/vllm-project/vllm-omni/blob/712b90de9c7bc14c595b363401588a713a87c02d/vllm_omni/engine/duplex/session/runner.py</a:t>
            </a:r>
          </a:p>
          <a:p>
            <a: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t/>
            </a:r>
          </a:p>
          <a:p>
            <a:r>
              <a:t>Sources:</a:t>
            </a:r>
          </a:p>
          <a:p>
            <a:r>
              <a:t>https://github.com/vllm-project/vllm-omni/blob/4c5541cfc17143f80bdb89bbb7a5840b08bb52c6/vllm_omni/engine/duplex/session/runner.py</a:t>
            </a:r>
          </a:p>
          <a:p>
            <a:r>
              <a:t>https://github.com/vllm-project/vllm-omni/blob/4c5541cfc17143f80bdb89bbb7a5840b08bb52c6/vllm_omni/model_executor/models/qwen3_omni/duplex/plugin.py</a:t>
            </a:r>
          </a:p>
          <a:p>
            <a:r>
              <a:t>https://github.com/vllm-project/vllm-omni/blob/4c5541cfc17143f80bdb89bbb7a5840b08bb52c6/vllm_omni/model_executor/models/aura_omni/duplex/plugin.py</a:t>
            </a:r>
          </a:p>
          <a:p>
            <a:r>
              <a:t>https://github.com/vllm-project/vllm-omni/blob/712b90de9c7bc14c595b363401588a713a87c02d/vllm_omni/entrypoints/duplex/serving.py</a:t>
            </a:r>
          </a:p>
          <a:p>
            <a:r>
              <a:t>https://github.com/vllm-project/vllm-omni/blob/712b90de9c7bc14c595b363401588a713a87c02d/vllm_omni/entrypoints/duplex_omni.py</a:t>
            </a:r>
          </a:p>
          <a:p>
            <a:r>
              <a:t>https://github.com/vllm-project/vllm-omni/blob/712b90de9c7bc14c595b363401588a713a87c02d/vllm_omni/engine/duplex/session/manager.py</a:t>
            </a:r>
          </a:p>
          <a:p>
            <a:r>
              <a:t>https://github.com/vllm-project/vllm-omni/blob/712b90de9c7bc14c595b363401588a713a87c02d/vllm_omni/engine/duplex/delivery.py</a:t>
            </a:r>
          </a:p>
          <a:p>
            <a:r>
              <a:t>https://github.com/vllm-project/vllm-omni/blob/712b90de9c7bc14c595b363401588a713a87c02d/vllm_omni/config/stage_config.py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and MiniCPM retain native streaming computation state. AURA history includes ASR/user text, retained video clips and assistant text; old video payloads are pruned separately from text. Qwen retains user audio, image inputs and text. Both turn-based models build new generation requests from committed input and history. AURA releases its concurrent-turn gate when Stage 1 Thinker completes, allowing the next turn to begin while prior TTS drains. This is overlap between requests/stages, not native appending to one continuing Thinker inference.</a:t>
            </a:r>
          </a:p>
          <a:p>
            <a:r>
              <a:t/>
            </a:r>
          </a:p>
          <a:p>
            <a:r>
              <a:t>Sources:</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t/>
            </a:r>
          </a:p>
          <a:p>
            <a:r>
              <a:t>Sources:</a:t>
            </a:r>
          </a:p>
          <a:p>
            <a:r>
              <a:t>https://github.com/vllm-project/vllm-omni/blob/4c5541cfc17143f80bdb89bbb7a5840b08bb52c6/vllm_omni/clients/duplex.py</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https://github.com/vllm-project/vllm-omni/blob/712b90de9c7bc14c595b363401588a713a87c02d/vllm_omni/model_executor/models/personaplex/duplex/capabilities.py</a:t>
            </a:r>
          </a:p>
          <a:p>
            <a:r>
              <a:t>https://github.com/vllm-project/vllm-omni/blob/712b90de9c7bc14c595b363401588a713a87c02d/vllm_omni/model_executor/models/nemotron_voicechat/duplex/capabilities.py</a:t>
            </a:r>
          </a:p>
          <a:p>
            <a:r>
              <a:t>https://github.com/vllm-project/vllm-omni/blob/712b90de9c7bc14c595b363401588a713a87c02d/vllm_omni/clients/duplex.py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shown as gaps. The figure contains 28 observed points per series and does not interpolate missing measurements.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t/>
            </a:r>
          </a:p>
          <a:p>
            <a:r>
              <a:t>Sources:</a:t>
            </a:r>
          </a:p>
          <a:p>
            <a:r>
              <a:t>https://github.com/vllm-project/vllm-omni/blob/4c5541cfc17143f80bdb89bbb7a5840b08bb52c6/vllm_omni/benchmarks/duplex_session_metrics.py</a:t>
            </a:r>
          </a:p>
          <a:p>
            <a:r>
              <a:t>https://github.com/vllm-project/vllm-omni/blob/4c5541cfc17143f80bdb89bbb7a5840b08bb52c6/vllm_omni/benchmarks/omniinteract.py</a:t>
            </a:r>
          </a:p>
          <a:p>
            <a:r>
              <a:t>https://github.com/vllm-project/vllm-omni/blob/4c5541cfc17143f80bdb89bbb7a5840b08bb52c6/vllm_omni/benchmarks/duplex/omni_duplex_eval_metrics.py</a:t>
            </a:r>
          </a:p>
          <a:p>
            <a:r>
              <a:t>https://github.com/vllm-project/vllm-omni/blob/712b90de9c7bc14c595b363401588a713a87c02d/vllm_omni/benchmarks/omniinteract.py</a:t>
            </a:r>
          </a:p>
          <a:p>
            <a:r>
              <a:t>https://github.com/vllm-project/vllm-omni/blob/712b90de9c7bc14c595b363401588a713a87c02d/vllm_omni/benchmarks/omniinteract_eval.py</a:t>
            </a:r>
          </a:p>
          <a:p>
            <a:r>
              <a:t>https://github.com/vllm-project/vllm-omni/blob/712b90de9c7bc14c595b363401588a713a87c02d/vllm_omni/benchmarks/duplex/omni_duplex_eval_runner.py</a:t>
            </a:r>
          </a:p>
          <a:p>
            <a:r>
              <a:t>https://github.com/vllm-project/vllm-omni/blob/712b90de9c7bc14c595b363401588a713a87c02d/vllm_omni/benchmarks/duplex/omni_duplex_eval_metrics.py</a:t>
            </a:r>
          </a:p>
          <a:p>
            <a: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t/>
            </a:r>
          </a:p>
          <a:p>
            <a:r>
              <a:t>Sources:</a:t>
            </a:r>
          </a:p>
          <a:p>
            <a:r>
              <a:t>https://github.com/vllm-project/vllm-omni/blob/4c5541cfc17143f80bdb89bbb7a5840b08bb52c6/vllm_omni/entrypoints/openai/realtime/session.py</a:t>
            </a:r>
          </a:p>
          <a:p>
            <a:r>
              <a:t>https://github.com/vllm-project/vllm-omni/blob/4c5541cfc17143f80bdb89bbb7a5840b08bb52c6/vllm_omni/model_executor/models/nemotron_voicechat/duplex/plugin.py</a:t>
            </a:r>
          </a:p>
          <a:p>
            <a:r>
              <a:t>https://github.com/vllm-project/vllm-omni/blob/4c5541cfc17143f80bdb89bbb7a5840b08bb52c6/vllm_omni/model_executor/models/qwen3_omni/duplex/plugin.py</a:t>
            </a:r>
          </a:p>
          <a:p>
            <a:r>
              <a:t>https://github.com/vllm-project/vllm-omni/blob/d5a3380103df2fc827f095c60dbfb6e1c5655fd3/vllm_omni/entrypoints/openai/realtime/connection.py#L386-L425</a:t>
            </a:r>
          </a:p>
          <a:p>
            <a:r>
              <a:t>https://github.com/vllm-project/vllm-omni/blob/d5a3380103df2fc827f095c60dbfb6e1c5655fd3/vllm_omni/entrypoints/openai/realtime/connection.py#L870-L940</a:t>
            </a:r>
          </a:p>
          <a:p>
            <a:r>
              <a:t>https://github.com/vllm-project/vllm-omni/blob/d5a3380103df2fc827f095c60dbfb6e1c5655fd3/vllm_omni/entrypoints/openai/realtime/connection.py#L1655-L1678</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https://github.com/vllm-project/vllm-omni/blob/d5a3380103df2fc827f095c60dbfb6e1c5655fd3/vllm_omni/model_executor/models/nemotron_voicechat/duplex/plugin.py#L108-L147</a:t>
            </a:r>
          </a:p>
          <a:p>
            <a:r>
              <a:t>https://github.com/vllm-project/vllm-omni/blob/d5a3380103df2fc827f095c60dbfb6e1c5655fd3/vllm_omni/model_executor/models/nemotron_voicechat/duplex/plugin.py#L430-L501</a:t>
            </a:r>
          </a:p>
          <a:p>
            <a:r>
              <a:t>https://github.com/vllm-project/vllm-omni/blob/d5a3380103df2fc827f095c60dbfb6e1c5655fd3/vllm_omni/engine/duplex/realtime_events.py#L1080-L1126</a:t>
            </a:r>
          </a:p>
          <a:p>
            <a:r>
              <a:t>https://github.com/vllm-project/vllm-omni/blob/d5a3380103df2fc827f095c60dbfb6e1c5655fd3/vllm_omni/engine/duplex/realtime_events.py#L1430-L1487</a:t>
            </a:r>
          </a:p>
          <a:p>
            <a:r>
              <a:t>https://github.com/vllm-project/vllm-omni/blob/d5a3380103df2fc827f095c60dbfb6e1c5655fd3/vllm_omni/engine/duplex/plugin.py#L513-L523</a:t>
            </a:r>
          </a:p>
          <a:p>
            <a:r>
              <a:t>https://github.com/vllm-project/vllm-omni/blob/d5a3380103df2fc827f095c60dbfb6e1c5655fd3/vllm_omni/engine/duplex/session/control.py#L290-L327</a:t>
            </a:r>
          </a:p>
          <a:p>
            <a: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t/>
            </a:r>
          </a:p>
          <a:p>
            <a:r>
              <a:t>Sources:</a:t>
            </a:r>
          </a:p>
          <a:p>
            <a:r>
              <a:t>https://github.com/vllm-project/vllm-omni/blob/4c5541cfc17143f80bdb89bbb7a5840b08bb52c6/vllm_omni/entrypoints/openai/api_server.py</a:t>
            </a:r>
          </a:p>
          <a:p>
            <a:r>
              <a:t>https://github.com/vllm-project/vllm-omni/blob/4c5541cfc17143f80bdb89bbb7a5840b08bb52c6/vllm_omni/engine/duplex_omni_engine.py</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https://github.com/vllm-project/vllm-omni/blob/d5a3380103df2fc827f095c60dbfb6e1c5655fd3/vllm_omni/model_executor/models/nemotron_voicechat/duplex/plugin.py#L444-L501</a:t>
            </a:r>
          </a:p>
          <a:p>
            <a:r>
              <a:t>https://github.com/vllm-project/vllm-omni/blob/d5a3380103df2fc827f095c60dbfb6e1c5655fd3/vllm_omni/entrypoints/openai/realtime/connection.py#L386-L425</a:t>
            </a:r>
          </a:p>
          <a:p>
            <a:r>
              <a:t>https://github.com/vllm-project/vllm-omni/blob/d5a3380103df2fc827f095c60dbfb6e1c5655fd3/vllm_omni/engine/duplex/realtime_events.py#L1430-L1487</a:t>
            </a:r>
          </a:p>
          <a:p>
            <a:r>
              <a:t>https://github.com/vllm-project/vllm-omni/blob/d5a3380103df2fc827f095c60dbfb6e1c5655fd3/vllm_omni/engine/duplex/turn_detection.py#L82-L99</a:t>
            </a:r>
          </a:p>
          <a:p>
            <a:r>
              <a:t>https://github.com/vllm-project/vllm-omni/blob/d5a3380103df2fc827f095c60dbfb6e1c5655fd3/vllm_omni/engine/duplex/vad.py#L100-L108</a:t>
            </a:r>
          </a:p>
          <a:p>
            <a:r>
              <a:t>https://github.com/vllm-project/vllm-omni/blob/d5a3380103df2fc827f095c60dbfb6e1c5655fd3/tests/engine/duplex/test_engine_session.py#L598-L608</a:t>
            </a:r>
          </a:p>
          <a:p>
            <a:r>
              <a:t>https://github.com/vllm-project/vllm-omni/blob/d5a3380103df2fc827f095c60dbfb6e1c5655fd3/vllm_omni/benchmarks/omniinteract.py</a:t>
            </a:r>
          </a:p>
          <a:p>
            <a:r>
              <a:t>https://github.com/vllm-project/vllm-omni/blob/d5a3380103df2fc827f095c60dbfb6e1c5655fd3/vllm_omni/benchmarks/omniinteract_eval.py</a:t>
            </a:r>
          </a:p>
          <a:p>
            <a:r>
              <a:t>https://github.com/vllm-project/vllm-omni/blob/d5a3380103df2fc827f095c60dbfb6e1c5655fd3/vllm_omni/benchmarks/duplex/omni_duplex_eval_runner.py</a:t>
            </a:r>
          </a:p>
          <a:p>
            <a:r>
              <a:t>https://github.com/vllm-project/vllm-omni/blob/d5a3380103df2fc827f095c60dbfb6e1c5655fd3/tests/e2e/accuracy/omni_duplex_eval/README.md</a:t>
            </a:r>
          </a:p>
          <a:p>
            <a:r>
              <a:t>https://github.com/vllm-project/vllm-omni/blob/d5a3380103df2fc827f095c60dbfb6e1c5655fd3/vllm_omni/model_executor/models/minicpmo_4_5/duplex/window_kv.py</a:t>
            </a:r>
          </a:p>
          <a:p>
            <a:r>
              <a:t>https://github.com/vllm-project/vllm-omni/blob/d5a3380103df2fc827f095c60dbfb6e1c5655fd3/vllm_omni/engine/stage_pool.py#L574-L609</a:t>
            </a:r>
          </a:p>
          <a:p>
            <a:r>
              <a:t>https://github.com/vllm-project/vllm-omni/blob/d5a3380103df2fc827f095c60dbfb6e1c5655fd3/vllm_omni/engine/duplex_orchestrator.py#L393-L424</a:t>
            </a:r>
          </a:p>
          <a:p>
            <a:r>
              <a:t>https://github.com/vllm-project/vllm-omni/blob/d5a3380103df2fc827f095c60dbfb6e1c5655fd3/vllm_omni/entrypoints/openai/api_server.py#L1880-L1895</a:t>
            </a:r>
          </a:p>
          <a:p>
            <a:r>
              <a:t>https://github.com/vllm-project/vllm-omni/blob/d5a3380103df2fc827f095c60dbfb6e1c5655fd3/vllm_omni/model_executor/models/joyai_vl_interaction/pipeline.py</a:t>
            </a:r>
          </a:p>
          <a:p>
            <a: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t/>
            </a:r>
          </a:p>
          <a:p>
            <a:r>
              <a:t>Sources:</a:t>
            </a:r>
          </a:p>
          <a:p>
            <a:r>
              <a:t>https://github.com/vllm-project/vllm-omni/blob/4c5541cfc17143f80bdb89bbb7a5840b08bb52c6/vllm_omni/deploy/personaplex.yaml</a:t>
            </a:r>
          </a:p>
          <a:p>
            <a:r>
              <a:t>https://github.com/vllm-project/vllm-omni/blob/4c5541cfc17143f80bdb89bbb7a5840b08bb52c6/vllm_omni/engine/duplex/session/manager.py</a:t>
            </a:r>
          </a:p>
          <a:p>
            <a:r>
              <a:t>https://github.com/vllm-project/vllm-omni/blob/712b90de9c7bc14c595b363401588a713a87c02d/vllm_omni/engine/duplex/session/manager.py</a:t>
            </a:r>
          </a:p>
          <a:p>
            <a:r>
              <a:t>https://github.com/vllm-project/vllm-omni/blob/712b90de9c7bc14c595b363401588a713a87c02d/vllm_omni/entrypoints/duplex_omni.py</a:t>
            </a:r>
          </a:p>
          <a:p>
            <a:r>
              <a:t>https://github.com/vllm-project/vllm-omni/blob/712b90de9c7bc14c595b363401588a713a87c02d/vllm_omni/entrypoints/duplex/serving.py</a:t>
            </a:r>
          </a:p>
          <a:p>
            <a:r>
              <a:t>https://github.com/vllm-project/vllm-omni/blob/712b90de9c7bc14c595b363401588a713a87c02d/vllm_omni/engine/duplex_omni_engine.py</a:t>
            </a:r>
          </a:p>
          <a:p>
            <a:r>
              <a:t>https://github.com/vllm-project/vllm-omni/blob/712b90de9c7bc14c595b363401588a713a87c02d/vllm_omni/engine/duplex/session/runner.py</a:t>
            </a:r>
          </a:p>
          <a:p>
            <a:r>
              <a:t>https://github.com/vllm-project/vllm-omni/blob/712b90de9c7bc14c595b363401588a713a87c02d/vllm_omni/engine/duplex/session/engine_session.py</a:t>
            </a:r>
          </a:p>
          <a:p>
            <a:r>
              <a:t>https://github.com/vllm-project/vllm-omni/blob/712b90de9c7bc14c595b363401588a713a87c02d/vllm_omni/engine/duplex/plugin.py</a:t>
            </a:r>
          </a:p>
          <a:p>
            <a:r>
              <a:t>https://github.com/vllm-project/vllm-omni/blob/712b90de9c7bc14c595b363401588a713a87c02d/vllm_omni/engine/duplex/delivery.py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t/>
            </a:r>
          </a:p>
          <a:p>
            <a:r>
              <a:t>Sources:</a:t>
            </a:r>
          </a:p>
          <a:p>
            <a:r>
              <a:t>https://github.com/vllm-project/vllm-omni/blob/4c5541cfc17143f80bdb89bbb7a5840b08bb52c6/vllm_omni/engine/duplex/vad.py</a:t>
            </a:r>
          </a:p>
          <a:p>
            <a:r>
              <a:t>https://github.com/vllm-project/vllm-omni/blob/4c5541cfc17143f80bdb89bbb7a5840b08bb52c6/vllm_omni/engine/duplex/session/runner.py</a:t>
            </a:r>
          </a:p>
          <a:p>
            <a:r>
              <a:t>https://github.com/pipecat-ai/smart-turn</a:t>
            </a:r>
          </a:p>
          <a:p>
            <a:r>
              <a:t>https://huggingface.co/pipecat-ai/smart-turn-v3.2</a:t>
            </a:r>
          </a:p>
          <a:p>
            <a:r>
              <a:t>https://docs.livekit.io/agents/logic/turns/turn-detector/</a:t>
            </a:r>
          </a:p>
          <a:p>
            <a:r>
              <a:t>https://developers.openai.com/api/docs/guides/realtime-vad</a:t>
            </a:r>
          </a:p>
          <a:p>
            <a:r>
              <a:t>https://github.com/vllm-project/vllm-omni/blob/712b90de9c7bc14c595b363401588a713a87c02d/vllm_omni/engine/duplex/turn_detection.py</a:t>
            </a:r>
          </a:p>
          <a:p>
            <a:r>
              <a:t>https://github.com/vllm-project/vllm-omni/blob/712b90de9c7bc14c595b363401588a713a87c02d/vllm_omni/engine/duplex/vad.py</a:t>
            </a:r>
          </a:p>
          <a:p>
            <a:r>
              <a:t>https://github.com/vllm-project/vllm-omni/blob/712b90de9c7bc14c595b363401588a713a87c02d/vllm_omni/engine/duplex/session/runner.py</a:t>
            </a:r>
          </a:p>
          <a:p>
            <a:r>
              <a:t>https://github.com/snakers4/silero-vad</a:t>
            </a:r>
          </a:p>
          <a:p>
            <a:r>
              <a:t>https://github.com/vllm-project/vllm-omni/blob/712b90de9c7bc14c595b363401588a713a87c02d/vllm_omni/engine/duplex/session/manager.py</a:t>
            </a:r>
          </a:p>
          <a:p>
            <a: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t/>
            </a:r>
          </a:p>
          <a:p>
            <a:r>
              <a:t>Sources:</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https://github.com/vllm-project/vllm-omni/blob/4c5541cfc17143f80bdb89bbb7a5840b08bb52c6/vllm_omni/config/stage_config.py</a:t>
            </a:r>
          </a:p>
          <a:p>
            <a:r>
              <a:t>https://github.com/vllm-project/vllm-omni/blob/4c5541cfc17143f80bdb89bbb7a5840b08bb52c6/vllm_omni/engine/duplex/session/lease.py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https://github.com/vllm-project/vllm-omni/blob/712b90de9c7bc14c595b363401588a713a87c02d/vllm_omni/config/stage_config.py</a:t>
            </a:r>
          </a:p>
          <a:p>
            <a:r>
              <a:t>https://github.com/vllm-project/vllm-omni/blob/712b90de9c7bc14c595b363401588a713a87c02d/vllm_omni/engine/duplex/session/manager.py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Drop cancelled audio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 and video</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 external control</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Cancel the response and stop client playback.</a:t>
            </a:r>
          </a:p>
          <a:p>
            <a:pPr algn="l">
              <a:lnSpc>
                <a:spcPct val="110000"/>
              </a:lnSpc>
              <a:spcAft>
                <a:spcPts val="0"/>
              </a:spcAft>
            </a:pPr>
            <a:r>
              <a:rPr sz="1250" b="0">
                <a:solidFill>
                  <a:srgbClr val="142B45"/>
                </a:solidFill>
                <a:latin typeface="Arial"/>
                <a:ea typeface="Arial"/>
                <a:cs typeface="Arial"/>
              </a:rPr>
              <a:t>Server VAD can trigger this when supported.</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new input to decide when to yield.</a:t>
            </a:r>
          </a:p>
          <a:p>
            <a:pPr algn="l">
              <a:lnSpc>
                <a:spcPct val="110000"/>
              </a:lnSpc>
              <a:spcAft>
                <a:spcPts val="0"/>
              </a:spcAft>
            </a:pPr>
            <a:r>
              <a:rPr sz="1250" b="0">
                <a:solidFill>
                  <a:srgbClr val="142B45"/>
                </a:solidFill>
                <a:latin typeface="Arial"/>
                <a:ea typeface="Arial"/>
                <a:cs typeface="Arial"/>
              </a:rPr>
              <a:t>MiniCPM and PersonaPlex need no Server VAD.</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Camera"/>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Arial"/>
                <a:ea typeface="Arial"/>
                <a:cs typeface="Arial"/>
              </a:rPr>
              <a:t>Camera</a:t>
            </a:r>
          </a:p>
        </p:txBody>
      </p:sp>
      <p:sp>
        <p:nvSpPr>
          <p:cNvPr id="201" name="User speech"/>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 speech</a:t>
            </a:r>
          </a:p>
        </p:txBody>
      </p:sp>
      <p:sp>
        <p:nvSpPr>
          <p:cNvPr id="202" name="New speech"/>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50" b="0">
                <a:solidFill>
                  <a:srgbClr val="FFCB78"/>
                </a:solidFill>
                <a:latin typeface="Arial"/>
                <a:ea typeface="Arial"/>
                <a:cs typeface="Arial"/>
              </a:rPr>
              <a:t>New speech</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New input can change the ongoing reply."/>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100" b="0">
                <a:solidFill>
                  <a:srgbClr val="AFCAE7"/>
                </a:solidFill>
                <a:latin typeface="Arial"/>
                <a:ea typeface="Arial"/>
                <a:cs typeface="Arial"/>
              </a:rPr>
              <a:t>New input can change the ongoing reply.</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VAD stops the reply. Commit starts a new reques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80" b="0">
                <a:solidFill>
                  <a:srgbClr val="AFCAE7"/>
                </a:solidFill>
                <a:latin typeface="Arial"/>
                <a:ea typeface="Arial"/>
                <a:cs typeface="Arial"/>
              </a:rPr>
              <a:t>VAD stops the reply. Commit starts a new request.</a:t>
            </a:r>
          </a:p>
        </p:txBody>
      </p:sp>
      <p:sp>
        <p:nvSpPr>
          <p:cNvPr id="207" name="VAD stop"/>
          <p:cNvSpPr txBox="1"/>
          <p:nvPr/>
        </p:nvSpPr>
        <p:spPr>
          <a:xfrm>
            <a:off x="9336024" y="4169664"/>
            <a:ext cx="100584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Arial"/>
                <a:ea typeface="Arial"/>
                <a:cs typeface="Arial"/>
              </a:rPr>
              <a:t>VAD stop</a:t>
            </a:r>
          </a:p>
        </p:txBody>
      </p:sp>
      <p:sp>
        <p:nvSpPr>
          <p:cNvPr id="208" name="commit"/>
          <p:cNvSpPr txBox="1"/>
          <p:nvPr/>
        </p:nvSpPr>
        <p:spPr>
          <a:xfrm>
            <a:off x="10351008" y="4169664"/>
            <a:ext cx="77724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Arial"/>
                <a:ea typeface="Arial"/>
                <a:cs typeface="Arial"/>
              </a:rPr>
              <a:t>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Native reply receives new in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Native reply receives new input"/>
          <p:cNvSpPr/>
          <p:nvPr/>
        </p:nvSpPr>
        <p:spPr>
          <a:xfrm>
            <a:off x="8252460"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Native reply receives new input"/>
          <p:cNvSpPr/>
          <p:nvPr/>
        </p:nvSpPr>
        <p:spPr>
          <a:xfrm>
            <a:off x="8330184"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Native reply receives new input"/>
          <p:cNvSpPr/>
          <p:nvPr/>
        </p:nvSpPr>
        <p:spPr>
          <a:xfrm>
            <a:off x="8407908"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Native reply receives new input"/>
          <p:cNvSpPr/>
          <p:nvPr/>
        </p:nvSpPr>
        <p:spPr>
          <a:xfrm>
            <a:off x="848563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Native reply receives new input"/>
          <p:cNvSpPr/>
          <p:nvPr/>
        </p:nvSpPr>
        <p:spPr>
          <a:xfrm>
            <a:off x="8563356"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Native reply receives new input"/>
          <p:cNvSpPr/>
          <p:nvPr/>
        </p:nvSpPr>
        <p:spPr>
          <a:xfrm>
            <a:off x="8641080"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Native reply receives new input"/>
          <p:cNvSpPr/>
          <p:nvPr/>
        </p:nvSpPr>
        <p:spPr>
          <a:xfrm>
            <a:off x="8718804"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Native reply receives new input"/>
          <p:cNvSpPr/>
          <p:nvPr/>
        </p:nvSpPr>
        <p:spPr>
          <a:xfrm>
            <a:off x="8796528"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Native reply receives new input"/>
          <p:cNvSpPr/>
          <p:nvPr/>
        </p:nvSpPr>
        <p:spPr>
          <a:xfrm>
            <a:off x="8874252"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Native reply receives new input"/>
          <p:cNvSpPr/>
          <p:nvPr/>
        </p:nvSpPr>
        <p:spPr>
          <a:xfrm>
            <a:off x="895197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Native reply receives new input"/>
          <p:cNvSpPr/>
          <p:nvPr/>
        </p:nvSpPr>
        <p:spPr>
          <a:xfrm>
            <a:off x="9029700"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Native reply receives new input"/>
          <p:cNvSpPr/>
          <p:nvPr/>
        </p:nvSpPr>
        <p:spPr>
          <a:xfrm>
            <a:off x="9107424"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Native reply receives new input"/>
          <p:cNvSpPr/>
          <p:nvPr/>
        </p:nvSpPr>
        <p:spPr>
          <a:xfrm>
            <a:off x="9185148"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Native reply receives new input"/>
          <p:cNvSpPr/>
          <p:nvPr/>
        </p:nvSpPr>
        <p:spPr>
          <a:xfrm>
            <a:off x="926287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Native reply receives new input"/>
          <p:cNvSpPr/>
          <p:nvPr/>
        </p:nvSpPr>
        <p:spPr>
          <a:xfrm>
            <a:off x="9340596"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Native reply receives new input"/>
          <p:cNvSpPr/>
          <p:nvPr/>
        </p:nvSpPr>
        <p:spPr>
          <a:xfrm>
            <a:off x="9418320"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5" name="Native reply after listening"/>
          <p:cNvSpPr/>
          <p:nvPr/>
        </p:nvSpPr>
        <p:spPr>
          <a:xfrm>
            <a:off x="1063447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6" name="Native reply after listening"/>
          <p:cNvSpPr/>
          <p:nvPr/>
        </p:nvSpPr>
        <p:spPr>
          <a:xfrm>
            <a:off x="10712849"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Native reply after listening"/>
          <p:cNvSpPr/>
          <p:nvPr/>
        </p:nvSpPr>
        <p:spPr>
          <a:xfrm>
            <a:off x="10791226"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Native reply after listening"/>
          <p:cNvSpPr/>
          <p:nvPr/>
        </p:nvSpPr>
        <p:spPr>
          <a:xfrm>
            <a:off x="10869603"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Native reply after listening"/>
          <p:cNvSpPr/>
          <p:nvPr/>
        </p:nvSpPr>
        <p:spPr>
          <a:xfrm>
            <a:off x="10947981"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Native reply after listening"/>
          <p:cNvSpPr/>
          <p:nvPr/>
        </p:nvSpPr>
        <p:spPr>
          <a:xfrm>
            <a:off x="11026358"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Native reply after listening"/>
          <p:cNvSpPr/>
          <p:nvPr/>
        </p:nvSpPr>
        <p:spPr>
          <a:xfrm>
            <a:off x="11104735"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Native reply after listening"/>
          <p:cNvSpPr/>
          <p:nvPr/>
        </p:nvSpPr>
        <p:spPr>
          <a:xfrm>
            <a:off x="11183112"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31920"/>
            <a:ext cx="0" cy="32918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31920"/>
            <a:ext cx="0" cy="32918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Demo controls vary by model.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Listens while generating speech</a:t>
            </a:r>
          </a:p>
          <a:p>
            <a:pPr algn="l">
              <a:lnSpc>
                <a:spcPct val="110000"/>
              </a:lnSpc>
              <a:spcAft>
                <a:spcPts val="0"/>
              </a:spcAft>
            </a:pPr>
            <a:r>
              <a:rPr sz="1180" b="0">
                <a:solidFill>
                  <a:srgbClr val="142B45"/>
                </a:solidFill>
                <a:latin typeface="Arial"/>
                <a:ea typeface="Arial"/>
                <a:cs typeface="Arial"/>
              </a:rPr>
              <a:t>Voice and role stay fixed during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handles</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output buffers; close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commands / session ops</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events</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protocol; EngineClient routes commands and events; Orchestrator coordinates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Stage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a:solidFill>
                  <a:srgbClr val="586B7E"/>
                </a:solidFill>
                <a:latin typeface="Arial"/>
                <a:ea typeface="Arial"/>
                <a:cs typeface="Arial"/>
              </a:rPr>
              <a:t>Scheduler · workers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Prepared input → Stage execution</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Native: append to a live request · Turn-based: generate after commit · Input can continue in both modes</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PersonaPlex and MiniCPM retain live state; AURA and Qwen3-Omni rebuild input per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frames</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Stage 0 retains KV and encoder state; Stage 1 retains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008E96"/>
                </a:solidFill>
                <a:latin typeface="Arial"/>
                <a:ea typeface="Arial"/>
                <a:cs typeface="Arial"/>
              </a:rPr>
              <a:t>turn-based · audio/video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 text</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Text + video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Sentence speech tokens</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chunks</a:t>
            </a:r>
          </a:p>
        </p:txBody>
      </p:sp>
      <p:sp>
        <p:nvSpPr>
          <p:cNvPr id="62" name="TextBox 61"/>
          <p:cNvSpPr txBox="1"/>
          <p:nvPr/>
        </p:nvSpPr>
        <p:spPr>
          <a:xfrm>
            <a:off x="2898648" y="5792724"/>
            <a:ext cx="8275320" cy="310896"/>
          </a:xfrm>
          <a:prstGeom prst="rect">
            <a:avLst/>
          </a:prstGeom>
          <a:noFill/>
        </p:spPr>
        <p:txBody>
          <a:bodyPr wrap="square" lIns="0" rIns="0" tIns="0" bIns="0" anchor="t">
            <a:spAutoFit/>
          </a:bodyPr>
          <a:lstStyle/>
          <a:p>
            <a:pPr algn="l">
              <a:lnSpc>
                <a:spcPct val="110000"/>
              </a:lnSpc>
              <a:spcAft>
                <a:spcPts val="0"/>
              </a:spcAft>
            </a:pPr>
            <a:r>
              <a:rPr sz="910" b="0">
                <a:solidFill>
                  <a:srgbClr val="142B45"/>
                </a:solidFill>
                <a:latin typeface="Arial"/>
                <a:ea typeface="Arial"/>
                <a:cs typeface="Arial"/>
              </a:rPr>
              <a:t>AURA: the next turn can start after Thinker finishes, while prior speech synthesis continues.</a:t>
            </a:r>
          </a:p>
          <a:p>
            <a:pPr algn="l">
              <a:lnSpc>
                <a:spcPct val="110000"/>
              </a:lnSpc>
              <a:spcAft>
                <a:spcPts val="0"/>
              </a:spcAft>
            </a:pPr>
            <a:r>
              <a:rPr sz="910" b="0">
                <a:solidFill>
                  <a:srgbClr val="142B45"/>
                </a:solidFill>
                <a:latin typeface="Arial"/>
                <a:ea typeface="Arial"/>
                <a:cs typeface="Arial"/>
              </a:rPr>
              <a:t>Qwen3-Omni: Thinker → Talker → Code2Wav, with no separate ASR Stage.</a:t>
            </a:r>
          </a:p>
        </p:txBody>
      </p:sp>
      <p:sp>
        <p:nvSpPr>
          <p:cNvPr id="63" name="TextBox 62"/>
          <p:cNvSpPr txBox="1"/>
          <p:nvPr/>
        </p:nvSpPr>
        <p:spPr>
          <a:xfrm>
            <a:off x="722376" y="6199632"/>
            <a:ext cx="10753344" cy="173736"/>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 = one model-compute step; Replica = an execution instance of that Stage.</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Audio frame → live request</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Temporal KV + streaming Mimi encoder / decoder state</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audio/video</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LLM KV + streaming audio state</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Per-request TTS state</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LISTEN keeps the live request; later input reuses its bound Replica and retained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Session resume: MiniCPM-o 4.5, AURA, Qwen3-Omni and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Reconnect to the same live API process while the session is valid.</a:t>
            </a:r>
          </a:p>
          <a:p>
            <a:pPr algn="l">
              <a:lnSpc>
                <a:spcPct val="110000"/>
              </a:lnSpc>
              <a:spcAft>
                <a:spcPts val="0"/>
              </a:spcAft>
            </a:pPr>
            <a:r>
              <a:rPr sz="1150" b="0">
                <a:solidFill>
                  <a:srgbClr val="586B7E"/>
                </a:solidFill>
                <a:latin typeface="Arial"/>
                <a:ea typeface="Arial"/>
                <a:cs typeface="Arial"/>
              </a:rPr>
              <a:t>Replay requires retained events; process restarts require a new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Store session ID and the latest resume token;</a:t>
            </a:r>
          </a:p>
          <a:p>
            <a:pPr algn="l">
              <a:lnSpc>
                <a:spcPct val="110000"/>
              </a:lnSpc>
              <a:spcAft>
                <a:spcPts val="0"/>
              </a:spcAft>
            </a:pPr>
            <a:r>
              <a:rPr sz="1180" b="0">
                <a:solidFill>
                  <a:srgbClr val="142B45"/>
                </a:solidFill>
                <a:latin typeface="Arial"/>
                <a:ea typeface="Arial"/>
                <a:cs typeface="Arial"/>
              </a:rPr>
              <a:t>the Python WebSocket SDK manages both.</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session.resume first on the new connection;</a:t>
            </a:r>
          </a:p>
          <a:p>
            <a:pPr algn="l">
              <a:lnSpc>
                <a:spcPct val="110000"/>
              </a:lnSpc>
              <a:spcAft>
                <a:spcPts val="0"/>
              </a:spcAft>
            </a:pPr>
            <a:r>
              <a:rPr sz="1150" b="0">
                <a:solidFill>
                  <a:srgbClr val="142B45"/>
                </a:solidFill>
                <a:latin typeface="Arial"/>
                <a:ea typeface="Arial"/>
                <a:cs typeface="Arial"/>
              </a:rPr>
              <a:t>save the new token returned in session.resumed.</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the last received event sequence.</a:t>
            </a:r>
          </a:p>
          <a:p>
            <a:pPr algn="l">
              <a:lnSpc>
                <a:spcPct val="110000"/>
              </a:lnSpc>
              <a:spcAft>
                <a:spcPts val="0"/>
              </a:spcAft>
            </a:pPr>
            <a:r>
              <a:rPr sz="1150" b="0">
                <a:solidFill>
                  <a:srgbClr val="142B45"/>
                </a:solidFill>
                <a:latin typeface="Arial"/>
                <a:ea typeface="Arial"/>
                <a:cs typeface="Arial"/>
              </a:rPr>
              <a:t>If replay has a gap, start a new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Keep decoder state; decode only new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speech generation · 30-day window: Sep 9–Oct 8, 2026. Gaps indicate no matching run.</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evaluate live interaction alongside latency and streaming metrics.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Input stream starts</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Input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Input / 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First-audio latency</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Stream TTFP · p50 / p95</a:t>
            </a:r>
          </a:p>
          <a:p>
            <a:pPr algn="l">
              <a:lnSpc>
                <a:spcPct val="110000"/>
              </a:lnSpc>
              <a:spcAft>
                <a:spcPts val="0"/>
              </a:spcAft>
            </a:pPr>
            <a:r>
              <a:rPr sz="1030" b="0">
                <a:solidFill>
                  <a:srgbClr val="21364E"/>
                </a:solidFill>
                <a:latin typeface="Arial"/>
                <a:ea typeface="Arial"/>
                <a:cs typeface="Arial"/>
              </a:rPr>
              <a:t>Input start → first audio received</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Response RTF · chunk intervals</a:t>
            </a:r>
          </a:p>
          <a:p>
            <a:pPr algn="l">
              <a:lnSpc>
                <a:spcPct val="110000"/>
              </a:lnSpc>
              <a:spcAft>
                <a:spcPts val="0"/>
              </a:spcAft>
            </a:pPr>
            <a:r>
              <a:rPr sz="1030" b="0">
                <a:solidFill>
                  <a:srgbClr val="21364E"/>
                </a:solidFill>
                <a:latin typeface="Arial"/>
                <a:ea typeface="Arial"/>
                <a:cs typeface="Arial"/>
              </a:rPr>
              <a:t>Pauses and playback buffering</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Interaction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When to speak · what to answer</a:t>
            </a:r>
          </a:p>
          <a:p>
            <a:pPr algn="l">
              <a:lnSpc>
                <a:spcPct val="110000"/>
              </a:lnSpc>
              <a:spcAft>
                <a:spcPts val="0"/>
              </a:spcAft>
            </a:pPr>
            <a:r>
              <a:rPr sz="1030" b="0">
                <a:solidFill>
                  <a:srgbClr val="21364E"/>
                </a:solidFill>
                <a:latin typeface="Arial"/>
                <a:ea typeface="Arial"/>
                <a:cs typeface="Arial"/>
              </a:rPr>
              <a:t>Audio / video understanding</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TTFP measures first-packet arrival; conversational response timing is evaluated separately.</a:t>
            </a:r>
          </a:p>
          <a:p>
            <a:pPr algn="l">
              <a:lnSpc>
                <a:spcPct val="110000"/>
              </a:lnSpc>
              <a:spcAft>
                <a:spcPts val="0"/>
              </a:spcAft>
            </a:pPr>
            <a:r>
              <a:rPr sz="1050" b="0">
                <a:solidFill>
                  <a:srgbClr val="586B7E"/>
                </a:solidFill>
                <a:latin typeface="Arial"/>
                <a:ea typeface="Arial"/>
                <a:cs typeface="Arial"/>
              </a:rPr>
              <a:t>Compare matching timing windows. Benchmark coverage varies by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Existing tool paths provide a foundation for broader support across duplex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Tool-call parsing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calls + results in unified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NEXT: BROADER UNIFIED DUPLEX SUPPORT</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Shared framework handling, with model-specific adapters.</a:t>
                      </a:r>
                    </a:p>
                    <a:p>
                      <a:pPr>
                        <a:lnSpc>
                          <a:spcPct val="108000"/>
                        </a:lnSpc>
                        <a:spcAft>
                          <a:spcPts val="0"/>
                        </a:spcAft>
                      </a:pPr>
                      <a:r>
                        <a:rPr sz="1400" b="0">
                          <a:solidFill>
                            <a:srgbClr val="16304E"/>
                          </a:solidFill>
                          <a:latin typeface="Arial"/>
                          <a:ea typeface="Arial"/>
                          <a:cs typeface="Arial"/>
                        </a:rPr>
                        <a:t>Extend support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Extend tool-call support across models</a:t>
            </a:r>
          </a:p>
          <a:p>
            <a:pPr algn="l">
              <a:lnSpc>
                <a:spcPct val="106000"/>
              </a:lnSpc>
              <a:spcAft>
                <a:spcPts val="0"/>
              </a:spcAft>
            </a:pPr>
            <a:r>
              <a:rPr sz="1400" b="0">
                <a:solidFill>
                  <a:srgbClr val="586B7E"/>
                </a:solidFill>
                <a:latin typeface="Arial"/>
                <a:ea typeface="Arial"/>
                <a:cs typeface="Arial"/>
              </a:rPr>
              <a:t>Handle interruption, timeout and late results</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 beyond one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Build on existing Stage replicas</a:t>
            </a:r>
          </a:p>
          <a:p>
            <a:pPr algn="l">
              <a:lnSpc>
                <a:spcPct val="106000"/>
              </a:lnSpc>
              <a:spcAft>
                <a:spcPts val="0"/>
              </a:spcAft>
            </a:pPr>
            <a:r>
              <a:rPr sz="1400" b="0">
                <a:solidFill>
                  <a:srgbClr val="586B7E"/>
                </a:solidFill>
                <a:latin typeface="Arial"/>
                <a:ea typeface="Arial"/>
                <a:cs typeface="Arial"/>
              </a:rPr>
              <a:t>Route sessions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Local 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a turn-end detector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auto-commit after silence.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Small models can run on CPU</a:t>
                      </a:r>
                    </a:p>
                    <a:p>
                      <a:pPr algn="l">
                        <a:lnSpc>
                          <a:spcPct val="106000"/>
                        </a:lnSpc>
                        <a:spcAft>
                          <a:spcPts val="0"/>
                        </a:spcAft>
                      </a:pPr>
                      <a:r>
                        <a:rPr sz="1420" b="0">
                          <a:solidFill>
                            <a:srgbClr val="16304E"/>
                          </a:solidFill>
                          <a:latin typeface="Arial"/>
                          <a:ea typeface="Arial"/>
                          <a:cs typeface="Arial"/>
                        </a:rPr>
                        <a:t>Heavier models: proposed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Server VAD: Runner applies commit / cancel policies; inference runs outside its event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Abort generation; discard unsent output</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Session ID + latest resume token</a:t>
            </a:r>
          </a:p>
          <a:p>
            <a:pPr algn="l">
              <a:lnSpc>
                <a:spcPct val="110000"/>
              </a:lnSpc>
              <a:spcAft>
                <a:spcPts val="0"/>
              </a:spcAft>
            </a:pPr>
            <a:r>
              <a:rPr sz="1200" b="0">
                <a:solidFill>
                  <a:srgbClr val="21364E"/>
                </a:solidFill>
                <a:latin typeface="Arial"/>
                <a:ea typeface="Arial"/>
                <a:cs typeface="Arial"/>
              </a:rPr>
              <a:t>Tokens rotate after successful resume</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sequence</a:t>
            </a:r>
          </a:p>
          <a:p>
            <a:pPr algn="l">
              <a:lnSpc>
                <a:spcPct val="110000"/>
              </a:lnSpc>
              <a:spcAft>
                <a:spcPts val="0"/>
              </a:spcAft>
            </a:pPr>
            <a:r>
              <a:rPr sz="1250" b="0">
                <a:solidFill>
                  <a:srgbClr val="21364E"/>
                </a:solidFill>
                <a:latin typeface="Arial"/>
                <a:ea typeface="Arial"/>
                <a:cs typeface="Arial"/>
              </a:rPr>
              <a:t>A replay gap requires a new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Defaults: disconnect grace 30s · idle TTL 300s · replay 60s / 8 MiB.</a:t>
            </a:r>
          </a:p>
          <a:p>
            <a:pPr algn="l">
              <a:lnSpc>
                <a:spcPct val="110000"/>
              </a:lnSpc>
              <a:spcAft>
                <a:spcPts val="0"/>
              </a:spcAft>
            </a:pPr>
            <a:r>
              <a:rPr sz="1050" b="0">
                <a:solidFill>
                  <a:srgbClr val="586B7E"/>
                </a:solidFill>
                <a:latin typeface="Arial"/>
                <a:ea typeface="Arial"/>
                <a:cs typeface="Arial"/>
              </a:rPr>
              <a:t>Clients must stop buffered playback separately; resume stays on the same live API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2026-10-09T11:43:28Z</dcterms:modified>
  <cp:category/>
</cp:coreProperties>
</file>